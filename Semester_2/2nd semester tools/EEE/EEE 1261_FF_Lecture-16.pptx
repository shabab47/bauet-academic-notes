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7" r:id="rId2"/>
    <p:sldId id="303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9" r:id="rId11"/>
    <p:sldId id="300" r:id="rId12"/>
    <p:sldId id="301" r:id="rId13"/>
    <p:sldId id="302" r:id="rId14"/>
    <p:sldId id="284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CC0066"/>
    <a:srgbClr val="0B6F23"/>
    <a:srgbClr val="047627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E16B0-D7B6-477F-8368-108B4BED2862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61EFCD-F8D5-4E73-B166-61E4271B4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258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83AB-A462-43D9-A27E-D5B31E4251A8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78F0-3940-40CE-8B88-D51B3B9B4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14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75CF9-9DC0-40DF-9675-9B64DA510AAB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7EF78F0-3940-40CE-8B88-D51B3B9B4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13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EA078-3FA5-4695-BCAF-BC1870C86D7C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78F0-3940-40CE-8B88-D51B3B9B4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499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A3908-3E74-4D33-B8AC-96239650C293}" type="datetime1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78F0-3940-40CE-8B88-D51B3B9B4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30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ACE35-3BDF-487F-A142-5E5523A9C3D8}" type="datetime1">
              <a:rPr lang="en-US" smtClean="0"/>
              <a:t>3/12/2025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78F0-3940-40CE-8B88-D51B3B9B4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91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B16C6-FFB7-458A-B278-62A273964E49}" type="datetime1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78F0-3940-40CE-8B88-D51B3B9B4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196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B77E5-F6C1-44F1-8265-E5168026C7A0}" type="datetime1">
              <a:rPr lang="en-US" smtClean="0"/>
              <a:t>3/12/2025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78F0-3940-40CE-8B88-D51B3B9B4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561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5BE0D-61F7-455E-8D0C-C5CD2D0D4EA2}" type="datetime1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78F0-3940-40CE-8B88-D51B3B9B4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790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AB689-3410-499A-918D-679AE1F2850C}" type="datetime1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78F0-3940-40CE-8B88-D51B3B9B4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53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4B7F6-D694-4CC5-BDCF-ED1C05BA33FC}" type="datetime1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78F0-3940-40CE-8B88-D51B3B9B4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2453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4B7F6-D694-4CC5-BDCF-ED1C05BA33FC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78F0-3940-40CE-8B88-D51B3B9B4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9858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4B7F6-D694-4CC5-BDCF-ED1C05BA33FC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78F0-3940-40CE-8B88-D51B3B9B4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9092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4B7F6-D694-4CC5-BDCF-ED1C05BA33FC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78F0-3940-40CE-8B88-D51B3B9B4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56395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4B7F6-D694-4CC5-BDCF-ED1C05BA33FC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78F0-3940-40CE-8B88-D51B3B9B4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16715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4B7F6-D694-4CC5-BDCF-ED1C05BA33FC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78F0-3940-40CE-8B88-D51B3B9B4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09092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FCFA5-B376-41D0-B239-1BF19D253EFF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78F0-3940-40CE-8B88-D51B3B9B4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2711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032F-275C-4FBD-BD77-E48107A95112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F78F0-3940-40CE-8B88-D51B3B9B4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119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1D4B7F6-D694-4CC5-BDCF-ED1C05BA33FC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7EF78F0-3940-40CE-8B88-D51B3B9B4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607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254" y="319155"/>
            <a:ext cx="9927772" cy="2215039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Bangladesh Army University of Engineering &amp; Technology</a:t>
            </a:r>
            <a:b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Electrical &amp; Electronic Engineering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3017" y="2892490"/>
            <a:ext cx="9144000" cy="321875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Lecture: 16</a:t>
            </a:r>
          </a:p>
          <a:p>
            <a:pPr algn="ctr"/>
            <a:r>
              <a:rPr lang="en-US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EEE 1261</a:t>
            </a:r>
          </a:p>
          <a:p>
            <a:pPr algn="ctr"/>
            <a:r>
              <a:rPr lang="en-US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Electronic Devices and Circuits</a:t>
            </a:r>
          </a:p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 Teacher: Ferdous Farjana</a:t>
            </a:r>
          </a:p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Designation: Lecturer, Dept. of EEE, BAUET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/>
          <p:cNvSpPr/>
          <p:nvPr/>
        </p:nvSpPr>
        <p:spPr>
          <a:xfrm>
            <a:off x="5501648" y="244510"/>
            <a:ext cx="1595846" cy="14225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92158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200298"/>
            <a:ext cx="10018713" cy="1105988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7040" y="1384663"/>
            <a:ext cx="7097486" cy="5138057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Zener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Diode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Diode work in reverse bias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Avalanche Breakdown in Zener 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Diode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Zener Breakdown in Zener </a:t>
            </a:r>
            <a:r>
              <a:rPr lang="de-D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Diode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Avalanche Breakdown vs.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Breakdown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Symbol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Diode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V-I Characteristics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Diode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Characteristics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Diode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Characteristics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Diode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Diode</a:t>
            </a:r>
          </a:p>
        </p:txBody>
      </p:sp>
    </p:spTree>
    <p:extLst>
      <p:ext uri="{BB962C8B-B14F-4D97-AF65-F5344CB8AC3E}">
        <p14:creationId xmlns:p14="http://schemas.microsoft.com/office/powerpoint/2010/main" val="1139721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287382"/>
            <a:ext cx="10018713" cy="923109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Zener Diode</a:t>
            </a:r>
            <a:endParaRPr lang="en-US" sz="3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210492"/>
                <a:ext cx="10018713" cy="5111931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Zener Diode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also referred to as a breakdown diode, is a specially doped semiconductor device engineered to function in the reverse direction.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voltage across a Zener diode’s terminals is reversed and reaches the Zener Voltage (also known as the knee voltage), the junction experiences a breakdown, allowing current to flow in the opposite direction.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phenomenon, known as the Zener Effect, is a key characteristic of Zener diodes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Zener diode is a highly doped semiconductor device specifically designed to function in the reverse direction.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engineered with a wide range of Zener voltages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certain types are even adjustable to achieve variable voltage regulation.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210492"/>
                <a:ext cx="10018713" cy="5111931"/>
              </a:xfrm>
              <a:blipFill>
                <a:blip r:embed="rId2"/>
                <a:stretch>
                  <a:fillRect l="-1521" r="-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1630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287382"/>
            <a:ext cx="10018713" cy="92310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does a Zener Diode work in reverse bias?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210492"/>
                <a:ext cx="10018713" cy="5111931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Zener diode functions similarly to a regular diode when forward-biased. 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However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in reverse-biased mode, a small leakage current flows through the diode.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reverse voltage increases and reaches the predetermined breakdown voltage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current begins to flow through the diode.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current reaches a maximum level determined by the series resistor, after which it stabilizes and remains constant across a wide range of applied voltages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Font typeface="Wingdings" panose="05000000000000000000" pitchFamily="2" charset="2"/>
                  <a:buChar char="ü"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two types of breakdowns in a Zener Diode: Avalanche Breakdown and Zener Breakdown.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210492"/>
                <a:ext cx="10018713" cy="5111931"/>
              </a:xfrm>
              <a:blipFill>
                <a:blip r:embed="rId2"/>
                <a:stretch>
                  <a:fillRect l="-1521" r="-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2086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200298"/>
            <a:ext cx="10018713" cy="888273"/>
          </a:xfrm>
        </p:spPr>
        <p:txBody>
          <a:bodyPr>
            <a:normAutofit/>
          </a:bodyPr>
          <a:lstStyle/>
          <a:p>
            <a:r>
              <a:rPr lang="de-DE" sz="3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Avalanche Breakdown in Zener Diode</a:t>
            </a:r>
            <a:endParaRPr lang="en-US" sz="3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84310" y="984069"/>
                <a:ext cx="10018713" cy="5873931"/>
              </a:xfrm>
            </p:spPr>
            <p:txBody>
              <a:bodyPr>
                <a:normAutofit lnSpcReduction="10000"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US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Avalanche breakdown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occurs in both normal diodes and Zener diodes when subjected to high reverse voltage. 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significant reverse voltage is applied to the PN junction, the free electrons gain enough energy to accelerate at high velocities.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These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high-velocity electrons collide with other atoms, causing the ejection of additional electrons.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continuous collision process generates a large number of free electrons, resulting in a rapid increase in electric current through the diode.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case of a normal diode, this sudden surge in current could permanently damage it.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However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 Zener diode is specifically designed to withstand avalanche breakdown and can handle the sudden current spike.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Avalanche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breakdown typically occurs in Zener diodes with a Zener voltage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greater than 6V.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984069"/>
                <a:ext cx="10018713" cy="5873931"/>
              </a:xfrm>
              <a:blipFill>
                <a:blip r:embed="rId2"/>
                <a:stretch>
                  <a:fillRect l="-1582" t="-830" r="-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1406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200298"/>
            <a:ext cx="10018713" cy="888273"/>
          </a:xfrm>
        </p:spPr>
        <p:txBody>
          <a:bodyPr>
            <a:normAutofit/>
          </a:bodyPr>
          <a:lstStyle/>
          <a:p>
            <a:r>
              <a:rPr lang="de-DE" sz="3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Zener Breakdown in Zener Diode</a:t>
            </a:r>
            <a:endParaRPr lang="en-US" sz="36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210493"/>
            <a:ext cx="10018713" cy="3213461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reverse bias voltage applied to a Zener diode approaches its Zener voltage, the electric field within the depletion region becomes strong enough to attract and remove electrons from their valence band.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valence electrons, energized by the intense electric field, break free from their parent atoms.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phenomenon takes place in the Zener breakdown region, where even a slight increase in voltage leads to a rapid surge in electric current.</a:t>
            </a:r>
          </a:p>
        </p:txBody>
      </p:sp>
    </p:spTree>
    <p:extLst>
      <p:ext uri="{BB962C8B-B14F-4D97-AF65-F5344CB8AC3E}">
        <p14:creationId xmlns:p14="http://schemas.microsoft.com/office/powerpoint/2010/main" val="2981813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200298"/>
            <a:ext cx="10018713" cy="88827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Avalanche Breakdown vs. Zener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210493"/>
            <a:ext cx="10018713" cy="3422467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Zener effect is predominant in voltages up to 5.6 volts, while the avalanche effect becomes more prominent beyond that threshold.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effects are similar, the distinction lies in the fact that the Zener effect is a quantum phenomenon, whereas the avalanche effect involves the movement of electrons in the valence band, similar to an electric current.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avalanche effect allows a larger current through the diode compared to what a Zener breakdown would permit.</a:t>
            </a:r>
          </a:p>
        </p:txBody>
      </p:sp>
    </p:spTree>
    <p:extLst>
      <p:ext uri="{BB962C8B-B14F-4D97-AF65-F5344CB8AC3E}">
        <p14:creationId xmlns:p14="http://schemas.microsoft.com/office/powerpoint/2010/main" val="356293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95794"/>
            <a:ext cx="10018713" cy="88827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 Symbol of Zener Diode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905691"/>
            <a:ext cx="10018713" cy="5852161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Zener diodes come in various packaging options, depending on their power dissipation requirements.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designed for high-power applications, while others are available in surface mount formats.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commonly used Zener diode is packaged in a small glass enclosure, with a distinctive band indicating the cathode side of the diode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symbol used to represent a Zener diode in circuit diagrams is similar to that of a regular diode, but with a unique addition.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of a triangle or arrowhead pointing towards the cathode side (the side with the band) of the diode.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triangle is accompanied by two perpendicular lines at the cathode end, one extending upwards and the other extending downwards.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lines indicate the specific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Zener diode and help distinguish it from other types of diodes in circuit diagrams.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 provides a visual representation that allows engineers and technicians to easily identify and understand the presence of a Zener diode in a circuit.</a:t>
            </a:r>
          </a:p>
        </p:txBody>
      </p:sp>
    </p:spTree>
    <p:extLst>
      <p:ext uri="{BB962C8B-B14F-4D97-AF65-F5344CB8AC3E}">
        <p14:creationId xmlns:p14="http://schemas.microsoft.com/office/powerpoint/2010/main" val="1552834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330926"/>
            <a:ext cx="10018713" cy="85344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 Symbol of Zener Diode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4499" y="1724298"/>
            <a:ext cx="5770746" cy="33716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51909" y="5582194"/>
            <a:ext cx="7053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 Zener diode symbol and package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434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6" y="1140823"/>
            <a:ext cx="5435988" cy="5068388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diagram in Fig. 2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V-I characteristics of the Zener diode.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V-I characteristics of a Zener diode can be divided into two parts as follows: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Forward Characteristics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(ii) Reverse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reverse-biased voltage is applied to a Zener diode, it allows only a small amount of leakage current until the voltage is less than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Zener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484311" y="191590"/>
            <a:ext cx="10018713" cy="94923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V-I Characteristics of Zener Diode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49829" y="1358538"/>
            <a:ext cx="5258137" cy="41191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65406" y="5495352"/>
            <a:ext cx="5242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Fig. 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V-I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curve of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Zener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diode.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677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200298"/>
            <a:ext cx="10018713" cy="88827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 Characteristics of Zener Diode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210493"/>
            <a:ext cx="10018713" cy="2725782"/>
          </a:xfrm>
        </p:spPr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quadrant in the graph represents the forward characteristics of a Zener diode.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graph, we understand that it is almost identical to the forward characteristics of P-N junction diode.</a:t>
            </a:r>
          </a:p>
        </p:txBody>
      </p:sp>
    </p:spTree>
    <p:extLst>
      <p:ext uri="{BB962C8B-B14F-4D97-AF65-F5344CB8AC3E}">
        <p14:creationId xmlns:p14="http://schemas.microsoft.com/office/powerpoint/2010/main" val="2761652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200298"/>
            <a:ext cx="10018713" cy="88827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Reverse Characteristics of Zener Diode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210492"/>
                <a:ext cx="10018713" cy="3762102"/>
              </a:xfrm>
            </p:spPr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a reverse voltage is applied to a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Zener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diode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small reverse saturation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flows across the diode.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current is due to thermally generated minority carriers.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reverse voltage increases, at a certain value of reverse voltage, the reverse current increases drastically and sharply.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an indication that the breakdown has occurred. </a:t>
                </a:r>
                <a:endParaRPr 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call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voltage breakdown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voltage or Zener voltage,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denotes it.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210492"/>
                <a:ext cx="10018713" cy="3762102"/>
              </a:xfrm>
              <a:blipFill>
                <a:blip r:embed="rId2"/>
                <a:stretch>
                  <a:fillRect l="-1582" r="-912" b="-3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4968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200298"/>
            <a:ext cx="10018713" cy="88827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 Zener Diode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9326" y="1506582"/>
            <a:ext cx="7027818" cy="3466011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Voltage 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Regulation.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Overvoltage Protection.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Wave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Shaping &amp; Clipping 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Circuits.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Meter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Protection 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Circuits.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498870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217715"/>
            <a:ext cx="10018713" cy="966652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Books</a:t>
            </a:r>
            <a:endParaRPr lang="en-US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314995"/>
            <a:ext cx="10018713" cy="3927565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 Devices and Circuit Theory: Robert L. </a:t>
            </a:r>
            <a:r>
              <a:rPr lang="en-US" sz="2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Boylestad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Louis </a:t>
            </a:r>
            <a:r>
              <a:rPr lang="en-US" sz="2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Nashelsky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Principles: Albert P.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Malvino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 Electronics Circuits: Adel S.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Sedra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Keneth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C. Smith: Oxford University Press.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Amplifiers and Linear Integrated Circuits: Robert F. Coughlin: Prentice Hall of India Private Limited.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576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hank You Emoji Images – Browse 8,538 Stock Photos, Vectors, and Video |  Adobe 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759" y="1332412"/>
            <a:ext cx="5690037" cy="3793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11672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772</TotalTime>
  <Words>999</Words>
  <Application>Microsoft Office PowerPoint</Application>
  <PresentationFormat>Widescreen</PresentationFormat>
  <Paragraphs>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Cambria Math</vt:lpstr>
      <vt:lpstr>Corbel</vt:lpstr>
      <vt:lpstr>Courier New</vt:lpstr>
      <vt:lpstr>Times New Roman</vt:lpstr>
      <vt:lpstr>Wingdings</vt:lpstr>
      <vt:lpstr>Parallax</vt:lpstr>
      <vt:lpstr>Bangladesh Army University of Engineering &amp; Technology Department of Electrical &amp; Electronic Engineering</vt:lpstr>
      <vt:lpstr>Outline</vt:lpstr>
      <vt:lpstr>Zener Diode</vt:lpstr>
      <vt:lpstr>How does a Zener Diode work in reverse bias?</vt:lpstr>
      <vt:lpstr>Avalanche Breakdown in Zener Diode</vt:lpstr>
      <vt:lpstr>Zener Breakdown in Zener Diode</vt:lpstr>
      <vt:lpstr>Avalanche Breakdown vs. Zener Breakdown</vt:lpstr>
      <vt:lpstr>Circuit Symbol of Zener Diode</vt:lpstr>
      <vt:lpstr>Circuit Symbol of Zener Diode</vt:lpstr>
      <vt:lpstr>V-I Characteristics of Zener Diode</vt:lpstr>
      <vt:lpstr>Forward Characteristics of Zener Diode</vt:lpstr>
      <vt:lpstr>Reverse Characteristics of Zener Diode</vt:lpstr>
      <vt:lpstr>Applications of  Zener Diode</vt:lpstr>
      <vt:lpstr>Reference Books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Bangladesh Army University of Engineering &amp; Technology Department of Electrical &amp; Electronic Engineering</dc:title>
  <dc:creator>Juhi</dc:creator>
  <cp:lastModifiedBy>Juhi</cp:lastModifiedBy>
  <cp:revision>181</cp:revision>
  <dcterms:created xsi:type="dcterms:W3CDTF">2024-07-12T16:48:12Z</dcterms:created>
  <dcterms:modified xsi:type="dcterms:W3CDTF">2025-03-12T13:23:34Z</dcterms:modified>
</cp:coreProperties>
</file>