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4" r:id="rId6"/>
    <p:sldId id="265" r:id="rId7"/>
    <p:sldId id="266" r:id="rId8"/>
    <p:sldId id="268" r:id="rId9"/>
    <p:sldId id="269" r:id="rId10"/>
    <p:sldId id="271" r:id="rId11"/>
    <p:sldId id="298" r:id="rId12"/>
    <p:sldId id="300" r:id="rId13"/>
    <p:sldId id="303" r:id="rId14"/>
    <p:sldId id="301" r:id="rId15"/>
    <p:sldId id="302" r:id="rId16"/>
    <p:sldId id="304" r:id="rId17"/>
    <p:sldId id="272" r:id="rId18"/>
    <p:sldId id="273" r:id="rId19"/>
    <p:sldId id="274" r:id="rId20"/>
    <p:sldId id="275" r:id="rId21"/>
    <p:sldId id="277" r:id="rId22"/>
    <p:sldId id="281" r:id="rId23"/>
    <p:sldId id="279" r:id="rId24"/>
    <p:sldId id="282" r:id="rId25"/>
    <p:sldId id="283" r:id="rId26"/>
    <p:sldId id="284" r:id="rId27"/>
    <p:sldId id="286" r:id="rId28"/>
    <p:sldId id="287" r:id="rId29"/>
    <p:sldId id="289" r:id="rId30"/>
    <p:sldId id="290" r:id="rId31"/>
    <p:sldId id="291" r:id="rId32"/>
    <p:sldId id="292" r:id="rId33"/>
    <p:sldId id="293" r:id="rId34"/>
    <p:sldId id="294" r:id="rId35"/>
    <p:sldId id="295" r:id="rId36"/>
    <p:sldId id="296" r:id="rId37"/>
    <p:sldId id="297" r:id="rId38"/>
    <p:sldId id="299" r:id="rId39"/>
    <p:sldId id="27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CC0066"/>
    <a:srgbClr val="0B6F23"/>
    <a:srgbClr val="047627"/>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20D6CA4-4F86-45EC-933F-0CCD251A6DE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3753317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0D6CA4-4F86-45EC-933F-0CCD251A6DE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2444460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0D6CA4-4F86-45EC-933F-0CCD251A6DE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2362744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20D6CA4-4F86-45EC-933F-0CCD251A6DE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1469919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20D6CA4-4F86-45EC-933F-0CCD251A6DE3}"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1215852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20D6CA4-4F86-45EC-933F-0CCD251A6DE3}"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1037660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D6CA4-4F86-45EC-933F-0CCD251A6DE3}"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2590649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0D6CA4-4F86-45EC-933F-0CCD251A6DE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3068882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0D6CA4-4F86-45EC-933F-0CCD251A6DE3}"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190192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0D6CA4-4F86-45EC-933F-0CCD251A6DE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3113061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0D6CA4-4F86-45EC-933F-0CCD251A6DE3}"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F78F0-3940-40CE-8B88-D51B3B9B4A32}" type="slidenum">
              <a:rPr lang="en-US" smtClean="0"/>
              <a:t>‹#›</a:t>
            </a:fld>
            <a:endParaRPr lang="en-US"/>
          </a:p>
        </p:txBody>
      </p:sp>
    </p:spTree>
    <p:extLst>
      <p:ext uri="{BB962C8B-B14F-4D97-AF65-F5344CB8AC3E}">
        <p14:creationId xmlns:p14="http://schemas.microsoft.com/office/powerpoint/2010/main" val="2893395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D6CA4-4F86-45EC-933F-0CCD251A6DE3}" type="datetimeFigureOut">
              <a:rPr lang="en-US" smtClean="0"/>
              <a:t>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EF78F0-3940-40CE-8B88-D51B3B9B4A32}" type="slidenum">
              <a:rPr lang="en-US" smtClean="0"/>
              <a:t>‹#›</a:t>
            </a:fld>
            <a:endParaRPr lang="en-US"/>
          </a:p>
        </p:txBody>
      </p:sp>
    </p:spTree>
    <p:extLst>
      <p:ext uri="{BB962C8B-B14F-4D97-AF65-F5344CB8AC3E}">
        <p14:creationId xmlns:p14="http://schemas.microsoft.com/office/powerpoint/2010/main" val="1403233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3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9254" y="319155"/>
            <a:ext cx="9927772" cy="2215039"/>
          </a:xfrm>
        </p:spPr>
        <p:txBody>
          <a:bodyPr>
            <a:normAutofit/>
          </a:bodyPr>
          <a:lstStyle/>
          <a:p>
            <a:r>
              <a:rPr lang="en-US" sz="2800" b="1" dirty="0" smtClean="0">
                <a:latin typeface="Times New Roman" panose="02020603050405020304" pitchFamily="18" charset="0"/>
                <a:cs typeface="Times New Roman" panose="02020603050405020304" pitchFamily="18" charset="0"/>
              </a:rPr>
              <a:t>Bangladesh Army University of Engineering &amp; Technology</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Department of Electrical &amp; Electronic Engineering</a:t>
            </a:r>
            <a:endParaRPr lang="en-US" sz="2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67245" y="2892490"/>
            <a:ext cx="9144000" cy="3218750"/>
          </a:xfrm>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Lecture: 01 - 03</a:t>
            </a:r>
          </a:p>
          <a:p>
            <a:r>
              <a:rPr lang="en-US" sz="2800" b="1" dirty="0" smtClean="0">
                <a:solidFill>
                  <a:srgbClr val="002060"/>
                </a:solidFill>
                <a:latin typeface="Times New Roman" panose="02020603050405020304" pitchFamily="18" charset="0"/>
                <a:cs typeface="Times New Roman" panose="02020603050405020304" pitchFamily="18" charset="0"/>
              </a:rPr>
              <a:t>Course Code: EEE </a:t>
            </a:r>
            <a:r>
              <a:rPr lang="en-US" sz="2800" b="1" dirty="0" smtClean="0">
                <a:solidFill>
                  <a:srgbClr val="002060"/>
                </a:solidFill>
                <a:latin typeface="Times New Roman" panose="02020603050405020304" pitchFamily="18" charset="0"/>
                <a:cs typeface="Times New Roman" panose="02020603050405020304" pitchFamily="18" charset="0"/>
              </a:rPr>
              <a:t>1261</a:t>
            </a:r>
            <a:endParaRPr lang="en-US" sz="2800" b="1" dirty="0" smtClean="0">
              <a:solidFill>
                <a:srgbClr val="002060"/>
              </a:solidFill>
              <a:latin typeface="Times New Roman" panose="02020603050405020304" pitchFamily="18" charset="0"/>
              <a:cs typeface="Times New Roman" panose="02020603050405020304" pitchFamily="18" charset="0"/>
            </a:endParaRPr>
          </a:p>
          <a:p>
            <a:r>
              <a:rPr lang="en-US" sz="2800" b="1" dirty="0" smtClean="0">
                <a:solidFill>
                  <a:srgbClr val="002060"/>
                </a:solidFill>
                <a:latin typeface="Times New Roman" panose="02020603050405020304" pitchFamily="18" charset="0"/>
                <a:cs typeface="Times New Roman" panose="02020603050405020304" pitchFamily="18" charset="0"/>
              </a:rPr>
              <a:t>Course Title: Electronic </a:t>
            </a:r>
            <a:r>
              <a:rPr lang="en-US" sz="2800" b="1" dirty="0" smtClean="0">
                <a:solidFill>
                  <a:srgbClr val="002060"/>
                </a:solidFill>
                <a:latin typeface="Times New Roman" panose="02020603050405020304" pitchFamily="18" charset="0"/>
                <a:cs typeface="Times New Roman" panose="02020603050405020304" pitchFamily="18" charset="0"/>
              </a:rPr>
              <a:t>Devices and Circuits</a:t>
            </a:r>
            <a:endParaRPr lang="en-US" sz="2800" b="1" dirty="0" smtClean="0">
              <a:solidFill>
                <a:srgbClr val="002060"/>
              </a:solidFill>
              <a:latin typeface="Times New Roman" panose="02020603050405020304" pitchFamily="18" charset="0"/>
              <a:cs typeface="Times New Roman" panose="02020603050405020304" pitchFamily="18" charset="0"/>
            </a:endParaRPr>
          </a:p>
          <a:p>
            <a:r>
              <a:rPr lang="en-US" sz="2800" b="1" dirty="0" smtClean="0">
                <a:latin typeface="Times New Roman" panose="02020603050405020304" pitchFamily="18" charset="0"/>
                <a:cs typeface="Times New Roman" panose="02020603050405020304" pitchFamily="18" charset="0"/>
              </a:rPr>
              <a:t>Course Teacher: Ferdous Farjana</a:t>
            </a:r>
          </a:p>
          <a:p>
            <a:r>
              <a:rPr lang="en-US" sz="2800" b="1" dirty="0" smtClean="0">
                <a:latin typeface="Times New Roman" panose="02020603050405020304" pitchFamily="18" charset="0"/>
                <a:cs typeface="Times New Roman" panose="02020603050405020304" pitchFamily="18" charset="0"/>
              </a:rPr>
              <a:t>Designation: Lecturer, Dept. of EEE, BAUET </a:t>
            </a:r>
            <a:endParaRPr lang="en-US" sz="2800" b="1" dirty="0">
              <a:latin typeface="Times New Roman" panose="02020603050405020304" pitchFamily="18" charset="0"/>
              <a:cs typeface="Times New Roman" panose="02020603050405020304" pitchFamily="18" charset="0"/>
            </a:endParaRPr>
          </a:p>
        </p:txBody>
      </p:sp>
      <p:sp>
        <p:nvSpPr>
          <p:cNvPr id="4" name="object 2"/>
          <p:cNvSpPr/>
          <p:nvPr/>
        </p:nvSpPr>
        <p:spPr>
          <a:xfrm>
            <a:off x="5275217" y="244510"/>
            <a:ext cx="1595846" cy="1422558"/>
          </a:xfrm>
          <a:prstGeom prst="rect">
            <a:avLst/>
          </a:prstGeom>
          <a:blipFill>
            <a:blip r:embed="rId2" cstate="print"/>
            <a:stretch>
              <a:fillRect/>
            </a:stretch>
          </a:blipFill>
        </p:spPr>
        <p:txBody>
          <a:bodyPr wrap="square" lIns="0" tIns="0" rIns="0" bIns="0" rtlCol="0"/>
          <a:lstStyle/>
          <a:p>
            <a:endParaRPr dirty="0">
              <a:effectLst>
                <a:glow rad="228600">
                  <a:schemeClr val="accent1">
                    <a:satMod val="175000"/>
                    <a:alpha val="40000"/>
                  </a:schemeClr>
                </a:glow>
              </a:effectLst>
            </a:endParaRPr>
          </a:p>
        </p:txBody>
      </p:sp>
      <p:sp>
        <p:nvSpPr>
          <p:cNvPr id="8" name="Slide Number Placeholder 7"/>
          <p:cNvSpPr>
            <a:spLocks noGrp="1"/>
          </p:cNvSpPr>
          <p:nvPr>
            <p:ph type="sldNum" sz="quarter" idx="12"/>
          </p:nvPr>
        </p:nvSpPr>
        <p:spPr/>
        <p:txBody>
          <a:bodyPr/>
          <a:lstStyle/>
          <a:p>
            <a:fld id="{14C60B49-63E1-425C-A215-81F132E972A8}" type="slidenum">
              <a:rPr lang="en-US" smtClean="0"/>
              <a:t>1</a:t>
            </a:fld>
            <a:endParaRPr lang="en-US"/>
          </a:p>
        </p:txBody>
      </p:sp>
    </p:spTree>
    <p:extLst>
      <p:ext uri="{BB962C8B-B14F-4D97-AF65-F5344CB8AC3E}">
        <p14:creationId xmlns:p14="http://schemas.microsoft.com/office/powerpoint/2010/main" val="3292158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b="1" dirty="0" smtClean="0">
                <a:solidFill>
                  <a:srgbClr val="C00000"/>
                </a:solidFill>
                <a:latin typeface="Times New Roman" panose="02020603050405020304" pitchFamily="18" charset="0"/>
                <a:cs typeface="Times New Roman" panose="02020603050405020304" pitchFamily="18" charset="0"/>
              </a:rPr>
              <a:t>Outline</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58537"/>
            <a:ext cx="10515600" cy="5421086"/>
          </a:xfrm>
        </p:spPr>
        <p:txBody>
          <a:bodyPr>
            <a:normAutofit fontScale="70000" lnSpcReduction="20000"/>
          </a:bodyPr>
          <a:lstStyle/>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Material: Conductor, Semiconductor, Insulator</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Valence Band &amp; Conduction Band</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Band/Energy Gap</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Drift Velocity</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Drift Current</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Fermi Level or Fermi Energy</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Bonds in Semiconductor </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Semiconductor Types: Intrinsic &amp; Extrinsic</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P-Type Material or P-Type Semiconductor</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N-Type Material or N-Type Semiconductor</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Majority &amp; Minority Carriers</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P-N Junction</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Depletion Region/Layer</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P-N Junction Diode Under No Bias</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P-N Junction Diode Under Forward Bias</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P-N Junction Diode Under Reverse Bias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9245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Conductor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q"/>
            </a:pPr>
            <a:r>
              <a:rPr lang="en-US" b="1" dirty="0" smtClean="0">
                <a:solidFill>
                  <a:srgbClr val="002060"/>
                </a:solidFill>
                <a:latin typeface="Times New Roman" panose="02020603050405020304" pitchFamily="18" charset="0"/>
                <a:cs typeface="Times New Roman" panose="02020603050405020304" pitchFamily="18" charset="0"/>
              </a:rPr>
              <a:t>Material:</a:t>
            </a:r>
          </a:p>
          <a:p>
            <a:pPr algn="just"/>
            <a:r>
              <a:rPr lang="en-US" dirty="0" smtClean="0">
                <a:latin typeface="Times New Roman" panose="02020603050405020304" pitchFamily="18" charset="0"/>
                <a:cs typeface="Times New Roman" panose="02020603050405020304" pitchFamily="18" charset="0"/>
              </a:rPr>
              <a:t>Material is the substance or substances of which a thing is made or composed.</a:t>
            </a:r>
          </a:p>
          <a:p>
            <a:pPr algn="just"/>
            <a:r>
              <a:rPr lang="en-US" dirty="0" smtClean="0">
                <a:latin typeface="Times New Roman" panose="02020603050405020304" pitchFamily="18" charset="0"/>
                <a:cs typeface="Times New Roman" panose="02020603050405020304" pitchFamily="18" charset="0"/>
              </a:rPr>
              <a:t>It can be divided into three types which are:</a:t>
            </a:r>
          </a:p>
          <a:p>
            <a:pPr marL="571500" indent="-571500" algn="just">
              <a:buFont typeface="+mj-lt"/>
              <a:buAutoNum type="romanLcPeriod"/>
            </a:pPr>
            <a:r>
              <a:rPr lang="en-US" b="1" dirty="0" smtClean="0">
                <a:solidFill>
                  <a:srgbClr val="660066"/>
                </a:solidFill>
                <a:latin typeface="Times New Roman" panose="02020603050405020304" pitchFamily="18" charset="0"/>
                <a:cs typeface="Times New Roman" panose="02020603050405020304" pitchFamily="18" charset="0"/>
              </a:rPr>
              <a:t>Conductor: </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conductor</a:t>
            </a:r>
            <a:r>
              <a:rPr lang="en-US" dirty="0" smtClean="0">
                <a:latin typeface="Times New Roman" panose="02020603050405020304" pitchFamily="18" charset="0"/>
                <a:cs typeface="Times New Roman" panose="02020603050405020304" pitchFamily="18" charset="0"/>
              </a:rPr>
              <a:t> is a substance which allows the electric current to pass through it easily.</a:t>
            </a:r>
          </a:p>
          <a:p>
            <a:pPr algn="just">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Example: </a:t>
            </a:r>
            <a:r>
              <a:rPr lang="en-US" dirty="0" smtClean="0">
                <a:latin typeface="Times New Roman" panose="02020603050405020304" pitchFamily="18" charset="0"/>
                <a:cs typeface="Times New Roman" panose="02020603050405020304" pitchFamily="18" charset="0"/>
              </a:rPr>
              <a:t>All metals, Copper (Cu), Aluminum (Al), Gold (Au), Silver (Ag), etc.</a:t>
            </a:r>
          </a:p>
          <a:p>
            <a:pPr marL="457200" lvl="1"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533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7652658" cy="4775472"/>
          </a:xfrm>
        </p:spPr>
        <p:txBody>
          <a:bodyPr>
            <a:normAutofit lnSpcReduction="10000"/>
          </a:bodyPr>
          <a:lstStyle/>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the conductor, there is no forbidden gap available.</a:t>
            </a:r>
          </a:p>
          <a:p>
            <a:pPr algn="just">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Band gap </a:t>
            </a:r>
            <a:r>
              <a:rPr lang="en-US" dirty="0" smtClean="0">
                <a:latin typeface="Times New Roman" panose="02020603050405020304" pitchFamily="18" charset="0"/>
                <a:cs typeface="Times New Roman" panose="02020603050405020304" pitchFamily="18" charset="0"/>
              </a:rPr>
              <a:t>represents the minimum energy difference between the top of the valence band and the bottom of the conduction band. </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valence band and conduction band overlap each other.</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electrons from the valence band freely enter into the conduction band.</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Due to the overlapping of the valence and conduction bands, a very low potential difference can cause the continuous flow of current.</a:t>
            </a:r>
            <a:endParaRPr lang="en-US" dirty="0">
              <a:latin typeface="Times New Roman" panose="02020603050405020304" pitchFamily="18" charset="0"/>
              <a:cs typeface="Times New Roman" panose="02020603050405020304" pitchFamily="18" charset="0"/>
            </a:endParaRPr>
          </a:p>
        </p:txBody>
      </p:sp>
      <p:sp>
        <p:nvSpPr>
          <p:cNvPr id="5"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Conductor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pic>
        <p:nvPicPr>
          <p:cNvPr id="6" name="Content Placeholder 4"/>
          <p:cNvPicPr>
            <a:picLocks noGrp="1" noChangeAspect="1"/>
          </p:cNvPicPr>
          <p:nvPr>
            <p:ph sz="half" idx="2"/>
          </p:nvPr>
        </p:nvPicPr>
        <p:blipFill rotWithShape="1">
          <a:blip r:embed="rId2"/>
          <a:srcRect l="66894"/>
          <a:stretch/>
        </p:blipFill>
        <p:spPr>
          <a:xfrm>
            <a:off x="8665029" y="1978024"/>
            <a:ext cx="3187337" cy="3181804"/>
          </a:xfrm>
          <a:prstGeom prst="rect">
            <a:avLst/>
          </a:prstGeom>
        </p:spPr>
      </p:pic>
      <p:sp>
        <p:nvSpPr>
          <p:cNvPr id="7" name="TextBox 6"/>
          <p:cNvSpPr txBox="1"/>
          <p:nvPr/>
        </p:nvSpPr>
        <p:spPr>
          <a:xfrm>
            <a:off x="8595361" y="5290410"/>
            <a:ext cx="3823061"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1: Energy band in conductor.</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4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7330441" cy="4331335"/>
          </a:xfrm>
        </p:spPr>
        <p:txBody>
          <a:bodyPr>
            <a:normAutofit lnSpcReduction="10000"/>
          </a:bodyPr>
          <a:lstStyle/>
          <a:p>
            <a:pPr marL="571500" indent="-571500" algn="just">
              <a:buFont typeface="+mj-lt"/>
              <a:buAutoNum type="romanLcPeriod" startAt="2"/>
            </a:pPr>
            <a:r>
              <a:rPr lang="en-US" b="1" dirty="0">
                <a:solidFill>
                  <a:srgbClr val="660066"/>
                </a:solidFill>
                <a:latin typeface="Times New Roman" panose="02020603050405020304" pitchFamily="18" charset="0"/>
                <a:cs typeface="Times New Roman" panose="02020603050405020304" pitchFamily="18" charset="0"/>
              </a:rPr>
              <a:t>Semiconductor:</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semiconductor</a:t>
            </a:r>
            <a:r>
              <a:rPr lang="en-US" dirty="0">
                <a:latin typeface="Times New Roman" panose="02020603050405020304" pitchFamily="18" charset="0"/>
                <a:cs typeface="Times New Roman" panose="02020603050405020304" pitchFamily="18" charset="0"/>
              </a:rPr>
              <a:t> is a material which has a conductivity of electric current between conductors and non-conductors or insulators.</a:t>
            </a: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Germanium (Ge), Silicon (Si), GaAs, etc</a:t>
            </a:r>
            <a:r>
              <a:rPr lang="en-US"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semiconductors, the forbidden gap is very small.</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Ge &amp; Si are the best examples of semiconductors.</a:t>
            </a:r>
          </a:p>
          <a:p>
            <a:pPr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5"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Semiconductor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168641" y="5333119"/>
            <a:ext cx="4101736"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2: Energy band in semiconductor.</a:t>
            </a:r>
            <a:endParaRPr lang="en-US" sz="2000"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sz="half" idx="2"/>
          </p:nvPr>
        </p:nvPicPr>
        <p:blipFill rotWithShape="1">
          <a:blip r:embed="rId2"/>
          <a:srcRect l="33529" r="32017"/>
          <a:stretch/>
        </p:blipFill>
        <p:spPr>
          <a:xfrm>
            <a:off x="8595361" y="2133507"/>
            <a:ext cx="3248297" cy="3156903"/>
          </a:xfrm>
          <a:prstGeom prst="rect">
            <a:avLst/>
          </a:prstGeom>
        </p:spPr>
      </p:pic>
    </p:spTree>
    <p:extLst>
      <p:ext uri="{BB962C8B-B14F-4D97-AF65-F5344CB8AC3E}">
        <p14:creationId xmlns:p14="http://schemas.microsoft.com/office/powerpoint/2010/main" val="781707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energy of the forbidden gap is of the order of 0.7 eV for Ge and 1.1 eV for Si.</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There is no electron in the conduction band.</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valence band is completely filled at 0 K with a small amount of energy that is supplied, the electrons can easily jump from the valence band to the conduction band.</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For example, if the temperature is raised, the forbidden gap is decreased and same electrons are liberated into the conduction band.</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conductivity of a semiconductor is of the order of </a:t>
                </a:r>
                <a14:m>
                  <m:oMath xmlns:m="http://schemas.openxmlformats.org/officeDocument/2006/math">
                    <m:sSup>
                      <m:sSupPr>
                        <m:ctrlPr>
                          <a:rPr lang="en-US"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10</m:t>
                        </m:r>
                      </m:e>
                      <m:sup>
                        <m:r>
                          <a:rPr lang="en-US" b="0" i="1" smtClean="0">
                            <a:latin typeface="Cambria Math" panose="02040503050406030204" pitchFamily="18" charset="0"/>
                            <a:cs typeface="Times New Roman" panose="02020603050405020304" pitchFamily="18" charset="0"/>
                          </a:rPr>
                          <m:t>2</m:t>
                        </m:r>
                      </m:sup>
                    </m:sSup>
                  </m:oMath>
                </a14:m>
                <a:r>
                  <a:rPr lang="en-US" dirty="0" smtClean="0">
                    <a:latin typeface="Times New Roman" panose="02020603050405020304" pitchFamily="18" charset="0"/>
                    <a:cs typeface="Times New Roman" panose="02020603050405020304" pitchFamily="18" charset="0"/>
                  </a:rPr>
                  <a:t>mho</a:t>
                </a:r>
                <a14:m>
                  <m:oMath xmlns:m="http://schemas.openxmlformats.org/officeDocument/2006/math">
                    <m:sSup>
                      <m:sSupPr>
                        <m:ctrlPr>
                          <a:rPr lang="en-US" i="1" dirty="0" smtClean="0">
                            <a:latin typeface="Cambria Math" panose="02040503050406030204" pitchFamily="18" charset="0"/>
                            <a:cs typeface="Times New Roman" panose="02020603050405020304" pitchFamily="18" charset="0"/>
                          </a:rPr>
                        </m:ctrlPr>
                      </m:sSupPr>
                      <m:e>
                        <m:r>
                          <m:rPr>
                            <m:sty m:val="p"/>
                          </m:rPr>
                          <a:rPr lang="en-US" b="0" i="0" dirty="0" smtClean="0">
                            <a:latin typeface="Cambria Math" panose="02040503050406030204" pitchFamily="18" charset="0"/>
                            <a:cs typeface="Times New Roman" panose="02020603050405020304" pitchFamily="18" charset="0"/>
                          </a:rPr>
                          <m:t>m</m:t>
                        </m:r>
                      </m:e>
                      <m:sup>
                        <m:r>
                          <a:rPr lang="en-US" b="0" i="0" dirty="0" smtClean="0">
                            <a:latin typeface="Cambria Math" panose="02040503050406030204" pitchFamily="18" charset="0"/>
                            <a:cs typeface="Times New Roman" panose="02020603050405020304" pitchFamily="18" charset="0"/>
                          </a:rPr>
                          <m:t>−1</m:t>
                        </m:r>
                      </m:sup>
                    </m:sSup>
                  </m:oMath>
                </a14:m>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en-US">
                    <a:noFill/>
                  </a:rPr>
                  <a:t> </a:t>
                </a:r>
              </a:p>
            </p:txBody>
          </p:sp>
        </mc:Fallback>
      </mc:AlternateContent>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Semiconductor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32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7652658" cy="4331335"/>
          </a:xfrm>
        </p:spPr>
        <p:txBody>
          <a:bodyPr>
            <a:normAutofit/>
          </a:bodyPr>
          <a:lstStyle/>
          <a:p>
            <a:pPr marL="571500" indent="-571500" algn="just">
              <a:buFont typeface="+mj-lt"/>
              <a:buAutoNum type="romanLcPeriod" startAt="3"/>
            </a:pPr>
            <a:r>
              <a:rPr lang="en-US" b="1" dirty="0" smtClean="0">
                <a:solidFill>
                  <a:srgbClr val="660066"/>
                </a:solidFill>
                <a:latin typeface="Times New Roman" panose="02020603050405020304" pitchFamily="18" charset="0"/>
                <a:cs typeface="Times New Roman" panose="02020603050405020304" pitchFamily="18" charset="0"/>
              </a:rPr>
              <a:t>Insulator:</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insulator </a:t>
            </a:r>
            <a:r>
              <a:rPr lang="en-US" dirty="0" smtClean="0">
                <a:latin typeface="Times New Roman" panose="02020603050405020304" pitchFamily="18" charset="0"/>
                <a:cs typeface="Times New Roman" panose="02020603050405020304" pitchFamily="18" charset="0"/>
              </a:rPr>
              <a:t>is a material that does not conduct electrical current.</a:t>
            </a:r>
          </a:p>
          <a:p>
            <a:pPr algn="just">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Example: </a:t>
            </a:r>
            <a:r>
              <a:rPr lang="en-US" dirty="0" smtClean="0">
                <a:latin typeface="Times New Roman" panose="02020603050405020304" pitchFamily="18" charset="0"/>
                <a:cs typeface="Times New Roman" panose="02020603050405020304" pitchFamily="18" charset="0"/>
              </a:rPr>
              <a:t>Paper, Plastic, Rubber, Glass, Air, etc.</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an insulator, the forbidden energy gap is very large.</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general, the forbidden energy gap is more than 3 eV and almost no electrons are available for conduction.</a:t>
            </a:r>
          </a:p>
        </p:txBody>
      </p:sp>
      <p:sp>
        <p:nvSpPr>
          <p:cNvPr id="5"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Insulator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595361" y="5290410"/>
            <a:ext cx="3823061"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3: Energy band in insulator.</a:t>
            </a:r>
            <a:endParaRPr lang="en-US" sz="2000" dirty="0">
              <a:latin typeface="Times New Roman" panose="02020603050405020304" pitchFamily="18" charset="0"/>
              <a:cs typeface="Times New Roman" panose="02020603050405020304" pitchFamily="18" charset="0"/>
            </a:endParaRPr>
          </a:p>
        </p:txBody>
      </p:sp>
      <p:pic>
        <p:nvPicPr>
          <p:cNvPr id="8" name="Content Placeholder 7"/>
          <p:cNvPicPr>
            <a:picLocks noGrp="1" noChangeAspect="1"/>
          </p:cNvPicPr>
          <p:nvPr>
            <p:ph sz="half" idx="2"/>
          </p:nvPr>
        </p:nvPicPr>
        <p:blipFill rotWithShape="1">
          <a:blip r:embed="rId2"/>
          <a:srcRect r="66344"/>
          <a:stretch/>
        </p:blipFill>
        <p:spPr>
          <a:xfrm>
            <a:off x="8722724" y="2071005"/>
            <a:ext cx="3187336" cy="3219405"/>
          </a:xfrm>
          <a:prstGeom prst="rect">
            <a:avLst/>
          </a:prstGeom>
        </p:spPr>
      </p:pic>
    </p:spTree>
    <p:extLst>
      <p:ext uri="{BB962C8B-B14F-4D97-AF65-F5344CB8AC3E}">
        <p14:creationId xmlns:p14="http://schemas.microsoft.com/office/powerpoint/2010/main" val="1452495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Therefore, a very large amount of energy must be supplied to a valence electron to enable it to go to the conduction band.</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case of material like glass, the valence band is completely filled at 0 K.</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energy gap between the valence band and conduction band is of the order of 10 eV.</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Even in the presence of a high electric field, the electrons can not move from the valence band to the conduction band.</a:t>
            </a: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Insulator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47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If the electron is supplied with high energy, it can jump across the forbidden gap.</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When the temperature is increased, some electrons will move to the conduction band.</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This is the reason, why certain materials, which are insulators at room temperature become conductors at high temperatures.</a:t>
                </a:r>
              </a:p>
              <a:p>
                <a:pPr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resistivity of the insulator approximately lies between </a:t>
                </a:r>
                <a14:m>
                  <m:oMath xmlns:m="http://schemas.openxmlformats.org/officeDocument/2006/math">
                    <m:sSup>
                      <m:sSupPr>
                        <m:ctrlPr>
                          <a:rPr lang="en-US"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10</m:t>
                        </m:r>
                      </m:e>
                      <m:sup>
                        <m:r>
                          <a:rPr lang="en-US" b="0" i="1" smtClean="0">
                            <a:latin typeface="Cambria Math" panose="02040503050406030204" pitchFamily="18" charset="0"/>
                            <a:cs typeface="Times New Roman" panose="02020603050405020304" pitchFamily="18" charset="0"/>
                          </a:rPr>
                          <m:t>11</m:t>
                        </m:r>
                      </m:sup>
                    </m:sSup>
                  </m:oMath>
                </a14:m>
                <a:r>
                  <a:rPr lang="en-US" dirty="0" smtClean="0">
                    <a:latin typeface="Times New Roman" panose="02020603050405020304" pitchFamily="18" charset="0"/>
                    <a:cs typeface="Times New Roman" panose="02020603050405020304" pitchFamily="18" charset="0"/>
                  </a:rPr>
                  <a:t> and </a:t>
                </a:r>
                <a14:m>
                  <m:oMath xmlns:m="http://schemas.openxmlformats.org/officeDocument/2006/math">
                    <m:sSup>
                      <m:sSupPr>
                        <m:ctrlPr>
                          <a:rPr lang="en-US"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10</m:t>
                        </m:r>
                      </m:e>
                      <m:sup>
                        <m:r>
                          <a:rPr lang="en-US" b="0" i="1" smtClean="0">
                            <a:latin typeface="Cambria Math" panose="02040503050406030204" pitchFamily="18" charset="0"/>
                            <a:cs typeface="Times New Roman" panose="02020603050405020304" pitchFamily="18" charset="0"/>
                          </a:rPr>
                          <m:t>16</m:t>
                        </m:r>
                      </m:sup>
                    </m:sSup>
                  </m:oMath>
                </a14:m>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i="1" dirty="0" smtClean="0">
                        <a:latin typeface="Cambria Math" panose="02040503050406030204" pitchFamily="18" charset="0"/>
                        <a:ea typeface="Cambria Math" panose="02040503050406030204" pitchFamily="18" charset="0"/>
                        <a:cs typeface="Times New Roman" panose="02020603050405020304" pitchFamily="18" charset="0"/>
                      </a:rPr>
                      <m:t>Ω</m:t>
                    </m:r>
                    <m:r>
                      <a:rPr lang="en-US" b="0" i="1" dirty="0" smtClean="0">
                        <a:latin typeface="Cambria Math" panose="02040503050406030204" pitchFamily="18" charset="0"/>
                        <a:ea typeface="Cambria Math" panose="02040503050406030204" pitchFamily="18" charset="0"/>
                        <a:cs typeface="Times New Roman" panose="02020603050405020304" pitchFamily="18" charset="0"/>
                      </a:rPr>
                      <m:t>𝑚</m:t>
                    </m:r>
                  </m:oMath>
                </a14:m>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en-US">
                    <a:noFill/>
                  </a:rPr>
                  <a:t> </a:t>
                </a:r>
              </a:p>
            </p:txBody>
          </p:sp>
        </mc:Fallback>
      </mc:AlternateContent>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Material: Insulator</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889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buFont typeface="Courier New" panose="02070309020205020404" pitchFamily="49" charset="0"/>
              <a:buChar char="◊"/>
            </a:pPr>
            <a:r>
              <a:rPr lang="en-US" b="1" dirty="0" smtClean="0">
                <a:solidFill>
                  <a:srgbClr val="0B6F23"/>
                </a:solidFill>
                <a:latin typeface="Times New Roman" panose="02020603050405020304" pitchFamily="18" charset="0"/>
                <a:cs typeface="Times New Roman" panose="02020603050405020304" pitchFamily="18" charset="0"/>
              </a:rPr>
              <a:t>Valence Band: </a:t>
            </a:r>
            <a:r>
              <a:rPr lang="en-US" dirty="0" smtClean="0">
                <a:latin typeface="Times New Roman" panose="02020603050405020304" pitchFamily="18" charset="0"/>
                <a:cs typeface="Times New Roman" panose="02020603050405020304" pitchFamily="18" charset="0"/>
              </a:rPr>
              <a:t>The band which is partially or completely filled with electrons is called the valence band.</a:t>
            </a:r>
          </a:p>
          <a:p>
            <a:pPr algn="just">
              <a:buFont typeface="Courier New" panose="02070309020205020404" pitchFamily="49" charset="0"/>
              <a:buChar char="◊"/>
            </a:pPr>
            <a:r>
              <a:rPr lang="en-US" b="1" dirty="0" smtClean="0">
                <a:solidFill>
                  <a:srgbClr val="0B6F23"/>
                </a:solidFill>
                <a:latin typeface="Times New Roman" panose="02020603050405020304" pitchFamily="18" charset="0"/>
                <a:cs typeface="Times New Roman" panose="02020603050405020304" pitchFamily="18" charset="0"/>
              </a:rPr>
              <a:t>Conduction Band: </a:t>
            </a:r>
            <a:r>
              <a:rPr lang="en-US" dirty="0" smtClean="0">
                <a:latin typeface="Times New Roman" panose="02020603050405020304" pitchFamily="18" charset="0"/>
                <a:cs typeface="Times New Roman" panose="02020603050405020304" pitchFamily="18" charset="0"/>
              </a:rPr>
              <a:t>The band which is empty or partially filled with electrons is called the conduction band.</a:t>
            </a: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Valence Band &amp; Conduction band</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8254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band/energy gap </a:t>
            </a:r>
            <a:r>
              <a:rPr lang="en-US" dirty="0" smtClean="0">
                <a:latin typeface="Times New Roman" panose="02020603050405020304" pitchFamily="18" charset="0"/>
                <a:cs typeface="Times New Roman" panose="02020603050405020304" pitchFamily="18" charset="0"/>
              </a:rPr>
              <a:t>represents the minimum energy difference between the top of the valence band and the bottom of the conduction band.</a:t>
            </a: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Band/Energy Gap</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397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buFont typeface="Times New Roman" panose="02020603050405020304" pitchFamily="18" charset="0"/>
              <a:buChar char="›"/>
            </a:pPr>
            <a:r>
              <a:rPr lang="en-US" b="1" dirty="0" smtClean="0">
                <a:latin typeface="Times New Roman" panose="02020603050405020304" pitchFamily="18" charset="0"/>
                <a:cs typeface="Times New Roman" panose="02020603050405020304" pitchFamily="18" charset="0"/>
              </a:rPr>
              <a:t>Drift velocity </a:t>
            </a:r>
            <a:r>
              <a:rPr lang="en-US" dirty="0" smtClean="0">
                <a:latin typeface="Times New Roman" panose="02020603050405020304" pitchFamily="18" charset="0"/>
                <a:cs typeface="Times New Roman" panose="02020603050405020304" pitchFamily="18" charset="0"/>
              </a:rPr>
              <a:t>is defined as the velocity with which free electrons get drifted towards the positive terminal, when an electric field is applied.</a:t>
            </a: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Drift Velocity</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184469" y="6111845"/>
            <a:ext cx="3823061"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4: Drift velocity.</a:t>
            </a:r>
            <a:endParaRPr lang="en-US"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405051" y="3173865"/>
            <a:ext cx="4420552" cy="2674553"/>
          </a:xfrm>
          <a:prstGeom prst="rect">
            <a:avLst/>
          </a:prstGeom>
        </p:spPr>
      </p:pic>
    </p:spTree>
    <p:extLst>
      <p:ext uri="{BB962C8B-B14F-4D97-AF65-F5344CB8AC3E}">
        <p14:creationId xmlns:p14="http://schemas.microsoft.com/office/powerpoint/2010/main" val="3891773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The drift velocity is the average velocity that a particle, such as an electron, attains in a material due to an electric field</a:t>
                </a:r>
                <a:r>
                  <a:rPr lang="en-US" dirty="0" smtClean="0">
                    <a:latin typeface="Times New Roman" panose="02020603050405020304" pitchFamily="18" charset="0"/>
                    <a:cs typeface="Times New Roman" panose="02020603050405020304" pitchFamily="18" charset="0"/>
                  </a:rPr>
                  <a:t>.</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electron are accelerated and in the process they collide with each other and with the positive ions on the conductor.</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Thus due to collisions, a backward force acts on the electrons and they slowly drifted with a constant average velocity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𝑣</m:t>
                        </m:r>
                      </m:e>
                      <m:sub>
                        <m:r>
                          <a:rPr lang="en-US" b="0" i="1" smtClean="0">
                            <a:latin typeface="Cambria Math" panose="02040503050406030204" pitchFamily="18" charset="0"/>
                            <a:cs typeface="Times New Roman" panose="02020603050405020304" pitchFamily="18" charset="0"/>
                          </a:rPr>
                          <m:t>𝑑</m:t>
                        </m:r>
                      </m:sub>
                    </m:sSub>
                  </m:oMath>
                </a14:m>
                <a:r>
                  <a:rPr lang="en-US" dirty="0" smtClean="0">
                    <a:latin typeface="Times New Roman" panose="02020603050405020304" pitchFamily="18" charset="0"/>
                    <a:cs typeface="Times New Roman" panose="02020603050405020304" pitchFamily="18" charset="0"/>
                  </a:rPr>
                  <a:t>) in a direction opposite to the electric field. </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en-US">
                    <a:noFill/>
                  </a:rPr>
                  <a:t> </a:t>
                </a:r>
              </a:p>
            </p:txBody>
          </p:sp>
        </mc:Fallback>
      </mc:AlternateContent>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Drift Velocity</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6869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When an electric field is applied across a semiconductor material, a current is produced due to the flow of charge carriers.</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This current is called </a:t>
            </a:r>
            <a:r>
              <a:rPr lang="en-US" b="1" dirty="0" smtClean="0">
                <a:latin typeface="Times New Roman" panose="02020603050405020304" pitchFamily="18" charset="0"/>
                <a:cs typeface="Times New Roman" panose="02020603050405020304" pitchFamily="18" charset="0"/>
              </a:rPr>
              <a:t>drift current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Drift Current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333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buFont typeface="Times New Roman" panose="02020603050405020304" pitchFamily="18" charset="0"/>
              <a:buChar char="‣"/>
            </a:pPr>
            <a:r>
              <a:rPr lang="en-US" b="1" dirty="0" smtClean="0">
                <a:latin typeface="Times New Roman" panose="02020603050405020304" pitchFamily="18" charset="0"/>
                <a:cs typeface="Times New Roman" panose="02020603050405020304" pitchFamily="18" charset="0"/>
              </a:rPr>
              <a:t>Fermi level or Fermi energy </a:t>
            </a:r>
            <a:r>
              <a:rPr lang="en-US" dirty="0" smtClean="0">
                <a:latin typeface="Times New Roman" panose="02020603050405020304" pitchFamily="18" charset="0"/>
                <a:cs typeface="Times New Roman" panose="02020603050405020304" pitchFamily="18" charset="0"/>
              </a:rPr>
              <a:t>is the maximum level or energy occupied by an electron at </a:t>
            </a:r>
            <a:r>
              <a:rPr lang="en-US" b="1" dirty="0" smtClean="0">
                <a:latin typeface="Times New Roman" panose="02020603050405020304" pitchFamily="18" charset="0"/>
                <a:cs typeface="Times New Roman" panose="02020603050405020304" pitchFamily="18" charset="0"/>
              </a:rPr>
              <a:t>0 K</a:t>
            </a:r>
            <a:r>
              <a:rPr lang="en-US" dirty="0" smtClean="0">
                <a:latin typeface="Times New Roman" panose="02020603050405020304" pitchFamily="18" charset="0"/>
                <a:cs typeface="Times New Roman" panose="02020603050405020304" pitchFamily="18" charset="0"/>
              </a:rPr>
              <a:t>.</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Fermi level/energy changes as the materials is warmed &amp; electron are added or withdrawn from the materials.</a:t>
            </a:r>
          </a:p>
          <a:p>
            <a:pPr algn="just">
              <a:buFont typeface="Times New Roman" panose="02020603050405020304" pitchFamily="18" charset="0"/>
              <a:buChar char="‣"/>
            </a:pP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Fermi Level or Fermi Energy</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932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endParaRPr lang="en-US" dirty="0" smtClean="0">
              <a:latin typeface="Times New Roman" panose="02020603050405020304" pitchFamily="18" charset="0"/>
              <a:cs typeface="Times New Roman" panose="02020603050405020304" pitchFamily="18" charset="0"/>
            </a:endParaRPr>
          </a:p>
          <a:p>
            <a:pPr algn="just">
              <a:buFont typeface="Times New Roman" panose="02020603050405020304" pitchFamily="18" charset="0"/>
              <a:buChar char="‣"/>
            </a:pP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Fermi Level or Fermi Energy</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079966" y="6111845"/>
            <a:ext cx="4402182"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a:t>
            </a:r>
            <a:r>
              <a:rPr lang="en-US" sz="2000" dirty="0">
                <a:latin typeface="Times New Roman" panose="02020603050405020304" pitchFamily="18" charset="0"/>
                <a:cs typeface="Times New Roman" panose="02020603050405020304" pitchFamily="18" charset="0"/>
              </a:rPr>
              <a:t>5</a:t>
            </a:r>
            <a:r>
              <a:rPr lang="en-US" sz="2000" dirty="0" smtClean="0">
                <a:latin typeface="Times New Roman" panose="02020603050405020304" pitchFamily="18" charset="0"/>
                <a:cs typeface="Times New Roman" panose="02020603050405020304" pitchFamily="18" charset="0"/>
              </a:rPr>
              <a:t>: Fermi Level or Fermi Energy.</a:t>
            </a:r>
            <a:endParaRPr lang="en-US"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5770613" y="2143049"/>
            <a:ext cx="6004560" cy="3529799"/>
          </a:xfrm>
          <a:prstGeom prst="rect">
            <a:avLst/>
          </a:prstGeom>
        </p:spPr>
      </p:pic>
      <p:pic>
        <p:nvPicPr>
          <p:cNvPr id="6" name="Picture 5"/>
          <p:cNvPicPr>
            <a:picLocks noChangeAspect="1"/>
          </p:cNvPicPr>
          <p:nvPr/>
        </p:nvPicPr>
        <p:blipFill>
          <a:blip r:embed="rId3"/>
          <a:stretch>
            <a:fillRect/>
          </a:stretch>
        </p:blipFill>
        <p:spPr>
          <a:xfrm>
            <a:off x="642569" y="2107474"/>
            <a:ext cx="4932413" cy="3126377"/>
          </a:xfrm>
          <a:prstGeom prst="rect">
            <a:avLst/>
          </a:prstGeom>
        </p:spPr>
      </p:pic>
      <p:sp>
        <p:nvSpPr>
          <p:cNvPr id="7" name="TextBox 6"/>
          <p:cNvSpPr txBox="1"/>
          <p:nvPr/>
        </p:nvSpPr>
        <p:spPr>
          <a:xfrm>
            <a:off x="416827" y="1475416"/>
            <a:ext cx="533088"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(a)</a:t>
            </a:r>
            <a:endParaRPr lang="en-US"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829456" y="1475416"/>
            <a:ext cx="533088"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(b)</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9534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Bonds in Semiconductor </a:t>
            </a:r>
          </a:p>
        </p:txBody>
      </p:sp>
      <p:sp>
        <p:nvSpPr>
          <p:cNvPr id="3" name="Content Placeholder 2"/>
          <p:cNvSpPr>
            <a:spLocks noGrp="1"/>
          </p:cNvSpPr>
          <p:nvPr>
            <p:ph idx="1"/>
          </p:nvPr>
        </p:nvSpPr>
        <p:spPr/>
        <p:txBody>
          <a:bodyPr/>
          <a:lstStyle/>
          <a:p>
            <a:pPr algn="just">
              <a:buFont typeface="Courier New" panose="02070309020205020404" pitchFamily="49" charset="0"/>
              <a:buChar char="o"/>
            </a:pPr>
            <a:r>
              <a:rPr lang="en-US" b="1" dirty="0" smtClean="0">
                <a:solidFill>
                  <a:srgbClr val="0070C0"/>
                </a:solidFill>
                <a:latin typeface="Times New Roman" panose="02020603050405020304" pitchFamily="18" charset="0"/>
                <a:cs typeface="Times New Roman" panose="02020603050405020304" pitchFamily="18" charset="0"/>
              </a:rPr>
              <a:t>Covalent Bond:</a:t>
            </a:r>
          </a:p>
          <a:p>
            <a:pPr algn="just"/>
            <a:r>
              <a:rPr lang="en-US" dirty="0" smtClean="0">
                <a:latin typeface="Times New Roman" panose="02020603050405020304" pitchFamily="18" charset="0"/>
                <a:cs typeface="Times New Roman" panose="02020603050405020304" pitchFamily="18" charset="0"/>
              </a:rPr>
              <a:t>In semiconductors, the bonds are formed by sharing of valence electrons.</a:t>
            </a:r>
          </a:p>
          <a:p>
            <a:pPr algn="just"/>
            <a:r>
              <a:rPr lang="en-US" dirty="0" smtClean="0">
                <a:latin typeface="Times New Roman" panose="02020603050405020304" pitchFamily="18" charset="0"/>
                <a:cs typeface="Times New Roman" panose="02020603050405020304" pitchFamily="18" charset="0"/>
              </a:rPr>
              <a:t>Such bonds are called covalent bonds.</a:t>
            </a:r>
          </a:p>
          <a:p>
            <a:pPr algn="just"/>
            <a:r>
              <a:rPr lang="en-US" dirty="0" smtClean="0">
                <a:latin typeface="Times New Roman" panose="02020603050405020304" pitchFamily="18" charset="0"/>
                <a:cs typeface="Times New Roman" panose="02020603050405020304" pitchFamily="18" charset="0"/>
              </a:rPr>
              <a:t>Si and Ge are tetravalent (Group IV) element and semiconductor.</a:t>
            </a:r>
          </a:p>
          <a:p>
            <a:pPr algn="just"/>
            <a:r>
              <a:rPr lang="en-US" b="1" dirty="0" smtClean="0">
                <a:latin typeface="Times New Roman" panose="02020603050405020304" pitchFamily="18" charset="0"/>
                <a:cs typeface="Times New Roman" panose="02020603050405020304" pitchFamily="18" charset="0"/>
              </a:rPr>
              <a:t>Valence Electron: </a:t>
            </a:r>
            <a:r>
              <a:rPr lang="en-US" dirty="0" smtClean="0">
                <a:latin typeface="Times New Roman" panose="02020603050405020304" pitchFamily="18" charset="0"/>
                <a:cs typeface="Times New Roman" panose="02020603050405020304" pitchFamily="18" charset="0"/>
              </a:rPr>
              <a:t>A valence electron is an outer shell electron of an atom which can participate in forming chemical bonds with other atoms.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134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Bonds in Semiconductor </a:t>
            </a:r>
          </a:p>
        </p:txBody>
      </p:sp>
      <p:pic>
        <p:nvPicPr>
          <p:cNvPr id="8" name="Content Placeholder 7"/>
          <p:cNvPicPr>
            <a:picLocks noGrp="1" noChangeAspect="1"/>
          </p:cNvPicPr>
          <p:nvPr>
            <p:ph idx="1"/>
          </p:nvPr>
        </p:nvPicPr>
        <p:blipFill rotWithShape="1">
          <a:blip r:embed="rId2"/>
          <a:srcRect b="11870"/>
          <a:stretch/>
        </p:blipFill>
        <p:spPr>
          <a:xfrm>
            <a:off x="1286133" y="1811384"/>
            <a:ext cx="5069269" cy="2568786"/>
          </a:xfrm>
          <a:prstGeom prst="rect">
            <a:avLst/>
          </a:prstGeom>
        </p:spPr>
      </p:pic>
      <p:pic>
        <p:nvPicPr>
          <p:cNvPr id="9" name="Picture 8"/>
          <p:cNvPicPr>
            <a:picLocks noChangeAspect="1"/>
          </p:cNvPicPr>
          <p:nvPr/>
        </p:nvPicPr>
        <p:blipFill rotWithShape="1">
          <a:blip r:embed="rId3"/>
          <a:srcRect b="14162"/>
          <a:stretch/>
        </p:blipFill>
        <p:spPr>
          <a:xfrm>
            <a:off x="7053943" y="1371601"/>
            <a:ext cx="3614057" cy="3008810"/>
          </a:xfrm>
          <a:prstGeom prst="rect">
            <a:avLst/>
          </a:prstGeom>
        </p:spPr>
      </p:pic>
      <p:sp>
        <p:nvSpPr>
          <p:cNvPr id="10" name="TextBox 9"/>
          <p:cNvSpPr txBox="1"/>
          <p:nvPr/>
        </p:nvSpPr>
        <p:spPr>
          <a:xfrm>
            <a:off x="1750422" y="4380169"/>
            <a:ext cx="478971" cy="400110"/>
          </a:xfrm>
          <a:prstGeom prst="rect">
            <a:avLst/>
          </a:prstGeom>
          <a:noFill/>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(a)</a:t>
            </a:r>
            <a:endParaRPr lang="en-US"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923930" y="4380169"/>
            <a:ext cx="478971" cy="400110"/>
          </a:xfrm>
          <a:prstGeom prst="rect">
            <a:avLst/>
          </a:prstGeom>
          <a:noFill/>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(b)</a:t>
            </a:r>
            <a:endParaRPr lang="en-US"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8689620" y="4380169"/>
            <a:ext cx="478971" cy="400110"/>
          </a:xfrm>
          <a:prstGeom prst="rect">
            <a:avLst/>
          </a:prstGeom>
          <a:noFill/>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(c)</a:t>
            </a:r>
            <a:endParaRPr lang="en-US"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1392605" y="5573486"/>
            <a:ext cx="9925593" cy="400110"/>
          </a:xfrm>
          <a:prstGeom prst="rect">
            <a:avLst/>
          </a:prstGeom>
          <a:noFill/>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Fig. 6: Atomic structure of (a) silicon, (b) germanium, and (c) covalent bond in silicon atom.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9878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Semiconductors are a special class of elements having conductivity between that of a good conductor and that of an insulator.</a:t>
            </a:r>
          </a:p>
          <a:p>
            <a:pPr algn="just"/>
            <a:r>
              <a:rPr lang="en-US" dirty="0" smtClean="0">
                <a:latin typeface="Times New Roman" panose="02020603050405020304" pitchFamily="18" charset="0"/>
                <a:cs typeface="Times New Roman" panose="02020603050405020304" pitchFamily="18" charset="0"/>
              </a:rPr>
              <a:t>In general, semiconductor materials fall into one of two classes: (</a:t>
            </a:r>
            <a:r>
              <a:rPr lang="en-US" dirty="0" err="1" smtClean="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 Single-crystal and (ii) Compound.</a:t>
            </a:r>
          </a:p>
          <a:p>
            <a:pPr algn="just"/>
            <a:r>
              <a:rPr lang="en-US" dirty="0" smtClean="0">
                <a:latin typeface="Times New Roman" panose="02020603050405020304" pitchFamily="18" charset="0"/>
                <a:cs typeface="Times New Roman" panose="02020603050405020304" pitchFamily="18" charset="0"/>
              </a:rPr>
              <a:t>Single-crystal semiconductors are Si, Ge.</a:t>
            </a:r>
          </a:p>
          <a:p>
            <a:pPr algn="just"/>
            <a:r>
              <a:rPr lang="en-US" dirty="0" smtClean="0">
                <a:latin typeface="Times New Roman" panose="02020603050405020304" pitchFamily="18" charset="0"/>
                <a:cs typeface="Times New Roman" panose="02020603050405020304" pitchFamily="18" charset="0"/>
              </a:rPr>
              <a:t>Compound semiconductors are GaAs, </a:t>
            </a:r>
            <a:r>
              <a:rPr lang="en-US" dirty="0" err="1" smtClean="0">
                <a:latin typeface="Times New Roman" panose="02020603050405020304" pitchFamily="18" charset="0"/>
                <a:cs typeface="Times New Roman" panose="02020603050405020304" pitchFamily="18" charset="0"/>
              </a:rPr>
              <a:t>CdS</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GaN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GaAsP</a:t>
            </a:r>
            <a:r>
              <a:rPr lang="en-US" dirty="0" smtClean="0">
                <a:latin typeface="Times New Roman" panose="02020603050405020304" pitchFamily="18" charset="0"/>
                <a:cs typeface="Times New Roman" panose="02020603050405020304" pitchFamily="18" charset="0"/>
              </a:rPr>
              <a:t>. </a:t>
            </a:r>
          </a:p>
          <a:p>
            <a:pPr algn="just"/>
            <a:r>
              <a:rPr lang="en-US" dirty="0" smtClean="0">
                <a:latin typeface="Times New Roman" panose="02020603050405020304" pitchFamily="18" charset="0"/>
                <a:cs typeface="Times New Roman" panose="02020603050405020304" pitchFamily="18" charset="0"/>
              </a:rPr>
              <a:t>The three semiconductors used most frequently in the construction of electronic devices are Si, Ge, and GaAs.</a:t>
            </a:r>
          </a:p>
          <a:p>
            <a:pPr algn="just"/>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Bonds in Semiconductor </a:t>
            </a:r>
          </a:p>
        </p:txBody>
      </p:sp>
    </p:spTree>
    <p:extLst>
      <p:ext uri="{BB962C8B-B14F-4D97-AF65-F5344CB8AC3E}">
        <p14:creationId xmlns:p14="http://schemas.microsoft.com/office/powerpoint/2010/main" val="73541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Semiconductor </a:t>
            </a:r>
            <a:r>
              <a:rPr lang="en-US" sz="3200" b="1" dirty="0" smtClean="0">
                <a:solidFill>
                  <a:srgbClr val="C00000"/>
                </a:solidFill>
                <a:latin typeface="Times New Roman" panose="02020603050405020304" pitchFamily="18" charset="0"/>
                <a:cs typeface="Times New Roman" panose="02020603050405020304" pitchFamily="18" charset="0"/>
              </a:rPr>
              <a:t>Types: </a:t>
            </a:r>
            <a:r>
              <a:rPr lang="en-US" sz="3200" b="1" dirty="0">
                <a:solidFill>
                  <a:srgbClr val="C00000"/>
                </a:solidFill>
                <a:latin typeface="Times New Roman" panose="02020603050405020304" pitchFamily="18" charset="0"/>
                <a:cs typeface="Times New Roman" panose="02020603050405020304" pitchFamily="18" charset="0"/>
              </a:rPr>
              <a:t>Intrinsic &amp; </a:t>
            </a:r>
            <a:r>
              <a:rPr lang="en-US" sz="3200" b="1" dirty="0" smtClean="0">
                <a:solidFill>
                  <a:srgbClr val="C00000"/>
                </a:solidFill>
                <a:latin typeface="Times New Roman" panose="02020603050405020304" pitchFamily="18" charset="0"/>
                <a:cs typeface="Times New Roman" panose="02020603050405020304" pitchFamily="18" charset="0"/>
              </a:rPr>
              <a:t>Extrinsic</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smtClean="0">
                <a:solidFill>
                  <a:srgbClr val="FF0066"/>
                </a:solidFill>
                <a:latin typeface="Times New Roman" panose="02020603050405020304" pitchFamily="18" charset="0"/>
                <a:cs typeface="Times New Roman" panose="02020603050405020304" pitchFamily="18" charset="0"/>
              </a:rPr>
              <a:t>Intrinsic Semiconductor:</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A semiconductor in an extremely pure form is known as an </a:t>
            </a:r>
            <a:r>
              <a:rPr lang="en-US" b="1" dirty="0" smtClean="0">
                <a:latin typeface="Times New Roman" panose="02020603050405020304" pitchFamily="18" charset="0"/>
                <a:cs typeface="Times New Roman" panose="02020603050405020304" pitchFamily="18" charset="0"/>
              </a:rPr>
              <a:t>intrinsic semiconductor.</a:t>
            </a:r>
          </a:p>
          <a:p>
            <a:pPr algn="just">
              <a:buFont typeface="Times New Roman" panose="02020603050405020304" pitchFamily="18" charset="0"/>
              <a:buChar char="⁕"/>
            </a:pPr>
            <a:r>
              <a:rPr lang="en-US" b="1" dirty="0" smtClean="0">
                <a:latin typeface="Times New Roman" panose="02020603050405020304" pitchFamily="18" charset="0"/>
                <a:cs typeface="Times New Roman" panose="02020603050405020304" pitchFamily="18" charset="0"/>
              </a:rPr>
              <a:t>Example: </a:t>
            </a:r>
            <a:r>
              <a:rPr lang="en-US" dirty="0" smtClean="0">
                <a:latin typeface="Times New Roman" panose="02020603050405020304" pitchFamily="18" charset="0"/>
                <a:cs typeface="Times New Roman" panose="02020603050405020304" pitchFamily="18" charset="0"/>
              </a:rPr>
              <a:t>Si, Ge.</a:t>
            </a:r>
          </a:p>
          <a:p>
            <a:pPr algn="just"/>
            <a:r>
              <a:rPr lang="en-US" b="1" dirty="0" smtClean="0">
                <a:solidFill>
                  <a:srgbClr val="FF0066"/>
                </a:solidFill>
                <a:latin typeface="Times New Roman" panose="02020603050405020304" pitchFamily="18" charset="0"/>
                <a:cs typeface="Times New Roman" panose="02020603050405020304" pitchFamily="18" charset="0"/>
              </a:rPr>
              <a:t>Extrinsic </a:t>
            </a:r>
            <a:r>
              <a:rPr lang="en-US" b="1" dirty="0">
                <a:solidFill>
                  <a:srgbClr val="FF0066"/>
                </a:solidFill>
                <a:latin typeface="Times New Roman" panose="02020603050405020304" pitchFamily="18" charset="0"/>
                <a:cs typeface="Times New Roman" panose="02020603050405020304" pitchFamily="18" charset="0"/>
              </a:rPr>
              <a:t>Semiconductor</a:t>
            </a:r>
            <a:r>
              <a:rPr lang="en-US" b="1" dirty="0" smtClean="0">
                <a:solidFill>
                  <a:srgbClr val="FF0066"/>
                </a:solidFill>
                <a:latin typeface="Times New Roman" panose="02020603050405020304" pitchFamily="18" charset="0"/>
                <a:cs typeface="Times New Roman" panose="02020603050405020304" pitchFamily="18" charset="0"/>
              </a:rPr>
              <a:t>:</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A semiconductor in which impurities are added is called an </a:t>
            </a:r>
            <a:r>
              <a:rPr lang="en-US" b="1" dirty="0" smtClean="0">
                <a:latin typeface="Times New Roman" panose="02020603050405020304" pitchFamily="18" charset="0"/>
                <a:cs typeface="Times New Roman" panose="02020603050405020304" pitchFamily="18" charset="0"/>
              </a:rPr>
              <a:t>extrinsic semiconductor.</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process of adding impurities to a semiconductor is known as </a:t>
            </a:r>
            <a:r>
              <a:rPr lang="en-US" b="1" dirty="0" smtClean="0">
                <a:latin typeface="Times New Roman" panose="02020603050405020304" pitchFamily="18" charset="0"/>
                <a:cs typeface="Times New Roman" panose="02020603050405020304" pitchFamily="18" charset="0"/>
              </a:rPr>
              <a:t>doping</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a:p>
            <a:pPr algn="just">
              <a:buFont typeface="Times New Roman" panose="02020603050405020304" pitchFamily="18" charset="0"/>
              <a:buChar char="⁕"/>
            </a:pPr>
            <a:endParaRPr lang="en-US" dirty="0" smtClean="0">
              <a:latin typeface="Times New Roman" panose="02020603050405020304" pitchFamily="18" charset="0"/>
              <a:cs typeface="Times New Roman" panose="02020603050405020304" pitchFamily="18" charset="0"/>
            </a:endParaRPr>
          </a:p>
          <a:p>
            <a:pPr algn="just">
              <a:buFont typeface="Times New Roman" panose="02020603050405020304" pitchFamily="18"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013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Semiconductor </a:t>
            </a:r>
            <a:r>
              <a:rPr lang="en-US" sz="3200" b="1" dirty="0" smtClean="0">
                <a:solidFill>
                  <a:srgbClr val="C00000"/>
                </a:solidFill>
                <a:latin typeface="Times New Roman" panose="02020603050405020304" pitchFamily="18" charset="0"/>
                <a:cs typeface="Times New Roman" panose="02020603050405020304" pitchFamily="18" charset="0"/>
              </a:rPr>
              <a:t>Types: </a:t>
            </a:r>
            <a:r>
              <a:rPr lang="en-US" sz="3200" b="1" dirty="0">
                <a:solidFill>
                  <a:srgbClr val="C00000"/>
                </a:solidFill>
                <a:latin typeface="Times New Roman" panose="02020603050405020304" pitchFamily="18" charset="0"/>
                <a:cs typeface="Times New Roman" panose="02020603050405020304" pitchFamily="18" charset="0"/>
              </a:rPr>
              <a:t>Intrinsic &amp; </a:t>
            </a:r>
            <a:r>
              <a:rPr lang="en-US" sz="3200" b="1" dirty="0" smtClean="0">
                <a:solidFill>
                  <a:srgbClr val="C00000"/>
                </a:solidFill>
                <a:latin typeface="Times New Roman" panose="02020603050405020304" pitchFamily="18" charset="0"/>
                <a:cs typeface="Times New Roman" panose="02020603050405020304" pitchFamily="18" charset="0"/>
              </a:rPr>
              <a:t>Extrinsic</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purpose of adding impurities is to increase either the number of free electrons or holes in the semiconductor crystal.</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Doping increases the electrical conductivity of semiconductors.</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Depending upon the type of impurity added, extrinsic semiconductors are classified into two categories:</a:t>
            </a:r>
          </a:p>
          <a:p>
            <a:pPr marL="571500" indent="-571500" algn="just">
              <a:buAutoNum type="romanLcParenBoth"/>
            </a:pPr>
            <a:r>
              <a:rPr lang="en-US" dirty="0" smtClean="0">
                <a:latin typeface="Times New Roman" panose="02020603050405020304" pitchFamily="18" charset="0"/>
                <a:cs typeface="Times New Roman" panose="02020603050405020304" pitchFamily="18" charset="0"/>
              </a:rPr>
              <a:t>P-type material or p-type semiconductor</a:t>
            </a:r>
          </a:p>
          <a:p>
            <a:pPr marL="571500" indent="-571500" algn="just">
              <a:buAutoNum type="romanLcParenBoth"/>
            </a:pPr>
            <a:r>
              <a:rPr lang="en-US" dirty="0" smtClean="0">
                <a:latin typeface="Times New Roman" panose="02020603050405020304" pitchFamily="18" charset="0"/>
                <a:cs typeface="Times New Roman" panose="02020603050405020304" pitchFamily="18" charset="0"/>
              </a:rPr>
              <a:t>N-type material or n-type semiconductor. </a:t>
            </a:r>
          </a:p>
          <a:p>
            <a:pPr algn="just">
              <a:buFont typeface="Times New Roman" panose="02020603050405020304" pitchFamily="18" charset="0"/>
              <a:buChar char="⁕"/>
            </a:pPr>
            <a:endParaRPr lang="en-US" dirty="0" smtClean="0">
              <a:latin typeface="Times New Roman" panose="02020603050405020304" pitchFamily="18" charset="0"/>
              <a:cs typeface="Times New Roman" panose="02020603050405020304" pitchFamily="18" charset="0"/>
            </a:endParaRPr>
          </a:p>
          <a:p>
            <a:pPr algn="just">
              <a:buFont typeface="Times New Roman" panose="02020603050405020304" pitchFamily="18"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961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1" y="1825625"/>
            <a:ext cx="6964680" cy="4351338"/>
          </a:xfrm>
        </p:spPr>
        <p:txBody>
          <a:bodyPr>
            <a:normAutofit fontScale="92500" lnSpcReduction="10000"/>
          </a:bodyPr>
          <a:lstStyle/>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p-type material </a:t>
            </a:r>
            <a:r>
              <a:rPr lang="en-US" dirty="0">
                <a:latin typeface="Times New Roman" panose="02020603050405020304" pitchFamily="18" charset="0"/>
                <a:cs typeface="Times New Roman" panose="02020603050405020304" pitchFamily="18" charset="0"/>
              </a:rPr>
              <a:t>or </a:t>
            </a:r>
            <a:r>
              <a:rPr lang="en-US" b="1" dirty="0">
                <a:latin typeface="Times New Roman" panose="02020603050405020304" pitchFamily="18" charset="0"/>
                <a:cs typeface="Times New Roman" panose="02020603050405020304" pitchFamily="18" charset="0"/>
              </a:rPr>
              <a:t>p-type semiconductor </a:t>
            </a:r>
            <a:r>
              <a:rPr lang="en-US" dirty="0">
                <a:latin typeface="Times New Roman" panose="02020603050405020304" pitchFamily="18" charset="0"/>
                <a:cs typeface="Times New Roman" panose="02020603050405020304" pitchFamily="18" charset="0"/>
              </a:rPr>
              <a:t>is formed by doping a pure germanium or silicon crystal with impurity atoms having </a:t>
            </a:r>
            <a:r>
              <a:rPr lang="en-US" b="1" dirty="0">
                <a:latin typeface="Times New Roman" panose="02020603050405020304" pitchFamily="18" charset="0"/>
                <a:cs typeface="Times New Roman" panose="02020603050405020304" pitchFamily="18" charset="0"/>
              </a:rPr>
              <a:t>three valence electrons (trivalent)</a:t>
            </a:r>
            <a:r>
              <a:rPr lang="en-US" dirty="0">
                <a:latin typeface="Times New Roman" panose="02020603050405020304" pitchFamily="18" charset="0"/>
                <a:cs typeface="Times New Roman" panose="02020603050405020304" pitchFamily="18" charset="0"/>
              </a:rPr>
              <a:t> such as </a:t>
            </a:r>
            <a:r>
              <a:rPr lang="en-US" b="1" dirty="0">
                <a:latin typeface="Times New Roman" panose="02020603050405020304" pitchFamily="18" charset="0"/>
                <a:cs typeface="Times New Roman" panose="02020603050405020304" pitchFamily="18" charset="0"/>
              </a:rPr>
              <a:t>boron (B), gallium (Ga), indium (In), aluminum (Al), </a:t>
            </a:r>
            <a:r>
              <a:rPr lang="en-US" dirty="0">
                <a:latin typeface="Times New Roman" panose="02020603050405020304" pitchFamily="18" charset="0"/>
                <a:cs typeface="Times New Roman" panose="02020603050405020304" pitchFamily="18" charset="0"/>
              </a:rPr>
              <a:t>etc.</a:t>
            </a:r>
          </a:p>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The diffused impurities with three valence electrons are called </a:t>
            </a:r>
            <a:r>
              <a:rPr lang="en-US" b="1" dirty="0">
                <a:latin typeface="Times New Roman" panose="02020603050405020304" pitchFamily="18" charset="0"/>
                <a:cs typeface="Times New Roman" panose="02020603050405020304" pitchFamily="18" charset="0"/>
              </a:rPr>
              <a:t>acceptor atoms</a:t>
            </a:r>
            <a:r>
              <a:rPr lang="en-US" dirty="0" smtClean="0">
                <a:latin typeface="Times New Roman" panose="02020603050405020304" pitchFamily="18" charset="0"/>
                <a:cs typeface="Times New Roman" panose="02020603050405020304" pitchFamily="18" charset="0"/>
              </a:rPr>
              <a:t>.</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trivalent elements are members of </a:t>
            </a:r>
            <a:r>
              <a:rPr lang="en-US" b="1" dirty="0" smtClean="0">
                <a:latin typeface="Times New Roman" panose="02020603050405020304" pitchFamily="18" charset="0"/>
                <a:cs typeface="Times New Roman" panose="02020603050405020304" pitchFamily="18" charset="0"/>
              </a:rPr>
              <a:t>group III </a:t>
            </a:r>
            <a:r>
              <a:rPr lang="en-US" dirty="0" smtClean="0">
                <a:latin typeface="Times New Roman" panose="02020603050405020304" pitchFamily="18" charset="0"/>
                <a:cs typeface="Times New Roman" panose="02020603050405020304" pitchFamily="18" charset="0"/>
              </a:rPr>
              <a:t>in the periodic table.</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In a pure Si or Ge semiconductor, each nucleus uses its four valence electrons to form four covalent bonds with its neighbors.</a:t>
            </a:r>
            <a:endParaRPr lang="en-US" dirty="0">
              <a:latin typeface="Times New Roman" panose="02020603050405020304" pitchFamily="18" charset="0"/>
              <a:cs typeface="Times New Roman" panose="02020603050405020304" pitchFamily="18" charset="0"/>
            </a:endParaRPr>
          </a:p>
          <a:p>
            <a:pPr algn="just"/>
            <a:endParaRPr lang="en-US" dirty="0"/>
          </a:p>
        </p:txBody>
      </p:sp>
      <p:sp>
        <p:nvSpPr>
          <p:cNvPr id="5" name="Title 1"/>
          <p:cNvSpPr>
            <a:spLocks noGrp="1"/>
          </p:cNvSpPr>
          <p:nvPr>
            <p:ph type="title"/>
          </p:nvPr>
        </p:nvSpPr>
        <p:spPr>
          <a:xfrm>
            <a:off x="594360" y="545804"/>
            <a:ext cx="10515600" cy="1325563"/>
          </a:xfrm>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P-Type </a:t>
            </a:r>
            <a:r>
              <a:rPr lang="en-US" sz="3200" b="1" dirty="0" smtClean="0">
                <a:solidFill>
                  <a:srgbClr val="C00000"/>
                </a:solidFill>
                <a:latin typeface="Times New Roman" panose="02020603050405020304" pitchFamily="18" charset="0"/>
                <a:cs typeface="Times New Roman" panose="02020603050405020304" pitchFamily="18" charset="0"/>
              </a:rPr>
              <a:t>Material or P-Type Semiconductor</a:t>
            </a:r>
            <a:endParaRPr lang="en-US" sz="3200" b="1" dirty="0">
              <a:solidFill>
                <a:srgbClr val="C00000"/>
              </a:solidFill>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a:blip r:embed="rId2"/>
          <a:stretch>
            <a:fillRect/>
          </a:stretch>
        </p:blipFill>
        <p:spPr>
          <a:xfrm>
            <a:off x="8151224" y="1930127"/>
            <a:ext cx="3544388" cy="3260181"/>
          </a:xfrm>
          <a:prstGeom prst="rect">
            <a:avLst/>
          </a:prstGeom>
        </p:spPr>
      </p:pic>
      <p:sp>
        <p:nvSpPr>
          <p:cNvPr id="7" name="TextBox 6"/>
          <p:cNvSpPr txBox="1"/>
          <p:nvPr/>
        </p:nvSpPr>
        <p:spPr>
          <a:xfrm>
            <a:off x="7863841" y="5307827"/>
            <a:ext cx="4458787"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7: Boron impurity in p-type material.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203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So there are no excess electrons or holes in this case.</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Now if one of the atoms of the Si lattice is replaced by an element with three valence electrons like B, then the electron-hole balance will be changed.</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This impurity will be able to contribute three valence electrons to the lattice, therefore leaving one excess hole.</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holes will accept free electrons, so group III impurity is called an acceptor.</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Because an acceptor donates </a:t>
            </a:r>
            <a:r>
              <a:rPr lang="en-US" dirty="0">
                <a:latin typeface="Times New Roman" panose="02020603050405020304" pitchFamily="18" charset="0"/>
                <a:cs typeface="Times New Roman" panose="02020603050405020304" pitchFamily="18" charset="0"/>
              </a:rPr>
              <a:t>excess holes, which are positively charged, a semiconductor doped </a:t>
            </a:r>
            <a:r>
              <a:rPr lang="en-US" dirty="0" smtClean="0">
                <a:latin typeface="Times New Roman" panose="02020603050405020304" pitchFamily="18" charset="0"/>
                <a:cs typeface="Times New Roman" panose="02020603050405020304" pitchFamily="18" charset="0"/>
              </a:rPr>
              <a:t>with an acceptor is called a p-type semiconductor; ‘p’ stands for positive.</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resulting p-type material is electrically neutral.  </a:t>
            </a:r>
            <a:endParaRPr lang="en-US" dirty="0">
              <a:latin typeface="Times New Roman" panose="02020603050405020304" pitchFamily="18" charset="0"/>
              <a:cs typeface="Times New Roman" panose="02020603050405020304" pitchFamily="18" charset="0"/>
            </a:endParaRPr>
          </a:p>
        </p:txBody>
      </p:sp>
      <p:sp>
        <p:nvSpPr>
          <p:cNvPr id="9"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P-Type </a:t>
            </a:r>
            <a:r>
              <a:rPr lang="en-US" sz="3200" b="1" dirty="0" smtClean="0">
                <a:solidFill>
                  <a:srgbClr val="C00000"/>
                </a:solidFill>
                <a:latin typeface="Times New Roman" panose="02020603050405020304" pitchFamily="18" charset="0"/>
                <a:cs typeface="Times New Roman" panose="02020603050405020304" pitchFamily="18" charset="0"/>
              </a:rPr>
              <a:t>Material or P-Type Semiconductor</a:t>
            </a:r>
            <a:endParaRPr lang="en-US" sz="3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4854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825624"/>
            <a:ext cx="6625047" cy="4697095"/>
          </a:xfrm>
        </p:spPr>
        <p:txBody>
          <a:bodyPr>
            <a:normAutofit fontScale="92500" lnSpcReduction="10000"/>
          </a:bodyPr>
          <a:lstStyle/>
          <a:p>
            <a:pPr algn="just">
              <a:buFont typeface="Calibri" panose="020F0502020204030204" pitchFamily="34" charset="0"/>
              <a:buChar char="»"/>
            </a:pPr>
            <a:r>
              <a:rPr lang="en-US" dirty="0" smtClean="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n-type material </a:t>
            </a:r>
            <a:r>
              <a:rPr lang="en-US" dirty="0" smtClean="0">
                <a:latin typeface="Times New Roman" panose="02020603050405020304" pitchFamily="18" charset="0"/>
                <a:cs typeface="Times New Roman" panose="02020603050405020304" pitchFamily="18" charset="0"/>
              </a:rPr>
              <a:t>or </a:t>
            </a:r>
            <a:r>
              <a:rPr lang="en-US" b="1" dirty="0" smtClean="0">
                <a:latin typeface="Times New Roman" panose="02020603050405020304" pitchFamily="18" charset="0"/>
                <a:cs typeface="Times New Roman" panose="02020603050405020304" pitchFamily="18" charset="0"/>
              </a:rPr>
              <a:t>n-type semiconductor </a:t>
            </a:r>
            <a:r>
              <a:rPr lang="en-US" dirty="0" smtClean="0">
                <a:latin typeface="Times New Roman" panose="02020603050405020304" pitchFamily="18" charset="0"/>
                <a:cs typeface="Times New Roman" panose="02020603050405020304" pitchFamily="18" charset="0"/>
              </a:rPr>
              <a:t>is formed by doping a pure Ge or Si with impurity atoms having </a:t>
            </a:r>
            <a:r>
              <a:rPr lang="en-US" b="1" dirty="0" smtClean="0">
                <a:latin typeface="Times New Roman" panose="02020603050405020304" pitchFamily="18" charset="0"/>
                <a:cs typeface="Times New Roman" panose="02020603050405020304" pitchFamily="18" charset="0"/>
              </a:rPr>
              <a:t>five valence electrons (pentavalent)</a:t>
            </a:r>
            <a:r>
              <a:rPr lang="en-US" dirty="0" smtClean="0">
                <a:latin typeface="Times New Roman" panose="02020603050405020304" pitchFamily="18" charset="0"/>
                <a:cs typeface="Times New Roman" panose="02020603050405020304" pitchFamily="18" charset="0"/>
              </a:rPr>
              <a:t> such as </a:t>
            </a:r>
            <a:r>
              <a:rPr lang="en-US" b="1" dirty="0" smtClean="0">
                <a:latin typeface="Times New Roman" panose="02020603050405020304" pitchFamily="18" charset="0"/>
                <a:cs typeface="Times New Roman" panose="02020603050405020304" pitchFamily="18" charset="0"/>
              </a:rPr>
              <a:t>antimony (Sb), arsenic (As), phosphorus (P), nitrogen (N), </a:t>
            </a:r>
            <a:r>
              <a:rPr lang="en-US" dirty="0" smtClean="0">
                <a:latin typeface="Times New Roman" panose="02020603050405020304" pitchFamily="18" charset="0"/>
                <a:cs typeface="Times New Roman" panose="02020603050405020304" pitchFamily="18" charset="0"/>
              </a:rPr>
              <a:t>etc.</a:t>
            </a:r>
          </a:p>
          <a:p>
            <a:pPr algn="just">
              <a:buFont typeface="Calibri" panose="020F0502020204030204" pitchFamily="34" charset="0"/>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diffused impurities with </a:t>
            </a:r>
            <a:r>
              <a:rPr lang="en-US" dirty="0" smtClean="0">
                <a:latin typeface="Times New Roman" panose="02020603050405020304" pitchFamily="18" charset="0"/>
                <a:cs typeface="Times New Roman" panose="02020603050405020304" pitchFamily="18" charset="0"/>
              </a:rPr>
              <a:t>five </a:t>
            </a:r>
            <a:r>
              <a:rPr lang="en-US" dirty="0">
                <a:latin typeface="Times New Roman" panose="02020603050405020304" pitchFamily="18" charset="0"/>
                <a:cs typeface="Times New Roman" panose="02020603050405020304" pitchFamily="18" charset="0"/>
              </a:rPr>
              <a:t>valence electrons are called </a:t>
            </a:r>
            <a:r>
              <a:rPr lang="en-US" b="1" dirty="0" smtClean="0">
                <a:latin typeface="Times New Roman" panose="02020603050405020304" pitchFamily="18" charset="0"/>
                <a:cs typeface="Times New Roman" panose="02020603050405020304" pitchFamily="18" charset="0"/>
              </a:rPr>
              <a:t>donor </a:t>
            </a:r>
            <a:r>
              <a:rPr lang="en-US" b="1" dirty="0">
                <a:latin typeface="Times New Roman" panose="02020603050405020304" pitchFamily="18" charset="0"/>
                <a:cs typeface="Times New Roman" panose="02020603050405020304" pitchFamily="18" charset="0"/>
              </a:rPr>
              <a:t>atoms</a:t>
            </a:r>
            <a:r>
              <a:rPr lang="en-US" dirty="0" smtClean="0">
                <a:latin typeface="Times New Roman" panose="02020603050405020304" pitchFamily="18" charset="0"/>
                <a:cs typeface="Times New Roman" panose="02020603050405020304" pitchFamily="18" charset="0"/>
              </a:rPr>
              <a:t>.</a:t>
            </a:r>
          </a:p>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pentavalent </a:t>
            </a:r>
            <a:r>
              <a:rPr lang="en-US" dirty="0">
                <a:latin typeface="Times New Roman" panose="02020603050405020304" pitchFamily="18" charset="0"/>
                <a:cs typeface="Times New Roman" panose="02020603050405020304" pitchFamily="18" charset="0"/>
              </a:rPr>
              <a:t>elements are members of </a:t>
            </a:r>
            <a:r>
              <a:rPr lang="en-US" b="1" dirty="0">
                <a:latin typeface="Times New Roman" panose="02020603050405020304" pitchFamily="18" charset="0"/>
                <a:cs typeface="Times New Roman" panose="02020603050405020304" pitchFamily="18" charset="0"/>
              </a:rPr>
              <a:t>group V</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the periodic table.</a:t>
            </a:r>
          </a:p>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In a pure Si or Ge semiconductor, each nucleus uses its four valence electrons to form four covalent bonds with its neighbors.</a:t>
            </a:r>
          </a:p>
          <a:p>
            <a:pPr algn="just">
              <a:buFont typeface="Calibri" panose="020F050202020403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Calibri" panose="020F050202020403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a:blip r:embed="rId2"/>
          <a:stretch>
            <a:fillRect/>
          </a:stretch>
        </p:blipFill>
        <p:spPr>
          <a:xfrm>
            <a:off x="7576457" y="1983491"/>
            <a:ext cx="4248558" cy="3324336"/>
          </a:xfrm>
          <a:prstGeom prst="rect">
            <a:avLst/>
          </a:prstGeom>
        </p:spPr>
      </p:pic>
      <p:sp>
        <p:nvSpPr>
          <p:cNvPr id="7" name="TextBox 6"/>
          <p:cNvSpPr txBox="1"/>
          <p:nvPr/>
        </p:nvSpPr>
        <p:spPr>
          <a:xfrm>
            <a:off x="7463247" y="5307827"/>
            <a:ext cx="4859382"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a:t>
            </a:r>
            <a:r>
              <a:rPr lang="en-US" sz="2000" dirty="0">
                <a:latin typeface="Times New Roman" panose="02020603050405020304" pitchFamily="18" charset="0"/>
                <a:cs typeface="Times New Roman" panose="02020603050405020304" pitchFamily="18" charset="0"/>
              </a:rPr>
              <a:t>8</a:t>
            </a:r>
            <a:r>
              <a:rPr lang="en-US" sz="2000" dirty="0" smtClean="0">
                <a:latin typeface="Times New Roman" panose="02020603050405020304" pitchFamily="18" charset="0"/>
                <a:cs typeface="Times New Roman" panose="02020603050405020304" pitchFamily="18" charset="0"/>
              </a:rPr>
              <a:t>: Antimony impurity in n-type material.</a:t>
            </a:r>
            <a:endParaRPr lang="en-US" sz="2000" dirty="0">
              <a:latin typeface="Times New Roman" panose="02020603050405020304" pitchFamily="18" charset="0"/>
              <a:cs typeface="Times New Roman" panose="02020603050405020304" pitchFamily="18" charset="0"/>
            </a:endParaRPr>
          </a:p>
        </p:txBody>
      </p:sp>
      <p:sp>
        <p:nvSpPr>
          <p:cNvPr id="9"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N</a:t>
            </a:r>
            <a:r>
              <a:rPr lang="en-US" sz="3200" b="1" dirty="0" smtClean="0">
                <a:solidFill>
                  <a:srgbClr val="C00000"/>
                </a:solidFill>
                <a:latin typeface="Times New Roman" panose="02020603050405020304" pitchFamily="18" charset="0"/>
                <a:cs typeface="Times New Roman" panose="02020603050405020304" pitchFamily="18" charset="0"/>
              </a:rPr>
              <a:t>-Type Material or N-Type Semiconductor</a:t>
            </a:r>
            <a:endParaRPr lang="en-US" sz="3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0122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So there are no excess electrons or holes in this case.</a:t>
            </a:r>
          </a:p>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Now if one of the atoms of the Si lattice is replaced by an element with </a:t>
            </a:r>
            <a:r>
              <a:rPr lang="en-US" dirty="0" smtClean="0">
                <a:latin typeface="Times New Roman" panose="02020603050405020304" pitchFamily="18" charset="0"/>
                <a:cs typeface="Times New Roman" panose="02020603050405020304" pitchFamily="18" charset="0"/>
              </a:rPr>
              <a:t>five </a:t>
            </a:r>
            <a:r>
              <a:rPr lang="en-US" dirty="0">
                <a:latin typeface="Times New Roman" panose="02020603050405020304" pitchFamily="18" charset="0"/>
                <a:cs typeface="Times New Roman" panose="02020603050405020304" pitchFamily="18" charset="0"/>
              </a:rPr>
              <a:t>valence electrons like </a:t>
            </a:r>
            <a:r>
              <a:rPr lang="en-US" dirty="0" smtClean="0">
                <a:latin typeface="Times New Roman" panose="02020603050405020304" pitchFamily="18" charset="0"/>
                <a:cs typeface="Times New Roman" panose="02020603050405020304" pitchFamily="18" charset="0"/>
              </a:rPr>
              <a:t>Sb, </a:t>
            </a:r>
            <a:r>
              <a:rPr lang="en-US" dirty="0">
                <a:latin typeface="Times New Roman" panose="02020603050405020304" pitchFamily="18" charset="0"/>
                <a:cs typeface="Times New Roman" panose="02020603050405020304" pitchFamily="18" charset="0"/>
              </a:rPr>
              <a:t>then the electron-hole balance will be changed.</a:t>
            </a:r>
          </a:p>
          <a:p>
            <a:pPr algn="just">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This impurity will be able to contribute </a:t>
            </a:r>
            <a:r>
              <a:rPr lang="en-US" dirty="0" smtClean="0">
                <a:latin typeface="Times New Roman" panose="02020603050405020304" pitchFamily="18" charset="0"/>
                <a:cs typeface="Times New Roman" panose="02020603050405020304" pitchFamily="18" charset="0"/>
              </a:rPr>
              <a:t>four </a:t>
            </a:r>
            <a:r>
              <a:rPr lang="en-US" dirty="0">
                <a:latin typeface="Times New Roman" panose="02020603050405020304" pitchFamily="18" charset="0"/>
                <a:cs typeface="Times New Roman" panose="02020603050405020304" pitchFamily="18" charset="0"/>
              </a:rPr>
              <a:t>valence electrons to the lattice, therefore leaving one excess </a:t>
            </a:r>
            <a:r>
              <a:rPr lang="en-US" dirty="0" smtClean="0">
                <a:latin typeface="Times New Roman" panose="02020603050405020304" pitchFamily="18" charset="0"/>
                <a:cs typeface="Times New Roman" panose="02020603050405020304" pitchFamily="18" charset="0"/>
              </a:rPr>
              <a:t>electron.</a:t>
            </a:r>
            <a:endParaRPr lang="en-US" dirty="0">
              <a:latin typeface="Times New Roman" panose="02020603050405020304" pitchFamily="18" charset="0"/>
              <a:cs typeface="Times New Roman" panose="02020603050405020304" pitchFamily="18" charset="0"/>
            </a:endParaRP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Because it donates an electron, a group V </a:t>
            </a:r>
            <a:r>
              <a:rPr lang="en-US" dirty="0">
                <a:latin typeface="Times New Roman" panose="02020603050405020304" pitchFamily="18" charset="0"/>
                <a:cs typeface="Times New Roman" panose="02020603050405020304" pitchFamily="18" charset="0"/>
              </a:rPr>
              <a:t>impurity is called </a:t>
            </a:r>
            <a:r>
              <a:rPr lang="en-US" dirty="0" smtClean="0">
                <a:latin typeface="Times New Roman" panose="02020603050405020304" pitchFamily="18" charset="0"/>
                <a:cs typeface="Times New Roman" panose="02020603050405020304" pitchFamily="18" charset="0"/>
              </a:rPr>
              <a:t>a donor.</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Donor impurities donate negatively charged electrons to the lattice, so a semiconductor doped with a donor is called an n-type semiconductor; ‘n’ stands for negative.</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resulting </a:t>
            </a:r>
            <a:r>
              <a:rPr lang="en-US" dirty="0" smtClean="0">
                <a:latin typeface="Times New Roman" panose="02020603050405020304" pitchFamily="18" charset="0"/>
                <a:cs typeface="Times New Roman" panose="02020603050405020304" pitchFamily="18" charset="0"/>
              </a:rPr>
              <a:t>n-type </a:t>
            </a:r>
            <a:r>
              <a:rPr lang="en-US" dirty="0">
                <a:latin typeface="Times New Roman" panose="02020603050405020304" pitchFamily="18" charset="0"/>
                <a:cs typeface="Times New Roman" panose="02020603050405020304" pitchFamily="18" charset="0"/>
              </a:rPr>
              <a:t>material is electrically </a:t>
            </a:r>
            <a:r>
              <a:rPr lang="en-US" dirty="0" smtClean="0">
                <a:latin typeface="Times New Roman" panose="02020603050405020304" pitchFamily="18" charset="0"/>
                <a:cs typeface="Times New Roman" panose="02020603050405020304" pitchFamily="18" charset="0"/>
              </a:rPr>
              <a:t>neutral because the number of protons in the nucleus and the number of free electrons remain the same.  </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N</a:t>
            </a:r>
            <a:r>
              <a:rPr lang="en-US" sz="3200" b="1" dirty="0" smtClean="0">
                <a:solidFill>
                  <a:srgbClr val="C00000"/>
                </a:solidFill>
                <a:latin typeface="Times New Roman" panose="02020603050405020304" pitchFamily="18" charset="0"/>
                <a:cs typeface="Times New Roman" panose="02020603050405020304" pitchFamily="18" charset="0"/>
              </a:rPr>
              <a:t>-Type Material or N-Type Semiconductor</a:t>
            </a:r>
            <a:endParaRPr lang="en-US" sz="3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9302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C00000"/>
                </a:solidFill>
                <a:latin typeface="Times New Roman" panose="02020603050405020304" pitchFamily="18" charset="0"/>
                <a:cs typeface="Times New Roman" panose="02020603050405020304" pitchFamily="18" charset="0"/>
              </a:rPr>
              <a:t>Majority &amp; Minority Carriers</a:t>
            </a:r>
          </a:p>
        </p:txBody>
      </p:sp>
      <p:sp>
        <p:nvSpPr>
          <p:cNvPr id="3" name="Content Placeholder 2"/>
          <p:cNvSpPr>
            <a:spLocks noGrp="1"/>
          </p:cNvSpPr>
          <p:nvPr>
            <p:ph idx="1"/>
          </p:nvPr>
        </p:nvSpPr>
        <p:spPr/>
        <p:txBody>
          <a:bodyPr/>
          <a:lstStyle/>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In a p-type material, the hole is the majority carrier and the electron is the minority carrier.</a:t>
            </a:r>
          </a:p>
          <a:p>
            <a:pPr algn="just">
              <a:buFont typeface="Times New Roman" panose="02020603050405020304" pitchFamily="18" charset="0"/>
              <a:buChar char="†"/>
            </a:pPr>
            <a:r>
              <a:rPr lang="en-US" dirty="0" smtClean="0">
                <a:latin typeface="Times New Roman" panose="02020603050405020304" pitchFamily="18" charset="0"/>
                <a:cs typeface="Times New Roman" panose="02020603050405020304" pitchFamily="18" charset="0"/>
              </a:rPr>
              <a:t>In an n-type material, the electron is called the majority carrier and the hole is the minority carrier.  </a:t>
            </a:r>
          </a:p>
          <a:p>
            <a:pPr algn="just">
              <a:buFont typeface="Times New Roman" panose="02020603050405020304" pitchFamily="18" charset="0"/>
              <a:buChar char="†"/>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511878" y="3585210"/>
            <a:ext cx="6840353" cy="2475956"/>
          </a:xfrm>
          <a:prstGeom prst="rect">
            <a:avLst/>
          </a:prstGeom>
        </p:spPr>
      </p:pic>
      <p:sp>
        <p:nvSpPr>
          <p:cNvPr id="5" name="TextBox 4"/>
          <p:cNvSpPr txBox="1"/>
          <p:nvPr/>
        </p:nvSpPr>
        <p:spPr>
          <a:xfrm>
            <a:off x="3579224" y="6061166"/>
            <a:ext cx="4981302"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Fig. 9: (a) n-type material; (b) p-type material.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557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When a p-type semiconductor is suitably joined to a n-type semiconductor, the contact surface is called a P-N junction. </a:t>
            </a: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a:t>
            </a:r>
            <a:endParaRPr lang="en-US" sz="3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682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Depletion Region/Layer</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The region of uncovered positive and negative ions is called the depletion region due to the “depletion” of free carriers in the region of a P-N junction.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7099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995749" y="1153843"/>
            <a:ext cx="6522720" cy="4463186"/>
          </a:xfrm>
          <a:prstGeom prst="rect">
            <a:avLst/>
          </a:prstGeom>
        </p:spPr>
      </p:pic>
      <mc:AlternateContent xmlns:mc="http://schemas.openxmlformats.org/markup-compatibility/2006" xmlns:a14="http://schemas.microsoft.com/office/drawing/2010/main">
        <mc:Choice Requires="a14">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a:t>
                </a:r>
                <a:r>
                  <a:rPr lang="en-US" sz="3200" b="1" dirty="0">
                    <a:solidFill>
                      <a:srgbClr val="C00000"/>
                    </a:solidFill>
                    <a:latin typeface="Times New Roman" panose="02020603050405020304" pitchFamily="18" charset="0"/>
                    <a:cs typeface="Times New Roman" panose="02020603050405020304" pitchFamily="18" charset="0"/>
                  </a:rPr>
                  <a:t>No </a:t>
                </a:r>
                <a:r>
                  <a:rPr lang="en-US" sz="3200" b="1" dirty="0" smtClean="0">
                    <a:solidFill>
                      <a:srgbClr val="C00000"/>
                    </a:solidFill>
                    <a:latin typeface="Times New Roman" panose="02020603050405020304" pitchFamily="18" charset="0"/>
                    <a:cs typeface="Times New Roman" panose="02020603050405020304" pitchFamily="18" charset="0"/>
                  </a:rPr>
                  <a:t>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cs typeface="Times New Roman" panose="02020603050405020304" pitchFamily="18" charset="0"/>
                      </a:rPr>
                      <m:t>=</m:t>
                    </m:r>
                    <m:r>
                      <a:rPr lang="en-US" sz="3200" b="1" i="1" smtClean="0">
                        <a:solidFill>
                          <a:srgbClr val="C00000"/>
                        </a:solidFill>
                        <a:latin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4" name="Title 1"/>
              <p:cNvSpPr>
                <a:spLocks noGrp="1" noRot="1" noChangeAspect="1" noMove="1" noResize="1" noEditPoints="1" noAdjustHandles="1" noChangeArrowheads="1" noChangeShapeType="1" noTextEdit="1"/>
              </p:cNvSpPr>
              <p:nvPr>
                <p:ph type="title"/>
              </p:nvPr>
            </p:nvSpPr>
            <p:spPr>
              <a:blipFill>
                <a:blip r:embed="rId3"/>
                <a:stretch>
                  <a:fillRect l="-15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29788" y="5684009"/>
                <a:ext cx="10502537" cy="1015663"/>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Fig. 10: </a:t>
                </a:r>
                <a:r>
                  <a:rPr lang="en-US" sz="2000" dirty="0">
                    <a:latin typeface="Times New Roman" panose="02020603050405020304" pitchFamily="18" charset="0"/>
                    <a:cs typeface="Times New Roman" panose="02020603050405020304" pitchFamily="18" charset="0"/>
                  </a:rPr>
                  <a:t>A p–n junction with no external bias: (a) an internal distribution of charge; (b) a diode </a:t>
                </a:r>
                <a:r>
                  <a:rPr lang="en-US" sz="2000" dirty="0" smtClean="0">
                    <a:latin typeface="Times New Roman" panose="02020603050405020304" pitchFamily="18" charset="0"/>
                    <a:cs typeface="Times New Roman" panose="02020603050405020304" pitchFamily="18" charset="0"/>
                  </a:rPr>
                  <a:t>symbol, with </a:t>
                </a:r>
                <a:r>
                  <a:rPr lang="en-US" sz="2000" dirty="0">
                    <a:latin typeface="Times New Roman" panose="02020603050405020304" pitchFamily="18" charset="0"/>
                    <a:cs typeface="Times New Roman" panose="02020603050405020304" pitchFamily="18" charset="0"/>
                  </a:rPr>
                  <a:t>the defined polarity and the current direction; (c) demonstration that the net carrier </a:t>
                </a:r>
                <a:r>
                  <a:rPr lang="en-US" sz="2000" dirty="0" smtClean="0">
                    <a:latin typeface="Times New Roman" panose="02020603050405020304" pitchFamily="18" charset="0"/>
                    <a:cs typeface="Times New Roman" panose="02020603050405020304" pitchFamily="18" charset="0"/>
                  </a:rPr>
                  <a:t>flow is zero at the external terminal of the device when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𝑉</m:t>
                        </m:r>
                      </m:e>
                      <m:sub>
                        <m:r>
                          <a:rPr lang="en-US" sz="2000" b="0" i="1" smtClean="0">
                            <a:latin typeface="Cambria Math" panose="02040503050406030204" pitchFamily="18" charset="0"/>
                            <a:cs typeface="Times New Roman" panose="02020603050405020304" pitchFamily="18" charset="0"/>
                          </a:rPr>
                          <m:t>𝐷</m:t>
                        </m:r>
                      </m:sub>
                    </m:sSub>
                    <m:r>
                      <a:rPr lang="en-US" sz="2000" b="0" i="1" smtClean="0">
                        <a:latin typeface="Cambria Math" panose="02040503050406030204" pitchFamily="18" charset="0"/>
                        <a:cs typeface="Times New Roman" panose="02020603050405020304" pitchFamily="18" charset="0"/>
                      </a:rPr>
                      <m:t>=0</m:t>
                    </m:r>
                    <m:r>
                      <a:rPr lang="en-US" sz="2000" b="0" i="0" smtClean="0">
                        <a:latin typeface="Cambria Math" panose="02040503050406030204" pitchFamily="18" charset="0"/>
                        <a:cs typeface="Times New Roman" panose="02020603050405020304" pitchFamily="18" charset="0"/>
                      </a:rPr>
                      <m:t> </m:t>
                    </m:r>
                    <m:r>
                      <m:rPr>
                        <m:sty m:val="p"/>
                      </m:rPr>
                      <a:rPr lang="en-US" sz="2000" b="0" i="0" smtClean="0">
                        <a:latin typeface="Cambria Math" panose="02040503050406030204" pitchFamily="18" charset="0"/>
                        <a:cs typeface="Times New Roman" panose="02020603050405020304" pitchFamily="18" charset="0"/>
                      </a:rPr>
                      <m:t>V</m:t>
                    </m:r>
                  </m:oMath>
                </a14:m>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029788" y="5684009"/>
                <a:ext cx="10502537" cy="1015663"/>
              </a:xfrm>
              <a:prstGeom prst="rect">
                <a:avLst/>
              </a:prstGeom>
              <a:blipFill>
                <a:blip r:embed="rId4"/>
                <a:stretch>
                  <a:fillRect l="-638" t="-2994" r="-580" b="-9581"/>
                </a:stretch>
              </a:blipFill>
            </p:spPr>
            <p:txBody>
              <a:bodyPr/>
              <a:lstStyle/>
              <a:p>
                <a:r>
                  <a:rPr lang="en-US">
                    <a:noFill/>
                  </a:rPr>
                  <a:t> </a:t>
                </a:r>
              </a:p>
            </p:txBody>
          </p:sp>
        </mc:Fallback>
      </mc:AlternateContent>
    </p:spTree>
    <p:extLst>
      <p:ext uri="{BB962C8B-B14F-4D97-AF65-F5344CB8AC3E}">
        <p14:creationId xmlns:p14="http://schemas.microsoft.com/office/powerpoint/2010/main" val="3419129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When a diode is connected in a zero-bias condition, no external voltage potential is applied to the p-n junction diode.</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Any minority carrier (hole) of n-type materials finds themselves within the depletion region and passes quickly to the p-type material. </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closer the minority carrier is to the junction, the greater the attraction for negative ions in the layer, and the less the opposition offered by positive ions in the layer of p-type material.</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Similarly, the minority carrier (electron) will also pass quickly to the n-type material and find themselves in the depletion region.</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electrons and holes in the depletion region attract each other.</a:t>
            </a:r>
          </a:p>
        </p:txBody>
      </p:sp>
      <mc:AlternateContent xmlns:mc="http://schemas.openxmlformats.org/markup-compatibility/2006" xmlns:a14="http://schemas.microsoft.com/office/drawing/2010/main">
        <mc:Choice Requires="a14">
          <p:sp>
            <p:nvSpPr>
              <p:cNvPr id="5"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a:t>
                </a:r>
                <a:r>
                  <a:rPr lang="en-US" sz="3200" b="1" dirty="0">
                    <a:solidFill>
                      <a:srgbClr val="C00000"/>
                    </a:solidFill>
                    <a:latin typeface="Times New Roman" panose="02020603050405020304" pitchFamily="18" charset="0"/>
                    <a:cs typeface="Times New Roman" panose="02020603050405020304" pitchFamily="18" charset="0"/>
                  </a:rPr>
                  <a:t>No </a:t>
                </a:r>
                <a:r>
                  <a:rPr lang="en-US" sz="3200" b="1" dirty="0" smtClean="0">
                    <a:solidFill>
                      <a:srgbClr val="C00000"/>
                    </a:solidFill>
                    <a:latin typeface="Times New Roman" panose="02020603050405020304" pitchFamily="18" charset="0"/>
                    <a:cs typeface="Times New Roman" panose="02020603050405020304" pitchFamily="18" charset="0"/>
                  </a:rPr>
                  <a:t>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cs typeface="Times New Roman" panose="02020603050405020304" pitchFamily="18" charset="0"/>
                      </a:rPr>
                      <m:t>=</m:t>
                    </m:r>
                    <m:r>
                      <a:rPr lang="en-US" sz="3200" b="1" i="1" smtClean="0">
                        <a:solidFill>
                          <a:srgbClr val="C00000"/>
                        </a:solidFill>
                        <a:latin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5" name="Title 1"/>
              <p:cNvSpPr>
                <a:spLocks noGrp="1" noRot="1" noChangeAspect="1" noMove="1" noResize="1" noEditPoints="1" noAdjustHandles="1" noChangeArrowheads="1" noChangeShapeType="1" noTextEdit="1"/>
              </p:cNvSpPr>
              <p:nvPr>
                <p:ph type="title"/>
              </p:nvPr>
            </p:nvSpPr>
            <p:spPr>
              <a:blipFill>
                <a:blip r:embed="rId2"/>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2505795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Since there is a large number of majority carriers so, they pass through the depletion region. </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Electrons in the n-type material start to flow currents in the diode, known as forward current.</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Similarly, holes </a:t>
            </a:r>
            <a:r>
              <a:rPr lang="en-US" dirty="0">
                <a:latin typeface="Times New Roman" panose="02020603050405020304" pitchFamily="18" charset="0"/>
                <a:cs typeface="Times New Roman" panose="02020603050405020304" pitchFamily="18" charset="0"/>
              </a:rPr>
              <a:t>in the </a:t>
            </a:r>
            <a:r>
              <a:rPr lang="en-US" dirty="0" smtClean="0">
                <a:latin typeface="Times New Roman" panose="02020603050405020304" pitchFamily="18" charset="0"/>
                <a:cs typeface="Times New Roman" panose="02020603050405020304" pitchFamily="18" charset="0"/>
              </a:rPr>
              <a:t>p-type </a:t>
            </a:r>
            <a:r>
              <a:rPr lang="en-US" dirty="0">
                <a:latin typeface="Times New Roman" panose="02020603050405020304" pitchFamily="18" charset="0"/>
                <a:cs typeface="Times New Roman" panose="02020603050405020304" pitchFamily="18" charset="0"/>
              </a:rPr>
              <a:t>material </a:t>
            </a:r>
            <a:r>
              <a:rPr lang="en-US" dirty="0" smtClean="0">
                <a:latin typeface="Times New Roman" panose="02020603050405020304" pitchFamily="18" charset="0"/>
                <a:cs typeface="Times New Roman" panose="02020603050405020304" pitchFamily="18" charset="0"/>
              </a:rPr>
              <a:t>also start </a:t>
            </a:r>
            <a:r>
              <a:rPr lang="en-US" dirty="0">
                <a:latin typeface="Times New Roman" panose="02020603050405020304" pitchFamily="18" charset="0"/>
                <a:cs typeface="Times New Roman" panose="02020603050405020304" pitchFamily="18" charset="0"/>
              </a:rPr>
              <a:t>to flow currents in the </a:t>
            </a:r>
            <a:r>
              <a:rPr lang="en-US" dirty="0" smtClean="0">
                <a:latin typeface="Times New Roman" panose="02020603050405020304" pitchFamily="18" charset="0"/>
                <a:cs typeface="Times New Roman" panose="02020603050405020304" pitchFamily="18" charset="0"/>
              </a:rPr>
              <a:t>opposite direction, </a:t>
            </a:r>
            <a:r>
              <a:rPr lang="en-US" dirty="0">
                <a:latin typeface="Times New Roman" panose="02020603050405020304" pitchFamily="18" charset="0"/>
                <a:cs typeface="Times New Roman" panose="02020603050405020304" pitchFamily="18" charset="0"/>
              </a:rPr>
              <a:t>known as </a:t>
            </a:r>
            <a:r>
              <a:rPr lang="en-US" dirty="0" smtClean="0">
                <a:latin typeface="Times New Roman" panose="02020603050405020304" pitchFamily="18" charset="0"/>
                <a:cs typeface="Times New Roman" panose="02020603050405020304" pitchFamily="18" charset="0"/>
              </a:rPr>
              <a:t>reverse </a:t>
            </a:r>
            <a:r>
              <a:rPr lang="en-US" dirty="0">
                <a:latin typeface="Times New Roman" panose="02020603050405020304" pitchFamily="18" charset="0"/>
                <a:cs typeface="Times New Roman" panose="02020603050405020304" pitchFamily="18" charset="0"/>
              </a:rPr>
              <a:t>current.</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Potential barriers in the depletion region oppose the migration of electrons and holes across the junction and as a result, a state of equilibrium is established.</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So, a net zero current flows in the junction diode. </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a:t>
                </a:r>
                <a:r>
                  <a:rPr lang="en-US" sz="3200" b="1" dirty="0">
                    <a:solidFill>
                      <a:srgbClr val="C00000"/>
                    </a:solidFill>
                    <a:latin typeface="Times New Roman" panose="02020603050405020304" pitchFamily="18" charset="0"/>
                    <a:cs typeface="Times New Roman" panose="02020603050405020304" pitchFamily="18" charset="0"/>
                  </a:rPr>
                  <a:t>No </a:t>
                </a:r>
                <a:r>
                  <a:rPr lang="en-US" sz="3200" b="1" dirty="0" smtClean="0">
                    <a:solidFill>
                      <a:srgbClr val="C00000"/>
                    </a:solidFill>
                    <a:latin typeface="Times New Roman" panose="02020603050405020304" pitchFamily="18" charset="0"/>
                    <a:cs typeface="Times New Roman" panose="02020603050405020304" pitchFamily="18" charset="0"/>
                  </a:rPr>
                  <a:t>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cs typeface="Times New Roman" panose="02020603050405020304" pitchFamily="18" charset="0"/>
                      </a:rPr>
                      <m:t>=</m:t>
                    </m:r>
                    <m:r>
                      <a:rPr lang="en-US" sz="3200" b="1" i="1" smtClean="0">
                        <a:solidFill>
                          <a:srgbClr val="C00000"/>
                        </a:solidFill>
                        <a:latin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6" name="Title 1"/>
              <p:cNvSpPr>
                <a:spLocks noGrp="1" noRot="1" noChangeAspect="1" noMove="1" noResize="1" noEditPoints="1" noAdjustHandles="1" noChangeArrowheads="1" noChangeShapeType="1" noTextEdit="1"/>
              </p:cNvSpPr>
              <p:nvPr>
                <p:ph type="title"/>
              </p:nvPr>
            </p:nvSpPr>
            <p:spPr>
              <a:blipFill>
                <a:blip r:embed="rId2"/>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2118141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412274" y="1445623"/>
            <a:ext cx="7306492" cy="4032068"/>
          </a:xfrm>
          <a:prstGeom prst="rect">
            <a:avLst/>
          </a:prstGeom>
        </p:spPr>
      </p:pic>
      <mc:AlternateContent xmlns:mc="http://schemas.openxmlformats.org/markup-compatibility/2006" xmlns:a14="http://schemas.microsoft.com/office/drawing/2010/main">
        <mc:Choice Requires="a14">
          <p:sp>
            <p:nvSpPr>
              <p:cNvPr id="6"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Forward 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&gt;</m:t>
                    </m:r>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6" name="Title 1"/>
              <p:cNvSpPr>
                <a:spLocks noGrp="1" noRot="1" noChangeAspect="1" noMove="1" noResize="1" noEditPoints="1" noAdjustHandles="1" noChangeArrowheads="1" noChangeShapeType="1" noTextEdit="1"/>
              </p:cNvSpPr>
              <p:nvPr>
                <p:ph type="title"/>
              </p:nvPr>
            </p:nvSpPr>
            <p:spPr>
              <a:blipFill>
                <a:blip r:embed="rId3"/>
                <a:stretch>
                  <a:fillRect l="-1507"/>
                </a:stretch>
              </a:blipFill>
            </p:spPr>
            <p:txBody>
              <a:bodyPr/>
              <a:lstStyle/>
              <a:p>
                <a:r>
                  <a:rPr lang="en-US">
                    <a:noFill/>
                  </a:rPr>
                  <a:t> </a:t>
                </a:r>
              </a:p>
            </p:txBody>
          </p:sp>
        </mc:Fallback>
      </mc:AlternateContent>
      <p:sp>
        <p:nvSpPr>
          <p:cNvPr id="8" name="TextBox 7"/>
          <p:cNvSpPr txBox="1"/>
          <p:nvPr/>
        </p:nvSpPr>
        <p:spPr>
          <a:xfrm>
            <a:off x="973183" y="5791200"/>
            <a:ext cx="10380617" cy="707886"/>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Fig</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11: Forward-biased </a:t>
            </a:r>
            <a:r>
              <a:rPr lang="en-US" sz="2000" dirty="0">
                <a:latin typeface="Times New Roman" panose="02020603050405020304" pitchFamily="18" charset="0"/>
                <a:cs typeface="Times New Roman" panose="02020603050405020304" pitchFamily="18" charset="0"/>
              </a:rPr>
              <a:t>p–n junction: (a) internal </a:t>
            </a:r>
            <a:r>
              <a:rPr lang="en-US" sz="2000" dirty="0" smtClean="0">
                <a:latin typeface="Times New Roman" panose="02020603050405020304" pitchFamily="18" charset="0"/>
                <a:cs typeface="Times New Roman" panose="02020603050405020304" pitchFamily="18" charset="0"/>
              </a:rPr>
              <a:t>distribution of </a:t>
            </a:r>
            <a:r>
              <a:rPr lang="en-US" sz="2000" dirty="0">
                <a:latin typeface="Times New Roman" panose="02020603050405020304" pitchFamily="18" charset="0"/>
                <a:cs typeface="Times New Roman" panose="02020603050405020304" pitchFamily="18" charset="0"/>
              </a:rPr>
              <a:t>charge under </a:t>
            </a:r>
            <a:r>
              <a:rPr lang="en-US" sz="2000" dirty="0" smtClean="0">
                <a:latin typeface="Times New Roman" panose="02020603050405020304" pitchFamily="18" charset="0"/>
                <a:cs typeface="Times New Roman" panose="02020603050405020304" pitchFamily="18" charset="0"/>
              </a:rPr>
              <a:t>forward-bias conditions</a:t>
            </a:r>
            <a:r>
              <a:rPr lang="en-US" sz="2000" dirty="0">
                <a:latin typeface="Times New Roman" panose="02020603050405020304" pitchFamily="18" charset="0"/>
                <a:cs typeface="Times New Roman" panose="02020603050405020304" pitchFamily="18" charset="0"/>
              </a:rPr>
              <a:t>; (b) forward-bias polarity and direction of resulting current.  </a:t>
            </a:r>
          </a:p>
        </p:txBody>
      </p:sp>
    </p:spTree>
    <p:extLst>
      <p:ext uri="{BB962C8B-B14F-4D97-AF65-F5344CB8AC3E}">
        <p14:creationId xmlns:p14="http://schemas.microsoft.com/office/powerpoint/2010/main" val="2167528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the positive potential is connected to the p-type material and the negative potential is connected to the n-type material then forward bias is established.</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minority carrier of p-type material (electron) and the minority carrier of n-type material (hole) flow to each other in the depletion region.</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majority carrier (hole) of p-type material and the positive terminal of the battery repel each other.</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 the majority carrier will flow to the n-type material.</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Similarly, the majority carrier (electron) of n-type material and the negative terminal of the battery repel each other.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Forward 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&gt;</m:t>
                    </m:r>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4" name="Title 1"/>
              <p:cNvSpPr>
                <a:spLocks noGrp="1" noRot="1" noChangeAspect="1" noMove="1" noResize="1" noEditPoints="1" noAdjustHandles="1" noChangeArrowheads="1" noChangeShapeType="1" noTextEdit="1"/>
              </p:cNvSpPr>
              <p:nvPr>
                <p:ph type="title"/>
              </p:nvPr>
            </p:nvSpPr>
            <p:spPr>
              <a:blipFill>
                <a:blip r:embed="rId2"/>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1726786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 the majority carrier will flow to the p-type material.</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As a result, the width of the depletion region reduces.</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As the applied bias increases, the depletion layer will continue to decrease in width.</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At a certain applied voltage (knee voltage,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𝑉</m:t>
                        </m:r>
                      </m:e>
                      <m:sub>
                        <m:r>
                          <a:rPr lang="en-US" b="0" i="1" smtClean="0">
                            <a:latin typeface="Cambria Math" panose="02040503050406030204" pitchFamily="18" charset="0"/>
                            <a:cs typeface="Times New Roman" panose="02020603050405020304" pitchFamily="18" charset="0"/>
                          </a:rPr>
                          <m:t>𝐾</m:t>
                        </m:r>
                      </m:sub>
                    </m:sSub>
                  </m:oMath>
                </a14:m>
                <a:r>
                  <a:rPr lang="en-US" dirty="0" smtClean="0">
                    <a:latin typeface="Times New Roman" panose="02020603050405020304" pitchFamily="18" charset="0"/>
                    <a:cs typeface="Times New Roman" panose="02020603050405020304" pitchFamily="18" charset="0"/>
                  </a:rPr>
                  <a:t>) the current increases linearly/rapidly.</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At knee voltage, the depletion layer completely vanishes.</a:t>
                </a:r>
              </a:p>
              <a:p>
                <a:pPr algn="just">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 at forward bias condition, the current will flow in the junction.  </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11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Forward 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&gt;</m:t>
                    </m:r>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4" name="Title 1"/>
              <p:cNvSpPr>
                <a:spLocks noGrp="1" noRot="1" noChangeAspect="1" noMove="1" noResize="1" noEditPoints="1" noAdjustHandles="1" noChangeArrowheads="1" noChangeShapeType="1" noTextEdit="1"/>
              </p:cNvSpPr>
              <p:nvPr>
                <p:ph type="title"/>
              </p:nvPr>
            </p:nvSpPr>
            <p:spPr>
              <a:blipFill>
                <a:blip r:embed="rId3"/>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1146550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464525" y="1480458"/>
            <a:ext cx="7123611" cy="3798162"/>
          </a:xfrm>
          <a:prstGeom prst="rect">
            <a:avLst/>
          </a:prstGeom>
        </p:spPr>
      </p:pic>
      <mc:AlternateContent xmlns:mc="http://schemas.openxmlformats.org/markup-compatibility/2006" xmlns:a14="http://schemas.microsoft.com/office/drawing/2010/main">
        <mc:Choice Requires="a14">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Reverse 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&lt;</m:t>
                    </m:r>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4" name="Title 1"/>
              <p:cNvSpPr>
                <a:spLocks noGrp="1" noRot="1" noChangeAspect="1" noMove="1" noResize="1" noEditPoints="1" noAdjustHandles="1" noChangeArrowheads="1" noChangeShapeType="1" noTextEdit="1"/>
              </p:cNvSpPr>
              <p:nvPr>
                <p:ph type="title"/>
              </p:nvPr>
            </p:nvSpPr>
            <p:spPr>
              <a:blipFill>
                <a:blip r:embed="rId3"/>
                <a:stretch>
                  <a:fillRect l="-1507"/>
                </a:stretch>
              </a:blipFill>
            </p:spPr>
            <p:txBody>
              <a:bodyPr/>
              <a:lstStyle/>
              <a:p>
                <a:r>
                  <a:rPr lang="en-US">
                    <a:noFill/>
                  </a:rPr>
                  <a:t> </a:t>
                </a:r>
              </a:p>
            </p:txBody>
          </p:sp>
        </mc:Fallback>
      </mc:AlternateContent>
      <p:sp>
        <p:nvSpPr>
          <p:cNvPr id="6" name="TextBox 5"/>
          <p:cNvSpPr txBox="1"/>
          <p:nvPr/>
        </p:nvSpPr>
        <p:spPr>
          <a:xfrm>
            <a:off x="914400" y="5564777"/>
            <a:ext cx="10439400" cy="707886"/>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Fig</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12: Reverse-biased </a:t>
            </a:r>
            <a:r>
              <a:rPr lang="en-US" sz="2000" dirty="0">
                <a:latin typeface="Times New Roman" panose="02020603050405020304" pitchFamily="18" charset="0"/>
                <a:cs typeface="Times New Roman" panose="02020603050405020304" pitchFamily="18" charset="0"/>
              </a:rPr>
              <a:t>p–n junction: (a) internal distribution of charge under </a:t>
            </a:r>
            <a:r>
              <a:rPr lang="en-US" sz="2000" dirty="0" smtClean="0">
                <a:latin typeface="Times New Roman" panose="02020603050405020304" pitchFamily="18" charset="0"/>
                <a:cs typeface="Times New Roman" panose="02020603050405020304" pitchFamily="18" charset="0"/>
              </a:rPr>
              <a:t>reverse-bias conditions</a:t>
            </a:r>
            <a:r>
              <a:rPr lang="en-US" sz="2000" dirty="0">
                <a:latin typeface="Times New Roman" panose="02020603050405020304" pitchFamily="18" charset="0"/>
                <a:cs typeface="Times New Roman" panose="02020603050405020304" pitchFamily="18" charset="0"/>
              </a:rPr>
              <a:t>; (b) reverse-bias polarity and direction of reverse </a:t>
            </a:r>
            <a:r>
              <a:rPr lang="en-US" sz="2000" dirty="0" smtClean="0">
                <a:latin typeface="Times New Roman" panose="02020603050405020304" pitchFamily="18" charset="0"/>
                <a:cs typeface="Times New Roman" panose="02020603050405020304" pitchFamily="18" charset="0"/>
              </a:rPr>
              <a:t>saturation </a:t>
            </a:r>
            <a:r>
              <a:rPr lang="en-US" sz="2000" dirty="0">
                <a:latin typeface="Times New Roman" panose="02020603050405020304" pitchFamily="18" charset="0"/>
                <a:cs typeface="Times New Roman" panose="02020603050405020304" pitchFamily="18" charset="0"/>
              </a:rPr>
              <a:t>current.   </a:t>
            </a:r>
          </a:p>
        </p:txBody>
      </p:sp>
    </p:spTree>
    <p:extLst>
      <p:ext uri="{BB962C8B-B14F-4D97-AF65-F5344CB8AC3E}">
        <p14:creationId xmlns:p14="http://schemas.microsoft.com/office/powerpoint/2010/main" val="2009412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When the negative potential is connected to the p-type material and the positive potential is connected to the n-type material then reverse bias is established.</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The majority carrier (hole) of p-type material and the negative terminal of the battery attract each other.</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As a result, a large number of minority carriers flow to the n-type material in the depletion layer.</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Similarly, the majority carrier (electron) of n-type material and the positive terminal of the battery attract each other.</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As a result, a large number of minority carriers flow to the p-type material in the depletion layer.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Reverse 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&lt;</m:t>
                    </m:r>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4" name="Title 1"/>
              <p:cNvSpPr>
                <a:spLocks noGrp="1" noRot="1" noChangeAspect="1" noMove="1" noResize="1" noEditPoints="1" noAdjustHandles="1" noChangeArrowheads="1" noChangeShapeType="1" noTextEdit="1"/>
              </p:cNvSpPr>
              <p:nvPr>
                <p:ph type="title"/>
              </p:nvPr>
            </p:nvSpPr>
            <p:spPr>
              <a:blipFill>
                <a:blip r:embed="rId2"/>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974969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This increases the width of the depletion region.</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If the voltage increases then no current will flow.</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For high-power devices, a small amount of current will flow.</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The current that exists under the reverse bias condition is called the reverse saturation current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𝐼</m:t>
                        </m:r>
                      </m:e>
                      <m:sub>
                        <m:r>
                          <a:rPr lang="en-US" b="0" i="1" smtClean="0">
                            <a:latin typeface="Cambria Math" panose="02040503050406030204" pitchFamily="18" charset="0"/>
                            <a:cs typeface="Times New Roman" panose="02020603050405020304" pitchFamily="18" charset="0"/>
                          </a:rPr>
                          <m:t>𝑆</m:t>
                        </m:r>
                      </m:sub>
                    </m:sSub>
                  </m:oMath>
                </a14:m>
                <a:r>
                  <a:rPr lang="en-US"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At a certain voltage (breakdown voltage) electrons and holes breakdown through the p-n junction and the current will flow through the circuit.</a:t>
                </a:r>
              </a:p>
              <a:p>
                <a:pPr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In this process, the current flowing through the p-n junction is very high and ultimately the p-n junction gets damaged.  </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361" r="-11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P-N Junction Diode Under Reverse Bias (</a:t>
                </a:r>
                <a14:m>
                  <m:oMath xmlns:m="http://schemas.openxmlformats.org/officeDocument/2006/math">
                    <m:sSub>
                      <m:sSubPr>
                        <m:ctrlPr>
                          <a:rPr lang="en-US" sz="3200" b="1" i="1" smtClean="0">
                            <a:solidFill>
                              <a:srgbClr val="C00000"/>
                            </a:solidFill>
                            <a:latin typeface="Cambria Math" panose="02040503050406030204" pitchFamily="18" charset="0"/>
                            <a:cs typeface="Times New Roman" panose="02020603050405020304" pitchFamily="18" charset="0"/>
                          </a:rPr>
                        </m:ctrlPr>
                      </m:sSubPr>
                      <m:e>
                        <m:r>
                          <a:rPr lang="en-US" sz="3200" b="1" i="1" smtClean="0">
                            <a:solidFill>
                              <a:srgbClr val="C00000"/>
                            </a:solidFill>
                            <a:latin typeface="Cambria Math" panose="02040503050406030204" pitchFamily="18" charset="0"/>
                            <a:cs typeface="Times New Roman" panose="02020603050405020304" pitchFamily="18" charset="0"/>
                          </a:rPr>
                          <m:t>𝑽</m:t>
                        </m:r>
                      </m:e>
                      <m:sub>
                        <m:r>
                          <a:rPr lang="en-US" sz="3200" b="1" i="1" smtClean="0">
                            <a:solidFill>
                              <a:srgbClr val="C00000"/>
                            </a:solidFill>
                            <a:latin typeface="Cambria Math" panose="02040503050406030204" pitchFamily="18" charset="0"/>
                            <a:cs typeface="Times New Roman" panose="02020603050405020304" pitchFamily="18" charset="0"/>
                          </a:rPr>
                          <m:t>𝑫</m:t>
                        </m:r>
                      </m:sub>
                    </m:sSub>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&lt;</m:t>
                    </m:r>
                    <m:r>
                      <a:rPr lang="en-US" sz="3200" b="1"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sz="3200" b="1" dirty="0" smtClean="0">
                    <a:solidFill>
                      <a:srgbClr val="C00000"/>
                    </a:solidFill>
                    <a:latin typeface="Times New Roman" panose="02020603050405020304" pitchFamily="18" charset="0"/>
                    <a:cs typeface="Times New Roman" panose="02020603050405020304" pitchFamily="18" charset="0"/>
                  </a:rPr>
                  <a:t>)</a:t>
                </a:r>
                <a:r>
                  <a:rPr lang="en-US" sz="3200" b="1" dirty="0">
                    <a:solidFill>
                      <a:srgbClr val="C00000"/>
                    </a:solidFill>
                    <a:latin typeface="Times New Roman" panose="02020603050405020304" pitchFamily="18" charset="0"/>
                    <a:cs typeface="Times New Roman" panose="02020603050405020304" pitchFamily="18" charset="0"/>
                  </a:rPr>
                  <a:t/>
                </a:r>
                <a:br>
                  <a:rPr lang="en-US" sz="3200" b="1" dirty="0">
                    <a:solidFill>
                      <a:srgbClr val="C00000"/>
                    </a:solidFill>
                    <a:latin typeface="Times New Roman" panose="02020603050405020304" pitchFamily="18" charset="0"/>
                    <a:cs typeface="Times New Roman" panose="02020603050405020304" pitchFamily="18" charset="0"/>
                  </a:rPr>
                </a:br>
                <a:endParaRPr lang="en-US" sz="3200" b="1"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4" name="Title 1"/>
              <p:cNvSpPr>
                <a:spLocks noGrp="1" noRot="1" noChangeAspect="1" noMove="1" noResize="1" noEditPoints="1" noAdjustHandles="1" noChangeArrowheads="1" noChangeShapeType="1" noTextEdit="1"/>
              </p:cNvSpPr>
              <p:nvPr>
                <p:ph type="title"/>
              </p:nvPr>
            </p:nvSpPr>
            <p:spPr>
              <a:blipFill>
                <a:blip r:embed="rId3"/>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1331736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Reference Books</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514350" indent="-514350" algn="just">
              <a:buFont typeface="+mj-lt"/>
              <a:buAutoNum type="arabicPeriod"/>
            </a:pPr>
            <a:r>
              <a:rPr lang="en-US" b="1" dirty="0" smtClean="0">
                <a:solidFill>
                  <a:srgbClr val="00B050"/>
                </a:solidFill>
                <a:latin typeface="Times New Roman" panose="02020603050405020304" pitchFamily="18" charset="0"/>
                <a:cs typeface="Times New Roman" panose="02020603050405020304" pitchFamily="18" charset="0"/>
              </a:rPr>
              <a:t>Electronic </a:t>
            </a:r>
            <a:r>
              <a:rPr lang="en-US" b="1" dirty="0">
                <a:solidFill>
                  <a:srgbClr val="00B050"/>
                </a:solidFill>
                <a:latin typeface="Times New Roman" panose="02020603050405020304" pitchFamily="18" charset="0"/>
                <a:cs typeface="Times New Roman" panose="02020603050405020304" pitchFamily="18" charset="0"/>
              </a:rPr>
              <a:t>Devices and Circuit Theory: Robert L. </a:t>
            </a:r>
            <a:r>
              <a:rPr lang="en-US" b="1" dirty="0" err="1">
                <a:solidFill>
                  <a:srgbClr val="00B050"/>
                </a:solidFill>
                <a:latin typeface="Times New Roman" panose="02020603050405020304" pitchFamily="18" charset="0"/>
                <a:cs typeface="Times New Roman" panose="02020603050405020304" pitchFamily="18" charset="0"/>
              </a:rPr>
              <a:t>Boylestad</a:t>
            </a:r>
            <a:r>
              <a:rPr lang="en-US" b="1" dirty="0" smtClean="0">
                <a:solidFill>
                  <a:srgbClr val="00B050"/>
                </a:solidFill>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dirty="0" smtClean="0">
                <a:latin typeface="Times New Roman" panose="02020603050405020304" pitchFamily="18" charset="0"/>
                <a:cs typeface="Times New Roman" panose="02020603050405020304" pitchFamily="18" charset="0"/>
              </a:rPr>
              <a:t>Microelectronic </a:t>
            </a:r>
            <a:r>
              <a:rPr lang="en-US" dirty="0">
                <a:latin typeface="Times New Roman" panose="02020603050405020304" pitchFamily="18" charset="0"/>
                <a:cs typeface="Times New Roman" panose="02020603050405020304" pitchFamily="18" charset="0"/>
              </a:rPr>
              <a:t>Circuits: </a:t>
            </a:r>
            <a:r>
              <a:rPr lang="en-US" dirty="0" err="1">
                <a:latin typeface="Times New Roman" panose="02020603050405020304" pitchFamily="18" charset="0"/>
                <a:cs typeface="Times New Roman" panose="02020603050405020304" pitchFamily="18" charset="0"/>
              </a:rPr>
              <a:t>Sedra</a:t>
            </a:r>
            <a:r>
              <a:rPr lang="en-US" dirty="0">
                <a:latin typeface="Times New Roman" panose="02020603050405020304" pitchFamily="18" charset="0"/>
                <a:cs typeface="Times New Roman" panose="02020603050405020304" pitchFamily="18" charset="0"/>
              </a:rPr>
              <a:t> Smith</a:t>
            </a:r>
            <a:r>
              <a:rPr lang="en-US" dirty="0" smtClean="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dirty="0" smtClean="0">
                <a:latin typeface="Times New Roman" panose="02020603050405020304" pitchFamily="18" charset="0"/>
                <a:cs typeface="Times New Roman" panose="02020603050405020304" pitchFamily="18" charset="0"/>
              </a:rPr>
              <a:t>Electronic </a:t>
            </a:r>
            <a:r>
              <a:rPr lang="en-US" dirty="0">
                <a:latin typeface="Times New Roman" panose="02020603050405020304" pitchFamily="18" charset="0"/>
                <a:cs typeface="Times New Roman" panose="02020603050405020304" pitchFamily="18" charset="0"/>
              </a:rPr>
              <a:t>Devices and Circuits: </a:t>
            </a:r>
            <a:r>
              <a:rPr lang="en-US" dirty="0" err="1">
                <a:latin typeface="Times New Roman" panose="02020603050405020304" pitchFamily="18" charset="0"/>
                <a:cs typeface="Times New Roman" panose="02020603050405020304" pitchFamily="18" charset="0"/>
              </a:rPr>
              <a:t>Millman</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Halkias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789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9127"/>
            <a:ext cx="10515600" cy="5299787"/>
          </a:xfrm>
          <a:effectLst>
            <a:outerShdw blurRad="50800" dist="38100" dir="10800000" algn="r" rotWithShape="0">
              <a:prstClr val="black">
                <a:alpha val="40000"/>
              </a:prstClr>
            </a:outerShdw>
          </a:effectLst>
        </p:spPr>
        <p:txBody>
          <a:bodyPr>
            <a:normAutofit/>
          </a:bodyPr>
          <a:lstStyle/>
          <a:p>
            <a:pPr marL="0" indent="0" algn="ctr">
              <a:buNone/>
            </a:pPr>
            <a:endParaRPr lang="en-US" sz="4400" b="1" dirty="0" smtClean="0">
              <a:latin typeface="Times New Roman" panose="02020603050405020304" pitchFamily="18" charset="0"/>
              <a:cs typeface="Times New Roman" panose="02020603050405020304" pitchFamily="18" charset="0"/>
            </a:endParaRPr>
          </a:p>
          <a:p>
            <a:pPr marL="0" indent="0" algn="ctr">
              <a:buNone/>
            </a:pPr>
            <a:endParaRPr lang="en-US" sz="4400" b="1" dirty="0" smtClean="0">
              <a:latin typeface="Times New Roman" panose="02020603050405020304" pitchFamily="18" charset="0"/>
              <a:cs typeface="Times New Roman" panose="02020603050405020304" pitchFamily="18" charset="0"/>
            </a:endParaRPr>
          </a:p>
          <a:p>
            <a:pPr marL="0" indent="0" algn="ctr">
              <a:buNone/>
            </a:pPr>
            <a:r>
              <a:rPr lang="en-US" sz="4400" b="1" dirty="0" smtClean="0">
                <a:solidFill>
                  <a:srgbClr val="C00000"/>
                </a:solidFill>
                <a:latin typeface="Times New Roman" panose="02020603050405020304" pitchFamily="18" charset="0"/>
                <a:cs typeface="Times New Roman" panose="02020603050405020304" pitchFamily="18" charset="0"/>
              </a:rPr>
              <a:t>THANK YOU</a:t>
            </a:r>
            <a:endParaRPr lang="en-US" sz="4400" b="1" dirty="0">
              <a:solidFill>
                <a:srgbClr val="C0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4C60B49-63E1-425C-A215-81F132E972A8}" type="slidenum">
              <a:rPr lang="en-US" smtClean="0"/>
              <a:t>39</a:t>
            </a:fld>
            <a:endParaRPr lang="en-US"/>
          </a:p>
        </p:txBody>
      </p:sp>
      <p:pic>
        <p:nvPicPr>
          <p:cNvPr id="2" name="Picture 1"/>
          <p:cNvPicPr>
            <a:picLocks noChangeAspect="1"/>
          </p:cNvPicPr>
          <p:nvPr/>
        </p:nvPicPr>
        <p:blipFill>
          <a:blip r:embed="rId2"/>
          <a:stretch>
            <a:fillRect/>
          </a:stretch>
        </p:blipFill>
        <p:spPr>
          <a:xfrm>
            <a:off x="5061663" y="2847002"/>
            <a:ext cx="2098222" cy="2098222"/>
          </a:xfrm>
          <a:prstGeom prst="rect">
            <a:avLst/>
          </a:prstGeom>
        </p:spPr>
      </p:pic>
    </p:spTree>
    <p:extLst>
      <p:ext uri="{BB962C8B-B14F-4D97-AF65-F5344CB8AC3E}">
        <p14:creationId xmlns:p14="http://schemas.microsoft.com/office/powerpoint/2010/main" val="1761167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673</TotalTime>
  <Words>2588</Words>
  <Application>Microsoft Office PowerPoint</Application>
  <PresentationFormat>Widescreen</PresentationFormat>
  <Paragraphs>207</Paragraphs>
  <Slides>39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Cambria Math</vt:lpstr>
      <vt:lpstr>Courier New</vt:lpstr>
      <vt:lpstr>Times New Roman</vt:lpstr>
      <vt:lpstr>Wingdings</vt:lpstr>
      <vt:lpstr>Office Theme</vt:lpstr>
      <vt:lpstr>Bangladesh Army University of Engineering &amp; Technology Department of Electrical &amp; Electronic Engineering</vt:lpstr>
      <vt:lpstr>Outline</vt:lpstr>
      <vt:lpstr>Material: Conductor </vt:lpstr>
      <vt:lpstr>Material: Conductor </vt:lpstr>
      <vt:lpstr>Material: Semiconductor </vt:lpstr>
      <vt:lpstr>Material: Semiconductor </vt:lpstr>
      <vt:lpstr>Material: Insulator </vt:lpstr>
      <vt:lpstr>Material: Insulator </vt:lpstr>
      <vt:lpstr>Material: Insulator </vt:lpstr>
      <vt:lpstr>Valence Band &amp; Conduction band </vt:lpstr>
      <vt:lpstr>Band/Energy Gap </vt:lpstr>
      <vt:lpstr>Drift Velocity </vt:lpstr>
      <vt:lpstr>Drift Velocity </vt:lpstr>
      <vt:lpstr>Drift Current </vt:lpstr>
      <vt:lpstr>Fermi Level or Fermi Energy </vt:lpstr>
      <vt:lpstr>Fermi Level or Fermi Energy </vt:lpstr>
      <vt:lpstr>Bonds in Semiconductor </vt:lpstr>
      <vt:lpstr>Bonds in Semiconductor </vt:lpstr>
      <vt:lpstr>Bonds in Semiconductor </vt:lpstr>
      <vt:lpstr>Semiconductor Types: Intrinsic &amp; Extrinsic</vt:lpstr>
      <vt:lpstr>Semiconductor Types: Intrinsic &amp; Extrinsic</vt:lpstr>
      <vt:lpstr>P-Type Material or P-Type Semiconductor</vt:lpstr>
      <vt:lpstr>P-Type Material or P-Type Semiconductor</vt:lpstr>
      <vt:lpstr>N-Type Material or N-Type Semiconductor</vt:lpstr>
      <vt:lpstr>N-Type Material or N-Type Semiconductor</vt:lpstr>
      <vt:lpstr>Majority &amp; Minority Carriers</vt:lpstr>
      <vt:lpstr>P-N Junction</vt:lpstr>
      <vt:lpstr>Depletion Region/Layer</vt:lpstr>
      <vt:lpstr>P-N Junction Diode Under No Bias (V_D=0) </vt:lpstr>
      <vt:lpstr>P-N Junction Diode Under No Bias (V_D=0) </vt:lpstr>
      <vt:lpstr>P-N Junction Diode Under No Bias (V_D=0) </vt:lpstr>
      <vt:lpstr>P-N Junction Diode Under Forward Bias (V_D&gt;0) </vt:lpstr>
      <vt:lpstr>P-N Junction Diode Under Forward Bias (V_D&gt;0) </vt:lpstr>
      <vt:lpstr>P-N Junction Diode Under Forward Bias (V_D&gt;0) </vt:lpstr>
      <vt:lpstr>P-N Junction Diode Under Reverse Bias (V_D&lt;0) </vt:lpstr>
      <vt:lpstr>P-N Junction Diode Under Reverse Bias (V_D&lt;0) </vt:lpstr>
      <vt:lpstr>P-N Junction Diode Under Reverse Bias (V_D&lt;0) </vt:lpstr>
      <vt:lpstr>Reference Books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Bangladesh Army University of Engineering &amp; Technology Department of Electrical &amp; Electronic Engineering</dc:title>
  <dc:creator>Juhi</dc:creator>
  <cp:lastModifiedBy>Juhi</cp:lastModifiedBy>
  <cp:revision>119</cp:revision>
  <dcterms:created xsi:type="dcterms:W3CDTF">2024-07-12T16:48:12Z</dcterms:created>
  <dcterms:modified xsi:type="dcterms:W3CDTF">2025-01-29T04:31:08Z</dcterms:modified>
</cp:coreProperties>
</file>