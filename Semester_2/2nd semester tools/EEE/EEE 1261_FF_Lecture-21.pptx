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2" r:id="rId4"/>
    <p:sldId id="274" r:id="rId5"/>
    <p:sldId id="273" r:id="rId6"/>
    <p:sldId id="275" r:id="rId7"/>
    <p:sldId id="276" r:id="rId8"/>
    <p:sldId id="277" r:id="rId9"/>
    <p:sldId id="278" r:id="rId10"/>
    <p:sldId id="264" r:id="rId11"/>
    <p:sldId id="265" r:id="rId12"/>
    <p:sldId id="268" r:id="rId13"/>
    <p:sldId id="266" r:id="rId14"/>
    <p:sldId id="269" r:id="rId15"/>
    <p:sldId id="270" r:id="rId16"/>
    <p:sldId id="271" r:id="rId17"/>
    <p:sldId id="272" r:id="rId18"/>
    <p:sldId id="279" r:id="rId19"/>
    <p:sldId id="259" r:id="rId20"/>
    <p:sldId id="25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C3DC"/>
    <a:srgbClr val="ACD8D0"/>
    <a:srgbClr val="A5DEDF"/>
    <a:srgbClr val="A2DAE2"/>
    <a:srgbClr val="009900"/>
    <a:srgbClr val="0066CC"/>
    <a:srgbClr val="0000FF"/>
    <a:srgbClr val="006600"/>
    <a:srgbClr val="660066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04D65-23EF-4E4F-93EE-B5FF550E7906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AA629-B7C6-425E-A17B-4BE0A748D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59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04D65-23EF-4E4F-93EE-B5FF550E7906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AA629-B7C6-425E-A17B-4BE0A748D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45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04D65-23EF-4E4F-93EE-B5FF550E7906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AA629-B7C6-425E-A17B-4BE0A748D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51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04D65-23EF-4E4F-93EE-B5FF550E7906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AA629-B7C6-425E-A17B-4BE0A748D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979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04D65-23EF-4E4F-93EE-B5FF550E7906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AA629-B7C6-425E-A17B-4BE0A748D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906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04D65-23EF-4E4F-93EE-B5FF550E7906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AA629-B7C6-425E-A17B-4BE0A748D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193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04D65-23EF-4E4F-93EE-B5FF550E7906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AA629-B7C6-425E-A17B-4BE0A748D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238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04D65-23EF-4E4F-93EE-B5FF550E7906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AA629-B7C6-425E-A17B-4BE0A748D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391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04D65-23EF-4E4F-93EE-B5FF550E7906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AA629-B7C6-425E-A17B-4BE0A748D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298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04D65-23EF-4E4F-93EE-B5FF550E7906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AA629-B7C6-425E-A17B-4BE0A748D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11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04D65-23EF-4E4F-93EE-B5FF550E7906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AA629-B7C6-425E-A17B-4BE0A748D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984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9000">
              <a:schemeClr val="accent1">
                <a:lumMod val="5000"/>
                <a:lumOff val="95000"/>
              </a:schemeClr>
            </a:gs>
            <a:gs pos="17000">
              <a:srgbClr val="A8C3DC"/>
            </a:gs>
            <a:gs pos="28000">
              <a:schemeClr val="accent1">
                <a:lumMod val="45000"/>
                <a:lumOff val="55000"/>
              </a:schemeClr>
            </a:gs>
            <a:gs pos="39000">
              <a:schemeClr val="accent1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04D65-23EF-4E4F-93EE-B5FF550E7906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5AA629-B7C6-425E-A17B-4BE0A748D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72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254" y="319155"/>
            <a:ext cx="9927772" cy="2215039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Bangladesh Army University of Engineering &amp; Technology</a:t>
            </a:r>
            <a:b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Electrical &amp; Electronic Engineering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245" y="2892490"/>
            <a:ext cx="9144000" cy="321875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Lecture: </a:t>
            </a:r>
            <a:r>
              <a:rPr lang="en-US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en-US" sz="32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EEE 1261</a:t>
            </a:r>
          </a:p>
          <a:p>
            <a:r>
              <a:rPr lang="en-US" sz="2800" b="1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Electronic Devices and Circuits</a:t>
            </a: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Course Teacher: Ferdous Farjana</a:t>
            </a: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Designation: Lecturer, Dept. of EEE, BAUET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/>
          <p:cNvSpPr/>
          <p:nvPr/>
        </p:nvSpPr>
        <p:spPr>
          <a:xfrm>
            <a:off x="5275217" y="244510"/>
            <a:ext cx="1595846" cy="14225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60B49-63E1-425C-A215-81F132E972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395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Transistor?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Transistor History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BJT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BJT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BJT Terminals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BJTs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of BJT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 of BJT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BJT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274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649686" cy="4351338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‘transistor’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derived from the words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‘transfer’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resistor’.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words describe the operation of a BJT which is the transfer of an input signal from 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low-resistance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to 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high-resistance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transistor is a three-layer semiconductor device consisting of either two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one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p-type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 of material or two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one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n-type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 of material.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former is called 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transistor,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latter is called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transistor.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Transistor?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55430" y="4584499"/>
            <a:ext cx="28389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Fig. 1: Transistor symbol.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t="11265"/>
          <a:stretch/>
        </p:blipFill>
        <p:spPr>
          <a:xfrm>
            <a:off x="6705599" y="1994263"/>
            <a:ext cx="5111932" cy="2575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905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677298" cy="4351338"/>
          </a:xfrm>
        </p:spPr>
        <p:txBody>
          <a:bodyPr>
            <a:normAutofit fontScale="62500" lnSpcReduction="20000"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history of the transistor is a fascinating journey that revolutionized the field of electronics and paved the way for modern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transistor was invented in 1947 by John Bardeen, Walter Brattain, and William Shockley at Bell Laboratories.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a revolutionary device that could amplify electrical signals, making it far more efficient and compact than the vacuum tubes used at the time.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successful transistor was a point-contact transistor made from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germanium.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invention marked the beginning of modern electronics, leading to the development of smaller, faster, and more reliable electronic devices like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computers, smartphones, digital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cameras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televisions,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portable music players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digital watches,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devices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video game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consoles, automobiles,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routers,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modems.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Bardeen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Brattain, and Shockley were awarded the Nobel Prize in Physics in 1956 for this groundbreaking work.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Transistor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 descr="History of the transistor - Wikipedia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2879" y="1882989"/>
            <a:ext cx="3814355" cy="2998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7707084" y="5074214"/>
            <a:ext cx="40059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left: John Bardeen, William Shockley and Walter Brattain, the inventors of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transistor in 1947.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70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668589" cy="4351338"/>
          </a:xfrm>
        </p:spPr>
        <p:txBody>
          <a:bodyPr>
            <a:norm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Bipolar Junction Transistor (BJT)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three-terminal semiconductor device that consists of two p-n junctions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able to amplify or magnify a signal.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current-controlled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BJT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type of transistor that uses both electron and hole charge carriers.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terminals of the BJT are the base, the collector, and the emitter.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BJT?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Bipolar Junction Transistor"/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65" t="14570" r="10068" b="2598"/>
          <a:stretch/>
        </p:blipFill>
        <p:spPr bwMode="auto">
          <a:xfrm>
            <a:off x="8168639" y="2142307"/>
            <a:ext cx="3901441" cy="2499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264435" y="4641668"/>
            <a:ext cx="3709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Fig. 2: Bipolar junction transistor.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594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signal of a small amplitude applied to the base is available in the amplified form at the collector of the transistor.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amplification provided by the BJT. 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it does require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source of DC power supply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carry out the amplification process.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BJTs are used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amplification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applications in various electronic devices.</a:t>
            </a:r>
          </a:p>
          <a:p>
            <a:pPr algn="just">
              <a:buFont typeface="Courier New" panose="02070309020205020404" pitchFamily="49" charset="0"/>
              <a:buChar char="o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BJT?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631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398623" cy="4351338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Calibri" panose="020F0502020204030204" pitchFamily="34" charset="0"/>
              <a:buChar char="꙳"/>
            </a:pPr>
            <a:r>
              <a:rPr lang="en-US" b="1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BJT Construction: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BJT consists of three layers of semiconductor material, each capable of carrying a current.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Calibri" panose="020F0502020204030204" pitchFamily="34" charset="0"/>
              <a:buChar char="꙳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 form two junctions, hence the name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“bipolar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junction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transistor”.</a:t>
            </a:r>
          </a:p>
          <a:p>
            <a:pPr algn="just">
              <a:buFont typeface="Calibri" panose="020F0502020204030204" pitchFamily="34" charset="0"/>
              <a:buChar char="꙳"/>
            </a:pPr>
            <a:r>
              <a:rPr lang="en-US" b="1" dirty="0" smtClean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NPN </a:t>
            </a:r>
            <a:r>
              <a:rPr lang="en-US" b="1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BJT: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 of a layer of p-type material sandwiched between two n-type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materials.</a:t>
            </a:r>
          </a:p>
          <a:p>
            <a:pPr algn="just">
              <a:buFont typeface="Calibri" panose="020F0502020204030204" pitchFamily="34" charset="0"/>
              <a:buChar char="꙳"/>
            </a:pPr>
            <a:r>
              <a:rPr lang="en-US" b="1" dirty="0" smtClean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PNP </a:t>
            </a:r>
            <a:r>
              <a:rPr lang="en-US" b="1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BJT: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 of a layer of n-type material sandwiched between two p-type materials.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BJT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Bipolar Junction Transistor"/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56" t="23181" r="12227" b="9472"/>
          <a:stretch/>
        </p:blipFill>
        <p:spPr bwMode="auto">
          <a:xfrm>
            <a:off x="7680170" y="3826833"/>
            <a:ext cx="3611679" cy="153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Bipolar Junction Transist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95" t="24559" r="12087" b="10134"/>
          <a:stretch/>
        </p:blipFill>
        <p:spPr bwMode="auto">
          <a:xfrm>
            <a:off x="7680170" y="1885976"/>
            <a:ext cx="3500353" cy="1439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638800" y="2973977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147062" y="3238396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95512" y="5244441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86748" y="5644551"/>
            <a:ext cx="3709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BJT: (a) NPN, (b) PNP.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131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Times New Roman" panose="02020603050405020304" pitchFamily="18" charset="0"/>
              <a:buChar char="⁎"/>
            </a:pPr>
            <a:r>
              <a:rPr lang="en-US" b="1" dirty="0">
                <a:solidFill>
                  <a:srgbClr val="CC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Emitter (E):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region that emits charge carriers (electrons or holes) into the base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Times New Roman" panose="02020603050405020304" pitchFamily="18" charset="0"/>
              <a:buChar char="⁎"/>
            </a:pPr>
            <a:r>
              <a:rPr lang="en-US" b="1" dirty="0" smtClean="0">
                <a:solidFill>
                  <a:srgbClr val="CC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</a:t>
            </a:r>
            <a:r>
              <a:rPr lang="en-US" b="1" dirty="0">
                <a:solidFill>
                  <a:srgbClr val="CC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middle layer that controls the flow of carriers from the emitter to the collector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Times New Roman" panose="02020603050405020304" pitchFamily="18" charset="0"/>
              <a:buChar char="⁎"/>
            </a:pPr>
            <a:r>
              <a:rPr lang="en-US" b="1" dirty="0" smtClean="0">
                <a:solidFill>
                  <a:srgbClr val="CC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Collector </a:t>
            </a:r>
            <a:r>
              <a:rPr lang="en-US" b="1" dirty="0">
                <a:solidFill>
                  <a:srgbClr val="CC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region that collects the charge carriers from the base.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BJT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Terminals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541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Times New Roman" panose="02020603050405020304" pitchFamily="18" charset="0"/>
              <a:buChar char="⁕"/>
            </a:pPr>
            <a:r>
              <a:rPr lang="en-US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NPN Transistor: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common in applications due to the higher mobility of electrons compared to holes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(electron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mobility is about 2.8 times higher than hole mobility).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Times New Roman" panose="02020603050405020304" pitchFamily="18" charset="0"/>
              <a:buChar char="⁕"/>
            </a:pPr>
            <a:r>
              <a:rPr lang="en-US" b="1" dirty="0" smtClean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PNP </a:t>
            </a:r>
            <a:r>
              <a:rPr lang="en-US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Transistor: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when the circuit design requires it, with current flow and voltage polarities opposite to those in an NPN transistor.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</a:t>
            </a:r>
            <a:r>
              <a:rPr lang="en-US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BJTs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824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179270" cy="4351338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pnp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npn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transistors are shown in Fig. 4 with 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dc biasing.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 biasing is necessary to establish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region of operation for ac amplification.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emitter layer is heavily doped,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base and collector only lightly doped.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outer layers have widths much greater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sandwiched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n-type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transistors, 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 of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width to that of the center layer is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0.150/0.001 = 150:1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4879" y="2216502"/>
            <a:ext cx="2281645" cy="2877443"/>
          </a:xfrm>
          <a:prstGeom prst="rect">
            <a:avLst/>
          </a:prstGeom>
        </p:spPr>
      </p:pic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211778" y="2246330"/>
            <a:ext cx="2258793" cy="2817788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of BJT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11778" y="5219649"/>
            <a:ext cx="47287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Fig. 4: Types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transistors: (a)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62964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doping of the sandwiched layer is also considerably less than that of the outer layers (typically, 1:10 or less).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lower doping level decreases the conductivity (increases the resistance) of this material by limiting the number of “free” carriers.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biasing shown in Fig.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terminals have been indicated by the capital letters E for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emitter,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for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collector,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B for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base.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abbreviation BJT, from bipolar junction transistor, is often applied to this three-terminal device.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term bipolar reflects the fact that holes and electrons participate in the injection process into the oppositely polarized material.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only one carrier is employed (electron or hole), it is considered a unipolar device i.e.,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Schottky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diode.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of BJT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981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8" y="1825625"/>
            <a:ext cx="5597436" cy="4351338"/>
          </a:xfrm>
        </p:spPr>
        <p:txBody>
          <a:bodyPr>
            <a:no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basic operation of the transistor will now be described using the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transistor of Fig. 5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operation of the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transistor is exactly the same if the roles played by the electron and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hole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interchanged.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5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(a)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transistor has been redrawn without the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base-to-collector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bias.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Note: There are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similarities between this situation and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of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forward-biased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diode. </a:t>
            </a:r>
          </a:p>
          <a:p>
            <a:pPr algn="just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depletion region has been reduced in width due to the applied bias, resulting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heavy flow of majority carriers from the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n-type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material. 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35634" y="1825625"/>
            <a:ext cx="5660572" cy="3120844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 of BJT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31726" y="5237066"/>
            <a:ext cx="48419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Biasing a transistor: (a) forward-bias; (b) reverse-bias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327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492932" cy="4351338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 now remove the base-to-emitter bias of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transistor of Fig. 5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(a)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shown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5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(b). 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similarities between this situation and that of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reverse-biased diode. 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Recall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the flow of majority carriers is zero, resulting in only 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minority-carrier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flow, as indicated in Fig. 5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(b). 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summary, therefore: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p–n junction of a transistor is reverse-biased, whereas the other is forward-biased. 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92091" y="1825625"/>
            <a:ext cx="5721532" cy="31208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31726" y="5237066"/>
            <a:ext cx="48419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Biasing a transistor: (a) forward-bias; (b) reverse-bias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 of BJT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951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825625"/>
                <a:ext cx="6258118" cy="4351338"/>
              </a:xfrm>
            </p:spPr>
            <p:txBody>
              <a:bodyPr>
                <a:normAutofit fontScale="70000" lnSpcReduction="20000"/>
              </a:bodyPr>
              <a:lstStyle/>
              <a:p>
                <a:pPr algn="just"/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Fig. 6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both biasing potentials have been applied to a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pnp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transistor, with the resulting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majority-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minority-carrier flows indicated. 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Fig.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widths of the depletion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regions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indicating clearly which junction is forward-biased and which is reverse-biased. </a:t>
                </a:r>
              </a:p>
              <a:p>
                <a:pPr algn="just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indicated in Fig. 6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large number of majority carriers will diffuse across the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forward-biased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p–n junction into the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n-type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material. 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question then is whether these carriers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will contribute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directly to the base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pass directly into the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p-type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material. 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sandwiched n-type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material is very thin and has a low conductivity, a very small number of these carriers will take this path of high resistance to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 terminal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825625"/>
                <a:ext cx="6258118" cy="4351338"/>
              </a:xfrm>
              <a:blipFill>
                <a:blip r:embed="rId2"/>
                <a:stretch>
                  <a:fillRect l="-779" t="-2661" r="-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096317" y="1690688"/>
            <a:ext cx="4477375" cy="32865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10697" y="5149980"/>
            <a:ext cx="48419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Fig. 6: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and minority carrier flow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transistor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 of BJT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341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magnitude of the base current is typically on the order of microamperes, as compared 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milliamperes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emitter and collector currents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number of these majority carriers will diffuse across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reverse-biased junction into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p-type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connected to the collector terminal as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indicated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Fig.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 for the relative ease with which the majority carriers can cross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reverse-biased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junction is easily understood if we consider that for the reverse-biased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diode, 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injected majority carriers will appear as minority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carriers (holes)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n-type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there has been an injection of minority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carriers (holes)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n-type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region material.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this with the fact that all the minority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carriers (holes)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depletion region will cross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reverse-biased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junction of a diode accounts for the flow indicated in Fig.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 of BJT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285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algn="just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pnp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transistor, holes are the majority charge carriers while electrons are the minority charge carriers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/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other hand, for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npn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transistor, electrons are the majority charge carriers while holes are the minority charge carriers. 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Applying Kirchhoff’s current law to the transistor of Fig. 6 as if it were a single node, we obtain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find that the emitter current is the sum of the collector and base currents. 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collector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current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however, comprises two components—the majority and the minority carriers as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indicated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Fig.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6. </a:t>
                </a:r>
              </a:p>
              <a:p>
                <a:pPr algn="just"/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minority-current component is called the leakage current and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given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symbol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𝐶𝑂</m:t>
                        </m:r>
                      </m:sub>
                    </m:sSub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current with emitter terminal o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361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38200" y="390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 of BJT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153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collector current,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is determined in total by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𝑚𝑎𝑗𝑜𝑟𝑖𝑡𝑦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𝑚𝑖𝑛𝑜𝑟𝑖𝑡𝑦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general-purpose transistors,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measured in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milliamperes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𝐶𝑂</m:t>
                        </m:r>
                      </m:sub>
                    </m:sSub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measured in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microamperes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nanoamperes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𝐶𝑂</m:t>
                        </m:r>
                      </m:sub>
                    </m:sSub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 reverse-biased diode, is temperature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sensitive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must be examined carefully when applications of wide temperature ranges are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considered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 severely affect the stability of a system at high temperature if not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considered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properly. 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Improvements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construction techniques have resulted in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significantly lower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levels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𝐶𝑂</m:t>
                        </m:r>
                      </m:sub>
                    </m:sSub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the point where its effect can often be ignored.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081" r="-986" b="-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 of BJT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009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66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Amplifiers: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audio equipment, radio frequency circuits, and other analog applications to amplify weak signals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b="1" dirty="0" smtClean="0">
                <a:solidFill>
                  <a:srgbClr val="0066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Switching </a:t>
            </a:r>
            <a:r>
              <a:rPr lang="en-US" b="1" dirty="0">
                <a:solidFill>
                  <a:srgbClr val="0066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in digital circuits, where they act as on/off switches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b="1" dirty="0" smtClean="0">
                <a:solidFill>
                  <a:srgbClr val="0066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Oscillators </a:t>
            </a:r>
            <a:r>
              <a:rPr lang="en-US" b="1" dirty="0">
                <a:solidFill>
                  <a:srgbClr val="0066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Signal Generators: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BJTs are also used in generating and modulating signals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66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</a:t>
            </a:r>
            <a:r>
              <a:rPr lang="en-US" b="1" dirty="0" smtClean="0">
                <a:solidFill>
                  <a:srgbClr val="0066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Modulation</a:t>
            </a:r>
            <a:r>
              <a:rPr lang="en-US" b="1" dirty="0">
                <a:solidFill>
                  <a:srgbClr val="0066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BJTs are used in communication systems to modulate carrier waves, allowing the transmission of information over long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distances.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66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 </a:t>
            </a:r>
            <a:r>
              <a:rPr lang="en-US" b="1" dirty="0" smtClean="0">
                <a:solidFill>
                  <a:srgbClr val="0066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Circuits: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BJTs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used in circuits that detect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and convert them into measurable electrical signals, which are crucial in climate control systems and safety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devices, and they can also be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of light-sensitive circuits that detect changes in light intensity, used in automatic lighting, cameras, and optical communication systems.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BJT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390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Books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Devices and Circuit Theory: Robert L. </a:t>
            </a:r>
            <a:r>
              <a:rPr lang="en-US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Boylestad</a:t>
            </a:r>
            <a:r>
              <a:rPr lang="en-US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Microelectronic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Sedra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Smith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 and Circuits: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Millman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Halkias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1141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09127"/>
            <a:ext cx="10515600" cy="5299787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4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4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4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4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60B49-63E1-425C-A215-81F132E972A8}" type="slidenum">
              <a:rPr lang="en-US" smtClean="0"/>
              <a:t>20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663" y="2847002"/>
            <a:ext cx="2098222" cy="209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798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</TotalTime>
  <Words>1703</Words>
  <Application>Microsoft Office PowerPoint</Application>
  <PresentationFormat>Widescreen</PresentationFormat>
  <Paragraphs>126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Courier New</vt:lpstr>
      <vt:lpstr>Times New Roman</vt:lpstr>
      <vt:lpstr>Wingdings</vt:lpstr>
      <vt:lpstr>Office Theme</vt:lpstr>
      <vt:lpstr>Bangladesh Army University of Engineering &amp; Technology Department of Electrical &amp; Electronic Engineering</vt:lpstr>
      <vt:lpstr>Contents</vt:lpstr>
      <vt:lpstr>What is Transistor?</vt:lpstr>
      <vt:lpstr>Transistor History</vt:lpstr>
      <vt:lpstr>What is BJT?</vt:lpstr>
      <vt:lpstr>What is BJT?</vt:lpstr>
      <vt:lpstr>BJT Structure</vt:lpstr>
      <vt:lpstr>BJT Terminals</vt:lpstr>
      <vt:lpstr>Types of BJTs</vt:lpstr>
      <vt:lpstr>Construction of BJT</vt:lpstr>
      <vt:lpstr>Construction of BJT</vt:lpstr>
      <vt:lpstr>Operation of BJT</vt:lpstr>
      <vt:lpstr>Operation of BJT</vt:lpstr>
      <vt:lpstr>Operation of BJT</vt:lpstr>
      <vt:lpstr>Operation of BJT</vt:lpstr>
      <vt:lpstr>Operation of BJT</vt:lpstr>
      <vt:lpstr>Operation of BJT</vt:lpstr>
      <vt:lpstr>Applications of BJT</vt:lpstr>
      <vt:lpstr>Reference Books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Bangladesh Army University of Engineering &amp; Technology Department of Electrical &amp; Electronic Engineering</dc:title>
  <dc:creator>Juhi</dc:creator>
  <cp:lastModifiedBy>Juhi</cp:lastModifiedBy>
  <cp:revision>70</cp:revision>
  <dcterms:created xsi:type="dcterms:W3CDTF">2024-07-26T05:13:00Z</dcterms:created>
  <dcterms:modified xsi:type="dcterms:W3CDTF">2025-04-26T14:58:50Z</dcterms:modified>
</cp:coreProperties>
</file>