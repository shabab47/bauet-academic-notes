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embeddedFontLst>
    <p:embeddedFont>
      <p:font typeface="Century Gothic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/cEbvBXNa87K6moeTcNx+UV3d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enturyGothic-bold.fntdata"/><Relationship Id="rId14" Type="http://schemas.openxmlformats.org/officeDocument/2006/relationships/font" Target="fonts/CenturyGothic-regular.fntdata"/><Relationship Id="rId17" Type="http://schemas.openxmlformats.org/officeDocument/2006/relationships/font" Target="fonts/CenturyGothic-boldItalic.fntdata"/><Relationship Id="rId16" Type="http://schemas.openxmlformats.org/officeDocument/2006/relationships/font" Target="fonts/CenturyGothic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subTitle"/>
          </p:nvPr>
        </p:nvSpPr>
        <p:spPr>
          <a:xfrm>
            <a:off x="866442" y="4777380"/>
            <a:ext cx="662096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66443" y="2861734"/>
            <a:ext cx="662096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1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" type="body"/>
          </p:nvPr>
        </p:nvSpPr>
        <p:spPr>
          <a:xfrm>
            <a:off x="827700" y="2060576"/>
            <a:ext cx="3298113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13"/>
          <p:cNvSpPr txBox="1"/>
          <p:nvPr>
            <p:ph idx="2" type="body"/>
          </p:nvPr>
        </p:nvSpPr>
        <p:spPr>
          <a:xfrm>
            <a:off x="4241975" y="2056093"/>
            <a:ext cx="3298115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1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" type="body"/>
          </p:nvPr>
        </p:nvSpPr>
        <p:spPr>
          <a:xfrm>
            <a:off x="827700" y="1905000"/>
            <a:ext cx="32981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2" type="body"/>
          </p:nvPr>
        </p:nvSpPr>
        <p:spPr>
          <a:xfrm>
            <a:off x="827700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14"/>
          <p:cNvSpPr txBox="1"/>
          <p:nvPr>
            <p:ph idx="3" type="body"/>
          </p:nvPr>
        </p:nvSpPr>
        <p:spPr>
          <a:xfrm>
            <a:off x="4241976" y="1905000"/>
            <a:ext cx="3298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14"/>
          <p:cNvSpPr txBox="1"/>
          <p:nvPr>
            <p:ph idx="4" type="body"/>
          </p:nvPr>
        </p:nvSpPr>
        <p:spPr>
          <a:xfrm>
            <a:off x="4241976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1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866441" y="1447800"/>
            <a:ext cx="255146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3589397" y="1447800"/>
            <a:ext cx="389801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17"/>
          <p:cNvSpPr txBox="1"/>
          <p:nvPr>
            <p:ph idx="2" type="body"/>
          </p:nvPr>
        </p:nvSpPr>
        <p:spPr>
          <a:xfrm>
            <a:off x="866441" y="3129281"/>
            <a:ext cx="2551462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1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865656" y="1854192"/>
            <a:ext cx="3820674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/>
          <p:nvPr>
            <p:ph idx="2" type="pic"/>
          </p:nvPr>
        </p:nvSpPr>
        <p:spPr>
          <a:xfrm>
            <a:off x="5213517" y="1143000"/>
            <a:ext cx="2400925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866441" y="3657600"/>
            <a:ext cx="38147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866443" y="4800587"/>
            <a:ext cx="66209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/>
          <p:nvPr>
            <p:ph idx="2" type="pic"/>
          </p:nvPr>
        </p:nvSpPr>
        <p:spPr>
          <a:xfrm>
            <a:off x="866442" y="685800"/>
            <a:ext cx="662096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866443" y="5367325"/>
            <a:ext cx="66209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19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866442" y="1447800"/>
            <a:ext cx="6620968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866442" y="3657600"/>
            <a:ext cx="6620968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20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type="title"/>
          </p:nvPr>
        </p:nvSpPr>
        <p:spPr>
          <a:xfrm>
            <a:off x="1181409" y="1447800"/>
            <a:ext cx="6001049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" type="body"/>
          </p:nvPr>
        </p:nvSpPr>
        <p:spPr>
          <a:xfrm>
            <a:off x="1448177" y="3771174"/>
            <a:ext cx="546115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21"/>
          <p:cNvSpPr txBox="1"/>
          <p:nvPr>
            <p:ph idx="2" type="body"/>
          </p:nvPr>
        </p:nvSpPr>
        <p:spPr>
          <a:xfrm>
            <a:off x="866442" y="4350657"/>
            <a:ext cx="6620968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21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2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21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>
            <p:ph type="title"/>
          </p:nvPr>
        </p:nvSpPr>
        <p:spPr>
          <a:xfrm>
            <a:off x="866441" y="3124201"/>
            <a:ext cx="6620969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474834" y="1981200"/>
            <a:ext cx="22107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23"/>
          <p:cNvSpPr txBox="1"/>
          <p:nvPr>
            <p:ph idx="2" type="body"/>
          </p:nvPr>
        </p:nvSpPr>
        <p:spPr>
          <a:xfrm>
            <a:off x="489475" y="2667000"/>
            <a:ext cx="219608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23"/>
          <p:cNvSpPr txBox="1"/>
          <p:nvPr>
            <p:ph idx="3" type="body"/>
          </p:nvPr>
        </p:nvSpPr>
        <p:spPr>
          <a:xfrm>
            <a:off x="2913504" y="1981200"/>
            <a:ext cx="22027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23"/>
          <p:cNvSpPr txBox="1"/>
          <p:nvPr>
            <p:ph idx="4" type="body"/>
          </p:nvPr>
        </p:nvSpPr>
        <p:spPr>
          <a:xfrm>
            <a:off x="2905586" y="2667000"/>
            <a:ext cx="2210671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23"/>
          <p:cNvSpPr txBox="1"/>
          <p:nvPr>
            <p:ph idx="5" type="body"/>
          </p:nvPr>
        </p:nvSpPr>
        <p:spPr>
          <a:xfrm>
            <a:off x="5344917" y="1981200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23"/>
          <p:cNvSpPr txBox="1"/>
          <p:nvPr>
            <p:ph idx="6" type="body"/>
          </p:nvPr>
        </p:nvSpPr>
        <p:spPr>
          <a:xfrm>
            <a:off x="5344917" y="2667000"/>
            <a:ext cx="2199658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23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3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2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489475" y="4250949"/>
            <a:ext cx="2205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24"/>
          <p:cNvSpPr/>
          <p:nvPr>
            <p:ph idx="2" type="pic"/>
          </p:nvPr>
        </p:nvSpPr>
        <p:spPr>
          <a:xfrm>
            <a:off x="489475" y="2209800"/>
            <a:ext cx="2205612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24"/>
          <p:cNvSpPr txBox="1"/>
          <p:nvPr>
            <p:ph idx="3" type="body"/>
          </p:nvPr>
        </p:nvSpPr>
        <p:spPr>
          <a:xfrm>
            <a:off x="489475" y="4827212"/>
            <a:ext cx="2205612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24"/>
          <p:cNvSpPr txBox="1"/>
          <p:nvPr>
            <p:ph idx="4" type="body"/>
          </p:nvPr>
        </p:nvSpPr>
        <p:spPr>
          <a:xfrm>
            <a:off x="2917792" y="4250949"/>
            <a:ext cx="21984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24"/>
          <p:cNvSpPr/>
          <p:nvPr>
            <p:ph idx="5" type="pic"/>
          </p:nvPr>
        </p:nvSpPr>
        <p:spPr>
          <a:xfrm>
            <a:off x="2917791" y="2209800"/>
            <a:ext cx="2198466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24"/>
          <p:cNvSpPr txBox="1"/>
          <p:nvPr>
            <p:ph idx="6" type="body"/>
          </p:nvPr>
        </p:nvSpPr>
        <p:spPr>
          <a:xfrm>
            <a:off x="2916776" y="4827211"/>
            <a:ext cx="2201378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24"/>
          <p:cNvSpPr txBox="1"/>
          <p:nvPr>
            <p:ph idx="7" type="body"/>
          </p:nvPr>
        </p:nvSpPr>
        <p:spPr>
          <a:xfrm>
            <a:off x="5344917" y="4250949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24"/>
          <p:cNvSpPr/>
          <p:nvPr>
            <p:ph idx="8" type="pic"/>
          </p:nvPr>
        </p:nvSpPr>
        <p:spPr>
          <a:xfrm>
            <a:off x="5344916" y="2209800"/>
            <a:ext cx="2199658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24"/>
          <p:cNvSpPr txBox="1"/>
          <p:nvPr>
            <p:ph idx="9" type="body"/>
          </p:nvPr>
        </p:nvSpPr>
        <p:spPr>
          <a:xfrm>
            <a:off x="5344824" y="4827209"/>
            <a:ext cx="2202571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24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24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 rot="5400000">
            <a:off x="2085787" y="794839"/>
            <a:ext cx="4195481" cy="67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 rot="5400000">
            <a:off x="3974116" y="2685880"/>
            <a:ext cx="5826125" cy="13147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 rot="5400000">
            <a:off x="532314" y="730366"/>
            <a:ext cx="5483134" cy="55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2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6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9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>
            <a:gsLst>
              <a:gs pos="0">
                <a:srgbClr val="4CB9C3">
                  <a:alpha val="13725"/>
                </a:srgbClr>
              </a:gs>
              <a:gs pos="36000">
                <a:srgbClr val="4CB9C3">
                  <a:alpha val="6666"/>
                </a:srgbClr>
              </a:gs>
              <a:gs pos="73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9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>
            <a:gsLst>
              <a:gs pos="0">
                <a:srgbClr val="4CB9C3">
                  <a:alpha val="8627"/>
                </a:srgbClr>
              </a:gs>
              <a:gs pos="36000">
                <a:srgbClr val="4CB9C3">
                  <a:alpha val="4705"/>
                </a:srgbClr>
              </a:gs>
              <a:gs pos="66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>
            <a:gsLst>
              <a:gs pos="0">
                <a:srgbClr val="4CB9C3">
                  <a:alpha val="10980"/>
                </a:srgbClr>
              </a:gs>
              <a:gs pos="36000">
                <a:srgbClr val="4CB9C3">
                  <a:alpha val="9803"/>
                </a:srgbClr>
              </a:gs>
              <a:gs pos="75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9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>
            <a:gsLst>
              <a:gs pos="0">
                <a:srgbClr val="4CB9C3">
                  <a:alpha val="7843"/>
                </a:srgbClr>
              </a:gs>
              <a:gs pos="36000">
                <a:srgbClr val="4CB9C3">
                  <a:alpha val="7843"/>
                </a:srgbClr>
              </a:gs>
              <a:gs pos="72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9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7766431" y="295736"/>
            <a:ext cx="628813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1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</a:pPr>
            <a:r>
              <a:rPr lang="en-US"/>
              <a:t>Lecture 8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C if...else statement</a:t>
            </a:r>
            <a:endParaRPr/>
          </a:p>
        </p:txBody>
      </p:sp>
      <p:sp>
        <p:nvSpPr>
          <p:cNvPr id="153" name="Google Shape;153;p2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920"/>
              <a:buChar char="►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The if...else statement is used if the programmer wants to execute some statement/s when the test expression is true and execute some other statement/s if the test expression is false.</a:t>
            </a:r>
            <a:endParaRPr/>
          </a:p>
          <a:p>
            <a:pPr indent="-251466" lvl="0" marL="342906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408219"/>
            <a:ext cx="7696199" cy="3428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Flowchart of if...else statement</a:t>
            </a:r>
            <a:endParaRPr/>
          </a:p>
        </p:txBody>
      </p:sp>
      <p:pic>
        <p:nvPicPr>
          <p:cNvPr id="160" name="Google Shape;160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219852"/>
            <a:ext cx="7391400" cy="3820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Let us consider an example:</a:t>
            </a:r>
            <a:endParaRPr/>
          </a:p>
        </p:txBody>
      </p:sp>
      <p:sp>
        <p:nvSpPr>
          <p:cNvPr id="166" name="Google Shape;166;p4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Write a C program to check whether a number entered by user is even or odd</a:t>
            </a:r>
            <a:endParaRPr/>
          </a:p>
          <a:p>
            <a:pPr indent="-241306" lvl="0" marL="342906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362200"/>
            <a:ext cx="79248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t/>
            </a:r>
            <a:endParaRPr/>
          </a:p>
        </p:txBody>
      </p:sp>
      <p:pic>
        <p:nvPicPr>
          <p:cNvPr id="173" name="Google Shape;173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685800"/>
            <a:ext cx="8001000" cy="571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Nested if...else statement (if...elseif....else Statement)</a:t>
            </a:r>
            <a:endParaRPr/>
          </a:p>
        </p:txBody>
      </p:sp>
      <p:sp>
        <p:nvSpPr>
          <p:cNvPr id="179" name="Google Shape;179;p6"/>
          <p:cNvSpPr txBox="1"/>
          <p:nvPr>
            <p:ph idx="1" type="body"/>
          </p:nvPr>
        </p:nvSpPr>
        <p:spPr>
          <a:xfrm>
            <a:off x="457200" y="19050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ct val="80000"/>
              <a:buChar char="►"/>
            </a:pPr>
            <a:r>
              <a:rPr b="1" lang="en-US"/>
              <a:t>Syntax of nested if...else statement.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if (test expression1)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{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     statement/s to be executed if test expression1 is true;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}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else if(test expression2) 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{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     statement/s to be executed if test expression1 is false and 2 is true;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}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else if (test expression 3) 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{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     statement/s to be executed if text expression1 and 2 are false and 3 is true;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}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         .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         .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         .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else 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{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     statements to be executed if all test expressions are false;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b="1" lang="en-US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How nested if...else works?</a:t>
            </a:r>
            <a:endParaRPr/>
          </a:p>
        </p:txBody>
      </p:sp>
      <p:sp>
        <p:nvSpPr>
          <p:cNvPr id="185" name="Google Shape;185;p7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6" lvl="0" marL="342906" rtl="0" algn="l">
              <a:spcBef>
                <a:spcPts val="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US"/>
              <a:t>The nested if...else statement has more than one test expression.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US"/>
              <a:t>If the first test expression is true, it executes the code inside the braces{ } just below it.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US"/>
              <a:t>But if the first test expression is false, it checks the second test expression. If the second test expression is true, it executes the statement/s inside the braces{ } just below it. 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US"/>
              <a:t>This process continues. If all the test expression are false, code/s inside else is executed and the control of program jumps below the nested if...else.</a:t>
            </a:r>
            <a:endParaRPr/>
          </a:p>
          <a:p>
            <a:pPr indent="-342906" lvl="0" marL="342906" rtl="0" algn="l">
              <a:spcBef>
                <a:spcPts val="1000"/>
              </a:spcBef>
              <a:spcAft>
                <a:spcPts val="0"/>
              </a:spcAft>
              <a:buSzPct val="80000"/>
              <a:buFont typeface="Noto Sans Symbols"/>
              <a:buChar char="⮚"/>
            </a:pPr>
            <a:r>
              <a:rPr lang="en-US"/>
              <a:t>The ANSI standard specifies that 15 levels of nesting may be continued.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Let’s consider another example:</a:t>
            </a:r>
            <a:endParaRPr/>
          </a:p>
        </p:txBody>
      </p:sp>
      <p:sp>
        <p:nvSpPr>
          <p:cNvPr id="191" name="Google Shape;191;p8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109728" rtl="0" algn="l"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#include &lt;stdio.h&gt;	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int main()                           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{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int age;                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printf( "Please enter your age" );  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scanf( "%d", &amp;age );                 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if ( age &lt; 100 ) {               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printf ("You are pretty young!\n" ); 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}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else if ( age == 100 ) {            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printf( "You are old\n" );       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}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else {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    printf( "You are really old\n" );    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  }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  return 0;</a:t>
            </a:r>
            <a:endParaRPr/>
          </a:p>
          <a:p>
            <a:pPr indent="0" lvl="0" marL="109728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bauet</dc:creator>
</cp:coreProperties>
</file>