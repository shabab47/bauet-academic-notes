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6858000" cx="12192000"/>
  <p:notesSz cx="6858000" cy="9144000"/>
  <p:embeddedFontLst>
    <p:embeddedFont>
      <p:font typeface="Century Gothic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gzYRymM7Q0WIxBvrxdedJ68SOM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CenturyGothic-regular.fntdata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CenturyGothic-italic.fntdata"/><Relationship Id="rId23" Type="http://schemas.openxmlformats.org/officeDocument/2006/relationships/slide" Target="slides/slide19.xml"/><Relationship Id="rId45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font" Target="fonts/CenturyGothic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4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44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4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5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45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45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45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4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8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48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4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9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9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49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50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5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1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5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2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2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52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5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52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5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3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3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5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4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54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54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54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54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54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5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5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5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55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55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55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55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55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55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55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55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55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55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5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6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5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7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7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0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40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40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40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40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4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4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C Functions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536929" y="520957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1103312" y="1921488"/>
            <a:ext cx="8946541" cy="4326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To understand how to construct programs modularly from small pieces called functions.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To introduce the common math functions available in the C standard library.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To be able to create new functions.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To understand the mechanisms used to pass information between functions.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To understand how to write and use functions that call themselves.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Function call analogy: </a:t>
            </a:r>
            <a:endParaRPr/>
          </a:p>
        </p:txBody>
      </p:sp>
      <p:sp>
        <p:nvSpPr>
          <p:cNvPr id="159" name="Google Shape;159;p3"/>
          <p:cNvSpPr txBox="1"/>
          <p:nvPr>
            <p:ph idx="1" type="body"/>
          </p:nvPr>
        </p:nvSpPr>
        <p:spPr>
          <a:xfrm>
            <a:off x="1103312" y="1705970"/>
            <a:ext cx="8946541" cy="4542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Boss asks worker to complete task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	–Worker gets information, does task, returns result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	–Information hiding: boss does not know details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60" name="Google Shape;1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3312" y="3494346"/>
            <a:ext cx="9080656" cy="3165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Advantages and disadvantages of function.</a:t>
            </a:r>
            <a:endParaRPr/>
          </a:p>
        </p:txBody>
      </p:sp>
      <p:pic>
        <p:nvPicPr>
          <p:cNvPr id="166" name="Google Shape;16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8" y="2101756"/>
            <a:ext cx="9744502" cy="4135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Advantages contd.</a:t>
            </a:r>
            <a:endParaRPr/>
          </a:p>
        </p:txBody>
      </p:sp>
      <p:pic>
        <p:nvPicPr>
          <p:cNvPr id="172" name="Google Shape;17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057" y="2142697"/>
            <a:ext cx="9266830" cy="420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646111" y="452718"/>
            <a:ext cx="9404723" cy="1171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Function</a:t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1103312" y="1624084"/>
            <a:ext cx="8946541" cy="46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programming, a function is a segment that groups code to perform a specific task.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C program has at least one function main( 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 Without main() function, there is technically no C program.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Types of C functions: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There are two types of functions in C programming: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Pre defined function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User defined function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646111" y="452718"/>
            <a:ext cx="9404723" cy="966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Types of function</a:t>
            </a:r>
            <a:endParaRPr/>
          </a:p>
        </p:txBody>
      </p:sp>
      <p:pic>
        <p:nvPicPr>
          <p:cNvPr id="184" name="Google Shape;18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104" y="1842448"/>
            <a:ext cx="9840036" cy="4326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idx="1" type="body"/>
          </p:nvPr>
        </p:nvSpPr>
        <p:spPr>
          <a:xfrm>
            <a:off x="1103312" y="573206"/>
            <a:ext cx="8946541" cy="59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 sz="2400"/>
              <a:t>Pre defined function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 main()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The execution of every C program starts from this main() function.</a:t>
            </a:r>
            <a:endParaRPr b="1"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Library functions are the in-built function in C programming system.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	printf()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 prinf() is used for displaying output in 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	scanf()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scanf() is used for taking input in 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User defined function</a:t>
            </a:r>
            <a:br>
              <a:rPr lang="en-US"/>
            </a:br>
            <a:endParaRPr/>
          </a:p>
        </p:txBody>
      </p:sp>
      <p:sp>
        <p:nvSpPr>
          <p:cNvPr id="195" name="Google Shape;195;p9"/>
          <p:cNvSpPr txBox="1"/>
          <p:nvPr>
            <p:ph idx="1" type="body"/>
          </p:nvPr>
        </p:nvSpPr>
        <p:spPr>
          <a:xfrm>
            <a:off x="1103312" y="1528549"/>
            <a:ext cx="8946541" cy="5158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 allows programmer to define their own function according to their requirement.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These types of functions are known as user-defined functions.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Suppose, a programmer wants to find factorial of a number and check whether it is prime or not in same program.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Then, he/she can create two separate user-defined functions in that program: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one for finding factorial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and other for checking whether it is prime or not.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How user-defined function works in C Programming?</a:t>
            </a:r>
            <a:br>
              <a:rPr lang="en-US"/>
            </a:br>
            <a:endParaRPr/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1103312" y="2052918"/>
            <a:ext cx="8946541" cy="448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1" marL="40005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#include &lt;stdio.h&gt;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void function_name(){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................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................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}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int main(){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...........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...........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function_name();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...........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...........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US" sz="2100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11" y="736980"/>
            <a:ext cx="9908275" cy="5691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Explanation:</a:t>
            </a:r>
            <a:endParaRPr/>
          </a:p>
        </p:txBody>
      </p:sp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1103312" y="1610436"/>
            <a:ext cx="9623828" cy="4872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As mentioned earlier, every C program begins from main() and program starts executing the codes inside main() function.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When the control of program reaches to function_name() inside main() function.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The control of program jumps to void function_name() and executes the codes inside it.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When all the codes inside that user-defined function are executed, control of the program jumps to the statement just after function_name() from where it is called. </a:t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Remember, the function name is an identifier and should be unique.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Let’s Recap</a:t>
            </a:r>
            <a:endParaRPr/>
          </a:p>
        </p:txBody>
      </p:sp>
      <p:sp>
        <p:nvSpPr>
          <p:cNvPr id="218" name="Google Shape;218;p13"/>
          <p:cNvSpPr txBox="1"/>
          <p:nvPr>
            <p:ph idx="1" type="body"/>
          </p:nvPr>
        </p:nvSpPr>
        <p:spPr>
          <a:xfrm>
            <a:off x="941696" y="1637732"/>
            <a:ext cx="9403307" cy="466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Function’s are the building blocks of c.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c program must contain at least one function i.e. main().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However most c program contains more than one function.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general form of function name  is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return_type function_name ( parameter_list 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	// body of the function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/>
          <p:nvPr>
            <p:ph idx="1" type="body"/>
          </p:nvPr>
        </p:nvSpPr>
        <p:spPr>
          <a:xfrm>
            <a:off x="559558" y="218363"/>
            <a:ext cx="10672549" cy="7055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The general form of a c program that has multiple functions is shown here 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/* include header files here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/* function prototypes here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int main( void 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/*  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ret_type f1( param_list 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/*  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ret_type f2( param_list 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/*  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……………………………………………………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ret_type fN( param_list 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/*  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Here return_type refers to data returned by the function . If a function does not return a value  then its return type should be </a:t>
            </a:r>
            <a:r>
              <a:rPr b="1" lang="en-US"/>
              <a:t>void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a function does not use parameters, then its param_list should contain the keyword void.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function prototype declares a function before it is used and prior to its definition.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prototype consists of a function name, its return type and its parameter list and it is terminated by a semicolon.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Advantages of user defined functions</a:t>
            </a:r>
            <a:br>
              <a:rPr lang="en-US"/>
            </a:br>
            <a:endParaRPr/>
          </a:p>
        </p:txBody>
      </p:sp>
      <p:sp>
        <p:nvSpPr>
          <p:cNvPr id="235" name="Google Shape;235;p1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User defined functions helps to decompose the large program into small segments which makes programmer easy to understand, maintain and debug.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repeated code occurs in a program. Function can be used to include those codes and execute when needed by calling that function.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Programmer working on large project can divide the workload by making different functions.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>
            <p:ph type="title"/>
          </p:nvPr>
        </p:nvSpPr>
        <p:spPr>
          <a:xfrm>
            <a:off x="646111" y="452718"/>
            <a:ext cx="9404723" cy="119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 of user-defined function</a:t>
            </a:r>
            <a:endParaRPr/>
          </a:p>
        </p:txBody>
      </p:sp>
      <p:sp>
        <p:nvSpPr>
          <p:cNvPr id="241" name="Google Shape;241;p17"/>
          <p:cNvSpPr txBox="1"/>
          <p:nvPr>
            <p:ph idx="1" type="body"/>
          </p:nvPr>
        </p:nvSpPr>
        <p:spPr>
          <a:xfrm>
            <a:off x="1103312" y="1651379"/>
            <a:ext cx="8946541" cy="4926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The following program contains two functions : main() and func1()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void func1( void);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 (void)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printf(“I   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func1();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printf( “C .”);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Void func1()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printf(“ like 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type="title"/>
          </p:nvPr>
        </p:nvSpPr>
        <p:spPr>
          <a:xfrm>
            <a:off x="646111" y="452718"/>
            <a:ext cx="9404723" cy="966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Lets Recap:</a:t>
            </a:r>
            <a:endParaRPr/>
          </a:p>
        </p:txBody>
      </p:sp>
      <p:sp>
        <p:nvSpPr>
          <p:cNvPr id="247" name="Google Shape;247;p18"/>
          <p:cNvSpPr txBox="1"/>
          <p:nvPr>
            <p:ph idx="1" type="body"/>
          </p:nvPr>
        </p:nvSpPr>
        <p:spPr>
          <a:xfrm>
            <a:off x="805218" y="1419368"/>
            <a:ext cx="9244635" cy="4829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function is a group of statements that together perform a task.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Every C program has at least one function, which is </a:t>
            </a:r>
            <a:r>
              <a:rPr b="1" lang="en-US"/>
              <a:t>main()</a:t>
            </a:r>
            <a:r>
              <a:rPr lang="en-US"/>
              <a:t>,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And all the most trivial programs can define additional functions.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You can divide up your code into separate functions.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How you divide up your code among different functions is up to you,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But logically the division usually is so each function performs a specific task.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function </a:t>
            </a:r>
            <a:r>
              <a:rPr b="1" lang="en-US"/>
              <a:t>declaration</a:t>
            </a:r>
            <a:r>
              <a:rPr lang="en-US"/>
              <a:t> tells the compiler about a function's name, return type, and parameters. 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function </a:t>
            </a:r>
            <a:r>
              <a:rPr b="1" lang="en-US"/>
              <a:t>definition</a:t>
            </a:r>
            <a:r>
              <a:rPr lang="en-US"/>
              <a:t> provides the actual body of the function.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/>
          <p:nvPr>
            <p:ph idx="1" type="body"/>
          </p:nvPr>
        </p:nvSpPr>
        <p:spPr>
          <a:xfrm>
            <a:off x="1076017" y="832513"/>
            <a:ext cx="9883136" cy="5579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C standard library provides numerous built-in functions that your program can call.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 For example, function </a:t>
            </a:r>
            <a:r>
              <a:rPr b="1" lang="en-US"/>
              <a:t>strcat()</a:t>
            </a:r>
            <a:r>
              <a:rPr lang="en-US"/>
              <a:t> to concatenate two strings,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function </a:t>
            </a:r>
            <a:r>
              <a:rPr b="1" lang="en-US"/>
              <a:t>memcpy()</a:t>
            </a:r>
            <a:r>
              <a:rPr lang="en-US"/>
              <a:t> to copy one memory location to another location and many more functions.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function is known with various names like a method or a sub-routine or a procedure, etc.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53" name="Google Shape;2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15" y="3589362"/>
            <a:ext cx="11300346" cy="297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idx="1" type="body"/>
          </p:nvPr>
        </p:nvSpPr>
        <p:spPr>
          <a:xfrm>
            <a:off x="504967" y="395786"/>
            <a:ext cx="10099343" cy="5852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function definition in C programming language consists of a </a:t>
            </a:r>
            <a:r>
              <a:rPr i="1" lang="en-US"/>
              <a:t>function header</a:t>
            </a:r>
            <a:r>
              <a:rPr lang="en-US"/>
              <a:t> and a </a:t>
            </a:r>
            <a:r>
              <a:rPr i="1" lang="en-US"/>
              <a:t>function body</a:t>
            </a:r>
            <a:r>
              <a:rPr lang="en-US"/>
              <a:t>. Here are all the parts of a function: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Return Type</a:t>
            </a:r>
            <a:r>
              <a:rPr lang="en-US"/>
              <a:t>: A function may return a value. The </a:t>
            </a:r>
            <a:r>
              <a:rPr b="1" lang="en-US"/>
              <a:t>return_type</a:t>
            </a:r>
            <a:r>
              <a:rPr lang="en-US"/>
              <a:t> is the data type of the value the function returns. Some functions perform the desired operations without returning a value. In this case, the return_type is the keyword </a:t>
            </a:r>
            <a:r>
              <a:rPr b="1" lang="en-US"/>
              <a:t>void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Function Name:</a:t>
            </a:r>
            <a:r>
              <a:rPr lang="en-US"/>
              <a:t> This is the actual name of the function. The function name and the parameter list together constitute the function signature.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Parameters:</a:t>
            </a:r>
            <a:r>
              <a:rPr lang="en-US"/>
              <a:t> A parameter is like a placeholder. When a function is invoked, you pass a value to the parameter. This value is referred to as actual parameter or argument. The parameter list refers to the type, order, and number of the parameters of a function. Parameters are optional; that is, a function may contain no parameters.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Function Body:</a:t>
            </a:r>
            <a:r>
              <a:rPr lang="en-US"/>
              <a:t> The function body contains a collection of statements that define what the function does.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468088" y="13648"/>
            <a:ext cx="8946541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function();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int i;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function();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printf(“%d”,i);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function()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int a;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a=5;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return a;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cxnSp>
        <p:nvCxnSpPr>
          <p:cNvPr id="264" name="Google Shape;264;p21"/>
          <p:cNvCxnSpPr/>
          <p:nvPr/>
        </p:nvCxnSpPr>
        <p:spPr>
          <a:xfrm>
            <a:off x="4416522" y="2210938"/>
            <a:ext cx="2524836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65" name="Google Shape;265;p21"/>
          <p:cNvCxnSpPr/>
          <p:nvPr/>
        </p:nvCxnSpPr>
        <p:spPr>
          <a:xfrm rot="10800000">
            <a:off x="4334636" y="4203511"/>
            <a:ext cx="2606722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66" name="Google Shape;266;p21"/>
          <p:cNvCxnSpPr/>
          <p:nvPr/>
        </p:nvCxnSpPr>
        <p:spPr>
          <a:xfrm>
            <a:off x="6941358" y="2210938"/>
            <a:ext cx="0" cy="1992573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67" name="Google Shape;267;p21"/>
          <p:cNvCxnSpPr/>
          <p:nvPr/>
        </p:nvCxnSpPr>
        <p:spPr>
          <a:xfrm>
            <a:off x="791570" y="6632812"/>
            <a:ext cx="1733266" cy="2275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68" name="Google Shape;268;p21"/>
          <p:cNvCxnSpPr/>
          <p:nvPr/>
        </p:nvCxnSpPr>
        <p:spPr>
          <a:xfrm>
            <a:off x="817788" y="2210938"/>
            <a:ext cx="2198367" cy="1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69" name="Google Shape;269;p21"/>
          <p:cNvCxnSpPr/>
          <p:nvPr/>
        </p:nvCxnSpPr>
        <p:spPr>
          <a:xfrm flipH="1">
            <a:off x="791570" y="2210938"/>
            <a:ext cx="26218" cy="4408226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270" name="Google Shape;270;p21"/>
          <p:cNvSpPr/>
          <p:nvPr/>
        </p:nvSpPr>
        <p:spPr>
          <a:xfrm>
            <a:off x="7465325" y="2934269"/>
            <a:ext cx="914400" cy="914400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884554" y="2934269"/>
            <a:ext cx="914400" cy="914400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>
            <p:ph idx="1" type="body"/>
          </p:nvPr>
        </p:nvSpPr>
        <p:spPr>
          <a:xfrm>
            <a:off x="1103312" y="709684"/>
            <a:ext cx="8946541" cy="5538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For better understanding of Parameters and return type in functions, user-defined functions can be categorized as:</a:t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   Function with no arguments and no return value.</a:t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   Function with no arguments and return value.</a:t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   Function with arguments but no return value.</a:t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   Function with arguments and return value.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Let's take an example to find whether a number is prime or not using above 4 categories of user defined functions.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>
            <p:ph idx="1" type="body"/>
          </p:nvPr>
        </p:nvSpPr>
        <p:spPr>
          <a:xfrm>
            <a:off x="2672804" y="163773"/>
            <a:ext cx="9623828" cy="687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void prime();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prime();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void prime(){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int num,i,flag=0;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printf("Enter positive integer enter to check:\n");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scanf("%d",&amp;num);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for(i=2 ; I &lt; = num/2; i++){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if(num%i==0){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    flag=1;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if (flag==1)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printf("%d is not prime",num);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else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printf("%d is prime",num);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</a:t>
            </a:r>
            <a:r>
              <a:rPr b="1" lang="en-US"/>
              <a:t> }</a:t>
            </a:r>
            <a:endParaRPr/>
          </a:p>
        </p:txBody>
      </p:sp>
      <p:cxnSp>
        <p:nvCxnSpPr>
          <p:cNvPr id="282" name="Google Shape;282;p23"/>
          <p:cNvCxnSpPr/>
          <p:nvPr/>
        </p:nvCxnSpPr>
        <p:spPr>
          <a:xfrm flipH="1" rot="10800000">
            <a:off x="3889612" y="1269242"/>
            <a:ext cx="6387152" cy="13649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83" name="Google Shape;283;p23"/>
          <p:cNvCxnSpPr/>
          <p:nvPr/>
        </p:nvCxnSpPr>
        <p:spPr>
          <a:xfrm>
            <a:off x="10276764" y="1269242"/>
            <a:ext cx="0" cy="1050877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84" name="Google Shape;284;p23"/>
          <p:cNvCxnSpPr/>
          <p:nvPr/>
        </p:nvCxnSpPr>
        <p:spPr>
          <a:xfrm rot="10800000">
            <a:off x="4176216" y="2320119"/>
            <a:ext cx="60869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85" name="Google Shape;285;p23"/>
          <p:cNvCxnSpPr/>
          <p:nvPr/>
        </p:nvCxnSpPr>
        <p:spPr>
          <a:xfrm rot="10800000">
            <a:off x="1282889" y="6660107"/>
            <a:ext cx="1719619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86" name="Google Shape;286;p23"/>
          <p:cNvCxnSpPr/>
          <p:nvPr/>
        </p:nvCxnSpPr>
        <p:spPr>
          <a:xfrm rot="10800000">
            <a:off x="1282889" y="1282891"/>
            <a:ext cx="0" cy="5377216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87" name="Google Shape;287;p23"/>
          <p:cNvCxnSpPr/>
          <p:nvPr/>
        </p:nvCxnSpPr>
        <p:spPr>
          <a:xfrm>
            <a:off x="1282889" y="1282891"/>
            <a:ext cx="1610436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288" name="Google Shape;288;p23"/>
          <p:cNvSpPr/>
          <p:nvPr/>
        </p:nvSpPr>
        <p:spPr>
          <a:xfrm>
            <a:off x="7219665" y="832513"/>
            <a:ext cx="1624083" cy="341195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0" y="2649940"/>
            <a:ext cx="1105469" cy="341195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return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 txBox="1"/>
          <p:nvPr>
            <p:ph idx="1" type="body"/>
          </p:nvPr>
        </p:nvSpPr>
        <p:spPr>
          <a:xfrm>
            <a:off x="2959407" y="54591"/>
            <a:ext cx="8946541" cy="6960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prime();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int flag;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flag=prime();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	if(flag == 1)    printf("not prime");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	 else                printf("prime");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prime(){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	int num,i,flag =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printf("Enter positive integer to check:\n");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scanf("%d",&amp;num);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for(i=2; i&lt;=num/2; ++i){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	 if(num%i==0){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	flag = 1;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	 break;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	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	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flag;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  <p:cxnSp>
        <p:nvCxnSpPr>
          <p:cNvPr id="295" name="Google Shape;295;p24"/>
          <p:cNvCxnSpPr/>
          <p:nvPr/>
        </p:nvCxnSpPr>
        <p:spPr>
          <a:xfrm>
            <a:off x="4913194" y="1528549"/>
            <a:ext cx="5254388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96" name="Google Shape;296;p24"/>
          <p:cNvCxnSpPr/>
          <p:nvPr/>
        </p:nvCxnSpPr>
        <p:spPr>
          <a:xfrm>
            <a:off x="10153934" y="1528549"/>
            <a:ext cx="13648" cy="1351129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97" name="Google Shape;297;p24"/>
          <p:cNvCxnSpPr/>
          <p:nvPr/>
        </p:nvCxnSpPr>
        <p:spPr>
          <a:xfrm rot="10800000">
            <a:off x="4203510" y="2879678"/>
            <a:ext cx="597772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98" name="Google Shape;298;p24"/>
          <p:cNvCxnSpPr/>
          <p:nvPr/>
        </p:nvCxnSpPr>
        <p:spPr>
          <a:xfrm rot="10800000">
            <a:off x="1528549" y="6537278"/>
            <a:ext cx="1501254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99" name="Google Shape;299;p24"/>
          <p:cNvCxnSpPr/>
          <p:nvPr/>
        </p:nvCxnSpPr>
        <p:spPr>
          <a:xfrm flipH="1" rot="10800000">
            <a:off x="1528549" y="1528549"/>
            <a:ext cx="13648" cy="5008729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00" name="Google Shape;300;p24"/>
          <p:cNvCxnSpPr/>
          <p:nvPr/>
        </p:nvCxnSpPr>
        <p:spPr>
          <a:xfrm>
            <a:off x="1528549" y="1528549"/>
            <a:ext cx="1869744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301" name="Google Shape;301;p24"/>
          <p:cNvSpPr/>
          <p:nvPr/>
        </p:nvSpPr>
        <p:spPr>
          <a:xfrm>
            <a:off x="7328847" y="955342"/>
            <a:ext cx="1624083" cy="341195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272955" y="2320119"/>
            <a:ext cx="1119118" cy="559559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Flag (0/1)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Types of Variables:</a:t>
            </a:r>
            <a:endParaRPr/>
          </a:p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1103312" y="1555846"/>
            <a:ext cx="8946541" cy="4692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variable is just a named area of storage that can hold a single value (numeric or character).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 The C language demands that you declare the name of each variable that you are going to use and its type, or class, before you actually try to do anything with it.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Programming language C has two main variable types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Local Variables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Global Variables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Local Variables</a:t>
            </a:r>
            <a:br>
              <a:rPr b="1" lang="en-US"/>
            </a:br>
            <a:endParaRPr/>
          </a:p>
        </p:txBody>
      </p:sp>
      <p:sp>
        <p:nvSpPr>
          <p:cNvPr id="314" name="Google Shape;314;p2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Local variables scope is confined within the block or function where it is defined.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Local variables must always be defined at the top of a block.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When a local variable is defined - it is not initialized by the system, you must initialize it yourself.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When execution of the block starts the variable is available, and when the block ends the variable 'dies'.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 txBox="1"/>
          <p:nvPr>
            <p:ph idx="1" type="body"/>
          </p:nvPr>
        </p:nvSpPr>
        <p:spPr>
          <a:xfrm>
            <a:off x="1103312" y="354842"/>
            <a:ext cx="8946541" cy="6503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int i=4;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int j=10;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i++;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if (j &gt; 0)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{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/* i defined in 'main' can be seen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printf("i is %d\n",i);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if (j &gt; 0)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/* 'i' is defined and so local to this block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int i=100;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printf("i is %d\n",i); 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}/* 'i' (value 100) dies here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printf("i is %d\n",i); /* 'i' (value 5) is now visable.*/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}</a:t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7792872" y="1665028"/>
            <a:ext cx="3166280" cy="19106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will generate following output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i is 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i is 100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i is 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Global Variables</a:t>
            </a:r>
            <a:br>
              <a:rPr lang="en-US"/>
            </a:br>
            <a:endParaRPr/>
          </a:p>
        </p:txBody>
      </p:sp>
      <p:sp>
        <p:nvSpPr>
          <p:cNvPr id="326" name="Google Shape;326;p28"/>
          <p:cNvSpPr txBox="1"/>
          <p:nvPr>
            <p:ph idx="1" type="body"/>
          </p:nvPr>
        </p:nvSpPr>
        <p:spPr>
          <a:xfrm>
            <a:off x="1103312" y="1678676"/>
            <a:ext cx="8946541" cy="4569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Global variable is defined at the top of the program file and it can be visible and modified by any function that may reference it.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Global variables are initialized automatically by the system when you define them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same variable name is being used for global and local variable then local variable takes preference in its scope.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But it is not a good practice to use global variables and local variables with the same name.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/>
          <p:nvPr>
            <p:ph idx="1" type="body"/>
          </p:nvPr>
        </p:nvSpPr>
        <p:spPr>
          <a:xfrm>
            <a:off x="1103312" y="395786"/>
            <a:ext cx="8946541" cy="646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i=4;          /* Global definition  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main() 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i++;          /* Global variable    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func();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printf( "Value of i = %d -- main function\n", i 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func()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int i=10;     /* Local definition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i++;          /* Local variable   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printf( "Value of i = %d -- func() function\n", i 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   This will produce following result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   Value of i = 11 -- func() function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   Value of i = 5 -- main function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Local Variables Recap:</a:t>
            </a:r>
            <a:endParaRPr/>
          </a:p>
        </p:txBody>
      </p:sp>
      <p:sp>
        <p:nvSpPr>
          <p:cNvPr id="337" name="Google Shape;337;p3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scope of local variables will be within the function only.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These variables are declared within the function and can’t be accessed outside the function.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the below example, m and n variables are having scope within the main function only. These are not visible to test function.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Like wise, a and b variables are having scope within the test function only. These are not visible to main function.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idx="1" type="body"/>
          </p:nvPr>
        </p:nvSpPr>
        <p:spPr>
          <a:xfrm>
            <a:off x="564661" y="354842"/>
            <a:ext cx="9485193" cy="661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void test();</a:t>
            </a:r>
            <a:endParaRPr/>
          </a:p>
        </p:txBody>
      </p:sp>
      <p:sp>
        <p:nvSpPr>
          <p:cNvPr id="343" name="Google Shape;343;p31"/>
          <p:cNvSpPr/>
          <p:nvPr/>
        </p:nvSpPr>
        <p:spPr>
          <a:xfrm>
            <a:off x="6864824" y="1596788"/>
            <a:ext cx="5104263" cy="4954137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void test()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a = 50, b = 80;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a, b are local variables of test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/*a and b variables are having scope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within this test function 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These are not visible to main function.*/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/* If you try to access m and n in this function,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will get ‘m’ undeclared and ‘n’ undeclared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error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printf(“\nvalues : a = %d and b = %d”, a, b);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564661" y="1596788"/>
            <a:ext cx="5117910" cy="5076967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main()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m = 22, n = 44;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m, n are local variables of main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/*m and n variables are having scope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within this main function 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These are not visible to test funtion.*/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/* If you try to access a and b in this function,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will get ‘a’ undeclared and ‘b’ undeclared error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printf(“\nvalues : m = %d and n = %d”, m, 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Global Variable Recap</a:t>
            </a:r>
            <a:endParaRPr/>
          </a:p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scope of global variables will be throughout the program.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These variables can be accessed from anywhere in the program.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This variable is defined outside the main function.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So that, this variable is visible to main function and all other sub functions.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idx="1" type="body"/>
          </p:nvPr>
        </p:nvSpPr>
        <p:spPr>
          <a:xfrm>
            <a:off x="564661" y="354842"/>
            <a:ext cx="9485193" cy="661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void test();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 = 22, n = 44;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a = 50, b = 80;</a:t>
            </a:r>
            <a:endParaRPr/>
          </a:p>
        </p:txBody>
      </p:sp>
      <p:sp>
        <p:nvSpPr>
          <p:cNvPr id="356" name="Google Shape;356;p33"/>
          <p:cNvSpPr/>
          <p:nvPr/>
        </p:nvSpPr>
        <p:spPr>
          <a:xfrm>
            <a:off x="6441744" y="2838734"/>
            <a:ext cx="5527344" cy="3712191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void test()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printf(“\n\nAll variables are accessed from”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 test function”);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printf(“\nvalues: m=%d:n=%d:a=%d:b=%d”, m,n,a,b);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</p:txBody>
      </p:sp>
      <p:sp>
        <p:nvSpPr>
          <p:cNvPr id="357" name="Google Shape;357;p33"/>
          <p:cNvSpPr/>
          <p:nvPr/>
        </p:nvSpPr>
        <p:spPr>
          <a:xfrm>
            <a:off x="564661" y="2838734"/>
            <a:ext cx="5454002" cy="3835021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main()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printf(“All variables are accessed from main function”);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printf(“\nvalues: m=%d:n=%d:a=%d:b=%d”, m,n,a,b);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 txBox="1"/>
          <p:nvPr>
            <p:ph idx="1" type="body"/>
          </p:nvPr>
        </p:nvSpPr>
        <p:spPr>
          <a:xfrm>
            <a:off x="2536327" y="627797"/>
            <a:ext cx="8946541" cy="6086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Add();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// Global variables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A;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B;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int answer; // Local variable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A = 5;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B = 7;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answer = Add();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printf("%d\n",answer);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Add()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A + B;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Arguments But no Return Value</a:t>
            </a:r>
            <a:endParaRPr/>
          </a:p>
        </p:txBody>
      </p: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1103312" y="1665027"/>
            <a:ext cx="9446407" cy="4885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69" name="Google Shape;369;p35"/>
          <p:cNvSpPr/>
          <p:nvPr/>
        </p:nvSpPr>
        <p:spPr>
          <a:xfrm>
            <a:off x="1624084" y="2470245"/>
            <a:ext cx="3316406" cy="3439236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800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function2( 5 );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………………..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p35"/>
          <p:cNvSpPr/>
          <p:nvPr/>
        </p:nvSpPr>
        <p:spPr>
          <a:xfrm>
            <a:off x="6127845" y="2470245"/>
            <a:ext cx="3780429" cy="3439236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800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function2 ( int  a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printf(“ %d”,a);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………………….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………………….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</p:txBody>
      </p:sp>
      <p:cxnSp>
        <p:nvCxnSpPr>
          <p:cNvPr id="371" name="Google Shape;371;p35"/>
          <p:cNvCxnSpPr/>
          <p:nvPr/>
        </p:nvCxnSpPr>
        <p:spPr>
          <a:xfrm>
            <a:off x="4189863" y="3480179"/>
            <a:ext cx="1392071" cy="13648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72" name="Google Shape;372;p35"/>
          <p:cNvCxnSpPr/>
          <p:nvPr/>
        </p:nvCxnSpPr>
        <p:spPr>
          <a:xfrm rot="10800000">
            <a:off x="5581934" y="2101755"/>
            <a:ext cx="0" cy="1378424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73" name="Google Shape;373;p35"/>
          <p:cNvCxnSpPr/>
          <p:nvPr/>
        </p:nvCxnSpPr>
        <p:spPr>
          <a:xfrm>
            <a:off x="5581934" y="2088107"/>
            <a:ext cx="2374711" cy="13648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74" name="Google Shape;374;p35"/>
          <p:cNvCxnSpPr/>
          <p:nvPr/>
        </p:nvCxnSpPr>
        <p:spPr>
          <a:xfrm>
            <a:off x="7956645" y="2101755"/>
            <a:ext cx="0" cy="36849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375" name="Google Shape;375;p35"/>
          <p:cNvSpPr/>
          <p:nvPr/>
        </p:nvSpPr>
        <p:spPr>
          <a:xfrm>
            <a:off x="6769289" y="1665027"/>
            <a:ext cx="764275" cy="327545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800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6" name="Google Shape;376;p35"/>
          <p:cNvCxnSpPr/>
          <p:nvPr/>
        </p:nvCxnSpPr>
        <p:spPr>
          <a:xfrm rot="10800000">
            <a:off x="5581934" y="4312693"/>
            <a:ext cx="668741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77" name="Google Shape;377;p35"/>
          <p:cNvCxnSpPr/>
          <p:nvPr/>
        </p:nvCxnSpPr>
        <p:spPr>
          <a:xfrm>
            <a:off x="5581934" y="4312693"/>
            <a:ext cx="0" cy="1869743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78" name="Google Shape;378;p35"/>
          <p:cNvCxnSpPr/>
          <p:nvPr/>
        </p:nvCxnSpPr>
        <p:spPr>
          <a:xfrm rot="10800000">
            <a:off x="1241946" y="6196084"/>
            <a:ext cx="4339988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79" name="Google Shape;379;p35"/>
          <p:cNvCxnSpPr/>
          <p:nvPr/>
        </p:nvCxnSpPr>
        <p:spPr>
          <a:xfrm rot="10800000">
            <a:off x="1241946" y="3480179"/>
            <a:ext cx="0" cy="2702257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80" name="Google Shape;380;p35"/>
          <p:cNvCxnSpPr/>
          <p:nvPr/>
        </p:nvCxnSpPr>
        <p:spPr>
          <a:xfrm>
            <a:off x="1241946" y="3480179"/>
            <a:ext cx="382138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>
            <p:ph type="title"/>
          </p:nvPr>
        </p:nvSpPr>
        <p:spPr>
          <a:xfrm>
            <a:off x="645130" y="275297"/>
            <a:ext cx="9404723" cy="953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 code</a:t>
            </a:r>
            <a:endParaRPr/>
          </a:p>
        </p:txBody>
      </p:sp>
      <p:sp>
        <p:nvSpPr>
          <p:cNvPr id="386" name="Google Shape;386;p36"/>
          <p:cNvSpPr txBox="1"/>
          <p:nvPr>
            <p:ph idx="1" type="body"/>
          </p:nvPr>
        </p:nvSpPr>
        <p:spPr>
          <a:xfrm>
            <a:off x="2659156" y="1364775"/>
            <a:ext cx="8946541" cy="514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void sum( int x, int y);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sum(1,20);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sum(9,61);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sum(81,9);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void sum( int x,  int 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printf(“%d ”,x+y);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  <p:cxnSp>
        <p:nvCxnSpPr>
          <p:cNvPr id="387" name="Google Shape;387;p36"/>
          <p:cNvCxnSpPr/>
          <p:nvPr/>
        </p:nvCxnSpPr>
        <p:spPr>
          <a:xfrm>
            <a:off x="4490113" y="2934269"/>
            <a:ext cx="3766783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88" name="Google Shape;388;p36"/>
          <p:cNvCxnSpPr/>
          <p:nvPr/>
        </p:nvCxnSpPr>
        <p:spPr>
          <a:xfrm>
            <a:off x="8256896" y="2934269"/>
            <a:ext cx="0" cy="2115403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89" name="Google Shape;389;p36"/>
          <p:cNvCxnSpPr/>
          <p:nvPr/>
        </p:nvCxnSpPr>
        <p:spPr>
          <a:xfrm rot="10800000">
            <a:off x="5186149" y="5063319"/>
            <a:ext cx="3070747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90" name="Google Shape;390;p36"/>
          <p:cNvCxnSpPr/>
          <p:nvPr/>
        </p:nvCxnSpPr>
        <p:spPr>
          <a:xfrm>
            <a:off x="4490113" y="3302758"/>
            <a:ext cx="3766783" cy="13648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391" name="Google Shape;391;p36"/>
          <p:cNvCxnSpPr/>
          <p:nvPr/>
        </p:nvCxnSpPr>
        <p:spPr>
          <a:xfrm>
            <a:off x="4490113" y="3657600"/>
            <a:ext cx="3766783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392" name="Google Shape;392;p36"/>
          <p:cNvSpPr/>
          <p:nvPr/>
        </p:nvSpPr>
        <p:spPr>
          <a:xfrm>
            <a:off x="5801435" y="2456596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1,20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8381999" y="3111689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9,61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5801436" y="3766780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81,9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8898340" y="4681182"/>
            <a:ext cx="2210938" cy="1378424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800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X=1,   y=20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X=9,   y=61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X=81 , y=9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"/>
          <p:cNvSpPr txBox="1"/>
          <p:nvPr>
            <p:ph idx="1" type="body"/>
          </p:nvPr>
        </p:nvSpPr>
        <p:spPr>
          <a:xfrm>
            <a:off x="1103312" y="928048"/>
            <a:ext cx="8946541" cy="5663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void outchar( char ch);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outchar(‘A’);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outchar(‘b’);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outchar(‘C’);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void outchar( char ch)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printf(“%c\n”,ch);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</p:txBody>
      </p:sp>
      <p:cxnSp>
        <p:nvCxnSpPr>
          <p:cNvPr id="401" name="Google Shape;401;p37"/>
          <p:cNvCxnSpPr/>
          <p:nvPr/>
        </p:nvCxnSpPr>
        <p:spPr>
          <a:xfrm>
            <a:off x="3466531" y="2838737"/>
            <a:ext cx="4135272" cy="27293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402" name="Google Shape;402;p37"/>
          <p:cNvCxnSpPr/>
          <p:nvPr/>
        </p:nvCxnSpPr>
        <p:spPr>
          <a:xfrm>
            <a:off x="7601803" y="2906971"/>
            <a:ext cx="0" cy="2115403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403" name="Google Shape;403;p37"/>
          <p:cNvCxnSpPr/>
          <p:nvPr/>
        </p:nvCxnSpPr>
        <p:spPr>
          <a:xfrm rot="10800000">
            <a:off x="4299045" y="5022374"/>
            <a:ext cx="3302759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404" name="Google Shape;404;p37"/>
          <p:cNvCxnSpPr/>
          <p:nvPr/>
        </p:nvCxnSpPr>
        <p:spPr>
          <a:xfrm>
            <a:off x="3444922" y="3330052"/>
            <a:ext cx="4156881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405" name="Google Shape;405;p37"/>
          <p:cNvSpPr/>
          <p:nvPr/>
        </p:nvSpPr>
        <p:spPr>
          <a:xfrm>
            <a:off x="4921489" y="2374710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p37"/>
          <p:cNvSpPr/>
          <p:nvPr/>
        </p:nvSpPr>
        <p:spPr>
          <a:xfrm>
            <a:off x="8381999" y="3111689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37"/>
          <p:cNvSpPr/>
          <p:nvPr/>
        </p:nvSpPr>
        <p:spPr>
          <a:xfrm>
            <a:off x="4921489" y="3896433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/>
          </a:p>
        </p:txBody>
      </p:sp>
      <p:sp>
        <p:nvSpPr>
          <p:cNvPr id="408" name="Google Shape;408;p37"/>
          <p:cNvSpPr/>
          <p:nvPr/>
        </p:nvSpPr>
        <p:spPr>
          <a:xfrm>
            <a:off x="8898340" y="4681182"/>
            <a:ext cx="2210938" cy="1378424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800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ch=‘A’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ch=‘b’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ch=‘C’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09" name="Google Shape;409;p37"/>
          <p:cNvCxnSpPr/>
          <p:nvPr/>
        </p:nvCxnSpPr>
        <p:spPr>
          <a:xfrm>
            <a:off x="3444921" y="3748583"/>
            <a:ext cx="4156881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/>
          <p:nvPr>
            <p:ph idx="1" type="body"/>
          </p:nvPr>
        </p:nvSpPr>
        <p:spPr>
          <a:xfrm>
            <a:off x="1103312" y="846162"/>
            <a:ext cx="8946541" cy="5402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void square_it ( int num);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square_it (10);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square_it (15);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square_it (5);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void square_it ( int num)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printf(“%d”, num*num);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</p:txBody>
      </p:sp>
      <p:cxnSp>
        <p:nvCxnSpPr>
          <p:cNvPr id="415" name="Google Shape;415;p38"/>
          <p:cNvCxnSpPr/>
          <p:nvPr/>
        </p:nvCxnSpPr>
        <p:spPr>
          <a:xfrm>
            <a:off x="3589360" y="2565779"/>
            <a:ext cx="3766783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416" name="Google Shape;416;p38"/>
          <p:cNvCxnSpPr/>
          <p:nvPr/>
        </p:nvCxnSpPr>
        <p:spPr>
          <a:xfrm flipH="1">
            <a:off x="7356144" y="2565779"/>
            <a:ext cx="13648" cy="2115403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417" name="Google Shape;417;p38"/>
          <p:cNvCxnSpPr/>
          <p:nvPr/>
        </p:nvCxnSpPr>
        <p:spPr>
          <a:xfrm rot="10800000">
            <a:off x="4299046" y="4681182"/>
            <a:ext cx="3070746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418" name="Google Shape;418;p38"/>
          <p:cNvCxnSpPr/>
          <p:nvPr/>
        </p:nvCxnSpPr>
        <p:spPr>
          <a:xfrm>
            <a:off x="3589361" y="3091218"/>
            <a:ext cx="3766783" cy="13648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419" name="Google Shape;419;p38"/>
          <p:cNvSpPr/>
          <p:nvPr/>
        </p:nvSpPr>
        <p:spPr>
          <a:xfrm>
            <a:off x="5678605" y="2001670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7836089" y="2906973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5678605" y="3684893"/>
            <a:ext cx="1310185" cy="395786"/>
          </a:xfrm>
          <a:prstGeom prst="rect">
            <a:avLst/>
          </a:prstGeom>
          <a:solidFill>
            <a:schemeClr val="dk1"/>
          </a:solidFill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8898340" y="4681182"/>
            <a:ext cx="2210938" cy="1378424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800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num=10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num=15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num= 5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23" name="Google Shape;423;p38"/>
          <p:cNvCxnSpPr/>
          <p:nvPr/>
        </p:nvCxnSpPr>
        <p:spPr>
          <a:xfrm>
            <a:off x="3555791" y="3488139"/>
            <a:ext cx="3766783" cy="13648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"/>
          <p:cNvSpPr txBox="1"/>
          <p:nvPr>
            <p:ph type="title"/>
          </p:nvPr>
        </p:nvSpPr>
        <p:spPr>
          <a:xfrm>
            <a:off x="646111" y="452718"/>
            <a:ext cx="9404723" cy="789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lang="en-US" sz="3200"/>
              <a:t>Example:</a:t>
            </a:r>
            <a:br>
              <a:rPr lang="en-US" sz="2000"/>
            </a:br>
            <a:endParaRPr sz="2000"/>
          </a:p>
        </p:txBody>
      </p:sp>
      <p:sp>
        <p:nvSpPr>
          <p:cNvPr id="429" name="Google Shape;429;p39"/>
          <p:cNvSpPr txBox="1"/>
          <p:nvPr>
            <p:ph idx="1" type="body"/>
          </p:nvPr>
        </p:nvSpPr>
        <p:spPr>
          <a:xfrm>
            <a:off x="646112" y="1487606"/>
            <a:ext cx="9403742" cy="5104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Following is the source code for a function called </a:t>
            </a:r>
            <a:r>
              <a:rPr b="1" lang="en-US"/>
              <a:t>max()</a:t>
            </a:r>
            <a:r>
              <a:rPr lang="en-US"/>
              <a:t>. This function takes two parameters num1 and num2 and returns the maximum between the two: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max(int num1, int num2)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/* local variable declaration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int result;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if (num1 &gt; num2)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result = num1;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else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result = num2;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return result;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2015-08-30T05:53:47Z</dcterms:created>
  <dc:creator>hp</dc:creator>
</cp:coreProperties>
</file>