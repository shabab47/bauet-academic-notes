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HmrJMtVVsiteOGCVr65SjFZ3B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2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8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9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3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4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6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6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6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8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8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8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8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8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8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8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9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9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9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9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9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9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9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9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9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9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4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4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4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4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4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Lecture – 29	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Random Number Generation </a:t>
            </a:r>
            <a:br>
              <a:rPr lang="en-US"/>
            </a:b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1103312" y="2052918"/>
            <a:ext cx="1003326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rand function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Load &lt;stdlib.h&gt;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Returns "random" number between 0 and RAND_MAX (at least 32767)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i = rand();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Pseudorandom </a:t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•Preset sequence of "random" numbers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•Same sequence for every function call 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Scaling</a:t>
            </a:r>
            <a:br>
              <a:rPr lang="en-US"/>
            </a:br>
            <a:endParaRPr/>
          </a:p>
        </p:txBody>
      </p:sp>
      <p:sp>
        <p:nvSpPr>
          <p:cNvPr id="159" name="Google Shape;159;p3"/>
          <p:cNvSpPr txBox="1"/>
          <p:nvPr>
            <p:ph idx="1" type="body"/>
          </p:nvPr>
        </p:nvSpPr>
        <p:spPr>
          <a:xfrm>
            <a:off x="1103312" y="1692322"/>
            <a:ext cx="9596533" cy="4556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To get a random number between 1and n </a:t>
            </a:r>
            <a:endParaRPr/>
          </a:p>
          <a:p>
            <a:pPr indent="-285750" lvl="1" marL="6858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/>
              <a:t>	1 + ( rand() % n ) </a:t>
            </a:r>
            <a:endParaRPr/>
          </a:p>
          <a:p>
            <a:pPr indent="-285750" lvl="1" marL="6858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/>
              <a:t>	rand() % n</a:t>
            </a:r>
            <a:endParaRPr/>
          </a:p>
          <a:p>
            <a:pPr indent="-285750" lvl="1" marL="6858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/>
              <a:t>	returns a number between 0and n -1</a:t>
            </a:r>
            <a:endParaRPr/>
          </a:p>
          <a:p>
            <a:pPr indent="-285750" lvl="1" marL="6858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/>
              <a:t>	Add 1 to make random number between 1 and 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1 + ( rand() % 6)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en-US" sz="2400"/>
              <a:t>number between 1and 6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>
            <p:ph type="title"/>
          </p:nvPr>
        </p:nvSpPr>
        <p:spPr>
          <a:xfrm>
            <a:off x="646111" y="452718"/>
            <a:ext cx="9404723" cy="10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 code:</a:t>
            </a:r>
            <a:endParaRPr/>
          </a:p>
        </p:txBody>
      </p:sp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1103312" y="1460310"/>
            <a:ext cx="8946541" cy="4788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#include&lt;stdlib.h&gt;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int i;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i=rand();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printf("%d\n",i);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}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4285397" y="3657598"/>
            <a:ext cx="6073253" cy="968993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Puts any number between 0 to 32767 into i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/>
        </p:nvSpPr>
        <p:spPr>
          <a:xfrm>
            <a:off x="646111" y="452718"/>
            <a:ext cx="9404723" cy="10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0" i="0" lang="en-US" sz="42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 us consider a code:</a:t>
            </a:r>
            <a:endParaRPr b="0" i="0" sz="42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103312" y="1460310"/>
            <a:ext cx="8946541" cy="4788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#include&lt;stdio.h&gt;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#include&lt;stdlib.h&gt;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main()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int i;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i= rand()%10 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printf("%d\n",i);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return 0;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</a:pPr>
            <a:r>
              <a:rPr b="0" i="0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 b="0" i="0"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285397" y="3657598"/>
            <a:ext cx="6073253" cy="968993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Puts any number between 0 to 9 into i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Now let’s an example with scaled randomization</a:t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1103312" y="2052918"/>
            <a:ext cx="8946541" cy="4593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#include&lt;stdlib.h&gt;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int i;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i=1+(rand()%10);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printf("%d\n",i);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414449" y="2587877"/>
            <a:ext cx="4981432" cy="736978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rand() 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generates a number between 0 to 32767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414449" y="3430690"/>
            <a:ext cx="4981432" cy="736978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rand() % 10 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will produce something between 0 to 9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414449" y="4267503"/>
            <a:ext cx="4981432" cy="736978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1+( rand()%10 ) 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will add one to that value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414449" y="5110316"/>
            <a:ext cx="4981432" cy="736978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 now it will generate any number from 1 to 10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Now Lets create a dice rolling game:</a:t>
            </a:r>
            <a:endParaRPr/>
          </a:p>
        </p:txBody>
      </p:sp>
      <p:sp>
        <p:nvSpPr>
          <p:cNvPr id="189" name="Google Shape;189;p7"/>
          <p:cNvSpPr txBox="1"/>
          <p:nvPr>
            <p:ph idx="1" type="body"/>
          </p:nvPr>
        </p:nvSpPr>
        <p:spPr>
          <a:xfrm>
            <a:off x="1103312" y="2052918"/>
            <a:ext cx="3960007" cy="448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#include&lt;stdlib.h&gt;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rollADice();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int result;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result=rollADice();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printf("Six hitted in total 	%d",result);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5786650" y="1542197"/>
            <a:ext cx="5076967" cy="499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rollADice()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int i, currentRoll, HitASix=0;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for( i=1; i &lt;=20; i++)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	{</a:t>
            </a:r>
            <a:endParaRPr b="0" i="0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	currentRoll=1+(rand()%6);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	if(currentRoll==6)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	{</a:t>
            </a:r>
            <a:endParaRPr b="0" i="0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		 HitASix++;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	}</a:t>
            </a:r>
            <a:endParaRPr b="0" i="0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		printf("%d\n",currentRoll);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	getch();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	}</a:t>
            </a:r>
            <a:endParaRPr b="0" i="0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return HitASix;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type="title"/>
          </p:nvPr>
        </p:nvSpPr>
        <p:spPr>
          <a:xfrm>
            <a:off x="646111" y="452718"/>
            <a:ext cx="9404723" cy="107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Recursion</a:t>
            </a:r>
            <a:endParaRPr/>
          </a:p>
        </p:txBody>
      </p:sp>
      <p:sp>
        <p:nvSpPr>
          <p:cNvPr id="196" name="Google Shape;196;p8"/>
          <p:cNvSpPr txBox="1"/>
          <p:nvPr>
            <p:ph idx="1" type="body"/>
          </p:nvPr>
        </p:nvSpPr>
        <p:spPr>
          <a:xfrm>
            <a:off x="1103312" y="1528549"/>
            <a:ext cx="10319864" cy="5117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40"/>
              <a:buChar char="►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Recursion is said as a mathematical concept which states that an expression such that each term is generated by repeating a particular mathematical operation.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40"/>
              <a:buChar char="►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Here repeating is the iterative manner to perform same operation.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40"/>
              <a:buChar char="►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As the approach of the programming language C, it can be performed and are in practice within the definition part of functions.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40"/>
              <a:buChar char="►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Syntactically language provides the freedom to call function within it’s body defined.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40"/>
              <a:buChar char="►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Definition of ‘Recursion’ as the logical prospective view states simply the iterative manner to perform any code snippet in C, but we always need a terminating condition to control the going on iterations. 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40"/>
              <a:buChar char="►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In the following sections we will discuss the iterative manner of recursion and the terminating condition in bit expanded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646111" y="452718"/>
            <a:ext cx="9404723" cy="102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Recursion</a:t>
            </a:r>
            <a:endParaRPr/>
          </a:p>
        </p:txBody>
      </p:sp>
      <p:sp>
        <p:nvSpPr>
          <p:cNvPr id="202" name="Google Shape;202;p9"/>
          <p:cNvSpPr txBox="1"/>
          <p:nvPr>
            <p:ph idx="1" type="body"/>
          </p:nvPr>
        </p:nvSpPr>
        <p:spPr>
          <a:xfrm>
            <a:off x="1103312" y="1746914"/>
            <a:ext cx="8946541" cy="4501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    			printf("This is an example of recursion\n");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    main();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}</a:t>
            </a:r>
            <a:endParaRPr/>
          </a:p>
        </p:txBody>
      </p:sp>
      <p:cxnSp>
        <p:nvCxnSpPr>
          <p:cNvPr id="203" name="Google Shape;203;p9"/>
          <p:cNvCxnSpPr/>
          <p:nvPr/>
        </p:nvCxnSpPr>
        <p:spPr>
          <a:xfrm flipH="1">
            <a:off x="646111" y="4271749"/>
            <a:ext cx="882438" cy="1364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04" name="Google Shape;204;p9"/>
          <p:cNvCxnSpPr/>
          <p:nvPr/>
        </p:nvCxnSpPr>
        <p:spPr>
          <a:xfrm rot="10800000">
            <a:off x="646111" y="2620371"/>
            <a:ext cx="0" cy="165137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05" name="Google Shape;205;p9"/>
          <p:cNvCxnSpPr/>
          <p:nvPr/>
        </p:nvCxnSpPr>
        <p:spPr>
          <a:xfrm>
            <a:off x="646111" y="2620371"/>
            <a:ext cx="457201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06" name="Google Shape;206;p9"/>
          <p:cNvCxnSpPr/>
          <p:nvPr/>
        </p:nvCxnSpPr>
        <p:spPr>
          <a:xfrm flipH="1">
            <a:off x="2224587" y="2879678"/>
            <a:ext cx="13646" cy="1173707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Recursion contd.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4367284" y="1392072"/>
            <a:ext cx="4490114" cy="522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#include&lt;stdio.h&gt;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void loop(int i);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main()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loop(10);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return 0;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void loop(int i)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printf("%d \n",i);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if(i&gt;1)</a:t>
            </a:r>
            <a:endParaRPr b="0" i="0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loop(i-1);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  <p:cxnSp>
        <p:nvCxnSpPr>
          <p:cNvPr id="213" name="Google Shape;213;p10"/>
          <p:cNvCxnSpPr/>
          <p:nvPr/>
        </p:nvCxnSpPr>
        <p:spPr>
          <a:xfrm>
            <a:off x="5895833" y="3111690"/>
            <a:ext cx="2634018" cy="13647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14" name="Google Shape;214;p10"/>
          <p:cNvCxnSpPr/>
          <p:nvPr/>
        </p:nvCxnSpPr>
        <p:spPr>
          <a:xfrm>
            <a:off x="8529851" y="3125337"/>
            <a:ext cx="0" cy="116005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15" name="Google Shape;215;p10"/>
          <p:cNvCxnSpPr/>
          <p:nvPr/>
        </p:nvCxnSpPr>
        <p:spPr>
          <a:xfrm flipH="1">
            <a:off x="6182437" y="4285396"/>
            <a:ext cx="2347414" cy="1364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16" name="Google Shape;216;p10"/>
          <p:cNvCxnSpPr/>
          <p:nvPr/>
        </p:nvCxnSpPr>
        <p:spPr>
          <a:xfrm>
            <a:off x="2267864" y="5800298"/>
            <a:ext cx="2634018" cy="13647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17" name="Google Shape;217;p10"/>
          <p:cNvCxnSpPr/>
          <p:nvPr/>
        </p:nvCxnSpPr>
        <p:spPr>
          <a:xfrm>
            <a:off x="2267864" y="4299045"/>
            <a:ext cx="0" cy="1501253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18" name="Google Shape;218;p10"/>
          <p:cNvCxnSpPr/>
          <p:nvPr/>
        </p:nvCxnSpPr>
        <p:spPr>
          <a:xfrm flipH="1" rot="10800000">
            <a:off x="2286001" y="4285396"/>
            <a:ext cx="2081282" cy="1364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219" name="Google Shape;219;p10"/>
          <p:cNvSpPr/>
          <p:nvPr/>
        </p:nvSpPr>
        <p:spPr>
          <a:xfrm>
            <a:off x="9328246" y="3428999"/>
            <a:ext cx="1344305" cy="3241343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88135" y="3377821"/>
            <a:ext cx="1344305" cy="3241343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974006" y="2685762"/>
            <a:ext cx="764275" cy="327545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Recursion contd.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4367284" y="1392072"/>
            <a:ext cx="4490114" cy="522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#include&lt;stdio.h&gt;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void loop(int i);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main()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loop(10);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return 0;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void loop(int i)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if(i&gt;1){</a:t>
            </a:r>
            <a:endParaRPr b="0" i="0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loop(i-1);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}</a:t>
            </a:r>
            <a:endParaRPr b="0" i="0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printf("%d \n",i);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ct val="80000"/>
              <a:buFont typeface="Noto Sans Symbols"/>
              <a:buNone/>
            </a:pPr>
            <a:r>
              <a:rPr b="0" i="0" lang="en-US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  <p:cxnSp>
        <p:nvCxnSpPr>
          <p:cNvPr id="228" name="Google Shape;228;p11"/>
          <p:cNvCxnSpPr/>
          <p:nvPr/>
        </p:nvCxnSpPr>
        <p:spPr>
          <a:xfrm>
            <a:off x="5895833" y="2992837"/>
            <a:ext cx="2634018" cy="13647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29" name="Google Shape;229;p11"/>
          <p:cNvCxnSpPr/>
          <p:nvPr/>
        </p:nvCxnSpPr>
        <p:spPr>
          <a:xfrm>
            <a:off x="8529851" y="3013307"/>
            <a:ext cx="0" cy="100595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30" name="Google Shape;230;p11"/>
          <p:cNvCxnSpPr/>
          <p:nvPr/>
        </p:nvCxnSpPr>
        <p:spPr>
          <a:xfrm flipH="1">
            <a:off x="6162708" y="4019265"/>
            <a:ext cx="2347414" cy="1364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31" name="Google Shape;231;p11"/>
          <p:cNvCxnSpPr/>
          <p:nvPr/>
        </p:nvCxnSpPr>
        <p:spPr>
          <a:xfrm>
            <a:off x="2286001" y="5070141"/>
            <a:ext cx="2634018" cy="13647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32" name="Google Shape;232;p11"/>
          <p:cNvCxnSpPr/>
          <p:nvPr/>
        </p:nvCxnSpPr>
        <p:spPr>
          <a:xfrm>
            <a:off x="2286001" y="4046563"/>
            <a:ext cx="0" cy="1030402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33" name="Google Shape;233;p11"/>
          <p:cNvCxnSpPr/>
          <p:nvPr/>
        </p:nvCxnSpPr>
        <p:spPr>
          <a:xfrm flipH="1" rot="10800000">
            <a:off x="2286001" y="4032914"/>
            <a:ext cx="2081282" cy="1364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234" name="Google Shape;234;p11"/>
          <p:cNvSpPr/>
          <p:nvPr/>
        </p:nvSpPr>
        <p:spPr>
          <a:xfrm>
            <a:off x="9328246" y="3428999"/>
            <a:ext cx="1344305" cy="3241343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88135" y="3377821"/>
            <a:ext cx="1344305" cy="3241343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974006" y="2685762"/>
            <a:ext cx="764275" cy="327545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type="title"/>
          </p:nvPr>
        </p:nvSpPr>
        <p:spPr>
          <a:xfrm>
            <a:off x="646111" y="452718"/>
            <a:ext cx="9404723" cy="111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Recursion</a:t>
            </a:r>
            <a:br>
              <a:rPr lang="en-US"/>
            </a:br>
            <a:endParaRPr/>
          </a:p>
        </p:txBody>
      </p:sp>
      <p:sp>
        <p:nvSpPr>
          <p:cNvPr id="242" name="Google Shape;242;p12"/>
          <p:cNvSpPr txBox="1"/>
          <p:nvPr>
            <p:ph idx="1" type="body"/>
          </p:nvPr>
        </p:nvSpPr>
        <p:spPr>
          <a:xfrm>
            <a:off x="1103312" y="1678676"/>
            <a:ext cx="8946541" cy="4569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Example: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factorials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–5! = 5 * 4 * 3 * 2 *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–Notice that •5! = 5 * 4!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•4! = 4 * 3! ...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–Can compute factorials recursively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–Solve base case (1! = 0! = 1)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then plug in 2!=  2 * 1!  =2 * 1  =2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• 2! = 2 * 1! = 2 * 1 = 2;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•3! = 3 * 2! = 3 * 2 = 6;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248" name="Google Shape;24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10" y="2019869"/>
            <a:ext cx="10422223" cy="431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2015-09-15T04:37:09Z</dcterms:created>
  <dc:creator>hp</dc:creator>
</cp:coreProperties>
</file>