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embeddedFontLs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xs+7wBpTsnQVXAjmreHowXp8s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bold.fntdata"/><Relationship Id="rId6" Type="http://schemas.openxmlformats.org/officeDocument/2006/relationships/slide" Target="slides/slide1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66443" y="2861734"/>
            <a:ext cx="662096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" type="body"/>
          </p:nvPr>
        </p:nvSpPr>
        <p:spPr>
          <a:xfrm>
            <a:off x="827700" y="2060576"/>
            <a:ext cx="3298113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17"/>
          <p:cNvSpPr txBox="1"/>
          <p:nvPr>
            <p:ph idx="2" type="body"/>
          </p:nvPr>
        </p:nvSpPr>
        <p:spPr>
          <a:xfrm>
            <a:off x="4241975" y="2056093"/>
            <a:ext cx="3298115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1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" type="body"/>
          </p:nvPr>
        </p:nvSpPr>
        <p:spPr>
          <a:xfrm>
            <a:off x="827700" y="1905000"/>
            <a:ext cx="32981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2" type="body"/>
          </p:nvPr>
        </p:nvSpPr>
        <p:spPr>
          <a:xfrm>
            <a:off x="827700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18"/>
          <p:cNvSpPr txBox="1"/>
          <p:nvPr>
            <p:ph idx="3" type="body"/>
          </p:nvPr>
        </p:nvSpPr>
        <p:spPr>
          <a:xfrm>
            <a:off x="4241976" y="1905000"/>
            <a:ext cx="3298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4" type="body"/>
          </p:nvPr>
        </p:nvSpPr>
        <p:spPr>
          <a:xfrm>
            <a:off x="4241976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1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/>
          <p:nvPr>
            <p:ph type="title"/>
          </p:nvPr>
        </p:nvSpPr>
        <p:spPr>
          <a:xfrm>
            <a:off x="866441" y="1447800"/>
            <a:ext cx="255146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" type="body"/>
          </p:nvPr>
        </p:nvSpPr>
        <p:spPr>
          <a:xfrm>
            <a:off x="3589397" y="1447800"/>
            <a:ext cx="389801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21"/>
          <p:cNvSpPr txBox="1"/>
          <p:nvPr>
            <p:ph idx="2" type="body"/>
          </p:nvPr>
        </p:nvSpPr>
        <p:spPr>
          <a:xfrm>
            <a:off x="866441" y="3129281"/>
            <a:ext cx="2551462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2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type="title"/>
          </p:nvPr>
        </p:nvSpPr>
        <p:spPr>
          <a:xfrm>
            <a:off x="865656" y="1854192"/>
            <a:ext cx="3820674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/>
          <p:nvPr>
            <p:ph idx="2" type="pic"/>
          </p:nvPr>
        </p:nvSpPr>
        <p:spPr>
          <a:xfrm>
            <a:off x="5213517" y="1143000"/>
            <a:ext cx="2400925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22"/>
          <p:cNvSpPr txBox="1"/>
          <p:nvPr>
            <p:ph idx="1" type="body"/>
          </p:nvPr>
        </p:nvSpPr>
        <p:spPr>
          <a:xfrm>
            <a:off x="866441" y="3657600"/>
            <a:ext cx="38147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>
            <a:off x="866443" y="4800587"/>
            <a:ext cx="66209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/>
          <p:nvPr>
            <p:ph idx="2" type="pic"/>
          </p:nvPr>
        </p:nvSpPr>
        <p:spPr>
          <a:xfrm>
            <a:off x="866442" y="685800"/>
            <a:ext cx="662096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23"/>
          <p:cNvSpPr txBox="1"/>
          <p:nvPr>
            <p:ph idx="1" type="body"/>
          </p:nvPr>
        </p:nvSpPr>
        <p:spPr>
          <a:xfrm>
            <a:off x="866443" y="5367325"/>
            <a:ext cx="66209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2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/>
          <p:nvPr>
            <p:ph type="title"/>
          </p:nvPr>
        </p:nvSpPr>
        <p:spPr>
          <a:xfrm>
            <a:off x="866442" y="1447800"/>
            <a:ext cx="6620968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" type="body"/>
          </p:nvPr>
        </p:nvSpPr>
        <p:spPr>
          <a:xfrm>
            <a:off x="866442" y="3657600"/>
            <a:ext cx="6620968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2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 txBox="1"/>
          <p:nvPr>
            <p:ph type="title"/>
          </p:nvPr>
        </p:nvSpPr>
        <p:spPr>
          <a:xfrm>
            <a:off x="1181409" y="1447800"/>
            <a:ext cx="6001049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" type="body"/>
          </p:nvPr>
        </p:nvSpPr>
        <p:spPr>
          <a:xfrm>
            <a:off x="1448177" y="3771174"/>
            <a:ext cx="546115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5"/>
          <p:cNvSpPr txBox="1"/>
          <p:nvPr>
            <p:ph idx="2" type="body"/>
          </p:nvPr>
        </p:nvSpPr>
        <p:spPr>
          <a:xfrm>
            <a:off x="866442" y="4350657"/>
            <a:ext cx="6620968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5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5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866441" y="3124201"/>
            <a:ext cx="6620969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7"/>
          <p:cNvSpPr txBox="1"/>
          <p:nvPr>
            <p:ph idx="1" type="body"/>
          </p:nvPr>
        </p:nvSpPr>
        <p:spPr>
          <a:xfrm>
            <a:off x="474834" y="1981200"/>
            <a:ext cx="2210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27"/>
          <p:cNvSpPr txBox="1"/>
          <p:nvPr>
            <p:ph idx="2" type="body"/>
          </p:nvPr>
        </p:nvSpPr>
        <p:spPr>
          <a:xfrm>
            <a:off x="489475" y="2667000"/>
            <a:ext cx="219608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27"/>
          <p:cNvSpPr txBox="1"/>
          <p:nvPr>
            <p:ph idx="3" type="body"/>
          </p:nvPr>
        </p:nvSpPr>
        <p:spPr>
          <a:xfrm>
            <a:off x="2913504" y="1981200"/>
            <a:ext cx="22027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27"/>
          <p:cNvSpPr txBox="1"/>
          <p:nvPr>
            <p:ph idx="4" type="body"/>
          </p:nvPr>
        </p:nvSpPr>
        <p:spPr>
          <a:xfrm>
            <a:off x="2905586" y="2667000"/>
            <a:ext cx="2210671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27"/>
          <p:cNvSpPr txBox="1"/>
          <p:nvPr>
            <p:ph idx="5" type="body"/>
          </p:nvPr>
        </p:nvSpPr>
        <p:spPr>
          <a:xfrm>
            <a:off x="5344917" y="1981200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27"/>
          <p:cNvSpPr txBox="1"/>
          <p:nvPr>
            <p:ph idx="6" type="body"/>
          </p:nvPr>
        </p:nvSpPr>
        <p:spPr>
          <a:xfrm>
            <a:off x="5344917" y="2667000"/>
            <a:ext cx="2199658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27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7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489475" y="4250949"/>
            <a:ext cx="2205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28"/>
          <p:cNvSpPr/>
          <p:nvPr>
            <p:ph idx="2" type="pic"/>
          </p:nvPr>
        </p:nvSpPr>
        <p:spPr>
          <a:xfrm>
            <a:off x="489475" y="2209800"/>
            <a:ext cx="2205612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28"/>
          <p:cNvSpPr txBox="1"/>
          <p:nvPr>
            <p:ph idx="3" type="body"/>
          </p:nvPr>
        </p:nvSpPr>
        <p:spPr>
          <a:xfrm>
            <a:off x="489475" y="4827212"/>
            <a:ext cx="2205612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28"/>
          <p:cNvSpPr txBox="1"/>
          <p:nvPr>
            <p:ph idx="4" type="body"/>
          </p:nvPr>
        </p:nvSpPr>
        <p:spPr>
          <a:xfrm>
            <a:off x="2917792" y="4250949"/>
            <a:ext cx="21984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28"/>
          <p:cNvSpPr/>
          <p:nvPr>
            <p:ph idx="5" type="pic"/>
          </p:nvPr>
        </p:nvSpPr>
        <p:spPr>
          <a:xfrm>
            <a:off x="2917791" y="2209800"/>
            <a:ext cx="2198466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28"/>
          <p:cNvSpPr txBox="1"/>
          <p:nvPr>
            <p:ph idx="6" type="body"/>
          </p:nvPr>
        </p:nvSpPr>
        <p:spPr>
          <a:xfrm>
            <a:off x="2916776" y="4827211"/>
            <a:ext cx="2201378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28"/>
          <p:cNvSpPr txBox="1"/>
          <p:nvPr>
            <p:ph idx="7" type="body"/>
          </p:nvPr>
        </p:nvSpPr>
        <p:spPr>
          <a:xfrm>
            <a:off x="5344917" y="4250949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28"/>
          <p:cNvSpPr/>
          <p:nvPr>
            <p:ph idx="8" type="pic"/>
          </p:nvPr>
        </p:nvSpPr>
        <p:spPr>
          <a:xfrm>
            <a:off x="5344916" y="2209800"/>
            <a:ext cx="2199658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28"/>
          <p:cNvSpPr txBox="1"/>
          <p:nvPr>
            <p:ph idx="9" type="body"/>
          </p:nvPr>
        </p:nvSpPr>
        <p:spPr>
          <a:xfrm>
            <a:off x="5344824" y="4827209"/>
            <a:ext cx="2202571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28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8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 rot="5400000">
            <a:off x="2085787" y="794839"/>
            <a:ext cx="4195481" cy="67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 rot="5400000">
            <a:off x="3974116" y="2685880"/>
            <a:ext cx="5826125" cy="13147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 rot="5400000">
            <a:off x="532314" y="730366"/>
            <a:ext cx="5483134" cy="55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3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>
            <a:gsLst>
              <a:gs pos="0">
                <a:srgbClr val="4CB9C3">
                  <a:alpha val="13725"/>
                </a:srgbClr>
              </a:gs>
              <a:gs pos="36000">
                <a:srgbClr val="4CB9C3">
                  <a:alpha val="6666"/>
                </a:srgbClr>
              </a:gs>
              <a:gs pos="73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>
            <a:gsLst>
              <a:gs pos="0">
                <a:srgbClr val="4CB9C3">
                  <a:alpha val="8627"/>
                </a:srgbClr>
              </a:gs>
              <a:gs pos="36000">
                <a:srgbClr val="4CB9C3">
                  <a:alpha val="4705"/>
                </a:srgbClr>
              </a:gs>
              <a:gs pos="66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3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>
            <a:gsLst>
              <a:gs pos="0">
                <a:srgbClr val="4CB9C3">
                  <a:alpha val="10980"/>
                </a:srgbClr>
              </a:gs>
              <a:gs pos="36000">
                <a:srgbClr val="4CB9C3">
                  <a:alpha val="9803"/>
                </a:srgbClr>
              </a:gs>
              <a:gs pos="75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3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>
            <a:gsLst>
              <a:gs pos="0">
                <a:srgbClr val="4CB9C3">
                  <a:alpha val="7843"/>
                </a:srgbClr>
              </a:gs>
              <a:gs pos="36000">
                <a:srgbClr val="4CB9C3">
                  <a:alpha val="7843"/>
                </a:srgbClr>
              </a:gs>
              <a:gs pos="72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lang="en-US"/>
              <a:t>Lecture 15</a:t>
            </a:r>
            <a:br>
              <a:rPr lang="en-US"/>
            </a:br>
            <a:r>
              <a:rPr lang="en-US"/>
              <a:t>for loops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C </a:t>
            </a:r>
            <a:r>
              <a:rPr b="1" lang="en-US"/>
              <a:t>for loops</a:t>
            </a:r>
            <a:endParaRPr/>
          </a:p>
        </p:txBody>
      </p:sp>
      <p:sp>
        <p:nvSpPr>
          <p:cNvPr id="153" name="Google Shape;153;p2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In C, for loop is very similar to while loop. </a:t>
            </a:r>
            <a:endParaRPr sz="2400"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Only difference between these two loops is that, in while loops, initialization, condition and increment/Decrement are done one by one and one after another.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But, in for loop code initialization, condition and increment/Decrement are done together.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So, coding gets much more efficient in for loop.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Syntax of for loops</a:t>
            </a:r>
            <a:endParaRPr/>
          </a:p>
        </p:txBody>
      </p:sp>
      <p:pic>
        <p:nvPicPr>
          <p:cNvPr id="159" name="Google Shape;159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209800"/>
            <a:ext cx="7924800" cy="95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3581400"/>
            <a:ext cx="7924800" cy="223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Explanation:</a:t>
            </a:r>
            <a:endParaRPr/>
          </a:p>
        </p:txBody>
      </p:sp>
      <p:sp>
        <p:nvSpPr>
          <p:cNvPr id="166" name="Google Shape;166;p4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initialization statement is executed only once at the beginning of the for loop.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Then the test expression is checked by the program.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If the test expression is false, for loop is terminated.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But if test expression is true then the code/s inside body of for loop is executed and then update expression is updated.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This process repeats until test expression is false.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Flowchart of for loops</a:t>
            </a:r>
            <a:endParaRPr/>
          </a:p>
        </p:txBody>
      </p:sp>
      <p:pic>
        <p:nvPicPr>
          <p:cNvPr id="172" name="Google Shape;17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5290" y="2052638"/>
            <a:ext cx="4675546" cy="4195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1" lang="en-US"/>
              <a:t>The </a:t>
            </a:r>
            <a:r>
              <a:rPr lang="en-US"/>
              <a:t>for </a:t>
            </a:r>
            <a:r>
              <a:rPr b="1" lang="en-US"/>
              <a:t>Repetition Statement</a:t>
            </a:r>
            <a:endParaRPr/>
          </a:p>
        </p:txBody>
      </p:sp>
      <p:pic>
        <p:nvPicPr>
          <p:cNvPr id="178" name="Google Shape;178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8" y="2787448"/>
            <a:ext cx="6711950" cy="2726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US"/>
              <a:t>For loops can usually be rewritten as while loops: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initialization;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while ( loopContinuationTest )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statement;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increment;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US"/>
              <a:t>Initialization and increment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– Can be comma-separated lists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– 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for (int i = 0, j = 0; j + i &lt;= 10; j++, i++)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printf( "%d\n", j + i 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>
            <p:ph type="title"/>
          </p:nvPr>
        </p:nvSpPr>
        <p:spPr>
          <a:xfrm>
            <a:off x="3048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1" lang="en-US"/>
              <a:t>for loop example</a:t>
            </a:r>
            <a:endParaRPr/>
          </a:p>
        </p:txBody>
      </p:sp>
      <p:sp>
        <p:nvSpPr>
          <p:cNvPr id="190" name="Google Shape;190;p8"/>
          <p:cNvSpPr txBox="1"/>
          <p:nvPr>
            <p:ph idx="1" type="body"/>
          </p:nvPr>
        </p:nvSpPr>
        <p:spPr>
          <a:xfrm>
            <a:off x="304800" y="11430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b="1" lang="en-US" sz="2000"/>
              <a:t>Write a program to find the sum of first </a:t>
            </a:r>
            <a:r>
              <a:rPr b="1" i="1" lang="en-US" sz="2000"/>
              <a:t>n</a:t>
            </a:r>
            <a:r>
              <a:rPr b="1" lang="en-US" sz="2000"/>
              <a:t> natural numbers where n is entered by user. Note: 1,2,3... are called natural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    int n, count, sum=0;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    printf("Enter the value of n.\n");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    scanf("%d",&amp;n);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    for(count=1;count&lt;=n;++count)  //for loop terminates if count&gt;n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    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        sum+=count;    /* this statement is equivalent to sum=sum+count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    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    printf("Sum=%d",sum);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196" name="Google Shape;196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905000"/>
            <a:ext cx="708759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In this program, the user is asked to enter the value of </a:t>
            </a:r>
            <a:r>
              <a:rPr i="1" lang="en-US"/>
              <a:t>n</a:t>
            </a:r>
            <a:r>
              <a:rPr lang="en-US"/>
              <a:t>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 Suppose you entered 19 then,  count is initialized to 1 at first.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Then, the test expression in the for loop,i.e.,  (count&lt;= n) becomes true.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So, the code in the body of for loop is executed which makes </a:t>
            </a:r>
            <a:r>
              <a:rPr i="1" lang="en-US"/>
              <a:t>sum</a:t>
            </a:r>
            <a:r>
              <a:rPr lang="en-US"/>
              <a:t> to 1.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Then, the expression ++count is executed and again the test expression is checked, which becomes true.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 Again, the body of for loop is executed which makes </a:t>
            </a:r>
            <a:r>
              <a:rPr i="1" lang="en-US"/>
              <a:t>sum</a:t>
            </a:r>
            <a:r>
              <a:rPr lang="en-US"/>
              <a:t> to 3 and this process continues.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When count is 20, the test condition becomes false and the for loop is terminated</a:t>
            </a:r>
            <a:r>
              <a:rPr i="1" lang="en-US"/>
              <a:t>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/>
              <a:t>Note:</a:t>
            </a:r>
            <a:r>
              <a:rPr lang="en-US"/>
              <a:t> Initial, test and update expressions are separated by semicolon(;).</a:t>
            </a:r>
            <a:endParaRPr/>
          </a:p>
          <a:p>
            <a:pPr indent="-256546" lvl="0" marL="342906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 us consider another example</a:t>
            </a:r>
            <a:endParaRPr/>
          </a:p>
        </p:txBody>
      </p:sp>
      <p:sp>
        <p:nvSpPr>
          <p:cNvPr id="208" name="Google Shape;208;p11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int x;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/* The loop goes while x &lt; 10, and x increases by one every loop*/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for ( x = 0; x &lt; 10; x++ ) 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/* Keep in mind that the loop condition checks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   the conditional statement before it loops again.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   consequently, when x equals 10 the loop breaks.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   x is updated before the condition is checked. */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printf( "%d\n", x 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214" name="Google Shape;214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2060" y="2612017"/>
            <a:ext cx="3982006" cy="3077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bauet</dc:creator>
</cp:coreProperties>
</file>