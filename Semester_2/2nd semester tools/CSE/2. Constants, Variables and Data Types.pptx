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u1OrA8V6qxRFfH6aB+pqZD7ii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20977B-84BB-4AF9-BC76-29BB900006DE}">
  <a:tblStyle styleId="{0720977B-84BB-4AF9-BC76-29BB900006DE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2E7E6"/>
          </a:solidFill>
        </a:fill>
      </a:tcStyle>
    </a:wholeTbl>
    <a:band1H>
      <a:tcTxStyle/>
      <a:tcStyle>
        <a:fill>
          <a:solidFill>
            <a:srgbClr val="E3CACA"/>
          </a:solidFill>
        </a:fill>
      </a:tcStyle>
    </a:band1H>
    <a:band2H>
      <a:tcTxStyle/>
    </a:band2H>
    <a:band1V>
      <a:tcTxStyle/>
      <a:tcStyle>
        <a:fill>
          <a:solidFill>
            <a:srgbClr val="E3C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52D1C1D-0BCE-4F9B-A57F-AEB5415E63AB}" styleName="Table_1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20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21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4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5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6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8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8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9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0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30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30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30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30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30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3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1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31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31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31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31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31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31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31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31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31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31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3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3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6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6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6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6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369627"/>
            <a:ext cx="9517594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</a:pPr>
            <a:r>
              <a:rPr lang="en-US" sz="4800"/>
              <a:t>Lecture – 2</a:t>
            </a:r>
            <a:br>
              <a:rPr lang="en-US" sz="4800"/>
            </a:br>
            <a:r>
              <a:rPr lang="en-US" sz="4800"/>
              <a:t>Constants, Variables and Data Types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Constants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Constants in c refer to fixed values that do not change during the execution of a program.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For example : 123  0.0083 ‘f’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 supports several types of constants as illustrated.</a:t>
            </a:r>
            <a:endParaRPr/>
          </a:p>
        </p:txBody>
      </p:sp>
      <p:sp>
        <p:nvSpPr>
          <p:cNvPr id="154" name="Google Shape;154;p2"/>
          <p:cNvSpPr/>
          <p:nvPr/>
        </p:nvSpPr>
        <p:spPr>
          <a:xfrm>
            <a:off x="4757716" y="3794077"/>
            <a:ext cx="1637731" cy="477672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Constants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7009538" y="4453718"/>
            <a:ext cx="2571406" cy="477672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Character Constants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706628" y="4453718"/>
            <a:ext cx="2600976" cy="477672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Numeric Constants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3417685" y="5344235"/>
            <a:ext cx="1637731" cy="74266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Constants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1103312" y="5344235"/>
            <a:ext cx="1637731" cy="74266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Integer Constants 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6032310" y="5344235"/>
            <a:ext cx="1954457" cy="74266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Single Character Constants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8548539" y="5344235"/>
            <a:ext cx="1637731" cy="74266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String Constants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1" name="Google Shape;161;p2"/>
          <p:cNvCxnSpPr/>
          <p:nvPr/>
        </p:nvCxnSpPr>
        <p:spPr>
          <a:xfrm flipH="1">
            <a:off x="4307604" y="4271749"/>
            <a:ext cx="450112" cy="181969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2"/>
          <p:cNvCxnSpPr/>
          <p:nvPr/>
        </p:nvCxnSpPr>
        <p:spPr>
          <a:xfrm>
            <a:off x="6395447" y="4271749"/>
            <a:ext cx="614091" cy="181969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2"/>
          <p:cNvCxnSpPr>
            <a:stCxn id="156" idx="2"/>
          </p:cNvCxnSpPr>
          <p:nvPr/>
        </p:nvCxnSpPr>
        <p:spPr>
          <a:xfrm flipH="1">
            <a:off x="2055816" y="4931390"/>
            <a:ext cx="951300" cy="4128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2"/>
          <p:cNvCxnSpPr>
            <a:stCxn id="156" idx="2"/>
            <a:endCxn id="157" idx="0"/>
          </p:cNvCxnSpPr>
          <p:nvPr/>
        </p:nvCxnSpPr>
        <p:spPr>
          <a:xfrm>
            <a:off x="3007116" y="4931390"/>
            <a:ext cx="1229400" cy="4128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p2"/>
          <p:cNvCxnSpPr>
            <a:stCxn id="155" idx="2"/>
            <a:endCxn id="159" idx="0"/>
          </p:cNvCxnSpPr>
          <p:nvPr/>
        </p:nvCxnSpPr>
        <p:spPr>
          <a:xfrm flipH="1">
            <a:off x="7009441" y="4931390"/>
            <a:ext cx="1285800" cy="4128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2"/>
          <p:cNvCxnSpPr>
            <a:stCxn id="155" idx="2"/>
            <a:endCxn id="160" idx="0"/>
          </p:cNvCxnSpPr>
          <p:nvPr/>
        </p:nvCxnSpPr>
        <p:spPr>
          <a:xfrm>
            <a:off x="8295241" y="4931390"/>
            <a:ext cx="1072200" cy="4128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172" name="Google Shape;172;p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A variable is a named memory location that can hold various values.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2" marL="9144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en-US"/>
              <a:t>Var																	</a:t>
            </a:r>
            <a:endParaRPr/>
          </a:p>
          <a:p>
            <a:pPr indent="0" lvl="2" marL="9144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All Variables must be declared before they can be used.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A variable may take different values at different times during execution.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2538484" y="3084394"/>
            <a:ext cx="1514901" cy="586854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0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420153" y="3086668"/>
            <a:ext cx="1514901" cy="586854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1.50</a:t>
            </a:r>
            <a:endParaRPr b="0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6301822" y="3084394"/>
            <a:ext cx="1514901" cy="586854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8183491" y="3084394"/>
            <a:ext cx="1514901" cy="586854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3.789456</a:t>
            </a:r>
            <a:endParaRPr b="0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182" name="Google Shape;182;p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 supports five basic data types.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graphicFrame>
        <p:nvGraphicFramePr>
          <p:cNvPr id="183" name="Google Shape;183;p4"/>
          <p:cNvGraphicFramePr/>
          <p:nvPr/>
        </p:nvGraphicFramePr>
        <p:xfrm>
          <a:off x="1390555" y="2698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{0720977B-84BB-4AF9-BC76-29BB900006DE}</a:tableStyleId>
              </a:tblPr>
              <a:tblGrid>
                <a:gridCol w="4064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Keyword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Character data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‘A’,’a’,’m’,’z’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Signed whole number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10,4,-9,1234567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Floating point number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1.50, 89.098,</a:t>
                      </a:r>
                      <a:r>
                        <a:rPr lang="en-US" sz="1800"/>
                        <a:t> </a:t>
                      </a:r>
                      <a:r>
                        <a:rPr lang="en-US" sz="1800"/>
                        <a:t>-9.8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/>
                        <a:t>Double precision Floating point number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double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1.0000000067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valueless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void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Declaration of variables</a:t>
            </a:r>
            <a:endParaRPr/>
          </a:p>
        </p:txBody>
      </p:sp>
      <p:sp>
        <p:nvSpPr>
          <p:cNvPr id="189" name="Google Shape;189;p5"/>
          <p:cNvSpPr txBox="1"/>
          <p:nvPr>
            <p:ph idx="1" type="body"/>
          </p:nvPr>
        </p:nvSpPr>
        <p:spPr>
          <a:xfrm>
            <a:off x="1103312" y="1853248"/>
            <a:ext cx="8946541" cy="465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Declaration does two things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It tells the compiler what the variable name is.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It specifies what type of data the variable will hold.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To declare a variable use this general form:</a:t>
            </a:r>
            <a:endParaRPr/>
          </a:p>
          <a:p>
            <a:pPr indent="-285750" lvl="2" marL="1085850" rtl="0" algn="l"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lang="en-US"/>
              <a:t>	</a:t>
            </a:r>
            <a:r>
              <a:rPr lang="en-US" sz="1800"/>
              <a:t>type var-name;</a:t>
            </a:r>
            <a:endParaRPr/>
          </a:p>
          <a:p>
            <a:pPr indent="-285750" lvl="2" marL="1085850" rtl="0" algn="l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sz="1800"/>
              <a:t>	where type is a C data type and var-name is the name of the 	variable.</a:t>
            </a:r>
            <a:endParaRPr/>
          </a:p>
          <a:p>
            <a:pPr indent="-285750" lvl="2" marL="1085850" rtl="0" algn="l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sz="1800"/>
              <a:t>	For example : int counter;</a:t>
            </a:r>
            <a:endParaRPr/>
          </a:p>
          <a:p>
            <a:pPr indent="-285750" lvl="2" marL="1085850" rtl="0" algn="l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sz="1800"/>
              <a:t>	this declares counter to be of type int.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To declare more than one variable of same type use comma separated list . For example : float x, y, z ;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Conditions for variable naming:</a:t>
            </a:r>
            <a:endParaRPr/>
          </a:p>
        </p:txBody>
      </p:sp>
      <p:sp>
        <p:nvSpPr>
          <p:cNvPr id="195" name="Google Shape;195;p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Variable names may consist of letters , digits and the underscore character that must follow following conditions: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They must begin with a letter .Some System permit underscore as the first character.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ANSI standard recognizes a length of 31 characters. However length should not be normally more than eight character.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Uppercase and lowercase are significant .That is variable Total  and total are different.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It should not be a keyword.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White space is not allowed.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Examples of variable names:</a:t>
            </a:r>
            <a:endParaRPr/>
          </a:p>
        </p:txBody>
      </p:sp>
      <p:graphicFrame>
        <p:nvGraphicFramePr>
          <p:cNvPr id="201" name="Google Shape;201;p7"/>
          <p:cNvGraphicFramePr/>
          <p:nvPr/>
        </p:nvGraphicFramePr>
        <p:xfrm>
          <a:off x="1103313" y="2052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{F52D1C1D-0BCE-4F9B-A57F-AEB5415E63AB}</a:tableStyleId>
              </a:tblPr>
              <a:tblGrid>
                <a:gridCol w="2982375"/>
                <a:gridCol w="2982375"/>
                <a:gridCol w="29823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Variable 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Valid or not valid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Remark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First_tag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valid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/>
                        <a:t>Not valid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</a:t>
                      </a:r>
                      <a:r>
                        <a:rPr lang="en-US" sz="1800"/>
                        <a:t> is a keyword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price$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/>
                        <a:t>Not valid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Dollar sign is illegal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group one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/>
                        <a:t>Not valid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Blank</a:t>
                      </a:r>
                      <a:r>
                        <a:rPr lang="en-US" sz="1800"/>
                        <a:t> space is not permitted.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average_number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valid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First eight characters</a:t>
                      </a:r>
                      <a:r>
                        <a:rPr lang="en-US" sz="1800"/>
                        <a:t> are significant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Int_type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/>
                        <a:t>valid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Keyword may be</a:t>
                      </a:r>
                      <a:r>
                        <a:rPr lang="en-US" sz="1800"/>
                        <a:t> part of a name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Assigning values to variable:</a:t>
            </a:r>
            <a:endParaRPr/>
          </a:p>
        </p:txBody>
      </p:sp>
      <p:sp>
        <p:nvSpPr>
          <p:cNvPr id="207" name="Google Shape;207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Values can be assigned to variables using the assignment operator = as follows: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variable_name = constant;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for example: a=10;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		    b=20;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		    c=‘A’;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It is also possible to assign a value to a variable at the time variable is declared. This takes the following form: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data-type    variable_name = constant;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for example: int x=10;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		   int y=20;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		   char ch=‘A’;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The process of giving initial values to variables is called initialization.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Format specifier</a:t>
            </a:r>
            <a:endParaRPr/>
          </a:p>
        </p:txBody>
      </p:sp>
      <p:graphicFrame>
        <p:nvGraphicFramePr>
          <p:cNvPr id="213" name="Google Shape;213;p9"/>
          <p:cNvGraphicFramePr/>
          <p:nvPr/>
        </p:nvGraphicFramePr>
        <p:xfrm>
          <a:off x="809885" y="21618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{F52D1C1D-0BCE-4F9B-A57F-AEB5415E63AB}</a:tableStyleId>
              </a:tblPr>
              <a:tblGrid>
                <a:gridCol w="4473575"/>
                <a:gridCol w="4473575"/>
              </a:tblGrid>
              <a:tr h="27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Type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Format Specifier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Integer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Double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Character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3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String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I/O of integers in C</a:t>
            </a:r>
            <a:endParaRPr/>
          </a:p>
        </p:txBody>
      </p:sp>
      <p:pic>
        <p:nvPicPr>
          <p:cNvPr id="219" name="Google Shape;21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11" y="1473958"/>
            <a:ext cx="10763417" cy="5049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Input Number from the User</a:t>
            </a:r>
            <a:endParaRPr/>
          </a:p>
        </p:txBody>
      </p:sp>
      <p:sp>
        <p:nvSpPr>
          <p:cNvPr id="225" name="Google Shape;225;p1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One of the easiest way to input numeric values from the keyboard is use of another C’ s standard library function called </a:t>
            </a:r>
            <a:r>
              <a:rPr b="1" lang="en-US"/>
              <a:t>scanf().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To read an integer value from the keyboard, call scanf() using general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scanf(“%d”,&amp;int_var_name);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int num;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scanf(“%d”,&amp;num);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another Program:</a:t>
            </a:r>
            <a:endParaRPr/>
          </a:p>
        </p:txBody>
      </p:sp>
      <p:pic>
        <p:nvPicPr>
          <p:cNvPr id="231" name="Google Shape;23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627" y="1405719"/>
            <a:ext cx="10945504" cy="5213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 txBox="1"/>
          <p:nvPr>
            <p:ph idx="1" type="body"/>
          </p:nvPr>
        </p:nvSpPr>
        <p:spPr>
          <a:xfrm>
            <a:off x="1103312" y="452718"/>
            <a:ext cx="8946541" cy="62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To read a float value from the keyboard, call scanf() using general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scanf(“%f”,&amp;float_var_name);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float num;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scanf(“%f”,&amp;num);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37" name="Google Shape;2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312" y="2947322"/>
            <a:ext cx="10770240" cy="3419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>
            <p:ph idx="1" type="body"/>
          </p:nvPr>
        </p:nvSpPr>
        <p:spPr>
          <a:xfrm>
            <a:off x="1103312" y="395786"/>
            <a:ext cx="8946541" cy="585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To read a double value from the keyboard, call scanf() using general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scanf(“%lf”,&amp;double_var_name);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</a:t>
            </a:r>
            <a:r>
              <a:rPr b="1" lang="en-US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double d;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scanf(“%lf”,&amp;d);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To read a character value from the keyboard, call scanf() using general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scanf(“%c”,&amp;char_var_name);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</a:t>
            </a:r>
            <a:r>
              <a:rPr b="1" lang="en-US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char ch;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scanf(“%c”,&amp;ch);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/>
          <p:nvPr>
            <p:ph type="title"/>
          </p:nvPr>
        </p:nvSpPr>
        <p:spPr>
          <a:xfrm>
            <a:off x="646111" y="452718"/>
            <a:ext cx="9404723" cy="912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Example:</a:t>
            </a:r>
            <a:endParaRPr/>
          </a:p>
        </p:txBody>
      </p:sp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1103312" y="1241946"/>
            <a:ext cx="8946541" cy="5006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This program asks you to input a character and a double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It then displays the values you enter.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char ch;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double d;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printf(“Enter a character”);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scanf(“%c”,&amp;ch);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printf(“Enter a Double precision number”);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scanf(“%lf”,&amp;d);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2015-07-23T18:08:24Z</dcterms:created>
  <dc:creator>hp</dc:creator>
</cp:coreProperties>
</file>