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12192000"/>
  <p:notesSz cx="6858000" cy="9144000"/>
  <p:embeddedFontLst>
    <p:embeddedFont>
      <p:font typeface="Century Gothic"/>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43" roundtripDataSignature="AMtx7mj+PTYe8FSXBmrsMqzlIgli5j6u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7E5600-9DC6-4BAC-863C-FA46789B655C}">
  <a:tblStyle styleId="{8D7E5600-9DC6-4BAC-863C-FA46789B655C}"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Century Gothic"/>
          <a:ea typeface="Century Gothic"/>
          <a:cs typeface="Century Gothic"/>
        </a:font>
        <a:schemeClr val="lt1"/>
      </a:tcTxStyle>
      <a:tcStyle>
        <a:fill>
          <a:solidFill>
            <a:schemeClr val="dk1"/>
          </a:solidFill>
        </a:fill>
      </a:tcStyle>
    </a:lastCol>
    <a:firstCol>
      <a:tcTxStyle b="on" i="off">
        <a:font>
          <a:latin typeface="Century Gothic"/>
          <a:ea typeface="Century Gothic"/>
          <a:cs typeface="Century Gothic"/>
        </a:font>
        <a:schemeClr val="lt1"/>
      </a:tcTxStyle>
      <a:tcStyle>
        <a:fill>
          <a:solidFill>
            <a:schemeClr val="dk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dk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dk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bold.fntdata"/><Relationship Id="rId20" Type="http://schemas.openxmlformats.org/officeDocument/2006/relationships/slide" Target="slides/slide14.xml"/><Relationship Id="rId42" Type="http://schemas.openxmlformats.org/officeDocument/2006/relationships/font" Target="fonts/CenturyGothic-boldItalic.fntdata"/><Relationship Id="rId41" Type="http://schemas.openxmlformats.org/officeDocument/2006/relationships/font" Target="fonts/CenturyGothic-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CenturyGothic-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4"/>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4"/>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0" name="Google Shape;20;p3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5"/>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6" name="Google Shape;26;p3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6"/>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2" name="Google Shape;32;p36"/>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3" name="Google Shape;33;p3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37"/>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7"/>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39" name="Google Shape;39;p3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3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8"/>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5" name="Google Shape;45;p38"/>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6" name="Google Shape;46;p38"/>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7" name="Google Shape;47;p38"/>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8" name="Google Shape;48;p3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3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4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41"/>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1"/>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3" name="Google Shape;63;p41"/>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4" name="Google Shape;64;p4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42"/>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2"/>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0" name="Google Shape;70;p42"/>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1" name="Google Shape;71;p4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4" name="Shape 74"/>
        <p:cNvGrpSpPr/>
        <p:nvPr/>
      </p:nvGrpSpPr>
      <p:grpSpPr>
        <a:xfrm>
          <a:off x="0" y="0"/>
          <a:ext cx="0" cy="0"/>
          <a:chOff x="0" y="0"/>
          <a:chExt cx="0" cy="0"/>
        </a:xfrm>
      </p:grpSpPr>
      <p:sp>
        <p:nvSpPr>
          <p:cNvPr id="75" name="Google Shape;75;p43"/>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3"/>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77" name="Google Shape;77;p43"/>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8" name="Google Shape;78;p4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1" name="Shape 81"/>
        <p:cNvGrpSpPr/>
        <p:nvPr/>
      </p:nvGrpSpPr>
      <p:grpSpPr>
        <a:xfrm>
          <a:off x="0" y="0"/>
          <a:ext cx="0" cy="0"/>
          <a:chOff x="0" y="0"/>
          <a:chExt cx="0" cy="0"/>
        </a:xfrm>
      </p:grpSpPr>
      <p:sp>
        <p:nvSpPr>
          <p:cNvPr id="82" name="Google Shape;82;p44"/>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4"/>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4" name="Google Shape;84;p4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7" name="Shape 87"/>
        <p:cNvGrpSpPr/>
        <p:nvPr/>
      </p:nvGrpSpPr>
      <p:grpSpPr>
        <a:xfrm>
          <a:off x="0" y="0"/>
          <a:ext cx="0" cy="0"/>
          <a:chOff x="0" y="0"/>
          <a:chExt cx="0" cy="0"/>
        </a:xfrm>
      </p:grpSpPr>
      <p:sp>
        <p:nvSpPr>
          <p:cNvPr id="88" name="Google Shape;88;p45"/>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5"/>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0" name="Google Shape;90;p45"/>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4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4" name="Google Shape;94;p45"/>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rgbClr val="86D1D8"/>
                </a:solidFill>
                <a:latin typeface="Arial"/>
                <a:ea typeface="Arial"/>
                <a:cs typeface="Arial"/>
                <a:sym typeface="Arial"/>
              </a:rPr>
              <a:t>“</a:t>
            </a:r>
            <a:endParaRPr/>
          </a:p>
        </p:txBody>
      </p:sp>
      <p:sp>
        <p:nvSpPr>
          <p:cNvPr id="95" name="Google Shape;95;p45"/>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p46"/>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6"/>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99" name="Google Shape;99;p4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4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4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7"/>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5" name="Google Shape;105;p47"/>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6" name="Google Shape;106;p47"/>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47"/>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8" name="Google Shape;108;p47"/>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47"/>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0" name="Google Shape;110;p47"/>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1" name="Google Shape;111;p47"/>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2" name="Google Shape;112;p4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4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4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sp>
        <p:nvSpPr>
          <p:cNvPr id="116" name="Google Shape;116;p4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8"/>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8" name="Google Shape;118;p48"/>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48"/>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48"/>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1" name="Google Shape;121;p48"/>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2" name="Google Shape;122;p48"/>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3" name="Google Shape;123;p48"/>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4" name="Google Shape;124;p48"/>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5" name="Google Shape;125;p48"/>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26" name="Google Shape;126;p48"/>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27" name="Google Shape;127;p48"/>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28" name="Google Shape;128;p4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4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4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4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9"/>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4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4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4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50"/>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50"/>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5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5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5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12" Type="http://schemas.openxmlformats.org/officeDocument/2006/relationships/slideLayout" Target="../slideLayouts/slideLayout7.xml"/><Relationship Id="rId23" Type="http://schemas.openxmlformats.org/officeDocument/2006/relationships/theme" Target="../theme/theme2.xml"/><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4.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33"/>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7" name="Google Shape;7;p33"/>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8" name="Google Shape;8;p33"/>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 name="Google Shape;9;p33"/>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0" name="Google Shape;10;p33"/>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1" name="Google Shape;11;p33"/>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3" name="Google Shape;13;p33"/>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4" name="Google Shape;14;p3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3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7200"/>
              <a:buFont typeface="Century Gothic"/>
              <a:buNone/>
            </a:pPr>
            <a:r>
              <a:rPr lang="en-US"/>
              <a:t>Arrays in 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
          <p:cNvSpPr txBox="1"/>
          <p:nvPr>
            <p:ph type="title"/>
          </p:nvPr>
        </p:nvSpPr>
        <p:spPr>
          <a:xfrm>
            <a:off x="646111" y="452718"/>
            <a:ext cx="9404723" cy="11986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Introduction</a:t>
            </a:r>
            <a:endParaRPr/>
          </a:p>
        </p:txBody>
      </p:sp>
      <p:sp>
        <p:nvSpPr>
          <p:cNvPr id="153" name="Google Shape;153;p2"/>
          <p:cNvSpPr txBox="1"/>
          <p:nvPr>
            <p:ph idx="1" type="body"/>
          </p:nvPr>
        </p:nvSpPr>
        <p:spPr>
          <a:xfrm>
            <a:off x="1103312" y="1651379"/>
            <a:ext cx="9323578" cy="4831307"/>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Font typeface="Noto Sans Symbols"/>
              <a:buChar char="⮚"/>
            </a:pPr>
            <a:r>
              <a:rPr lang="en-US"/>
              <a:t>In c , a variable is a named memory location that can store a value.</a:t>
            </a:r>
            <a:endParaRPr/>
          </a:p>
          <a:p>
            <a:pPr indent="-342900" lvl="0" marL="342900" rtl="0" algn="l">
              <a:spcBef>
                <a:spcPts val="1000"/>
              </a:spcBef>
              <a:spcAft>
                <a:spcPts val="0"/>
              </a:spcAft>
              <a:buSzPts val="1600"/>
              <a:buFont typeface="Noto Sans Symbols"/>
              <a:buChar char="⮚"/>
            </a:pPr>
            <a:r>
              <a:rPr lang="en-US"/>
              <a:t>For example:</a:t>
            </a:r>
            <a:endParaRPr/>
          </a:p>
          <a:p>
            <a:pPr indent="0" lvl="0" marL="0" rtl="0" algn="l">
              <a:spcBef>
                <a:spcPts val="1000"/>
              </a:spcBef>
              <a:spcAft>
                <a:spcPts val="0"/>
              </a:spcAft>
              <a:buSzPts val="1600"/>
              <a:buNone/>
            </a:pPr>
            <a:r>
              <a:rPr lang="en-US"/>
              <a:t>	int  a;                                                            a</a:t>
            </a:r>
            <a:endParaRPr/>
          </a:p>
          <a:p>
            <a:pPr indent="0" lvl="0" marL="0" rtl="0" algn="l">
              <a:spcBef>
                <a:spcPts val="1000"/>
              </a:spcBef>
              <a:spcAft>
                <a:spcPts val="0"/>
              </a:spcAft>
              <a:buSzPts val="1600"/>
              <a:buNone/>
            </a:pPr>
            <a:r>
              <a:rPr lang="en-US"/>
              <a:t>	scanf(“%d”,&amp;a);</a:t>
            </a:r>
            <a:endParaRPr/>
          </a:p>
          <a:p>
            <a:pPr indent="-342900" lvl="0" marL="342900" rtl="0" algn="l">
              <a:spcBef>
                <a:spcPts val="1000"/>
              </a:spcBef>
              <a:spcAft>
                <a:spcPts val="0"/>
              </a:spcAft>
              <a:buSzPts val="1600"/>
              <a:buFont typeface="Noto Sans Symbols"/>
              <a:buChar char="⮚"/>
            </a:pPr>
            <a:r>
              <a:rPr lang="en-US"/>
              <a:t>Now Let us consider that we need to input 100 values and store them.</a:t>
            </a:r>
            <a:endParaRPr/>
          </a:p>
          <a:p>
            <a:pPr indent="-342900" lvl="0" marL="342900" rtl="0" algn="l">
              <a:spcBef>
                <a:spcPts val="1000"/>
              </a:spcBef>
              <a:spcAft>
                <a:spcPts val="0"/>
              </a:spcAft>
              <a:buSzPts val="1600"/>
              <a:buFont typeface="Noto Sans Symbols"/>
              <a:buChar char="⮚"/>
            </a:pPr>
            <a:r>
              <a:rPr lang="en-US"/>
              <a:t>So what we need to do  ?</a:t>
            </a:r>
            <a:endParaRPr/>
          </a:p>
          <a:p>
            <a:pPr indent="-342900" lvl="0" marL="342900" rtl="0" algn="l">
              <a:spcBef>
                <a:spcPts val="1000"/>
              </a:spcBef>
              <a:spcAft>
                <a:spcPts val="0"/>
              </a:spcAft>
              <a:buSzPts val="1600"/>
              <a:buFont typeface="Noto Sans Symbols"/>
              <a:buChar char="⮚"/>
            </a:pPr>
            <a:r>
              <a:rPr lang="en-US"/>
              <a:t>We can declare 100 variable one by one , which is boring and time consuming.</a:t>
            </a:r>
            <a:endParaRPr/>
          </a:p>
          <a:p>
            <a:pPr indent="-342900" lvl="0" marL="342900" rtl="0" algn="l">
              <a:spcBef>
                <a:spcPts val="1000"/>
              </a:spcBef>
              <a:spcAft>
                <a:spcPts val="0"/>
              </a:spcAft>
              <a:buSzPts val="1600"/>
              <a:buFont typeface="Noto Sans Symbols"/>
              <a:buChar char="⮚"/>
            </a:pPr>
            <a:r>
              <a:rPr lang="en-US"/>
              <a:t>Or we can use array to declare 100 variable using single statement.</a:t>
            </a:r>
            <a:endParaRPr/>
          </a:p>
        </p:txBody>
      </p:sp>
      <p:sp>
        <p:nvSpPr>
          <p:cNvPr id="154" name="Google Shape;154;p2"/>
          <p:cNvSpPr/>
          <p:nvPr/>
        </p:nvSpPr>
        <p:spPr>
          <a:xfrm>
            <a:off x="6878471" y="2392840"/>
            <a:ext cx="1187356" cy="914400"/>
          </a:xfrm>
          <a:prstGeom prst="rect">
            <a:avLst/>
          </a:prstGeom>
          <a:solidFill>
            <a:schemeClr val="dk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5</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
          <p:cNvSpPr txBox="1"/>
          <p:nvPr>
            <p:ph idx="1" type="body"/>
          </p:nvPr>
        </p:nvSpPr>
        <p:spPr>
          <a:xfrm>
            <a:off x="1103312" y="805218"/>
            <a:ext cx="8946541" cy="54431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lang="en-US" sz="2400"/>
              <a:t>In C programming, one of the frequently arising problem is to handle similar types of data.</a:t>
            </a:r>
            <a:endParaRPr/>
          </a:p>
          <a:p>
            <a:pPr indent="-342900" lvl="0" marL="342900" rtl="0" algn="l">
              <a:spcBef>
                <a:spcPts val="1000"/>
              </a:spcBef>
              <a:spcAft>
                <a:spcPts val="0"/>
              </a:spcAft>
              <a:buSzPts val="1920"/>
              <a:buChar char="►"/>
            </a:pPr>
            <a:r>
              <a:rPr lang="en-US" sz="2400"/>
              <a:t>For example: If the user want to store marks of 100 students. This can be done by creating 100 variable individually but, this process is rather tedious and impracticable.</a:t>
            </a:r>
            <a:endParaRPr/>
          </a:p>
          <a:p>
            <a:pPr indent="-342900" lvl="0" marL="342900" rtl="0" algn="l">
              <a:spcBef>
                <a:spcPts val="1000"/>
              </a:spcBef>
              <a:spcAft>
                <a:spcPts val="0"/>
              </a:spcAft>
              <a:buSzPts val="1920"/>
              <a:buChar char="►"/>
            </a:pPr>
            <a:r>
              <a:rPr lang="en-US" sz="2400"/>
              <a:t>These type of problem can be handled in C programming using arrays.</a:t>
            </a:r>
            <a:endParaRPr/>
          </a:p>
          <a:p>
            <a:pPr indent="-342900" lvl="0" marL="342900" rtl="0" algn="l">
              <a:spcBef>
                <a:spcPts val="1000"/>
              </a:spcBef>
              <a:spcAft>
                <a:spcPts val="0"/>
              </a:spcAft>
              <a:buSzPts val="1920"/>
              <a:buChar char="►"/>
            </a:pPr>
            <a:r>
              <a:rPr lang="en-US" sz="2400"/>
              <a:t>An array is a sequence of data item of homogeneous value(same type).</a:t>
            </a:r>
            <a:endParaRPr/>
          </a:p>
          <a:p>
            <a:pPr indent="0" lvl="0" marL="0" rtl="0" algn="l">
              <a:spcBef>
                <a:spcPts val="1000"/>
              </a:spcBef>
              <a:spcAft>
                <a:spcPts val="0"/>
              </a:spcAft>
              <a:buSzPts val="16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4"/>
          <p:cNvSpPr txBox="1"/>
          <p:nvPr>
            <p:ph idx="1" type="body"/>
          </p:nvPr>
        </p:nvSpPr>
        <p:spPr>
          <a:xfrm>
            <a:off x="1103312" y="1064526"/>
            <a:ext cx="8946541" cy="518387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Structures of related data items </a:t>
            </a:r>
            <a:endParaRPr/>
          </a:p>
          <a:p>
            <a:pPr indent="-342900" lvl="0" marL="342900" rtl="0" algn="l">
              <a:spcBef>
                <a:spcPts val="1000"/>
              </a:spcBef>
              <a:spcAft>
                <a:spcPts val="0"/>
              </a:spcAft>
              <a:buSzPts val="1600"/>
              <a:buChar char="►"/>
            </a:pPr>
            <a:r>
              <a:rPr lang="en-US"/>
              <a:t>Static entity</a:t>
            </a:r>
            <a:endParaRPr/>
          </a:p>
          <a:p>
            <a:pPr indent="0" lvl="0" marL="0" rtl="0" algn="l">
              <a:spcBef>
                <a:spcPts val="1000"/>
              </a:spcBef>
              <a:spcAft>
                <a:spcPts val="0"/>
              </a:spcAft>
              <a:buSzPts val="1600"/>
              <a:buNone/>
            </a:pPr>
            <a:r>
              <a:rPr lang="en-US"/>
              <a:t>	 –same size throughout program </a:t>
            </a:r>
            <a:endParaRPr/>
          </a:p>
          <a:p>
            <a:pPr indent="-342900" lvl="0" marL="342900" rtl="0" algn="l">
              <a:spcBef>
                <a:spcPts val="1000"/>
              </a:spcBef>
              <a:spcAft>
                <a:spcPts val="0"/>
              </a:spcAft>
              <a:buSzPts val="1600"/>
              <a:buChar char="►"/>
            </a:pPr>
            <a:r>
              <a:rPr lang="en-US"/>
              <a:t>Arrays are of two types:</a:t>
            </a:r>
            <a:endParaRPr/>
          </a:p>
          <a:p>
            <a:pPr indent="-457200" lvl="0" marL="457200" rtl="0" algn="l">
              <a:spcBef>
                <a:spcPts val="1000"/>
              </a:spcBef>
              <a:spcAft>
                <a:spcPts val="0"/>
              </a:spcAft>
              <a:buSzPts val="1600"/>
              <a:buFont typeface="Century Gothic"/>
              <a:buAutoNum type="arabicPeriod"/>
            </a:pPr>
            <a:r>
              <a:rPr lang="en-US"/>
              <a:t>	One-dimensional arrays</a:t>
            </a:r>
            <a:endParaRPr/>
          </a:p>
          <a:p>
            <a:pPr indent="-457200" lvl="0" marL="457200" rtl="0" algn="l">
              <a:spcBef>
                <a:spcPts val="1000"/>
              </a:spcBef>
              <a:spcAft>
                <a:spcPts val="0"/>
              </a:spcAft>
              <a:buSzPts val="1600"/>
              <a:buFont typeface="Century Gothic"/>
              <a:buAutoNum type="arabicPeriod"/>
            </a:pPr>
            <a:r>
              <a:rPr lang="en-US"/>
              <a:t>	Multidimensional arrays</a:t>
            </a:r>
            <a:endParaRPr/>
          </a:p>
          <a:p>
            <a:pPr indent="0" lvl="0" marL="0" rtl="0" algn="l">
              <a:spcBef>
                <a:spcPts val="1000"/>
              </a:spcBef>
              <a:spcAft>
                <a:spcPts val="0"/>
              </a:spcAft>
              <a:buSzPts val="1600"/>
              <a:buNone/>
            </a:pPr>
            <a:r>
              <a:rPr lang="en-US"/>
              <a:t>In Short</a:t>
            </a:r>
            <a:endParaRPr/>
          </a:p>
          <a:p>
            <a:pPr indent="0" lvl="0" marL="0" rtl="0" algn="l">
              <a:spcBef>
                <a:spcPts val="1000"/>
              </a:spcBef>
              <a:spcAft>
                <a:spcPts val="0"/>
              </a:spcAft>
              <a:buSzPts val="1600"/>
              <a:buNone/>
            </a:pPr>
            <a:r>
              <a:rPr lang="en-US"/>
              <a:t>Array </a:t>
            </a:r>
            <a:endParaRPr/>
          </a:p>
          <a:p>
            <a:pPr indent="0" lvl="0" marL="0" rtl="0" algn="l">
              <a:spcBef>
                <a:spcPts val="1000"/>
              </a:spcBef>
              <a:spcAft>
                <a:spcPts val="0"/>
              </a:spcAft>
              <a:buSzPts val="1600"/>
              <a:buNone/>
            </a:pPr>
            <a:r>
              <a:rPr lang="en-US"/>
              <a:t>– Group of consecutive memory locations </a:t>
            </a:r>
            <a:endParaRPr/>
          </a:p>
          <a:p>
            <a:pPr indent="0" lvl="0" marL="0" rtl="0" algn="l">
              <a:spcBef>
                <a:spcPts val="1000"/>
              </a:spcBef>
              <a:spcAft>
                <a:spcPts val="0"/>
              </a:spcAft>
              <a:buSzPts val="1600"/>
              <a:buNone/>
            </a:pPr>
            <a:r>
              <a:rPr lang="en-US"/>
              <a:t>– Same name and type</a:t>
            </a:r>
            <a:endParaRPr/>
          </a:p>
          <a:p>
            <a:pPr indent="-241300" lvl="0" marL="342900" rtl="0" algn="l">
              <a:spcBef>
                <a:spcPts val="1000"/>
              </a:spcBef>
              <a:spcAft>
                <a:spcPts val="0"/>
              </a:spcAft>
              <a:buSzPts val="16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Declaration of one-dimensional array</a:t>
            </a:r>
            <a:endParaRPr/>
          </a:p>
        </p:txBody>
      </p:sp>
      <p:sp>
        <p:nvSpPr>
          <p:cNvPr id="170" name="Google Shape;170;p5"/>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data_type array_name[array_size];</a:t>
            </a:r>
            <a:endParaRPr/>
          </a:p>
          <a:p>
            <a:pPr indent="-342900" lvl="0" marL="342900" rtl="0" algn="l">
              <a:spcBef>
                <a:spcPts val="1000"/>
              </a:spcBef>
              <a:spcAft>
                <a:spcPts val="0"/>
              </a:spcAft>
              <a:buSzPts val="1600"/>
              <a:buChar char="►"/>
            </a:pPr>
            <a:r>
              <a:rPr lang="en-US"/>
              <a:t>For example:</a:t>
            </a:r>
            <a:endParaRPr/>
          </a:p>
          <a:p>
            <a:pPr indent="-342900" lvl="0" marL="342900" rtl="0" algn="l">
              <a:spcBef>
                <a:spcPts val="1000"/>
              </a:spcBef>
              <a:spcAft>
                <a:spcPts val="0"/>
              </a:spcAft>
              <a:buSzPts val="1600"/>
              <a:buChar char="►"/>
            </a:pPr>
            <a:r>
              <a:rPr lang="en-US"/>
              <a:t>int age[5];</a:t>
            </a:r>
            <a:endParaRPr/>
          </a:p>
          <a:p>
            <a:pPr indent="-241300" lvl="0" marL="342900" rtl="0" algn="l">
              <a:spcBef>
                <a:spcPts val="1000"/>
              </a:spcBef>
              <a:spcAft>
                <a:spcPts val="0"/>
              </a:spcAft>
              <a:buSzPts val="1600"/>
              <a:buNone/>
            </a:pPr>
            <a:r>
              <a:t/>
            </a:r>
            <a:endParaRPr/>
          </a:p>
          <a:p>
            <a:pPr indent="-342900" lvl="0" marL="342900" rtl="0" algn="l">
              <a:spcBef>
                <a:spcPts val="1000"/>
              </a:spcBef>
              <a:spcAft>
                <a:spcPts val="0"/>
              </a:spcAft>
              <a:buSzPts val="1600"/>
              <a:buChar char="►"/>
            </a:pPr>
            <a:r>
              <a:rPr lang="en-US"/>
              <a:t>Here, the name of array is age. </a:t>
            </a:r>
            <a:endParaRPr/>
          </a:p>
          <a:p>
            <a:pPr indent="-342900" lvl="0" marL="342900" rtl="0" algn="l">
              <a:spcBef>
                <a:spcPts val="1000"/>
              </a:spcBef>
              <a:spcAft>
                <a:spcPts val="0"/>
              </a:spcAft>
              <a:buSzPts val="1600"/>
              <a:buChar char="►"/>
            </a:pPr>
            <a:r>
              <a:rPr lang="en-US"/>
              <a:t>the size of array is 5,</a:t>
            </a:r>
            <a:endParaRPr/>
          </a:p>
          <a:p>
            <a:pPr indent="-342900" lvl="0" marL="342900" rtl="0" algn="l">
              <a:spcBef>
                <a:spcPts val="1000"/>
              </a:spcBef>
              <a:spcAft>
                <a:spcPts val="0"/>
              </a:spcAft>
              <a:buSzPts val="1600"/>
              <a:buChar char="►"/>
            </a:pPr>
            <a:r>
              <a:rPr lang="en-US"/>
              <a:t>i.e., there are 5 items(elements) of array age.</a:t>
            </a:r>
            <a:endParaRPr/>
          </a:p>
          <a:p>
            <a:pPr indent="-342900" lvl="0" marL="342900" rtl="0" algn="l">
              <a:spcBef>
                <a:spcPts val="1000"/>
              </a:spcBef>
              <a:spcAft>
                <a:spcPts val="0"/>
              </a:spcAft>
              <a:buSzPts val="1600"/>
              <a:buChar char="►"/>
            </a:pPr>
            <a:r>
              <a:rPr lang="en-US"/>
              <a:t>All element in an array are of the same type (int, in this case).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Array elements</a:t>
            </a:r>
            <a:endParaRPr/>
          </a:p>
        </p:txBody>
      </p:sp>
      <p:sp>
        <p:nvSpPr>
          <p:cNvPr id="176" name="Google Shape;176;p6"/>
          <p:cNvSpPr txBox="1"/>
          <p:nvPr>
            <p:ph idx="1" type="body"/>
          </p:nvPr>
        </p:nvSpPr>
        <p:spPr>
          <a:xfrm>
            <a:off x="1103312" y="1446664"/>
            <a:ext cx="8946541" cy="526803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Font typeface="Noto Sans Symbols"/>
              <a:buChar char="⮚"/>
            </a:pPr>
            <a:r>
              <a:rPr lang="en-US"/>
              <a:t>Size of array defines the number of elements in an array. </a:t>
            </a:r>
            <a:endParaRPr/>
          </a:p>
          <a:p>
            <a:pPr indent="-342900" lvl="0" marL="342900" rtl="0" algn="l">
              <a:spcBef>
                <a:spcPts val="1000"/>
              </a:spcBef>
              <a:spcAft>
                <a:spcPts val="0"/>
              </a:spcAft>
              <a:buSzPts val="1600"/>
              <a:buFont typeface="Noto Sans Symbols"/>
              <a:buChar char="⮚"/>
            </a:pPr>
            <a:r>
              <a:rPr lang="en-US"/>
              <a:t>Each element of array can be accessed and used by user according to the need of program. </a:t>
            </a:r>
            <a:endParaRPr/>
          </a:p>
          <a:p>
            <a:pPr indent="-342900" lvl="0" marL="342900" rtl="0" algn="l">
              <a:spcBef>
                <a:spcPts val="1000"/>
              </a:spcBef>
              <a:spcAft>
                <a:spcPts val="0"/>
              </a:spcAft>
              <a:buSzPts val="1600"/>
              <a:buFont typeface="Noto Sans Symbols"/>
              <a:buChar char="⮚"/>
            </a:pPr>
            <a:r>
              <a:rPr lang="en-US"/>
              <a:t>For example:</a:t>
            </a:r>
            <a:endParaRPr/>
          </a:p>
          <a:p>
            <a:pPr indent="-342900" lvl="0" marL="342900" rtl="0" algn="l">
              <a:spcBef>
                <a:spcPts val="1000"/>
              </a:spcBef>
              <a:spcAft>
                <a:spcPts val="0"/>
              </a:spcAft>
              <a:buSzPts val="1600"/>
              <a:buFont typeface="Noto Sans Symbols"/>
              <a:buChar char="⮚"/>
            </a:pPr>
            <a:r>
              <a:rPr lang="en-US"/>
              <a:t>int age[5];</a:t>
            </a:r>
            <a:endParaRPr/>
          </a:p>
          <a:p>
            <a:pPr indent="0" lvl="0" marL="0" rtl="0" algn="l">
              <a:spcBef>
                <a:spcPts val="1000"/>
              </a:spcBef>
              <a:spcAft>
                <a:spcPts val="0"/>
              </a:spcAft>
              <a:buSzPts val="1600"/>
              <a:buNone/>
            </a:pPr>
            <a:r>
              <a:rPr lang="en-US"/>
              <a:t>	    age[0] 		age[1] 		   age[2] 		 age[3] 	   age[4]</a:t>
            </a:r>
            <a:endParaRPr/>
          </a:p>
          <a:p>
            <a:pPr indent="-241300" lvl="0" marL="342900" rtl="0" algn="l">
              <a:spcBef>
                <a:spcPts val="1000"/>
              </a:spcBef>
              <a:spcAft>
                <a:spcPts val="0"/>
              </a:spcAft>
              <a:buSzPts val="1600"/>
              <a:buFont typeface="Noto Sans Symbols"/>
              <a:buNone/>
            </a:pPr>
            <a:r>
              <a:t/>
            </a:r>
            <a:endParaRPr/>
          </a:p>
          <a:p>
            <a:pPr indent="-342900" lvl="0" marL="342900" rtl="0" algn="l">
              <a:spcBef>
                <a:spcPts val="1000"/>
              </a:spcBef>
              <a:spcAft>
                <a:spcPts val="0"/>
              </a:spcAft>
              <a:buSzPts val="1600"/>
              <a:buFont typeface="Noto Sans Symbols"/>
              <a:buChar char="⮚"/>
            </a:pPr>
            <a:r>
              <a:rPr lang="en-US"/>
              <a:t>Note that, the first element is numbered 0 and so  on.</a:t>
            </a:r>
            <a:endParaRPr/>
          </a:p>
          <a:p>
            <a:pPr indent="-342900" lvl="0" marL="342900" rtl="0" algn="l">
              <a:spcBef>
                <a:spcPts val="1000"/>
              </a:spcBef>
              <a:spcAft>
                <a:spcPts val="0"/>
              </a:spcAft>
              <a:buSzPts val="1600"/>
              <a:buFont typeface="Noto Sans Symbols"/>
              <a:buChar char="⮚"/>
            </a:pPr>
            <a:r>
              <a:rPr lang="en-US"/>
              <a:t>Here, the size of array age is 5 times the size of int because there are 5 elements.</a:t>
            </a:r>
            <a:endParaRPr/>
          </a:p>
          <a:p>
            <a:pPr indent="-342900" lvl="0" marL="342900" rtl="0" algn="l">
              <a:spcBef>
                <a:spcPts val="1000"/>
              </a:spcBef>
              <a:spcAft>
                <a:spcPts val="0"/>
              </a:spcAft>
              <a:buSzPts val="1600"/>
              <a:buFont typeface="Noto Sans Symbols"/>
              <a:buChar char="⮚"/>
            </a:pPr>
            <a:r>
              <a:rPr lang="en-US"/>
              <a:t>Suppose, the starting address of age[0] is 2120d and the size of int be 4 bytes. Then, the next address (address of a[1]) will be 2124d, address of a[2] will be 2128d and so on.</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t/>
            </a:r>
            <a:endParaRPr/>
          </a:p>
        </p:txBody>
      </p:sp>
      <p:graphicFrame>
        <p:nvGraphicFramePr>
          <p:cNvPr id="177" name="Google Shape;177;p6"/>
          <p:cNvGraphicFramePr/>
          <p:nvPr/>
        </p:nvGraphicFramePr>
        <p:xfrm>
          <a:off x="1499739" y="3903258"/>
          <a:ext cx="3000000" cy="3000000"/>
        </p:xfrm>
        <a:graphic>
          <a:graphicData uri="http://schemas.openxmlformats.org/drawingml/2006/table">
            <a:tbl>
              <a:tblPr bandRow="1" firstRow="1">
                <a:noFill/>
                <a:tableStyleId>{8D7E5600-9DC6-4BAC-863C-FA46789B655C}</a:tableStyleId>
              </a:tblPr>
              <a:tblGrid>
                <a:gridCol w="1625600"/>
                <a:gridCol w="1625600"/>
                <a:gridCol w="1625600"/>
                <a:gridCol w="1625600"/>
                <a:gridCol w="1625600"/>
              </a:tblGrid>
              <a:tr h="338475">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Initialization of one-dimensional array:</a:t>
            </a:r>
            <a:br>
              <a:rPr b="1" lang="en-US"/>
            </a:br>
            <a:endParaRPr/>
          </a:p>
        </p:txBody>
      </p:sp>
      <p:sp>
        <p:nvSpPr>
          <p:cNvPr id="183" name="Google Shape;183;p7"/>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79999"/>
              <a:buChar char="►"/>
            </a:pPr>
            <a:r>
              <a:rPr lang="en-US"/>
              <a:t>Arrays can be initialized at declaration time in  this source code as:</a:t>
            </a:r>
            <a:endParaRPr/>
          </a:p>
          <a:p>
            <a:pPr indent="-342900" lvl="0" marL="342900" rtl="0" algn="l">
              <a:spcBef>
                <a:spcPts val="1000"/>
              </a:spcBef>
              <a:spcAft>
                <a:spcPts val="0"/>
              </a:spcAft>
              <a:buSzPct val="79999"/>
              <a:buChar char="►"/>
            </a:pPr>
            <a:r>
              <a:rPr lang="en-US"/>
              <a:t>int age[5]={2,4,34,3,4};</a:t>
            </a:r>
            <a:endParaRPr/>
          </a:p>
          <a:p>
            <a:pPr indent="-258318" lvl="0" marL="342900" rtl="0" algn="l">
              <a:spcBef>
                <a:spcPts val="1000"/>
              </a:spcBef>
              <a:spcAft>
                <a:spcPts val="0"/>
              </a:spcAft>
              <a:buSzPct val="79999"/>
              <a:buNone/>
            </a:pPr>
            <a:r>
              <a:t/>
            </a:r>
            <a:endParaRPr/>
          </a:p>
          <a:p>
            <a:pPr indent="-342900" lvl="0" marL="342900" rtl="0" algn="l">
              <a:spcBef>
                <a:spcPts val="1000"/>
              </a:spcBef>
              <a:spcAft>
                <a:spcPts val="0"/>
              </a:spcAft>
              <a:buSzPct val="79999"/>
              <a:buChar char="►"/>
            </a:pPr>
            <a:r>
              <a:rPr lang="en-US"/>
              <a:t>It is not necessary to define the size of arrays during initialization.</a:t>
            </a:r>
            <a:endParaRPr/>
          </a:p>
          <a:p>
            <a:pPr indent="-342900" lvl="0" marL="342900" rtl="0" algn="l">
              <a:spcBef>
                <a:spcPts val="1000"/>
              </a:spcBef>
              <a:spcAft>
                <a:spcPts val="0"/>
              </a:spcAft>
              <a:buSzPct val="79999"/>
              <a:buChar char="►"/>
            </a:pPr>
            <a:r>
              <a:rPr lang="en-US"/>
              <a:t>int age[]=</a:t>
            </a:r>
            <a:endParaRPr/>
          </a:p>
          <a:p>
            <a:pPr indent="0" lvl="0" marL="0" rtl="0" algn="l">
              <a:spcBef>
                <a:spcPts val="1000"/>
              </a:spcBef>
              <a:spcAft>
                <a:spcPts val="0"/>
              </a:spcAft>
              <a:buSzPct val="79999"/>
              <a:buNone/>
            </a:pPr>
            <a:r>
              <a:rPr lang="en-US"/>
              <a:t>                      {    2,</a:t>
            </a:r>
            <a:endParaRPr/>
          </a:p>
          <a:p>
            <a:pPr indent="0" lvl="0" marL="0" rtl="0" algn="l">
              <a:spcBef>
                <a:spcPts val="1000"/>
              </a:spcBef>
              <a:spcAft>
                <a:spcPts val="0"/>
              </a:spcAft>
              <a:buSzPct val="79999"/>
              <a:buNone/>
            </a:pPr>
            <a:r>
              <a:rPr lang="en-US"/>
              <a:t>                           4,</a:t>
            </a:r>
            <a:endParaRPr/>
          </a:p>
          <a:p>
            <a:pPr indent="0" lvl="0" marL="0" rtl="0" algn="l">
              <a:spcBef>
                <a:spcPts val="1000"/>
              </a:spcBef>
              <a:spcAft>
                <a:spcPts val="0"/>
              </a:spcAft>
              <a:buSzPct val="79999"/>
              <a:buNone/>
            </a:pPr>
            <a:r>
              <a:rPr lang="en-US"/>
              <a:t>                           34,</a:t>
            </a:r>
            <a:endParaRPr/>
          </a:p>
          <a:p>
            <a:pPr indent="0" lvl="0" marL="0" rtl="0" algn="l">
              <a:spcBef>
                <a:spcPts val="1000"/>
              </a:spcBef>
              <a:spcAft>
                <a:spcPts val="0"/>
              </a:spcAft>
              <a:buSzPct val="79999"/>
              <a:buNone/>
            </a:pPr>
            <a:r>
              <a:rPr lang="en-US"/>
              <a:t>                            3,</a:t>
            </a:r>
            <a:endParaRPr/>
          </a:p>
          <a:p>
            <a:pPr indent="0" lvl="0" marL="0" rtl="0" algn="l">
              <a:spcBef>
                <a:spcPts val="1000"/>
              </a:spcBef>
              <a:spcAft>
                <a:spcPts val="0"/>
              </a:spcAft>
              <a:buSzPct val="79999"/>
              <a:buNone/>
            </a:pPr>
            <a:r>
              <a:rPr lang="en-US"/>
              <a:t>                            4    };</a:t>
            </a:r>
            <a:endParaRPr/>
          </a:p>
          <a:p>
            <a:pPr indent="0" lvl="0" marL="0" rtl="0" algn="l">
              <a:spcBef>
                <a:spcPts val="1000"/>
              </a:spcBef>
              <a:spcAft>
                <a:spcPts val="0"/>
              </a:spcAft>
              <a:buSzPct val="79999"/>
              <a:buNone/>
            </a:pPr>
            <a:r>
              <a:t/>
            </a:r>
            <a:endParaRPr/>
          </a:p>
        </p:txBody>
      </p:sp>
      <p:sp>
        <p:nvSpPr>
          <p:cNvPr id="184" name="Google Shape;184;p7"/>
          <p:cNvSpPr txBox="1"/>
          <p:nvPr>
            <p:ph idx="2" type="body"/>
          </p:nvPr>
        </p:nvSpPr>
        <p:spPr>
          <a:xfrm>
            <a:off x="5654493" y="2056092"/>
            <a:ext cx="6246355" cy="4200245"/>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79999"/>
              <a:buNone/>
            </a:pPr>
            <a:r>
              <a:t/>
            </a:r>
            <a:endParaRPr/>
          </a:p>
          <a:p>
            <a:pPr indent="0" lvl="0" marL="0" rtl="0" algn="l">
              <a:spcBef>
                <a:spcPts val="1000"/>
              </a:spcBef>
              <a:spcAft>
                <a:spcPts val="0"/>
              </a:spcAft>
              <a:buSzPct val="79999"/>
              <a:buNone/>
            </a:pPr>
            <a:r>
              <a:rPr lang="en-US"/>
              <a:t>  age[0]	       age[1]        age[2]       age[3]     age[4]</a:t>
            </a:r>
            <a:endParaRPr/>
          </a:p>
          <a:p>
            <a:pPr indent="0" lvl="0" marL="0" rtl="0" algn="l">
              <a:spcBef>
                <a:spcPts val="1000"/>
              </a:spcBef>
              <a:spcAft>
                <a:spcPts val="0"/>
              </a:spcAft>
              <a:buSzPct val="79999"/>
              <a:buNone/>
            </a:pPr>
            <a:r>
              <a:t/>
            </a:r>
            <a:endParaRPr/>
          </a:p>
          <a:p>
            <a:pPr indent="0" lvl="0" marL="0" rtl="0" algn="l">
              <a:spcBef>
                <a:spcPts val="1000"/>
              </a:spcBef>
              <a:spcAft>
                <a:spcPts val="0"/>
              </a:spcAft>
              <a:buSzPct val="79999"/>
              <a:buNone/>
            </a:pPr>
            <a:r>
              <a:t/>
            </a:r>
            <a:endParaRPr/>
          </a:p>
          <a:p>
            <a:pPr indent="0" lvl="0" marL="0" rtl="0" algn="l">
              <a:spcBef>
                <a:spcPts val="1000"/>
              </a:spcBef>
              <a:spcAft>
                <a:spcPts val="0"/>
              </a:spcAft>
              <a:buSzPct val="79999"/>
              <a:buNone/>
            </a:pPr>
            <a:r>
              <a:t/>
            </a:r>
            <a:endParaRPr/>
          </a:p>
          <a:p>
            <a:pPr indent="0" lvl="0" marL="0" rtl="0" algn="l">
              <a:spcBef>
                <a:spcPts val="1000"/>
              </a:spcBef>
              <a:spcAft>
                <a:spcPts val="0"/>
              </a:spcAft>
              <a:buSzPct val="79999"/>
              <a:buNone/>
            </a:pPr>
            <a:r>
              <a:rPr lang="en-US"/>
              <a:t>age[0]	       age[1]        age[2]       age[3]     age[4]</a:t>
            </a:r>
            <a:endParaRPr/>
          </a:p>
          <a:p>
            <a:pPr indent="0" lvl="0" marL="0" rtl="0" algn="l">
              <a:spcBef>
                <a:spcPts val="1000"/>
              </a:spcBef>
              <a:spcAft>
                <a:spcPts val="0"/>
              </a:spcAft>
              <a:buSzPct val="79999"/>
              <a:buNone/>
            </a:pPr>
            <a:r>
              <a:t/>
            </a:r>
            <a:endParaRPr/>
          </a:p>
          <a:p>
            <a:pPr indent="0" lvl="0" marL="0" rtl="0" algn="l">
              <a:spcBef>
                <a:spcPts val="1000"/>
              </a:spcBef>
              <a:spcAft>
                <a:spcPts val="0"/>
              </a:spcAft>
              <a:buSzPct val="79999"/>
              <a:buNone/>
            </a:pPr>
            <a:r>
              <a:t/>
            </a:r>
            <a:endParaRPr/>
          </a:p>
          <a:p>
            <a:pPr indent="0" lvl="0" marL="0" rtl="0" algn="l">
              <a:spcBef>
                <a:spcPts val="1000"/>
              </a:spcBef>
              <a:spcAft>
                <a:spcPts val="0"/>
              </a:spcAft>
              <a:buSzPct val="79999"/>
              <a:buNone/>
            </a:pPr>
            <a:r>
              <a:t/>
            </a:r>
            <a:endParaRPr/>
          </a:p>
        </p:txBody>
      </p:sp>
      <p:graphicFrame>
        <p:nvGraphicFramePr>
          <p:cNvPr id="185" name="Google Shape;185;p7"/>
          <p:cNvGraphicFramePr/>
          <p:nvPr/>
        </p:nvGraphicFramePr>
        <p:xfrm>
          <a:off x="5758959" y="3053433"/>
          <a:ext cx="3000000" cy="3000000"/>
        </p:xfrm>
        <a:graphic>
          <a:graphicData uri="http://schemas.openxmlformats.org/drawingml/2006/table">
            <a:tbl>
              <a:tblPr bandRow="1" firstRow="1">
                <a:noFill/>
                <a:tableStyleId>{8D7E5600-9DC6-4BAC-863C-FA46789B655C}</a:tableStyleId>
              </a:tblPr>
              <a:tblGrid>
                <a:gridCol w="1146500"/>
                <a:gridCol w="1146500"/>
                <a:gridCol w="1146500"/>
                <a:gridCol w="1146500"/>
                <a:gridCol w="1146500"/>
              </a:tblGrid>
              <a:tr h="370850">
                <a:tc>
                  <a:txBody>
                    <a:bodyPr/>
                    <a:lstStyle/>
                    <a:p>
                      <a:pPr indent="0" lvl="0" marL="0" marR="0" rtl="0" algn="ctr">
                        <a:spcBef>
                          <a:spcPts val="0"/>
                        </a:spcBef>
                        <a:spcAft>
                          <a:spcPts val="0"/>
                        </a:spcAft>
                        <a:buNone/>
                      </a:pPr>
                      <a:r>
                        <a:rPr lang="en-US" sz="1800"/>
                        <a:t>2</a:t>
                      </a:r>
                      <a:endParaRPr sz="1800"/>
                    </a:p>
                  </a:txBody>
                  <a:tcPr marT="45725" marB="45725" marR="91450" marL="91450"/>
                </a:tc>
                <a:tc>
                  <a:txBody>
                    <a:bodyPr/>
                    <a:lstStyle/>
                    <a:p>
                      <a:pPr indent="0" lvl="0" marL="0" marR="0" rtl="0" algn="ctr">
                        <a:spcBef>
                          <a:spcPts val="0"/>
                        </a:spcBef>
                        <a:spcAft>
                          <a:spcPts val="0"/>
                        </a:spcAft>
                        <a:buNone/>
                      </a:pPr>
                      <a:r>
                        <a:rPr lang="en-US" sz="1800"/>
                        <a:t>4</a:t>
                      </a:r>
                      <a:endParaRPr sz="1800"/>
                    </a:p>
                  </a:txBody>
                  <a:tcPr marT="45725" marB="45725" marR="91450" marL="91450"/>
                </a:tc>
                <a:tc>
                  <a:txBody>
                    <a:bodyPr/>
                    <a:lstStyle/>
                    <a:p>
                      <a:pPr indent="0" lvl="0" marL="0" marR="0" rtl="0" algn="ctr">
                        <a:spcBef>
                          <a:spcPts val="0"/>
                        </a:spcBef>
                        <a:spcAft>
                          <a:spcPts val="0"/>
                        </a:spcAft>
                        <a:buNone/>
                      </a:pPr>
                      <a:r>
                        <a:rPr lang="en-US" sz="1800"/>
                        <a:t>34</a:t>
                      </a:r>
                      <a:endParaRPr sz="1800"/>
                    </a:p>
                  </a:txBody>
                  <a:tcPr marT="45725" marB="45725" marR="91450" marL="91450"/>
                </a:tc>
                <a:tc>
                  <a:txBody>
                    <a:bodyPr/>
                    <a:lstStyle/>
                    <a:p>
                      <a:pPr indent="0" lvl="0" marL="0" marR="0" rtl="0" algn="ctr">
                        <a:spcBef>
                          <a:spcPts val="0"/>
                        </a:spcBef>
                        <a:spcAft>
                          <a:spcPts val="0"/>
                        </a:spcAft>
                        <a:buNone/>
                      </a:pPr>
                      <a:r>
                        <a:rPr lang="en-US" sz="1800"/>
                        <a:t>3</a:t>
                      </a:r>
                      <a:endParaRPr sz="1800"/>
                    </a:p>
                  </a:txBody>
                  <a:tcPr marT="45725" marB="45725" marR="91450" marL="91450"/>
                </a:tc>
                <a:tc>
                  <a:txBody>
                    <a:bodyPr/>
                    <a:lstStyle/>
                    <a:p>
                      <a:pPr indent="0" lvl="0" marL="0" marR="0" rtl="0" algn="ctr">
                        <a:spcBef>
                          <a:spcPts val="0"/>
                        </a:spcBef>
                        <a:spcAft>
                          <a:spcPts val="0"/>
                        </a:spcAft>
                        <a:buNone/>
                      </a:pPr>
                      <a:r>
                        <a:rPr lang="en-US" sz="1800"/>
                        <a:t>4</a:t>
                      </a:r>
                      <a:endParaRPr sz="1800"/>
                    </a:p>
                  </a:txBody>
                  <a:tcPr marT="45725" marB="45725" marR="91450" marL="91450"/>
                </a:tc>
              </a:tr>
            </a:tbl>
          </a:graphicData>
        </a:graphic>
      </p:graphicFrame>
      <p:sp>
        <p:nvSpPr>
          <p:cNvPr id="186" name="Google Shape;186;p7"/>
          <p:cNvSpPr/>
          <p:nvPr/>
        </p:nvSpPr>
        <p:spPr>
          <a:xfrm>
            <a:off x="5654492" y="4612943"/>
            <a:ext cx="1183035" cy="395785"/>
          </a:xfrm>
          <a:prstGeom prst="rect">
            <a:avLst/>
          </a:prstGeom>
          <a:solidFill>
            <a:schemeClr val="dk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2</a:t>
            </a:r>
            <a:endParaRPr b="0" i="0" sz="1800" u="none" cap="none" strike="noStrike">
              <a:solidFill>
                <a:schemeClr val="lt1"/>
              </a:solidFill>
              <a:latin typeface="Century Gothic"/>
              <a:ea typeface="Century Gothic"/>
              <a:cs typeface="Century Gothic"/>
              <a:sym typeface="Century Gothic"/>
            </a:endParaRPr>
          </a:p>
        </p:txBody>
      </p:sp>
      <p:sp>
        <p:nvSpPr>
          <p:cNvPr id="187" name="Google Shape;187;p7"/>
          <p:cNvSpPr/>
          <p:nvPr/>
        </p:nvSpPr>
        <p:spPr>
          <a:xfrm>
            <a:off x="6876238" y="4612941"/>
            <a:ext cx="1183035" cy="395785"/>
          </a:xfrm>
          <a:prstGeom prst="rect">
            <a:avLst/>
          </a:prstGeom>
          <a:solidFill>
            <a:schemeClr val="dk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4</a:t>
            </a:r>
            <a:endParaRPr b="0" i="0" sz="1800" u="none" cap="none" strike="noStrike">
              <a:solidFill>
                <a:schemeClr val="lt1"/>
              </a:solidFill>
              <a:latin typeface="Century Gothic"/>
              <a:ea typeface="Century Gothic"/>
              <a:cs typeface="Century Gothic"/>
              <a:sym typeface="Century Gothic"/>
            </a:endParaRPr>
          </a:p>
        </p:txBody>
      </p:sp>
      <p:sp>
        <p:nvSpPr>
          <p:cNvPr id="188" name="Google Shape;188;p7"/>
          <p:cNvSpPr/>
          <p:nvPr/>
        </p:nvSpPr>
        <p:spPr>
          <a:xfrm>
            <a:off x="8136694" y="4612941"/>
            <a:ext cx="1183035" cy="395785"/>
          </a:xfrm>
          <a:prstGeom prst="rect">
            <a:avLst/>
          </a:prstGeom>
          <a:solidFill>
            <a:schemeClr val="dk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34</a:t>
            </a:r>
            <a:endParaRPr b="0" i="0" sz="1800" u="none" cap="none" strike="noStrike">
              <a:solidFill>
                <a:schemeClr val="lt1"/>
              </a:solidFill>
              <a:latin typeface="Century Gothic"/>
              <a:ea typeface="Century Gothic"/>
              <a:cs typeface="Century Gothic"/>
              <a:sym typeface="Century Gothic"/>
            </a:endParaRPr>
          </a:p>
        </p:txBody>
      </p:sp>
      <p:sp>
        <p:nvSpPr>
          <p:cNvPr id="189" name="Google Shape;189;p7"/>
          <p:cNvSpPr/>
          <p:nvPr/>
        </p:nvSpPr>
        <p:spPr>
          <a:xfrm>
            <a:off x="9352919" y="4612941"/>
            <a:ext cx="1183035" cy="395785"/>
          </a:xfrm>
          <a:prstGeom prst="rect">
            <a:avLst/>
          </a:prstGeom>
          <a:solidFill>
            <a:schemeClr val="dk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3</a:t>
            </a:r>
            <a:endParaRPr b="0" i="0" sz="1800" u="none" cap="none" strike="noStrike">
              <a:solidFill>
                <a:schemeClr val="lt1"/>
              </a:solidFill>
              <a:latin typeface="Century Gothic"/>
              <a:ea typeface="Century Gothic"/>
              <a:cs typeface="Century Gothic"/>
              <a:sym typeface="Century Gothic"/>
            </a:endParaRPr>
          </a:p>
        </p:txBody>
      </p:sp>
      <p:sp>
        <p:nvSpPr>
          <p:cNvPr id="190" name="Google Shape;190;p7"/>
          <p:cNvSpPr/>
          <p:nvPr/>
        </p:nvSpPr>
        <p:spPr>
          <a:xfrm>
            <a:off x="10569144" y="4612941"/>
            <a:ext cx="1183035" cy="395785"/>
          </a:xfrm>
          <a:prstGeom prst="rect">
            <a:avLst/>
          </a:prstGeom>
          <a:solidFill>
            <a:schemeClr val="dk1"/>
          </a:solidFill>
          <a:ln cap="rnd" cmpd="sng" w="1905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entury Gothic"/>
                <a:ea typeface="Century Gothic"/>
                <a:cs typeface="Century Gothic"/>
                <a:sym typeface="Century Gothic"/>
              </a:rPr>
              <a:t>4</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Accessing an array element</a:t>
            </a:r>
            <a:endParaRPr/>
          </a:p>
        </p:txBody>
      </p:sp>
      <p:sp>
        <p:nvSpPr>
          <p:cNvPr id="196" name="Google Shape;196;p8"/>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To refer to an element, specify</a:t>
            </a:r>
            <a:endParaRPr/>
          </a:p>
          <a:p>
            <a:pPr indent="0" lvl="0" marL="0" rtl="0" algn="l">
              <a:spcBef>
                <a:spcPts val="1000"/>
              </a:spcBef>
              <a:spcAft>
                <a:spcPts val="0"/>
              </a:spcAft>
              <a:buSzPts val="1600"/>
              <a:buNone/>
            </a:pPr>
            <a:r>
              <a:rPr lang="en-US"/>
              <a:t>   		Array name</a:t>
            </a:r>
            <a:endParaRPr/>
          </a:p>
          <a:p>
            <a:pPr indent="0" lvl="0" marL="0" rtl="0" algn="l">
              <a:spcBef>
                <a:spcPts val="1000"/>
              </a:spcBef>
              <a:spcAft>
                <a:spcPts val="0"/>
              </a:spcAft>
              <a:buSzPts val="1600"/>
              <a:buNone/>
            </a:pPr>
            <a:r>
              <a:rPr lang="en-US"/>
              <a:t>	      Position number </a:t>
            </a:r>
            <a:endParaRPr/>
          </a:p>
          <a:p>
            <a:pPr indent="-241300" lvl="0" marL="342900" rtl="0" algn="l">
              <a:spcBef>
                <a:spcPts val="1000"/>
              </a:spcBef>
              <a:spcAft>
                <a:spcPts val="0"/>
              </a:spcAft>
              <a:buSzPts val="1600"/>
              <a:buNone/>
            </a:pPr>
            <a:r>
              <a:t/>
            </a:r>
            <a:endParaRPr/>
          </a:p>
          <a:p>
            <a:pPr indent="-342900" lvl="0" marL="342900" rtl="0" algn="l">
              <a:spcBef>
                <a:spcPts val="1000"/>
              </a:spcBef>
              <a:spcAft>
                <a:spcPts val="0"/>
              </a:spcAft>
              <a:buSzPts val="1600"/>
              <a:buChar char="►"/>
            </a:pPr>
            <a:r>
              <a:rPr lang="en-US"/>
              <a:t>Format:</a:t>
            </a:r>
            <a:endParaRPr/>
          </a:p>
          <a:p>
            <a:pPr indent="-342900" lvl="0" marL="342900" rtl="0" algn="l">
              <a:spcBef>
                <a:spcPts val="1000"/>
              </a:spcBef>
              <a:spcAft>
                <a:spcPts val="0"/>
              </a:spcAft>
              <a:buSzPts val="1600"/>
              <a:buChar char="►"/>
            </a:pPr>
            <a:r>
              <a:rPr b="1" lang="en-US"/>
              <a:t>arrayname</a:t>
            </a:r>
            <a:r>
              <a:rPr lang="en-US"/>
              <a:t>[position number] </a:t>
            </a:r>
            <a:endParaRPr/>
          </a:p>
          <a:p>
            <a:pPr indent="-342900" lvl="0" marL="342900" rtl="0" algn="l">
              <a:spcBef>
                <a:spcPts val="1000"/>
              </a:spcBef>
              <a:spcAft>
                <a:spcPts val="0"/>
              </a:spcAft>
              <a:buSzPts val="1600"/>
              <a:buChar char="►"/>
            </a:pPr>
            <a:r>
              <a:rPr lang="en-US"/>
              <a:t>First element at position 0</a:t>
            </a:r>
            <a:endParaRPr/>
          </a:p>
          <a:p>
            <a:pPr indent="-342900" lvl="0" marL="342900" rtl="0" algn="l">
              <a:spcBef>
                <a:spcPts val="1000"/>
              </a:spcBef>
              <a:spcAft>
                <a:spcPts val="0"/>
              </a:spcAft>
              <a:buSzPts val="1600"/>
              <a:buChar char="►"/>
            </a:pPr>
            <a:r>
              <a:rPr lang="en-US"/>
              <a:t>n element array named c: </a:t>
            </a:r>
            <a:endParaRPr/>
          </a:p>
          <a:p>
            <a:pPr indent="0" lvl="0" marL="0" rtl="0" algn="l">
              <a:spcBef>
                <a:spcPts val="1000"/>
              </a:spcBef>
              <a:spcAft>
                <a:spcPts val="0"/>
              </a:spcAft>
              <a:buSzPts val="1600"/>
              <a:buNone/>
            </a:pPr>
            <a:r>
              <a:rPr lang="en-US"/>
              <a:t>         c[ 0 ], c[ 1 ]...c[ n –1 ]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9"/>
          <p:cNvSpPr txBox="1"/>
          <p:nvPr>
            <p:ph type="title"/>
          </p:nvPr>
        </p:nvSpPr>
        <p:spPr>
          <a:xfrm>
            <a:off x="646111" y="452718"/>
            <a:ext cx="9404723" cy="9802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Let us consider an example:</a:t>
            </a:r>
            <a:endParaRPr/>
          </a:p>
        </p:txBody>
      </p:sp>
      <p:sp>
        <p:nvSpPr>
          <p:cNvPr id="202" name="Google Shape;202;p9"/>
          <p:cNvSpPr txBox="1"/>
          <p:nvPr>
            <p:ph idx="1" type="body"/>
          </p:nvPr>
        </p:nvSpPr>
        <p:spPr>
          <a:xfrm>
            <a:off x="1103312" y="1692322"/>
            <a:ext cx="8946541" cy="455607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 #include &lt;stdio.h&gt;    </a:t>
            </a:r>
            <a:endParaRPr/>
          </a:p>
          <a:p>
            <a:pPr indent="0" lvl="0" marL="0" rtl="0" algn="l">
              <a:spcBef>
                <a:spcPts val="1000"/>
              </a:spcBef>
              <a:spcAft>
                <a:spcPts val="0"/>
              </a:spcAft>
              <a:buSzPts val="1600"/>
              <a:buNone/>
            </a:pPr>
            <a:r>
              <a:rPr lang="en-US"/>
              <a:t> int main()    </a:t>
            </a:r>
            <a:endParaRPr/>
          </a:p>
          <a:p>
            <a:pPr indent="0" lvl="0" marL="0" rtl="0" algn="l">
              <a:spcBef>
                <a:spcPts val="1000"/>
              </a:spcBef>
              <a:spcAft>
                <a:spcPts val="0"/>
              </a:spcAft>
              <a:buSzPts val="1600"/>
              <a:buNone/>
            </a:pPr>
            <a:r>
              <a:rPr lang="en-US"/>
              <a:t> {    </a:t>
            </a:r>
            <a:endParaRPr/>
          </a:p>
          <a:p>
            <a:pPr indent="0" lvl="0" marL="0" rtl="0" algn="l">
              <a:spcBef>
                <a:spcPts val="1000"/>
              </a:spcBef>
              <a:spcAft>
                <a:spcPts val="0"/>
              </a:spcAft>
              <a:buSzPts val="1600"/>
              <a:buNone/>
            </a:pPr>
            <a:r>
              <a:rPr lang="en-US"/>
              <a:t>     int ara[5] = {10, 20, 30, 40, 50};    </a:t>
            </a:r>
            <a:endParaRPr/>
          </a:p>
          <a:p>
            <a:pPr indent="0" lvl="0" marL="0" rtl="0" algn="l">
              <a:spcBef>
                <a:spcPts val="1000"/>
              </a:spcBef>
              <a:spcAft>
                <a:spcPts val="0"/>
              </a:spcAft>
              <a:buSzPts val="1600"/>
              <a:buNone/>
            </a:pPr>
            <a:r>
              <a:rPr lang="en-US"/>
              <a:t>     printf("First element: %d\n", ara[0]);    </a:t>
            </a:r>
            <a:endParaRPr/>
          </a:p>
          <a:p>
            <a:pPr indent="0" lvl="0" marL="0" rtl="0" algn="l">
              <a:spcBef>
                <a:spcPts val="1000"/>
              </a:spcBef>
              <a:spcAft>
                <a:spcPts val="0"/>
              </a:spcAft>
              <a:buSzPts val="1600"/>
              <a:buNone/>
            </a:pPr>
            <a:r>
              <a:rPr lang="en-US"/>
              <a:t>     printf("Third element: %d\n", ara[2]);     </a:t>
            </a:r>
            <a:endParaRPr/>
          </a:p>
          <a:p>
            <a:pPr indent="0" lvl="0" marL="0" rtl="0" algn="l">
              <a:spcBef>
                <a:spcPts val="1000"/>
              </a:spcBef>
              <a:spcAft>
                <a:spcPts val="0"/>
              </a:spcAft>
              <a:buSzPts val="1600"/>
              <a:buNone/>
            </a:pPr>
            <a:r>
              <a:rPr lang="en-US"/>
              <a:t>     return 0;    </a:t>
            </a:r>
            <a:endParaRPr/>
          </a:p>
          <a:p>
            <a:pPr indent="0" lvl="0" marL="0" rtl="0" algn="l">
              <a:spcBef>
                <a:spcPts val="1000"/>
              </a:spcBef>
              <a:spcAft>
                <a:spcPts val="0"/>
              </a:spcAft>
              <a:buSzPts val="1600"/>
              <a:buNone/>
            </a:pP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Let us consider another example that accesses an array using loop</a:t>
            </a:r>
            <a:endParaRPr/>
          </a:p>
        </p:txBody>
      </p:sp>
      <p:sp>
        <p:nvSpPr>
          <p:cNvPr id="208" name="Google Shape;208;p10"/>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600"/>
              <a:buNone/>
            </a:pPr>
            <a:r>
              <a:rPr lang="en-US"/>
              <a:t> #include &lt;stdio.h&gt;    </a:t>
            </a:r>
            <a:endParaRPr/>
          </a:p>
          <a:p>
            <a:pPr indent="0" lvl="0" marL="0" rtl="0" algn="l">
              <a:spcBef>
                <a:spcPts val="1000"/>
              </a:spcBef>
              <a:spcAft>
                <a:spcPts val="0"/>
              </a:spcAft>
              <a:buSzPts val="1600"/>
              <a:buNone/>
            </a:pPr>
            <a:r>
              <a:rPr lang="en-US"/>
              <a:t> int main()    </a:t>
            </a:r>
            <a:endParaRPr/>
          </a:p>
          <a:p>
            <a:pPr indent="0" lvl="0" marL="0" rtl="0" algn="l">
              <a:spcBef>
                <a:spcPts val="1000"/>
              </a:spcBef>
              <a:spcAft>
                <a:spcPts val="0"/>
              </a:spcAft>
              <a:buSzPts val="1600"/>
              <a:buNone/>
            </a:pPr>
            <a:r>
              <a:rPr lang="en-US"/>
              <a:t> {    </a:t>
            </a:r>
            <a:endParaRPr/>
          </a:p>
          <a:p>
            <a:pPr indent="0" lvl="0" marL="0" rtl="0" algn="l">
              <a:spcBef>
                <a:spcPts val="1000"/>
              </a:spcBef>
              <a:spcAft>
                <a:spcPts val="0"/>
              </a:spcAft>
              <a:buSzPts val="1600"/>
              <a:buNone/>
            </a:pPr>
            <a:r>
              <a:rPr lang="en-US"/>
              <a:t>     int ara[10] = {10, 20, 30, 40, 50, 60, 70, 80, 90, 100};    </a:t>
            </a:r>
            <a:endParaRPr/>
          </a:p>
          <a:p>
            <a:pPr indent="0" lvl="0" marL="0" rtl="0" algn="l">
              <a:spcBef>
                <a:spcPts val="1000"/>
              </a:spcBef>
              <a:spcAft>
                <a:spcPts val="0"/>
              </a:spcAft>
              <a:buSzPts val="1600"/>
              <a:buNone/>
            </a:pPr>
            <a:r>
              <a:rPr lang="en-US"/>
              <a:t>     int i;    </a:t>
            </a:r>
            <a:endParaRPr/>
          </a:p>
          <a:p>
            <a:pPr indent="0" lvl="0" marL="0" rtl="0" algn="l">
              <a:spcBef>
                <a:spcPts val="1000"/>
              </a:spcBef>
              <a:spcAft>
                <a:spcPts val="0"/>
              </a:spcAft>
              <a:buSzPts val="1600"/>
              <a:buNone/>
            </a:pPr>
            <a:r>
              <a:rPr lang="en-US"/>
              <a:t>     for(i = 0; i &lt; 10; i++) {    </a:t>
            </a:r>
            <a:endParaRPr/>
          </a:p>
          <a:p>
            <a:pPr indent="0" lvl="0" marL="0" rtl="0" algn="l">
              <a:spcBef>
                <a:spcPts val="1000"/>
              </a:spcBef>
              <a:spcAft>
                <a:spcPts val="0"/>
              </a:spcAft>
              <a:buSzPts val="1600"/>
              <a:buNone/>
            </a:pPr>
            <a:r>
              <a:rPr lang="en-US"/>
              <a:t>         printf("%d th element is: %d\n", i+1, ara[i]);    </a:t>
            </a:r>
            <a:endParaRPr/>
          </a:p>
          <a:p>
            <a:pPr indent="0" lvl="0" marL="0" rtl="0" algn="l">
              <a:spcBef>
                <a:spcPts val="1000"/>
              </a:spcBef>
              <a:spcAft>
                <a:spcPts val="0"/>
              </a:spcAft>
              <a:buSzPts val="1600"/>
              <a:buNone/>
            </a:pPr>
            <a:r>
              <a:rPr lang="en-US"/>
              <a:t>     }     </a:t>
            </a:r>
            <a:endParaRPr/>
          </a:p>
          <a:p>
            <a:pPr indent="0" lvl="0" marL="0" rtl="0" algn="l">
              <a:spcBef>
                <a:spcPts val="1000"/>
              </a:spcBef>
              <a:spcAft>
                <a:spcPts val="0"/>
              </a:spcAft>
              <a:buSzPts val="1600"/>
              <a:buNone/>
            </a:pPr>
            <a:r>
              <a:rPr lang="en-US"/>
              <a:t>     return 0;    </a:t>
            </a:r>
            <a:endParaRPr/>
          </a:p>
          <a:p>
            <a:pPr indent="0" lvl="0" marL="0" rtl="0" algn="l">
              <a:spcBef>
                <a:spcPts val="1000"/>
              </a:spcBef>
              <a:spcAft>
                <a:spcPts val="0"/>
              </a:spcAft>
              <a:buSzPts val="1600"/>
              <a:buNone/>
            </a:pP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1"/>
          <p:cNvSpPr txBox="1"/>
          <p:nvPr>
            <p:ph idx="1" type="body"/>
          </p:nvPr>
        </p:nvSpPr>
        <p:spPr>
          <a:xfrm>
            <a:off x="1103312" y="300252"/>
            <a:ext cx="9541942" cy="6359856"/>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80000"/>
              <a:buNone/>
            </a:pPr>
            <a:r>
              <a:rPr lang="en-US"/>
              <a:t> #include &lt;stdio.h&gt;    </a:t>
            </a:r>
            <a:endParaRPr/>
          </a:p>
          <a:p>
            <a:pPr indent="0" lvl="0" marL="0" rtl="0" algn="l">
              <a:spcBef>
                <a:spcPts val="1000"/>
              </a:spcBef>
              <a:spcAft>
                <a:spcPts val="0"/>
              </a:spcAft>
              <a:buSzPct val="80000"/>
              <a:buNone/>
            </a:pPr>
            <a:r>
              <a:rPr lang="en-US"/>
              <a:t> int main()    </a:t>
            </a:r>
            <a:endParaRPr/>
          </a:p>
          <a:p>
            <a:pPr indent="0" lvl="0" marL="0" rtl="0" algn="l">
              <a:spcBef>
                <a:spcPts val="1000"/>
              </a:spcBef>
              <a:spcAft>
                <a:spcPts val="0"/>
              </a:spcAft>
              <a:buSzPct val="80000"/>
              <a:buNone/>
            </a:pPr>
            <a:r>
              <a:rPr lang="en-US"/>
              <a:t> {    </a:t>
            </a:r>
            <a:endParaRPr/>
          </a:p>
          <a:p>
            <a:pPr indent="0" lvl="0" marL="0" rtl="0" algn="l">
              <a:spcBef>
                <a:spcPts val="1000"/>
              </a:spcBef>
              <a:spcAft>
                <a:spcPts val="0"/>
              </a:spcAft>
              <a:buSzPct val="80000"/>
              <a:buNone/>
            </a:pPr>
            <a:r>
              <a:rPr lang="en-US"/>
              <a:t>     int ara[] = {10, 20, 30, 40, 50, 60, 70, 80, 90, 100};    </a:t>
            </a:r>
            <a:endParaRPr/>
          </a:p>
          <a:p>
            <a:pPr indent="0" lvl="0" marL="0" rtl="0" algn="l">
              <a:spcBef>
                <a:spcPts val="1000"/>
              </a:spcBef>
              <a:spcAft>
                <a:spcPts val="0"/>
              </a:spcAft>
              <a:buSzPct val="80000"/>
              <a:buNone/>
            </a:pPr>
            <a:r>
              <a:rPr lang="en-US"/>
              <a:t>     int ara2[10];    </a:t>
            </a:r>
            <a:endParaRPr/>
          </a:p>
          <a:p>
            <a:pPr indent="0" lvl="0" marL="0" rtl="0" algn="l">
              <a:spcBef>
                <a:spcPts val="1000"/>
              </a:spcBef>
              <a:spcAft>
                <a:spcPts val="0"/>
              </a:spcAft>
              <a:buSzPct val="80000"/>
              <a:buNone/>
            </a:pPr>
            <a:r>
              <a:rPr lang="en-US"/>
              <a:t>     int i, j;    </a:t>
            </a:r>
            <a:endParaRPr/>
          </a:p>
          <a:p>
            <a:pPr indent="0" lvl="0" marL="0" rtl="0" algn="l">
              <a:spcBef>
                <a:spcPts val="1000"/>
              </a:spcBef>
              <a:spcAft>
                <a:spcPts val="0"/>
              </a:spcAft>
              <a:buSzPct val="80000"/>
              <a:buNone/>
            </a:pPr>
            <a:r>
              <a:rPr lang="en-US"/>
              <a:t>     for(i = 0, j = 9; i &lt; 10; i++, j--) {    </a:t>
            </a:r>
            <a:endParaRPr/>
          </a:p>
          <a:p>
            <a:pPr indent="0" lvl="0" marL="0" rtl="0" algn="l">
              <a:spcBef>
                <a:spcPts val="1000"/>
              </a:spcBef>
              <a:spcAft>
                <a:spcPts val="0"/>
              </a:spcAft>
              <a:buSzPct val="80000"/>
              <a:buNone/>
            </a:pPr>
            <a:r>
              <a:rPr lang="en-US"/>
              <a:t>         ara2[j] = ara[i];    </a:t>
            </a:r>
            <a:endParaRPr/>
          </a:p>
          <a:p>
            <a:pPr indent="0" lvl="0" marL="0" rtl="0" algn="l">
              <a:spcBef>
                <a:spcPts val="1000"/>
              </a:spcBef>
              <a:spcAft>
                <a:spcPts val="0"/>
              </a:spcAft>
              <a:buSzPct val="80000"/>
              <a:buNone/>
            </a:pPr>
            <a:r>
              <a:rPr lang="en-US"/>
              <a:t>     }     </a:t>
            </a:r>
            <a:endParaRPr/>
          </a:p>
          <a:p>
            <a:pPr indent="0" lvl="0" marL="0" rtl="0" algn="l">
              <a:spcBef>
                <a:spcPts val="1000"/>
              </a:spcBef>
              <a:spcAft>
                <a:spcPts val="0"/>
              </a:spcAft>
              <a:buSzPct val="80000"/>
              <a:buNone/>
            </a:pPr>
            <a:r>
              <a:rPr lang="en-US"/>
              <a:t>     for(i = 0; i &lt; 10; i++) {    </a:t>
            </a:r>
            <a:endParaRPr/>
          </a:p>
          <a:p>
            <a:pPr indent="0" lvl="0" marL="0" rtl="0" algn="l">
              <a:spcBef>
                <a:spcPts val="1000"/>
              </a:spcBef>
              <a:spcAft>
                <a:spcPts val="0"/>
              </a:spcAft>
              <a:buSzPct val="80000"/>
              <a:buNone/>
            </a:pPr>
            <a:r>
              <a:rPr lang="en-US"/>
              <a:t>         ara[i] = ara2[i];    </a:t>
            </a:r>
            <a:endParaRPr/>
          </a:p>
          <a:p>
            <a:pPr indent="0" lvl="0" marL="0" rtl="0" algn="l">
              <a:spcBef>
                <a:spcPts val="1000"/>
              </a:spcBef>
              <a:spcAft>
                <a:spcPts val="0"/>
              </a:spcAft>
              <a:buSzPct val="80000"/>
              <a:buNone/>
            </a:pPr>
            <a:r>
              <a:rPr lang="en-US"/>
              <a:t>     }    </a:t>
            </a:r>
            <a:endParaRPr/>
          </a:p>
          <a:p>
            <a:pPr indent="0" lvl="0" marL="0" rtl="0" algn="l">
              <a:spcBef>
                <a:spcPts val="1000"/>
              </a:spcBef>
              <a:spcAft>
                <a:spcPts val="0"/>
              </a:spcAft>
              <a:buSzPct val="80000"/>
              <a:buNone/>
            </a:pPr>
            <a:r>
              <a:rPr lang="en-US"/>
              <a:t>     for(i = 0; i &lt; 10; i++) {    </a:t>
            </a:r>
            <a:endParaRPr/>
          </a:p>
          <a:p>
            <a:pPr indent="0" lvl="0" marL="0" rtl="0" algn="l">
              <a:spcBef>
                <a:spcPts val="1000"/>
              </a:spcBef>
              <a:spcAft>
                <a:spcPts val="0"/>
              </a:spcAft>
              <a:buSzPct val="80000"/>
              <a:buNone/>
            </a:pPr>
            <a:r>
              <a:rPr lang="en-US"/>
              <a:t>         printf("%d\n", ara[i]);    </a:t>
            </a:r>
            <a:endParaRPr/>
          </a:p>
          <a:p>
            <a:pPr indent="0" lvl="0" marL="0" rtl="0" algn="l">
              <a:spcBef>
                <a:spcPts val="1000"/>
              </a:spcBef>
              <a:spcAft>
                <a:spcPts val="0"/>
              </a:spcAft>
              <a:buSzPct val="80000"/>
              <a:buNone/>
            </a:pPr>
            <a:r>
              <a:rPr lang="en-US"/>
              <a:t>     }    </a:t>
            </a:r>
            <a:endParaRPr/>
          </a:p>
          <a:p>
            <a:pPr indent="0" lvl="0" marL="0" rtl="0" algn="l">
              <a:spcBef>
                <a:spcPts val="1000"/>
              </a:spcBef>
              <a:spcAft>
                <a:spcPts val="0"/>
              </a:spcAft>
              <a:buSzPct val="80000"/>
              <a:buNone/>
            </a:pPr>
            <a:r>
              <a:rPr lang="en-US"/>
              <a:t>     return 0;    </a:t>
            </a:r>
            <a:endParaRPr/>
          </a:p>
          <a:p>
            <a:pPr indent="0" lvl="0" marL="0" rtl="0" algn="l">
              <a:spcBef>
                <a:spcPts val="1000"/>
              </a:spcBef>
              <a:spcAft>
                <a:spcPts val="0"/>
              </a:spcAft>
              <a:buSzPct val="80000"/>
              <a:buNone/>
            </a:pP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2800"/>
              <a:buFont typeface="Century Gothic"/>
              <a:buNone/>
            </a:pPr>
            <a:r>
              <a:rPr lang="en-US" sz="2800"/>
              <a:t>Array is very useful when lists of information need to be managed.This program reads marks of 10 students </a:t>
            </a:r>
            <a:br>
              <a:rPr lang="en-US" sz="2800"/>
            </a:br>
            <a:r>
              <a:rPr lang="en-US" sz="2800"/>
              <a:t>finds their average as well as the highest and lowest</a:t>
            </a:r>
            <a:endParaRPr sz="2800"/>
          </a:p>
        </p:txBody>
      </p:sp>
      <p:sp>
        <p:nvSpPr>
          <p:cNvPr id="219" name="Google Shape;219;p12"/>
          <p:cNvSpPr txBox="1"/>
          <p:nvPr>
            <p:ph idx="1" type="body"/>
          </p:nvPr>
        </p:nvSpPr>
        <p:spPr>
          <a:xfrm>
            <a:off x="423082" y="2060575"/>
            <a:ext cx="5663820" cy="4517646"/>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79999"/>
              <a:buNone/>
            </a:pPr>
            <a:r>
              <a:rPr lang="en-US"/>
              <a:t>#include&lt;stdio.h&gt;</a:t>
            </a:r>
            <a:endParaRPr/>
          </a:p>
          <a:p>
            <a:pPr indent="0" lvl="0" marL="0" rtl="0" algn="l">
              <a:spcBef>
                <a:spcPts val="1000"/>
              </a:spcBef>
              <a:spcAft>
                <a:spcPts val="0"/>
              </a:spcAft>
              <a:buSzPct val="79999"/>
              <a:buNone/>
            </a:pPr>
            <a:r>
              <a:rPr lang="en-US"/>
              <a:t>int main()</a:t>
            </a:r>
            <a:endParaRPr/>
          </a:p>
          <a:p>
            <a:pPr indent="0" lvl="0" marL="0" rtl="0" algn="l">
              <a:spcBef>
                <a:spcPts val="1000"/>
              </a:spcBef>
              <a:spcAft>
                <a:spcPts val="0"/>
              </a:spcAft>
              <a:buSzPct val="79999"/>
              <a:buNone/>
            </a:pPr>
            <a:r>
              <a:rPr lang="en-US"/>
              <a:t>{</a:t>
            </a:r>
            <a:endParaRPr/>
          </a:p>
          <a:p>
            <a:pPr indent="0" lvl="0" marL="0" rtl="0" algn="l">
              <a:spcBef>
                <a:spcPts val="1000"/>
              </a:spcBef>
              <a:spcAft>
                <a:spcPts val="0"/>
              </a:spcAft>
              <a:buSzPct val="79999"/>
              <a:buNone/>
            </a:pPr>
            <a:r>
              <a:rPr lang="en-US"/>
              <a:t>	int marks[10] , i, max, min, avg;</a:t>
            </a:r>
            <a:endParaRPr/>
          </a:p>
          <a:p>
            <a:pPr indent="0" lvl="0" marL="0" rtl="0" algn="l">
              <a:spcBef>
                <a:spcPts val="1000"/>
              </a:spcBef>
              <a:spcAft>
                <a:spcPts val="0"/>
              </a:spcAft>
              <a:buSzPct val="79999"/>
              <a:buNone/>
            </a:pPr>
            <a:r>
              <a:rPr lang="en-US"/>
              <a:t>	for(i=0;i&lt;10;i++)</a:t>
            </a:r>
            <a:endParaRPr/>
          </a:p>
          <a:p>
            <a:pPr indent="0" lvl="0" marL="0" rtl="0" algn="l">
              <a:spcBef>
                <a:spcPts val="1000"/>
              </a:spcBef>
              <a:spcAft>
                <a:spcPts val="0"/>
              </a:spcAft>
              <a:buSzPct val="79999"/>
              <a:buNone/>
            </a:pPr>
            <a:r>
              <a:rPr lang="en-US"/>
              <a:t>	{</a:t>
            </a:r>
            <a:endParaRPr/>
          </a:p>
          <a:p>
            <a:pPr indent="0" lvl="0" marL="0" rtl="0" algn="l">
              <a:spcBef>
                <a:spcPts val="1000"/>
              </a:spcBef>
              <a:spcAft>
                <a:spcPts val="0"/>
              </a:spcAft>
              <a:buSzPct val="79999"/>
              <a:buNone/>
            </a:pPr>
            <a:r>
              <a:rPr lang="en-US"/>
              <a:t>		puts(“Enter marks”);</a:t>
            </a:r>
            <a:endParaRPr/>
          </a:p>
          <a:p>
            <a:pPr indent="0" lvl="0" marL="0" rtl="0" algn="l">
              <a:spcBef>
                <a:spcPts val="1000"/>
              </a:spcBef>
              <a:spcAft>
                <a:spcPts val="0"/>
              </a:spcAft>
              <a:buSzPct val="79999"/>
              <a:buNone/>
            </a:pPr>
            <a:r>
              <a:rPr lang="en-US"/>
              <a:t>		scanf(“%d”, &amp;marks[i]);</a:t>
            </a:r>
            <a:endParaRPr/>
          </a:p>
          <a:p>
            <a:pPr indent="0" lvl="0" marL="0" rtl="0" algn="l">
              <a:spcBef>
                <a:spcPts val="1000"/>
              </a:spcBef>
              <a:spcAft>
                <a:spcPts val="0"/>
              </a:spcAft>
              <a:buSzPct val="79999"/>
              <a:buNone/>
            </a:pPr>
            <a:r>
              <a:rPr lang="en-US"/>
              <a:t>	}</a:t>
            </a:r>
            <a:endParaRPr/>
          </a:p>
          <a:p>
            <a:pPr indent="0" lvl="0" marL="0" rtl="0" algn="l">
              <a:spcBef>
                <a:spcPts val="1000"/>
              </a:spcBef>
              <a:spcAft>
                <a:spcPts val="0"/>
              </a:spcAft>
              <a:buSzPct val="79999"/>
              <a:buNone/>
            </a:pPr>
            <a:r>
              <a:rPr lang="en-US"/>
              <a:t>// find average</a:t>
            </a:r>
            <a:endParaRPr/>
          </a:p>
          <a:p>
            <a:pPr indent="0" lvl="0" marL="0" rtl="0" algn="l">
              <a:spcBef>
                <a:spcPts val="1000"/>
              </a:spcBef>
              <a:spcAft>
                <a:spcPts val="0"/>
              </a:spcAft>
              <a:buSzPct val="79999"/>
              <a:buNone/>
            </a:pPr>
            <a:r>
              <a:rPr lang="en-US"/>
              <a:t>	avg=0;</a:t>
            </a:r>
            <a:endParaRPr/>
          </a:p>
          <a:p>
            <a:pPr indent="0" lvl="0" marL="0" rtl="0" algn="l">
              <a:spcBef>
                <a:spcPts val="1000"/>
              </a:spcBef>
              <a:spcAft>
                <a:spcPts val="0"/>
              </a:spcAft>
              <a:buSzPct val="79999"/>
              <a:buNone/>
            </a:pPr>
            <a:r>
              <a:t/>
            </a:r>
            <a:endParaRPr/>
          </a:p>
        </p:txBody>
      </p:sp>
      <p:sp>
        <p:nvSpPr>
          <p:cNvPr id="220" name="Google Shape;220;p12"/>
          <p:cNvSpPr txBox="1"/>
          <p:nvPr>
            <p:ph idx="2" type="body"/>
          </p:nvPr>
        </p:nvSpPr>
        <p:spPr>
          <a:xfrm>
            <a:off x="6209731" y="2056092"/>
            <a:ext cx="5732060" cy="480190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79999"/>
              <a:buNone/>
            </a:pPr>
            <a:r>
              <a:rPr lang="en-US"/>
              <a:t>	for(i=0;i&lt;10;i++)</a:t>
            </a:r>
            <a:endParaRPr/>
          </a:p>
          <a:p>
            <a:pPr indent="0" lvl="0" marL="0" rtl="0" algn="l">
              <a:spcBef>
                <a:spcPts val="1000"/>
              </a:spcBef>
              <a:spcAft>
                <a:spcPts val="0"/>
              </a:spcAft>
              <a:buSzPct val="79999"/>
              <a:buNone/>
            </a:pPr>
            <a:r>
              <a:rPr lang="en-US"/>
              <a:t>	{</a:t>
            </a:r>
            <a:endParaRPr/>
          </a:p>
          <a:p>
            <a:pPr indent="0" lvl="0" marL="0" rtl="0" algn="l">
              <a:spcBef>
                <a:spcPts val="1000"/>
              </a:spcBef>
              <a:spcAft>
                <a:spcPts val="0"/>
              </a:spcAft>
              <a:buSzPct val="79999"/>
              <a:buNone/>
            </a:pPr>
            <a:r>
              <a:rPr lang="en-US"/>
              <a:t>		avg= avg+ marks[i];</a:t>
            </a:r>
            <a:endParaRPr/>
          </a:p>
          <a:p>
            <a:pPr indent="0" lvl="0" marL="0" rtl="0" algn="l">
              <a:spcBef>
                <a:spcPts val="1000"/>
              </a:spcBef>
              <a:spcAft>
                <a:spcPts val="0"/>
              </a:spcAft>
              <a:buSzPct val="79999"/>
              <a:buNone/>
            </a:pPr>
            <a:r>
              <a:rPr lang="en-US"/>
              <a:t>	}</a:t>
            </a:r>
            <a:endParaRPr/>
          </a:p>
          <a:p>
            <a:pPr indent="0" lvl="0" marL="0" rtl="0" algn="l">
              <a:spcBef>
                <a:spcPts val="1000"/>
              </a:spcBef>
              <a:spcAft>
                <a:spcPts val="0"/>
              </a:spcAft>
              <a:buSzPct val="79999"/>
              <a:buNone/>
            </a:pPr>
            <a:r>
              <a:rPr lang="en-US"/>
              <a:t>avg=avg/10;</a:t>
            </a:r>
            <a:endParaRPr/>
          </a:p>
          <a:p>
            <a:pPr indent="0" lvl="0" marL="0" rtl="0" algn="l">
              <a:spcBef>
                <a:spcPts val="1000"/>
              </a:spcBef>
              <a:spcAft>
                <a:spcPts val="0"/>
              </a:spcAft>
              <a:buSzPct val="79999"/>
              <a:buNone/>
            </a:pPr>
            <a:r>
              <a:rPr lang="en-US"/>
              <a:t>// find max and min</a:t>
            </a:r>
            <a:endParaRPr/>
          </a:p>
          <a:p>
            <a:pPr indent="0" lvl="0" marL="0" rtl="0" algn="l">
              <a:spcBef>
                <a:spcPts val="1000"/>
              </a:spcBef>
              <a:spcAft>
                <a:spcPts val="0"/>
              </a:spcAft>
              <a:buSzPct val="79999"/>
              <a:buNone/>
            </a:pPr>
            <a:r>
              <a:rPr lang="en-US"/>
              <a:t>min= 200; max=0; // initialize them</a:t>
            </a:r>
            <a:endParaRPr/>
          </a:p>
          <a:p>
            <a:pPr indent="0" lvl="0" marL="0" rtl="0" algn="l">
              <a:spcBef>
                <a:spcPts val="1000"/>
              </a:spcBef>
              <a:spcAft>
                <a:spcPts val="0"/>
              </a:spcAft>
              <a:buSzPct val="79999"/>
              <a:buNone/>
            </a:pPr>
            <a:r>
              <a:rPr lang="en-US"/>
              <a:t>	for(i=0;i&lt;10;i++)</a:t>
            </a:r>
            <a:endParaRPr/>
          </a:p>
          <a:p>
            <a:pPr indent="0" lvl="0" marL="0" rtl="0" algn="l">
              <a:spcBef>
                <a:spcPts val="1000"/>
              </a:spcBef>
              <a:spcAft>
                <a:spcPts val="0"/>
              </a:spcAft>
              <a:buSzPct val="79999"/>
              <a:buNone/>
            </a:pPr>
            <a:r>
              <a:rPr lang="en-US"/>
              <a:t>	{</a:t>
            </a:r>
            <a:endParaRPr/>
          </a:p>
          <a:p>
            <a:pPr indent="0" lvl="0" marL="0" rtl="0" algn="l">
              <a:spcBef>
                <a:spcPts val="1000"/>
              </a:spcBef>
              <a:spcAft>
                <a:spcPts val="0"/>
              </a:spcAft>
              <a:buSzPct val="79999"/>
              <a:buNone/>
            </a:pPr>
            <a:r>
              <a:rPr lang="en-US"/>
              <a:t>		if(min &gt; marks[i])  min=marks[i];</a:t>
            </a:r>
            <a:endParaRPr/>
          </a:p>
          <a:p>
            <a:pPr indent="0" lvl="0" marL="0" rtl="0" algn="l">
              <a:spcBef>
                <a:spcPts val="1000"/>
              </a:spcBef>
              <a:spcAft>
                <a:spcPts val="0"/>
              </a:spcAft>
              <a:buSzPct val="79999"/>
              <a:buNone/>
            </a:pPr>
            <a:r>
              <a:rPr lang="en-US"/>
              <a:t>		if(max &lt; marks[i])  max=marks[i];</a:t>
            </a:r>
            <a:endParaRPr/>
          </a:p>
          <a:p>
            <a:pPr indent="0" lvl="0" marL="0" rtl="0" algn="l">
              <a:spcBef>
                <a:spcPts val="1000"/>
              </a:spcBef>
              <a:spcAft>
                <a:spcPts val="0"/>
              </a:spcAft>
              <a:buSzPct val="79999"/>
              <a:buNone/>
            </a:pPr>
            <a:r>
              <a:rPr lang="en-US"/>
              <a:t>	}</a:t>
            </a:r>
            <a:endParaRPr/>
          </a:p>
          <a:p>
            <a:pPr indent="0" lvl="0" marL="0" rtl="0" algn="l">
              <a:spcBef>
                <a:spcPts val="1000"/>
              </a:spcBef>
              <a:spcAft>
                <a:spcPts val="0"/>
              </a:spcAft>
              <a:buSzPct val="79999"/>
              <a:buNone/>
            </a:pPr>
            <a:r>
              <a:rPr lang="en-US"/>
              <a:t>printf(“%d %d %d”, avg, min ,max);     }</a:t>
            </a:r>
            <a:endParaRPr/>
          </a:p>
          <a:p>
            <a:pPr indent="0" lvl="0" marL="0" rtl="0" algn="l">
              <a:spcBef>
                <a:spcPts val="1000"/>
              </a:spcBef>
              <a:spcAft>
                <a:spcPts val="0"/>
              </a:spcAft>
              <a:buSzPct val="79999"/>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Linear Search Algorithm and its Implementation</a:t>
            </a:r>
            <a:br>
              <a:rPr b="1" lang="en-US"/>
            </a:br>
            <a:endParaRPr/>
          </a:p>
        </p:txBody>
      </p:sp>
      <p:sp>
        <p:nvSpPr>
          <p:cNvPr id="226" name="Google Shape;226;p13"/>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Linear search algorithm is one of the most basic algorithm in computer science to find a particular element in a list of elements.</a:t>
            </a:r>
            <a:endParaRPr/>
          </a:p>
          <a:p>
            <a:pPr indent="-342900" lvl="0" marL="342900" rtl="0" algn="l">
              <a:spcBef>
                <a:spcPts val="1000"/>
              </a:spcBef>
              <a:spcAft>
                <a:spcPts val="0"/>
              </a:spcAft>
              <a:buSzPts val="1600"/>
              <a:buChar char="►"/>
            </a:pPr>
            <a:r>
              <a:rPr lang="en-US"/>
              <a:t>So before starting code on Linear Search Algorithms let’s first see what we mean by a Searching problem.</a:t>
            </a:r>
            <a:endParaRPr/>
          </a:p>
          <a:p>
            <a:pPr indent="-342900" lvl="0" marL="342900" rtl="0" algn="l">
              <a:spcBef>
                <a:spcPts val="1000"/>
              </a:spcBef>
              <a:spcAft>
                <a:spcPts val="0"/>
              </a:spcAft>
              <a:buSzPts val="1600"/>
              <a:buChar char="►"/>
            </a:pPr>
            <a:r>
              <a:rPr lang="en-US"/>
              <a:t>Given a set of data -&gt; e.g., int arr[] = {10, 2, 7, 9, 7, 4};</a:t>
            </a:r>
            <a:endParaRPr/>
          </a:p>
          <a:p>
            <a:pPr indent="-342900" lvl="0" marL="342900" rtl="0" algn="l">
              <a:spcBef>
                <a:spcPts val="1000"/>
              </a:spcBef>
              <a:spcAft>
                <a:spcPts val="0"/>
              </a:spcAft>
              <a:buSzPts val="1600"/>
              <a:buChar char="►"/>
            </a:pPr>
            <a:r>
              <a:rPr lang="en-US"/>
              <a:t>and a particular value -&gt; e.g., int val = 7;</a:t>
            </a:r>
            <a:endParaRPr/>
          </a:p>
          <a:p>
            <a:pPr indent="-342900" lvl="0" marL="342900" rtl="0" algn="l">
              <a:spcBef>
                <a:spcPts val="1000"/>
              </a:spcBef>
              <a:spcAft>
                <a:spcPts val="0"/>
              </a:spcAft>
              <a:buSzPts val="1600"/>
              <a:buChar char="►"/>
            </a:pPr>
            <a:r>
              <a:rPr lang="en-US"/>
              <a:t>Find the first index of the value in the data.</a:t>
            </a:r>
            <a:endParaRPr/>
          </a:p>
          <a:p>
            <a:pPr indent="-342900" lvl="0" marL="342900" rtl="0" algn="l">
              <a:spcBef>
                <a:spcPts val="1000"/>
              </a:spcBef>
              <a:spcAft>
                <a:spcPts val="0"/>
              </a:spcAft>
              <a:buSzPts val="1600"/>
              <a:buChar char="►"/>
            </a:pPr>
            <a:r>
              <a:rPr lang="en-US"/>
              <a:t>e.g., return index = 2 (because arrays follow 0 index structure i.e. the index of first element is 0 and so 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4"/>
          <p:cNvSpPr txBox="1"/>
          <p:nvPr>
            <p:ph type="title"/>
          </p:nvPr>
        </p:nvSpPr>
        <p:spPr>
          <a:xfrm>
            <a:off x="646111" y="452718"/>
            <a:ext cx="9404723" cy="106218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Linear search algorithm contd.</a:t>
            </a:r>
            <a:endParaRPr/>
          </a:p>
        </p:txBody>
      </p:sp>
      <p:sp>
        <p:nvSpPr>
          <p:cNvPr id="232" name="Google Shape;232;p14"/>
          <p:cNvSpPr txBox="1"/>
          <p:nvPr>
            <p:ph idx="1" type="body"/>
          </p:nvPr>
        </p:nvSpPr>
        <p:spPr>
          <a:xfrm>
            <a:off x="1103312" y="1746914"/>
            <a:ext cx="8946541" cy="450148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In this algorithm we compare the required element with each element in the list or array until it is find or until we reach the end of the list.</a:t>
            </a:r>
            <a:endParaRPr/>
          </a:p>
          <a:p>
            <a:pPr indent="0" lvl="0" marL="0" rtl="0" algn="l">
              <a:spcBef>
                <a:spcPts val="1000"/>
              </a:spcBef>
              <a:spcAft>
                <a:spcPts val="0"/>
              </a:spcAft>
              <a:buSzPts val="1600"/>
              <a:buNone/>
            </a:pPr>
            <a:r>
              <a:t/>
            </a:r>
            <a:endParaRPr/>
          </a:p>
        </p:txBody>
      </p:sp>
      <p:pic>
        <p:nvPicPr>
          <p:cNvPr id="233" name="Google Shape;233;p14"/>
          <p:cNvPicPr preferRelativeResize="0"/>
          <p:nvPr/>
        </p:nvPicPr>
        <p:blipFill rotWithShape="1">
          <a:blip r:embed="rId3">
            <a:alphaModFix/>
          </a:blip>
          <a:srcRect b="0" l="0" r="0" t="0"/>
          <a:stretch/>
        </p:blipFill>
        <p:spPr>
          <a:xfrm>
            <a:off x="2702257" y="3098396"/>
            <a:ext cx="6769289" cy="2981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5"/>
          <p:cNvSpPr txBox="1"/>
          <p:nvPr>
            <p:ph type="title"/>
          </p:nvPr>
        </p:nvSpPr>
        <p:spPr>
          <a:xfrm>
            <a:off x="646111" y="452718"/>
            <a:ext cx="9404723" cy="126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So the idea is-</a:t>
            </a:r>
            <a:endParaRPr/>
          </a:p>
        </p:txBody>
      </p:sp>
      <p:sp>
        <p:nvSpPr>
          <p:cNvPr id="239" name="Google Shape;239;p15"/>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Start with the first element in the array or list.</a:t>
            </a:r>
            <a:endParaRPr/>
          </a:p>
          <a:p>
            <a:pPr indent="0" lvl="0" marL="0" rtl="0" algn="l">
              <a:spcBef>
                <a:spcPts val="1000"/>
              </a:spcBef>
              <a:spcAft>
                <a:spcPts val="0"/>
              </a:spcAft>
              <a:buSzPts val="1600"/>
              <a:buNone/>
            </a:pPr>
            <a:r>
              <a:rPr lang="en-US"/>
              <a:t>Compare it with the given key, if key and value at current index are same, return the current index.</a:t>
            </a:r>
            <a:endParaRPr/>
          </a:p>
          <a:p>
            <a:pPr indent="0" lvl="0" marL="0" rtl="0" algn="l">
              <a:spcBef>
                <a:spcPts val="1000"/>
              </a:spcBef>
              <a:spcAft>
                <a:spcPts val="0"/>
              </a:spcAft>
              <a:buSzPts val="1600"/>
              <a:buNone/>
            </a:pPr>
            <a:r>
              <a:rPr lang="en-US"/>
              <a:t>Else increase the index value and repeat step 2 until end of list is reached.</a:t>
            </a:r>
            <a:endParaRPr/>
          </a:p>
          <a:p>
            <a:pPr indent="0" lvl="0" marL="0" rtl="0" algn="l">
              <a:spcBef>
                <a:spcPts val="1000"/>
              </a:spcBef>
              <a:spcAft>
                <a:spcPts val="0"/>
              </a:spcAft>
              <a:buSzPts val="1600"/>
              <a:buNone/>
            </a:pPr>
            <a:r>
              <a:rPr b="1" lang="en-US"/>
              <a:t>Asymptotic Analysis</a:t>
            </a:r>
            <a:endParaRPr/>
          </a:p>
          <a:p>
            <a:pPr indent="0" lvl="0" marL="0" rtl="0" algn="l">
              <a:spcBef>
                <a:spcPts val="1000"/>
              </a:spcBef>
              <a:spcAft>
                <a:spcPts val="0"/>
              </a:spcAft>
              <a:buSzPts val="1600"/>
              <a:buNone/>
            </a:pPr>
            <a:r>
              <a:rPr b="1" lang="en-US"/>
              <a:t>Worst case time complexity</a:t>
            </a:r>
            <a:r>
              <a:rPr lang="en-US"/>
              <a:t> – O(n)</a:t>
            </a:r>
            <a:br>
              <a:rPr lang="en-US"/>
            </a:br>
            <a:r>
              <a:rPr b="1" lang="en-US"/>
              <a:t>Average case time complexity -</a:t>
            </a:r>
            <a:r>
              <a:rPr lang="en-US"/>
              <a:t> 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6"/>
          <p:cNvSpPr txBox="1"/>
          <p:nvPr>
            <p:ph idx="1" type="body"/>
          </p:nvPr>
        </p:nvSpPr>
        <p:spPr>
          <a:xfrm>
            <a:off x="1103312" y="477672"/>
            <a:ext cx="4792521" cy="6223379"/>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760"/>
              <a:buNone/>
            </a:pPr>
            <a:r>
              <a:rPr lang="en-US" sz="2200"/>
              <a:t>#include &lt;stdio.h&gt;</a:t>
            </a:r>
            <a:endParaRPr/>
          </a:p>
          <a:p>
            <a:pPr indent="0" lvl="0" marL="0" rtl="0" algn="l">
              <a:spcBef>
                <a:spcPts val="1000"/>
              </a:spcBef>
              <a:spcAft>
                <a:spcPts val="0"/>
              </a:spcAft>
              <a:buSzPts val="1760"/>
              <a:buNone/>
            </a:pPr>
            <a:r>
              <a:rPr lang="en-US" sz="2200"/>
              <a:t> int main()</a:t>
            </a:r>
            <a:endParaRPr/>
          </a:p>
          <a:p>
            <a:pPr indent="0" lvl="0" marL="0" rtl="0" algn="l">
              <a:spcBef>
                <a:spcPts val="1000"/>
              </a:spcBef>
              <a:spcAft>
                <a:spcPts val="0"/>
              </a:spcAft>
              <a:buSzPts val="1760"/>
              <a:buNone/>
            </a:pPr>
            <a:r>
              <a:rPr lang="en-US" sz="2200"/>
              <a:t>{</a:t>
            </a:r>
            <a:endParaRPr/>
          </a:p>
          <a:p>
            <a:pPr indent="0" lvl="0" marL="0" rtl="0" algn="l">
              <a:spcBef>
                <a:spcPts val="1000"/>
              </a:spcBef>
              <a:spcAft>
                <a:spcPts val="0"/>
              </a:spcAft>
              <a:buSzPts val="1760"/>
              <a:buNone/>
            </a:pPr>
            <a:r>
              <a:rPr lang="en-US" sz="2200"/>
              <a:t>   int array[100], search, c, n;</a:t>
            </a:r>
            <a:endParaRPr/>
          </a:p>
          <a:p>
            <a:pPr indent="0" lvl="0" marL="0" rtl="0" algn="l">
              <a:spcBef>
                <a:spcPts val="1000"/>
              </a:spcBef>
              <a:spcAft>
                <a:spcPts val="0"/>
              </a:spcAft>
              <a:buSzPts val="1760"/>
              <a:buNone/>
            </a:pPr>
            <a:r>
              <a:rPr lang="en-US" sz="2200"/>
              <a:t>   printf("Enter the number of         elements in array\n");</a:t>
            </a:r>
            <a:endParaRPr/>
          </a:p>
          <a:p>
            <a:pPr indent="0" lvl="0" marL="0" rtl="0" algn="l">
              <a:spcBef>
                <a:spcPts val="1000"/>
              </a:spcBef>
              <a:spcAft>
                <a:spcPts val="0"/>
              </a:spcAft>
              <a:buSzPts val="1760"/>
              <a:buNone/>
            </a:pPr>
            <a:r>
              <a:rPr lang="en-US" sz="2200"/>
              <a:t>   scanf("%d",&amp;n);</a:t>
            </a:r>
            <a:endParaRPr/>
          </a:p>
          <a:p>
            <a:pPr indent="0" lvl="0" marL="0" rtl="0" algn="l">
              <a:spcBef>
                <a:spcPts val="1000"/>
              </a:spcBef>
              <a:spcAft>
                <a:spcPts val="0"/>
              </a:spcAft>
              <a:buSzPts val="1760"/>
              <a:buNone/>
            </a:pPr>
            <a:r>
              <a:rPr lang="en-US" sz="2200"/>
              <a:t>   printf("Enter %d integer(s)\n", n);</a:t>
            </a:r>
            <a:endParaRPr/>
          </a:p>
          <a:p>
            <a:pPr indent="0" lvl="0" marL="0" rtl="0" algn="l">
              <a:spcBef>
                <a:spcPts val="1000"/>
              </a:spcBef>
              <a:spcAft>
                <a:spcPts val="0"/>
              </a:spcAft>
              <a:buSzPts val="1760"/>
              <a:buNone/>
            </a:pPr>
            <a:r>
              <a:rPr lang="en-US" sz="2200"/>
              <a:t>    for (c = 0; c &lt; n; c++)</a:t>
            </a:r>
            <a:endParaRPr/>
          </a:p>
          <a:p>
            <a:pPr indent="0" lvl="0" marL="0" rtl="0" algn="l">
              <a:spcBef>
                <a:spcPts val="1000"/>
              </a:spcBef>
              <a:spcAft>
                <a:spcPts val="0"/>
              </a:spcAft>
              <a:buSzPts val="1760"/>
              <a:buNone/>
            </a:pPr>
            <a:r>
              <a:rPr lang="en-US" sz="2200"/>
              <a:t>	{</a:t>
            </a:r>
            <a:endParaRPr/>
          </a:p>
          <a:p>
            <a:pPr indent="0" lvl="0" marL="0" rtl="0" algn="l">
              <a:spcBef>
                <a:spcPts val="1000"/>
              </a:spcBef>
              <a:spcAft>
                <a:spcPts val="0"/>
              </a:spcAft>
              <a:buSzPts val="1760"/>
              <a:buNone/>
            </a:pPr>
            <a:r>
              <a:rPr lang="en-US" sz="2200"/>
              <a:t>		scanf("%d", &amp;array[c]);</a:t>
            </a:r>
            <a:endParaRPr sz="2200"/>
          </a:p>
          <a:p>
            <a:pPr indent="0" lvl="0" marL="0" rtl="0" algn="l">
              <a:spcBef>
                <a:spcPts val="1000"/>
              </a:spcBef>
              <a:spcAft>
                <a:spcPts val="0"/>
              </a:spcAft>
              <a:buSzPts val="1760"/>
              <a:buNone/>
            </a:pPr>
            <a:r>
              <a:rPr lang="en-US" sz="2200"/>
              <a:t>	}</a:t>
            </a:r>
            <a:endParaRPr sz="2200"/>
          </a:p>
          <a:p>
            <a:pPr indent="0" lvl="0" marL="0" rtl="0" algn="l">
              <a:spcBef>
                <a:spcPts val="1000"/>
              </a:spcBef>
              <a:spcAft>
                <a:spcPts val="0"/>
              </a:spcAft>
              <a:buSzPts val="1760"/>
              <a:buNone/>
            </a:pPr>
            <a:r>
              <a:rPr lang="en-US" sz="2200"/>
              <a:t>printf("Enter the number to search\n");</a:t>
            </a:r>
            <a:endParaRPr/>
          </a:p>
          <a:p>
            <a:pPr indent="0" lvl="0" marL="0" rtl="0" algn="l">
              <a:spcBef>
                <a:spcPts val="1000"/>
              </a:spcBef>
              <a:spcAft>
                <a:spcPts val="0"/>
              </a:spcAft>
              <a:buSzPts val="1760"/>
              <a:buNone/>
            </a:pPr>
            <a:r>
              <a:rPr lang="en-US" sz="2200"/>
              <a:t>   scanf("%d", &amp;search); </a:t>
            </a:r>
            <a:endParaRPr/>
          </a:p>
          <a:p>
            <a:pPr indent="0" lvl="0" marL="0" rtl="0" algn="l">
              <a:spcBef>
                <a:spcPts val="1000"/>
              </a:spcBef>
              <a:spcAft>
                <a:spcPts val="0"/>
              </a:spcAft>
              <a:buSzPts val="1440"/>
              <a:buNone/>
            </a:pPr>
            <a:r>
              <a:t/>
            </a:r>
            <a:endParaRPr/>
          </a:p>
        </p:txBody>
      </p:sp>
      <p:sp>
        <p:nvSpPr>
          <p:cNvPr id="245" name="Google Shape;245;p16"/>
          <p:cNvSpPr txBox="1"/>
          <p:nvPr>
            <p:ph idx="2" type="body"/>
          </p:nvPr>
        </p:nvSpPr>
        <p:spPr>
          <a:xfrm>
            <a:off x="6254994" y="477672"/>
            <a:ext cx="5236421" cy="5778665"/>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760"/>
              <a:buNone/>
            </a:pPr>
            <a:r>
              <a:rPr lang="en-US" sz="2200"/>
              <a:t>for (c = 0; c &lt; n; c++)</a:t>
            </a:r>
            <a:endParaRPr/>
          </a:p>
          <a:p>
            <a:pPr indent="0" lvl="0" marL="0" rtl="0" algn="l">
              <a:spcBef>
                <a:spcPts val="1000"/>
              </a:spcBef>
              <a:spcAft>
                <a:spcPts val="0"/>
              </a:spcAft>
              <a:buSzPts val="1760"/>
              <a:buNone/>
            </a:pPr>
            <a:r>
              <a:rPr lang="en-US" sz="2200"/>
              <a:t>   {</a:t>
            </a:r>
            <a:endParaRPr/>
          </a:p>
          <a:p>
            <a:pPr indent="0" lvl="0" marL="0" rtl="0" algn="l">
              <a:spcBef>
                <a:spcPts val="1000"/>
              </a:spcBef>
              <a:spcAft>
                <a:spcPts val="0"/>
              </a:spcAft>
              <a:buSzPts val="1760"/>
              <a:buNone/>
            </a:pPr>
            <a:r>
              <a:rPr lang="en-US" sz="2200"/>
              <a:t>      if (array[c] == search)     </a:t>
            </a:r>
            <a:endParaRPr/>
          </a:p>
          <a:p>
            <a:pPr indent="0" lvl="0" marL="0" rtl="0" algn="l">
              <a:spcBef>
                <a:spcPts val="1000"/>
              </a:spcBef>
              <a:spcAft>
                <a:spcPts val="0"/>
              </a:spcAft>
              <a:buSzPts val="1760"/>
              <a:buNone/>
            </a:pPr>
            <a:r>
              <a:rPr lang="en-US" sz="2200"/>
              <a:t>      {</a:t>
            </a:r>
            <a:endParaRPr/>
          </a:p>
          <a:p>
            <a:pPr indent="0" lvl="0" marL="0" rtl="0" algn="l">
              <a:spcBef>
                <a:spcPts val="1000"/>
              </a:spcBef>
              <a:spcAft>
                <a:spcPts val="0"/>
              </a:spcAft>
              <a:buSzPts val="1760"/>
              <a:buNone/>
            </a:pPr>
            <a:r>
              <a:rPr lang="en-US" sz="2200"/>
              <a:t>         printf("%d is present at location %d.\n", search, c+1);</a:t>
            </a:r>
            <a:endParaRPr/>
          </a:p>
          <a:p>
            <a:pPr indent="0" lvl="0" marL="0" rtl="0" algn="l">
              <a:spcBef>
                <a:spcPts val="1000"/>
              </a:spcBef>
              <a:spcAft>
                <a:spcPts val="0"/>
              </a:spcAft>
              <a:buSzPts val="1760"/>
              <a:buNone/>
            </a:pPr>
            <a:r>
              <a:rPr lang="en-US" sz="2200"/>
              <a:t>         break;</a:t>
            </a:r>
            <a:endParaRPr/>
          </a:p>
          <a:p>
            <a:pPr indent="0" lvl="0" marL="0" rtl="0" algn="l">
              <a:spcBef>
                <a:spcPts val="1000"/>
              </a:spcBef>
              <a:spcAft>
                <a:spcPts val="0"/>
              </a:spcAft>
              <a:buSzPts val="1760"/>
              <a:buNone/>
            </a:pPr>
            <a:r>
              <a:rPr lang="en-US" sz="2200"/>
              <a:t>      }</a:t>
            </a:r>
            <a:endParaRPr/>
          </a:p>
          <a:p>
            <a:pPr indent="0" lvl="0" marL="0" rtl="0" algn="l">
              <a:spcBef>
                <a:spcPts val="1000"/>
              </a:spcBef>
              <a:spcAft>
                <a:spcPts val="0"/>
              </a:spcAft>
              <a:buSzPts val="1760"/>
              <a:buNone/>
            </a:pPr>
            <a:r>
              <a:rPr lang="en-US" sz="2200"/>
              <a:t>   }</a:t>
            </a:r>
            <a:endParaRPr/>
          </a:p>
          <a:p>
            <a:pPr indent="0" lvl="0" marL="0" rtl="0" algn="l">
              <a:spcBef>
                <a:spcPts val="1000"/>
              </a:spcBef>
              <a:spcAft>
                <a:spcPts val="0"/>
              </a:spcAft>
              <a:buSzPts val="1760"/>
              <a:buNone/>
            </a:pPr>
            <a:r>
              <a:rPr lang="en-US" sz="2200"/>
              <a:t>   if (c == n)</a:t>
            </a:r>
            <a:endParaRPr/>
          </a:p>
          <a:p>
            <a:pPr indent="0" lvl="0" marL="0" rtl="0" algn="l">
              <a:spcBef>
                <a:spcPts val="1000"/>
              </a:spcBef>
              <a:spcAft>
                <a:spcPts val="0"/>
              </a:spcAft>
              <a:buSzPts val="1760"/>
              <a:buNone/>
            </a:pPr>
            <a:r>
              <a:rPr lang="en-US" sz="2200"/>
              <a:t>      printf("%d is not present in array.\n", search); </a:t>
            </a:r>
            <a:endParaRPr/>
          </a:p>
          <a:p>
            <a:pPr indent="0" lvl="0" marL="0" rtl="0" algn="l">
              <a:spcBef>
                <a:spcPts val="1000"/>
              </a:spcBef>
              <a:spcAft>
                <a:spcPts val="0"/>
              </a:spcAft>
              <a:buSzPts val="1760"/>
              <a:buNone/>
            </a:pPr>
            <a:r>
              <a:rPr lang="en-US" sz="2200"/>
              <a:t>   return 0;</a:t>
            </a:r>
            <a:endParaRPr/>
          </a:p>
          <a:p>
            <a:pPr indent="0" lvl="0" marL="0" rtl="0" algn="l">
              <a:spcBef>
                <a:spcPts val="1000"/>
              </a:spcBef>
              <a:spcAft>
                <a:spcPts val="0"/>
              </a:spcAft>
              <a:buSzPts val="1760"/>
              <a:buNone/>
            </a:pPr>
            <a:r>
              <a:rPr lang="en-US" sz="2200"/>
              <a:t>}</a:t>
            </a:r>
            <a:endParaRPr/>
          </a:p>
          <a:p>
            <a:pPr indent="0" lvl="0" marL="0" rtl="0" algn="l">
              <a:spcBef>
                <a:spcPts val="1000"/>
              </a:spcBef>
              <a:spcAft>
                <a:spcPts val="0"/>
              </a:spcAft>
              <a:buSzPts val="144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Bubble Sort Algorithm and its Implementations</a:t>
            </a:r>
            <a:br>
              <a:rPr b="1" lang="en-US"/>
            </a:br>
            <a:endParaRPr/>
          </a:p>
        </p:txBody>
      </p:sp>
      <p:sp>
        <p:nvSpPr>
          <p:cNvPr id="251" name="Google Shape;251;p17"/>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Bubble sort is the basic sorting algorithm which continuously compares the adjacent pairs and swaps them if they are in wrong order.</a:t>
            </a:r>
            <a:endParaRPr/>
          </a:p>
          <a:p>
            <a:pPr indent="-342900" lvl="0" marL="342900" rtl="0" algn="l">
              <a:spcBef>
                <a:spcPts val="1000"/>
              </a:spcBef>
              <a:spcAft>
                <a:spcPts val="0"/>
              </a:spcAft>
              <a:buSzPts val="1600"/>
              <a:buChar char="►"/>
            </a:pPr>
            <a:r>
              <a:rPr lang="en-US"/>
              <a:t>The basic idea is that in first iteration of this algorithm we are able to move the largest element at the end of the list,</a:t>
            </a:r>
            <a:endParaRPr/>
          </a:p>
          <a:p>
            <a:pPr indent="-342900" lvl="0" marL="342900" rtl="0" algn="l">
              <a:spcBef>
                <a:spcPts val="1000"/>
              </a:spcBef>
              <a:spcAft>
                <a:spcPts val="0"/>
              </a:spcAft>
              <a:buSzPts val="1600"/>
              <a:buChar char="►"/>
            </a:pPr>
            <a:r>
              <a:rPr lang="en-US"/>
              <a:t>In second iteration- second largest element at second last position in list and so on.</a:t>
            </a:r>
            <a:endParaRPr/>
          </a:p>
          <a:p>
            <a:pPr indent="-342900" lvl="0" marL="342900" rtl="0" algn="l">
              <a:spcBef>
                <a:spcPts val="1000"/>
              </a:spcBef>
              <a:spcAft>
                <a:spcPts val="0"/>
              </a:spcAft>
              <a:buSzPts val="1600"/>
              <a:buChar char="►"/>
            </a:pPr>
            <a:r>
              <a:rPr lang="en-US"/>
              <a:t>Basically like selection sort it also divides the array into two parts of sorted and unsorted array and after each iteration we add the largest element from the unsorted array to the top of sorted array.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8"/>
          <p:cNvSpPr txBox="1"/>
          <p:nvPr>
            <p:ph idx="1" type="body"/>
          </p:nvPr>
        </p:nvSpPr>
        <p:spPr>
          <a:xfrm>
            <a:off x="1103312" y="709684"/>
            <a:ext cx="8946541" cy="5538715"/>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920"/>
              <a:buChar char="►"/>
            </a:pPr>
            <a:r>
              <a:rPr lang="en-US" sz="2400"/>
              <a:t>For the array of numbers “5 1 4 2 8″, let’s sort the array from lowest number to the greatest number using bubble sort. </a:t>
            </a:r>
            <a:endParaRPr sz="2400"/>
          </a:p>
          <a:p>
            <a:pPr indent="-342900" lvl="0" marL="342900" rtl="0" algn="l">
              <a:spcBef>
                <a:spcPts val="1000"/>
              </a:spcBef>
              <a:spcAft>
                <a:spcPts val="0"/>
              </a:spcAft>
              <a:buSzPts val="1920"/>
              <a:buChar char="►"/>
            </a:pPr>
            <a:r>
              <a:rPr lang="en-US" sz="2400"/>
              <a:t>In each step, elements written in </a:t>
            </a:r>
            <a:r>
              <a:rPr b="1" lang="en-US" sz="2400"/>
              <a:t>bold</a:t>
            </a:r>
            <a:r>
              <a:rPr lang="en-US" sz="2400"/>
              <a:t> are being compared.</a:t>
            </a:r>
            <a:endParaRPr/>
          </a:p>
          <a:p>
            <a:pPr indent="-342900" lvl="0" marL="342900" rtl="0" algn="l">
              <a:spcBef>
                <a:spcPts val="1000"/>
              </a:spcBef>
              <a:spcAft>
                <a:spcPts val="0"/>
              </a:spcAft>
              <a:buSzPts val="1920"/>
              <a:buChar char="►"/>
            </a:pPr>
            <a:r>
              <a:rPr b="1" lang="en-US" sz="2400"/>
              <a:t>First Pass:</a:t>
            </a:r>
            <a:endParaRPr sz="2400"/>
          </a:p>
          <a:p>
            <a:pPr indent="-342900" lvl="0" marL="342900" rtl="0" algn="l">
              <a:spcBef>
                <a:spcPts val="1000"/>
              </a:spcBef>
              <a:spcAft>
                <a:spcPts val="0"/>
              </a:spcAft>
              <a:buSzPts val="1920"/>
              <a:buChar char="►"/>
            </a:pPr>
            <a:r>
              <a:rPr lang="en-US" sz="2400"/>
              <a:t>(</a:t>
            </a:r>
            <a:r>
              <a:rPr b="1" lang="en-US" sz="2400"/>
              <a:t> 5 1 </a:t>
            </a:r>
            <a:r>
              <a:rPr lang="en-US" sz="2400"/>
              <a:t>4 2 8 ) –&gt; ( </a:t>
            </a:r>
            <a:r>
              <a:rPr b="1" lang="en-US" sz="2400"/>
              <a:t>1</a:t>
            </a:r>
            <a:r>
              <a:rPr lang="en-US" sz="2400"/>
              <a:t> </a:t>
            </a:r>
            <a:r>
              <a:rPr b="1" lang="en-US" sz="2400"/>
              <a:t>5</a:t>
            </a:r>
            <a:r>
              <a:rPr lang="en-US" sz="2400"/>
              <a:t> 4 2 8 ), Here, the algorithm compares the first two elements, and swaps since 5 &gt; 1.</a:t>
            </a:r>
            <a:endParaRPr/>
          </a:p>
          <a:p>
            <a:pPr indent="-342900" lvl="0" marL="342900" rtl="0" algn="l">
              <a:spcBef>
                <a:spcPts val="1000"/>
              </a:spcBef>
              <a:spcAft>
                <a:spcPts val="0"/>
              </a:spcAft>
              <a:buSzPts val="1920"/>
              <a:buChar char="►"/>
            </a:pPr>
            <a:r>
              <a:rPr lang="en-US" sz="2400"/>
              <a:t>( 1 </a:t>
            </a:r>
            <a:r>
              <a:rPr b="1" lang="en-US" sz="2400"/>
              <a:t>5</a:t>
            </a:r>
            <a:r>
              <a:rPr lang="en-US" sz="2400"/>
              <a:t> </a:t>
            </a:r>
            <a:r>
              <a:rPr b="1" lang="en-US" sz="2400"/>
              <a:t>4</a:t>
            </a:r>
            <a:r>
              <a:rPr lang="en-US" sz="2400"/>
              <a:t> 2 8 ) –&gt; ( 1 </a:t>
            </a:r>
            <a:r>
              <a:rPr b="1" lang="en-US" sz="2400"/>
              <a:t>4</a:t>
            </a:r>
            <a:r>
              <a:rPr lang="en-US" sz="2400"/>
              <a:t> </a:t>
            </a:r>
            <a:r>
              <a:rPr b="1" lang="en-US" sz="2400"/>
              <a:t>5</a:t>
            </a:r>
            <a:r>
              <a:rPr lang="en-US" sz="2400"/>
              <a:t> 2 8 ), Swap since 5 &gt; 4</a:t>
            </a:r>
            <a:endParaRPr/>
          </a:p>
          <a:p>
            <a:pPr indent="-342900" lvl="0" marL="342900" rtl="0" algn="l">
              <a:spcBef>
                <a:spcPts val="1000"/>
              </a:spcBef>
              <a:spcAft>
                <a:spcPts val="0"/>
              </a:spcAft>
              <a:buSzPts val="1920"/>
              <a:buChar char="►"/>
            </a:pPr>
            <a:r>
              <a:rPr lang="en-US" sz="2400"/>
              <a:t>( 1 4 </a:t>
            </a:r>
            <a:r>
              <a:rPr b="1" lang="en-US" sz="2400"/>
              <a:t>5</a:t>
            </a:r>
            <a:r>
              <a:rPr lang="en-US" sz="2400"/>
              <a:t> </a:t>
            </a:r>
            <a:r>
              <a:rPr b="1" lang="en-US" sz="2400"/>
              <a:t>2</a:t>
            </a:r>
            <a:r>
              <a:rPr lang="en-US" sz="2400"/>
              <a:t> 8 ) –&gt; ( 1 4 </a:t>
            </a:r>
            <a:r>
              <a:rPr b="1" lang="en-US" sz="2400"/>
              <a:t>2</a:t>
            </a:r>
            <a:r>
              <a:rPr lang="en-US" sz="2400"/>
              <a:t> </a:t>
            </a:r>
            <a:r>
              <a:rPr b="1" lang="en-US" sz="2400"/>
              <a:t>5</a:t>
            </a:r>
            <a:r>
              <a:rPr lang="en-US" sz="2400"/>
              <a:t> 8 ), Swap since 5 &gt; 2</a:t>
            </a:r>
            <a:endParaRPr/>
          </a:p>
          <a:p>
            <a:pPr indent="-342900" lvl="0" marL="342900" rtl="0" algn="l">
              <a:spcBef>
                <a:spcPts val="1000"/>
              </a:spcBef>
              <a:spcAft>
                <a:spcPts val="0"/>
              </a:spcAft>
              <a:buSzPts val="1920"/>
              <a:buChar char="►"/>
            </a:pPr>
            <a:r>
              <a:rPr lang="en-US" sz="2400"/>
              <a:t>( 1 4 2 </a:t>
            </a:r>
            <a:r>
              <a:rPr b="1" lang="en-US" sz="2400"/>
              <a:t>5</a:t>
            </a:r>
            <a:r>
              <a:rPr lang="en-US" sz="2400"/>
              <a:t> </a:t>
            </a:r>
            <a:r>
              <a:rPr b="1" lang="en-US" sz="2400"/>
              <a:t>8</a:t>
            </a:r>
            <a:r>
              <a:rPr lang="en-US" sz="2400"/>
              <a:t> ) –&gt; ( 1 4 2 </a:t>
            </a:r>
            <a:r>
              <a:rPr b="1" lang="en-US" sz="2400"/>
              <a:t>5</a:t>
            </a:r>
            <a:r>
              <a:rPr lang="en-US" sz="2400"/>
              <a:t> </a:t>
            </a:r>
            <a:r>
              <a:rPr b="1" lang="en-US" sz="2400"/>
              <a:t>8</a:t>
            </a:r>
            <a:r>
              <a:rPr lang="en-US" sz="2400"/>
              <a:t> ), Now, since these elements are already in order (8 &gt; 5), the algorithm does not swap them.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b="1" lang="en-US"/>
              <a:t>Second Pass:</a:t>
            </a:r>
            <a:endParaRPr/>
          </a:p>
        </p:txBody>
      </p:sp>
      <p:sp>
        <p:nvSpPr>
          <p:cNvPr id="262" name="Google Shape;262;p19"/>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br>
              <a:rPr lang="en-US"/>
            </a:br>
            <a:r>
              <a:rPr lang="en-US"/>
              <a:t>( </a:t>
            </a:r>
            <a:r>
              <a:rPr b="1" lang="en-US"/>
              <a:t>1</a:t>
            </a:r>
            <a:r>
              <a:rPr lang="en-US"/>
              <a:t> </a:t>
            </a:r>
            <a:r>
              <a:rPr b="1" lang="en-US"/>
              <a:t>4</a:t>
            </a:r>
            <a:r>
              <a:rPr lang="en-US"/>
              <a:t> 2 5 8 ) –&gt; ( </a:t>
            </a:r>
            <a:r>
              <a:rPr b="1" lang="en-US"/>
              <a:t>1</a:t>
            </a:r>
            <a:r>
              <a:rPr lang="en-US"/>
              <a:t> </a:t>
            </a:r>
            <a:r>
              <a:rPr b="1" lang="en-US"/>
              <a:t>4</a:t>
            </a:r>
            <a:r>
              <a:rPr lang="en-US"/>
              <a:t> 2 5 8 )</a:t>
            </a:r>
            <a:br>
              <a:rPr lang="en-US"/>
            </a:br>
            <a:r>
              <a:rPr lang="en-US"/>
              <a:t>( 1 </a:t>
            </a:r>
            <a:r>
              <a:rPr b="1" lang="en-US"/>
              <a:t>4</a:t>
            </a:r>
            <a:r>
              <a:rPr lang="en-US"/>
              <a:t> </a:t>
            </a:r>
            <a:r>
              <a:rPr b="1" lang="en-US"/>
              <a:t>2</a:t>
            </a:r>
            <a:r>
              <a:rPr lang="en-US"/>
              <a:t> 5 8 ) –&gt; ( 1 </a:t>
            </a:r>
            <a:r>
              <a:rPr b="1" lang="en-US"/>
              <a:t>2</a:t>
            </a:r>
            <a:r>
              <a:rPr lang="en-US"/>
              <a:t> </a:t>
            </a:r>
            <a:r>
              <a:rPr b="1" lang="en-US"/>
              <a:t>4</a:t>
            </a:r>
            <a:r>
              <a:rPr lang="en-US"/>
              <a:t> 5 8 ), Swap since 4 &gt; 2</a:t>
            </a:r>
            <a:br>
              <a:rPr lang="en-US"/>
            </a:br>
            <a:r>
              <a:rPr lang="en-US"/>
              <a:t>( 1 2 </a:t>
            </a:r>
            <a:r>
              <a:rPr b="1" lang="en-US"/>
              <a:t>4</a:t>
            </a:r>
            <a:r>
              <a:rPr lang="en-US"/>
              <a:t> </a:t>
            </a:r>
            <a:r>
              <a:rPr b="1" lang="en-US"/>
              <a:t>5</a:t>
            </a:r>
            <a:r>
              <a:rPr lang="en-US"/>
              <a:t> 8 ) –&gt; ( 1 2 </a:t>
            </a:r>
            <a:r>
              <a:rPr b="1" lang="en-US"/>
              <a:t>4</a:t>
            </a:r>
            <a:r>
              <a:rPr lang="en-US"/>
              <a:t> </a:t>
            </a:r>
            <a:r>
              <a:rPr b="1" lang="en-US"/>
              <a:t>5</a:t>
            </a:r>
            <a:r>
              <a:rPr lang="en-US"/>
              <a:t> 8 )</a:t>
            </a:r>
            <a:br>
              <a:rPr lang="en-US"/>
            </a:br>
            <a:r>
              <a:rPr lang="en-US"/>
              <a:t>( 1 2 4 </a:t>
            </a:r>
            <a:r>
              <a:rPr b="1" lang="en-US"/>
              <a:t>5</a:t>
            </a:r>
            <a:r>
              <a:rPr lang="en-US"/>
              <a:t> </a:t>
            </a:r>
            <a:r>
              <a:rPr b="1" lang="en-US"/>
              <a:t>8</a:t>
            </a:r>
            <a:r>
              <a:rPr lang="en-US"/>
              <a:t> ) –&gt; ( 1 2 4 </a:t>
            </a:r>
            <a:r>
              <a:rPr b="1" lang="en-US"/>
              <a:t>5</a:t>
            </a:r>
            <a:r>
              <a:rPr lang="en-US"/>
              <a:t> </a:t>
            </a:r>
            <a:r>
              <a:rPr b="1" lang="en-US"/>
              <a:t>8</a:t>
            </a:r>
            <a:r>
              <a:rPr lang="en-US"/>
              <a:t> )</a:t>
            </a:r>
            <a:endParaRPr/>
          </a:p>
          <a:p>
            <a:pPr indent="0" lvl="0" marL="0" rtl="0" algn="l">
              <a:spcBef>
                <a:spcPts val="1000"/>
              </a:spcBef>
              <a:spcAft>
                <a:spcPts val="0"/>
              </a:spcAft>
              <a:buSzPts val="1600"/>
              <a:buNone/>
            </a:pPr>
            <a:br>
              <a:rPr lang="en-US"/>
            </a:br>
            <a:r>
              <a:rPr lang="en-US"/>
              <a:t>Now, the array is already sorted, but our algorithm does not know if it is completed.</a:t>
            </a:r>
            <a:endParaRPr/>
          </a:p>
          <a:p>
            <a:pPr indent="0" lvl="0" marL="0" rtl="0" algn="l">
              <a:spcBef>
                <a:spcPts val="1000"/>
              </a:spcBef>
              <a:spcAft>
                <a:spcPts val="0"/>
              </a:spcAft>
              <a:buSzPts val="1600"/>
              <a:buNone/>
            </a:pPr>
            <a:r>
              <a:rPr lang="en-US"/>
              <a:t> The algorithm needs one </a:t>
            </a:r>
            <a:r>
              <a:rPr b="1" lang="en-US"/>
              <a:t>whole</a:t>
            </a:r>
            <a:r>
              <a:rPr lang="en-US"/>
              <a:t> pass without </a:t>
            </a:r>
            <a:r>
              <a:rPr b="1" lang="en-US"/>
              <a:t>any</a:t>
            </a:r>
            <a:r>
              <a:rPr lang="en-US"/>
              <a:t> swap to know it is sorted.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b="1" lang="en-US"/>
              <a:t>Third Pass:</a:t>
            </a:r>
            <a:endParaRPr/>
          </a:p>
        </p:txBody>
      </p:sp>
      <p:sp>
        <p:nvSpPr>
          <p:cNvPr id="268" name="Google Shape;268;p20"/>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560"/>
              <a:buNone/>
            </a:pPr>
            <a:r>
              <a:rPr lang="en-US" sz="3200"/>
              <a:t>( </a:t>
            </a:r>
            <a:r>
              <a:rPr b="1" lang="en-US" sz="3200"/>
              <a:t>1 2</a:t>
            </a:r>
            <a:r>
              <a:rPr lang="en-US" sz="3200"/>
              <a:t> 4 5 8 ) –&gt; ( </a:t>
            </a:r>
            <a:r>
              <a:rPr b="1" lang="en-US" sz="3200"/>
              <a:t>1</a:t>
            </a:r>
            <a:r>
              <a:rPr lang="en-US" sz="3200"/>
              <a:t> </a:t>
            </a:r>
            <a:r>
              <a:rPr b="1" lang="en-US" sz="3200"/>
              <a:t>2</a:t>
            </a:r>
            <a:r>
              <a:rPr lang="en-US" sz="3200"/>
              <a:t> 4 5 8 )</a:t>
            </a:r>
            <a:br>
              <a:rPr lang="en-US" sz="3200"/>
            </a:br>
            <a:r>
              <a:rPr lang="en-US" sz="3200"/>
              <a:t>( 1 </a:t>
            </a:r>
            <a:r>
              <a:rPr b="1" lang="en-US" sz="3200"/>
              <a:t>2</a:t>
            </a:r>
            <a:r>
              <a:rPr lang="en-US" sz="3200"/>
              <a:t> </a:t>
            </a:r>
            <a:r>
              <a:rPr b="1" lang="en-US" sz="3200"/>
              <a:t>4</a:t>
            </a:r>
            <a:r>
              <a:rPr lang="en-US" sz="3200"/>
              <a:t> 5 8 ) –&gt; ( 1 </a:t>
            </a:r>
            <a:r>
              <a:rPr b="1" lang="en-US" sz="3200"/>
              <a:t>2</a:t>
            </a:r>
            <a:r>
              <a:rPr lang="en-US" sz="3200"/>
              <a:t> </a:t>
            </a:r>
            <a:r>
              <a:rPr b="1" lang="en-US" sz="3200"/>
              <a:t>4</a:t>
            </a:r>
            <a:r>
              <a:rPr lang="en-US" sz="3200"/>
              <a:t> 5 8 )</a:t>
            </a:r>
            <a:br>
              <a:rPr lang="en-US" sz="3200"/>
            </a:br>
            <a:r>
              <a:rPr lang="en-US" sz="3200"/>
              <a:t>( 1 2 </a:t>
            </a:r>
            <a:r>
              <a:rPr b="1" lang="en-US" sz="3200"/>
              <a:t>4</a:t>
            </a:r>
            <a:r>
              <a:rPr lang="en-US" sz="3200"/>
              <a:t> </a:t>
            </a:r>
            <a:r>
              <a:rPr b="1" lang="en-US" sz="3200"/>
              <a:t>5</a:t>
            </a:r>
            <a:r>
              <a:rPr lang="en-US" sz="3200"/>
              <a:t> 8 ) –&gt; ( 1 2 </a:t>
            </a:r>
            <a:r>
              <a:rPr b="1" lang="en-US" sz="3200"/>
              <a:t>4</a:t>
            </a:r>
            <a:r>
              <a:rPr lang="en-US" sz="3200"/>
              <a:t> </a:t>
            </a:r>
            <a:r>
              <a:rPr b="1" lang="en-US" sz="3200"/>
              <a:t>5</a:t>
            </a:r>
            <a:r>
              <a:rPr lang="en-US" sz="3200"/>
              <a:t> 8 )</a:t>
            </a:r>
            <a:br>
              <a:rPr lang="en-US" sz="3200"/>
            </a:br>
            <a:r>
              <a:rPr lang="en-US" sz="3200"/>
              <a:t>( 1 2 4 </a:t>
            </a:r>
            <a:r>
              <a:rPr b="1" lang="en-US" sz="3200"/>
              <a:t>5</a:t>
            </a:r>
            <a:r>
              <a:rPr lang="en-US" sz="3200"/>
              <a:t> </a:t>
            </a:r>
            <a:r>
              <a:rPr b="1" lang="en-US" sz="3200"/>
              <a:t>8</a:t>
            </a:r>
            <a:r>
              <a:rPr lang="en-US" sz="3200"/>
              <a:t> ) –&gt; ( 1 2 4 </a:t>
            </a:r>
            <a:r>
              <a:rPr b="1" lang="en-US" sz="3200"/>
              <a:t>5</a:t>
            </a:r>
            <a:r>
              <a:rPr lang="en-US" sz="3200"/>
              <a:t> </a:t>
            </a:r>
            <a:r>
              <a:rPr b="1" lang="en-US" sz="3200"/>
              <a:t>8</a:t>
            </a:r>
            <a:r>
              <a:rPr lang="en-US" sz="3200"/>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1"/>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Code for bubble sort</a:t>
            </a:r>
            <a:endParaRPr/>
          </a:p>
        </p:txBody>
      </p:sp>
      <p:sp>
        <p:nvSpPr>
          <p:cNvPr id="274" name="Google Shape;274;p21"/>
          <p:cNvSpPr txBox="1"/>
          <p:nvPr>
            <p:ph idx="1" type="body"/>
          </p:nvPr>
        </p:nvSpPr>
        <p:spPr>
          <a:xfrm>
            <a:off x="218364" y="2060575"/>
            <a:ext cx="5418161" cy="4626828"/>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440"/>
              <a:buNone/>
            </a:pPr>
            <a:r>
              <a:rPr lang="en-US"/>
              <a:t>#include&lt;stdio.h&gt;</a:t>
            </a:r>
            <a:endParaRPr/>
          </a:p>
          <a:p>
            <a:pPr indent="0" lvl="0" marL="0" rtl="0" algn="l">
              <a:spcBef>
                <a:spcPts val="1000"/>
              </a:spcBef>
              <a:spcAft>
                <a:spcPts val="0"/>
              </a:spcAft>
              <a:buSzPts val="1440"/>
              <a:buNone/>
            </a:pPr>
            <a:r>
              <a:rPr lang="en-US"/>
              <a:t>int main(){</a:t>
            </a:r>
            <a:endParaRPr/>
          </a:p>
          <a:p>
            <a:pPr indent="0" lvl="0" marL="0" rtl="0" algn="l">
              <a:spcBef>
                <a:spcPts val="1000"/>
              </a:spcBef>
              <a:spcAft>
                <a:spcPts val="0"/>
              </a:spcAft>
              <a:buSzPts val="1440"/>
              <a:buNone/>
            </a:pPr>
            <a:r>
              <a:rPr lang="en-US"/>
              <a:t> int s,temp,i,j,a[20];</a:t>
            </a:r>
            <a:endParaRPr/>
          </a:p>
          <a:p>
            <a:pPr indent="0" lvl="0" marL="0" rtl="0" algn="l">
              <a:spcBef>
                <a:spcPts val="1000"/>
              </a:spcBef>
              <a:spcAft>
                <a:spcPts val="0"/>
              </a:spcAft>
              <a:buSzPts val="1440"/>
              <a:buNone/>
            </a:pPr>
            <a:r>
              <a:rPr lang="en-US"/>
              <a:t> printf("Enter total numbers of elements: ");</a:t>
            </a:r>
            <a:endParaRPr/>
          </a:p>
          <a:p>
            <a:pPr indent="0" lvl="0" marL="0" rtl="0" algn="l">
              <a:spcBef>
                <a:spcPts val="1000"/>
              </a:spcBef>
              <a:spcAft>
                <a:spcPts val="0"/>
              </a:spcAft>
              <a:buSzPts val="1440"/>
              <a:buNone/>
            </a:pPr>
            <a:r>
              <a:rPr lang="en-US"/>
              <a:t> scanf("%d",&amp;s);</a:t>
            </a:r>
            <a:endParaRPr/>
          </a:p>
          <a:p>
            <a:pPr indent="0" lvl="0" marL="0" rtl="0" algn="l">
              <a:spcBef>
                <a:spcPts val="1000"/>
              </a:spcBef>
              <a:spcAft>
                <a:spcPts val="0"/>
              </a:spcAft>
              <a:buSzPts val="1440"/>
              <a:buNone/>
            </a:pPr>
            <a:r>
              <a:rPr lang="en-US"/>
              <a:t> printf("Enter %d elements: ",s);</a:t>
            </a:r>
            <a:endParaRPr/>
          </a:p>
          <a:p>
            <a:pPr indent="0" lvl="0" marL="0" rtl="0" algn="l">
              <a:spcBef>
                <a:spcPts val="1000"/>
              </a:spcBef>
              <a:spcAft>
                <a:spcPts val="0"/>
              </a:spcAft>
              <a:buSzPts val="1440"/>
              <a:buNone/>
            </a:pPr>
            <a:r>
              <a:rPr lang="en-US"/>
              <a:t>  for(i=0;i&lt;s;i++)</a:t>
            </a:r>
            <a:endParaRPr/>
          </a:p>
          <a:p>
            <a:pPr indent="0" lvl="0" marL="0" rtl="0" algn="l">
              <a:spcBef>
                <a:spcPts val="1000"/>
              </a:spcBef>
              <a:spcAft>
                <a:spcPts val="0"/>
              </a:spcAft>
              <a:buSzPts val="1440"/>
              <a:buNone/>
            </a:pPr>
            <a:r>
              <a:rPr lang="en-US"/>
              <a:t>      scanf("%d",&amp;a[i]);</a:t>
            </a:r>
            <a:endParaRPr/>
          </a:p>
          <a:p>
            <a:pPr indent="0" lvl="0" marL="0" rtl="0" algn="l">
              <a:spcBef>
                <a:spcPts val="1000"/>
              </a:spcBef>
              <a:spcAft>
                <a:spcPts val="0"/>
              </a:spcAft>
              <a:buSzPts val="1440"/>
              <a:buNone/>
            </a:pPr>
            <a:r>
              <a:rPr lang="en-US"/>
              <a:t>//Bubble sorting algorithm</a:t>
            </a:r>
            <a:endParaRPr/>
          </a:p>
          <a:p>
            <a:pPr indent="0" lvl="0" marL="0" rtl="0" algn="l">
              <a:spcBef>
                <a:spcPts val="1000"/>
              </a:spcBef>
              <a:spcAft>
                <a:spcPts val="0"/>
              </a:spcAft>
              <a:buSzPts val="1440"/>
              <a:buNone/>
            </a:pPr>
            <a:r>
              <a:rPr lang="en-US"/>
              <a:t>  for(i=s-2;i&gt;=0;i--){</a:t>
            </a:r>
            <a:endParaRPr/>
          </a:p>
          <a:p>
            <a:pPr indent="0" lvl="0" marL="0" rtl="0" algn="l">
              <a:spcBef>
                <a:spcPts val="1000"/>
              </a:spcBef>
              <a:spcAft>
                <a:spcPts val="0"/>
              </a:spcAft>
              <a:buSzPts val="1440"/>
              <a:buNone/>
            </a:pPr>
            <a:r>
              <a:rPr lang="en-US"/>
              <a:t>      for(j=0;j&lt;=I ; j++){</a:t>
            </a:r>
            <a:endParaRPr/>
          </a:p>
          <a:p>
            <a:pPr indent="0" lvl="0" marL="0" rtl="0" algn="l">
              <a:spcBef>
                <a:spcPts val="1000"/>
              </a:spcBef>
              <a:spcAft>
                <a:spcPts val="0"/>
              </a:spcAft>
              <a:buSzPts val="1440"/>
              <a:buNone/>
            </a:pPr>
            <a:r>
              <a:rPr lang="en-US"/>
              <a:t>           if(a[ j ]&gt;a[ j+1]){</a:t>
            </a:r>
            <a:endParaRPr/>
          </a:p>
          <a:p>
            <a:pPr indent="0" lvl="0" marL="0" rtl="0" algn="l">
              <a:spcBef>
                <a:spcPts val="1000"/>
              </a:spcBef>
              <a:spcAft>
                <a:spcPts val="0"/>
              </a:spcAft>
              <a:buSzPts val="1440"/>
              <a:buNone/>
            </a:pPr>
            <a:r>
              <a:t/>
            </a:r>
            <a:endParaRPr/>
          </a:p>
        </p:txBody>
      </p:sp>
      <p:sp>
        <p:nvSpPr>
          <p:cNvPr id="275" name="Google Shape;275;p21"/>
          <p:cNvSpPr txBox="1"/>
          <p:nvPr>
            <p:ph idx="2" type="body"/>
          </p:nvPr>
        </p:nvSpPr>
        <p:spPr>
          <a:xfrm>
            <a:off x="5991367" y="2056092"/>
            <a:ext cx="6018663" cy="4631311"/>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440"/>
              <a:buNone/>
            </a:pPr>
            <a:r>
              <a:rPr lang="en-US"/>
              <a:t>temp=a[  j ];</a:t>
            </a:r>
            <a:endParaRPr/>
          </a:p>
          <a:p>
            <a:pPr indent="0" lvl="0" marL="0" rtl="0" algn="l">
              <a:spcBef>
                <a:spcPts val="1000"/>
              </a:spcBef>
              <a:spcAft>
                <a:spcPts val="0"/>
              </a:spcAft>
              <a:buSzPts val="1440"/>
              <a:buNone/>
            </a:pPr>
            <a:r>
              <a:rPr lang="en-US"/>
              <a:t>              a[  j ]=a[  j+1];</a:t>
            </a:r>
            <a:endParaRPr/>
          </a:p>
          <a:p>
            <a:pPr indent="0" lvl="0" marL="0" rtl="0" algn="l">
              <a:spcBef>
                <a:spcPts val="1000"/>
              </a:spcBef>
              <a:spcAft>
                <a:spcPts val="0"/>
              </a:spcAft>
              <a:buSzPts val="1440"/>
              <a:buNone/>
            </a:pPr>
            <a:r>
              <a:rPr lang="en-US"/>
              <a:t>              a[  j+1]=temp;</a:t>
            </a:r>
            <a:endParaRPr/>
          </a:p>
          <a:p>
            <a:pPr indent="0" lvl="0" marL="0" rtl="0" algn="l">
              <a:spcBef>
                <a:spcPts val="1000"/>
              </a:spcBef>
              <a:spcAft>
                <a:spcPts val="0"/>
              </a:spcAft>
              <a:buSzPts val="1440"/>
              <a:buNone/>
            </a:pPr>
            <a:r>
              <a:rPr lang="en-US"/>
              <a:t>           }</a:t>
            </a:r>
            <a:endParaRPr/>
          </a:p>
          <a:p>
            <a:pPr indent="0" lvl="0" marL="0" rtl="0" algn="l">
              <a:spcBef>
                <a:spcPts val="1000"/>
              </a:spcBef>
              <a:spcAft>
                <a:spcPts val="0"/>
              </a:spcAft>
              <a:buSzPts val="1440"/>
              <a:buNone/>
            </a:pPr>
            <a:r>
              <a:rPr lang="en-US"/>
              <a:t>      }</a:t>
            </a:r>
            <a:endParaRPr/>
          </a:p>
          <a:p>
            <a:pPr indent="0" lvl="0" marL="0" rtl="0" algn="l">
              <a:spcBef>
                <a:spcPts val="1000"/>
              </a:spcBef>
              <a:spcAft>
                <a:spcPts val="0"/>
              </a:spcAft>
              <a:buSzPts val="1440"/>
              <a:buNone/>
            </a:pPr>
            <a:r>
              <a:rPr lang="en-US"/>
              <a:t>  }</a:t>
            </a:r>
            <a:endParaRPr/>
          </a:p>
          <a:p>
            <a:pPr indent="0" lvl="0" marL="0" rtl="0" algn="l">
              <a:spcBef>
                <a:spcPts val="1000"/>
              </a:spcBef>
              <a:spcAft>
                <a:spcPts val="0"/>
              </a:spcAft>
              <a:buSzPts val="1440"/>
              <a:buNone/>
            </a:pPr>
            <a:r>
              <a:rPr lang="en-US"/>
              <a:t>printf("After sorting: ");</a:t>
            </a:r>
            <a:endParaRPr/>
          </a:p>
          <a:p>
            <a:pPr indent="0" lvl="0" marL="0" rtl="0" algn="l">
              <a:spcBef>
                <a:spcPts val="1000"/>
              </a:spcBef>
              <a:spcAft>
                <a:spcPts val="0"/>
              </a:spcAft>
              <a:buSzPts val="1440"/>
              <a:buNone/>
            </a:pPr>
            <a:r>
              <a:rPr lang="en-US"/>
              <a:t>  for(i=0;i&lt;s;i++)</a:t>
            </a:r>
            <a:endParaRPr/>
          </a:p>
          <a:p>
            <a:pPr indent="0" lvl="0" marL="0" rtl="0" algn="l">
              <a:spcBef>
                <a:spcPts val="1000"/>
              </a:spcBef>
              <a:spcAft>
                <a:spcPts val="0"/>
              </a:spcAft>
              <a:buSzPts val="1440"/>
              <a:buNone/>
            </a:pPr>
            <a:r>
              <a:rPr lang="en-US"/>
              <a:t>      printf(" %d",a[i]);</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return 0;</a:t>
            </a:r>
            <a:endParaRPr/>
          </a:p>
          <a:p>
            <a:pPr indent="0" lvl="0" marL="0" rtl="0" algn="l">
              <a:spcBef>
                <a:spcPts val="1000"/>
              </a:spcBef>
              <a:spcAft>
                <a:spcPts val="0"/>
              </a:spcAft>
              <a:buSzPts val="1440"/>
              <a:buNone/>
            </a:pPr>
            <a:r>
              <a:rPr lang="en-U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Output:</a:t>
            </a:r>
            <a:br>
              <a:rPr lang="en-US"/>
            </a:br>
            <a:endParaRPr/>
          </a:p>
        </p:txBody>
      </p:sp>
      <p:sp>
        <p:nvSpPr>
          <p:cNvPr id="281" name="Google Shape;281;p22"/>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Enter total numbers of elements: 5</a:t>
            </a:r>
            <a:endParaRPr/>
          </a:p>
          <a:p>
            <a:pPr indent="0" lvl="0" marL="0" rtl="0" algn="l">
              <a:spcBef>
                <a:spcPts val="1000"/>
              </a:spcBef>
              <a:spcAft>
                <a:spcPts val="0"/>
              </a:spcAft>
              <a:buSzPts val="1600"/>
              <a:buNone/>
            </a:pPr>
            <a:r>
              <a:rPr lang="en-US"/>
              <a:t>Enter 5 elements: 6 2 0 11 9</a:t>
            </a:r>
            <a:endParaRPr/>
          </a:p>
          <a:p>
            <a:pPr indent="0" lvl="0" marL="0" rtl="0" algn="l">
              <a:spcBef>
                <a:spcPts val="1000"/>
              </a:spcBef>
              <a:spcAft>
                <a:spcPts val="0"/>
              </a:spcAft>
              <a:buSzPts val="1600"/>
              <a:buNone/>
            </a:pPr>
            <a:r>
              <a:rPr lang="en-US"/>
              <a:t>After sorting:  0 2 6 9 11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Multidimensional array</a:t>
            </a:r>
            <a:endParaRPr/>
          </a:p>
        </p:txBody>
      </p:sp>
      <p:sp>
        <p:nvSpPr>
          <p:cNvPr id="287" name="Google Shape;287;p23"/>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C programming language allows multidimensional arrays. </a:t>
            </a:r>
            <a:endParaRPr/>
          </a:p>
          <a:p>
            <a:pPr indent="-342900" lvl="0" marL="342900" rtl="0" algn="l">
              <a:spcBef>
                <a:spcPts val="1000"/>
              </a:spcBef>
              <a:spcAft>
                <a:spcPts val="0"/>
              </a:spcAft>
              <a:buSzPts val="1600"/>
              <a:buChar char="►"/>
            </a:pPr>
            <a:r>
              <a:rPr lang="en-US"/>
              <a:t>Here is the general form of a multidimensional array declaration:</a:t>
            </a:r>
            <a:endParaRPr/>
          </a:p>
          <a:p>
            <a:pPr indent="-342900" lvl="0" marL="342900" rtl="0" algn="l">
              <a:spcBef>
                <a:spcPts val="1000"/>
              </a:spcBef>
              <a:spcAft>
                <a:spcPts val="0"/>
              </a:spcAft>
              <a:buSzPts val="1600"/>
              <a:buChar char="►"/>
            </a:pPr>
            <a:r>
              <a:rPr lang="en-US"/>
              <a:t>type name[size1][size2]...[sizeN];</a:t>
            </a:r>
            <a:endParaRPr/>
          </a:p>
          <a:p>
            <a:pPr indent="-342900" lvl="0" marL="342900" rtl="0" algn="l">
              <a:spcBef>
                <a:spcPts val="1000"/>
              </a:spcBef>
              <a:spcAft>
                <a:spcPts val="0"/>
              </a:spcAft>
              <a:buSzPts val="1600"/>
              <a:buChar char="►"/>
            </a:pPr>
            <a:r>
              <a:rPr lang="en-US"/>
              <a:t>For example, the following declaration creates a three dimensional  integer array:</a:t>
            </a:r>
            <a:endParaRPr/>
          </a:p>
          <a:p>
            <a:pPr indent="-342900" lvl="0" marL="342900" rtl="0" algn="l">
              <a:spcBef>
                <a:spcPts val="1000"/>
              </a:spcBef>
              <a:spcAft>
                <a:spcPts val="0"/>
              </a:spcAft>
              <a:buSzPts val="1600"/>
              <a:buChar char="►"/>
            </a:pPr>
            <a:r>
              <a:rPr lang="en-US"/>
              <a:t>int threedim[5][10][4];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Two-Dimensional Arrays:</a:t>
            </a:r>
            <a:endParaRPr/>
          </a:p>
        </p:txBody>
      </p:sp>
      <p:sp>
        <p:nvSpPr>
          <p:cNvPr id="293" name="Google Shape;293;p24"/>
          <p:cNvSpPr txBox="1"/>
          <p:nvPr>
            <p:ph idx="1" type="body"/>
          </p:nvPr>
        </p:nvSpPr>
        <p:spPr>
          <a:xfrm>
            <a:off x="1103312" y="2052918"/>
            <a:ext cx="8946541" cy="4470712"/>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SzPts val="1600"/>
              <a:buChar char="►"/>
            </a:pPr>
            <a:r>
              <a:rPr lang="en-US"/>
              <a:t>The simplest form of the multidimensional array is the two-dimensional array. </a:t>
            </a:r>
            <a:endParaRPr/>
          </a:p>
          <a:p>
            <a:pPr indent="-342900" lvl="0" marL="342900" rtl="0" algn="just">
              <a:spcBef>
                <a:spcPts val="1000"/>
              </a:spcBef>
              <a:spcAft>
                <a:spcPts val="0"/>
              </a:spcAft>
              <a:buSzPts val="1600"/>
              <a:buChar char="►"/>
            </a:pPr>
            <a:r>
              <a:rPr lang="en-US"/>
              <a:t>A two-dimensional array is, in essence, a list of one-dimensional arrays. </a:t>
            </a:r>
            <a:endParaRPr/>
          </a:p>
          <a:p>
            <a:pPr indent="-342900" lvl="0" marL="342900" rtl="0" algn="just">
              <a:spcBef>
                <a:spcPts val="1000"/>
              </a:spcBef>
              <a:spcAft>
                <a:spcPts val="0"/>
              </a:spcAft>
              <a:buSzPts val="1600"/>
              <a:buChar char="►"/>
            </a:pPr>
            <a:r>
              <a:rPr lang="en-US"/>
              <a:t>To declare a two-dimensional integer array of size x , y you would write something as follows:</a:t>
            </a:r>
            <a:endParaRPr/>
          </a:p>
          <a:p>
            <a:pPr indent="-342900" lvl="0" marL="342900" rtl="0" algn="just">
              <a:spcBef>
                <a:spcPts val="1000"/>
              </a:spcBef>
              <a:spcAft>
                <a:spcPts val="0"/>
              </a:spcAft>
              <a:buSzPts val="1600"/>
              <a:buChar char="►"/>
            </a:pPr>
            <a:r>
              <a:rPr lang="en-US"/>
              <a:t>type arrayName [ x ][ y ];</a:t>
            </a:r>
            <a:endParaRPr/>
          </a:p>
          <a:p>
            <a:pPr indent="-342900" lvl="0" marL="342900" rtl="0" algn="just">
              <a:spcBef>
                <a:spcPts val="1000"/>
              </a:spcBef>
              <a:spcAft>
                <a:spcPts val="0"/>
              </a:spcAft>
              <a:buSzPts val="1600"/>
              <a:buChar char="►"/>
            </a:pPr>
            <a:r>
              <a:rPr lang="en-US"/>
              <a:t>Where type can be any valid C data type and arrayName will be a valid C identifier. </a:t>
            </a:r>
            <a:endParaRPr/>
          </a:p>
          <a:p>
            <a:pPr indent="-342900" lvl="0" marL="342900" rtl="0" algn="just">
              <a:spcBef>
                <a:spcPts val="1000"/>
              </a:spcBef>
              <a:spcAft>
                <a:spcPts val="0"/>
              </a:spcAft>
              <a:buSzPts val="1600"/>
              <a:buChar char="►"/>
            </a:pPr>
            <a:r>
              <a:rPr lang="en-US"/>
              <a:t>A two-dimensional array can be think as a table which will have x number of rows and y number of columns.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txBox="1"/>
          <p:nvPr>
            <p:ph idx="1" type="body"/>
          </p:nvPr>
        </p:nvSpPr>
        <p:spPr>
          <a:xfrm>
            <a:off x="1103312" y="518616"/>
            <a:ext cx="8946541" cy="572978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A 2-dimensional array </a:t>
            </a:r>
            <a:r>
              <a:rPr b="1" lang="en-US"/>
              <a:t>a</a:t>
            </a:r>
            <a:r>
              <a:rPr lang="en-US"/>
              <a:t>, which contains three rows and four columns can be shown as below:</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a:p>
            <a:pPr indent="-241300" lvl="0" marL="342900" rtl="0" algn="l">
              <a:spcBef>
                <a:spcPts val="1000"/>
              </a:spcBef>
              <a:spcAft>
                <a:spcPts val="0"/>
              </a:spcAft>
              <a:buSzPts val="1600"/>
              <a:buNone/>
            </a:pPr>
            <a:r>
              <a:t/>
            </a:r>
            <a:endParaRPr/>
          </a:p>
          <a:p>
            <a:pPr indent="-342900" lvl="0" marL="342900" rtl="0" algn="l">
              <a:spcBef>
                <a:spcPts val="1000"/>
              </a:spcBef>
              <a:spcAft>
                <a:spcPts val="0"/>
              </a:spcAft>
              <a:buSzPts val="1600"/>
              <a:buChar char="►"/>
            </a:pPr>
            <a:r>
              <a:rPr lang="en-US"/>
              <a:t>Thus, every element in array a is identified by an element name of the form </a:t>
            </a:r>
            <a:r>
              <a:rPr b="1" lang="en-US"/>
              <a:t>a[ i ][ j ]</a:t>
            </a:r>
            <a:r>
              <a:rPr lang="en-US"/>
              <a:t>, where a is the name of the array, and i and j are the subscripts that uniquely identify each element in a.</a:t>
            </a:r>
            <a:endParaRPr/>
          </a:p>
          <a:p>
            <a:pPr indent="0" lvl="0" marL="0" rtl="0" algn="l">
              <a:spcBef>
                <a:spcPts val="1000"/>
              </a:spcBef>
              <a:spcAft>
                <a:spcPts val="0"/>
              </a:spcAft>
              <a:buSzPts val="1600"/>
              <a:buNone/>
            </a:pPr>
            <a:r>
              <a:t/>
            </a:r>
            <a:endParaRPr/>
          </a:p>
        </p:txBody>
      </p:sp>
      <p:pic>
        <p:nvPicPr>
          <p:cNvPr id="299" name="Google Shape;299;p25"/>
          <p:cNvPicPr preferRelativeResize="0"/>
          <p:nvPr/>
        </p:nvPicPr>
        <p:blipFill rotWithShape="1">
          <a:blip r:embed="rId3">
            <a:alphaModFix/>
          </a:blip>
          <a:srcRect b="0" l="0" r="0" t="0"/>
          <a:stretch/>
        </p:blipFill>
        <p:spPr>
          <a:xfrm>
            <a:off x="1391519" y="1419367"/>
            <a:ext cx="8835203" cy="31389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6"/>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Initializing Two-Dimensional Arrays:</a:t>
            </a:r>
            <a:br>
              <a:rPr lang="en-US"/>
            </a:br>
            <a:endParaRPr/>
          </a:p>
        </p:txBody>
      </p:sp>
      <p:sp>
        <p:nvSpPr>
          <p:cNvPr id="305" name="Google Shape;305;p26"/>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600"/>
              <a:buChar char="►"/>
            </a:pPr>
            <a:r>
              <a:rPr lang="en-US"/>
              <a:t>Multidimensional arrays may be initialized by specifying bracketed values for each row. Following is an array with 3 rows and each row has 4 columns.</a:t>
            </a:r>
            <a:endParaRPr/>
          </a:p>
          <a:p>
            <a:pPr indent="-342900" lvl="0" marL="342900" rtl="0" algn="l">
              <a:spcBef>
                <a:spcPts val="1000"/>
              </a:spcBef>
              <a:spcAft>
                <a:spcPts val="0"/>
              </a:spcAft>
              <a:buSzPts val="1600"/>
              <a:buChar char="►"/>
            </a:pPr>
            <a:r>
              <a:rPr lang="en-US"/>
              <a:t>int a[3][4] = {  </a:t>
            </a:r>
            <a:endParaRPr/>
          </a:p>
          <a:p>
            <a:pPr indent="0" lvl="0" marL="0" rtl="0" algn="l">
              <a:spcBef>
                <a:spcPts val="1000"/>
              </a:spcBef>
              <a:spcAft>
                <a:spcPts val="0"/>
              </a:spcAft>
              <a:buSzPts val="1600"/>
              <a:buNone/>
            </a:pPr>
            <a:r>
              <a:rPr lang="en-US"/>
              <a:t>	 {0, 1, 2, 3} ,   /*  initializers for row indexed by 0 */</a:t>
            </a:r>
            <a:endParaRPr/>
          </a:p>
          <a:p>
            <a:pPr indent="0" lvl="0" marL="0" rtl="0" algn="l">
              <a:spcBef>
                <a:spcPts val="1000"/>
              </a:spcBef>
              <a:spcAft>
                <a:spcPts val="0"/>
              </a:spcAft>
              <a:buSzPts val="1600"/>
              <a:buNone/>
            </a:pPr>
            <a:r>
              <a:rPr lang="en-US"/>
              <a:t>	 {4, 5, 6, 7} ,   /*  initializers for row indexed by 1 */</a:t>
            </a:r>
            <a:endParaRPr/>
          </a:p>
          <a:p>
            <a:pPr indent="0" lvl="0" marL="0" rtl="0" algn="l">
              <a:spcBef>
                <a:spcPts val="1000"/>
              </a:spcBef>
              <a:spcAft>
                <a:spcPts val="0"/>
              </a:spcAft>
              <a:buSzPts val="1600"/>
              <a:buNone/>
            </a:pPr>
            <a:r>
              <a:rPr lang="en-US"/>
              <a:t>	 {8, 9, 10, 11}   /*  initializers for row indexed by 2 */</a:t>
            </a:r>
            <a:endParaRPr/>
          </a:p>
          <a:p>
            <a:pPr indent="0" lvl="0" marL="0" rtl="0" algn="l">
              <a:spcBef>
                <a:spcPts val="1000"/>
              </a:spcBef>
              <a:spcAft>
                <a:spcPts val="0"/>
              </a:spcAft>
              <a:buSzPts val="1600"/>
              <a:buNone/>
            </a:pPr>
            <a:r>
              <a:rPr lang="en-US"/>
              <a:t>	};</a:t>
            </a:r>
            <a:endParaRPr/>
          </a:p>
          <a:p>
            <a:pPr indent="-342900" lvl="0" marL="342900" rtl="0" algn="l">
              <a:spcBef>
                <a:spcPts val="1000"/>
              </a:spcBef>
              <a:spcAft>
                <a:spcPts val="0"/>
              </a:spcAft>
              <a:buSzPts val="1600"/>
              <a:buChar char="►"/>
            </a:pPr>
            <a:r>
              <a:rPr lang="en-US"/>
              <a:t>The nested braces, which indicate the intended row, are optional. The following initialization is equivalent to previous example:</a:t>
            </a:r>
            <a:endParaRPr/>
          </a:p>
          <a:p>
            <a:pPr indent="-342900" lvl="0" marL="342900" rtl="0" algn="l">
              <a:spcBef>
                <a:spcPts val="1000"/>
              </a:spcBef>
              <a:spcAft>
                <a:spcPts val="0"/>
              </a:spcAft>
              <a:buSzPts val="1600"/>
              <a:buChar char="►"/>
            </a:pPr>
            <a:r>
              <a:rPr lang="en-US"/>
              <a:t>int a[3][4] = {0,1,2,3,4,5,6,7,8,9,10,11};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Accessing Two-Dimensional Array Elements:</a:t>
            </a:r>
            <a:br>
              <a:rPr b="1" lang="en-US"/>
            </a:br>
            <a:endParaRPr/>
          </a:p>
        </p:txBody>
      </p:sp>
      <p:sp>
        <p:nvSpPr>
          <p:cNvPr id="311" name="Google Shape;311;p27"/>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An element in 2-dimensional array is accessed by using the subscripts, i.e., row index and column index of the array.</a:t>
            </a:r>
            <a:endParaRPr/>
          </a:p>
          <a:p>
            <a:pPr indent="-342900" lvl="0" marL="342900" rtl="0" algn="l">
              <a:spcBef>
                <a:spcPts val="1000"/>
              </a:spcBef>
              <a:spcAft>
                <a:spcPts val="0"/>
              </a:spcAft>
              <a:buSzPts val="1600"/>
              <a:buChar char="►"/>
            </a:pPr>
            <a:r>
              <a:rPr lang="en-US"/>
              <a:t>For example:</a:t>
            </a:r>
            <a:endParaRPr/>
          </a:p>
          <a:p>
            <a:pPr indent="-342900" lvl="0" marL="342900" rtl="0" algn="l">
              <a:spcBef>
                <a:spcPts val="1000"/>
              </a:spcBef>
              <a:spcAft>
                <a:spcPts val="0"/>
              </a:spcAft>
              <a:buSzPts val="1600"/>
              <a:buChar char="►"/>
            </a:pPr>
            <a:r>
              <a:rPr lang="en-US"/>
              <a:t>int val = a[2][3];</a:t>
            </a:r>
            <a:endParaRPr/>
          </a:p>
          <a:p>
            <a:pPr indent="-342900" lvl="0" marL="342900" rtl="0" algn="l">
              <a:spcBef>
                <a:spcPts val="1000"/>
              </a:spcBef>
              <a:spcAft>
                <a:spcPts val="0"/>
              </a:spcAft>
              <a:buSzPts val="1600"/>
              <a:buChar char="►"/>
            </a:pPr>
            <a:r>
              <a:rPr lang="en-US"/>
              <a:t>The above statement will take 4th element from the 3rd row of the array. </a:t>
            </a:r>
            <a:endParaRPr/>
          </a:p>
          <a:p>
            <a:pPr indent="-342900" lvl="0" marL="342900" rtl="0" algn="l">
              <a:spcBef>
                <a:spcPts val="1000"/>
              </a:spcBef>
              <a:spcAft>
                <a:spcPts val="0"/>
              </a:spcAft>
              <a:buSzPts val="1600"/>
              <a:buChar char="►"/>
            </a:pPr>
            <a:r>
              <a:rPr lang="en-US"/>
              <a:t>You can verify it in the above diagram. </a:t>
            </a:r>
            <a:endParaRPr/>
          </a:p>
          <a:p>
            <a:pPr indent="-342900" lvl="0" marL="342900" rtl="0" algn="l">
              <a:spcBef>
                <a:spcPts val="1000"/>
              </a:spcBef>
              <a:spcAft>
                <a:spcPts val="0"/>
              </a:spcAft>
              <a:buSzPts val="1600"/>
              <a:buChar char="►"/>
            </a:pPr>
            <a:r>
              <a:rPr lang="en-US"/>
              <a:t>Let us check below program where we have used nested loop to handle a two dimensional array: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8"/>
          <p:cNvSpPr txBox="1"/>
          <p:nvPr>
            <p:ph idx="1" type="body"/>
          </p:nvPr>
        </p:nvSpPr>
        <p:spPr>
          <a:xfrm>
            <a:off x="1103312" y="379828"/>
            <a:ext cx="8946541" cy="627419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80000"/>
              <a:buNone/>
            </a:pPr>
            <a:r>
              <a:rPr lang="en-US"/>
              <a:t>#include &lt;stdio.h&gt;</a:t>
            </a:r>
            <a:endParaRPr/>
          </a:p>
          <a:p>
            <a:pPr indent="0" lvl="0" marL="0" rtl="0" algn="l">
              <a:spcBef>
                <a:spcPts val="1000"/>
              </a:spcBef>
              <a:spcAft>
                <a:spcPts val="0"/>
              </a:spcAft>
              <a:buSzPct val="80000"/>
              <a:buNone/>
            </a:pPr>
            <a:r>
              <a:rPr lang="en-US"/>
              <a:t> </a:t>
            </a:r>
            <a:endParaRPr/>
          </a:p>
          <a:p>
            <a:pPr indent="0" lvl="0" marL="0" rtl="0" algn="l">
              <a:spcBef>
                <a:spcPts val="1000"/>
              </a:spcBef>
              <a:spcAft>
                <a:spcPts val="0"/>
              </a:spcAft>
              <a:buSzPct val="80000"/>
              <a:buNone/>
            </a:pPr>
            <a:r>
              <a:rPr lang="en-US"/>
              <a:t>int main ()</a:t>
            </a:r>
            <a:endParaRPr/>
          </a:p>
          <a:p>
            <a:pPr indent="0" lvl="0" marL="0" rtl="0" algn="l">
              <a:spcBef>
                <a:spcPts val="1000"/>
              </a:spcBef>
              <a:spcAft>
                <a:spcPts val="0"/>
              </a:spcAft>
              <a:buSzPct val="80000"/>
              <a:buNone/>
            </a:pPr>
            <a:r>
              <a:rPr lang="en-US"/>
              <a:t>{</a:t>
            </a:r>
            <a:endParaRPr/>
          </a:p>
          <a:p>
            <a:pPr indent="0" lvl="0" marL="0" rtl="0" algn="l">
              <a:spcBef>
                <a:spcPts val="1000"/>
              </a:spcBef>
              <a:spcAft>
                <a:spcPts val="0"/>
              </a:spcAft>
              <a:buSzPct val="80000"/>
              <a:buNone/>
            </a:pPr>
            <a:r>
              <a:rPr lang="en-US"/>
              <a:t>   /* an array with 5 rows and 2 columns*/</a:t>
            </a:r>
            <a:endParaRPr/>
          </a:p>
          <a:p>
            <a:pPr indent="0" lvl="0" marL="0" rtl="0" algn="l">
              <a:spcBef>
                <a:spcPts val="1000"/>
              </a:spcBef>
              <a:spcAft>
                <a:spcPts val="0"/>
              </a:spcAft>
              <a:buSzPct val="80000"/>
              <a:buNone/>
            </a:pPr>
            <a:r>
              <a:rPr lang="en-US"/>
              <a:t>   int a[5][2] = { {0,0}, {1,2}, {2,4}, {3,6},{4,8}};</a:t>
            </a:r>
            <a:endParaRPr/>
          </a:p>
          <a:p>
            <a:pPr indent="0" lvl="0" marL="0" rtl="0" algn="l">
              <a:spcBef>
                <a:spcPts val="1000"/>
              </a:spcBef>
              <a:spcAft>
                <a:spcPts val="0"/>
              </a:spcAft>
              <a:buSzPct val="80000"/>
              <a:buNone/>
            </a:pPr>
            <a:r>
              <a:rPr lang="en-US"/>
              <a:t>   int i, j;</a:t>
            </a:r>
            <a:endParaRPr/>
          </a:p>
          <a:p>
            <a:pPr indent="0" lvl="0" marL="0" rtl="0" algn="l">
              <a:spcBef>
                <a:spcPts val="1000"/>
              </a:spcBef>
              <a:spcAft>
                <a:spcPts val="0"/>
              </a:spcAft>
              <a:buSzPct val="80000"/>
              <a:buNone/>
            </a:pPr>
            <a:r>
              <a:rPr lang="en-US"/>
              <a:t>   /* output each array element's value */</a:t>
            </a:r>
            <a:endParaRPr/>
          </a:p>
          <a:p>
            <a:pPr indent="0" lvl="0" marL="0" rtl="0" algn="l">
              <a:spcBef>
                <a:spcPts val="1000"/>
              </a:spcBef>
              <a:spcAft>
                <a:spcPts val="0"/>
              </a:spcAft>
              <a:buSzPct val="80000"/>
              <a:buNone/>
            </a:pPr>
            <a:r>
              <a:rPr lang="en-US"/>
              <a:t>   for ( i = 0; i &lt; 5; i++ )</a:t>
            </a:r>
            <a:endParaRPr/>
          </a:p>
          <a:p>
            <a:pPr indent="0" lvl="0" marL="0" rtl="0" algn="l">
              <a:spcBef>
                <a:spcPts val="1000"/>
              </a:spcBef>
              <a:spcAft>
                <a:spcPts val="0"/>
              </a:spcAft>
              <a:buSzPct val="80000"/>
              <a:buNone/>
            </a:pPr>
            <a:r>
              <a:rPr lang="en-US"/>
              <a:t>   {</a:t>
            </a:r>
            <a:endParaRPr/>
          </a:p>
          <a:p>
            <a:pPr indent="0" lvl="0" marL="0" rtl="0" algn="l">
              <a:spcBef>
                <a:spcPts val="1000"/>
              </a:spcBef>
              <a:spcAft>
                <a:spcPts val="0"/>
              </a:spcAft>
              <a:buSzPct val="80000"/>
              <a:buNone/>
            </a:pPr>
            <a:r>
              <a:rPr lang="en-US"/>
              <a:t>      for ( j = 0; j &lt; 2; j++ )</a:t>
            </a:r>
            <a:endParaRPr/>
          </a:p>
          <a:p>
            <a:pPr indent="0" lvl="0" marL="0" rtl="0" algn="l">
              <a:spcBef>
                <a:spcPts val="1000"/>
              </a:spcBef>
              <a:spcAft>
                <a:spcPts val="0"/>
              </a:spcAft>
              <a:buSzPct val="80000"/>
              <a:buNone/>
            </a:pPr>
            <a:r>
              <a:rPr lang="en-US"/>
              <a:t>      {</a:t>
            </a:r>
            <a:endParaRPr/>
          </a:p>
          <a:p>
            <a:pPr indent="0" lvl="0" marL="0" rtl="0" algn="l">
              <a:spcBef>
                <a:spcPts val="1000"/>
              </a:spcBef>
              <a:spcAft>
                <a:spcPts val="0"/>
              </a:spcAft>
              <a:buSzPct val="80000"/>
              <a:buNone/>
            </a:pPr>
            <a:r>
              <a:rPr lang="en-US"/>
              <a:t>         printf("a[%d][%d] = %d\n", i,j, a[i][j] );</a:t>
            </a:r>
            <a:endParaRPr/>
          </a:p>
          <a:p>
            <a:pPr indent="0" lvl="0" marL="0" rtl="0" algn="l">
              <a:spcBef>
                <a:spcPts val="1000"/>
              </a:spcBef>
              <a:spcAft>
                <a:spcPts val="0"/>
              </a:spcAft>
              <a:buSzPct val="80000"/>
              <a:buNone/>
            </a:pPr>
            <a:r>
              <a:rPr lang="en-US"/>
              <a:t>      }</a:t>
            </a:r>
            <a:endParaRPr/>
          </a:p>
          <a:p>
            <a:pPr indent="0" lvl="0" marL="0" rtl="0" algn="l">
              <a:spcBef>
                <a:spcPts val="1000"/>
              </a:spcBef>
              <a:spcAft>
                <a:spcPts val="0"/>
              </a:spcAft>
              <a:buSzPct val="80000"/>
              <a:buNone/>
            </a:pPr>
            <a:r>
              <a:rPr lang="en-US"/>
              <a:t>   }</a:t>
            </a:r>
            <a:endParaRPr/>
          </a:p>
          <a:p>
            <a:pPr indent="0" lvl="0" marL="0" rtl="0" algn="l">
              <a:spcBef>
                <a:spcPts val="1000"/>
              </a:spcBef>
              <a:spcAft>
                <a:spcPts val="0"/>
              </a:spcAft>
              <a:buSzPct val="80000"/>
              <a:buNone/>
            </a:pPr>
            <a:r>
              <a:rPr lang="en-US"/>
              <a:t>   return 0;</a:t>
            </a:r>
            <a:endParaRPr/>
          </a:p>
          <a:p>
            <a:pPr indent="0" lvl="0" marL="0" rtl="0" algn="l">
              <a:spcBef>
                <a:spcPts val="1000"/>
              </a:spcBef>
              <a:spcAft>
                <a:spcPts val="0"/>
              </a:spcAft>
              <a:buSzPct val="80000"/>
              <a:buNone/>
            </a:pPr>
            <a:r>
              <a:rPr lang="en-U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xEl>
                                              <p:pRg end="16" st="1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9"/>
          <p:cNvSpPr txBox="1"/>
          <p:nvPr>
            <p:ph idx="1" type="body"/>
          </p:nvPr>
        </p:nvSpPr>
        <p:spPr>
          <a:xfrm>
            <a:off x="1103312" y="655094"/>
            <a:ext cx="8946541" cy="559330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When the above code is compiled and executed, it produces the following result:</a:t>
            </a:r>
            <a:endParaRPr/>
          </a:p>
          <a:p>
            <a:pPr indent="0" lvl="0" marL="0" rtl="0" algn="l">
              <a:spcBef>
                <a:spcPts val="1000"/>
              </a:spcBef>
              <a:spcAft>
                <a:spcPts val="0"/>
              </a:spcAft>
              <a:buSzPts val="1600"/>
              <a:buNone/>
            </a:pPr>
            <a:r>
              <a:rPr lang="en-US"/>
              <a:t>a[0][0]: 0</a:t>
            </a:r>
            <a:endParaRPr/>
          </a:p>
          <a:p>
            <a:pPr indent="0" lvl="0" marL="0" rtl="0" algn="l">
              <a:spcBef>
                <a:spcPts val="1000"/>
              </a:spcBef>
              <a:spcAft>
                <a:spcPts val="0"/>
              </a:spcAft>
              <a:buSzPts val="1600"/>
              <a:buNone/>
            </a:pPr>
            <a:r>
              <a:rPr lang="en-US"/>
              <a:t>a[0][1]: 0</a:t>
            </a:r>
            <a:endParaRPr/>
          </a:p>
          <a:p>
            <a:pPr indent="0" lvl="0" marL="0" rtl="0" algn="l">
              <a:spcBef>
                <a:spcPts val="1000"/>
              </a:spcBef>
              <a:spcAft>
                <a:spcPts val="0"/>
              </a:spcAft>
              <a:buSzPts val="1600"/>
              <a:buNone/>
            </a:pPr>
            <a:r>
              <a:rPr lang="en-US"/>
              <a:t>a[1][0]: 1</a:t>
            </a:r>
            <a:endParaRPr/>
          </a:p>
          <a:p>
            <a:pPr indent="0" lvl="0" marL="0" rtl="0" algn="l">
              <a:spcBef>
                <a:spcPts val="1000"/>
              </a:spcBef>
              <a:spcAft>
                <a:spcPts val="0"/>
              </a:spcAft>
              <a:buSzPts val="1600"/>
              <a:buNone/>
            </a:pPr>
            <a:r>
              <a:rPr lang="en-US"/>
              <a:t>a[1][1]: 2</a:t>
            </a:r>
            <a:endParaRPr/>
          </a:p>
          <a:p>
            <a:pPr indent="0" lvl="0" marL="0" rtl="0" algn="l">
              <a:spcBef>
                <a:spcPts val="1000"/>
              </a:spcBef>
              <a:spcAft>
                <a:spcPts val="0"/>
              </a:spcAft>
              <a:buSzPts val="1600"/>
              <a:buNone/>
            </a:pPr>
            <a:r>
              <a:rPr lang="en-US"/>
              <a:t>a[2][0]: 2</a:t>
            </a:r>
            <a:endParaRPr/>
          </a:p>
          <a:p>
            <a:pPr indent="0" lvl="0" marL="0" rtl="0" algn="l">
              <a:spcBef>
                <a:spcPts val="1000"/>
              </a:spcBef>
              <a:spcAft>
                <a:spcPts val="0"/>
              </a:spcAft>
              <a:buSzPts val="1600"/>
              <a:buNone/>
            </a:pPr>
            <a:r>
              <a:rPr lang="en-US"/>
              <a:t>a[2][1]: 4</a:t>
            </a:r>
            <a:endParaRPr/>
          </a:p>
          <a:p>
            <a:pPr indent="0" lvl="0" marL="0" rtl="0" algn="l">
              <a:spcBef>
                <a:spcPts val="1000"/>
              </a:spcBef>
              <a:spcAft>
                <a:spcPts val="0"/>
              </a:spcAft>
              <a:buSzPts val="1600"/>
              <a:buNone/>
            </a:pPr>
            <a:r>
              <a:rPr lang="en-US"/>
              <a:t>a[3][0]: 3</a:t>
            </a:r>
            <a:endParaRPr/>
          </a:p>
          <a:p>
            <a:pPr indent="0" lvl="0" marL="0" rtl="0" algn="l">
              <a:spcBef>
                <a:spcPts val="1000"/>
              </a:spcBef>
              <a:spcAft>
                <a:spcPts val="0"/>
              </a:spcAft>
              <a:buSzPts val="1600"/>
              <a:buNone/>
            </a:pPr>
            <a:r>
              <a:rPr lang="en-US"/>
              <a:t>a[3][1]: 6</a:t>
            </a:r>
            <a:endParaRPr/>
          </a:p>
          <a:p>
            <a:pPr indent="0" lvl="0" marL="0" rtl="0" algn="l">
              <a:spcBef>
                <a:spcPts val="1000"/>
              </a:spcBef>
              <a:spcAft>
                <a:spcPts val="0"/>
              </a:spcAft>
              <a:buSzPts val="1600"/>
              <a:buNone/>
            </a:pPr>
            <a:r>
              <a:rPr lang="en-US"/>
              <a:t>a[4][0]: 4</a:t>
            </a:r>
            <a:endParaRPr/>
          </a:p>
          <a:p>
            <a:pPr indent="0" lvl="0" marL="0" rtl="0" algn="l">
              <a:spcBef>
                <a:spcPts val="1000"/>
              </a:spcBef>
              <a:spcAft>
                <a:spcPts val="0"/>
              </a:spcAft>
              <a:buSzPts val="1600"/>
              <a:buNone/>
            </a:pPr>
            <a:r>
              <a:rPr lang="en-US"/>
              <a:t>a[4][1]: 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0"/>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Initialization of three-dimensional Array</a:t>
            </a:r>
            <a:endParaRPr/>
          </a:p>
        </p:txBody>
      </p:sp>
      <p:sp>
        <p:nvSpPr>
          <p:cNvPr id="327" name="Google Shape;327;p30"/>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double cprogram[3][2][4]={ </a:t>
            </a:r>
            <a:endParaRPr/>
          </a:p>
          <a:p>
            <a:pPr indent="0" lvl="0" marL="0" rtl="0" algn="l">
              <a:spcBef>
                <a:spcPts val="1000"/>
              </a:spcBef>
              <a:spcAft>
                <a:spcPts val="0"/>
              </a:spcAft>
              <a:buSzPts val="1600"/>
              <a:buNone/>
            </a:pPr>
            <a:r>
              <a:rPr lang="en-US"/>
              <a:t>{{-0.1, 0.22, 0.3, 4.3}, {2.3, 4.7, -0.9, 2}},</a:t>
            </a:r>
            <a:endParaRPr/>
          </a:p>
          <a:p>
            <a:pPr indent="0" lvl="0" marL="0" rtl="0" algn="l">
              <a:spcBef>
                <a:spcPts val="1000"/>
              </a:spcBef>
              <a:spcAft>
                <a:spcPts val="0"/>
              </a:spcAft>
              <a:buSzPts val="1600"/>
              <a:buNone/>
            </a:pPr>
            <a:r>
              <a:rPr lang="en-US"/>
              <a:t> {{0.9, 3.6, 4.5, 4}, {1.2, 2.4, 0.22, -1}},</a:t>
            </a:r>
            <a:endParaRPr/>
          </a:p>
          <a:p>
            <a:pPr indent="0" lvl="0" marL="0" rtl="0" algn="l">
              <a:spcBef>
                <a:spcPts val="1000"/>
              </a:spcBef>
              <a:spcAft>
                <a:spcPts val="0"/>
              </a:spcAft>
              <a:buSzPts val="1600"/>
              <a:buNone/>
            </a:pPr>
            <a:r>
              <a:rPr lang="en-US"/>
              <a:t> {{8.2, 3.12, 34.2, 0.1}, {2.1, 3.2, 4.3, -2.0}} </a:t>
            </a:r>
            <a:endParaRPr/>
          </a:p>
          <a:p>
            <a:pPr indent="0" lvl="0" marL="0" rtl="0" algn="l">
              <a:spcBef>
                <a:spcPts val="1000"/>
              </a:spcBef>
              <a:spcAft>
                <a:spcPts val="0"/>
              </a:spcAft>
              <a:buSzPts val="1600"/>
              <a:buNone/>
            </a:pPr>
            <a:r>
              <a:rPr lang="en-US"/>
              <a:t>};</a:t>
            </a:r>
            <a:endParaRPr/>
          </a:p>
          <a:p>
            <a:pPr indent="0" lvl="0" marL="0" rtl="0" algn="l">
              <a:spcBef>
                <a:spcPts val="1000"/>
              </a:spcBef>
              <a:spcAft>
                <a:spcPts val="0"/>
              </a:spcAft>
              <a:buSzPts val="1600"/>
              <a:buNone/>
            </a:pPr>
            <a:r>
              <a:t/>
            </a:r>
            <a:endParaRPr/>
          </a:p>
          <a:p>
            <a:pPr indent="0" lvl="0" marL="0" rtl="0" algn="l">
              <a:spcBef>
                <a:spcPts val="1000"/>
              </a:spcBef>
              <a:spcAft>
                <a:spcPts val="0"/>
              </a:spcAft>
              <a:buSzPts val="1600"/>
              <a:buNone/>
            </a:pPr>
            <a:r>
              <a:rPr lang="en-US"/>
              <a:t>Suppose there is a multidimensional array arr[i][j][k][m]. Then this array can hold i*j*k*m numbers of data.</a:t>
            </a:r>
            <a:endParaRPr/>
          </a:p>
          <a:p>
            <a:pPr indent="0" lvl="0" marL="0" rtl="0" algn="l">
              <a:spcBef>
                <a:spcPts val="1000"/>
              </a:spcBef>
              <a:spcAft>
                <a:spcPts val="0"/>
              </a:spcAft>
              <a:buSzPts val="1600"/>
              <a:buNone/>
            </a:pPr>
            <a:r>
              <a:rPr lang="en-US"/>
              <a:t>Similarly, the array of any dimension can be initialized in C programming.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1"/>
          <p:cNvSpPr txBox="1"/>
          <p:nvPr>
            <p:ph idx="1" type="body"/>
          </p:nvPr>
        </p:nvSpPr>
        <p:spPr>
          <a:xfrm>
            <a:off x="545910" y="259307"/>
            <a:ext cx="4953741" cy="645539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79999"/>
              <a:buNone/>
            </a:pPr>
            <a:r>
              <a:rPr lang="en-US"/>
              <a:t>#include &lt;stdio.h&gt;</a:t>
            </a:r>
            <a:endParaRPr/>
          </a:p>
          <a:p>
            <a:pPr indent="0" lvl="0" marL="0" rtl="0" algn="l">
              <a:spcBef>
                <a:spcPts val="1000"/>
              </a:spcBef>
              <a:spcAft>
                <a:spcPts val="0"/>
              </a:spcAft>
              <a:buSzPct val="79999"/>
              <a:buNone/>
            </a:pPr>
            <a:r>
              <a:rPr lang="en-US"/>
              <a:t>int main(){</a:t>
            </a:r>
            <a:endParaRPr/>
          </a:p>
          <a:p>
            <a:pPr indent="0" lvl="0" marL="0" rtl="0" algn="l">
              <a:spcBef>
                <a:spcPts val="1000"/>
              </a:spcBef>
              <a:spcAft>
                <a:spcPts val="0"/>
              </a:spcAft>
              <a:buSzPct val="79999"/>
              <a:buNone/>
            </a:pPr>
            <a:r>
              <a:rPr lang="en-US"/>
              <a:t>   float a[2][2], b[2][2], c[2][2];</a:t>
            </a:r>
            <a:endParaRPr/>
          </a:p>
          <a:p>
            <a:pPr indent="0" lvl="0" marL="0" rtl="0" algn="l">
              <a:spcBef>
                <a:spcPts val="1000"/>
              </a:spcBef>
              <a:spcAft>
                <a:spcPts val="0"/>
              </a:spcAft>
              <a:buSzPct val="79999"/>
              <a:buNone/>
            </a:pPr>
            <a:r>
              <a:rPr lang="en-US"/>
              <a:t>   int i,j;</a:t>
            </a:r>
            <a:endParaRPr/>
          </a:p>
          <a:p>
            <a:pPr indent="0" lvl="0" marL="0" rtl="0" algn="l">
              <a:spcBef>
                <a:spcPts val="1000"/>
              </a:spcBef>
              <a:spcAft>
                <a:spcPts val="0"/>
              </a:spcAft>
              <a:buSzPct val="79999"/>
              <a:buNone/>
            </a:pPr>
            <a:r>
              <a:rPr lang="en-US"/>
              <a:t>   printf("Enter the elements of 1st matrix\n");</a:t>
            </a:r>
            <a:endParaRPr/>
          </a:p>
          <a:p>
            <a:pPr indent="0" lvl="0" marL="0" rtl="0" algn="l">
              <a:spcBef>
                <a:spcPts val="1000"/>
              </a:spcBef>
              <a:spcAft>
                <a:spcPts val="0"/>
              </a:spcAft>
              <a:buSzPct val="79999"/>
              <a:buNone/>
            </a:pPr>
            <a:r>
              <a:rPr lang="en-US"/>
              <a:t>/* Reading two dimensional Array with the help of two for loop. If there was an array of 'n' dimension, 'n' numbers of loops are needed for inserting data to array.*/   </a:t>
            </a:r>
            <a:endParaRPr/>
          </a:p>
          <a:p>
            <a:pPr indent="0" lvl="0" marL="0" rtl="0" algn="l">
              <a:spcBef>
                <a:spcPts val="1000"/>
              </a:spcBef>
              <a:spcAft>
                <a:spcPts val="0"/>
              </a:spcAft>
              <a:buSzPct val="79999"/>
              <a:buNone/>
            </a:pPr>
            <a:r>
              <a:rPr lang="en-US"/>
              <a:t>   for(i=0;i&lt;2;++i)      </a:t>
            </a:r>
            <a:endParaRPr/>
          </a:p>
          <a:p>
            <a:pPr indent="0" lvl="0" marL="0" rtl="0" algn="l">
              <a:spcBef>
                <a:spcPts val="1000"/>
              </a:spcBef>
              <a:spcAft>
                <a:spcPts val="0"/>
              </a:spcAft>
              <a:buSzPct val="79999"/>
              <a:buNone/>
            </a:pPr>
            <a:r>
              <a:rPr lang="en-US"/>
              <a:t>       for(j=0;j&lt;2;++j){</a:t>
            </a:r>
            <a:endParaRPr/>
          </a:p>
          <a:p>
            <a:pPr indent="0" lvl="0" marL="0" rtl="0" algn="l">
              <a:spcBef>
                <a:spcPts val="1000"/>
              </a:spcBef>
              <a:spcAft>
                <a:spcPts val="0"/>
              </a:spcAft>
              <a:buSzPct val="79999"/>
              <a:buNone/>
            </a:pPr>
            <a:r>
              <a:rPr lang="en-US"/>
              <a:t>       printf("Enter a%d%d: ",i+1,j+1);</a:t>
            </a:r>
            <a:endParaRPr/>
          </a:p>
          <a:p>
            <a:pPr indent="0" lvl="0" marL="0" rtl="0" algn="l">
              <a:spcBef>
                <a:spcPts val="1000"/>
              </a:spcBef>
              <a:spcAft>
                <a:spcPts val="0"/>
              </a:spcAft>
              <a:buSzPct val="79999"/>
              <a:buNone/>
            </a:pPr>
            <a:r>
              <a:rPr lang="en-US"/>
              <a:t>       scanf("%f",&amp;a[i][j]);</a:t>
            </a:r>
            <a:endParaRPr/>
          </a:p>
          <a:p>
            <a:pPr indent="0" lvl="0" marL="0" rtl="0" algn="l">
              <a:spcBef>
                <a:spcPts val="1000"/>
              </a:spcBef>
              <a:spcAft>
                <a:spcPts val="0"/>
              </a:spcAft>
              <a:buSzPct val="79999"/>
              <a:buNone/>
            </a:pPr>
            <a:r>
              <a:rPr lang="en-US"/>
              <a:t>       }</a:t>
            </a:r>
            <a:endParaRPr/>
          </a:p>
          <a:p>
            <a:pPr indent="0" lvl="0" marL="0" rtl="0" algn="l">
              <a:spcBef>
                <a:spcPts val="1000"/>
              </a:spcBef>
              <a:spcAft>
                <a:spcPts val="0"/>
              </a:spcAft>
              <a:buSzPct val="79999"/>
              <a:buNone/>
            </a:pPr>
            <a:r>
              <a:rPr lang="en-US"/>
              <a:t>   printf("Enter the elements of 2nd matrix\n");</a:t>
            </a:r>
            <a:endParaRPr/>
          </a:p>
          <a:p>
            <a:pPr indent="0" lvl="0" marL="0" rtl="0" algn="l">
              <a:spcBef>
                <a:spcPts val="1000"/>
              </a:spcBef>
              <a:spcAft>
                <a:spcPts val="0"/>
              </a:spcAft>
              <a:buSzPct val="79999"/>
              <a:buNone/>
            </a:pPr>
            <a:r>
              <a:rPr lang="en-US"/>
              <a:t>   for(i=0;i&lt;2;++i)</a:t>
            </a:r>
            <a:endParaRPr/>
          </a:p>
          <a:p>
            <a:pPr indent="0" lvl="0" marL="0" rtl="0" algn="l">
              <a:spcBef>
                <a:spcPts val="1000"/>
              </a:spcBef>
              <a:spcAft>
                <a:spcPts val="0"/>
              </a:spcAft>
              <a:buSzPct val="79999"/>
              <a:buNone/>
            </a:pPr>
            <a:r>
              <a:rPr lang="en-US"/>
              <a:t>       for(j=0;j&lt;2;++j){</a:t>
            </a:r>
            <a:endParaRPr/>
          </a:p>
          <a:p>
            <a:pPr indent="0" lvl="0" marL="0" rtl="0" algn="l">
              <a:spcBef>
                <a:spcPts val="1000"/>
              </a:spcBef>
              <a:spcAft>
                <a:spcPts val="0"/>
              </a:spcAft>
              <a:buSzPct val="79999"/>
              <a:buNone/>
            </a:pPr>
            <a:r>
              <a:rPr lang="en-US"/>
              <a:t>       printf("Enter b%d%d: ",i+1,j+1);</a:t>
            </a:r>
            <a:endParaRPr/>
          </a:p>
          <a:p>
            <a:pPr indent="0" lvl="0" marL="0" rtl="0" algn="l">
              <a:spcBef>
                <a:spcPts val="1000"/>
              </a:spcBef>
              <a:spcAft>
                <a:spcPts val="0"/>
              </a:spcAft>
              <a:buSzPct val="79999"/>
              <a:buNone/>
            </a:pPr>
            <a:r>
              <a:rPr lang="en-US"/>
              <a:t>       scanf("%f",&amp;b[i][j]);</a:t>
            </a:r>
            <a:endParaRPr/>
          </a:p>
          <a:p>
            <a:pPr indent="0" lvl="0" marL="0" rtl="0" algn="l">
              <a:spcBef>
                <a:spcPts val="1000"/>
              </a:spcBef>
              <a:spcAft>
                <a:spcPts val="0"/>
              </a:spcAft>
              <a:buSzPct val="79999"/>
              <a:buNone/>
            </a:pPr>
            <a:r>
              <a:rPr lang="en-US"/>
              <a:t>       }</a:t>
            </a:r>
            <a:endParaRPr/>
          </a:p>
        </p:txBody>
      </p:sp>
      <p:sp>
        <p:nvSpPr>
          <p:cNvPr id="333" name="Google Shape;333;p31"/>
          <p:cNvSpPr txBox="1"/>
          <p:nvPr>
            <p:ph idx="2" type="body"/>
          </p:nvPr>
        </p:nvSpPr>
        <p:spPr>
          <a:xfrm>
            <a:off x="5654493" y="259307"/>
            <a:ext cx="5031704" cy="6455391"/>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79999"/>
              <a:buNone/>
            </a:pPr>
            <a:r>
              <a:rPr lang="en-US"/>
              <a:t> for(i=0;i&lt;2;++i)</a:t>
            </a:r>
            <a:endParaRPr/>
          </a:p>
          <a:p>
            <a:pPr indent="0" lvl="0" marL="0" rtl="0" algn="l">
              <a:spcBef>
                <a:spcPts val="1000"/>
              </a:spcBef>
              <a:spcAft>
                <a:spcPts val="0"/>
              </a:spcAft>
              <a:buSzPct val="79999"/>
              <a:buNone/>
            </a:pPr>
            <a:r>
              <a:rPr lang="en-US"/>
              <a:t>       for(j=0;j&lt;2;++j){</a:t>
            </a:r>
            <a:endParaRPr/>
          </a:p>
          <a:p>
            <a:pPr indent="0" lvl="0" marL="0" rtl="0" algn="l">
              <a:spcBef>
                <a:spcPts val="1000"/>
              </a:spcBef>
              <a:spcAft>
                <a:spcPts val="0"/>
              </a:spcAft>
              <a:buSzPct val="79999"/>
              <a:buNone/>
            </a:pPr>
            <a:r>
              <a:rPr lang="en-US"/>
              <a:t>/* Writing the elements of multidimensional array using loop. */</a:t>
            </a:r>
            <a:endParaRPr/>
          </a:p>
          <a:p>
            <a:pPr indent="0" lvl="0" marL="0" rtl="0" algn="l">
              <a:spcBef>
                <a:spcPts val="1000"/>
              </a:spcBef>
              <a:spcAft>
                <a:spcPts val="0"/>
              </a:spcAft>
              <a:buSzPct val="79999"/>
              <a:buNone/>
            </a:pPr>
            <a:r>
              <a:rPr lang="en-US"/>
              <a:t>       c[i][j]=a[i][j]+b[i][j];  /* Sum of corresponding elements of two arrays. */</a:t>
            </a:r>
            <a:endParaRPr/>
          </a:p>
          <a:p>
            <a:pPr indent="0" lvl="0" marL="0" rtl="0" algn="l">
              <a:spcBef>
                <a:spcPts val="1000"/>
              </a:spcBef>
              <a:spcAft>
                <a:spcPts val="0"/>
              </a:spcAft>
              <a:buSzPct val="79999"/>
              <a:buNone/>
            </a:pPr>
            <a:r>
              <a:rPr lang="en-US"/>
              <a:t>       }</a:t>
            </a:r>
            <a:endParaRPr/>
          </a:p>
          <a:p>
            <a:pPr indent="0" lvl="0" marL="0" rtl="0" algn="l">
              <a:spcBef>
                <a:spcPts val="1000"/>
              </a:spcBef>
              <a:spcAft>
                <a:spcPts val="0"/>
              </a:spcAft>
              <a:buSzPct val="79999"/>
              <a:buNone/>
            </a:pPr>
            <a:r>
              <a:rPr lang="en-US"/>
              <a:t>   printf("\nSum Of Matrix:");</a:t>
            </a:r>
            <a:endParaRPr/>
          </a:p>
          <a:p>
            <a:pPr indent="0" lvl="0" marL="0" rtl="0" algn="l">
              <a:spcBef>
                <a:spcPts val="1000"/>
              </a:spcBef>
              <a:spcAft>
                <a:spcPts val="0"/>
              </a:spcAft>
              <a:buSzPct val="79999"/>
              <a:buNone/>
            </a:pPr>
            <a:r>
              <a:rPr lang="en-US"/>
              <a:t>   for(i=0;i&lt;2;++i)</a:t>
            </a:r>
            <a:endParaRPr/>
          </a:p>
          <a:p>
            <a:pPr indent="0" lvl="0" marL="0" rtl="0" algn="l">
              <a:spcBef>
                <a:spcPts val="1000"/>
              </a:spcBef>
              <a:spcAft>
                <a:spcPts val="0"/>
              </a:spcAft>
              <a:buSzPct val="79999"/>
              <a:buNone/>
            </a:pPr>
            <a:r>
              <a:rPr lang="en-US"/>
              <a:t>       for(j=0;j&lt;2;++j){</a:t>
            </a:r>
            <a:endParaRPr/>
          </a:p>
          <a:p>
            <a:pPr indent="0" lvl="0" marL="0" rtl="0" algn="l">
              <a:spcBef>
                <a:spcPts val="1000"/>
              </a:spcBef>
              <a:spcAft>
                <a:spcPts val="0"/>
              </a:spcAft>
              <a:buSzPct val="79999"/>
              <a:buNone/>
            </a:pPr>
            <a:r>
              <a:rPr lang="en-US"/>
              <a:t>       printf("%.1f\t",c[i][j]);  </a:t>
            </a:r>
            <a:endParaRPr/>
          </a:p>
          <a:p>
            <a:pPr indent="0" lvl="0" marL="0" rtl="0" algn="l">
              <a:spcBef>
                <a:spcPts val="1000"/>
              </a:spcBef>
              <a:spcAft>
                <a:spcPts val="0"/>
              </a:spcAft>
              <a:buSzPct val="79999"/>
              <a:buNone/>
            </a:pPr>
            <a:r>
              <a:rPr lang="en-US"/>
              <a:t>           if(j==1)             /* To display matrix sum in order. */</a:t>
            </a:r>
            <a:endParaRPr/>
          </a:p>
          <a:p>
            <a:pPr indent="0" lvl="0" marL="0" rtl="0" algn="l">
              <a:spcBef>
                <a:spcPts val="1000"/>
              </a:spcBef>
              <a:spcAft>
                <a:spcPts val="0"/>
              </a:spcAft>
              <a:buSzPct val="79999"/>
              <a:buNone/>
            </a:pPr>
            <a:r>
              <a:rPr lang="en-US"/>
              <a:t>              printf("\n");</a:t>
            </a:r>
            <a:endParaRPr/>
          </a:p>
          <a:p>
            <a:pPr indent="0" lvl="0" marL="0" rtl="0" algn="l">
              <a:spcBef>
                <a:spcPts val="1000"/>
              </a:spcBef>
              <a:spcAft>
                <a:spcPts val="0"/>
              </a:spcAft>
              <a:buSzPct val="79999"/>
              <a:buNone/>
            </a:pPr>
            <a:r>
              <a:rPr lang="en-US"/>
              <a:t>      }</a:t>
            </a:r>
            <a:endParaRPr/>
          </a:p>
          <a:p>
            <a:pPr indent="0" lvl="0" marL="0" rtl="0" algn="l">
              <a:spcBef>
                <a:spcPts val="1000"/>
              </a:spcBef>
              <a:spcAft>
                <a:spcPts val="0"/>
              </a:spcAft>
              <a:buSzPct val="79999"/>
              <a:buNone/>
            </a:pPr>
            <a:r>
              <a:rPr lang="en-US"/>
              <a:t>return 0;</a:t>
            </a:r>
            <a:endParaRPr/>
          </a:p>
          <a:p>
            <a:pPr indent="0" lvl="0" marL="0" rtl="0" algn="l">
              <a:spcBef>
                <a:spcPts val="1000"/>
              </a:spcBef>
              <a:spcAft>
                <a:spcPts val="0"/>
              </a:spcAft>
              <a:buSzPct val="79999"/>
              <a:buNone/>
            </a:pPr>
            <a:r>
              <a:rPr lang="en-U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t/>
            </a:r>
            <a:endParaRPr/>
          </a:p>
        </p:txBody>
      </p:sp>
      <p:pic>
        <p:nvPicPr>
          <p:cNvPr id="339" name="Google Shape;339;p32"/>
          <p:cNvPicPr preferRelativeResize="0"/>
          <p:nvPr>
            <p:ph idx="1" type="body"/>
          </p:nvPr>
        </p:nvPicPr>
        <p:blipFill rotWithShape="1">
          <a:blip r:embed="rId3">
            <a:alphaModFix/>
          </a:blip>
          <a:srcRect b="0" l="0" r="0" t="0"/>
          <a:stretch/>
        </p:blipFill>
        <p:spPr>
          <a:xfrm>
            <a:off x="646111" y="2265529"/>
            <a:ext cx="9630653" cy="421715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2015-10-03T13:26:31Z</dcterms:created>
  <dc:creator>hp</dc:creator>
</cp:coreProperties>
</file>