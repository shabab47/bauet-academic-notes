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8"/>
  </p:notesMasterIdLst>
  <p:sldIdLst>
    <p:sldId id="257" r:id="rId2"/>
    <p:sldId id="283" r:id="rId3"/>
    <p:sldId id="284" r:id="rId4"/>
    <p:sldId id="285" r:id="rId5"/>
    <p:sldId id="286" r:id="rId6"/>
    <p:sldId id="287" r:id="rId7"/>
    <p:sldId id="288" r:id="rId8"/>
    <p:sldId id="289" r:id="rId9"/>
    <p:sldId id="290" r:id="rId10"/>
    <p:sldId id="291" r:id="rId11"/>
    <p:sldId id="292" r:id="rId12"/>
    <p:sldId id="293" r:id="rId13"/>
    <p:sldId id="294" r:id="rId14"/>
    <p:sldId id="296" r:id="rId15"/>
    <p:sldId id="297" r:id="rId16"/>
    <p:sldId id="295" r:id="rId17"/>
    <p:sldId id="299" r:id="rId18"/>
    <p:sldId id="298" r:id="rId19"/>
    <p:sldId id="300" r:id="rId20"/>
    <p:sldId id="317" r:id="rId21"/>
    <p:sldId id="301" r:id="rId22"/>
    <p:sldId id="302" r:id="rId23"/>
    <p:sldId id="304" r:id="rId24"/>
    <p:sldId id="305" r:id="rId25"/>
    <p:sldId id="306" r:id="rId26"/>
    <p:sldId id="307" r:id="rId27"/>
    <p:sldId id="308" r:id="rId28"/>
    <p:sldId id="309" r:id="rId29"/>
    <p:sldId id="310" r:id="rId30"/>
    <p:sldId id="311" r:id="rId31"/>
    <p:sldId id="312" r:id="rId32"/>
    <p:sldId id="313" r:id="rId33"/>
    <p:sldId id="314" r:id="rId34"/>
    <p:sldId id="315" r:id="rId35"/>
    <p:sldId id="316" r:id="rId36"/>
    <p:sldId id="318"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1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CF912E5-B82D-4538-82B4-7B2A4C770DE8}" type="datetimeFigureOut">
              <a:rPr lang="en-US" smtClean="0"/>
              <a:pPr/>
              <a:t>1/30/2025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96AF254-1143-47DF-A123-E6F725339EDC}" type="slidenum">
              <a:rPr lang="en-US" smtClean="0"/>
              <a:pPr/>
              <a:t>‹#›</a:t>
            </a:fld>
            <a:endParaRPr lang="en-US"/>
          </a:p>
        </p:txBody>
      </p:sp>
    </p:spTree>
    <p:extLst>
      <p:ext uri="{BB962C8B-B14F-4D97-AF65-F5344CB8AC3E}">
        <p14:creationId xmlns:p14="http://schemas.microsoft.com/office/powerpoint/2010/main" val="1269316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xfrm>
            <a:off x="1143000" y="685800"/>
            <a:ext cx="4572000" cy="34290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smtClean="0"/>
          </a:p>
        </p:txBody>
      </p:sp>
      <p:sp>
        <p:nvSpPr>
          <p:cNvPr id="614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39CD53E5-EDFD-4459-9E50-AD8B6677A16D}" type="slidenum">
              <a:rPr kumimoji="1" lang="en-US" smtClean="0">
                <a:latin typeface="Tahoma" pitchFamily="34" charset="0"/>
                <a:ea typeface="MS PGothic" pitchFamily="34" charset="-128"/>
              </a:rPr>
              <a:pPr fontAlgn="base">
                <a:spcBef>
                  <a:spcPct val="0"/>
                </a:spcBef>
                <a:spcAft>
                  <a:spcPct val="0"/>
                </a:spcAft>
                <a:defRPr/>
              </a:pPr>
              <a:t>1</a:t>
            </a:fld>
            <a:endParaRPr kumimoji="1" lang="en-US" dirty="0" smtClean="0">
              <a:latin typeface="Tahoma" pitchFamily="34" charset="0"/>
              <a:ea typeface="MS PGothic" pitchFamily="34" charset="-128"/>
            </a:endParaRPr>
          </a:p>
        </p:txBody>
      </p:sp>
    </p:spTree>
    <p:extLst>
      <p:ext uri="{BB962C8B-B14F-4D97-AF65-F5344CB8AC3E}">
        <p14:creationId xmlns:p14="http://schemas.microsoft.com/office/powerpoint/2010/main" val="333236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4348B6-536F-49BC-8A6E-E936BB7AE81B}"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3323306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4348B6-536F-49BC-8A6E-E936BB7AE81B}"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4031064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4348B6-536F-49BC-8A6E-E936BB7AE81B}"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22499096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4348B6-536F-49BC-8A6E-E936BB7AE81B}"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12027575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4348B6-536F-49BC-8A6E-E936BB7AE81B}" type="datetimeFigureOut">
              <a:rPr lang="en-US" smtClean="0"/>
              <a:pPr/>
              <a:t>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281061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4348B6-536F-49BC-8A6E-E936BB7AE81B}" type="datetimeFigureOut">
              <a:rPr lang="en-US" smtClean="0"/>
              <a:pPr/>
              <a:t>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12116651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4348B6-536F-49BC-8A6E-E936BB7AE81B}" type="datetimeFigureOut">
              <a:rPr lang="en-US" smtClean="0"/>
              <a:pPr/>
              <a:t>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411572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4348B6-536F-49BC-8A6E-E936BB7AE81B}"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250774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4348B6-536F-49BC-8A6E-E936BB7AE81B}" type="datetimeFigureOut">
              <a:rPr lang="en-US" smtClean="0"/>
              <a:pPr/>
              <a:t>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863361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4348B6-536F-49BC-8A6E-E936BB7AE81B}"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457711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4348B6-536F-49BC-8A6E-E936BB7AE81B}" type="datetimeFigureOut">
              <a:rPr lang="en-US" smtClean="0"/>
              <a:pPr/>
              <a:t>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193731D-9526-4EF2-B471-7EAEBA55BE3E}" type="slidenum">
              <a:rPr lang="en-US" smtClean="0"/>
              <a:pPr/>
              <a:t>‹#›</a:t>
            </a:fld>
            <a:endParaRPr lang="en-US"/>
          </a:p>
        </p:txBody>
      </p:sp>
    </p:spTree>
    <p:extLst>
      <p:ext uri="{BB962C8B-B14F-4D97-AF65-F5344CB8AC3E}">
        <p14:creationId xmlns:p14="http://schemas.microsoft.com/office/powerpoint/2010/main" val="2555641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9"/>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4348B6-536F-49BC-8A6E-E936BB7AE81B}" type="datetimeFigureOut">
              <a:rPr lang="en-US" smtClean="0"/>
              <a:pPr/>
              <a:t>1/30/2025</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93731D-9526-4EF2-B471-7EAEBA55BE3E}" type="slidenum">
              <a:rPr lang="en-US" smtClean="0"/>
              <a:pPr/>
              <a:t>‹#›</a:t>
            </a:fld>
            <a:endParaRPr lang="en-US"/>
          </a:p>
        </p:txBody>
      </p:sp>
    </p:spTree>
    <p:extLst>
      <p:ext uri="{BB962C8B-B14F-4D97-AF65-F5344CB8AC3E}">
        <p14:creationId xmlns:p14="http://schemas.microsoft.com/office/powerpoint/2010/main" val="1153296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11"/>
          <p:cNvSpPr>
            <a:spLocks noChangeArrowheads="1"/>
          </p:cNvSpPr>
          <p:nvPr/>
        </p:nvSpPr>
        <p:spPr bwMode="auto">
          <a:xfrm>
            <a:off x="381000" y="1371600"/>
            <a:ext cx="8305800" cy="3170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4000" b="1" dirty="0">
                <a:solidFill>
                  <a:srgbClr val="C00000"/>
                </a:solidFill>
                <a:latin typeface="Times New Roman" pitchFamily="18" charset="0"/>
                <a:cs typeface="Times New Roman" pitchFamily="18" charset="0"/>
              </a:rPr>
              <a:t>Welcome to the Lecture</a:t>
            </a:r>
          </a:p>
          <a:p>
            <a:pPr algn="ctr"/>
            <a:r>
              <a:rPr lang="en-US" sz="4000" b="1" dirty="0">
                <a:solidFill>
                  <a:srgbClr val="C00000"/>
                </a:solidFill>
                <a:latin typeface="Times New Roman" pitchFamily="18" charset="0"/>
                <a:cs typeface="Times New Roman" pitchFamily="18" charset="0"/>
              </a:rPr>
              <a:t> on </a:t>
            </a:r>
          </a:p>
          <a:p>
            <a:pPr algn="ctr"/>
            <a:r>
              <a:rPr lang="en-US" sz="4000" b="1" dirty="0" smtClean="0">
                <a:solidFill>
                  <a:srgbClr val="C00000"/>
                </a:solidFill>
                <a:latin typeface="Times New Roman" pitchFamily="18" charset="0"/>
                <a:cs typeface="Times New Roman" pitchFamily="18" charset="0"/>
              </a:rPr>
              <a:t>Basic Mechanical Engineering Drawing </a:t>
            </a:r>
          </a:p>
          <a:p>
            <a:pPr algn="ctr"/>
            <a:r>
              <a:rPr lang="en-US" sz="4000" b="1" dirty="0" smtClean="0">
                <a:solidFill>
                  <a:srgbClr val="C00000"/>
                </a:solidFill>
                <a:latin typeface="Times New Roman" pitchFamily="18" charset="0"/>
                <a:cs typeface="Times New Roman" pitchFamily="18" charset="0"/>
              </a:rPr>
              <a:t>(ME 1270)</a:t>
            </a:r>
            <a:endParaRPr lang="en-US" sz="4000" b="1" dirty="0">
              <a:solidFill>
                <a:srgbClr val="C00000"/>
              </a:solidFill>
              <a:latin typeface="Times New Roman" pitchFamily="18" charset="0"/>
              <a:cs typeface="Times New Roman" pitchFamily="18" charset="0"/>
            </a:endParaRPr>
          </a:p>
        </p:txBody>
      </p:sp>
      <p:sp>
        <p:nvSpPr>
          <p:cNvPr id="2053" name="Rectangle 5"/>
          <p:cNvSpPr>
            <a:spLocks noChangeArrowheads="1"/>
          </p:cNvSpPr>
          <p:nvPr/>
        </p:nvSpPr>
        <p:spPr bwMode="auto">
          <a:xfrm>
            <a:off x="3048000" y="4724400"/>
            <a:ext cx="57150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sz="2000" b="1" dirty="0" err="1" smtClean="0">
                <a:latin typeface="Times New Roman" pitchFamily="18" charset="0"/>
                <a:cs typeface="Times New Roman" pitchFamily="18" charset="0"/>
              </a:rPr>
              <a:t>Tashin</a:t>
            </a:r>
            <a:r>
              <a:rPr lang="en-US" sz="2000" b="1" dirty="0" smtClean="0">
                <a:latin typeface="Times New Roman" pitchFamily="18" charset="0"/>
                <a:cs typeface="Times New Roman" pitchFamily="18" charset="0"/>
              </a:rPr>
              <a:t> Ahmed </a:t>
            </a:r>
            <a:r>
              <a:rPr lang="en-US" sz="2000" b="1" dirty="0" err="1" smtClean="0">
                <a:latin typeface="Times New Roman" pitchFamily="18" charset="0"/>
                <a:cs typeface="Times New Roman" pitchFamily="18" charset="0"/>
              </a:rPr>
              <a:t>Apon</a:t>
            </a:r>
            <a:endParaRPr lang="en-US" sz="2000" b="1" dirty="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Lecturer (Full-Time Adjunct)</a:t>
            </a:r>
            <a:endParaRPr lang="en-US" sz="2000" dirty="0">
              <a:latin typeface="Times New Roman" pitchFamily="18" charset="0"/>
              <a:cs typeface="Times New Roman" pitchFamily="18" charset="0"/>
            </a:endParaRPr>
          </a:p>
          <a:p>
            <a:pPr algn="just"/>
            <a:r>
              <a:rPr lang="en-US" sz="2000" dirty="0">
                <a:latin typeface="Times New Roman" pitchFamily="18" charset="0"/>
                <a:cs typeface="Times New Roman" pitchFamily="18" charset="0"/>
              </a:rPr>
              <a:t>Department of Mechanical </a:t>
            </a:r>
            <a:r>
              <a:rPr lang="en-US" sz="2000" dirty="0" smtClean="0">
                <a:latin typeface="Times New Roman" pitchFamily="18" charset="0"/>
                <a:cs typeface="Times New Roman" pitchFamily="18" charset="0"/>
              </a:rPr>
              <a:t>Engineering</a:t>
            </a:r>
          </a:p>
          <a:p>
            <a:pPr algn="just"/>
            <a:r>
              <a:rPr lang="en-US" sz="2000" dirty="0" smtClean="0">
                <a:latin typeface="Times New Roman" pitchFamily="18" charset="0"/>
                <a:cs typeface="Times New Roman" pitchFamily="18" charset="0"/>
              </a:rPr>
              <a:t>Bangladesh Army </a:t>
            </a:r>
            <a:r>
              <a:rPr lang="en-US" sz="2000" dirty="0">
                <a:latin typeface="Times New Roman" pitchFamily="18" charset="0"/>
                <a:cs typeface="Times New Roman" pitchFamily="18" charset="0"/>
              </a:rPr>
              <a:t>University of Engineering &amp; Technology</a:t>
            </a:r>
          </a:p>
          <a:p>
            <a:pPr algn="just"/>
            <a:r>
              <a:rPr lang="en-US" sz="2000" dirty="0">
                <a:latin typeface="Times New Roman" pitchFamily="18" charset="0"/>
                <a:cs typeface="Times New Roman" pitchFamily="18" charset="0"/>
              </a:rPr>
              <a:t>RUET, Bangladesh</a:t>
            </a:r>
          </a:p>
        </p:txBody>
      </p:sp>
      <p:sp>
        <p:nvSpPr>
          <p:cNvPr id="6" name="TextBox 5"/>
          <p:cNvSpPr txBox="1"/>
          <p:nvPr/>
        </p:nvSpPr>
        <p:spPr>
          <a:xfrm>
            <a:off x="1219200" y="-2"/>
            <a:ext cx="8000217" cy="1107996"/>
          </a:xfrm>
          <a:prstGeom prst="rect">
            <a:avLst/>
          </a:prstGeom>
          <a:solidFill>
            <a:srgbClr val="00B0F0"/>
          </a:solidFill>
        </p:spPr>
        <p:txBody>
          <a:bodyPr wrap="square" rtlCol="0">
            <a:spAutoFit/>
          </a:bodyPr>
          <a:lstStyle/>
          <a:p>
            <a:pPr algn="ctr"/>
            <a:r>
              <a:rPr lang="en-US" i="1" dirty="0" smtClean="0">
                <a:latin typeface="Aparajita" pitchFamily="34" charset="0"/>
                <a:cs typeface="Aparajita" pitchFamily="34" charset="0"/>
              </a:rPr>
              <a:t>All Praises and Glory be to ALLAH</a:t>
            </a:r>
          </a:p>
          <a:p>
            <a:pPr algn="ctr"/>
            <a:r>
              <a:rPr lang="en-US" sz="2400" b="1" dirty="0" smtClean="0">
                <a:latin typeface="Algerian" pitchFamily="82" charset="0"/>
                <a:cs typeface="Aparajita" pitchFamily="34" charset="0"/>
              </a:rPr>
              <a:t>Bangladesh Army University of Engineering &amp; Technology</a:t>
            </a:r>
            <a:endParaRPr lang="en-US" sz="2400" b="1" dirty="0">
              <a:latin typeface="Algerian" pitchFamily="82" charset="0"/>
              <a:cs typeface="Aparajita" pitchFamily="34" charset="0"/>
            </a:endParaRPr>
          </a:p>
        </p:txBody>
      </p:sp>
      <p:sp>
        <p:nvSpPr>
          <p:cNvPr id="9" name="TextBox 8"/>
          <p:cNvSpPr txBox="1"/>
          <p:nvPr/>
        </p:nvSpPr>
        <p:spPr>
          <a:xfrm>
            <a:off x="0" y="0"/>
            <a:ext cx="1219200" cy="1188720"/>
          </a:xfrm>
          <a:prstGeom prst="rect">
            <a:avLst/>
          </a:prstGeom>
          <a:solidFill>
            <a:srgbClr val="00B0F0"/>
          </a:solidFill>
        </p:spPr>
        <p:txBody>
          <a:bodyPr wrap="square" rtlCol="0">
            <a:spAutoFit/>
          </a:bodyPr>
          <a:lstStyle/>
          <a:p>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87" y="-40365"/>
            <a:ext cx="1217952" cy="1188722"/>
          </a:xfrm>
          <a:prstGeom prst="rect">
            <a:avLst/>
          </a:prstGeom>
        </p:spPr>
      </p:pic>
    </p:spTree>
    <p:extLst>
      <p:ext uri="{BB962C8B-B14F-4D97-AF65-F5344CB8AC3E}">
        <p14:creationId xmlns:p14="http://schemas.microsoft.com/office/powerpoint/2010/main" val="36110211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eaLnBrk="1" fontAlgn="auto" hangingPunct="1">
              <a:spcAft>
                <a:spcPts val="0"/>
              </a:spcAft>
              <a:defRPr/>
            </a:pPr>
            <a:r>
              <a:rPr lang="en-US" altLang="ja-JP" b="1" spc="-150" dirty="0" smtClean="0">
                <a:latin typeface="Times New Roman" pitchFamily="18" charset="0"/>
                <a:cs typeface="Times New Roman" pitchFamily="18" charset="0"/>
              </a:rPr>
              <a:t>Outlines</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endParaRPr lang="en-US" altLang="ja-JP" sz="2000" i="1" spc="-150" dirty="0">
              <a:latin typeface="Times New Roman" pitchFamily="18" charset="0"/>
              <a:cs typeface="Times New Roman" pitchFamily="18" charset="0"/>
            </a:endParaRPr>
          </a:p>
        </p:txBody>
      </p:sp>
      <p:sp>
        <p:nvSpPr>
          <p:cNvPr id="3" name="Rectangle 2"/>
          <p:cNvSpPr/>
          <p:nvPr/>
        </p:nvSpPr>
        <p:spPr>
          <a:xfrm>
            <a:off x="0" y="1117598"/>
            <a:ext cx="9144000" cy="5312223"/>
          </a:xfrm>
          <a:prstGeom prst="rect">
            <a:avLst/>
          </a:prstGeom>
        </p:spPr>
        <p:txBody>
          <a:bodyPr wrap="square">
            <a:spAutoFit/>
          </a:bodyPr>
          <a:lstStyle/>
          <a:p>
            <a:pPr marL="342900" lvl="0" indent="-342900">
              <a:spcBef>
                <a:spcPct val="20000"/>
              </a:spcBef>
              <a:buFont typeface="Arial" pitchFamily="34" charset="0"/>
              <a:buChar char="•"/>
            </a:pPr>
            <a:r>
              <a:rPr lang="en-US" sz="3200" dirty="0">
                <a:solidFill>
                  <a:srgbClr val="FF0000"/>
                </a:solidFill>
                <a:latin typeface="Times New Roman" panose="02020603050405020304" pitchFamily="18" charset="0"/>
                <a:cs typeface="Times New Roman" panose="02020603050405020304" pitchFamily="18" charset="0"/>
              </a:rPr>
              <a:t>Engineering Drawing Definition and </a:t>
            </a:r>
            <a:r>
              <a:rPr lang="en-US" sz="3200" dirty="0" smtClean="0">
                <a:solidFill>
                  <a:srgbClr val="FF0000"/>
                </a:solidFill>
                <a:latin typeface="Times New Roman" panose="02020603050405020304" pitchFamily="18" charset="0"/>
                <a:cs typeface="Times New Roman" panose="02020603050405020304" pitchFamily="18" charset="0"/>
              </a:rPr>
              <a:t>Function</a:t>
            </a:r>
          </a:p>
          <a:p>
            <a:pPr marL="342900" lvl="0" indent="-342900">
              <a:spcBef>
                <a:spcPct val="20000"/>
              </a:spcBef>
              <a:buFont typeface="Arial" pitchFamily="34" charset="0"/>
              <a:buChar char="•"/>
            </a:pPr>
            <a:r>
              <a:rPr lang="en-US" sz="3200" dirty="0" smtClean="0">
                <a:solidFill>
                  <a:schemeClr val="accent1"/>
                </a:solidFill>
                <a:latin typeface="Times New Roman" panose="02020603050405020304" pitchFamily="18" charset="0"/>
                <a:cs typeface="Times New Roman" panose="02020603050405020304" pitchFamily="18" charset="0"/>
              </a:rPr>
              <a:t>Standard</a:t>
            </a:r>
            <a:endParaRPr lang="en-US" sz="3200" dirty="0">
              <a:solidFill>
                <a:schemeClr val="accent1"/>
              </a:solidFill>
              <a:latin typeface="Times New Roman" panose="02020603050405020304" pitchFamily="18" charset="0"/>
              <a:cs typeface="Times New Roman" panose="02020603050405020304" pitchFamily="18" charset="0"/>
            </a:endParaRPr>
          </a:p>
          <a:p>
            <a:pPr marL="342900" lvl="0" indent="-342900">
              <a:spcBef>
                <a:spcPct val="20000"/>
              </a:spcBef>
              <a:buFont typeface="Arial" pitchFamily="34" charset="0"/>
              <a:buChar char="•"/>
            </a:pPr>
            <a:r>
              <a:rPr lang="en-US" sz="3200" dirty="0">
                <a:solidFill>
                  <a:srgbClr val="00B050"/>
                </a:solidFill>
                <a:latin typeface="Times New Roman" panose="02020603050405020304" pitchFamily="18" charset="0"/>
                <a:cs typeface="Times New Roman" panose="02020603050405020304" pitchFamily="18" charset="0"/>
              </a:rPr>
              <a:t>Line Types and Styles</a:t>
            </a:r>
          </a:p>
          <a:p>
            <a:pPr marL="342900" lvl="0" indent="-342900">
              <a:spcBef>
                <a:spcPct val="20000"/>
              </a:spcBef>
              <a:buFont typeface="Arial" pitchFamily="34" charset="0"/>
              <a:buChar char="•"/>
            </a:pPr>
            <a:r>
              <a:rPr lang="en-US" sz="3200" dirty="0">
                <a:solidFill>
                  <a:schemeClr val="accent6"/>
                </a:solidFill>
                <a:latin typeface="Times New Roman" panose="02020603050405020304" pitchFamily="18" charset="0"/>
                <a:cs typeface="Times New Roman" panose="02020603050405020304" pitchFamily="18" charset="0"/>
              </a:rPr>
              <a:t>Letters and </a:t>
            </a:r>
            <a:r>
              <a:rPr lang="en-US" sz="3200" dirty="0" smtClean="0">
                <a:solidFill>
                  <a:schemeClr val="accent6"/>
                </a:solidFill>
                <a:latin typeface="Times New Roman" panose="02020603050405020304" pitchFamily="18" charset="0"/>
                <a:cs typeface="Times New Roman" panose="02020603050405020304" pitchFamily="18" charset="0"/>
              </a:rPr>
              <a:t>Numbers</a:t>
            </a:r>
          </a:p>
          <a:p>
            <a:pPr marL="342900" lvl="0" indent="-342900">
              <a:spcBef>
                <a:spcPct val="20000"/>
              </a:spcBef>
              <a:buFont typeface="Arial" pitchFamily="34" charset="0"/>
              <a:buChar char="•"/>
            </a:pPr>
            <a:r>
              <a:rPr lang="en-US" sz="3200" dirty="0" smtClean="0">
                <a:solidFill>
                  <a:srgbClr val="7030A0"/>
                </a:solidFill>
                <a:latin typeface="Times New Roman" panose="02020603050405020304" pitchFamily="18" charset="0"/>
                <a:cs typeface="Times New Roman" panose="02020603050405020304" pitchFamily="18" charset="0"/>
              </a:rPr>
              <a:t>Scale</a:t>
            </a:r>
            <a:endParaRPr lang="en-US" sz="3200" dirty="0">
              <a:solidFill>
                <a:srgbClr val="7030A0"/>
              </a:solidFill>
              <a:latin typeface="Times New Roman" panose="02020603050405020304" pitchFamily="18" charset="0"/>
              <a:cs typeface="Times New Roman" panose="02020603050405020304" pitchFamily="18" charset="0"/>
            </a:endParaRPr>
          </a:p>
          <a:p>
            <a:pPr marL="342900" lvl="0" indent="-342900">
              <a:spcBef>
                <a:spcPct val="20000"/>
              </a:spcBef>
              <a:buFont typeface="Arial" pitchFamily="34" charset="0"/>
              <a:buChar char="•"/>
            </a:pPr>
            <a:r>
              <a:rPr lang="en-US" sz="3200" dirty="0">
                <a:solidFill>
                  <a:srgbClr val="EEECE1">
                    <a:lumMod val="25000"/>
                  </a:srgbClr>
                </a:solidFill>
                <a:latin typeface="Times New Roman" panose="02020603050405020304" pitchFamily="18" charset="0"/>
                <a:cs typeface="Times New Roman" panose="02020603050405020304" pitchFamily="18" charset="0"/>
              </a:rPr>
              <a:t>Paper Size</a:t>
            </a:r>
          </a:p>
          <a:p>
            <a:pPr marL="342900" lvl="0" indent="-342900">
              <a:spcBef>
                <a:spcPct val="20000"/>
              </a:spcBef>
              <a:buFont typeface="Arial" pitchFamily="34" charset="0"/>
              <a:buChar char="•"/>
            </a:pPr>
            <a:r>
              <a:rPr lang="en-US" sz="3200" dirty="0">
                <a:solidFill>
                  <a:srgbClr val="EEECE1">
                    <a:lumMod val="25000"/>
                  </a:srgbClr>
                </a:solidFill>
                <a:latin typeface="Times New Roman" panose="02020603050405020304" pitchFamily="18" charset="0"/>
                <a:cs typeface="Times New Roman" panose="02020603050405020304" pitchFamily="18" charset="0"/>
              </a:rPr>
              <a:t>Drawing Title</a:t>
            </a:r>
          </a:p>
          <a:p>
            <a:pPr marL="342900" lvl="0" indent="-342900">
              <a:spcBef>
                <a:spcPct val="20000"/>
              </a:spcBef>
              <a:buFont typeface="Arial" pitchFamily="34" charset="0"/>
              <a:buChar char="•"/>
            </a:pPr>
            <a:endParaRPr lang="en-US" sz="3200" dirty="0">
              <a:solidFill>
                <a:srgbClr val="EEECE1">
                  <a:lumMod val="25000"/>
                </a:srgbClr>
              </a:solidFill>
              <a:latin typeface="Times New Roman" panose="02020603050405020304" pitchFamily="18" charset="0"/>
              <a:cs typeface="Times New Roman" panose="02020603050405020304" pitchFamily="18" charset="0"/>
            </a:endParaRPr>
          </a:p>
          <a:p>
            <a:pPr marL="342900" lvl="0" indent="-342900">
              <a:spcBef>
                <a:spcPct val="20000"/>
              </a:spcBef>
              <a:buFont typeface="Arial" pitchFamily="34" charset="0"/>
              <a:buChar char="•"/>
            </a:pPr>
            <a:endParaRPr lang="en-US" sz="3200" dirty="0">
              <a:solidFill>
                <a:srgbClr val="EEECE1">
                  <a:lumMod val="25000"/>
                </a:srgb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330958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eaLnBrk="1" fontAlgn="auto" hangingPunct="1">
              <a:spcAft>
                <a:spcPts val="0"/>
              </a:spcAft>
              <a:defRPr/>
            </a:pPr>
            <a:r>
              <a:rPr lang="en-US" altLang="ja-JP" b="1" spc="-150" dirty="0" smtClean="0">
                <a:latin typeface="Times New Roman" pitchFamily="18" charset="0"/>
                <a:cs typeface="Times New Roman" pitchFamily="18" charset="0"/>
              </a:rPr>
              <a:t>What is Engineering Drawing?</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RUET</a:t>
            </a:r>
            <a:endParaRPr lang="en-US" altLang="ja-JP" sz="2000" i="1" spc="-150" dirty="0">
              <a:latin typeface="Times New Roman" pitchFamily="18" charset="0"/>
              <a:cs typeface="Times New Roman" pitchFamily="18" charset="0"/>
            </a:endParaRPr>
          </a:p>
        </p:txBody>
      </p:sp>
      <p:sp>
        <p:nvSpPr>
          <p:cNvPr id="4" name="Content Placeholder 2"/>
          <p:cNvSpPr>
            <a:spLocks noGrp="1"/>
          </p:cNvSpPr>
          <p:nvPr>
            <p:ph idx="1"/>
          </p:nvPr>
        </p:nvSpPr>
        <p:spPr>
          <a:xfrm>
            <a:off x="0" y="4038393"/>
            <a:ext cx="9144000" cy="2559257"/>
          </a:xfrm>
        </p:spPr>
        <p:txBody>
          <a:bodyPr>
            <a:normAutofit fontScale="92500" lnSpcReduction="20000"/>
          </a:bodyPr>
          <a:lstStyle/>
          <a:p>
            <a:r>
              <a:rPr lang="en-US" b="1" dirty="0" smtClean="0">
                <a:solidFill>
                  <a:srgbClr val="0070C0"/>
                </a:solidFill>
              </a:rPr>
              <a:t>Drawing</a:t>
            </a:r>
            <a:r>
              <a:rPr lang="en-US" dirty="0" smtClean="0">
                <a:solidFill>
                  <a:srgbClr val="0070C0"/>
                </a:solidFill>
              </a:rPr>
              <a:t>—a graphical language that communicates ideas and information from one mind to another without the barrier of a language</a:t>
            </a:r>
          </a:p>
          <a:p>
            <a:r>
              <a:rPr lang="en-US" altLang="en-US" sz="3100" dirty="0">
                <a:solidFill>
                  <a:srgbClr val="FF0000"/>
                </a:solidFill>
              </a:rPr>
              <a:t>A picture/drawing is worth a thousand words</a:t>
            </a:r>
          </a:p>
          <a:p>
            <a:r>
              <a:rPr lang="en-US" altLang="en-US" sz="3100" dirty="0">
                <a:solidFill>
                  <a:srgbClr val="7030A0"/>
                </a:solidFill>
              </a:rPr>
              <a:t>Drawings are the road maps which show how to manufacture products and </a:t>
            </a:r>
            <a:r>
              <a:rPr lang="en-US" altLang="en-US" sz="3100" dirty="0" smtClean="0">
                <a:solidFill>
                  <a:srgbClr val="7030A0"/>
                </a:solidFill>
              </a:rPr>
              <a:t>structures</a:t>
            </a:r>
            <a:endParaRPr lang="en-US" dirty="0" smtClean="0">
              <a:solidFill>
                <a:schemeClr val="bg2">
                  <a:lumMod val="25000"/>
                </a:schemeClr>
              </a:solidFill>
            </a:endParaRPr>
          </a:p>
          <a:p>
            <a:pPr marL="0" indent="0">
              <a:buNone/>
            </a:pPr>
            <a:endParaRPr lang="en-US" dirty="0" smtClean="0">
              <a:solidFill>
                <a:schemeClr val="bg2">
                  <a:lumMod val="25000"/>
                </a:schemeClr>
              </a:solidFill>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99448"/>
            <a:ext cx="9144000" cy="3338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55774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wipe(up)">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wipe(up)">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wipe(up)">
                                      <p:cBhvr>
                                        <p:cTn id="2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What is Engineering Drawing?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endParaRPr lang="en-US" altLang="ja-JP" sz="2000" i="1" spc="-150" dirty="0">
              <a:latin typeface="Times New Roman" pitchFamily="18" charset="0"/>
              <a:cs typeface="Times New Roman" pitchFamily="18" charset="0"/>
            </a:endParaRPr>
          </a:p>
        </p:txBody>
      </p:sp>
      <p:sp>
        <p:nvSpPr>
          <p:cNvPr id="4" name="Content Placeholder 2"/>
          <p:cNvSpPr>
            <a:spLocks noGrp="1"/>
          </p:cNvSpPr>
          <p:nvPr>
            <p:ph idx="1"/>
          </p:nvPr>
        </p:nvSpPr>
        <p:spPr>
          <a:xfrm>
            <a:off x="11373" y="762000"/>
            <a:ext cx="9132627" cy="2743200"/>
          </a:xfrm>
        </p:spPr>
        <p:txBody>
          <a:bodyPr>
            <a:normAutofit fontScale="92500" lnSpcReduction="20000"/>
          </a:bodyPr>
          <a:lstStyle/>
          <a:p>
            <a:pPr>
              <a:spcBef>
                <a:spcPct val="50000"/>
              </a:spcBef>
            </a:pPr>
            <a:r>
              <a:rPr lang="en-US" altLang="en-US" dirty="0">
                <a:solidFill>
                  <a:schemeClr val="bg2">
                    <a:lumMod val="25000"/>
                  </a:schemeClr>
                </a:solidFill>
              </a:rPr>
              <a:t>Engineering drawing – A drawing of an object that contains all </a:t>
            </a:r>
            <a:r>
              <a:rPr lang="en-US" altLang="en-US" dirty="0" smtClean="0">
                <a:solidFill>
                  <a:schemeClr val="bg2">
                    <a:lumMod val="25000"/>
                  </a:schemeClr>
                </a:solidFill>
              </a:rPr>
              <a:t>information, like actual shape, accurate size, manufacturing methods, etc.,  required for its construction</a:t>
            </a:r>
            <a:endParaRPr lang="en-US" dirty="0" smtClean="0">
              <a:solidFill>
                <a:schemeClr val="bg2">
                  <a:lumMod val="25000"/>
                </a:schemeClr>
              </a:solidFill>
            </a:endParaRPr>
          </a:p>
          <a:p>
            <a:r>
              <a:rPr lang="en-US" dirty="0" smtClean="0">
                <a:solidFill>
                  <a:schemeClr val="bg2">
                    <a:lumMod val="25000"/>
                  </a:schemeClr>
                </a:solidFill>
              </a:rPr>
              <a:t>Most especially, it </a:t>
            </a:r>
            <a:r>
              <a:rPr lang="en-US" b="1" i="1" dirty="0" smtClean="0">
                <a:solidFill>
                  <a:schemeClr val="bg2">
                    <a:lumMod val="25000"/>
                  </a:schemeClr>
                </a:solidFill>
              </a:rPr>
              <a:t>communicate</a:t>
            </a:r>
            <a:r>
              <a:rPr lang="en-US" dirty="0" smtClean="0">
                <a:solidFill>
                  <a:schemeClr val="bg2">
                    <a:lumMod val="25000"/>
                  </a:schemeClr>
                </a:solidFill>
              </a:rPr>
              <a:t>s all needed </a:t>
            </a:r>
            <a:r>
              <a:rPr lang="en-US" b="1" i="1" dirty="0" smtClean="0">
                <a:solidFill>
                  <a:schemeClr val="bg2">
                    <a:lumMod val="25000"/>
                  </a:schemeClr>
                </a:solidFill>
              </a:rPr>
              <a:t>information</a:t>
            </a:r>
            <a:r>
              <a:rPr lang="en-US" dirty="0" smtClean="0">
                <a:solidFill>
                  <a:schemeClr val="bg2">
                    <a:lumMod val="25000"/>
                  </a:schemeClr>
                </a:solidFill>
              </a:rPr>
              <a:t> from the </a:t>
            </a:r>
            <a:r>
              <a:rPr lang="en-US" b="1" i="1" dirty="0" smtClean="0">
                <a:solidFill>
                  <a:schemeClr val="bg2">
                    <a:lumMod val="25000"/>
                  </a:schemeClr>
                </a:solidFill>
              </a:rPr>
              <a:t>engineer</a:t>
            </a:r>
            <a:r>
              <a:rPr lang="en-US" dirty="0" smtClean="0">
                <a:solidFill>
                  <a:schemeClr val="bg2">
                    <a:lumMod val="25000"/>
                  </a:schemeClr>
                </a:solidFill>
              </a:rPr>
              <a:t> who </a:t>
            </a:r>
            <a:r>
              <a:rPr lang="en-US" b="1" i="1" dirty="0" smtClean="0">
                <a:solidFill>
                  <a:schemeClr val="bg2">
                    <a:lumMod val="25000"/>
                  </a:schemeClr>
                </a:solidFill>
              </a:rPr>
              <a:t>designed</a:t>
            </a:r>
            <a:r>
              <a:rPr lang="en-US" dirty="0" smtClean="0">
                <a:solidFill>
                  <a:schemeClr val="bg2">
                    <a:lumMod val="25000"/>
                  </a:schemeClr>
                </a:solidFill>
              </a:rPr>
              <a:t> a part to the </a:t>
            </a:r>
            <a:r>
              <a:rPr lang="en-US" b="1" i="1" dirty="0" smtClean="0">
                <a:solidFill>
                  <a:schemeClr val="bg2">
                    <a:lumMod val="25000"/>
                  </a:schemeClr>
                </a:solidFill>
              </a:rPr>
              <a:t>workers</a:t>
            </a:r>
            <a:r>
              <a:rPr lang="en-US" dirty="0" smtClean="0">
                <a:solidFill>
                  <a:schemeClr val="bg2">
                    <a:lumMod val="25000"/>
                  </a:schemeClr>
                </a:solidFill>
              </a:rPr>
              <a:t> who will </a:t>
            </a:r>
            <a:r>
              <a:rPr lang="en-US" b="1" i="1" dirty="0" smtClean="0">
                <a:solidFill>
                  <a:schemeClr val="bg2">
                    <a:lumMod val="25000"/>
                  </a:schemeClr>
                </a:solidFill>
              </a:rPr>
              <a:t>make</a:t>
            </a:r>
            <a:r>
              <a:rPr lang="en-US" dirty="0" smtClean="0">
                <a:solidFill>
                  <a:schemeClr val="bg2">
                    <a:lumMod val="25000"/>
                  </a:schemeClr>
                </a:solidFill>
              </a:rPr>
              <a:t> it.</a:t>
            </a:r>
          </a:p>
        </p:txBody>
      </p:sp>
      <p:pic>
        <p:nvPicPr>
          <p:cNvPr id="8" name="Picture 7" descr="lath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2" y="3778248"/>
            <a:ext cx="9132628" cy="2851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11700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Engineering Drawing Function</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endParaRPr lang="en-US" altLang="ja-JP" sz="2000" i="1" spc="-150" dirty="0">
              <a:latin typeface="Times New Roman" pitchFamily="18" charset="0"/>
              <a:cs typeface="Times New Roman" pitchFamily="18" charset="0"/>
            </a:endParaRPr>
          </a:p>
        </p:txBody>
      </p:sp>
      <p:sp>
        <p:nvSpPr>
          <p:cNvPr id="2" name="Rectangle 1"/>
          <p:cNvSpPr/>
          <p:nvPr/>
        </p:nvSpPr>
        <p:spPr>
          <a:xfrm>
            <a:off x="-13648" y="838200"/>
            <a:ext cx="9157648" cy="1569660"/>
          </a:xfrm>
          <a:prstGeom prst="rect">
            <a:avLst/>
          </a:prstGeom>
        </p:spPr>
        <p:txBody>
          <a:bodyPr wrap="square">
            <a:spAutoFit/>
          </a:bodyPr>
          <a:lstStyle/>
          <a:p>
            <a:pPr marL="514350" indent="-514350">
              <a:buAutoNum type="arabicPeriod"/>
            </a:pPr>
            <a:r>
              <a:rPr lang="en-US" sz="3200" dirty="0">
                <a:latin typeface="Times New Roman" panose="02020603050405020304" pitchFamily="18" charset="0"/>
                <a:cs typeface="Times New Roman" panose="02020603050405020304" pitchFamily="18" charset="0"/>
              </a:rPr>
              <a:t>Information delivery</a:t>
            </a:r>
          </a:p>
          <a:p>
            <a:pPr marL="514350" indent="-514350">
              <a:buAutoNum type="arabicPeriod"/>
            </a:pPr>
            <a:r>
              <a:rPr lang="en-US" sz="3200" dirty="0">
                <a:latin typeface="Times New Roman" panose="02020603050405020304" pitchFamily="18" charset="0"/>
                <a:cs typeface="Times New Roman" panose="02020603050405020304" pitchFamily="18" charset="0"/>
              </a:rPr>
              <a:t>Preservation, archiving, use of information</a:t>
            </a:r>
          </a:p>
          <a:p>
            <a:pPr marL="514350" indent="-514350">
              <a:buAutoNum type="arabicPeriod"/>
            </a:pPr>
            <a:r>
              <a:rPr lang="en-US" sz="3200" dirty="0">
                <a:latin typeface="Times New Roman" panose="02020603050405020304" pitchFamily="18" charset="0"/>
                <a:cs typeface="Times New Roman" panose="02020603050405020304" pitchFamily="18" charset="0"/>
              </a:rPr>
              <a:t>Ways of thinking in the preparation of information</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9900" y="3409666"/>
            <a:ext cx="3543300" cy="28575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409666"/>
            <a:ext cx="2857500" cy="2857500"/>
          </a:xfrm>
          <a:prstGeom prst="rect">
            <a:avLst/>
          </a:prstGeom>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53200" y="3399814"/>
            <a:ext cx="2564642" cy="2850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7809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eaLnBrk="1" fontAlgn="auto" hangingPunct="1">
              <a:spcAft>
                <a:spcPts val="0"/>
              </a:spcAft>
              <a:defRPr/>
            </a:pPr>
            <a:r>
              <a:rPr lang="en-US" altLang="ja-JP" sz="4200" b="1" spc="-150" dirty="0" smtClean="0">
                <a:latin typeface="Times New Roman" pitchFamily="18" charset="0"/>
                <a:cs typeface="Times New Roman" pitchFamily="18" charset="0"/>
              </a:rPr>
              <a:t>Some Examples of Engineering Drawing</a:t>
            </a:r>
            <a:endParaRPr lang="en-US" altLang="ja-JP" sz="4200"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pic>
        <p:nvPicPr>
          <p:cNvPr id="4" name="Picture 3" descr="viz5_2.gif"/>
          <p:cNvPicPr>
            <a:picLocks noChangeAspect="1"/>
          </p:cNvPicPr>
          <p:nvPr/>
        </p:nvPicPr>
        <p:blipFill>
          <a:blip r:embed="rId2"/>
          <a:stretch>
            <a:fillRect/>
          </a:stretch>
        </p:blipFill>
        <p:spPr>
          <a:xfrm>
            <a:off x="762000" y="990600"/>
            <a:ext cx="7620000" cy="4922520"/>
          </a:xfrm>
          <a:prstGeom prst="rect">
            <a:avLst/>
          </a:prstGeom>
        </p:spPr>
      </p:pic>
    </p:spTree>
    <p:extLst>
      <p:ext uri="{BB962C8B-B14F-4D97-AF65-F5344CB8AC3E}">
        <p14:creationId xmlns:p14="http://schemas.microsoft.com/office/powerpoint/2010/main" val="399236240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sz="4200" b="1" spc="-150" dirty="0">
                <a:latin typeface="Times New Roman" pitchFamily="18" charset="0"/>
                <a:cs typeface="Times New Roman" pitchFamily="18" charset="0"/>
              </a:rPr>
              <a:t>Some Examples of Engineering </a:t>
            </a:r>
            <a:r>
              <a:rPr lang="en-US" altLang="ja-JP" sz="4200" b="1" spc="-150" dirty="0" smtClean="0">
                <a:latin typeface="Times New Roman" pitchFamily="18" charset="0"/>
                <a:cs typeface="Times New Roman" pitchFamily="18" charset="0"/>
              </a:rPr>
              <a:t>Drawing...</a:t>
            </a:r>
            <a:endParaRPr lang="en-US" altLang="ja-JP" sz="4200"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pic>
        <p:nvPicPr>
          <p:cNvPr id="4" name="Picture 3" descr="CONSTUCTION-PLANES-ribs.jpg"/>
          <p:cNvPicPr>
            <a:picLocks noChangeAspect="1"/>
          </p:cNvPicPr>
          <p:nvPr/>
        </p:nvPicPr>
        <p:blipFill>
          <a:blip r:embed="rId2"/>
          <a:stretch>
            <a:fillRect/>
          </a:stretch>
        </p:blipFill>
        <p:spPr>
          <a:xfrm>
            <a:off x="0" y="741673"/>
            <a:ext cx="9144000" cy="5838823"/>
          </a:xfrm>
          <a:prstGeom prst="rect">
            <a:avLst/>
          </a:prstGeom>
        </p:spPr>
      </p:pic>
    </p:spTree>
    <p:extLst>
      <p:ext uri="{BB962C8B-B14F-4D97-AF65-F5344CB8AC3E}">
        <p14:creationId xmlns:p14="http://schemas.microsoft.com/office/powerpoint/2010/main" val="28146705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sz="4200" b="1" spc="-150" dirty="0">
                <a:latin typeface="Times New Roman" pitchFamily="18" charset="0"/>
                <a:cs typeface="Times New Roman" pitchFamily="18" charset="0"/>
              </a:rPr>
              <a:t>Some Examples of Engineering Drawing...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334" y="714377"/>
            <a:ext cx="9124666" cy="58832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141267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sz="4200" b="1" spc="-150" dirty="0" smtClean="0">
                <a:latin typeface="Times New Roman" pitchFamily="18" charset="0"/>
                <a:cs typeface="Times New Roman" pitchFamily="18" charset="0"/>
              </a:rPr>
              <a:t>Some Examples of Engineering Drawing...</a:t>
            </a:r>
            <a:endParaRPr lang="en-US" altLang="ja-JP" sz="4200"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49634"/>
            <a:ext cx="9144000" cy="57954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21869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Engineering Drawing Function</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4" name="Title 1"/>
          <p:cNvSpPr txBox="1">
            <a:spLocks/>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endParaRPr lang="en-US" b="1" dirty="0">
              <a:solidFill>
                <a:schemeClr val="bg2">
                  <a:lumMod val="25000"/>
                </a:schemeClr>
              </a:solidFill>
            </a:endParaRPr>
          </a:p>
        </p:txBody>
      </p:sp>
      <p:sp>
        <p:nvSpPr>
          <p:cNvPr id="6" name="Content Placeholder 2"/>
          <p:cNvSpPr>
            <a:spLocks noGrp="1"/>
          </p:cNvSpPr>
          <p:nvPr>
            <p:ph idx="1"/>
          </p:nvPr>
        </p:nvSpPr>
        <p:spPr>
          <a:xfrm>
            <a:off x="0" y="714377"/>
            <a:ext cx="8229600" cy="609599"/>
          </a:xfrm>
        </p:spPr>
        <p:txBody>
          <a:bodyPr>
            <a:normAutofit/>
          </a:bodyPr>
          <a:lstStyle/>
          <a:p>
            <a:r>
              <a:rPr lang="en-US" sz="2800" dirty="0">
                <a:solidFill>
                  <a:schemeClr val="bg2">
                    <a:lumMod val="25000"/>
                  </a:schemeClr>
                </a:solidFill>
                <a:latin typeface="Times New Roman" panose="02020603050405020304" pitchFamily="18" charset="0"/>
                <a:cs typeface="Times New Roman" panose="02020603050405020304" pitchFamily="18" charset="0"/>
              </a:rPr>
              <a:t>Drawings convey the following critical information</a:t>
            </a:r>
            <a:r>
              <a:rPr lang="en-US" sz="2800" dirty="0" smtClean="0">
                <a:solidFill>
                  <a:schemeClr val="bg2">
                    <a:lumMod val="25000"/>
                  </a:schemeClr>
                </a:solidFill>
                <a:latin typeface="Times New Roman" panose="02020603050405020304" pitchFamily="18" charset="0"/>
                <a:cs typeface="Times New Roman" panose="02020603050405020304" pitchFamily="18" charset="0"/>
              </a:rPr>
              <a:t>:</a:t>
            </a:r>
          </a:p>
          <a:p>
            <a:pPr marL="0" indent="0">
              <a:buNone/>
            </a:pPr>
            <a:endParaRPr lang="en-US" dirty="0">
              <a:solidFill>
                <a:schemeClr val="bg2">
                  <a:lumMod val="25000"/>
                </a:schemeClr>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105228" y="1397049"/>
            <a:ext cx="9038772" cy="4893647"/>
          </a:xfrm>
          <a:prstGeom prst="rect">
            <a:avLst/>
          </a:prstGeom>
          <a:noFill/>
        </p:spPr>
        <p:txBody>
          <a:bodyPr wrap="square" rtlCol="0">
            <a:spAutoFit/>
          </a:bodyPr>
          <a:lstStyle/>
          <a:p>
            <a:pPr marL="342900" indent="-342900">
              <a:buFont typeface="Arial" pitchFamily="34" charset="0"/>
              <a:buChar char="•"/>
            </a:pPr>
            <a:r>
              <a:rPr lang="en-US" sz="2400" b="1" i="1" dirty="0">
                <a:solidFill>
                  <a:schemeClr val="bg2">
                    <a:lumMod val="25000"/>
                  </a:schemeClr>
                </a:solidFill>
                <a:latin typeface="Times New Roman" panose="02020603050405020304" pitchFamily="18" charset="0"/>
                <a:cs typeface="Times New Roman" panose="02020603050405020304" pitchFamily="18" charset="0"/>
              </a:rPr>
              <a:t>Geometry</a:t>
            </a:r>
            <a:r>
              <a:rPr lang="en-US" sz="2400" dirty="0">
                <a:solidFill>
                  <a:schemeClr val="bg2">
                    <a:lumMod val="25000"/>
                  </a:schemeClr>
                </a:solidFill>
                <a:latin typeface="Times New Roman" panose="02020603050405020304" pitchFamily="18" charset="0"/>
                <a:cs typeface="Times New Roman" panose="02020603050405020304" pitchFamily="18" charset="0"/>
              </a:rPr>
              <a:t> – the shape of the object; represented as views; how the object will look when it is viewed from various angles, such as front, top, </a:t>
            </a:r>
            <a:r>
              <a:rPr lang="en-US" sz="2400" dirty="0" smtClean="0">
                <a:solidFill>
                  <a:schemeClr val="bg2">
                    <a:lumMod val="25000"/>
                  </a:schemeClr>
                </a:solidFill>
                <a:latin typeface="Times New Roman" panose="02020603050405020304" pitchFamily="18" charset="0"/>
                <a:cs typeface="Times New Roman" panose="02020603050405020304" pitchFamily="18" charset="0"/>
              </a:rPr>
              <a:t>side, and so on.</a:t>
            </a:r>
          </a:p>
          <a:p>
            <a:pPr marL="171450" indent="-171450">
              <a:buFont typeface="Arial" pitchFamily="34" charset="0"/>
              <a:buChar char="•"/>
            </a:pPr>
            <a:endParaRPr lang="en-US" sz="2400" dirty="0">
              <a:solidFill>
                <a:schemeClr val="bg2">
                  <a:lumMod val="25000"/>
                </a:schemeClr>
              </a:solidFill>
              <a:latin typeface="Times New Roman" panose="02020603050405020304" pitchFamily="18" charset="0"/>
              <a:cs typeface="Times New Roman" panose="02020603050405020304" pitchFamily="18" charset="0"/>
            </a:endParaRPr>
          </a:p>
          <a:p>
            <a:pPr marL="342900" indent="-342900">
              <a:buFont typeface="Arial" pitchFamily="34" charset="0"/>
              <a:buChar char="•"/>
            </a:pPr>
            <a:r>
              <a:rPr lang="en-US" sz="2400" b="1" i="1" dirty="0">
                <a:solidFill>
                  <a:schemeClr val="bg2">
                    <a:lumMod val="25000"/>
                  </a:schemeClr>
                </a:solidFill>
                <a:latin typeface="Times New Roman" panose="02020603050405020304" pitchFamily="18" charset="0"/>
                <a:cs typeface="Times New Roman" panose="02020603050405020304" pitchFamily="18" charset="0"/>
              </a:rPr>
              <a:t>Dimensions</a:t>
            </a:r>
            <a:r>
              <a:rPr lang="en-US" sz="2400" dirty="0">
                <a:solidFill>
                  <a:schemeClr val="bg2">
                    <a:lumMod val="25000"/>
                  </a:schemeClr>
                </a:solidFill>
                <a:latin typeface="Times New Roman" panose="02020603050405020304" pitchFamily="18" charset="0"/>
                <a:cs typeface="Times New Roman" panose="02020603050405020304" pitchFamily="18" charset="0"/>
              </a:rPr>
              <a:t> – the size of the object is captured in accepted units</a:t>
            </a:r>
            <a:r>
              <a:rPr lang="en-US" sz="2400" dirty="0" smtClean="0">
                <a:solidFill>
                  <a:schemeClr val="bg2">
                    <a:lumMod val="25000"/>
                  </a:schemeClr>
                </a:solidFill>
                <a:latin typeface="Times New Roman" panose="02020603050405020304" pitchFamily="18" charset="0"/>
                <a:cs typeface="Times New Roman" panose="02020603050405020304" pitchFamily="18" charset="0"/>
              </a:rPr>
              <a:t>.</a:t>
            </a:r>
          </a:p>
          <a:p>
            <a:pPr marL="171450" indent="-171450">
              <a:buFont typeface="Arial" pitchFamily="34" charset="0"/>
              <a:buChar char="•"/>
            </a:pPr>
            <a:endParaRPr lang="en-US" sz="2400" dirty="0" smtClean="0">
              <a:solidFill>
                <a:schemeClr val="bg2">
                  <a:lumMod val="25000"/>
                </a:schemeClr>
              </a:solidFill>
              <a:latin typeface="Times New Roman" panose="02020603050405020304" pitchFamily="18" charset="0"/>
              <a:cs typeface="Times New Roman" panose="02020603050405020304" pitchFamily="18" charset="0"/>
            </a:endParaRPr>
          </a:p>
          <a:p>
            <a:pPr marL="342900" indent="-342900">
              <a:buFont typeface="Arial" pitchFamily="34" charset="0"/>
              <a:buChar char="•"/>
            </a:pPr>
            <a:r>
              <a:rPr lang="en-US" sz="2400" b="1" i="1" dirty="0">
                <a:solidFill>
                  <a:schemeClr val="bg2">
                    <a:lumMod val="25000"/>
                  </a:schemeClr>
                </a:solidFill>
                <a:latin typeface="Times New Roman" panose="02020603050405020304" pitchFamily="18" charset="0"/>
                <a:cs typeface="Times New Roman" panose="02020603050405020304" pitchFamily="18" charset="0"/>
              </a:rPr>
              <a:t>Tolerances</a:t>
            </a:r>
            <a:r>
              <a:rPr lang="en-US" sz="2400" i="1" dirty="0">
                <a:solidFill>
                  <a:schemeClr val="bg2">
                    <a:lumMod val="25000"/>
                  </a:schemeClr>
                </a:solidFill>
                <a:latin typeface="Times New Roman" panose="02020603050405020304" pitchFamily="18" charset="0"/>
                <a:cs typeface="Times New Roman" panose="02020603050405020304" pitchFamily="18" charset="0"/>
              </a:rPr>
              <a:t> </a:t>
            </a:r>
            <a:r>
              <a:rPr lang="en-US" sz="2400" dirty="0">
                <a:solidFill>
                  <a:schemeClr val="bg2">
                    <a:lumMod val="25000"/>
                  </a:schemeClr>
                </a:solidFill>
                <a:latin typeface="Times New Roman" panose="02020603050405020304" pitchFamily="18" charset="0"/>
                <a:cs typeface="Times New Roman" panose="02020603050405020304" pitchFamily="18" charset="0"/>
              </a:rPr>
              <a:t>– the allowable variations from the nominal size for each dimension</a:t>
            </a:r>
            <a:r>
              <a:rPr lang="en-US" sz="2400" dirty="0" smtClean="0">
                <a:solidFill>
                  <a:schemeClr val="bg2">
                    <a:lumMod val="25000"/>
                  </a:schemeClr>
                </a:solidFill>
                <a:latin typeface="Times New Roman" panose="02020603050405020304" pitchFamily="18" charset="0"/>
                <a:cs typeface="Times New Roman" panose="02020603050405020304" pitchFamily="18" charset="0"/>
              </a:rPr>
              <a:t>.</a:t>
            </a:r>
          </a:p>
          <a:p>
            <a:pPr marL="171450" indent="-171450">
              <a:buFont typeface="Arial" pitchFamily="34" charset="0"/>
              <a:buChar char="•"/>
            </a:pPr>
            <a:endParaRPr lang="en-US" sz="2400" dirty="0">
              <a:solidFill>
                <a:schemeClr val="bg2">
                  <a:lumMod val="25000"/>
                </a:schemeClr>
              </a:solidFill>
              <a:latin typeface="Times New Roman" panose="02020603050405020304" pitchFamily="18" charset="0"/>
              <a:cs typeface="Times New Roman" panose="02020603050405020304" pitchFamily="18" charset="0"/>
            </a:endParaRPr>
          </a:p>
          <a:p>
            <a:pPr marL="342900" indent="-342900">
              <a:buFont typeface="Arial" pitchFamily="34" charset="0"/>
              <a:buChar char="•"/>
            </a:pPr>
            <a:r>
              <a:rPr lang="en-US" sz="2400" b="1" i="1" dirty="0">
                <a:solidFill>
                  <a:schemeClr val="bg2">
                    <a:lumMod val="25000"/>
                  </a:schemeClr>
                </a:solidFill>
                <a:latin typeface="Times New Roman" panose="02020603050405020304" pitchFamily="18" charset="0"/>
                <a:cs typeface="Times New Roman" panose="02020603050405020304" pitchFamily="18" charset="0"/>
              </a:rPr>
              <a:t>Material</a:t>
            </a:r>
            <a:r>
              <a:rPr lang="en-US" sz="2400" b="1" dirty="0">
                <a:solidFill>
                  <a:schemeClr val="bg2">
                    <a:lumMod val="25000"/>
                  </a:schemeClr>
                </a:solidFill>
                <a:latin typeface="Times New Roman" panose="02020603050405020304" pitchFamily="18" charset="0"/>
                <a:cs typeface="Times New Roman" panose="02020603050405020304" pitchFamily="18" charset="0"/>
              </a:rPr>
              <a:t> </a:t>
            </a:r>
            <a:r>
              <a:rPr lang="en-US" sz="2400" dirty="0">
                <a:solidFill>
                  <a:schemeClr val="bg2">
                    <a:lumMod val="25000"/>
                  </a:schemeClr>
                </a:solidFill>
                <a:latin typeface="Times New Roman" panose="02020603050405020304" pitchFamily="18" charset="0"/>
                <a:cs typeface="Times New Roman" panose="02020603050405020304" pitchFamily="18" charset="0"/>
              </a:rPr>
              <a:t>– represents what the item is made of</a:t>
            </a:r>
            <a:r>
              <a:rPr lang="en-US" sz="2400" dirty="0" smtClean="0">
                <a:solidFill>
                  <a:schemeClr val="bg2">
                    <a:lumMod val="25000"/>
                  </a:schemeClr>
                </a:solidFill>
                <a:latin typeface="Times New Roman" panose="02020603050405020304" pitchFamily="18" charset="0"/>
                <a:cs typeface="Times New Roman" panose="02020603050405020304" pitchFamily="18" charset="0"/>
              </a:rPr>
              <a:t>.</a:t>
            </a:r>
          </a:p>
          <a:p>
            <a:pPr marL="342900" indent="-342900">
              <a:buFont typeface="Arial" pitchFamily="34" charset="0"/>
              <a:buChar char="•"/>
            </a:pPr>
            <a:endParaRPr lang="en-US" sz="2400" dirty="0">
              <a:solidFill>
                <a:schemeClr val="bg2">
                  <a:lumMod val="25000"/>
                </a:schemeClr>
              </a:solidFill>
              <a:latin typeface="Times New Roman" panose="02020603050405020304" pitchFamily="18" charset="0"/>
              <a:cs typeface="Times New Roman" panose="02020603050405020304" pitchFamily="18" charset="0"/>
            </a:endParaRPr>
          </a:p>
          <a:p>
            <a:pPr marL="342900" indent="-342900">
              <a:buFont typeface="Arial" pitchFamily="34" charset="0"/>
              <a:buChar char="•"/>
            </a:pPr>
            <a:r>
              <a:rPr lang="en-US" sz="2400" b="1" i="1" dirty="0">
                <a:solidFill>
                  <a:schemeClr val="bg2">
                    <a:lumMod val="25000"/>
                  </a:schemeClr>
                </a:solidFill>
                <a:latin typeface="Times New Roman" panose="02020603050405020304" pitchFamily="18" charset="0"/>
                <a:cs typeface="Times New Roman" panose="02020603050405020304" pitchFamily="18" charset="0"/>
              </a:rPr>
              <a:t>Finish</a:t>
            </a:r>
            <a:r>
              <a:rPr lang="en-US" sz="2400" dirty="0">
                <a:solidFill>
                  <a:schemeClr val="bg2">
                    <a:lumMod val="25000"/>
                  </a:schemeClr>
                </a:solidFill>
                <a:latin typeface="Times New Roman" panose="02020603050405020304" pitchFamily="18" charset="0"/>
                <a:cs typeface="Times New Roman" panose="02020603050405020304" pitchFamily="18" charset="0"/>
              </a:rPr>
              <a:t> – specifies the surface quality of the item, functional or cosmetic</a:t>
            </a:r>
            <a:r>
              <a:rPr lang="en-US" sz="2400" dirty="0" smtClean="0">
                <a:solidFill>
                  <a:schemeClr val="bg2">
                    <a:lumMod val="25000"/>
                  </a:schemeClr>
                </a:solidFill>
                <a:latin typeface="Times New Roman" panose="02020603050405020304" pitchFamily="18" charset="0"/>
                <a:cs typeface="Times New Roman" panose="02020603050405020304" pitchFamily="18" charset="0"/>
              </a:rPr>
              <a:t>.</a:t>
            </a:r>
            <a:endParaRPr lang="en-US" sz="2400" dirty="0">
              <a:solidFill>
                <a:schemeClr val="bg2">
                  <a:lumMod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1324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xEl>
                                              <p:pRg st="4" end="4"/>
                                            </p:txEl>
                                          </p:spTgt>
                                        </p:tgtEl>
                                        <p:attrNameLst>
                                          <p:attrName>style.visibility</p:attrName>
                                        </p:attrNameLst>
                                      </p:cBhvr>
                                      <p:to>
                                        <p:strVal val="visible"/>
                                      </p:to>
                                    </p:set>
                                    <p:animEffect transition="in" filter="fade">
                                      <p:cBhvr>
                                        <p:cTn id="22" dur="500"/>
                                        <p:tgtEl>
                                          <p:spTgt spid="7">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animEffect transition="in" filter="fade">
                                      <p:cBhvr>
                                        <p:cTn id="27" dur="500"/>
                                        <p:tgtEl>
                                          <p:spTgt spid="7">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
                                            <p:txEl>
                                              <p:pRg st="8" end="8"/>
                                            </p:txEl>
                                          </p:spTgt>
                                        </p:tgtEl>
                                        <p:attrNameLst>
                                          <p:attrName>style.visibility</p:attrName>
                                        </p:attrNameLst>
                                      </p:cBhvr>
                                      <p:to>
                                        <p:strVal val="visible"/>
                                      </p:to>
                                    </p:set>
                                    <p:animEffect transition="in" filter="fade">
                                      <p:cBhvr>
                                        <p:cTn id="32" dur="500"/>
                                        <p:tgtEl>
                                          <p:spTgt spid="7">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eaLnBrk="1" fontAlgn="auto" hangingPunct="1">
              <a:spcAft>
                <a:spcPts val="0"/>
              </a:spcAft>
              <a:defRPr/>
            </a:pPr>
            <a:r>
              <a:rPr lang="en-US" altLang="ja-JP" b="1" spc="-150" dirty="0" smtClean="0">
                <a:latin typeface="Times New Roman" pitchFamily="18" charset="0"/>
                <a:cs typeface="Times New Roman" pitchFamily="18" charset="0"/>
              </a:rPr>
              <a:t>Types of Drawing</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2" name="Rectangle 1"/>
          <p:cNvSpPr/>
          <p:nvPr/>
        </p:nvSpPr>
        <p:spPr>
          <a:xfrm>
            <a:off x="-27296" y="695043"/>
            <a:ext cx="9171296" cy="1292662"/>
          </a:xfrm>
          <a:prstGeom prst="rect">
            <a:avLst/>
          </a:prstGeom>
        </p:spPr>
        <p:txBody>
          <a:bodyPr wrap="square">
            <a:spAutoFit/>
          </a:bodyPr>
          <a:lstStyle/>
          <a:p>
            <a:pPr>
              <a:spcBef>
                <a:spcPct val="50000"/>
              </a:spcBef>
            </a:pPr>
            <a:r>
              <a:rPr lang="en-US" altLang="en-US" sz="2600" dirty="0">
                <a:solidFill>
                  <a:srgbClr val="1C1C1C"/>
                </a:solidFill>
                <a:latin typeface="Times New Roman" panose="02020603050405020304" pitchFamily="18" charset="0"/>
                <a:cs typeface="Times New Roman" panose="02020603050405020304" pitchFamily="18" charset="0"/>
              </a:rPr>
              <a:t>Engineering drawing is completely different from </a:t>
            </a:r>
            <a:r>
              <a:rPr lang="en-US" altLang="en-US" sz="2600" dirty="0">
                <a:solidFill>
                  <a:srgbClr val="0000FF"/>
                </a:solidFill>
                <a:latin typeface="Times New Roman" panose="02020603050405020304" pitchFamily="18" charset="0"/>
                <a:cs typeface="Times New Roman" panose="02020603050405020304" pitchFamily="18" charset="0"/>
              </a:rPr>
              <a:t>artistic drawing, </a:t>
            </a:r>
            <a:r>
              <a:rPr lang="en-US" altLang="en-US" sz="2600" dirty="0">
                <a:solidFill>
                  <a:srgbClr val="1C1C1C"/>
                </a:solidFill>
                <a:latin typeface="Times New Roman" panose="02020603050405020304" pitchFamily="18" charset="0"/>
                <a:cs typeface="Times New Roman" panose="02020603050405020304" pitchFamily="18" charset="0"/>
              </a:rPr>
              <a:t>which are used to express aesthetic, philosophical, and abstract ideas.</a:t>
            </a:r>
            <a:endParaRPr lang="en-US" altLang="en-US" sz="2600" dirty="0">
              <a:solidFill>
                <a:srgbClr val="000000"/>
              </a:solidFill>
              <a:latin typeface="Times New Roman" panose="02020603050405020304" pitchFamily="18" charset="0"/>
              <a:cs typeface="Times New Roman" panose="02020603050405020304" pitchFamily="18" charset="0"/>
            </a:endParaRPr>
          </a:p>
        </p:txBody>
      </p:sp>
      <p:grpSp>
        <p:nvGrpSpPr>
          <p:cNvPr id="6" name="Group 5"/>
          <p:cNvGrpSpPr/>
          <p:nvPr/>
        </p:nvGrpSpPr>
        <p:grpSpPr>
          <a:xfrm>
            <a:off x="76200" y="1905000"/>
            <a:ext cx="9067800" cy="4570019"/>
            <a:chOff x="0" y="1556266"/>
            <a:chExt cx="8585283" cy="5001458"/>
          </a:xfrm>
        </p:grpSpPr>
        <p:cxnSp>
          <p:nvCxnSpPr>
            <p:cNvPr id="7" name="Straight Connector 6"/>
            <p:cNvCxnSpPr/>
            <p:nvPr/>
          </p:nvCxnSpPr>
          <p:spPr>
            <a:xfrm>
              <a:off x="533400" y="1556266"/>
              <a:ext cx="7239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33400" y="1556266"/>
              <a:ext cx="0" cy="729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828800" y="1556266"/>
              <a:ext cx="0" cy="19489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301821" y="1556266"/>
              <a:ext cx="0" cy="7297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4648200" y="1556266"/>
              <a:ext cx="0" cy="202513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172200" y="1556266"/>
              <a:ext cx="0" cy="74586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772400" y="1556266"/>
              <a:ext cx="0" cy="205284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0" y="2299855"/>
              <a:ext cx="1632178" cy="1015663"/>
            </a:xfrm>
            <a:prstGeom prst="rect">
              <a:avLst/>
            </a:prstGeom>
            <a:solidFill>
              <a:schemeClr val="accent4">
                <a:lumMod val="40000"/>
                <a:lumOff val="60000"/>
              </a:schemeClr>
            </a:solidFill>
          </p:spPr>
          <p:txBody>
            <a:bodyPr wrap="square" rtlCol="0">
              <a:spAutoFit/>
            </a:bodyPr>
            <a:lstStyle/>
            <a:p>
              <a:pPr algn="ctr"/>
              <a:r>
                <a:rPr lang="en-US" sz="2000" dirty="0" smtClean="0">
                  <a:latin typeface="Arial" pitchFamily="34" charset="0"/>
                  <a:cs typeface="Arial" pitchFamily="34" charset="0"/>
                </a:rPr>
                <a:t>Nature</a:t>
              </a:r>
            </a:p>
            <a:p>
              <a:pPr algn="ctr"/>
              <a:r>
                <a:rPr lang="en-US" sz="2000" dirty="0" smtClean="0">
                  <a:latin typeface="Arial" pitchFamily="34" charset="0"/>
                  <a:cs typeface="Arial" pitchFamily="34" charset="0"/>
                </a:rPr>
                <a:t>Drawing </a:t>
              </a:r>
            </a:p>
            <a:p>
              <a:pPr algn="ctr"/>
              <a:r>
                <a:rPr lang="en-US" sz="2000" dirty="0" smtClean="0">
                  <a:latin typeface="Arial" pitchFamily="34" charset="0"/>
                  <a:cs typeface="Arial" pitchFamily="34" charset="0"/>
                </a:rPr>
                <a:t>(Scenery)</a:t>
              </a:r>
              <a:endParaRPr lang="en-US" sz="2000" dirty="0">
                <a:latin typeface="Arial" pitchFamily="34" charset="0"/>
                <a:cs typeface="Arial" pitchFamily="34" charset="0"/>
              </a:endParaRPr>
            </a:p>
          </p:txBody>
        </p:sp>
        <p:sp>
          <p:nvSpPr>
            <p:cNvPr id="15" name="TextBox 14"/>
            <p:cNvSpPr txBox="1"/>
            <p:nvPr/>
          </p:nvSpPr>
          <p:spPr>
            <a:xfrm>
              <a:off x="831571" y="3505200"/>
              <a:ext cx="1994457" cy="707886"/>
            </a:xfrm>
            <a:prstGeom prst="rect">
              <a:avLst/>
            </a:prstGeom>
            <a:solidFill>
              <a:schemeClr val="accent6">
                <a:lumMod val="60000"/>
                <a:lumOff val="40000"/>
              </a:schemeClr>
            </a:solidFill>
          </p:spPr>
          <p:txBody>
            <a:bodyPr wrap="none" rtlCol="0">
              <a:spAutoFit/>
            </a:bodyPr>
            <a:lstStyle/>
            <a:p>
              <a:pPr algn="ctr"/>
              <a:r>
                <a:rPr lang="en-US" sz="2000" dirty="0" smtClean="0">
                  <a:latin typeface="Arial" pitchFamily="34" charset="0"/>
                  <a:cs typeface="Arial" pitchFamily="34" charset="0"/>
                </a:rPr>
                <a:t>Geographical </a:t>
              </a:r>
            </a:p>
            <a:p>
              <a:pPr algn="ctr"/>
              <a:r>
                <a:rPr lang="en-US" sz="2000" dirty="0" smtClean="0">
                  <a:latin typeface="Arial" pitchFamily="34" charset="0"/>
                  <a:cs typeface="Arial" pitchFamily="34" charset="0"/>
                </a:rPr>
                <a:t>Drawing (Maps)</a:t>
              </a:r>
              <a:endParaRPr lang="en-US" sz="2000" dirty="0">
                <a:latin typeface="Arial" pitchFamily="34" charset="0"/>
                <a:cs typeface="Arial" pitchFamily="34" charset="0"/>
              </a:endParaRPr>
            </a:p>
          </p:txBody>
        </p:sp>
        <p:sp>
          <p:nvSpPr>
            <p:cNvPr id="16" name="TextBox 15"/>
            <p:cNvSpPr txBox="1"/>
            <p:nvPr/>
          </p:nvSpPr>
          <p:spPr>
            <a:xfrm>
              <a:off x="2383011" y="2302133"/>
              <a:ext cx="1837619" cy="1015663"/>
            </a:xfrm>
            <a:prstGeom prst="rect">
              <a:avLst/>
            </a:prstGeom>
            <a:solidFill>
              <a:schemeClr val="accent5">
                <a:lumMod val="40000"/>
                <a:lumOff val="60000"/>
              </a:schemeClr>
            </a:solidFill>
          </p:spPr>
          <p:txBody>
            <a:bodyPr wrap="none" rtlCol="0">
              <a:spAutoFit/>
            </a:bodyPr>
            <a:lstStyle/>
            <a:p>
              <a:pPr algn="ctr"/>
              <a:r>
                <a:rPr lang="en-US" sz="2000" dirty="0" smtClean="0">
                  <a:latin typeface="Arial" pitchFamily="34" charset="0"/>
                  <a:cs typeface="Arial" pitchFamily="34" charset="0"/>
                </a:rPr>
                <a:t>Botanical </a:t>
              </a:r>
            </a:p>
            <a:p>
              <a:pPr algn="ctr"/>
              <a:r>
                <a:rPr lang="en-US" sz="2000" dirty="0" smtClean="0">
                  <a:latin typeface="Arial" pitchFamily="34" charset="0"/>
                  <a:cs typeface="Arial" pitchFamily="34" charset="0"/>
                </a:rPr>
                <a:t>Drawing </a:t>
              </a:r>
            </a:p>
            <a:p>
              <a:pPr algn="ctr"/>
              <a:r>
                <a:rPr lang="en-US" sz="2000" dirty="0" smtClean="0">
                  <a:latin typeface="Arial" pitchFamily="34" charset="0"/>
                  <a:cs typeface="Arial" pitchFamily="34" charset="0"/>
                </a:rPr>
                <a:t>(Flower, Plant)</a:t>
              </a:r>
              <a:endParaRPr lang="en-US" sz="2000" dirty="0">
                <a:latin typeface="Arial" pitchFamily="34" charset="0"/>
                <a:cs typeface="Arial" pitchFamily="34" charset="0"/>
              </a:endParaRPr>
            </a:p>
          </p:txBody>
        </p:sp>
        <p:sp>
          <p:nvSpPr>
            <p:cNvPr id="17" name="TextBox 16"/>
            <p:cNvSpPr txBox="1"/>
            <p:nvPr/>
          </p:nvSpPr>
          <p:spPr>
            <a:xfrm>
              <a:off x="3395293" y="3498273"/>
              <a:ext cx="2505815" cy="1015663"/>
            </a:xfrm>
            <a:prstGeom prst="rect">
              <a:avLst/>
            </a:prstGeom>
            <a:solidFill>
              <a:schemeClr val="tx2">
                <a:lumMod val="20000"/>
                <a:lumOff val="80000"/>
              </a:schemeClr>
            </a:solidFill>
          </p:spPr>
          <p:txBody>
            <a:bodyPr wrap="none" rtlCol="0">
              <a:spAutoFit/>
            </a:bodyPr>
            <a:lstStyle/>
            <a:p>
              <a:pPr algn="ctr"/>
              <a:r>
                <a:rPr lang="en-US" sz="2000" dirty="0" smtClean="0">
                  <a:latin typeface="Arial" pitchFamily="34" charset="0"/>
                  <a:cs typeface="Arial" pitchFamily="34" charset="0"/>
                </a:rPr>
                <a:t>Zoological </a:t>
              </a:r>
            </a:p>
            <a:p>
              <a:pPr algn="ctr"/>
              <a:r>
                <a:rPr lang="en-US" sz="2000" dirty="0" smtClean="0">
                  <a:latin typeface="Arial" pitchFamily="34" charset="0"/>
                  <a:cs typeface="Arial" pitchFamily="34" charset="0"/>
                </a:rPr>
                <a:t>Drawing </a:t>
              </a:r>
            </a:p>
            <a:p>
              <a:pPr algn="ctr"/>
              <a:r>
                <a:rPr lang="en-US" sz="2000" dirty="0" smtClean="0">
                  <a:latin typeface="Arial" pitchFamily="34" charset="0"/>
                  <a:cs typeface="Arial" pitchFamily="34" charset="0"/>
                </a:rPr>
                <a:t>(Creatures, animals)</a:t>
              </a:r>
              <a:endParaRPr lang="en-US" sz="2000" dirty="0">
                <a:latin typeface="Arial" pitchFamily="34" charset="0"/>
                <a:cs typeface="Arial" pitchFamily="34" charset="0"/>
              </a:endParaRPr>
            </a:p>
          </p:txBody>
        </p:sp>
        <p:sp>
          <p:nvSpPr>
            <p:cNvPr id="18" name="TextBox 17"/>
            <p:cNvSpPr txBox="1"/>
            <p:nvPr/>
          </p:nvSpPr>
          <p:spPr>
            <a:xfrm>
              <a:off x="5105400" y="2266311"/>
              <a:ext cx="2133600" cy="1015663"/>
            </a:xfrm>
            <a:prstGeom prst="rect">
              <a:avLst/>
            </a:prstGeom>
            <a:solidFill>
              <a:srgbClr val="FFFF00"/>
            </a:solidFill>
          </p:spPr>
          <p:txBody>
            <a:bodyPr wrap="square" rtlCol="0">
              <a:spAutoFit/>
            </a:bodyPr>
            <a:lstStyle/>
            <a:p>
              <a:pPr algn="ctr"/>
              <a:r>
                <a:rPr lang="en-US" sz="2000" dirty="0" smtClean="0">
                  <a:latin typeface="Arial" pitchFamily="34" charset="0"/>
                  <a:cs typeface="Arial" pitchFamily="34" charset="0"/>
                </a:rPr>
                <a:t>Portraits</a:t>
              </a:r>
            </a:p>
            <a:p>
              <a:pPr algn="ctr"/>
              <a:r>
                <a:rPr lang="en-US" sz="2000" dirty="0" smtClean="0">
                  <a:latin typeface="Arial" pitchFamily="34" charset="0"/>
                  <a:cs typeface="Arial" pitchFamily="34" charset="0"/>
                </a:rPr>
                <a:t>(Human Face,</a:t>
              </a:r>
            </a:p>
            <a:p>
              <a:pPr algn="ctr"/>
              <a:r>
                <a:rPr lang="en-US" sz="2000" dirty="0" smtClean="0">
                  <a:latin typeface="Arial" pitchFamily="34" charset="0"/>
                  <a:cs typeface="Arial" pitchFamily="34" charset="0"/>
                </a:rPr>
                <a:t>expressions)</a:t>
              </a:r>
              <a:endParaRPr lang="en-US" sz="2000" dirty="0">
                <a:latin typeface="Arial" pitchFamily="34" charset="0"/>
                <a:cs typeface="Arial" pitchFamily="34" charset="0"/>
              </a:endParaRPr>
            </a:p>
          </p:txBody>
        </p:sp>
        <p:sp>
          <p:nvSpPr>
            <p:cNvPr id="19" name="TextBox 18"/>
            <p:cNvSpPr txBox="1"/>
            <p:nvPr/>
          </p:nvSpPr>
          <p:spPr>
            <a:xfrm>
              <a:off x="6959517" y="3609109"/>
              <a:ext cx="1625766" cy="707886"/>
            </a:xfrm>
            <a:prstGeom prst="rect">
              <a:avLst/>
            </a:prstGeom>
            <a:solidFill>
              <a:schemeClr val="accent3">
                <a:lumMod val="60000"/>
                <a:lumOff val="40000"/>
              </a:schemeClr>
            </a:solidFill>
          </p:spPr>
          <p:txBody>
            <a:bodyPr wrap="none" rtlCol="0">
              <a:spAutoFit/>
            </a:bodyPr>
            <a:lstStyle/>
            <a:p>
              <a:pPr algn="ctr"/>
              <a:r>
                <a:rPr lang="en-US" sz="2000" dirty="0" smtClean="0">
                  <a:latin typeface="Arial" pitchFamily="34" charset="0"/>
                  <a:cs typeface="Arial" pitchFamily="34" charset="0"/>
                </a:rPr>
                <a:t>Engineering </a:t>
              </a:r>
            </a:p>
            <a:p>
              <a:pPr algn="ctr"/>
              <a:r>
                <a:rPr lang="en-US" sz="2000" dirty="0" smtClean="0">
                  <a:latin typeface="Arial" pitchFamily="34" charset="0"/>
                  <a:cs typeface="Arial" pitchFamily="34" charset="0"/>
                </a:rPr>
                <a:t>Drawings</a:t>
              </a:r>
              <a:endParaRPr lang="en-US" sz="2000" dirty="0">
                <a:latin typeface="Arial" pitchFamily="34" charset="0"/>
                <a:cs typeface="Arial" pitchFamily="34" charset="0"/>
              </a:endParaRPr>
            </a:p>
          </p:txBody>
        </p:sp>
        <p:cxnSp>
          <p:nvCxnSpPr>
            <p:cNvPr id="20" name="Straight Connector 19"/>
            <p:cNvCxnSpPr>
              <a:stCxn id="19" idx="2"/>
            </p:cNvCxnSpPr>
            <p:nvPr/>
          </p:nvCxnSpPr>
          <p:spPr>
            <a:xfrm>
              <a:off x="7772400" y="4316995"/>
              <a:ext cx="0" cy="4836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990600" y="4800600"/>
              <a:ext cx="6781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a:off x="990600" y="4800600"/>
              <a:ext cx="0" cy="266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5901108" y="4800600"/>
              <a:ext cx="0" cy="266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233352" y="5088082"/>
              <a:ext cx="3068469" cy="400110"/>
            </a:xfrm>
            <a:prstGeom prst="rect">
              <a:avLst/>
            </a:prstGeom>
            <a:solidFill>
              <a:schemeClr val="bg2"/>
            </a:solidFill>
          </p:spPr>
          <p:txBody>
            <a:bodyPr wrap="none" rtlCol="0">
              <a:spAutoFit/>
            </a:bodyPr>
            <a:lstStyle/>
            <a:p>
              <a:r>
                <a:rPr lang="en-US" sz="2000" dirty="0" smtClean="0">
                  <a:latin typeface="Arial" pitchFamily="34" charset="0"/>
                  <a:cs typeface="Arial" pitchFamily="34" charset="0"/>
                </a:rPr>
                <a:t>Building Related Drawing</a:t>
              </a:r>
              <a:endParaRPr lang="en-US" sz="2000" dirty="0">
                <a:latin typeface="Arial" pitchFamily="34" charset="0"/>
                <a:cs typeface="Arial" pitchFamily="34" charset="0"/>
              </a:endParaRPr>
            </a:p>
          </p:txBody>
        </p:sp>
        <p:sp>
          <p:nvSpPr>
            <p:cNvPr id="25" name="TextBox 24"/>
            <p:cNvSpPr txBox="1"/>
            <p:nvPr/>
          </p:nvSpPr>
          <p:spPr>
            <a:xfrm>
              <a:off x="4419156" y="5088082"/>
              <a:ext cx="3506088" cy="400110"/>
            </a:xfrm>
            <a:prstGeom prst="rect">
              <a:avLst/>
            </a:prstGeom>
            <a:solidFill>
              <a:srgbClr val="FFC000"/>
            </a:solidFill>
          </p:spPr>
          <p:txBody>
            <a:bodyPr wrap="none" rtlCol="0">
              <a:spAutoFit/>
            </a:bodyPr>
            <a:lstStyle/>
            <a:p>
              <a:r>
                <a:rPr lang="en-US" sz="2000" dirty="0" smtClean="0">
                  <a:latin typeface="Arial" pitchFamily="34" charset="0"/>
                  <a:cs typeface="Arial" pitchFamily="34" charset="0"/>
                </a:rPr>
                <a:t>Machine component Drawing</a:t>
              </a:r>
              <a:endParaRPr lang="en-US" sz="2000" dirty="0">
                <a:latin typeface="Arial" pitchFamily="34" charset="0"/>
                <a:cs typeface="Arial" pitchFamily="34" charset="0"/>
              </a:endParaRPr>
            </a:p>
          </p:txBody>
        </p:sp>
        <p:cxnSp>
          <p:nvCxnSpPr>
            <p:cNvPr id="26" name="Straight Connector 25"/>
            <p:cNvCxnSpPr/>
            <p:nvPr/>
          </p:nvCxnSpPr>
          <p:spPr>
            <a:xfrm>
              <a:off x="990600" y="5575679"/>
              <a:ext cx="5029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p:nvPr/>
          </p:nvCxnSpPr>
          <p:spPr>
            <a:xfrm>
              <a:off x="1632178" y="5575679"/>
              <a:ext cx="0" cy="2735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181600" y="5575679"/>
              <a:ext cx="0" cy="273507"/>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799257" y="5849838"/>
              <a:ext cx="1665841" cy="707886"/>
            </a:xfrm>
            <a:prstGeom prst="rect">
              <a:avLst/>
            </a:prstGeom>
            <a:solidFill>
              <a:schemeClr val="accent5"/>
            </a:solidFill>
          </p:spPr>
          <p:txBody>
            <a:bodyPr wrap="none" rtlCol="0">
              <a:spAutoFit/>
            </a:bodyPr>
            <a:lstStyle/>
            <a:p>
              <a:r>
                <a:rPr lang="en-US" sz="2000" dirty="0" smtClean="0">
                  <a:latin typeface="Arial" pitchFamily="34" charset="0"/>
                  <a:cs typeface="Arial" pitchFamily="34" charset="0"/>
                </a:rPr>
                <a:t>Orthographic</a:t>
              </a:r>
            </a:p>
            <a:p>
              <a:r>
                <a:rPr lang="en-US" sz="2000" dirty="0" smtClean="0">
                  <a:latin typeface="Arial" pitchFamily="34" charset="0"/>
                  <a:cs typeface="Arial" pitchFamily="34" charset="0"/>
                </a:rPr>
                <a:t>Projection</a:t>
              </a:r>
              <a:endParaRPr lang="en-US" sz="2000" dirty="0">
                <a:latin typeface="Arial" pitchFamily="34" charset="0"/>
                <a:cs typeface="Arial" pitchFamily="34" charset="0"/>
              </a:endParaRPr>
            </a:p>
          </p:txBody>
        </p:sp>
        <p:sp>
          <p:nvSpPr>
            <p:cNvPr id="30" name="TextBox 29"/>
            <p:cNvSpPr txBox="1"/>
            <p:nvPr/>
          </p:nvSpPr>
          <p:spPr>
            <a:xfrm>
              <a:off x="4518598" y="5849186"/>
              <a:ext cx="1326004" cy="707886"/>
            </a:xfrm>
            <a:prstGeom prst="rect">
              <a:avLst/>
            </a:prstGeom>
            <a:solidFill>
              <a:srgbClr val="FF0000"/>
            </a:solidFill>
          </p:spPr>
          <p:txBody>
            <a:bodyPr wrap="none" rtlCol="0">
              <a:spAutoFit/>
            </a:bodyPr>
            <a:lstStyle/>
            <a:p>
              <a:r>
                <a:rPr lang="en-US" sz="2000" dirty="0" smtClean="0">
                  <a:latin typeface="Arial" pitchFamily="34" charset="0"/>
                  <a:cs typeface="Arial" pitchFamily="34" charset="0"/>
                </a:rPr>
                <a:t>Isometric </a:t>
              </a:r>
            </a:p>
            <a:p>
              <a:r>
                <a:rPr lang="en-US" sz="2000" dirty="0" smtClean="0">
                  <a:latin typeface="Arial" pitchFamily="34" charset="0"/>
                  <a:cs typeface="Arial" pitchFamily="34" charset="0"/>
                </a:rPr>
                <a:t>Projection</a:t>
              </a:r>
              <a:endParaRPr lang="en-US" sz="2000" dirty="0">
                <a:latin typeface="Arial" pitchFamily="34" charset="0"/>
                <a:cs typeface="Arial" pitchFamily="34" charset="0"/>
              </a:endParaRPr>
            </a:p>
          </p:txBody>
        </p:sp>
      </p:grpSp>
    </p:spTree>
    <p:extLst>
      <p:ext uri="{BB962C8B-B14F-4D97-AF65-F5344CB8AC3E}">
        <p14:creationId xmlns:p14="http://schemas.microsoft.com/office/powerpoint/2010/main" val="14961769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Types of </a:t>
            </a:r>
            <a:r>
              <a:rPr lang="en-US" altLang="ja-JP" b="1" spc="-150" dirty="0" smtClean="0">
                <a:latin typeface="Times New Roman" pitchFamily="18" charset="0"/>
                <a:cs typeface="Times New Roman" pitchFamily="18" charset="0"/>
              </a:rPr>
              <a:t>Drawing…</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7131049"/>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anose="02020603050405020304" pitchFamily="18" charset="0"/>
                <a:cs typeface="Times New Roman" pitchFamily="18" charset="0"/>
              </a:rPr>
              <a:t>Department of  Mechanical Engineering, RUET</a:t>
            </a:r>
            <a:endParaRPr lang="en-US" altLang="ja-JP" sz="2000" i="1" spc="-150" dirty="0">
              <a:latin typeface="Times New Roman" pitchFamily="18" charset="0"/>
              <a:cs typeface="Times New Roman" pitchFamily="18" charset="0"/>
            </a:endParaRPr>
          </a:p>
        </p:txBody>
      </p:sp>
      <p:sp>
        <p:nvSpPr>
          <p:cNvPr id="22" name="Rectangle 2"/>
          <p:cNvSpPr>
            <a:spLocks noChangeArrowheads="1"/>
          </p:cNvSpPr>
          <p:nvPr/>
        </p:nvSpPr>
        <p:spPr bwMode="auto">
          <a:xfrm>
            <a:off x="228600" y="3581399"/>
            <a:ext cx="89154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fontAlgn="base" hangingPunct="1">
              <a:spcBef>
                <a:spcPct val="50000"/>
              </a:spcBef>
              <a:spcAft>
                <a:spcPct val="0"/>
              </a:spcAft>
            </a:pPr>
            <a:endParaRPr lang="en-US" altLang="en-US" dirty="0" smtClean="0">
              <a:solidFill>
                <a:srgbClr val="0000FF"/>
              </a:solidFill>
              <a:cs typeface="Times New Roman" panose="02020603050405020304" pitchFamily="18" charset="0"/>
            </a:endParaRPr>
          </a:p>
          <a:p>
            <a:pPr eaLnBrk="1" fontAlgn="base" hangingPunct="1">
              <a:spcBef>
                <a:spcPct val="50000"/>
              </a:spcBef>
              <a:spcAft>
                <a:spcPct val="0"/>
              </a:spcAft>
            </a:pPr>
            <a:r>
              <a:rPr lang="en-US" altLang="en-US" b="1" dirty="0" smtClean="0">
                <a:solidFill>
                  <a:srgbClr val="1C1C1C"/>
                </a:solidFill>
                <a:cs typeface="Times New Roman" panose="02020603050405020304" pitchFamily="18" charset="0"/>
              </a:rPr>
              <a:t>Computer has a major impact on the methods used to design and create technical drawings.</a:t>
            </a:r>
          </a:p>
          <a:p>
            <a:pPr eaLnBrk="1" fontAlgn="base" hangingPunct="1">
              <a:spcBef>
                <a:spcPct val="50000"/>
              </a:spcBef>
              <a:spcAft>
                <a:spcPct val="0"/>
              </a:spcAft>
            </a:pPr>
            <a:r>
              <a:rPr lang="en-US" altLang="en-US" b="1" dirty="0" smtClean="0">
                <a:solidFill>
                  <a:srgbClr val="1C1C1C"/>
                </a:solidFill>
                <a:cs typeface="Times New Roman" panose="02020603050405020304" pitchFamily="18" charset="0"/>
              </a:rPr>
              <a:t>Design and drafting on computer are cheap and less time consuming.</a:t>
            </a:r>
          </a:p>
          <a:p>
            <a:pPr eaLnBrk="1" fontAlgn="base" hangingPunct="1">
              <a:spcBef>
                <a:spcPct val="50000"/>
              </a:spcBef>
              <a:spcAft>
                <a:spcPct val="0"/>
              </a:spcAft>
            </a:pPr>
            <a:r>
              <a:rPr lang="en-US" altLang="en-US" b="1" dirty="0" smtClean="0">
                <a:solidFill>
                  <a:srgbClr val="0000FF"/>
                </a:solidFill>
                <a:cs typeface="Times New Roman" panose="02020603050405020304" pitchFamily="18" charset="0"/>
              </a:rPr>
              <a:t>Why we go for manual drawing?</a:t>
            </a:r>
          </a:p>
        </p:txBody>
      </p:sp>
      <p:sp>
        <p:nvSpPr>
          <p:cNvPr id="23" name="Text Box 4"/>
          <p:cNvSpPr txBox="1">
            <a:spLocks noChangeArrowheads="1"/>
          </p:cNvSpPr>
          <p:nvPr/>
        </p:nvSpPr>
        <p:spPr bwMode="auto">
          <a:xfrm>
            <a:off x="1981200" y="738187"/>
            <a:ext cx="4876800" cy="1015663"/>
          </a:xfrm>
          <a:prstGeom prst="rect">
            <a:avLst/>
          </a:prstGeom>
          <a:solidFill>
            <a:srgbClr val="00CC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1" i="0" u="none" strike="noStrike" kern="0" cap="none" spc="0" normalizeH="0" baseline="0" noProof="0" smtClean="0">
                <a:ln>
                  <a:noFill/>
                </a:ln>
                <a:solidFill>
                  <a:srgbClr val="0000FF"/>
                </a:solidFill>
                <a:effectLst/>
                <a:uLnTx/>
                <a:uFillTx/>
                <a:cs typeface="Times New Roman" panose="02020603050405020304" pitchFamily="18" charset="0"/>
              </a:rPr>
              <a:t>Engineering Drawing</a:t>
            </a:r>
          </a:p>
          <a:p>
            <a:pPr marL="0" marR="0" lvl="0" indent="0" defTabSz="914400" eaLnBrk="1" fontAlgn="base" latinLnBrk="0" hangingPunct="1">
              <a:lnSpc>
                <a:spcPct val="100000"/>
              </a:lnSpc>
              <a:spcBef>
                <a:spcPct val="50000"/>
              </a:spcBef>
              <a:spcAft>
                <a:spcPct val="0"/>
              </a:spcAft>
              <a:buClrTx/>
              <a:buSzTx/>
              <a:buFontTx/>
              <a:buNone/>
              <a:tabLst/>
              <a:defRPr/>
            </a:pPr>
            <a:endParaRPr kumimoji="0" lang="en-US" altLang="en-US" sz="2400" b="1" i="0" u="none" strike="noStrike" kern="0" cap="none" spc="0" normalizeH="0" baseline="0" noProof="0" smtClean="0">
              <a:ln>
                <a:noFill/>
              </a:ln>
              <a:solidFill>
                <a:srgbClr val="0000FF"/>
              </a:solidFill>
              <a:effectLst/>
              <a:uLnTx/>
              <a:uFillTx/>
              <a:cs typeface="Times New Roman" panose="02020603050405020304" pitchFamily="18" charset="0"/>
            </a:endParaRPr>
          </a:p>
        </p:txBody>
      </p:sp>
      <p:sp>
        <p:nvSpPr>
          <p:cNvPr id="24" name="Line 5"/>
          <p:cNvSpPr>
            <a:spLocks noChangeShapeType="1"/>
          </p:cNvSpPr>
          <p:nvPr/>
        </p:nvSpPr>
        <p:spPr bwMode="auto">
          <a:xfrm>
            <a:off x="4572000" y="1743075"/>
            <a:ext cx="0" cy="46672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25" name="Line 6"/>
          <p:cNvSpPr>
            <a:spLocks noChangeShapeType="1"/>
          </p:cNvSpPr>
          <p:nvPr/>
        </p:nvSpPr>
        <p:spPr bwMode="auto">
          <a:xfrm>
            <a:off x="933450" y="2209799"/>
            <a:ext cx="72771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26" name="Line 7"/>
          <p:cNvSpPr>
            <a:spLocks noChangeShapeType="1"/>
          </p:cNvSpPr>
          <p:nvPr/>
        </p:nvSpPr>
        <p:spPr bwMode="auto">
          <a:xfrm>
            <a:off x="914400" y="2209799"/>
            <a:ext cx="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27" name="Line 8"/>
          <p:cNvSpPr>
            <a:spLocks noChangeShapeType="1"/>
          </p:cNvSpPr>
          <p:nvPr/>
        </p:nvSpPr>
        <p:spPr bwMode="auto">
          <a:xfrm>
            <a:off x="8229600" y="2209799"/>
            <a:ext cx="0" cy="6858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smtClean="0">
              <a:ln>
                <a:noFill/>
              </a:ln>
              <a:solidFill>
                <a:srgbClr val="000000"/>
              </a:solidFill>
              <a:effectLst/>
              <a:uLnTx/>
              <a:uFillTx/>
              <a:latin typeface="Times New Roman" panose="02020603050405020304" pitchFamily="18" charset="0"/>
              <a:cs typeface="Times New Roman" panose="02020603050405020304" pitchFamily="18" charset="0"/>
            </a:endParaRPr>
          </a:p>
        </p:txBody>
      </p:sp>
      <p:sp>
        <p:nvSpPr>
          <p:cNvPr id="28" name="Text Box 9"/>
          <p:cNvSpPr txBox="1">
            <a:spLocks noChangeArrowheads="1"/>
          </p:cNvSpPr>
          <p:nvPr/>
        </p:nvSpPr>
        <p:spPr bwMode="auto">
          <a:xfrm>
            <a:off x="228600" y="2819399"/>
            <a:ext cx="4038600" cy="1015663"/>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0" i="0" u="none" strike="noStrike" kern="0" cap="none" spc="0" normalizeH="0" baseline="0" noProof="0" dirty="0" smtClean="0">
                <a:ln>
                  <a:noFill/>
                </a:ln>
                <a:solidFill>
                  <a:srgbClr val="FFFF00"/>
                </a:solidFill>
                <a:effectLst/>
                <a:uLnTx/>
                <a:uFillTx/>
                <a:cs typeface="Times New Roman" panose="02020603050405020304" pitchFamily="18" charset="0"/>
              </a:rPr>
              <a:t>Manual Drawing</a:t>
            </a:r>
          </a:p>
          <a:p>
            <a:pPr marL="0" marR="0" lvl="0" indent="0" defTabSz="914400" eaLnBrk="1" fontAlgn="base" latinLnBrk="0" hangingPunct="1">
              <a:lnSpc>
                <a:spcPct val="100000"/>
              </a:lnSpc>
              <a:spcBef>
                <a:spcPct val="50000"/>
              </a:spcBef>
              <a:spcAft>
                <a:spcPct val="0"/>
              </a:spcAft>
              <a:buClrTx/>
              <a:buSzTx/>
              <a:buFontTx/>
              <a:buNone/>
              <a:tabLst/>
              <a:defRPr/>
            </a:pPr>
            <a:endParaRPr kumimoji="0" lang="en-US" altLang="en-US" sz="2400" b="0" i="0" u="none" strike="noStrike" kern="0" cap="none" spc="0" normalizeH="0" baseline="0" noProof="0" dirty="0" smtClean="0">
              <a:ln>
                <a:noFill/>
              </a:ln>
              <a:solidFill>
                <a:srgbClr val="FFFF00"/>
              </a:solidFill>
              <a:effectLst/>
              <a:uLnTx/>
              <a:uFillTx/>
              <a:cs typeface="Times New Roman" panose="02020603050405020304" pitchFamily="18" charset="0"/>
            </a:endParaRPr>
          </a:p>
        </p:txBody>
      </p:sp>
      <p:sp>
        <p:nvSpPr>
          <p:cNvPr id="29" name="Text Box 10"/>
          <p:cNvSpPr txBox="1">
            <a:spLocks noChangeArrowheads="1"/>
          </p:cNvSpPr>
          <p:nvPr/>
        </p:nvSpPr>
        <p:spPr bwMode="auto">
          <a:xfrm>
            <a:off x="5715000" y="2819399"/>
            <a:ext cx="3048000" cy="1015663"/>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marL="0" marR="0" lvl="0" indent="0" algn="ctr" defTabSz="914400" eaLnBrk="1" fontAlgn="base" latinLnBrk="0" hangingPunct="1">
              <a:lnSpc>
                <a:spcPct val="100000"/>
              </a:lnSpc>
              <a:spcBef>
                <a:spcPct val="50000"/>
              </a:spcBef>
              <a:spcAft>
                <a:spcPct val="0"/>
              </a:spcAft>
              <a:buClrTx/>
              <a:buSzTx/>
              <a:buFontTx/>
              <a:buNone/>
              <a:tabLst/>
              <a:defRPr/>
            </a:pPr>
            <a:r>
              <a:rPr kumimoji="0" lang="en-US" altLang="en-US" sz="2400" b="1" i="0" u="none" strike="noStrike" kern="0" cap="none" spc="0" normalizeH="0" baseline="0" noProof="0" dirty="0" smtClean="0">
                <a:ln>
                  <a:noFill/>
                </a:ln>
                <a:solidFill>
                  <a:srgbClr val="FFFF00"/>
                </a:solidFill>
                <a:effectLst/>
                <a:uLnTx/>
                <a:uFillTx/>
                <a:cs typeface="Times New Roman" panose="02020603050405020304" pitchFamily="18" charset="0"/>
              </a:rPr>
              <a:t>CADD</a:t>
            </a:r>
          </a:p>
          <a:p>
            <a:pPr marL="0" marR="0" lvl="0" indent="0" defTabSz="914400" eaLnBrk="1" fontAlgn="base" latinLnBrk="0" hangingPunct="1">
              <a:lnSpc>
                <a:spcPct val="100000"/>
              </a:lnSpc>
              <a:spcBef>
                <a:spcPct val="50000"/>
              </a:spcBef>
              <a:spcAft>
                <a:spcPct val="0"/>
              </a:spcAft>
              <a:buClrTx/>
              <a:buSzTx/>
              <a:buFontTx/>
              <a:buNone/>
              <a:tabLst/>
              <a:defRPr/>
            </a:pPr>
            <a:endParaRPr kumimoji="0" lang="en-US" altLang="en-US" sz="2400" b="0" i="0" u="none" strike="noStrike" kern="0" cap="none" spc="0" normalizeH="0" baseline="0" noProof="0" dirty="0" smtClean="0">
              <a:ln>
                <a:noFill/>
              </a:ln>
              <a:solidFill>
                <a:srgbClr val="FFFF00"/>
              </a:solidFill>
              <a:effectLst/>
              <a:uLnTx/>
              <a:uFillTx/>
              <a:cs typeface="Times New Roman" panose="02020603050405020304" pitchFamily="18" charset="0"/>
            </a:endParaRPr>
          </a:p>
        </p:txBody>
      </p:sp>
    </p:spTree>
    <p:extLst>
      <p:ext uri="{BB962C8B-B14F-4D97-AF65-F5344CB8AC3E}">
        <p14:creationId xmlns:p14="http://schemas.microsoft.com/office/powerpoint/2010/main" val="32097449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Why we go for manual drawing?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4" name="Text Box 2"/>
          <p:cNvSpPr txBox="1">
            <a:spLocks noChangeArrowheads="1"/>
          </p:cNvSpPr>
          <p:nvPr/>
        </p:nvSpPr>
        <p:spPr bwMode="auto">
          <a:xfrm>
            <a:off x="-76200" y="990600"/>
            <a:ext cx="9296400" cy="4278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sz="3200" dirty="0">
                <a:solidFill>
                  <a:srgbClr val="1C1C1C"/>
                </a:solidFill>
                <a:cs typeface="Times New Roman" panose="02020603050405020304" pitchFamily="18" charset="0"/>
              </a:rPr>
              <a:t>Computer cannot replace the drafting board and equipment as a learning </a:t>
            </a:r>
            <a:r>
              <a:rPr lang="en-US" altLang="en-US" sz="3200" dirty="0" smtClean="0">
                <a:solidFill>
                  <a:srgbClr val="1C1C1C"/>
                </a:solidFill>
                <a:cs typeface="Times New Roman" panose="02020603050405020304" pitchFamily="18" charset="0"/>
              </a:rPr>
              <a:t>tool</a:t>
            </a:r>
            <a:endParaRPr lang="en-US" altLang="en-US" sz="3200" dirty="0">
              <a:solidFill>
                <a:srgbClr val="1C1C1C"/>
              </a:solidFill>
              <a:cs typeface="Times New Roman" panose="02020603050405020304" pitchFamily="18" charset="0"/>
            </a:endParaRPr>
          </a:p>
          <a:p>
            <a:pPr eaLnBrk="1" hangingPunct="1">
              <a:spcBef>
                <a:spcPct val="50000"/>
              </a:spcBef>
            </a:pPr>
            <a:r>
              <a:rPr lang="en-US" altLang="en-US" sz="3200" dirty="0" smtClean="0">
                <a:solidFill>
                  <a:srgbClr val="1C1C1C"/>
                </a:solidFill>
                <a:cs typeface="Times New Roman" panose="02020603050405020304" pitchFamily="18" charset="0"/>
              </a:rPr>
              <a:t>If </a:t>
            </a:r>
            <a:r>
              <a:rPr lang="en-US" altLang="en-US" sz="3200" dirty="0">
                <a:solidFill>
                  <a:srgbClr val="1C1C1C"/>
                </a:solidFill>
                <a:cs typeface="Times New Roman" panose="02020603050405020304" pitchFamily="18" charset="0"/>
              </a:rPr>
              <a:t>basic fundamentals are clear, better use can be made of the power of the </a:t>
            </a:r>
            <a:r>
              <a:rPr lang="en-US" altLang="en-US" sz="3200" dirty="0" smtClean="0">
                <a:solidFill>
                  <a:srgbClr val="1C1C1C"/>
                </a:solidFill>
                <a:cs typeface="Times New Roman" panose="02020603050405020304" pitchFamily="18" charset="0"/>
              </a:rPr>
              <a:t>software</a:t>
            </a:r>
            <a:endParaRPr lang="en-US" altLang="en-US" sz="3200" dirty="0">
              <a:solidFill>
                <a:srgbClr val="1C1C1C"/>
              </a:solidFill>
              <a:cs typeface="Times New Roman" panose="02020603050405020304" pitchFamily="18" charset="0"/>
            </a:endParaRPr>
          </a:p>
          <a:p>
            <a:pPr eaLnBrk="1" hangingPunct="1">
              <a:spcBef>
                <a:spcPct val="50000"/>
              </a:spcBef>
            </a:pPr>
            <a:r>
              <a:rPr lang="en-US" altLang="en-US" sz="3200" dirty="0">
                <a:solidFill>
                  <a:srgbClr val="1C1C1C"/>
                </a:solidFill>
                <a:cs typeface="Times New Roman" panose="02020603050405020304" pitchFamily="18" charset="0"/>
              </a:rPr>
              <a:t>To be an expert in technical drawing, this first course on Engineering (manual) Drawing is the first </a:t>
            </a:r>
            <a:r>
              <a:rPr lang="en-US" altLang="en-US" sz="3200" dirty="0" smtClean="0">
                <a:solidFill>
                  <a:srgbClr val="1C1C1C"/>
                </a:solidFill>
                <a:cs typeface="Times New Roman" panose="02020603050405020304" pitchFamily="18" charset="0"/>
              </a:rPr>
              <a:t>step</a:t>
            </a:r>
            <a:endParaRPr lang="en-US" altLang="en-US" sz="3200" dirty="0">
              <a:solidFill>
                <a:srgbClr val="000000"/>
              </a:solidFill>
              <a:cs typeface="Times New Roman" panose="02020603050405020304" pitchFamily="18" charset="0"/>
            </a:endParaRPr>
          </a:p>
          <a:p>
            <a:pPr eaLnBrk="1" hangingPunct="1">
              <a:spcBef>
                <a:spcPct val="50000"/>
              </a:spcBef>
            </a:pPr>
            <a:endParaRPr lang="en-US" altLang="en-US" sz="3200" dirty="0">
              <a:cs typeface="Times New Roman" panose="02020603050405020304" pitchFamily="18" charset="0"/>
            </a:endParaRPr>
          </a:p>
        </p:txBody>
      </p:sp>
    </p:spTree>
    <p:extLst>
      <p:ext uri="{BB962C8B-B14F-4D97-AF65-F5344CB8AC3E}">
        <p14:creationId xmlns:p14="http://schemas.microsoft.com/office/powerpoint/2010/main" val="41902246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Items required for </a:t>
            </a:r>
            <a:r>
              <a:rPr lang="en-US" altLang="ja-JP" b="1" spc="-150" dirty="0" smtClean="0">
                <a:latin typeface="Times New Roman" pitchFamily="18" charset="0"/>
                <a:cs typeface="Times New Roman" pitchFamily="18" charset="0"/>
              </a:rPr>
              <a:t>drawing</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3" name="Rectangle 2"/>
          <p:cNvSpPr/>
          <p:nvPr/>
        </p:nvSpPr>
        <p:spPr>
          <a:xfrm>
            <a:off x="0" y="714377"/>
            <a:ext cx="4343400" cy="6001643"/>
          </a:xfrm>
          <a:prstGeom prst="rect">
            <a:avLst/>
          </a:prstGeom>
        </p:spPr>
        <p:txBody>
          <a:bodyPr wrap="square">
            <a:spAutoFit/>
          </a:bodyPr>
          <a:lstStyle/>
          <a:p>
            <a:pPr marL="342900" indent="-342900">
              <a:buFont typeface="Wingdings" panose="05000000000000000000" pitchFamily="2" charset="2"/>
              <a:buChar char="ü"/>
            </a:pPr>
            <a:r>
              <a:rPr lang="en-US" sz="3200" dirty="0" smtClean="0">
                <a:latin typeface="Times New Roman" panose="02020603050405020304" pitchFamily="18" charset="0"/>
                <a:cs typeface="Times New Roman" panose="02020603050405020304" pitchFamily="18" charset="0"/>
              </a:rPr>
              <a:t>Drawing board</a:t>
            </a:r>
          </a:p>
          <a:p>
            <a:pPr marL="342900" indent="-342900">
              <a:buFont typeface="Wingdings" panose="05000000000000000000" pitchFamily="2" charset="2"/>
              <a:buChar char="ü"/>
            </a:pPr>
            <a:r>
              <a:rPr lang="en-US" sz="3200" dirty="0" smtClean="0">
                <a:latin typeface="Times New Roman" panose="02020603050405020304" pitchFamily="18" charset="0"/>
                <a:cs typeface="Times New Roman" panose="02020603050405020304" pitchFamily="18" charset="0"/>
              </a:rPr>
              <a:t>Drawing sheet</a:t>
            </a:r>
          </a:p>
          <a:p>
            <a:pPr marL="342900" indent="-342900">
              <a:buFont typeface="Wingdings" panose="05000000000000000000" pitchFamily="2" charset="2"/>
              <a:buChar char="ü"/>
            </a:pPr>
            <a:r>
              <a:rPr lang="en-US" sz="3200" dirty="0" smtClean="0">
                <a:latin typeface="Times New Roman" panose="02020603050405020304" pitchFamily="18" charset="0"/>
                <a:cs typeface="Times New Roman" panose="02020603050405020304" pitchFamily="18" charset="0"/>
              </a:rPr>
              <a:t>T- square</a:t>
            </a:r>
          </a:p>
          <a:p>
            <a:pPr marL="342900" indent="-342900">
              <a:buFont typeface="Wingdings" panose="05000000000000000000" pitchFamily="2" charset="2"/>
              <a:buChar char="ü"/>
            </a:pPr>
            <a:r>
              <a:rPr lang="en-US" sz="3200" dirty="0" smtClean="0">
                <a:latin typeface="Times New Roman" panose="02020603050405020304" pitchFamily="18" charset="0"/>
                <a:cs typeface="Times New Roman" panose="02020603050405020304" pitchFamily="18" charset="0"/>
              </a:rPr>
              <a:t>Instrument </a:t>
            </a:r>
            <a:r>
              <a:rPr lang="en-US" sz="3200" dirty="0">
                <a:latin typeface="Times New Roman" panose="02020603050405020304" pitchFamily="18" charset="0"/>
                <a:cs typeface="Times New Roman" panose="02020603050405020304" pitchFamily="18" charset="0"/>
              </a:rPr>
              <a:t>box containing </a:t>
            </a:r>
            <a:r>
              <a:rPr lang="en-US" sz="3200" dirty="0" smtClean="0">
                <a:latin typeface="Times New Roman" panose="02020603050405020304" pitchFamily="18" charset="0"/>
                <a:cs typeface="Times New Roman" panose="02020603050405020304" pitchFamily="18" charset="0"/>
              </a:rPr>
              <a:t>only compass</a:t>
            </a:r>
          </a:p>
          <a:p>
            <a:pPr marL="342900" indent="-342900">
              <a:buFont typeface="Wingdings" panose="05000000000000000000" pitchFamily="2" charset="2"/>
              <a:buChar char="ü"/>
            </a:pPr>
            <a:r>
              <a:rPr lang="en-US" sz="3200" dirty="0" smtClean="0">
                <a:latin typeface="Times New Roman" panose="02020603050405020304" pitchFamily="18" charset="0"/>
                <a:cs typeface="Times New Roman" panose="02020603050405020304" pitchFamily="18" charset="0"/>
              </a:rPr>
              <a:t>Drawing pencils (2H and may have 4H)</a:t>
            </a:r>
          </a:p>
          <a:p>
            <a:pPr marL="342900" indent="-342900">
              <a:buFont typeface="Wingdings" panose="05000000000000000000" pitchFamily="2" charset="2"/>
              <a:buChar char="ü"/>
            </a:pPr>
            <a:r>
              <a:rPr lang="en-US" sz="3200" dirty="0" smtClean="0">
                <a:latin typeface="Times New Roman" panose="02020603050405020304" pitchFamily="18" charset="0"/>
                <a:cs typeface="Times New Roman" panose="02020603050405020304" pitchFamily="18" charset="0"/>
              </a:rPr>
              <a:t>Eraser</a:t>
            </a:r>
          </a:p>
          <a:p>
            <a:pPr marL="342900" indent="-342900">
              <a:buFont typeface="Wingdings" panose="05000000000000000000" pitchFamily="2" charset="2"/>
              <a:buChar char="ü"/>
            </a:pPr>
            <a:r>
              <a:rPr lang="en-US" sz="3200" dirty="0" smtClean="0">
                <a:latin typeface="Times New Roman" panose="02020603050405020304" pitchFamily="18" charset="0"/>
                <a:cs typeface="Times New Roman" panose="02020603050405020304" pitchFamily="18" charset="0"/>
              </a:rPr>
              <a:t>Adhesive tape</a:t>
            </a:r>
          </a:p>
          <a:p>
            <a:pPr marL="342900" indent="-342900">
              <a:buFont typeface="Wingdings" panose="05000000000000000000" pitchFamily="2" charset="2"/>
              <a:buChar char="ü"/>
            </a:pPr>
            <a:r>
              <a:rPr lang="en-US" sz="3200" dirty="0" smtClean="0">
                <a:latin typeface="Times New Roman" panose="02020603050405020304" pitchFamily="18" charset="0"/>
                <a:cs typeface="Times New Roman" panose="02020603050405020304" pitchFamily="18" charset="0"/>
              </a:rPr>
              <a:t>Sharpener</a:t>
            </a:r>
          </a:p>
          <a:p>
            <a:pPr marL="342900" indent="-342900">
              <a:buFont typeface="Wingdings" panose="05000000000000000000" pitchFamily="2" charset="2"/>
              <a:buChar char="ü"/>
            </a:pPr>
            <a:r>
              <a:rPr lang="en-US" sz="3200" dirty="0" smtClean="0">
                <a:latin typeface="Times New Roman" panose="02020603050405020304" pitchFamily="18" charset="0"/>
                <a:cs typeface="Times New Roman" panose="02020603050405020304" pitchFamily="18" charset="0"/>
              </a:rPr>
              <a:t>Duster cloth</a:t>
            </a:r>
            <a:endParaRPr lang="en-US" sz="32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95750" y="3279082"/>
            <a:ext cx="4762500" cy="317658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714377"/>
            <a:ext cx="5334000" cy="2714623"/>
          </a:xfrm>
          <a:prstGeom prst="rect">
            <a:avLst/>
          </a:prstGeom>
        </p:spPr>
      </p:pic>
    </p:spTree>
    <p:extLst>
      <p:ext uri="{BB962C8B-B14F-4D97-AF65-F5344CB8AC3E}">
        <p14:creationId xmlns:p14="http://schemas.microsoft.com/office/powerpoint/2010/main" val="189484356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Drawing Conventions &amp; Standards</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4" name="Rectangle 2"/>
          <p:cNvSpPr>
            <a:spLocks noChangeArrowheads="1"/>
          </p:cNvSpPr>
          <p:nvPr/>
        </p:nvSpPr>
        <p:spPr bwMode="auto">
          <a:xfrm>
            <a:off x="10236" y="760014"/>
            <a:ext cx="883920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sz="2600" b="1" dirty="0">
                <a:solidFill>
                  <a:srgbClr val="0000FF"/>
                </a:solidFill>
                <a:cs typeface="Times New Roman" panose="02020603050405020304" pitchFamily="18" charset="0"/>
              </a:rPr>
              <a:t>Conventions </a:t>
            </a:r>
            <a:r>
              <a:rPr lang="en-US" altLang="en-US" sz="2600" dirty="0">
                <a:solidFill>
                  <a:srgbClr val="000000"/>
                </a:solidFill>
                <a:cs typeface="Times New Roman" panose="02020603050405020304" pitchFamily="18" charset="0"/>
              </a:rPr>
              <a:t>– commonly accepted practices, </a:t>
            </a:r>
            <a:r>
              <a:rPr lang="en-US" altLang="en-US" sz="2600" dirty="0" smtClean="0">
                <a:solidFill>
                  <a:srgbClr val="000000"/>
                </a:solidFill>
                <a:cs typeface="Times New Roman" panose="02020603050405020304" pitchFamily="18" charset="0"/>
              </a:rPr>
              <a:t>rules, or methods</a:t>
            </a:r>
            <a:endParaRPr lang="en-US" altLang="en-US" sz="2600" dirty="0">
              <a:solidFill>
                <a:srgbClr val="000000"/>
              </a:solidFill>
              <a:cs typeface="Times New Roman" panose="02020603050405020304" pitchFamily="18" charset="0"/>
            </a:endParaRPr>
          </a:p>
        </p:txBody>
      </p:sp>
      <p:sp>
        <p:nvSpPr>
          <p:cNvPr id="6" name="Text Box 3"/>
          <p:cNvSpPr txBox="1">
            <a:spLocks noChangeArrowheads="1"/>
          </p:cNvSpPr>
          <p:nvPr/>
        </p:nvSpPr>
        <p:spPr bwMode="auto">
          <a:xfrm>
            <a:off x="3886200" y="1826814"/>
            <a:ext cx="4963236" cy="4339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US" altLang="en-US" dirty="0">
                <a:solidFill>
                  <a:srgbClr val="000000"/>
                </a:solidFill>
                <a:cs typeface="Times New Roman" panose="02020603050405020304" pitchFamily="18" charset="0"/>
              </a:rPr>
              <a:t>Dashed lines are used to represent </a:t>
            </a:r>
            <a:r>
              <a:rPr lang="en-US" altLang="en-US" dirty="0">
                <a:solidFill>
                  <a:srgbClr val="0000FF"/>
                </a:solidFill>
                <a:cs typeface="Times New Roman" panose="02020603050405020304" pitchFamily="18" charset="0"/>
              </a:rPr>
              <a:t>hidden features of</a:t>
            </a:r>
            <a:r>
              <a:rPr lang="en-US" altLang="en-US" dirty="0">
                <a:solidFill>
                  <a:srgbClr val="3E329B"/>
                </a:solidFill>
                <a:cs typeface="Times New Roman" panose="02020603050405020304" pitchFamily="18" charset="0"/>
              </a:rPr>
              <a:t> </a:t>
            </a:r>
            <a:r>
              <a:rPr lang="en-US" altLang="en-US" dirty="0">
                <a:solidFill>
                  <a:srgbClr val="000000"/>
                </a:solidFill>
                <a:cs typeface="Times New Roman" panose="02020603050405020304" pitchFamily="18" charset="0"/>
              </a:rPr>
              <a:t>an</a:t>
            </a:r>
          </a:p>
          <a:p>
            <a:pPr eaLnBrk="1" hangingPunct="1">
              <a:spcBef>
                <a:spcPct val="50000"/>
              </a:spcBef>
            </a:pPr>
            <a:r>
              <a:rPr lang="en-US" altLang="en-US" dirty="0">
                <a:solidFill>
                  <a:srgbClr val="000000"/>
                </a:solidFill>
                <a:cs typeface="Times New Roman" panose="02020603050405020304" pitchFamily="18" charset="0"/>
              </a:rPr>
              <a:t>engineering drawing.</a:t>
            </a:r>
            <a:r>
              <a:rPr lang="en-US" altLang="en-US" dirty="0">
                <a:solidFill>
                  <a:srgbClr val="FFFFCD"/>
                </a:solidFill>
                <a:cs typeface="Times New Roman" panose="02020603050405020304" pitchFamily="18" charset="0"/>
              </a:rPr>
              <a:t>.</a:t>
            </a:r>
          </a:p>
          <a:p>
            <a:pPr eaLnBrk="1" hangingPunct="1">
              <a:spcBef>
                <a:spcPct val="50000"/>
              </a:spcBef>
            </a:pPr>
            <a:endParaRPr lang="en-US" altLang="en-US" dirty="0" smtClean="0">
              <a:solidFill>
                <a:srgbClr val="000000"/>
              </a:solidFill>
              <a:cs typeface="Times New Roman" panose="02020603050405020304" pitchFamily="18" charset="0"/>
            </a:endParaRPr>
          </a:p>
          <a:p>
            <a:pPr eaLnBrk="1" hangingPunct="1">
              <a:spcBef>
                <a:spcPct val="50000"/>
              </a:spcBef>
            </a:pPr>
            <a:endParaRPr lang="en-US" altLang="en-US" dirty="0">
              <a:solidFill>
                <a:srgbClr val="000000"/>
              </a:solidFill>
              <a:cs typeface="Times New Roman" panose="02020603050405020304" pitchFamily="18" charset="0"/>
            </a:endParaRPr>
          </a:p>
          <a:p>
            <a:pPr eaLnBrk="1" hangingPunct="1">
              <a:spcBef>
                <a:spcPct val="50000"/>
              </a:spcBef>
            </a:pPr>
            <a:r>
              <a:rPr lang="en-US" altLang="en-US" dirty="0">
                <a:solidFill>
                  <a:srgbClr val="000000"/>
                </a:solidFill>
                <a:cs typeface="Times New Roman" panose="02020603050405020304" pitchFamily="18" charset="0"/>
              </a:rPr>
              <a:t>Hidden lines – location of drilled hole’s diameter, in </a:t>
            </a:r>
            <a:r>
              <a:rPr lang="en-US" altLang="en-US" dirty="0">
                <a:solidFill>
                  <a:srgbClr val="0000FF"/>
                </a:solidFill>
                <a:cs typeface="Times New Roman" panose="02020603050405020304" pitchFamily="18" charset="0"/>
              </a:rPr>
              <a:t>a view where the hole cannot be directly seen.</a:t>
            </a:r>
          </a:p>
          <a:p>
            <a:pPr eaLnBrk="1" hangingPunct="1">
              <a:spcBef>
                <a:spcPct val="50000"/>
              </a:spcBef>
            </a:pPr>
            <a:endParaRPr lang="en-US" altLang="en-US" dirty="0">
              <a:cs typeface="Times New Roman" panose="02020603050405020304" pitchFamily="18" charset="0"/>
            </a:endParaRPr>
          </a:p>
        </p:txBody>
      </p:sp>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6" y="1679428"/>
            <a:ext cx="35433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03602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eaLnBrk="1" fontAlgn="auto" hangingPunct="1">
              <a:spcAft>
                <a:spcPts val="0"/>
              </a:spcAft>
              <a:defRPr/>
            </a:pPr>
            <a:r>
              <a:rPr lang="en-US" altLang="ja-JP" b="1" spc="-150" dirty="0" smtClean="0">
                <a:latin typeface="Times New Roman" pitchFamily="18" charset="0"/>
                <a:cs typeface="Times New Roman" pitchFamily="18" charset="0"/>
              </a:rPr>
              <a:t>Drawing Conventions &amp; Standards</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RUET</a:t>
            </a:r>
            <a:endParaRPr lang="en-US" altLang="ja-JP" sz="2000" i="1" spc="-150" dirty="0">
              <a:latin typeface="Times New Roman" pitchFamily="18" charset="0"/>
              <a:cs typeface="Times New Roman" pitchFamily="18" charset="0"/>
            </a:endParaRPr>
          </a:p>
        </p:txBody>
      </p:sp>
      <p:sp>
        <p:nvSpPr>
          <p:cNvPr id="2" name="TextBox 1"/>
          <p:cNvSpPr txBox="1"/>
          <p:nvPr/>
        </p:nvSpPr>
        <p:spPr>
          <a:xfrm>
            <a:off x="0" y="740535"/>
            <a:ext cx="9143999" cy="6340197"/>
          </a:xfrm>
          <a:prstGeom prst="rect">
            <a:avLst/>
          </a:prstGeom>
          <a:noFill/>
        </p:spPr>
        <p:txBody>
          <a:bodyPr wrap="square" rtlCol="0">
            <a:spAutoFit/>
          </a:bodyPr>
          <a:lstStyle/>
          <a:p>
            <a:pPr marL="457200" indent="-4572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Standard are a set of rules that governs how technical drawings are represented</a:t>
            </a:r>
          </a:p>
          <a:p>
            <a:pPr marL="457200" indent="-4572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Standard are published by organizations with an interest in uniformity</a:t>
            </a:r>
          </a:p>
          <a:p>
            <a:pPr>
              <a:spcBef>
                <a:spcPct val="50000"/>
              </a:spcBef>
            </a:pPr>
            <a:r>
              <a:rPr lang="en-US" altLang="en-US" sz="2200" b="1" dirty="0">
                <a:solidFill>
                  <a:schemeClr val="tx2">
                    <a:lumMod val="60000"/>
                    <a:lumOff val="40000"/>
                  </a:schemeClr>
                </a:solidFill>
                <a:latin typeface="Times New Roman" panose="02020603050405020304" pitchFamily="18" charset="0"/>
                <a:cs typeface="Times New Roman" panose="02020603050405020304" pitchFamily="18" charset="0"/>
              </a:rPr>
              <a:t>ANSI</a:t>
            </a:r>
            <a:r>
              <a:rPr lang="en-US" altLang="en-US" sz="2200" dirty="0">
                <a:solidFill>
                  <a:srgbClr val="000000"/>
                </a:solidFill>
                <a:latin typeface="Times New Roman" panose="02020603050405020304" pitchFamily="18" charset="0"/>
                <a:cs typeface="Times New Roman" panose="02020603050405020304" pitchFamily="18" charset="0"/>
              </a:rPr>
              <a:t> – American National Standards Institute</a:t>
            </a:r>
          </a:p>
          <a:p>
            <a:pPr lvl="2">
              <a:spcBef>
                <a:spcPct val="50000"/>
              </a:spcBef>
            </a:pPr>
            <a:r>
              <a:rPr lang="en-US" altLang="en-US" sz="2200" dirty="0">
                <a:solidFill>
                  <a:srgbClr val="3333FF"/>
                </a:solidFill>
                <a:latin typeface="Times New Roman" panose="02020603050405020304" pitchFamily="18" charset="0"/>
                <a:cs typeface="Times New Roman" panose="02020603050405020304" pitchFamily="18" charset="0"/>
              </a:rPr>
              <a:t>ANSI Y14.1 1980 (R1987) – Drawing sheet </a:t>
            </a:r>
            <a:r>
              <a:rPr lang="en-US" altLang="en-US" sz="2200" dirty="0" smtClean="0">
                <a:solidFill>
                  <a:srgbClr val="3333FF"/>
                </a:solidFill>
                <a:latin typeface="Times New Roman" panose="02020603050405020304" pitchFamily="18" charset="0"/>
                <a:cs typeface="Times New Roman" panose="02020603050405020304" pitchFamily="18" charset="0"/>
              </a:rPr>
              <a:t>size and </a:t>
            </a:r>
            <a:r>
              <a:rPr lang="en-US" altLang="en-US" sz="2200" dirty="0">
                <a:solidFill>
                  <a:srgbClr val="3333FF"/>
                </a:solidFill>
                <a:latin typeface="Times New Roman" panose="02020603050405020304" pitchFamily="18" charset="0"/>
                <a:cs typeface="Times New Roman" panose="02020603050405020304" pitchFamily="18" charset="0"/>
              </a:rPr>
              <a:t>format</a:t>
            </a:r>
          </a:p>
          <a:p>
            <a:pPr lvl="2">
              <a:spcBef>
                <a:spcPct val="50000"/>
              </a:spcBef>
            </a:pPr>
            <a:r>
              <a:rPr lang="en-US" altLang="en-US" sz="2200" dirty="0">
                <a:solidFill>
                  <a:srgbClr val="000000"/>
                </a:solidFill>
                <a:latin typeface="Times New Roman" panose="02020603050405020304" pitchFamily="18" charset="0"/>
                <a:cs typeface="Times New Roman" panose="02020603050405020304" pitchFamily="18" charset="0"/>
              </a:rPr>
              <a:t>ANSI Y 14.2M-1979 (R1987) – Line </a:t>
            </a:r>
            <a:r>
              <a:rPr lang="en-US" altLang="en-US" sz="2200" dirty="0" smtClean="0">
                <a:solidFill>
                  <a:srgbClr val="000000"/>
                </a:solidFill>
                <a:latin typeface="Times New Roman" panose="02020603050405020304" pitchFamily="18" charset="0"/>
                <a:cs typeface="Times New Roman" panose="02020603050405020304" pitchFamily="18" charset="0"/>
              </a:rPr>
              <a:t>conventions and </a:t>
            </a:r>
            <a:r>
              <a:rPr lang="en-US" altLang="en-US" sz="2200" dirty="0">
                <a:solidFill>
                  <a:srgbClr val="000000"/>
                </a:solidFill>
                <a:latin typeface="Times New Roman" panose="02020603050405020304" pitchFamily="18" charset="0"/>
                <a:cs typeface="Times New Roman" panose="02020603050405020304" pitchFamily="18" charset="0"/>
              </a:rPr>
              <a:t>lettering</a:t>
            </a:r>
          </a:p>
          <a:p>
            <a:pPr lvl="2">
              <a:spcBef>
                <a:spcPct val="50000"/>
              </a:spcBef>
            </a:pPr>
            <a:r>
              <a:rPr lang="en-US" altLang="en-US" sz="2200" dirty="0">
                <a:solidFill>
                  <a:srgbClr val="3333FF"/>
                </a:solidFill>
                <a:latin typeface="Times New Roman" panose="02020603050405020304" pitchFamily="18" charset="0"/>
                <a:cs typeface="Times New Roman" panose="02020603050405020304" pitchFamily="18" charset="0"/>
              </a:rPr>
              <a:t>ANSI Y14.5M-1982(R1988) – Dimensioning </a:t>
            </a:r>
            <a:r>
              <a:rPr lang="en-US" altLang="en-US" sz="2200" dirty="0" smtClean="0">
                <a:solidFill>
                  <a:srgbClr val="3333FF"/>
                </a:solidFill>
                <a:latin typeface="Times New Roman" panose="02020603050405020304" pitchFamily="18" charset="0"/>
                <a:cs typeface="Times New Roman" panose="02020603050405020304" pitchFamily="18" charset="0"/>
              </a:rPr>
              <a:t>and tolerances</a:t>
            </a:r>
            <a:endParaRPr lang="en-US" altLang="en-US" sz="2200" dirty="0">
              <a:solidFill>
                <a:srgbClr val="3333FF"/>
              </a:solidFill>
              <a:latin typeface="Times New Roman" panose="02020603050405020304" pitchFamily="18" charset="0"/>
              <a:cs typeface="Times New Roman" panose="02020603050405020304" pitchFamily="18" charset="0"/>
            </a:endParaRPr>
          </a:p>
          <a:p>
            <a:pPr lvl="2">
              <a:spcBef>
                <a:spcPct val="50000"/>
              </a:spcBef>
            </a:pPr>
            <a:r>
              <a:rPr lang="en-US" altLang="en-US" sz="2200" b="1" dirty="0">
                <a:solidFill>
                  <a:srgbClr val="000000"/>
                </a:solidFill>
                <a:latin typeface="Times New Roman" panose="02020603050405020304" pitchFamily="18" charset="0"/>
                <a:cs typeface="Times New Roman" panose="02020603050405020304" pitchFamily="18" charset="0"/>
              </a:rPr>
              <a:t>ANSI Y 14.3-1975(R1987) – Multi view and sectional view drawings</a:t>
            </a:r>
          </a:p>
          <a:p>
            <a:pPr>
              <a:spcBef>
                <a:spcPct val="50000"/>
              </a:spcBef>
            </a:pPr>
            <a:r>
              <a:rPr lang="en-US" altLang="en-US" sz="2200" dirty="0">
                <a:solidFill>
                  <a:srgbClr val="3333FF"/>
                </a:solidFill>
                <a:latin typeface="Times New Roman" panose="02020603050405020304" pitchFamily="18" charset="0"/>
                <a:cs typeface="Times New Roman" panose="02020603050405020304" pitchFamily="18" charset="0"/>
              </a:rPr>
              <a:t>ISO </a:t>
            </a:r>
            <a:r>
              <a:rPr lang="en-US" altLang="en-US" sz="2200" dirty="0">
                <a:solidFill>
                  <a:srgbClr val="000000"/>
                </a:solidFill>
                <a:latin typeface="Times New Roman" panose="02020603050405020304" pitchFamily="18" charset="0"/>
                <a:cs typeface="Times New Roman" panose="02020603050405020304" pitchFamily="18" charset="0"/>
              </a:rPr>
              <a:t>– International Standards Organization</a:t>
            </a:r>
          </a:p>
          <a:p>
            <a:pPr>
              <a:spcBef>
                <a:spcPct val="50000"/>
              </a:spcBef>
            </a:pPr>
            <a:r>
              <a:rPr lang="en-US" altLang="en-US" sz="2200" dirty="0">
                <a:solidFill>
                  <a:srgbClr val="3333FF"/>
                </a:solidFill>
                <a:latin typeface="Times New Roman" panose="02020603050405020304" pitchFamily="18" charset="0"/>
                <a:cs typeface="Times New Roman" panose="02020603050405020304" pitchFamily="18" charset="0"/>
              </a:rPr>
              <a:t>JIS </a:t>
            </a:r>
            <a:r>
              <a:rPr lang="en-US" altLang="en-US" sz="2200" dirty="0">
                <a:solidFill>
                  <a:srgbClr val="000000"/>
                </a:solidFill>
                <a:latin typeface="Times New Roman" panose="02020603050405020304" pitchFamily="18" charset="0"/>
                <a:cs typeface="Times New Roman" panose="02020603050405020304" pitchFamily="18" charset="0"/>
              </a:rPr>
              <a:t>– Japanese Standards</a:t>
            </a:r>
          </a:p>
          <a:p>
            <a:pPr>
              <a:spcBef>
                <a:spcPct val="50000"/>
              </a:spcBef>
            </a:pPr>
            <a:r>
              <a:rPr lang="en-US" altLang="en-US" sz="2200" dirty="0">
                <a:solidFill>
                  <a:srgbClr val="3333FF"/>
                </a:solidFill>
                <a:latin typeface="Times New Roman" panose="02020603050405020304" pitchFamily="18" charset="0"/>
                <a:cs typeface="Times New Roman" panose="02020603050405020304" pitchFamily="18" charset="0"/>
              </a:rPr>
              <a:t>BIS </a:t>
            </a:r>
            <a:r>
              <a:rPr lang="en-US" altLang="en-US" sz="2200" dirty="0">
                <a:solidFill>
                  <a:srgbClr val="000000"/>
                </a:solidFill>
                <a:latin typeface="Times New Roman" panose="02020603050405020304" pitchFamily="18" charset="0"/>
                <a:cs typeface="Times New Roman" panose="02020603050405020304" pitchFamily="18" charset="0"/>
              </a:rPr>
              <a:t>– Bureau of Indian Standards</a:t>
            </a:r>
            <a:endParaRPr lang="en-US" altLang="en-US" sz="22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36658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Line Types and Styles</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22834"/>
            <a:ext cx="9144000" cy="5874816"/>
          </a:xfrm>
          <a:prstGeom prst="rect">
            <a:avLst/>
          </a:prstGeom>
        </p:spPr>
      </p:pic>
    </p:spTree>
    <p:extLst>
      <p:ext uri="{BB962C8B-B14F-4D97-AF65-F5344CB8AC3E}">
        <p14:creationId xmlns:p14="http://schemas.microsoft.com/office/powerpoint/2010/main" val="25119905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Line Types and Styles</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grpSp>
        <p:nvGrpSpPr>
          <p:cNvPr id="4" name="Group 3"/>
          <p:cNvGrpSpPr/>
          <p:nvPr/>
        </p:nvGrpSpPr>
        <p:grpSpPr>
          <a:xfrm>
            <a:off x="0" y="1676400"/>
            <a:ext cx="9144000" cy="4403872"/>
            <a:chOff x="0" y="1676400"/>
            <a:chExt cx="9144000" cy="4403872"/>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6400"/>
              <a:ext cx="9144000" cy="4403872"/>
            </a:xfrm>
            <a:prstGeom prst="rect">
              <a:avLst/>
            </a:prstGeom>
          </p:spPr>
        </p:pic>
        <p:sp>
          <p:nvSpPr>
            <p:cNvPr id="7" name="Rectangle 6"/>
            <p:cNvSpPr/>
            <p:nvPr/>
          </p:nvSpPr>
          <p:spPr>
            <a:xfrm>
              <a:off x="41564" y="1942900"/>
              <a:ext cx="1177636" cy="229001"/>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Rectangle 7"/>
            <p:cNvSpPr/>
            <p:nvPr/>
          </p:nvSpPr>
          <p:spPr>
            <a:xfrm>
              <a:off x="1401225" y="1696817"/>
              <a:ext cx="884775" cy="20818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9" name="Rectangle 8"/>
            <p:cNvSpPr/>
            <p:nvPr/>
          </p:nvSpPr>
          <p:spPr>
            <a:xfrm>
              <a:off x="834422" y="5278217"/>
              <a:ext cx="1070578" cy="20818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0" name="Rectangle 9"/>
            <p:cNvSpPr/>
            <p:nvPr/>
          </p:nvSpPr>
          <p:spPr>
            <a:xfrm>
              <a:off x="2815622" y="5278217"/>
              <a:ext cx="1070578" cy="20818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1" name="Rectangle 10"/>
            <p:cNvSpPr/>
            <p:nvPr/>
          </p:nvSpPr>
          <p:spPr>
            <a:xfrm>
              <a:off x="4267200" y="1696817"/>
              <a:ext cx="1177636" cy="20818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2" name="Rectangle 11"/>
            <p:cNvSpPr/>
            <p:nvPr/>
          </p:nvSpPr>
          <p:spPr>
            <a:xfrm>
              <a:off x="7585364" y="1696817"/>
              <a:ext cx="1177636" cy="20818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Rectangle 12"/>
            <p:cNvSpPr/>
            <p:nvPr/>
          </p:nvSpPr>
          <p:spPr>
            <a:xfrm>
              <a:off x="6719248" y="4973417"/>
              <a:ext cx="884775" cy="20818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4" name="Rectangle 13"/>
            <p:cNvSpPr/>
            <p:nvPr/>
          </p:nvSpPr>
          <p:spPr>
            <a:xfrm>
              <a:off x="5671566" y="5278217"/>
              <a:ext cx="1567434" cy="20818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5" name="Rectangle 14"/>
            <p:cNvSpPr/>
            <p:nvPr/>
          </p:nvSpPr>
          <p:spPr>
            <a:xfrm>
              <a:off x="7543800" y="2209800"/>
              <a:ext cx="804341" cy="208183"/>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6" name="Rectangle 15"/>
            <p:cNvSpPr/>
            <p:nvPr/>
          </p:nvSpPr>
          <p:spPr>
            <a:xfrm>
              <a:off x="8223242" y="2639704"/>
              <a:ext cx="884775" cy="33528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155881900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Line Types and Styles</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676400"/>
            <a:ext cx="9144000" cy="4403872"/>
          </a:xfrm>
          <a:prstGeom prst="rect">
            <a:avLst/>
          </a:prstGeom>
        </p:spPr>
      </p:pic>
    </p:spTree>
    <p:extLst>
      <p:ext uri="{BB962C8B-B14F-4D97-AF65-F5344CB8AC3E}">
        <p14:creationId xmlns:p14="http://schemas.microsoft.com/office/powerpoint/2010/main" val="30105384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762000"/>
            <a:ext cx="4800600" cy="42020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8117738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Line Types and Styles</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371600"/>
            <a:ext cx="8697938"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4457206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Line Types and Styles</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842" y="990600"/>
            <a:ext cx="8714316"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140183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smtClean="0">
                <a:latin typeface="Times New Roman" pitchFamily="18" charset="0"/>
                <a:cs typeface="Times New Roman" pitchFamily="18" charset="0"/>
              </a:rPr>
              <a:t>Lettering</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19" name="Rectangle 2"/>
          <p:cNvSpPr txBox="1">
            <a:spLocks noChangeArrowheads="1"/>
          </p:cNvSpPr>
          <p:nvPr/>
        </p:nvSpPr>
        <p:spPr bwMode="auto">
          <a:xfrm>
            <a:off x="0" y="223602"/>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ahoma" pitchFamily="34" charset="0"/>
              </a:defRPr>
            </a:lvl2pPr>
            <a:lvl3pPr algn="l" rtl="0" eaLnBrk="0" fontAlgn="base" hangingPunct="0">
              <a:spcBef>
                <a:spcPct val="0"/>
              </a:spcBef>
              <a:spcAft>
                <a:spcPct val="0"/>
              </a:spcAft>
              <a:defRPr sz="4000">
                <a:solidFill>
                  <a:schemeClr val="tx2"/>
                </a:solidFill>
                <a:latin typeface="Tahoma" pitchFamily="34" charset="0"/>
              </a:defRPr>
            </a:lvl3pPr>
            <a:lvl4pPr algn="l" rtl="0" eaLnBrk="0" fontAlgn="base" hangingPunct="0">
              <a:spcBef>
                <a:spcPct val="0"/>
              </a:spcBef>
              <a:spcAft>
                <a:spcPct val="0"/>
              </a:spcAft>
              <a:defRPr sz="4000">
                <a:solidFill>
                  <a:schemeClr val="tx2"/>
                </a:solidFill>
                <a:latin typeface="Tahoma" pitchFamily="34" charset="0"/>
              </a:defRPr>
            </a:lvl4pPr>
            <a:lvl5pPr algn="l" rtl="0" eaLnBrk="0" fontAlgn="base" hangingPunct="0">
              <a:spcBef>
                <a:spcPct val="0"/>
              </a:spcBef>
              <a:spcAft>
                <a:spcPct val="0"/>
              </a:spcAft>
              <a:defRPr sz="4000">
                <a:solidFill>
                  <a:schemeClr val="tx2"/>
                </a:solidFill>
                <a:latin typeface="Tahoma" pitchFamily="34" charset="0"/>
              </a:defRPr>
            </a:lvl5pPr>
            <a:lvl6pPr marL="457200" algn="l" rtl="0" fontAlgn="base">
              <a:spcBef>
                <a:spcPct val="0"/>
              </a:spcBef>
              <a:spcAft>
                <a:spcPct val="0"/>
              </a:spcAft>
              <a:defRPr sz="4000">
                <a:solidFill>
                  <a:schemeClr val="tx2"/>
                </a:solidFill>
                <a:latin typeface="Tahoma" pitchFamily="34" charset="0"/>
              </a:defRPr>
            </a:lvl6pPr>
            <a:lvl7pPr marL="914400" algn="l" rtl="0" fontAlgn="base">
              <a:spcBef>
                <a:spcPct val="0"/>
              </a:spcBef>
              <a:spcAft>
                <a:spcPct val="0"/>
              </a:spcAft>
              <a:defRPr sz="4000">
                <a:solidFill>
                  <a:schemeClr val="tx2"/>
                </a:solidFill>
                <a:latin typeface="Tahoma" pitchFamily="34" charset="0"/>
              </a:defRPr>
            </a:lvl7pPr>
            <a:lvl8pPr marL="1371600" algn="l" rtl="0" fontAlgn="base">
              <a:spcBef>
                <a:spcPct val="0"/>
              </a:spcBef>
              <a:spcAft>
                <a:spcPct val="0"/>
              </a:spcAft>
              <a:defRPr sz="4000">
                <a:solidFill>
                  <a:schemeClr val="tx2"/>
                </a:solidFill>
                <a:latin typeface="Tahoma" pitchFamily="34" charset="0"/>
              </a:defRPr>
            </a:lvl8pPr>
            <a:lvl9pPr marL="1828800" algn="l" rtl="0" fontAlgn="base">
              <a:spcBef>
                <a:spcPct val="0"/>
              </a:spcBef>
              <a:spcAft>
                <a:spcPct val="0"/>
              </a:spcAft>
              <a:defRPr sz="4000">
                <a:solidFill>
                  <a:schemeClr val="tx2"/>
                </a:solidFill>
                <a:latin typeface="Tahoma"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400" b="1" i="0" u="none" strike="noStrike" kern="0" cap="none" spc="0" normalizeH="0" baseline="0" noProof="0" dirty="0" smtClean="0">
                <a:ln>
                  <a:noFill/>
                </a:ln>
                <a:solidFill>
                  <a:srgbClr val="660066"/>
                </a:solidFill>
                <a:effectLst/>
                <a:uLnTx/>
                <a:uFillTx/>
                <a:latin typeface="Times New Roman" panose="02020603050405020304" pitchFamily="18" charset="0"/>
                <a:cs typeface="Times New Roman" panose="02020603050405020304" pitchFamily="18" charset="0"/>
              </a:rPr>
              <a:t>Freehand Lettering</a:t>
            </a:r>
          </a:p>
        </p:txBody>
      </p:sp>
      <p:pic>
        <p:nvPicPr>
          <p:cNvPr id="2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0" y="1138775"/>
            <a:ext cx="2895600" cy="217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3602595"/>
            <a:ext cx="2601913" cy="269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Rectangle 3" descr="Rectangle: Click to edit Master text styles&#10;Second level&#10;Third level&#10;Fourth level&#10;Fifth level"/>
          <p:cNvSpPr>
            <a:spLocks noChangeArrowheads="1"/>
          </p:cNvSpPr>
          <p:nvPr/>
        </p:nvSpPr>
        <p:spPr bwMode="auto">
          <a:xfrm>
            <a:off x="-152400" y="1671402"/>
            <a:ext cx="54864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eaLnBrk="0" hangingPunct="0">
              <a:defRPr sz="2400" b="1">
                <a:solidFill>
                  <a:schemeClr val="tx1"/>
                </a:solidFill>
                <a:latin typeface="Tahoma" panose="020B0604030504040204" pitchFamily="34" charset="0"/>
              </a:defRPr>
            </a:lvl1pPr>
            <a:lvl2pPr marL="742950" indent="-285750" eaLnBrk="0" hangingPunct="0">
              <a:defRPr sz="2400" b="1">
                <a:solidFill>
                  <a:schemeClr val="tx1"/>
                </a:solidFill>
                <a:latin typeface="Tahoma" panose="020B0604030504040204" pitchFamily="34" charset="0"/>
              </a:defRPr>
            </a:lvl2pPr>
            <a:lvl3pPr marL="1143000" indent="-228600" eaLnBrk="0" hangingPunct="0">
              <a:defRPr sz="2400" b="1">
                <a:solidFill>
                  <a:schemeClr val="tx1"/>
                </a:solidFill>
                <a:latin typeface="Tahoma" panose="020B0604030504040204" pitchFamily="34" charset="0"/>
              </a:defRPr>
            </a:lvl3pPr>
            <a:lvl4pPr marL="1600200" indent="-228600" eaLnBrk="0" hangingPunct="0">
              <a:defRPr sz="2400" b="1">
                <a:solidFill>
                  <a:schemeClr val="tx1"/>
                </a:solidFill>
                <a:latin typeface="Tahoma" panose="020B0604030504040204" pitchFamily="34" charset="0"/>
              </a:defRPr>
            </a:lvl4pPr>
            <a:lvl5pPr marL="2057400" indent="-228600" eaLnBrk="0" hangingPunct="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algn="just" eaLnBrk="1" fontAlgn="base" hangingPunct="1">
              <a:lnSpc>
                <a:spcPct val="90000"/>
              </a:lnSpc>
              <a:spcBef>
                <a:spcPct val="20000"/>
              </a:spcBef>
              <a:spcAft>
                <a:spcPct val="0"/>
              </a:spcAft>
              <a:buClr>
                <a:srgbClr val="6F89F7"/>
              </a:buClr>
              <a:buSzPct val="110000"/>
              <a:buFont typeface="Wingdings" panose="05000000000000000000" pitchFamily="2" charset="2"/>
              <a:buNone/>
            </a:pPr>
            <a:r>
              <a:rPr lang="en-US" altLang="en-US" b="0" dirty="0" smtClean="0">
                <a:solidFill>
                  <a:srgbClr val="40458C"/>
                </a:solidFill>
                <a:latin typeface="Times New Roman" panose="02020603050405020304" pitchFamily="18" charset="0"/>
                <a:cs typeface="Times New Roman" panose="02020603050405020304" pitchFamily="18" charset="0"/>
              </a:rPr>
              <a:t>	Developing good lettering is  a personal skill which takes practice. Letters must be formed properly.</a:t>
            </a:r>
          </a:p>
        </p:txBody>
      </p:sp>
      <p:sp>
        <p:nvSpPr>
          <p:cNvPr id="23" name="Rectangle 3" descr="Rectangle: Click to edit Master text styles&#10;Second level&#10;Third level&#10;Fourth level&#10;Fifth level"/>
          <p:cNvSpPr>
            <a:spLocks noChangeArrowheads="1"/>
          </p:cNvSpPr>
          <p:nvPr/>
        </p:nvSpPr>
        <p:spPr bwMode="auto">
          <a:xfrm>
            <a:off x="-152400" y="3119202"/>
            <a:ext cx="5638800"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eaLnBrk="0" hangingPunct="0">
              <a:defRPr sz="2400" b="1">
                <a:solidFill>
                  <a:schemeClr val="tx1"/>
                </a:solidFill>
                <a:latin typeface="Tahoma" panose="020B0604030504040204" pitchFamily="34" charset="0"/>
              </a:defRPr>
            </a:lvl1pPr>
            <a:lvl2pPr marL="742950" indent="-285750" eaLnBrk="0" hangingPunct="0">
              <a:defRPr sz="2400" b="1">
                <a:solidFill>
                  <a:schemeClr val="tx1"/>
                </a:solidFill>
                <a:latin typeface="Tahoma" panose="020B0604030504040204" pitchFamily="34" charset="0"/>
              </a:defRPr>
            </a:lvl2pPr>
            <a:lvl3pPr marL="1143000" indent="-228600" eaLnBrk="0" hangingPunct="0">
              <a:defRPr sz="2400" b="1">
                <a:solidFill>
                  <a:schemeClr val="tx1"/>
                </a:solidFill>
                <a:latin typeface="Tahoma" panose="020B0604030504040204" pitchFamily="34" charset="0"/>
              </a:defRPr>
            </a:lvl3pPr>
            <a:lvl4pPr marL="1600200" indent="-228600" eaLnBrk="0" hangingPunct="0">
              <a:defRPr sz="2400" b="1">
                <a:solidFill>
                  <a:schemeClr val="tx1"/>
                </a:solidFill>
                <a:latin typeface="Tahoma" panose="020B0604030504040204" pitchFamily="34" charset="0"/>
              </a:defRPr>
            </a:lvl4pPr>
            <a:lvl5pPr marL="2057400" indent="-228600" eaLnBrk="0" hangingPunct="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algn="just" eaLnBrk="1" fontAlgn="base" hangingPunct="1">
              <a:lnSpc>
                <a:spcPct val="90000"/>
              </a:lnSpc>
              <a:spcBef>
                <a:spcPct val="20000"/>
              </a:spcBef>
              <a:spcAft>
                <a:spcPct val="0"/>
              </a:spcAft>
              <a:buClr>
                <a:srgbClr val="6F89F7"/>
              </a:buClr>
              <a:buSzPct val="110000"/>
              <a:buFont typeface="Wingdings" panose="05000000000000000000" pitchFamily="2" charset="2"/>
              <a:buNone/>
            </a:pPr>
            <a:r>
              <a:rPr lang="en-US" altLang="en-US" b="0" dirty="0" smtClean="0">
                <a:solidFill>
                  <a:srgbClr val="40458C"/>
                </a:solidFill>
                <a:latin typeface="Times New Roman" panose="02020603050405020304" pitchFamily="18" charset="0"/>
                <a:cs typeface="Times New Roman" panose="02020603050405020304" pitchFamily="18" charset="0"/>
              </a:rPr>
              <a:t>	They must be open shaped very legible.</a:t>
            </a:r>
          </a:p>
          <a:p>
            <a:pPr algn="just" eaLnBrk="1" fontAlgn="base" hangingPunct="1">
              <a:lnSpc>
                <a:spcPct val="90000"/>
              </a:lnSpc>
              <a:spcBef>
                <a:spcPct val="20000"/>
              </a:spcBef>
              <a:spcAft>
                <a:spcPct val="0"/>
              </a:spcAft>
              <a:buClr>
                <a:srgbClr val="6F89F7"/>
              </a:buClr>
              <a:buSzPct val="110000"/>
              <a:buFont typeface="Wingdings" panose="05000000000000000000" pitchFamily="2" charset="2"/>
              <a:buNone/>
            </a:pPr>
            <a:r>
              <a:rPr lang="en-US" altLang="en-US" b="0" dirty="0" smtClean="0">
                <a:solidFill>
                  <a:srgbClr val="40458C"/>
                </a:solidFill>
                <a:latin typeface="Times New Roman" panose="02020603050405020304" pitchFamily="18" charset="0"/>
                <a:cs typeface="Times New Roman" panose="02020603050405020304" pitchFamily="18" charset="0"/>
              </a:rPr>
              <a:t>    Clear communication is essential to avoid mistakes and reduce waste.</a:t>
            </a:r>
          </a:p>
        </p:txBody>
      </p:sp>
      <p:sp>
        <p:nvSpPr>
          <p:cNvPr id="24" name="Rectangle 3" descr="Rectangle: Click to edit Master text styles&#10;Second level&#10;Third level&#10;Fourth level&#10;Fifth level"/>
          <p:cNvSpPr>
            <a:spLocks noChangeArrowheads="1"/>
          </p:cNvSpPr>
          <p:nvPr/>
        </p:nvSpPr>
        <p:spPr bwMode="auto">
          <a:xfrm>
            <a:off x="-152400" y="4948002"/>
            <a:ext cx="56388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eaLnBrk="0" hangingPunct="0">
              <a:defRPr sz="2400" b="1">
                <a:solidFill>
                  <a:schemeClr val="tx1"/>
                </a:solidFill>
                <a:latin typeface="Tahoma" panose="020B0604030504040204" pitchFamily="34" charset="0"/>
              </a:defRPr>
            </a:lvl1pPr>
            <a:lvl2pPr marL="742950" indent="-285750" eaLnBrk="0" hangingPunct="0">
              <a:defRPr sz="2400" b="1">
                <a:solidFill>
                  <a:schemeClr val="tx1"/>
                </a:solidFill>
                <a:latin typeface="Tahoma" panose="020B0604030504040204" pitchFamily="34" charset="0"/>
              </a:defRPr>
            </a:lvl2pPr>
            <a:lvl3pPr marL="1143000" indent="-228600" eaLnBrk="0" hangingPunct="0">
              <a:defRPr sz="2400" b="1">
                <a:solidFill>
                  <a:schemeClr val="tx1"/>
                </a:solidFill>
                <a:latin typeface="Tahoma" panose="020B0604030504040204" pitchFamily="34" charset="0"/>
              </a:defRPr>
            </a:lvl3pPr>
            <a:lvl4pPr marL="1600200" indent="-228600" eaLnBrk="0" hangingPunct="0">
              <a:defRPr sz="2400" b="1">
                <a:solidFill>
                  <a:schemeClr val="tx1"/>
                </a:solidFill>
                <a:latin typeface="Tahoma" panose="020B0604030504040204" pitchFamily="34" charset="0"/>
              </a:defRPr>
            </a:lvl4pPr>
            <a:lvl5pPr marL="2057400" indent="-228600" eaLnBrk="0" hangingPunct="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algn="just" eaLnBrk="1" fontAlgn="base" hangingPunct="1">
              <a:lnSpc>
                <a:spcPct val="90000"/>
              </a:lnSpc>
              <a:spcBef>
                <a:spcPct val="20000"/>
              </a:spcBef>
              <a:spcAft>
                <a:spcPct val="0"/>
              </a:spcAft>
              <a:buClr>
                <a:srgbClr val="6F89F7"/>
              </a:buClr>
              <a:buSzPct val="110000"/>
              <a:buFont typeface="Wingdings" panose="05000000000000000000" pitchFamily="2" charset="2"/>
              <a:buNone/>
            </a:pPr>
            <a:r>
              <a:rPr lang="en-US" altLang="en-US" b="0" dirty="0" smtClean="0">
                <a:solidFill>
                  <a:srgbClr val="40458C"/>
                </a:solidFill>
                <a:latin typeface="Times New Roman" panose="02020603050405020304" pitchFamily="18" charset="0"/>
                <a:cs typeface="Times New Roman" panose="02020603050405020304" pitchFamily="18" charset="0"/>
              </a:rPr>
              <a:t>	Lettering may be done using a drafting type pencil, lead holder or technical pen. Which ever tool is used, the letters must properly formed and very black  </a:t>
            </a:r>
          </a:p>
        </p:txBody>
      </p:sp>
    </p:spTree>
    <p:extLst>
      <p:ext uri="{BB962C8B-B14F-4D97-AF65-F5344CB8AC3E}">
        <p14:creationId xmlns:p14="http://schemas.microsoft.com/office/powerpoint/2010/main" val="132079853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eaLnBrk="1" fontAlgn="auto" hangingPunct="1">
              <a:spcAft>
                <a:spcPts val="0"/>
              </a:spcAft>
              <a:defRPr/>
            </a:pPr>
            <a:r>
              <a:rPr lang="en-US" altLang="ja-JP" b="1" spc="-150" dirty="0" smtClean="0">
                <a:latin typeface="Times New Roman" pitchFamily="18" charset="0"/>
                <a:cs typeface="Times New Roman" pitchFamily="18" charset="0"/>
              </a:rPr>
              <a:t>Lettering…</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6" name="Rectangle 3" descr="Rectangle: Click to edit Master text styles&#10;Second level&#10;Third level&#10;Fourth level&#10;Fifth level"/>
          <p:cNvSpPr>
            <a:spLocks noChangeArrowheads="1"/>
          </p:cNvSpPr>
          <p:nvPr/>
        </p:nvSpPr>
        <p:spPr bwMode="auto">
          <a:xfrm>
            <a:off x="685800" y="4391027"/>
            <a:ext cx="76200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eaLnBrk="0" hangingPunct="0">
              <a:defRPr sz="2400" b="1">
                <a:solidFill>
                  <a:schemeClr val="tx1"/>
                </a:solidFill>
                <a:latin typeface="Tahoma" panose="020B0604030504040204" pitchFamily="34" charset="0"/>
              </a:defRPr>
            </a:lvl1pPr>
            <a:lvl2pPr marL="742950" indent="-285750" eaLnBrk="0" hangingPunct="0">
              <a:defRPr sz="2400" b="1">
                <a:solidFill>
                  <a:schemeClr val="tx1"/>
                </a:solidFill>
                <a:latin typeface="Tahoma" panose="020B0604030504040204" pitchFamily="34" charset="0"/>
              </a:defRPr>
            </a:lvl2pPr>
            <a:lvl3pPr marL="1143000" indent="-228600" eaLnBrk="0" hangingPunct="0">
              <a:defRPr sz="2400" b="1">
                <a:solidFill>
                  <a:schemeClr val="tx1"/>
                </a:solidFill>
                <a:latin typeface="Tahoma" panose="020B0604030504040204" pitchFamily="34" charset="0"/>
              </a:defRPr>
            </a:lvl3pPr>
            <a:lvl4pPr marL="1600200" indent="-228600" eaLnBrk="0" hangingPunct="0">
              <a:defRPr sz="2400" b="1">
                <a:solidFill>
                  <a:schemeClr val="tx1"/>
                </a:solidFill>
                <a:latin typeface="Tahoma" panose="020B0604030504040204" pitchFamily="34" charset="0"/>
              </a:defRPr>
            </a:lvl4pPr>
            <a:lvl5pPr marL="2057400" indent="-228600" eaLnBrk="0" hangingPunct="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algn="just" eaLnBrk="1" hangingPunct="1">
              <a:lnSpc>
                <a:spcPct val="90000"/>
              </a:lnSpc>
              <a:spcBef>
                <a:spcPct val="20000"/>
              </a:spcBef>
              <a:buClr>
                <a:schemeClr val="hlink"/>
              </a:buClr>
              <a:buSzPct val="110000"/>
              <a:buFont typeface="Wingdings" panose="05000000000000000000" pitchFamily="2" charset="2"/>
              <a:buNone/>
            </a:pPr>
            <a:r>
              <a:rPr lang="en-US" altLang="en-US" sz="2000" b="0" dirty="0">
                <a:latin typeface="Century Gothic" panose="020B0502020202020204" pitchFamily="34" charset="0"/>
              </a:rPr>
              <a:t>	</a:t>
            </a:r>
            <a:r>
              <a:rPr lang="en-US" altLang="en-US" b="0" dirty="0">
                <a:latin typeface="Century Gothic" panose="020B0502020202020204" pitchFamily="34" charset="0"/>
              </a:rPr>
              <a:t>Vertical capital letters are preferred for most technical work. They are formed within a 6 by 6 grid</a:t>
            </a:r>
            <a:r>
              <a:rPr lang="en-US" altLang="en-US" b="0" dirty="0" smtClean="0">
                <a:latin typeface="Century Gothic" panose="020B0502020202020204" pitchFamily="34" charset="0"/>
              </a:rPr>
              <a:t>.</a:t>
            </a:r>
            <a:endParaRPr lang="en-US" altLang="en-US" b="0" dirty="0">
              <a:latin typeface="Century Gothic" panose="020B0502020202020204" pitchFamily="34" charset="0"/>
            </a:endParaRPr>
          </a:p>
        </p:txBody>
      </p:sp>
      <p:pic>
        <p:nvPicPr>
          <p:cNvPr id="7"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2125" y="911227"/>
            <a:ext cx="5467350" cy="328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96021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Lettering…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4" name="Rectangle 3" descr="Rectangle: Click to edit Master text styles&#10;Second level&#10;Third level&#10;Fourth level&#10;Fifth level"/>
          <p:cNvSpPr>
            <a:spLocks noChangeArrowheads="1"/>
          </p:cNvSpPr>
          <p:nvPr/>
        </p:nvSpPr>
        <p:spPr bwMode="auto">
          <a:xfrm>
            <a:off x="685800" y="4267200"/>
            <a:ext cx="7620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eaLnBrk="0" hangingPunct="0">
              <a:defRPr sz="2400" b="1">
                <a:solidFill>
                  <a:schemeClr val="tx1"/>
                </a:solidFill>
                <a:latin typeface="Tahoma" panose="020B0604030504040204" pitchFamily="34" charset="0"/>
              </a:defRPr>
            </a:lvl1pPr>
            <a:lvl2pPr marL="742950" indent="-285750" eaLnBrk="0" hangingPunct="0">
              <a:defRPr sz="2400" b="1">
                <a:solidFill>
                  <a:schemeClr val="tx1"/>
                </a:solidFill>
                <a:latin typeface="Tahoma" panose="020B0604030504040204" pitchFamily="34" charset="0"/>
              </a:defRPr>
            </a:lvl2pPr>
            <a:lvl3pPr marL="1143000" indent="-228600" eaLnBrk="0" hangingPunct="0">
              <a:defRPr sz="2400" b="1">
                <a:solidFill>
                  <a:schemeClr val="tx1"/>
                </a:solidFill>
                <a:latin typeface="Tahoma" panose="020B0604030504040204" pitchFamily="34" charset="0"/>
              </a:defRPr>
            </a:lvl3pPr>
            <a:lvl4pPr marL="1600200" indent="-228600" eaLnBrk="0" hangingPunct="0">
              <a:defRPr sz="2400" b="1">
                <a:solidFill>
                  <a:schemeClr val="tx1"/>
                </a:solidFill>
                <a:latin typeface="Tahoma" panose="020B0604030504040204" pitchFamily="34" charset="0"/>
              </a:defRPr>
            </a:lvl4pPr>
            <a:lvl5pPr marL="2057400" indent="-228600" eaLnBrk="0" hangingPunct="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algn="just" eaLnBrk="1" hangingPunct="1">
              <a:lnSpc>
                <a:spcPct val="90000"/>
              </a:lnSpc>
              <a:spcBef>
                <a:spcPct val="20000"/>
              </a:spcBef>
              <a:buClr>
                <a:schemeClr val="hlink"/>
              </a:buClr>
              <a:buSzPct val="110000"/>
              <a:buFont typeface="Wingdings" panose="05000000000000000000" pitchFamily="2" charset="2"/>
              <a:buNone/>
            </a:pPr>
            <a:r>
              <a:rPr lang="en-US" altLang="en-US" sz="2000" b="0">
                <a:latin typeface="Century Gothic" panose="020B0502020202020204" pitchFamily="34" charset="0"/>
              </a:rPr>
              <a:t>	 </a:t>
            </a:r>
            <a:r>
              <a:rPr lang="en-US" altLang="en-US" b="0">
                <a:latin typeface="Century Gothic" panose="020B0502020202020204" pitchFamily="34" charset="0"/>
              </a:rPr>
              <a:t>Most letters are slightly narrower than they are tall. The shapes of the letters are as open as possible. Letters with small loops and crossing strokes are avoided</a:t>
            </a:r>
          </a:p>
        </p:txBody>
      </p:sp>
      <p:grpSp>
        <p:nvGrpSpPr>
          <p:cNvPr id="6" name="Group 8"/>
          <p:cNvGrpSpPr>
            <a:grpSpLocks/>
          </p:cNvGrpSpPr>
          <p:nvPr/>
        </p:nvGrpSpPr>
        <p:grpSpPr bwMode="auto">
          <a:xfrm>
            <a:off x="914400" y="1600200"/>
            <a:ext cx="5791200" cy="2433638"/>
            <a:chOff x="1104" y="1008"/>
            <a:chExt cx="3648" cy="1533"/>
          </a:xfrm>
        </p:grpSpPr>
        <p:pic>
          <p:nvPicPr>
            <p:cNvPr id="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4" y="1008"/>
              <a:ext cx="3648" cy="1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6" y="1200"/>
              <a:ext cx="816" cy="7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6" y="1824"/>
              <a:ext cx="768" cy="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34200" y="1905000"/>
            <a:ext cx="1608138"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57085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Lettering…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4" name="Rectangle 3" descr="Rectangle: Click to edit Master text styles&#10;Second level&#10;Third level&#10;Fourth level&#10;Fifth level"/>
          <p:cNvSpPr>
            <a:spLocks noChangeArrowheads="1"/>
          </p:cNvSpPr>
          <p:nvPr/>
        </p:nvSpPr>
        <p:spPr bwMode="auto">
          <a:xfrm>
            <a:off x="533400" y="3732213"/>
            <a:ext cx="7620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eaLnBrk="0" hangingPunct="0">
              <a:defRPr sz="2400" b="1">
                <a:solidFill>
                  <a:schemeClr val="tx1"/>
                </a:solidFill>
                <a:latin typeface="Tahoma" panose="020B0604030504040204" pitchFamily="34" charset="0"/>
              </a:defRPr>
            </a:lvl1pPr>
            <a:lvl2pPr marL="742950" indent="-285750" eaLnBrk="0" hangingPunct="0">
              <a:defRPr sz="2400" b="1">
                <a:solidFill>
                  <a:schemeClr val="tx1"/>
                </a:solidFill>
                <a:latin typeface="Tahoma" panose="020B0604030504040204" pitchFamily="34" charset="0"/>
              </a:defRPr>
            </a:lvl2pPr>
            <a:lvl3pPr marL="1143000" indent="-228600" eaLnBrk="0" hangingPunct="0">
              <a:defRPr sz="2400" b="1">
                <a:solidFill>
                  <a:schemeClr val="tx1"/>
                </a:solidFill>
                <a:latin typeface="Tahoma" panose="020B0604030504040204" pitchFamily="34" charset="0"/>
              </a:defRPr>
            </a:lvl3pPr>
            <a:lvl4pPr marL="1600200" indent="-228600" eaLnBrk="0" hangingPunct="0">
              <a:defRPr sz="2400" b="1">
                <a:solidFill>
                  <a:schemeClr val="tx1"/>
                </a:solidFill>
                <a:latin typeface="Tahoma" panose="020B0604030504040204" pitchFamily="34" charset="0"/>
              </a:defRPr>
            </a:lvl4pPr>
            <a:lvl5pPr marL="2057400" indent="-228600" eaLnBrk="0" hangingPunct="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algn="just" eaLnBrk="1" hangingPunct="1">
              <a:lnSpc>
                <a:spcPct val="90000"/>
              </a:lnSpc>
              <a:spcBef>
                <a:spcPct val="20000"/>
              </a:spcBef>
              <a:buClr>
                <a:schemeClr val="hlink"/>
              </a:buClr>
              <a:buSzPct val="110000"/>
              <a:buFont typeface="Wingdings" panose="05000000000000000000" pitchFamily="2" charset="2"/>
              <a:buNone/>
            </a:pPr>
            <a:r>
              <a:rPr lang="en-US" altLang="en-US" sz="2000" b="0">
                <a:latin typeface="Century Gothic" panose="020B0502020202020204" pitchFamily="34" charset="0"/>
              </a:rPr>
              <a:t>	 </a:t>
            </a:r>
            <a:r>
              <a:rPr lang="en-US" altLang="en-US" b="0">
                <a:latin typeface="Century Gothic" panose="020B0502020202020204" pitchFamily="34" charset="0"/>
              </a:rPr>
              <a:t>This sequence is recommended to assure that each letter is the correct width in relation in height. For example, form the two vertical sides of the “H”, “N” and “M” first. Form the top of the “T” first.</a:t>
            </a:r>
          </a:p>
        </p:txBody>
      </p:sp>
      <p:pic>
        <p:nvPicPr>
          <p:cNvPr id="6"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293813"/>
            <a:ext cx="8001000" cy="177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757913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Lettering…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4" name="Rectangle 3" descr="Rectangle: Click to edit Master text styles&#10;Second level&#10;Third level&#10;Fourth level&#10;Fifth level"/>
          <p:cNvSpPr>
            <a:spLocks noChangeArrowheads="1"/>
          </p:cNvSpPr>
          <p:nvPr/>
        </p:nvSpPr>
        <p:spPr bwMode="auto">
          <a:xfrm>
            <a:off x="457200" y="3886200"/>
            <a:ext cx="7620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1313" indent="-341313" eaLnBrk="0" hangingPunct="0">
              <a:defRPr sz="2400" b="1">
                <a:solidFill>
                  <a:schemeClr val="tx1"/>
                </a:solidFill>
                <a:latin typeface="Tahoma" panose="020B0604030504040204" pitchFamily="34" charset="0"/>
              </a:defRPr>
            </a:lvl1pPr>
            <a:lvl2pPr marL="742950" indent="-285750" eaLnBrk="0" hangingPunct="0">
              <a:defRPr sz="2400" b="1">
                <a:solidFill>
                  <a:schemeClr val="tx1"/>
                </a:solidFill>
                <a:latin typeface="Tahoma" panose="020B0604030504040204" pitchFamily="34" charset="0"/>
              </a:defRPr>
            </a:lvl2pPr>
            <a:lvl3pPr marL="1143000" indent="-228600" eaLnBrk="0" hangingPunct="0">
              <a:defRPr sz="2400" b="1">
                <a:solidFill>
                  <a:schemeClr val="tx1"/>
                </a:solidFill>
                <a:latin typeface="Tahoma" panose="020B0604030504040204" pitchFamily="34" charset="0"/>
              </a:defRPr>
            </a:lvl3pPr>
            <a:lvl4pPr marL="1600200" indent="-228600" eaLnBrk="0" hangingPunct="0">
              <a:defRPr sz="2400" b="1">
                <a:solidFill>
                  <a:schemeClr val="tx1"/>
                </a:solidFill>
                <a:latin typeface="Tahoma" panose="020B0604030504040204" pitchFamily="34" charset="0"/>
              </a:defRPr>
            </a:lvl4pPr>
            <a:lvl5pPr marL="2057400" indent="-228600" eaLnBrk="0" hangingPunct="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algn="just" eaLnBrk="1" hangingPunct="1">
              <a:lnSpc>
                <a:spcPct val="90000"/>
              </a:lnSpc>
              <a:spcBef>
                <a:spcPct val="20000"/>
              </a:spcBef>
              <a:buClr>
                <a:schemeClr val="hlink"/>
              </a:buClr>
              <a:buSzPct val="110000"/>
              <a:buFont typeface="Wingdings" panose="05000000000000000000" pitchFamily="2" charset="2"/>
              <a:buNone/>
            </a:pPr>
            <a:r>
              <a:rPr lang="en-US" altLang="en-US" sz="2000" b="0">
                <a:latin typeface="Century Gothic" panose="020B0502020202020204" pitchFamily="34" charset="0"/>
              </a:rPr>
              <a:t>	 </a:t>
            </a:r>
            <a:r>
              <a:rPr lang="en-US" altLang="en-US" b="0">
                <a:latin typeface="Century Gothic" panose="020B0502020202020204" pitchFamily="34" charset="0"/>
              </a:rPr>
              <a:t>The “H” and “N” are slightly narrower than they are tall.</a:t>
            </a:r>
          </a:p>
          <a:p>
            <a:pPr algn="just" eaLnBrk="1" hangingPunct="1">
              <a:lnSpc>
                <a:spcPct val="90000"/>
              </a:lnSpc>
              <a:spcBef>
                <a:spcPct val="20000"/>
              </a:spcBef>
              <a:buClr>
                <a:schemeClr val="hlink"/>
              </a:buClr>
              <a:buSzPct val="110000"/>
              <a:buFont typeface="Wingdings" panose="05000000000000000000" pitchFamily="2" charset="2"/>
              <a:buNone/>
            </a:pPr>
            <a:r>
              <a:rPr lang="en-US" altLang="en-US" b="0">
                <a:latin typeface="Century Gothic" panose="020B0502020202020204" pitchFamily="34" charset="0"/>
              </a:rPr>
              <a:t>     The “T” and the “M” are just as wide as they are tall </a:t>
            </a:r>
          </a:p>
          <a:p>
            <a:pPr algn="just" eaLnBrk="1" hangingPunct="1">
              <a:lnSpc>
                <a:spcPct val="90000"/>
              </a:lnSpc>
              <a:spcBef>
                <a:spcPct val="20000"/>
              </a:spcBef>
              <a:buClr>
                <a:schemeClr val="hlink"/>
              </a:buClr>
              <a:buSzPct val="110000"/>
              <a:buFont typeface="Wingdings" panose="05000000000000000000" pitchFamily="2" charset="2"/>
              <a:buNone/>
            </a:pPr>
            <a:r>
              <a:rPr lang="en-US" altLang="en-US" b="0">
                <a:latin typeface="Century Gothic" panose="020B0502020202020204" pitchFamily="34" charset="0"/>
              </a:rPr>
              <a:t>     </a:t>
            </a:r>
            <a:r>
              <a:rPr lang="en-US" altLang="en-US">
                <a:latin typeface="Century Gothic" panose="020B0502020202020204" pitchFamily="34" charset="0"/>
              </a:rPr>
              <a:t>Note:</a:t>
            </a:r>
            <a:r>
              <a:rPr lang="en-US" altLang="en-US" b="0">
                <a:latin typeface="Century Gothic" panose="020B0502020202020204" pitchFamily="34" charset="0"/>
              </a:rPr>
              <a:t> Proportion: width vs. height is very important in forming letters.</a:t>
            </a:r>
          </a:p>
          <a:p>
            <a:pPr algn="just" eaLnBrk="1" hangingPunct="1">
              <a:lnSpc>
                <a:spcPct val="90000"/>
              </a:lnSpc>
              <a:spcBef>
                <a:spcPct val="20000"/>
              </a:spcBef>
              <a:buClr>
                <a:schemeClr val="hlink"/>
              </a:buClr>
              <a:buSzPct val="110000"/>
              <a:buFont typeface="Wingdings" panose="05000000000000000000" pitchFamily="2" charset="2"/>
              <a:buNone/>
            </a:pPr>
            <a:endParaRPr lang="en-US" altLang="en-US" b="0">
              <a:latin typeface="Century Gothic" panose="020B0502020202020204" pitchFamily="34" charset="0"/>
            </a:endParaRPr>
          </a:p>
        </p:txBody>
      </p:sp>
      <p:pic>
        <p:nvPicPr>
          <p:cNvPr id="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914400"/>
            <a:ext cx="6553200" cy="270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637519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Lettering…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4" name="Rectangle 2"/>
          <p:cNvSpPr txBox="1">
            <a:spLocks noChangeArrowheads="1"/>
          </p:cNvSpPr>
          <p:nvPr/>
        </p:nvSpPr>
        <p:spPr>
          <a:xfrm>
            <a:off x="-304800" y="722338"/>
            <a:ext cx="7772400" cy="685800"/>
          </a:xfrm>
          <a:prstGeom prst="rect">
            <a:avLst/>
          </a:prstGeom>
        </p:spPr>
        <p:txBody>
          <a:bodyPr vert="horz" lIns="91440" tIns="45720" rIns="91440" bIns="45720" rtlCol="0" anchor="ctr">
            <a:normAutofit fontScale="92500" lnSpcReduction="1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mtClean="0"/>
              <a:t>Single Stroke Gothic Lettering</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819275"/>
            <a:ext cx="8659813"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1734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Lettering…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4" name="Rectangle 2"/>
          <p:cNvSpPr txBox="1">
            <a:spLocks noChangeArrowheads="1"/>
          </p:cNvSpPr>
          <p:nvPr/>
        </p:nvSpPr>
        <p:spPr>
          <a:xfrm>
            <a:off x="152400" y="466027"/>
            <a:ext cx="77724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mtClean="0"/>
              <a:t>Lettering – Vertical Gothic Font</a:t>
            </a:r>
            <a:endParaRPr lang="en-US" altLang="en-US" sz="1800" smtClean="0"/>
          </a:p>
        </p:txBody>
      </p:sp>
      <p:pic>
        <p:nvPicPr>
          <p:cNvPr id="6"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95400"/>
            <a:ext cx="9144000" cy="2478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46" y="4079212"/>
            <a:ext cx="9090546" cy="232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7037545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Lettering…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6" name="Footer Placeholder 3"/>
          <p:cNvSpPr txBox="1">
            <a:spLocks noGrp="1"/>
          </p:cNvSpPr>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sz="2400" b="1">
                <a:solidFill>
                  <a:schemeClr val="tx1"/>
                </a:solidFill>
                <a:latin typeface="Tahoma" panose="020B0604030504040204" pitchFamily="34" charset="0"/>
              </a:defRPr>
            </a:lvl1pPr>
            <a:lvl2pPr marL="742950" indent="-285750" eaLnBrk="0" hangingPunct="0">
              <a:defRPr sz="2400" b="1">
                <a:solidFill>
                  <a:schemeClr val="tx1"/>
                </a:solidFill>
                <a:latin typeface="Tahoma" panose="020B0604030504040204" pitchFamily="34" charset="0"/>
              </a:defRPr>
            </a:lvl2pPr>
            <a:lvl3pPr marL="1143000" indent="-228600" eaLnBrk="0" hangingPunct="0">
              <a:defRPr sz="2400" b="1">
                <a:solidFill>
                  <a:schemeClr val="tx1"/>
                </a:solidFill>
                <a:latin typeface="Tahoma" panose="020B0604030504040204" pitchFamily="34" charset="0"/>
              </a:defRPr>
            </a:lvl3pPr>
            <a:lvl4pPr marL="1600200" indent="-228600" eaLnBrk="0" hangingPunct="0">
              <a:defRPr sz="2400" b="1">
                <a:solidFill>
                  <a:schemeClr val="tx1"/>
                </a:solidFill>
                <a:latin typeface="Tahoma" panose="020B0604030504040204" pitchFamily="34" charset="0"/>
              </a:defRPr>
            </a:lvl4pPr>
            <a:lvl5pPr marL="2057400" indent="-228600" eaLnBrk="0" hangingPunct="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algn="ctr" eaLnBrk="1" hangingPunct="1"/>
            <a:endParaRPr lang="en-US" altLang="en-US" sz="1400" b="0"/>
          </a:p>
        </p:txBody>
      </p:sp>
      <p:grpSp>
        <p:nvGrpSpPr>
          <p:cNvPr id="7" name="Group 3"/>
          <p:cNvGrpSpPr>
            <a:grpSpLocks/>
          </p:cNvGrpSpPr>
          <p:nvPr/>
        </p:nvGrpSpPr>
        <p:grpSpPr bwMode="auto">
          <a:xfrm>
            <a:off x="653954" y="1477963"/>
            <a:ext cx="8032845" cy="4967286"/>
            <a:chOff x="849" y="1170"/>
            <a:chExt cx="4032" cy="2953"/>
          </a:xfrm>
        </p:grpSpPr>
        <p:pic>
          <p:nvPicPr>
            <p:cNvPr id="8" name="Picture 4" descr="lette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49" y="1170"/>
              <a:ext cx="4032" cy="29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useBgFill="1">
          <p:nvSpPr>
            <p:cNvPr id="9" name="Text Box 5"/>
            <p:cNvSpPr txBox="1">
              <a:spLocks noChangeArrowheads="1"/>
            </p:cNvSpPr>
            <p:nvPr/>
          </p:nvSpPr>
          <p:spPr bwMode="auto">
            <a:xfrm>
              <a:off x="909" y="4005"/>
              <a:ext cx="3792" cy="118"/>
            </a:xfrm>
            <a:prstGeom prst="rect">
              <a:avLst/>
            </a:prstGeom>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400" b="1">
                  <a:solidFill>
                    <a:schemeClr val="tx1"/>
                  </a:solidFill>
                  <a:latin typeface="Tahoma" panose="020B0604030504040204" pitchFamily="34" charset="0"/>
                </a:defRPr>
              </a:lvl1pPr>
              <a:lvl2pPr marL="742950" indent="-285750" eaLnBrk="0" hangingPunct="0">
                <a:defRPr sz="2400" b="1">
                  <a:solidFill>
                    <a:schemeClr val="tx1"/>
                  </a:solidFill>
                  <a:latin typeface="Tahoma" panose="020B0604030504040204" pitchFamily="34" charset="0"/>
                </a:defRPr>
              </a:lvl2pPr>
              <a:lvl3pPr marL="1143000" indent="-228600" eaLnBrk="0" hangingPunct="0">
                <a:defRPr sz="2400" b="1">
                  <a:solidFill>
                    <a:schemeClr val="tx1"/>
                  </a:solidFill>
                  <a:latin typeface="Tahoma" panose="020B0604030504040204" pitchFamily="34" charset="0"/>
                </a:defRPr>
              </a:lvl3pPr>
              <a:lvl4pPr marL="1600200" indent="-228600" eaLnBrk="0" hangingPunct="0">
                <a:defRPr sz="2400" b="1">
                  <a:solidFill>
                    <a:schemeClr val="tx1"/>
                  </a:solidFill>
                  <a:latin typeface="Tahoma" panose="020B0604030504040204" pitchFamily="34" charset="0"/>
                </a:defRPr>
              </a:lvl4pPr>
              <a:lvl5pPr marL="2057400" indent="-228600" eaLnBrk="0" hangingPunct="0">
                <a:defRPr sz="2400" b="1">
                  <a:solidFill>
                    <a:schemeClr val="tx1"/>
                  </a:solidFill>
                  <a:latin typeface="Tahoma" panose="020B0604030504040204" pitchFamily="34" charset="0"/>
                </a:defRPr>
              </a:lvl5pPr>
              <a:lvl6pPr marL="2514600" indent="-228600" eaLnBrk="0" fontAlgn="base" hangingPunct="0">
                <a:spcBef>
                  <a:spcPct val="0"/>
                </a:spcBef>
                <a:spcAft>
                  <a:spcPct val="0"/>
                </a:spcAft>
                <a:defRPr sz="2400" b="1">
                  <a:solidFill>
                    <a:schemeClr val="tx1"/>
                  </a:solidFill>
                  <a:latin typeface="Tahoma" panose="020B0604030504040204" pitchFamily="34" charset="0"/>
                </a:defRPr>
              </a:lvl6pPr>
              <a:lvl7pPr marL="2971800" indent="-228600" eaLnBrk="0" fontAlgn="base" hangingPunct="0">
                <a:spcBef>
                  <a:spcPct val="0"/>
                </a:spcBef>
                <a:spcAft>
                  <a:spcPct val="0"/>
                </a:spcAft>
                <a:defRPr sz="2400" b="1">
                  <a:solidFill>
                    <a:schemeClr val="tx1"/>
                  </a:solidFill>
                  <a:latin typeface="Tahoma" panose="020B0604030504040204" pitchFamily="34" charset="0"/>
                </a:defRPr>
              </a:lvl7pPr>
              <a:lvl8pPr marL="3429000" indent="-228600" eaLnBrk="0" fontAlgn="base" hangingPunct="0">
                <a:spcBef>
                  <a:spcPct val="0"/>
                </a:spcBef>
                <a:spcAft>
                  <a:spcPct val="0"/>
                </a:spcAft>
                <a:defRPr sz="2400" b="1">
                  <a:solidFill>
                    <a:schemeClr val="tx1"/>
                  </a:solidFill>
                  <a:latin typeface="Tahoma" panose="020B0604030504040204" pitchFamily="34" charset="0"/>
                </a:defRPr>
              </a:lvl8pPr>
              <a:lvl9pPr marL="3886200" indent="-228600" eaLnBrk="0" fontAlgn="base" hangingPunct="0">
                <a:spcBef>
                  <a:spcPct val="0"/>
                </a:spcBef>
                <a:spcAft>
                  <a:spcPct val="0"/>
                </a:spcAft>
                <a:defRPr sz="2400" b="1">
                  <a:solidFill>
                    <a:schemeClr val="tx1"/>
                  </a:solidFill>
                  <a:latin typeface="Tahoma" panose="020B0604030504040204" pitchFamily="34" charset="0"/>
                </a:defRPr>
              </a:lvl9pPr>
            </a:lstStyle>
            <a:p>
              <a:pPr eaLnBrk="1" hangingPunct="1">
                <a:spcBef>
                  <a:spcPct val="50000"/>
                </a:spcBef>
              </a:pPr>
              <a:endParaRPr lang="en-US" altLang="en-US" sz="800"/>
            </a:p>
          </p:txBody>
        </p:sp>
      </p:grpSp>
      <p:sp>
        <p:nvSpPr>
          <p:cNvPr id="10" name="Rectangle 2"/>
          <p:cNvSpPr txBox="1">
            <a:spLocks noChangeArrowheads="1"/>
          </p:cNvSpPr>
          <p:nvPr/>
        </p:nvSpPr>
        <p:spPr>
          <a:xfrm>
            <a:off x="-31845" y="492127"/>
            <a:ext cx="77724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dirty="0" smtClean="0"/>
              <a:t>Lettering – Vertical Gothic Font</a:t>
            </a:r>
            <a:endParaRPr lang="en-US" altLang="en-US" sz="1800" dirty="0" smtClean="0"/>
          </a:p>
        </p:txBody>
      </p:sp>
    </p:spTree>
    <p:extLst>
      <p:ext uri="{BB962C8B-B14F-4D97-AF65-F5344CB8AC3E}">
        <p14:creationId xmlns:p14="http://schemas.microsoft.com/office/powerpoint/2010/main" val="36918014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a:latin typeface="Times New Roman" pitchFamily="18" charset="0"/>
                <a:cs typeface="Times New Roman" pitchFamily="18" charset="0"/>
              </a:rPr>
              <a:t>Lettering…</a:t>
            </a: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4" name="Rectangle 2"/>
          <p:cNvSpPr txBox="1">
            <a:spLocks noChangeArrowheads="1"/>
          </p:cNvSpPr>
          <p:nvPr/>
        </p:nvSpPr>
        <p:spPr>
          <a:xfrm>
            <a:off x="-1485900" y="754086"/>
            <a:ext cx="7772400" cy="533400"/>
          </a:xfrm>
          <a:prstGeom prst="rect">
            <a:avLst/>
          </a:prstGeom>
        </p:spPr>
        <p:txBody>
          <a:bodyPr vert="horz" lIns="91440" tIns="45720" rIns="91440" bIns="45720" rtlCol="0" anchor="ctr">
            <a:normAutofit fontScale="7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en-US" smtClean="0"/>
              <a:t>Lettering with Fractions</a:t>
            </a:r>
          </a:p>
        </p:txBody>
      </p:sp>
      <p:pic>
        <p:nvPicPr>
          <p:cNvPr id="6" name="Picture 3"/>
          <p:cNvPicPr>
            <a:picLocks noChangeAspect="1" noChangeArrowheads="1"/>
          </p:cNvPicPr>
          <p:nvPr/>
        </p:nvPicPr>
        <p:blipFill>
          <a:blip r:embed="rId2">
            <a:extLst>
              <a:ext uri="{28A0092B-C50C-407E-A947-70E740481C1C}">
                <a14:useLocalDpi xmlns:a14="http://schemas.microsoft.com/office/drawing/2010/main" val="0"/>
              </a:ext>
            </a:extLst>
          </a:blip>
          <a:srcRect l="28696" t="14313" r="19107" b="15312"/>
          <a:stretch>
            <a:fillRect/>
          </a:stretch>
        </p:blipFill>
        <p:spPr bwMode="auto">
          <a:xfrm>
            <a:off x="2088676" y="1241425"/>
            <a:ext cx="4191000" cy="347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907366"/>
            <a:ext cx="9144000" cy="145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8220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smtClean="0">
                <a:latin typeface="Times New Roman" pitchFamily="18" charset="0"/>
                <a:cs typeface="Times New Roman" pitchFamily="18" charset="0"/>
              </a:rPr>
              <a:t>Scales</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sp>
        <p:nvSpPr>
          <p:cNvPr id="2" name="Rectangle 1"/>
          <p:cNvSpPr/>
          <p:nvPr/>
        </p:nvSpPr>
        <p:spPr>
          <a:xfrm>
            <a:off x="152400" y="1295400"/>
            <a:ext cx="9144000" cy="4031873"/>
          </a:xfrm>
          <a:prstGeom prst="rect">
            <a:avLst/>
          </a:prstGeom>
        </p:spPr>
        <p:txBody>
          <a:bodyPr wrap="square">
            <a:spAutoFit/>
          </a:bodyPr>
          <a:lstStyle/>
          <a:p>
            <a:r>
              <a:rPr lang="en-US" sz="3200" dirty="0">
                <a:solidFill>
                  <a:schemeClr val="bg2">
                    <a:lumMod val="25000"/>
                  </a:schemeClr>
                </a:solidFill>
                <a:latin typeface="Times New Roman" panose="02020603050405020304" pitchFamily="18" charset="0"/>
                <a:cs typeface="Times New Roman" panose="02020603050405020304" pitchFamily="18" charset="0"/>
              </a:rPr>
              <a:t>A scale is defined as the ratio of the linear dimension of the object as represented in a drawing to the actual dimensions of the same.</a:t>
            </a:r>
          </a:p>
          <a:p>
            <a:endParaRPr lang="en-US" sz="3200" dirty="0">
              <a:solidFill>
                <a:schemeClr val="bg2">
                  <a:lumMod val="25000"/>
                </a:schemeClr>
              </a:solidFill>
              <a:latin typeface="Times New Roman" panose="02020603050405020304" pitchFamily="18" charset="0"/>
              <a:cs typeface="Times New Roman" panose="02020603050405020304" pitchFamily="18" charset="0"/>
            </a:endParaRPr>
          </a:p>
          <a:p>
            <a:r>
              <a:rPr lang="en-US" sz="3200" dirty="0">
                <a:solidFill>
                  <a:schemeClr val="bg2">
                    <a:lumMod val="25000"/>
                  </a:schemeClr>
                </a:solidFill>
                <a:latin typeface="Times New Roman" panose="02020603050405020304" pitchFamily="18" charset="0"/>
                <a:cs typeface="Times New Roman" panose="02020603050405020304" pitchFamily="18" charset="0"/>
              </a:rPr>
              <a:t>Scales are used to prepare drawing at:</a:t>
            </a:r>
          </a:p>
          <a:p>
            <a:pPr lvl="1"/>
            <a:r>
              <a:rPr lang="en-US" sz="3200" dirty="0">
                <a:solidFill>
                  <a:schemeClr val="bg2">
                    <a:lumMod val="25000"/>
                  </a:schemeClr>
                </a:solidFill>
                <a:latin typeface="Times New Roman" panose="02020603050405020304" pitchFamily="18" charset="0"/>
                <a:cs typeface="Times New Roman" panose="02020603050405020304" pitchFamily="18" charset="0"/>
              </a:rPr>
              <a:t>Full size</a:t>
            </a:r>
          </a:p>
          <a:p>
            <a:pPr lvl="1"/>
            <a:r>
              <a:rPr lang="en-US" sz="3200" dirty="0">
                <a:solidFill>
                  <a:schemeClr val="bg2">
                    <a:lumMod val="25000"/>
                  </a:schemeClr>
                </a:solidFill>
                <a:latin typeface="Times New Roman" panose="02020603050405020304" pitchFamily="18" charset="0"/>
                <a:cs typeface="Times New Roman" panose="02020603050405020304" pitchFamily="18" charset="0"/>
              </a:rPr>
              <a:t>Reduced size</a:t>
            </a:r>
          </a:p>
          <a:p>
            <a:pPr lvl="1"/>
            <a:r>
              <a:rPr lang="en-US" sz="3200" dirty="0">
                <a:solidFill>
                  <a:schemeClr val="bg2">
                    <a:lumMod val="25000"/>
                  </a:schemeClr>
                </a:solidFill>
                <a:latin typeface="Times New Roman" panose="02020603050405020304" pitchFamily="18" charset="0"/>
                <a:cs typeface="Times New Roman" panose="02020603050405020304" pitchFamily="18" charset="0"/>
              </a:rPr>
              <a:t>Enlarged size</a:t>
            </a:r>
          </a:p>
        </p:txBody>
      </p:sp>
    </p:spTree>
    <p:extLst>
      <p:ext uri="{BB962C8B-B14F-4D97-AF65-F5344CB8AC3E}">
        <p14:creationId xmlns:p14="http://schemas.microsoft.com/office/powerpoint/2010/main" val="41023229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eaLnBrk="1" fontAlgn="auto" hangingPunct="1">
              <a:spcAft>
                <a:spcPts val="0"/>
              </a:spcAft>
              <a:defRPr/>
            </a:pPr>
            <a:r>
              <a:rPr lang="en-US" altLang="ja-JP" b="1" spc="-150" dirty="0" smtClean="0">
                <a:latin typeface="Times New Roman" pitchFamily="18" charset="0"/>
                <a:cs typeface="Times New Roman" pitchFamily="18" charset="0"/>
              </a:rPr>
              <a:t>Layout</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grpSp>
        <p:nvGrpSpPr>
          <p:cNvPr id="32" name="Group 31"/>
          <p:cNvGrpSpPr/>
          <p:nvPr/>
        </p:nvGrpSpPr>
        <p:grpSpPr>
          <a:xfrm>
            <a:off x="0" y="714377"/>
            <a:ext cx="9116704" cy="5594866"/>
            <a:chOff x="1219200" y="272534"/>
            <a:chExt cx="6858000" cy="5594866"/>
          </a:xfrm>
        </p:grpSpPr>
        <p:grpSp>
          <p:nvGrpSpPr>
            <p:cNvPr id="33" name="Group 32"/>
            <p:cNvGrpSpPr/>
            <p:nvPr/>
          </p:nvGrpSpPr>
          <p:grpSpPr>
            <a:xfrm>
              <a:off x="1219200" y="272534"/>
              <a:ext cx="6858000" cy="5594866"/>
              <a:chOff x="1219200" y="272534"/>
              <a:chExt cx="6858000" cy="5594866"/>
            </a:xfrm>
          </p:grpSpPr>
          <p:sp>
            <p:nvSpPr>
              <p:cNvPr id="50" name="Rectangle 49"/>
              <p:cNvSpPr/>
              <p:nvPr/>
            </p:nvSpPr>
            <p:spPr>
              <a:xfrm>
                <a:off x="1600200" y="1371600"/>
                <a:ext cx="6096000" cy="4191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sp>
            <p:nvSpPr>
              <p:cNvPr id="51" name="Rectangle 50"/>
              <p:cNvSpPr/>
              <p:nvPr/>
            </p:nvSpPr>
            <p:spPr>
              <a:xfrm>
                <a:off x="1219200" y="1066800"/>
                <a:ext cx="6858000" cy="4800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latin typeface="Times New Roman" panose="02020603050405020304" pitchFamily="18" charset="0"/>
                  <a:cs typeface="Times New Roman" panose="02020603050405020304" pitchFamily="18" charset="0"/>
                </a:endParaRPr>
              </a:p>
            </p:txBody>
          </p:sp>
          <p:cxnSp>
            <p:nvCxnSpPr>
              <p:cNvPr id="52" name="Straight Connector 51"/>
              <p:cNvCxnSpPr/>
              <p:nvPr/>
            </p:nvCxnSpPr>
            <p:spPr>
              <a:xfrm flipV="1">
                <a:off x="5562600" y="4343400"/>
                <a:ext cx="0" cy="1219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5562600" y="4343400"/>
                <a:ext cx="2133600"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TextBox 53"/>
                  <p:cNvSpPr txBox="1"/>
                  <p:nvPr/>
                </p:nvSpPr>
                <p:spPr>
                  <a:xfrm>
                    <a:off x="2641187" y="542995"/>
                    <a:ext cx="798617" cy="527580"/>
                  </a:xfrm>
                  <a:prstGeom prst="rect">
                    <a:avLst/>
                  </a:prstGeom>
                  <a:noFill/>
                </p:spPr>
                <p:txBody>
                  <a:bodyPr wrap="none" rtlCol="0">
                    <a:spAutoFit/>
                  </a:bodyPr>
                  <a:lstStyle/>
                  <a:p>
                    <a14:m>
                      <m:oMath xmlns:m="http://schemas.openxmlformats.org/officeDocument/2006/math">
                        <m:f>
                          <m:fPr>
                            <m:ctrlPr>
                              <a:rPr lang="en-US" sz="2000" i="1" dirty="0" smtClean="0">
                                <a:latin typeface="Cambria Math" panose="02040503050406030204" pitchFamily="18" charset="0"/>
                                <a:cs typeface="Times New Roman" panose="02020603050405020304" pitchFamily="18" charset="0"/>
                              </a:rPr>
                            </m:ctrlPr>
                          </m:fPr>
                          <m:num>
                            <m:r>
                              <a:rPr lang="en-US" sz="2000" b="0" i="1" dirty="0" smtClean="0">
                                <a:latin typeface="Cambria Math" panose="02040503050406030204" pitchFamily="18" charset="0"/>
                                <a:cs typeface="Times New Roman" panose="02020603050405020304" pitchFamily="18" charset="0"/>
                              </a:rPr>
                              <m:t>3</m:t>
                            </m:r>
                          </m:num>
                          <m:den>
                            <m:r>
                              <a:rPr lang="en-US" sz="2000" b="0" i="1" dirty="0" smtClean="0">
                                <a:latin typeface="Cambria Math" panose="02040503050406030204" pitchFamily="18" charset="0"/>
                                <a:cs typeface="Times New Roman" panose="02020603050405020304" pitchFamily="18" charset="0"/>
                              </a:rPr>
                              <m:t>4</m:t>
                            </m:r>
                          </m:den>
                        </m:f>
                      </m:oMath>
                    </a14:m>
                    <a:r>
                      <a:rPr lang="en-US" sz="2000" dirty="0" smtClean="0">
                        <a:latin typeface="Times New Roman" panose="02020603050405020304" pitchFamily="18" charset="0"/>
                        <a:cs typeface="Times New Roman" panose="02020603050405020304" pitchFamily="18" charset="0"/>
                      </a:rPr>
                      <a:t> inch</a:t>
                    </a:r>
                    <a:endParaRPr lang="en-US" sz="2000" dirty="0">
                      <a:latin typeface="Times New Roman" panose="02020603050405020304" pitchFamily="18" charset="0"/>
                      <a:cs typeface="Times New Roman" panose="02020603050405020304" pitchFamily="18" charset="0"/>
                    </a:endParaRPr>
                  </a:p>
                </p:txBody>
              </p:sp>
            </mc:Choice>
            <mc:Fallback xmlns="">
              <p:sp>
                <p:nvSpPr>
                  <p:cNvPr id="54" name="TextBox 53"/>
                  <p:cNvSpPr txBox="1">
                    <a:spLocks noRot="1" noChangeAspect="1" noMove="1" noResize="1" noEditPoints="1" noAdjustHandles="1" noChangeArrowheads="1" noChangeShapeType="1" noTextEdit="1"/>
                  </p:cNvSpPr>
                  <p:nvPr/>
                </p:nvSpPr>
                <p:spPr>
                  <a:xfrm>
                    <a:off x="2641187" y="542995"/>
                    <a:ext cx="798617" cy="527580"/>
                  </a:xfrm>
                  <a:prstGeom prst="rect">
                    <a:avLst/>
                  </a:prstGeom>
                  <a:blipFill rotWithShape="0">
                    <a:blip r:embed="rId2"/>
                    <a:stretch>
                      <a:fillRect b="-8140"/>
                    </a:stretch>
                  </a:blipFill>
                </p:spPr>
                <p:txBody>
                  <a:bodyPr/>
                  <a:lstStyle/>
                  <a:p>
                    <a:r>
                      <a:rPr lang="en-US">
                        <a:noFill/>
                      </a:rPr>
                      <a:t> </a:t>
                    </a:r>
                  </a:p>
                </p:txBody>
              </p:sp>
            </mc:Fallback>
          </mc:AlternateContent>
          <p:sp>
            <p:nvSpPr>
              <p:cNvPr id="55" name="TextBox 54"/>
              <p:cNvSpPr txBox="1"/>
              <p:nvPr/>
            </p:nvSpPr>
            <p:spPr>
              <a:xfrm>
                <a:off x="5595258" y="4752945"/>
                <a:ext cx="1940682" cy="400110"/>
              </a:xfrm>
              <a:prstGeom prst="rect">
                <a:avLst/>
              </a:prstGeom>
              <a:noFill/>
            </p:spPr>
            <p:txBody>
              <a:bodyPr wrap="square" rtlCol="0">
                <a:spAutoFit/>
              </a:bodyPr>
              <a:lstStyle/>
              <a:p>
                <a:r>
                  <a:rPr lang="en-US" sz="2000" dirty="0" smtClean="0">
                    <a:solidFill>
                      <a:schemeClr val="accent6">
                        <a:lumMod val="75000"/>
                      </a:schemeClr>
                    </a:solidFill>
                    <a:latin typeface="Times New Roman" panose="02020603050405020304" pitchFamily="18" charset="0"/>
                    <a:cs typeface="Times New Roman" panose="02020603050405020304" pitchFamily="18" charset="0"/>
                  </a:rPr>
                  <a:t>TITLE BLOCK</a:t>
                </a:r>
                <a:endParaRPr lang="en-US" sz="20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56" name="TextBox 55"/>
              <p:cNvSpPr txBox="1"/>
              <p:nvPr/>
            </p:nvSpPr>
            <p:spPr>
              <a:xfrm>
                <a:off x="4295843" y="272534"/>
                <a:ext cx="1715534"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Drawing Sheet</a:t>
                </a:r>
                <a:endParaRPr lang="en-US" sz="2000" dirty="0">
                  <a:latin typeface="Times New Roman" panose="02020603050405020304" pitchFamily="18" charset="0"/>
                  <a:cs typeface="Times New Roman" panose="02020603050405020304" pitchFamily="18" charset="0"/>
                </a:endParaRPr>
              </a:p>
            </p:txBody>
          </p:sp>
          <p:sp>
            <p:nvSpPr>
              <p:cNvPr id="57" name="TextBox 56"/>
              <p:cNvSpPr txBox="1"/>
              <p:nvPr/>
            </p:nvSpPr>
            <p:spPr>
              <a:xfrm>
                <a:off x="6269182" y="487279"/>
                <a:ext cx="1430200"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Border Line</a:t>
                </a:r>
                <a:endParaRPr lang="en-US" sz="2000" dirty="0">
                  <a:latin typeface="Times New Roman" panose="02020603050405020304" pitchFamily="18" charset="0"/>
                  <a:cs typeface="Times New Roman" panose="02020603050405020304" pitchFamily="18" charset="0"/>
                </a:endParaRPr>
              </a:p>
            </p:txBody>
          </p:sp>
        </p:grpSp>
        <p:sp>
          <p:nvSpPr>
            <p:cNvPr id="34" name="TextBox 33"/>
            <p:cNvSpPr txBox="1"/>
            <p:nvPr/>
          </p:nvSpPr>
          <p:spPr>
            <a:xfrm>
              <a:off x="3048000" y="3519392"/>
              <a:ext cx="3352800" cy="400110"/>
            </a:xfrm>
            <a:prstGeom prst="rect">
              <a:avLst/>
            </a:prstGeom>
            <a:noFill/>
          </p:spPr>
          <p:txBody>
            <a:bodyPr wrap="square" rtlCol="0">
              <a:spAutoFit/>
            </a:bodyPr>
            <a:lstStyle/>
            <a:p>
              <a:pPr algn="ctr"/>
              <a:endParaRPr lang="en-US" sz="2000" dirty="0">
                <a:latin typeface="Times New Roman" panose="02020603050405020304" pitchFamily="18" charset="0"/>
                <a:cs typeface="Times New Roman" panose="02020603050405020304" pitchFamily="18" charset="0"/>
              </a:endParaRPr>
            </a:p>
          </p:txBody>
        </p:sp>
        <p:sp>
          <p:nvSpPr>
            <p:cNvPr id="35" name="TextBox 34"/>
            <p:cNvSpPr txBox="1"/>
            <p:nvPr/>
          </p:nvSpPr>
          <p:spPr>
            <a:xfrm>
              <a:off x="2928073" y="1891518"/>
              <a:ext cx="3853543" cy="400110"/>
            </a:xfrm>
            <a:prstGeom prst="rect">
              <a:avLst/>
            </a:prstGeom>
            <a:noFill/>
            <a:ln>
              <a:noFill/>
            </a:ln>
          </p:spPr>
          <p:txBody>
            <a:bodyPr wrap="square" rtlCol="0">
              <a:spAutoFit/>
            </a:bodyPr>
            <a:lstStyle/>
            <a:p>
              <a:pPr algn="ctr"/>
              <a:r>
                <a:rPr lang="en-US" sz="2000" dirty="0" smtClean="0">
                  <a:latin typeface="Times New Roman" panose="02020603050405020304" pitchFamily="18" charset="0"/>
                  <a:cs typeface="Times New Roman" panose="02020603050405020304" pitchFamily="18" charset="0"/>
                </a:rPr>
                <a:t>JOB TITLE</a:t>
              </a:r>
              <a:endParaRPr lang="en-US" sz="2000" dirty="0">
                <a:latin typeface="Times New Roman" panose="02020603050405020304" pitchFamily="18" charset="0"/>
                <a:cs typeface="Times New Roman" panose="02020603050405020304" pitchFamily="18" charset="0"/>
              </a:endParaRPr>
            </a:p>
          </p:txBody>
        </p:sp>
        <p:cxnSp>
          <p:nvCxnSpPr>
            <p:cNvPr id="36" name="Straight Arrow Connector 35"/>
            <p:cNvCxnSpPr/>
            <p:nvPr/>
          </p:nvCxnSpPr>
          <p:spPr>
            <a:xfrm>
              <a:off x="3684896" y="1371600"/>
              <a:ext cx="0" cy="4572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2519147" y="1416938"/>
              <a:ext cx="817853"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1 inch</a:t>
              </a:r>
              <a:endParaRPr lang="en-US" sz="2000" dirty="0">
                <a:latin typeface="Times New Roman" panose="02020603050405020304" pitchFamily="18" charset="0"/>
                <a:cs typeface="Times New Roman" panose="02020603050405020304" pitchFamily="18" charset="0"/>
              </a:endParaRPr>
            </a:p>
          </p:txBody>
        </p:sp>
        <p:cxnSp>
          <p:nvCxnSpPr>
            <p:cNvPr id="38" name="Straight Connector 37"/>
            <p:cNvCxnSpPr/>
            <p:nvPr/>
          </p:nvCxnSpPr>
          <p:spPr>
            <a:xfrm>
              <a:off x="3048000" y="1828800"/>
              <a:ext cx="381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3048000" y="1905000"/>
              <a:ext cx="381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3048000" y="2276901"/>
              <a:ext cx="381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p:nvPr/>
          </p:nvCxnSpPr>
          <p:spPr>
            <a:xfrm>
              <a:off x="3048000" y="2362200"/>
              <a:ext cx="381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Arrow Connector 41"/>
            <p:cNvCxnSpPr/>
            <p:nvPr/>
          </p:nvCxnSpPr>
          <p:spPr>
            <a:xfrm>
              <a:off x="6157090" y="1906592"/>
              <a:ext cx="0" cy="36576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p:cNvSpPr txBox="1"/>
                <p:nvPr/>
              </p:nvSpPr>
              <p:spPr>
                <a:xfrm>
                  <a:off x="6220473" y="1868834"/>
                  <a:ext cx="712054" cy="439992"/>
                </a:xfrm>
                <a:prstGeom prst="rect">
                  <a:avLst/>
                </a:prstGeom>
                <a:noFill/>
              </p:spPr>
              <p:txBody>
                <a:bodyPr wrap="none" rtlCol="0">
                  <a:spAutoFit/>
                </a:bodyPr>
                <a:lstStyle/>
                <a:p>
                  <a14:m>
                    <m:oMath xmlns:m="http://schemas.openxmlformats.org/officeDocument/2006/math">
                      <m:f>
                        <m:fPr>
                          <m:ctrlPr>
                            <a:rPr lang="en-US" sz="1600" i="1" dirty="0" smtClean="0">
                              <a:latin typeface="Cambria Math" panose="02040503050406030204" pitchFamily="18" charset="0"/>
                              <a:cs typeface="Times New Roman" panose="02020603050405020304" pitchFamily="18" charset="0"/>
                            </a:rPr>
                          </m:ctrlPr>
                        </m:fPr>
                        <m:num>
                          <m:r>
                            <a:rPr lang="en-US" sz="1600" b="0" i="1" dirty="0" smtClean="0">
                              <a:latin typeface="Cambria Math" panose="02040503050406030204" pitchFamily="18" charset="0"/>
                              <a:cs typeface="Times New Roman" panose="02020603050405020304" pitchFamily="18" charset="0"/>
                            </a:rPr>
                            <m:t>1</m:t>
                          </m:r>
                        </m:num>
                        <m:den>
                          <m:r>
                            <a:rPr lang="en-US" sz="1600" b="0" i="1" dirty="0" smtClean="0">
                              <a:latin typeface="Cambria Math" panose="02040503050406030204" pitchFamily="18" charset="0"/>
                              <a:cs typeface="Times New Roman" panose="02020603050405020304" pitchFamily="18" charset="0"/>
                            </a:rPr>
                            <m:t>2</m:t>
                          </m:r>
                        </m:den>
                      </m:f>
                    </m:oMath>
                  </a14:m>
                  <a:r>
                    <a:rPr lang="en-US" sz="2000" dirty="0" smtClean="0">
                      <a:latin typeface="Times New Roman" panose="02020603050405020304" pitchFamily="18" charset="0"/>
                      <a:cs typeface="Times New Roman" panose="02020603050405020304" pitchFamily="18" charset="0"/>
                    </a:rPr>
                    <a:t>inch</a:t>
                  </a:r>
                  <a:endParaRPr lang="en-US" sz="2000" dirty="0">
                    <a:latin typeface="Times New Roman" panose="02020603050405020304" pitchFamily="18" charset="0"/>
                    <a:cs typeface="Times New Roman" panose="02020603050405020304" pitchFamily="18" charset="0"/>
                  </a:endParaRPr>
                </a:p>
              </p:txBody>
            </p:sp>
          </mc:Choice>
          <mc:Fallback xmlns="">
            <p:sp>
              <p:nvSpPr>
                <p:cNvPr id="43" name="TextBox 42"/>
                <p:cNvSpPr txBox="1">
                  <a:spLocks noRot="1" noChangeAspect="1" noMove="1" noResize="1" noEditPoints="1" noAdjustHandles="1" noChangeArrowheads="1" noChangeShapeType="1" noTextEdit="1"/>
                </p:cNvSpPr>
                <p:nvPr/>
              </p:nvSpPr>
              <p:spPr>
                <a:xfrm>
                  <a:off x="6220473" y="1868834"/>
                  <a:ext cx="712054" cy="439992"/>
                </a:xfrm>
                <a:prstGeom prst="rect">
                  <a:avLst/>
                </a:prstGeom>
                <a:blipFill rotWithShape="0">
                  <a:blip r:embed="rId3"/>
                  <a:stretch>
                    <a:fillRect t="-6944" b="-15278"/>
                  </a:stretch>
                </a:blipFill>
              </p:spPr>
              <p:txBody>
                <a:bodyPr/>
                <a:lstStyle/>
                <a:p>
                  <a:r>
                    <a:rPr lang="en-US">
                      <a:noFill/>
                    </a:rPr>
                    <a:t> </a:t>
                  </a:r>
                </a:p>
              </p:txBody>
            </p:sp>
          </mc:Fallback>
        </mc:AlternateContent>
        <p:cxnSp>
          <p:nvCxnSpPr>
            <p:cNvPr id="44" name="Straight Arrow Connector 43"/>
            <p:cNvCxnSpPr/>
            <p:nvPr/>
          </p:nvCxnSpPr>
          <p:spPr>
            <a:xfrm>
              <a:off x="3679208" y="533400"/>
              <a:ext cx="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a:off x="5029200" y="574344"/>
              <a:ext cx="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6858000" y="838200"/>
              <a:ext cx="0" cy="533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flipV="1">
              <a:off x="6157090" y="2362200"/>
              <a:ext cx="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6179893" y="2471039"/>
              <a:ext cx="689612"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 inch</a:t>
              </a:r>
              <a:endParaRPr lang="en-US" sz="20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9" name="TextBox 48"/>
                <p:cNvSpPr txBox="1"/>
                <p:nvPr/>
              </p:nvSpPr>
              <p:spPr>
                <a:xfrm>
                  <a:off x="6161643" y="2432642"/>
                  <a:ext cx="185948" cy="5203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8</m:t>
                            </m:r>
                          </m:den>
                        </m:f>
                      </m:oMath>
                    </m:oMathPara>
                  </a14:m>
                  <a:endParaRPr lang="en-US" dirty="0">
                    <a:latin typeface="Times New Roman" panose="02020603050405020304" pitchFamily="18" charset="0"/>
                    <a:cs typeface="Times New Roman" panose="02020603050405020304" pitchFamily="18" charset="0"/>
                  </a:endParaRPr>
                </a:p>
              </p:txBody>
            </p:sp>
          </mc:Choice>
          <mc:Fallback xmlns="">
            <p:sp>
              <p:nvSpPr>
                <p:cNvPr id="49" name="TextBox 48"/>
                <p:cNvSpPr txBox="1">
                  <a:spLocks noRot="1" noChangeAspect="1" noMove="1" noResize="1" noEditPoints="1" noAdjustHandles="1" noChangeArrowheads="1" noChangeShapeType="1" noTextEdit="1"/>
                </p:cNvSpPr>
                <p:nvPr/>
              </p:nvSpPr>
              <p:spPr>
                <a:xfrm>
                  <a:off x="6161643" y="2432642"/>
                  <a:ext cx="185948" cy="520399"/>
                </a:xfrm>
                <a:prstGeom prst="rect">
                  <a:avLst/>
                </a:prstGeom>
                <a:blipFill rotWithShape="0">
                  <a:blip r:embed="rId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50276175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3" name="Rectangle 7"/>
          <p:cNvSpPr>
            <a:spLocks noGrp="1" noRot="1" noChangeArrowheads="1"/>
          </p:cNvSpPr>
          <p:nvPr>
            <p:ph type="title"/>
          </p:nvPr>
        </p:nvSpPr>
        <p:spPr>
          <a:xfrm>
            <a:off x="0" y="2"/>
            <a:ext cx="9144000" cy="714375"/>
          </a:xfrm>
          <a:solidFill>
            <a:srgbClr val="00B0F0"/>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rtlCol="0">
            <a:noAutofit/>
          </a:bodyPr>
          <a:lstStyle/>
          <a:p>
            <a:pPr>
              <a:defRPr/>
            </a:pPr>
            <a:r>
              <a:rPr lang="en-US" altLang="ja-JP" b="1" spc="-150" dirty="0" smtClean="0">
                <a:latin typeface="Times New Roman" pitchFamily="18" charset="0"/>
                <a:cs typeface="Times New Roman" pitchFamily="18" charset="0"/>
              </a:rPr>
              <a:t>Layout…</a:t>
            </a:r>
            <a:endParaRPr lang="en-US" altLang="ja-JP" b="1" spc="-150" dirty="0">
              <a:latin typeface="Times New Roman" pitchFamily="18" charset="0"/>
              <a:cs typeface="Times New Roman" pitchFamily="18" charset="0"/>
            </a:endParaRPr>
          </a:p>
        </p:txBody>
      </p:sp>
      <p:sp>
        <p:nvSpPr>
          <p:cNvPr id="5" name="Rectangle 7"/>
          <p:cNvSpPr txBox="1">
            <a:spLocks noRot="1" noChangeArrowheads="1"/>
          </p:cNvSpPr>
          <p:nvPr/>
        </p:nvSpPr>
        <p:spPr>
          <a:xfrm>
            <a:off x="0" y="6597650"/>
            <a:ext cx="9144000" cy="260351"/>
          </a:xfrm>
          <a:prstGeom prst="rect">
            <a:avLst/>
          </a:prstGeom>
          <a:solidFill>
            <a:schemeClr val="accent5">
              <a:lumMod val="60000"/>
              <a:lumOff val="40000"/>
            </a:schemeClr>
          </a:solidFill>
        </p:spPr>
        <p:txBody>
          <a:bodyPr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fontAlgn="auto">
              <a:spcAft>
                <a:spcPts val="0"/>
              </a:spcAft>
              <a:defRPr/>
            </a:pPr>
            <a:r>
              <a:rPr lang="en-US" altLang="ja-JP" sz="2000" i="1" spc="-150" dirty="0" smtClean="0">
                <a:latin typeface="Times New Roman" pitchFamily="18" charset="0"/>
                <a:cs typeface="Times New Roman" pitchFamily="18" charset="0"/>
              </a:rPr>
              <a:t>Department of  Mechanical Engineering, BAUET</a:t>
            </a:r>
            <a:endParaRPr lang="en-US" altLang="ja-JP" sz="2000" i="1" spc="-150" dirty="0">
              <a:latin typeface="Times New Roman" pitchFamily="18" charset="0"/>
              <a:cs typeface="Times New Roman" pitchFamily="18" charset="0"/>
            </a:endParaRPr>
          </a:p>
        </p:txBody>
      </p:sp>
      <p:grpSp>
        <p:nvGrpSpPr>
          <p:cNvPr id="4" name="Group 3"/>
          <p:cNvGrpSpPr/>
          <p:nvPr/>
        </p:nvGrpSpPr>
        <p:grpSpPr>
          <a:xfrm>
            <a:off x="228600" y="714376"/>
            <a:ext cx="8915400" cy="5762623"/>
            <a:chOff x="1329517" y="381000"/>
            <a:chExt cx="7603636" cy="5162040"/>
          </a:xfrm>
        </p:grpSpPr>
        <p:sp>
          <p:nvSpPr>
            <p:cNvPr id="6" name="Rectangle 5"/>
            <p:cNvSpPr/>
            <p:nvPr/>
          </p:nvSpPr>
          <p:spPr>
            <a:xfrm>
              <a:off x="1371600" y="1219200"/>
              <a:ext cx="6400800" cy="4267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p:cNvCxnSpPr/>
            <p:nvPr/>
          </p:nvCxnSpPr>
          <p:spPr>
            <a:xfrm>
              <a:off x="1371600" y="20574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371600" y="28194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1371600" y="36576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371600" y="45720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flipV="1">
              <a:off x="1371600" y="609600"/>
              <a:ext cx="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7772400" y="609600"/>
              <a:ext cx="0" cy="5334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1371600" y="876300"/>
              <a:ext cx="6400800"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4038600" y="381000"/>
              <a:ext cx="817853"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4 inch</a:t>
              </a:r>
              <a:endParaRPr lang="en-US" sz="2000" dirty="0">
                <a:latin typeface="Times New Roman" panose="02020603050405020304" pitchFamily="18" charset="0"/>
                <a:cs typeface="Times New Roman" panose="02020603050405020304" pitchFamily="18" charset="0"/>
              </a:endParaRPr>
            </a:p>
          </p:txBody>
        </p:sp>
        <p:cxnSp>
          <p:nvCxnSpPr>
            <p:cNvPr id="15" name="Straight Connector 14"/>
            <p:cNvCxnSpPr/>
            <p:nvPr/>
          </p:nvCxnSpPr>
          <p:spPr>
            <a:xfrm>
              <a:off x="7772400" y="1219200"/>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7772400" y="5460785"/>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8115300" y="1219200"/>
              <a:ext cx="0" cy="422773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115300" y="2447651"/>
              <a:ext cx="817853" cy="400110"/>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3 inch</a:t>
              </a:r>
              <a:endParaRPr lang="en-US" sz="2000" dirty="0">
                <a:latin typeface="Times New Roman" panose="02020603050405020304" pitchFamily="18" charset="0"/>
                <a:cs typeface="Times New Roman" panose="02020603050405020304" pitchFamily="18" charset="0"/>
              </a:endParaRPr>
            </a:p>
          </p:txBody>
        </p:sp>
        <p:cxnSp>
          <p:nvCxnSpPr>
            <p:cNvPr id="19" name="Straight Connector 18"/>
            <p:cNvCxnSpPr/>
            <p:nvPr/>
          </p:nvCxnSpPr>
          <p:spPr>
            <a:xfrm>
              <a:off x="1371600" y="12954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371600" y="19812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a:off x="1371600" y="20574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1371600" y="21336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371600" y="27432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371600" y="28956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1371600" y="35814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371600" y="37338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371600" y="46482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371600" y="4495800"/>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367051" y="1066800"/>
              <a:ext cx="2882523" cy="1077218"/>
            </a:xfrm>
            <a:prstGeom prst="rect">
              <a:avLst/>
            </a:prstGeom>
            <a:noFill/>
          </p:spPr>
          <p:txBody>
            <a:bodyPr wrap="square" rtlCol="0">
              <a:spAutoFit/>
            </a:bodyPr>
            <a:lstStyle/>
            <a:p>
              <a:r>
                <a:rPr lang="en-US" sz="6400" dirty="0" smtClean="0">
                  <a:latin typeface="Franklin Gothic Book" panose="020B0503020102020204" pitchFamily="34" charset="0"/>
                </a:rPr>
                <a:t>NAME:</a:t>
              </a:r>
              <a:endParaRPr lang="en-US" sz="6400" dirty="0">
                <a:latin typeface="Franklin Gothic Book" panose="020B0503020102020204" pitchFamily="34" charset="0"/>
              </a:endParaRPr>
            </a:p>
          </p:txBody>
        </p:sp>
        <p:sp>
          <p:nvSpPr>
            <p:cNvPr id="30" name="TextBox 29"/>
            <p:cNvSpPr txBox="1"/>
            <p:nvPr/>
          </p:nvSpPr>
          <p:spPr>
            <a:xfrm>
              <a:off x="1348853" y="1882914"/>
              <a:ext cx="2882523" cy="1077218"/>
            </a:xfrm>
            <a:prstGeom prst="rect">
              <a:avLst/>
            </a:prstGeom>
            <a:noFill/>
          </p:spPr>
          <p:txBody>
            <a:bodyPr wrap="square" rtlCol="0">
              <a:spAutoFit/>
            </a:bodyPr>
            <a:lstStyle/>
            <a:p>
              <a:r>
                <a:rPr lang="en-US" sz="6400" dirty="0" smtClean="0">
                  <a:latin typeface="Franklin Gothic Book" panose="020B0503020102020204" pitchFamily="34" charset="0"/>
                </a:rPr>
                <a:t>ROLL:</a:t>
              </a:r>
              <a:endParaRPr lang="en-US" sz="6400" dirty="0">
                <a:latin typeface="Franklin Gothic Book" panose="020B0503020102020204" pitchFamily="34" charset="0"/>
              </a:endParaRPr>
            </a:p>
          </p:txBody>
        </p:sp>
        <p:sp>
          <p:nvSpPr>
            <p:cNvPr id="31" name="TextBox 30"/>
            <p:cNvSpPr txBox="1"/>
            <p:nvPr/>
          </p:nvSpPr>
          <p:spPr>
            <a:xfrm>
              <a:off x="1329517" y="2667000"/>
              <a:ext cx="3458005" cy="1077218"/>
            </a:xfrm>
            <a:prstGeom prst="rect">
              <a:avLst/>
            </a:prstGeom>
            <a:noFill/>
          </p:spPr>
          <p:txBody>
            <a:bodyPr wrap="square" rtlCol="0">
              <a:spAutoFit/>
            </a:bodyPr>
            <a:lstStyle/>
            <a:p>
              <a:r>
                <a:rPr lang="en-US" sz="6400" dirty="0" smtClean="0">
                  <a:latin typeface="Franklin Gothic Book" panose="020B0503020102020204" pitchFamily="34" charset="0"/>
                </a:rPr>
                <a:t>SECTION:</a:t>
              </a:r>
              <a:endParaRPr lang="en-US" sz="6400" dirty="0">
                <a:latin typeface="Franklin Gothic Book" panose="020B0503020102020204" pitchFamily="34" charset="0"/>
              </a:endParaRPr>
            </a:p>
          </p:txBody>
        </p:sp>
        <p:sp>
          <p:nvSpPr>
            <p:cNvPr id="32" name="TextBox 31"/>
            <p:cNvSpPr txBox="1"/>
            <p:nvPr/>
          </p:nvSpPr>
          <p:spPr>
            <a:xfrm>
              <a:off x="1348852" y="3579490"/>
              <a:ext cx="6423548" cy="1077218"/>
            </a:xfrm>
            <a:prstGeom prst="rect">
              <a:avLst/>
            </a:prstGeom>
            <a:noFill/>
          </p:spPr>
          <p:txBody>
            <a:bodyPr wrap="square" rtlCol="0">
              <a:spAutoFit/>
            </a:bodyPr>
            <a:lstStyle/>
            <a:p>
              <a:r>
                <a:rPr lang="en-US" sz="6400" dirty="0" smtClean="0">
                  <a:latin typeface="Franklin Gothic Book" panose="020B0503020102020204" pitchFamily="34" charset="0"/>
                </a:rPr>
                <a:t>DATE: (C/D); Date</a:t>
              </a:r>
              <a:endParaRPr lang="en-US" sz="6400" dirty="0">
                <a:latin typeface="Franklin Gothic Book" panose="020B0503020102020204" pitchFamily="34" charset="0"/>
              </a:endParaRPr>
            </a:p>
          </p:txBody>
        </p:sp>
        <p:sp>
          <p:nvSpPr>
            <p:cNvPr id="33" name="TextBox 32"/>
            <p:cNvSpPr txBox="1"/>
            <p:nvPr/>
          </p:nvSpPr>
          <p:spPr>
            <a:xfrm>
              <a:off x="1367051" y="4465822"/>
              <a:ext cx="2882523" cy="1077218"/>
            </a:xfrm>
            <a:prstGeom prst="rect">
              <a:avLst/>
            </a:prstGeom>
            <a:noFill/>
          </p:spPr>
          <p:txBody>
            <a:bodyPr wrap="square" rtlCol="0">
              <a:spAutoFit/>
            </a:bodyPr>
            <a:lstStyle/>
            <a:p>
              <a:r>
                <a:rPr lang="en-US" sz="6400" dirty="0" smtClean="0">
                  <a:latin typeface="Franklin Gothic Book" panose="020B0503020102020204" pitchFamily="34" charset="0"/>
                </a:rPr>
                <a:t>SCALE:</a:t>
              </a:r>
              <a:endParaRPr lang="en-US" sz="6400" dirty="0">
                <a:latin typeface="Franklin Gothic Book" panose="020B0503020102020204" pitchFamily="34" charset="0"/>
              </a:endParaRPr>
            </a:p>
          </p:txBody>
        </p:sp>
        <p:cxnSp>
          <p:nvCxnSpPr>
            <p:cNvPr id="34" name="Straight Connector 33"/>
            <p:cNvCxnSpPr/>
            <p:nvPr/>
          </p:nvCxnSpPr>
          <p:spPr>
            <a:xfrm>
              <a:off x="1360226" y="5374944"/>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6096000" y="1219200"/>
              <a:ext cx="0" cy="85039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6096000" y="2133599"/>
              <a:ext cx="0" cy="3657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p:cNvSpPr txBox="1"/>
                <p:nvPr/>
              </p:nvSpPr>
              <p:spPr>
                <a:xfrm>
                  <a:off x="6119885" y="1371757"/>
                  <a:ext cx="798617" cy="527580"/>
                </a:xfrm>
                <a:prstGeom prst="rect">
                  <a:avLst/>
                </a:prstGeom>
                <a:noFill/>
              </p:spPr>
              <p:txBody>
                <a:bodyPr wrap="none" rtlCol="0">
                  <a:spAutoFit/>
                </a:bodyPr>
                <a:lstStyle/>
                <a:p>
                  <a14:m>
                    <m:oMath xmlns:m="http://schemas.openxmlformats.org/officeDocument/2006/math">
                      <m:f>
                        <m:fPr>
                          <m:ctrlPr>
                            <a:rPr lang="en-US" sz="2000" i="1" dirty="0" smtClean="0">
                              <a:latin typeface="Cambria Math" panose="02040503050406030204" pitchFamily="18" charset="0"/>
                              <a:cs typeface="Times New Roman" panose="02020603050405020304" pitchFamily="18" charset="0"/>
                            </a:rPr>
                          </m:ctrlPr>
                        </m:fPr>
                        <m:num>
                          <m:r>
                            <a:rPr lang="en-US" sz="2000" b="0" i="1" dirty="0" smtClean="0">
                              <a:latin typeface="Cambria Math" panose="02040503050406030204" pitchFamily="18" charset="0"/>
                              <a:cs typeface="Times New Roman" panose="02020603050405020304" pitchFamily="18" charset="0"/>
                            </a:rPr>
                            <m:t>3</m:t>
                          </m:r>
                        </m:num>
                        <m:den>
                          <m:r>
                            <a:rPr lang="en-US" sz="2000" b="0" i="1" dirty="0" smtClean="0">
                              <a:latin typeface="Cambria Math" panose="02040503050406030204" pitchFamily="18" charset="0"/>
                              <a:cs typeface="Times New Roman" panose="02020603050405020304" pitchFamily="18" charset="0"/>
                            </a:rPr>
                            <m:t>4</m:t>
                          </m:r>
                        </m:den>
                      </m:f>
                    </m:oMath>
                  </a14:m>
                  <a:r>
                    <a:rPr lang="en-US" sz="2000" dirty="0" smtClean="0">
                      <a:latin typeface="Times New Roman" panose="02020603050405020304" pitchFamily="18" charset="0"/>
                      <a:cs typeface="Times New Roman" panose="02020603050405020304" pitchFamily="18" charset="0"/>
                    </a:rPr>
                    <a:t> inch</a:t>
                  </a:r>
                  <a:endParaRPr lang="en-US" sz="2000" dirty="0">
                    <a:latin typeface="Times New Roman" panose="02020603050405020304" pitchFamily="18" charset="0"/>
                    <a:cs typeface="Times New Roman" panose="02020603050405020304" pitchFamily="18" charset="0"/>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6119885" y="1371757"/>
                  <a:ext cx="798617" cy="527580"/>
                </a:xfrm>
                <a:prstGeom prst="rect">
                  <a:avLst/>
                </a:prstGeom>
                <a:blipFill rotWithShape="0">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p:cNvSpPr txBox="1"/>
                <p:nvPr/>
              </p:nvSpPr>
              <p:spPr>
                <a:xfrm>
                  <a:off x="6244588" y="2170540"/>
                  <a:ext cx="904415" cy="529056"/>
                </a:xfrm>
                <a:prstGeom prst="rect">
                  <a:avLst/>
                </a:prstGeom>
                <a:noFill/>
              </p:spPr>
              <p:txBody>
                <a:bodyPr wrap="none" rtlCol="0">
                  <a:spAutoFit/>
                </a:bodyPr>
                <a:lstStyle/>
                <a:p>
                  <a:r>
                    <a:rPr lang="en-US" sz="2000" dirty="0" smtClean="0">
                      <a:latin typeface="Times New Roman" panose="02020603050405020304" pitchFamily="18" charset="0"/>
                      <a:cs typeface="Times New Roman" panose="02020603050405020304" pitchFamily="18" charset="0"/>
                    </a:rPr>
                    <a:t> </a:t>
                  </a:r>
                  <a14:m>
                    <m:oMath xmlns:m="http://schemas.openxmlformats.org/officeDocument/2006/math">
                      <m:f>
                        <m:fPr>
                          <m:ctrlPr>
                            <a:rPr lang="en-US" sz="2000" i="1" smtClean="0">
                              <a:latin typeface="Cambria Math" panose="02040503050406030204" pitchFamily="18" charset="0"/>
                              <a:cs typeface="Times New Roman" panose="02020603050405020304" pitchFamily="18" charset="0"/>
                            </a:rPr>
                          </m:ctrlPr>
                        </m:fPr>
                        <m:num>
                          <m:r>
                            <a:rPr lang="en-US" sz="2000" b="0" i="1" smtClean="0">
                              <a:latin typeface="Cambria Math" panose="02040503050406030204" pitchFamily="18" charset="0"/>
                              <a:cs typeface="Times New Roman" panose="02020603050405020304" pitchFamily="18" charset="0"/>
                            </a:rPr>
                            <m:t>1</m:t>
                          </m:r>
                        </m:num>
                        <m:den>
                          <m:r>
                            <a:rPr lang="en-US" sz="2000" b="0" i="1" smtClean="0">
                              <a:latin typeface="Cambria Math" panose="02040503050406030204" pitchFamily="18" charset="0"/>
                              <a:cs typeface="Times New Roman" panose="02020603050405020304" pitchFamily="18" charset="0"/>
                            </a:rPr>
                            <m:t>8 </m:t>
                          </m:r>
                        </m:den>
                      </m:f>
                    </m:oMath>
                  </a14:m>
                  <a:r>
                    <a:rPr lang="en-US" sz="2000" dirty="0" smtClean="0">
                      <a:latin typeface="Times New Roman" panose="02020603050405020304" pitchFamily="18" charset="0"/>
                      <a:cs typeface="Times New Roman" panose="02020603050405020304" pitchFamily="18" charset="0"/>
                    </a:rPr>
                    <a:t> inch</a:t>
                  </a:r>
                  <a:endParaRPr lang="en-US" sz="2000" dirty="0">
                    <a:latin typeface="Times New Roman" panose="02020603050405020304" pitchFamily="18" charset="0"/>
                    <a:cs typeface="Times New Roman" panose="02020603050405020304" pitchFamily="18" charset="0"/>
                  </a:endParaRPr>
                </a:p>
              </p:txBody>
            </p:sp>
          </mc:Choice>
          <mc:Fallback xmlns="">
            <p:sp>
              <p:nvSpPr>
                <p:cNvPr id="38" name="TextBox 37"/>
                <p:cNvSpPr txBox="1">
                  <a:spLocks noRot="1" noChangeAspect="1" noMove="1" noResize="1" noEditPoints="1" noAdjustHandles="1" noChangeArrowheads="1" noChangeShapeType="1" noTextEdit="1"/>
                </p:cNvSpPr>
                <p:nvPr/>
              </p:nvSpPr>
              <p:spPr>
                <a:xfrm>
                  <a:off x="6244588" y="2170540"/>
                  <a:ext cx="904415" cy="529056"/>
                </a:xfrm>
                <a:prstGeom prst="rect">
                  <a:avLst/>
                </a:prstGeom>
                <a:blipFill rotWithShape="0">
                  <a:blip r:embed="rId3"/>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44822590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Content Placeholder 2"/>
          <p:cNvSpPr txBox="1">
            <a:spLocks/>
          </p:cNvSpPr>
          <p:nvPr/>
        </p:nvSpPr>
        <p:spPr>
          <a:xfrm>
            <a:off x="228600" y="914400"/>
            <a:ext cx="8229600" cy="4525963"/>
          </a:xfrm>
          <a:prstGeom prst="rect">
            <a:avLst/>
          </a:prstGeom>
        </p:spPr>
        <p:txBody>
          <a:bodyPr>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Font typeface="Arial" pitchFamily="34" charset="0"/>
              <a:buNone/>
            </a:pPr>
            <a:endParaRPr lang="en-US" sz="7200" dirty="0" smtClean="0"/>
          </a:p>
          <a:p>
            <a:pPr marL="0" indent="0" algn="ctr">
              <a:buFont typeface="Arial" pitchFamily="34" charset="0"/>
              <a:buNone/>
            </a:pPr>
            <a:r>
              <a:rPr lang="en-US" sz="7200" b="1" dirty="0" smtClean="0">
                <a:solidFill>
                  <a:schemeClr val="bg2">
                    <a:lumMod val="25000"/>
                  </a:schemeClr>
                </a:solidFill>
              </a:rPr>
              <a:t>Question ??</a:t>
            </a:r>
            <a:endParaRPr lang="en-US" sz="7200" b="1" dirty="0">
              <a:solidFill>
                <a:schemeClr val="bg2">
                  <a:lumMod val="25000"/>
                </a:schemeClr>
              </a:solidFill>
            </a:endParaRPr>
          </a:p>
        </p:txBody>
      </p:sp>
    </p:spTree>
    <p:extLst>
      <p:ext uri="{BB962C8B-B14F-4D97-AF65-F5344CB8AC3E}">
        <p14:creationId xmlns:p14="http://schemas.microsoft.com/office/powerpoint/2010/main" val="1261524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9">
                                            <p:txEl>
                                              <p:pRg st="1" end="1"/>
                                            </p:txEl>
                                          </p:spTgt>
                                        </p:tgtEl>
                                        <p:attrNameLst>
                                          <p:attrName>style.visibility</p:attrName>
                                        </p:attrNameLst>
                                      </p:cBhvr>
                                      <p:to>
                                        <p:strVal val="visible"/>
                                      </p:to>
                                    </p:set>
                                    <p:anim calcmode="lin" valueType="num">
                                      <p:cBhvr>
                                        <p:cTn id="7" dur="500" fill="hold"/>
                                        <p:tgtEl>
                                          <p:spTgt spid="39">
                                            <p:txEl>
                                              <p:pRg st="1" end="1"/>
                                            </p:txEl>
                                          </p:spTgt>
                                        </p:tgtEl>
                                        <p:attrNameLst>
                                          <p:attrName>ppt_w</p:attrName>
                                        </p:attrNameLst>
                                      </p:cBhvr>
                                      <p:tavLst>
                                        <p:tav tm="0">
                                          <p:val>
                                            <p:fltVal val="0"/>
                                          </p:val>
                                        </p:tav>
                                        <p:tav tm="100000">
                                          <p:val>
                                            <p:strVal val="#ppt_w"/>
                                          </p:val>
                                        </p:tav>
                                      </p:tavLst>
                                    </p:anim>
                                    <p:anim calcmode="lin" valueType="num">
                                      <p:cBhvr>
                                        <p:cTn id="8" dur="500" fill="hold"/>
                                        <p:tgtEl>
                                          <p:spTgt spid="39">
                                            <p:txEl>
                                              <p:pRg st="1" end="1"/>
                                            </p:txEl>
                                          </p:spTgt>
                                        </p:tgtEl>
                                        <p:attrNameLst>
                                          <p:attrName>ppt_h</p:attrName>
                                        </p:attrNameLst>
                                      </p:cBhvr>
                                      <p:tavLst>
                                        <p:tav tm="0">
                                          <p:val>
                                            <p:fltVal val="0"/>
                                          </p:val>
                                        </p:tav>
                                        <p:tav tm="100000">
                                          <p:val>
                                            <p:strVal val="#ppt_h"/>
                                          </p:val>
                                        </p:tav>
                                      </p:tavLst>
                                    </p:anim>
                                    <p:animEffect transition="in" filter="fade">
                                      <p:cBhvr>
                                        <p:cTn id="9" dur="500"/>
                                        <p:tgtEl>
                                          <p:spTgt spid="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981200" y="762000"/>
            <a:ext cx="5486400" cy="6365081"/>
          </a:xfrm>
          <a:prstGeom prst="rect">
            <a:avLst/>
          </a:prstGeom>
        </p:spPr>
      </p:pic>
    </p:spTree>
    <p:extLst>
      <p:ext uri="{BB962C8B-B14F-4D97-AF65-F5344CB8AC3E}">
        <p14:creationId xmlns:p14="http://schemas.microsoft.com/office/powerpoint/2010/main" val="23602618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3285</TotalTime>
  <Words>865</Words>
  <Application>Microsoft Office PowerPoint</Application>
  <PresentationFormat>On-screen Show (4:3)</PresentationFormat>
  <Paragraphs>197</Paragraphs>
  <Slides>36</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36</vt:i4>
      </vt:variant>
    </vt:vector>
  </HeadingPairs>
  <TitlesOfParts>
    <vt:vector size="49" baseType="lpstr">
      <vt:lpstr>ＭＳ Ｐゴシック</vt:lpstr>
      <vt:lpstr>ＭＳ Ｐゴシック</vt:lpstr>
      <vt:lpstr>Algerian</vt:lpstr>
      <vt:lpstr>Aparajita</vt:lpstr>
      <vt:lpstr>Arial</vt:lpstr>
      <vt:lpstr>Calibri</vt:lpstr>
      <vt:lpstr>Cambria Math</vt:lpstr>
      <vt:lpstr>Century Gothic</vt:lpstr>
      <vt:lpstr>Franklin Gothic Book</vt:lpstr>
      <vt:lpstr>Tahoma</vt:lpstr>
      <vt:lpstr>Times New Roman</vt:lpstr>
      <vt:lpstr>Wingdings</vt:lpstr>
      <vt:lpstr>Office Theme</vt:lpstr>
      <vt:lpstr>PowerPoint Presentation</vt:lpstr>
      <vt:lpstr>Outlines</vt:lpstr>
      <vt:lpstr>What is Engineering Drawing?</vt:lpstr>
      <vt:lpstr>What is Engineering Drawing?</vt:lpstr>
      <vt:lpstr>Engineering Drawing Function</vt:lpstr>
      <vt:lpstr>Some Examples of Engineering Drawing</vt:lpstr>
      <vt:lpstr>Some Examples of Engineering Drawing...</vt:lpstr>
      <vt:lpstr>Some Examples of Engineering Drawing...</vt:lpstr>
      <vt:lpstr>Some Examples of Engineering Drawing...</vt:lpstr>
      <vt:lpstr>Engineering Drawing Function</vt:lpstr>
      <vt:lpstr>Types of Drawing</vt:lpstr>
      <vt:lpstr>Types of Drawing…</vt:lpstr>
      <vt:lpstr>Why we go for manual drawing?</vt:lpstr>
      <vt:lpstr>Items required for drawing</vt:lpstr>
      <vt:lpstr>Drawing Conventions &amp; Standards</vt:lpstr>
      <vt:lpstr>Drawing Conventions &amp; Standards</vt:lpstr>
      <vt:lpstr>Line Types and Styles</vt:lpstr>
      <vt:lpstr>Line Types and Styles</vt:lpstr>
      <vt:lpstr>Line Types and Styles</vt:lpstr>
      <vt:lpstr>PowerPoint Presentation</vt:lpstr>
      <vt:lpstr>Line Types and Styles</vt:lpstr>
      <vt:lpstr>Line Types and Styles</vt:lpstr>
      <vt:lpstr>Lettering</vt:lpstr>
      <vt:lpstr>Lettering…</vt:lpstr>
      <vt:lpstr>Lettering…</vt:lpstr>
      <vt:lpstr>Lettering…</vt:lpstr>
      <vt:lpstr>Lettering…</vt:lpstr>
      <vt:lpstr>Lettering…</vt:lpstr>
      <vt:lpstr>Lettering…</vt:lpstr>
      <vt:lpstr>Lettering…</vt:lpstr>
      <vt:lpstr>Lettering…</vt:lpstr>
      <vt:lpstr>Scales</vt:lpstr>
      <vt:lpstr>Layout</vt:lpstr>
      <vt:lpstr>Layout…</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Monjur Mourshed</dc:creator>
  <cp:lastModifiedBy>Image Processing Lab</cp:lastModifiedBy>
  <cp:revision>203</cp:revision>
  <dcterms:created xsi:type="dcterms:W3CDTF">2015-08-27T11:30:02Z</dcterms:created>
  <dcterms:modified xsi:type="dcterms:W3CDTF">2025-01-30T07:17:49Z</dcterms:modified>
</cp:coreProperties>
</file>