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8"/>
  </p:notesMasterIdLst>
  <p:sldIdLst>
    <p:sldId id="256" r:id="rId2"/>
    <p:sldId id="288" r:id="rId3"/>
    <p:sldId id="295" r:id="rId4"/>
    <p:sldId id="296" r:id="rId5"/>
    <p:sldId id="312" r:id="rId6"/>
    <p:sldId id="266" r:id="rId7"/>
    <p:sldId id="293" r:id="rId8"/>
    <p:sldId id="298" r:id="rId9"/>
    <p:sldId id="299" r:id="rId10"/>
    <p:sldId id="302" r:id="rId11"/>
    <p:sldId id="303" r:id="rId12"/>
    <p:sldId id="305" r:id="rId13"/>
    <p:sldId id="320" r:id="rId14"/>
    <p:sldId id="294" r:id="rId15"/>
    <p:sldId id="309" r:id="rId16"/>
    <p:sldId id="310" r:id="rId17"/>
    <p:sldId id="289" r:id="rId18"/>
    <p:sldId id="297" r:id="rId19"/>
    <p:sldId id="357" r:id="rId20"/>
    <p:sldId id="290" r:id="rId21"/>
    <p:sldId id="315" r:id="rId22"/>
    <p:sldId id="316" r:id="rId23"/>
    <p:sldId id="321" r:id="rId24"/>
    <p:sldId id="322" r:id="rId25"/>
    <p:sldId id="317" r:id="rId26"/>
    <p:sldId id="318" r:id="rId27"/>
    <p:sldId id="323" r:id="rId28"/>
    <p:sldId id="319" r:id="rId29"/>
    <p:sldId id="325" r:id="rId30"/>
    <p:sldId id="324" r:id="rId31"/>
    <p:sldId id="331" r:id="rId32"/>
    <p:sldId id="332" r:id="rId33"/>
    <p:sldId id="326" r:id="rId34"/>
    <p:sldId id="336" r:id="rId35"/>
    <p:sldId id="341" r:id="rId36"/>
    <p:sldId id="337" r:id="rId37"/>
    <p:sldId id="343" r:id="rId38"/>
    <p:sldId id="342" r:id="rId39"/>
    <p:sldId id="338" r:id="rId40"/>
    <p:sldId id="346" r:id="rId41"/>
    <p:sldId id="340" r:id="rId42"/>
    <p:sldId id="344" r:id="rId43"/>
    <p:sldId id="351" r:id="rId44"/>
    <p:sldId id="352" r:id="rId45"/>
    <p:sldId id="353" r:id="rId46"/>
    <p:sldId id="354" r:id="rId47"/>
    <p:sldId id="291" r:id="rId48"/>
    <p:sldId id="328" r:id="rId49"/>
    <p:sldId id="345" r:id="rId50"/>
    <p:sldId id="327" r:id="rId51"/>
    <p:sldId id="333" r:id="rId52"/>
    <p:sldId id="329" r:id="rId53"/>
    <p:sldId id="347" r:id="rId54"/>
    <p:sldId id="355" r:id="rId55"/>
    <p:sldId id="330" r:id="rId56"/>
    <p:sldId id="356"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756" y="-9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CA480E-3B10-4B04-A3A8-7DD865B86371}" type="datetimeFigureOut">
              <a:rPr lang="en-US" smtClean="0"/>
              <a:pPr/>
              <a:t>8/6/2018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CFB08C-1CF4-41FF-9832-9CDC954A1B03}" type="slidenum">
              <a:rPr lang="en-US" smtClean="0"/>
              <a:pPr/>
              <a:t>‹#›</a:t>
            </a:fld>
            <a:endParaRPr lang="en-US"/>
          </a:p>
        </p:txBody>
      </p:sp>
    </p:spTree>
    <p:extLst>
      <p:ext uri="{BB962C8B-B14F-4D97-AF65-F5344CB8AC3E}">
        <p14:creationId xmlns:p14="http://schemas.microsoft.com/office/powerpoint/2010/main" val="790470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CFB08C-1CF4-41FF-9832-9CDC954A1B03}" type="slidenum">
              <a:rPr lang="en-US" smtClean="0"/>
              <a:pPr/>
              <a:t>15</a:t>
            </a:fld>
            <a:endParaRPr lang="en-US"/>
          </a:p>
        </p:txBody>
      </p:sp>
    </p:spTree>
    <p:extLst>
      <p:ext uri="{BB962C8B-B14F-4D97-AF65-F5344CB8AC3E}">
        <p14:creationId xmlns:p14="http://schemas.microsoft.com/office/powerpoint/2010/main" val="19618980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CFB08C-1CF4-41FF-9832-9CDC954A1B03}" type="slidenum">
              <a:rPr lang="en-US" smtClean="0"/>
              <a:pPr/>
              <a:t>16</a:t>
            </a:fld>
            <a:endParaRPr lang="en-US"/>
          </a:p>
        </p:txBody>
      </p:sp>
    </p:spTree>
    <p:extLst>
      <p:ext uri="{BB962C8B-B14F-4D97-AF65-F5344CB8AC3E}">
        <p14:creationId xmlns:p14="http://schemas.microsoft.com/office/powerpoint/2010/main" val="28981442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171" indent="0" algn="ctr">
              <a:buNone/>
              <a:defRPr sz="2000"/>
            </a:lvl2pPr>
            <a:lvl3pPr marL="914340" indent="0" algn="ctr">
              <a:buNone/>
              <a:defRPr sz="1800"/>
            </a:lvl3pPr>
            <a:lvl4pPr marL="1371511" indent="0" algn="ctr">
              <a:buNone/>
              <a:defRPr sz="1600"/>
            </a:lvl4pPr>
            <a:lvl5pPr marL="1828681" indent="0" algn="ctr">
              <a:buNone/>
              <a:defRPr sz="1600"/>
            </a:lvl5pPr>
            <a:lvl6pPr marL="2285852" indent="0" algn="ctr">
              <a:buNone/>
              <a:defRPr sz="1600"/>
            </a:lvl6pPr>
            <a:lvl7pPr marL="2743021" indent="0" algn="ctr">
              <a:buNone/>
              <a:defRPr sz="1600"/>
            </a:lvl7pPr>
            <a:lvl8pPr marL="3200192" indent="0" algn="ctr">
              <a:buNone/>
              <a:defRPr sz="1600"/>
            </a:lvl8pPr>
            <a:lvl9pPr marL="3657363"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F48C34B-182C-4F2B-9196-8988FE45211E}" type="datetime1">
              <a:rPr lang="en-US" smtClean="0"/>
              <a:pPr/>
              <a:t>8/6/2018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9106B5-6058-41AF-9CC7-A36880636D59}" type="slidenum">
              <a:rPr lang="en-US" smtClean="0"/>
              <a:pPr/>
              <a:t>‹#›</a:t>
            </a:fld>
            <a:endParaRPr lang="en-US"/>
          </a:p>
        </p:txBody>
      </p:sp>
    </p:spTree>
    <p:extLst>
      <p:ext uri="{BB962C8B-B14F-4D97-AF65-F5344CB8AC3E}">
        <p14:creationId xmlns:p14="http://schemas.microsoft.com/office/powerpoint/2010/main" val="16446098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255B3F4-1450-4421-A644-421620BFFDD5}" type="datetime1">
              <a:rPr lang="en-US" smtClean="0"/>
              <a:pPr/>
              <a:t>8/6/2018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9106B5-6058-41AF-9CC7-A36880636D59}" type="slidenum">
              <a:rPr lang="en-US" smtClean="0"/>
              <a:pPr/>
              <a:t>‹#›</a:t>
            </a:fld>
            <a:endParaRPr lang="en-US"/>
          </a:p>
        </p:txBody>
      </p:sp>
    </p:spTree>
    <p:extLst>
      <p:ext uri="{BB962C8B-B14F-4D97-AF65-F5344CB8AC3E}">
        <p14:creationId xmlns:p14="http://schemas.microsoft.com/office/powerpoint/2010/main" val="33561253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2"/>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7"/>
            <a:ext cx="10515600" cy="1500187"/>
          </a:xfrm>
        </p:spPr>
        <p:txBody>
          <a:bodyPr/>
          <a:lstStyle>
            <a:lvl1pPr marL="0" indent="0">
              <a:buNone/>
              <a:defRPr sz="2400">
                <a:solidFill>
                  <a:schemeClr val="tx1">
                    <a:tint val="75000"/>
                  </a:schemeClr>
                </a:solidFill>
              </a:defRPr>
            </a:lvl1pPr>
            <a:lvl2pPr marL="457171" indent="0">
              <a:buNone/>
              <a:defRPr sz="2000">
                <a:solidFill>
                  <a:schemeClr val="tx1">
                    <a:tint val="75000"/>
                  </a:schemeClr>
                </a:solidFill>
              </a:defRPr>
            </a:lvl2pPr>
            <a:lvl3pPr marL="914340" indent="0">
              <a:buNone/>
              <a:defRPr sz="1800">
                <a:solidFill>
                  <a:schemeClr val="tx1">
                    <a:tint val="75000"/>
                  </a:schemeClr>
                </a:solidFill>
              </a:defRPr>
            </a:lvl3pPr>
            <a:lvl4pPr marL="1371511" indent="0">
              <a:buNone/>
              <a:defRPr sz="1600">
                <a:solidFill>
                  <a:schemeClr val="tx1">
                    <a:tint val="75000"/>
                  </a:schemeClr>
                </a:solidFill>
              </a:defRPr>
            </a:lvl4pPr>
            <a:lvl5pPr marL="1828681" indent="0">
              <a:buNone/>
              <a:defRPr sz="1600">
                <a:solidFill>
                  <a:schemeClr val="tx1">
                    <a:tint val="75000"/>
                  </a:schemeClr>
                </a:solidFill>
              </a:defRPr>
            </a:lvl5pPr>
            <a:lvl6pPr marL="2285852" indent="0">
              <a:buNone/>
              <a:defRPr sz="1600">
                <a:solidFill>
                  <a:schemeClr val="tx1">
                    <a:tint val="75000"/>
                  </a:schemeClr>
                </a:solidFill>
              </a:defRPr>
            </a:lvl6pPr>
            <a:lvl7pPr marL="2743021" indent="0">
              <a:buNone/>
              <a:defRPr sz="1600">
                <a:solidFill>
                  <a:schemeClr val="tx1">
                    <a:tint val="75000"/>
                  </a:schemeClr>
                </a:solidFill>
              </a:defRPr>
            </a:lvl7pPr>
            <a:lvl8pPr marL="3200192" indent="0">
              <a:buNone/>
              <a:defRPr sz="1600">
                <a:solidFill>
                  <a:schemeClr val="tx1">
                    <a:tint val="75000"/>
                  </a:schemeClr>
                </a:solidFill>
              </a:defRPr>
            </a:lvl8pPr>
            <a:lvl9pPr marL="3657363"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2F51F77-40BB-4A03-9D77-B0409EE0CC20}" type="datetime1">
              <a:rPr lang="en-US" smtClean="0"/>
              <a:pPr/>
              <a:t>8/6/2018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9106B5-6058-41AF-9CC7-A36880636D59}" type="slidenum">
              <a:rPr lang="en-US" smtClean="0"/>
              <a:pPr/>
              <a:t>‹#›</a:t>
            </a:fld>
            <a:endParaRPr lang="en-US"/>
          </a:p>
        </p:txBody>
      </p:sp>
    </p:spTree>
    <p:extLst>
      <p:ext uri="{BB962C8B-B14F-4D97-AF65-F5344CB8AC3E}">
        <p14:creationId xmlns:p14="http://schemas.microsoft.com/office/powerpoint/2010/main" val="35132478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57D8E3B-8AFB-4D6A-846A-86D42A0F93C4}" type="datetime1">
              <a:rPr lang="en-US" smtClean="0"/>
              <a:pPr/>
              <a:t>8/6/2018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69106B5-6058-41AF-9CC7-A36880636D59}" type="slidenum">
              <a:rPr lang="en-US" smtClean="0"/>
              <a:pPr/>
              <a:t>‹#›</a:t>
            </a:fld>
            <a:endParaRPr lang="en-US"/>
          </a:p>
        </p:txBody>
      </p:sp>
    </p:spTree>
    <p:extLst>
      <p:ext uri="{BB962C8B-B14F-4D97-AF65-F5344CB8AC3E}">
        <p14:creationId xmlns:p14="http://schemas.microsoft.com/office/powerpoint/2010/main" val="5046303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9"/>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91" y="1681163"/>
            <a:ext cx="5157787" cy="823912"/>
          </a:xfrm>
        </p:spPr>
        <p:txBody>
          <a:bodyPr anchor="b"/>
          <a:lstStyle>
            <a:lvl1pPr marL="0" indent="0">
              <a:buNone/>
              <a:defRPr sz="2400" b="1"/>
            </a:lvl1pPr>
            <a:lvl2pPr marL="457171" indent="0">
              <a:buNone/>
              <a:defRPr sz="2000" b="1"/>
            </a:lvl2pPr>
            <a:lvl3pPr marL="914340" indent="0">
              <a:buNone/>
              <a:defRPr sz="1800" b="1"/>
            </a:lvl3pPr>
            <a:lvl4pPr marL="1371511" indent="0">
              <a:buNone/>
              <a:defRPr sz="1600" b="1"/>
            </a:lvl4pPr>
            <a:lvl5pPr marL="1828681" indent="0">
              <a:buNone/>
              <a:defRPr sz="1600" b="1"/>
            </a:lvl5pPr>
            <a:lvl6pPr marL="2285852" indent="0">
              <a:buNone/>
              <a:defRPr sz="1600" b="1"/>
            </a:lvl6pPr>
            <a:lvl7pPr marL="2743021" indent="0">
              <a:buNone/>
              <a:defRPr sz="1600" b="1"/>
            </a:lvl7pPr>
            <a:lvl8pPr marL="3200192" indent="0">
              <a:buNone/>
              <a:defRPr sz="1600" b="1"/>
            </a:lvl8pPr>
            <a:lvl9pPr marL="3657363"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91"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171" indent="0">
              <a:buNone/>
              <a:defRPr sz="2000" b="1"/>
            </a:lvl2pPr>
            <a:lvl3pPr marL="914340" indent="0">
              <a:buNone/>
              <a:defRPr sz="1800" b="1"/>
            </a:lvl3pPr>
            <a:lvl4pPr marL="1371511" indent="0">
              <a:buNone/>
              <a:defRPr sz="1600" b="1"/>
            </a:lvl4pPr>
            <a:lvl5pPr marL="1828681" indent="0">
              <a:buNone/>
              <a:defRPr sz="1600" b="1"/>
            </a:lvl5pPr>
            <a:lvl6pPr marL="2285852" indent="0">
              <a:buNone/>
              <a:defRPr sz="1600" b="1"/>
            </a:lvl6pPr>
            <a:lvl7pPr marL="2743021" indent="0">
              <a:buNone/>
              <a:defRPr sz="1600" b="1"/>
            </a:lvl7pPr>
            <a:lvl8pPr marL="3200192" indent="0">
              <a:buNone/>
              <a:defRPr sz="1600" b="1"/>
            </a:lvl8pPr>
            <a:lvl9pPr marL="3657363"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2"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1FD4F4A-1142-486D-A3AE-8C286B6A1E44}" type="datetime1">
              <a:rPr lang="en-US" smtClean="0"/>
              <a:pPr/>
              <a:t>8/6/2018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69106B5-6058-41AF-9CC7-A36880636D59}" type="slidenum">
              <a:rPr lang="en-US" smtClean="0"/>
              <a:pPr/>
              <a:t>‹#›</a:t>
            </a:fld>
            <a:endParaRPr lang="en-US"/>
          </a:p>
        </p:txBody>
      </p:sp>
    </p:spTree>
    <p:extLst>
      <p:ext uri="{BB962C8B-B14F-4D97-AF65-F5344CB8AC3E}">
        <p14:creationId xmlns:p14="http://schemas.microsoft.com/office/powerpoint/2010/main" val="25451463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9C99D79-7750-4D69-A37E-33F0D2D5BB12}" type="datetime1">
              <a:rPr lang="en-US" smtClean="0"/>
              <a:pPr/>
              <a:t>8/6/2018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69106B5-6058-41AF-9CC7-A36880636D59}" type="slidenum">
              <a:rPr lang="en-US" smtClean="0"/>
              <a:pPr/>
              <a:t>‹#›</a:t>
            </a:fld>
            <a:endParaRPr lang="en-US"/>
          </a:p>
        </p:txBody>
      </p:sp>
    </p:spTree>
    <p:extLst>
      <p:ext uri="{BB962C8B-B14F-4D97-AF65-F5344CB8AC3E}">
        <p14:creationId xmlns:p14="http://schemas.microsoft.com/office/powerpoint/2010/main" val="20821110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7C89D7-84B6-4260-9B95-3B590375816B}" type="datetime1">
              <a:rPr lang="en-US" smtClean="0"/>
              <a:pPr/>
              <a:t>8/6/2018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69106B5-6058-41AF-9CC7-A36880636D59}" type="slidenum">
              <a:rPr lang="en-US" smtClean="0"/>
              <a:pPr/>
              <a:t>‹#›</a:t>
            </a:fld>
            <a:endParaRPr lang="en-US"/>
          </a:p>
        </p:txBody>
      </p:sp>
    </p:spTree>
    <p:extLst>
      <p:ext uri="{BB962C8B-B14F-4D97-AF65-F5344CB8AC3E}">
        <p14:creationId xmlns:p14="http://schemas.microsoft.com/office/powerpoint/2010/main" val="837444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9"/>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90" y="2057400"/>
            <a:ext cx="3932237" cy="3811588"/>
          </a:xfrm>
        </p:spPr>
        <p:txBody>
          <a:bodyPr/>
          <a:lstStyle>
            <a:lvl1pPr marL="0" indent="0">
              <a:buNone/>
              <a:defRPr sz="1600"/>
            </a:lvl1pPr>
            <a:lvl2pPr marL="457171" indent="0">
              <a:buNone/>
              <a:defRPr sz="1400"/>
            </a:lvl2pPr>
            <a:lvl3pPr marL="914340" indent="0">
              <a:buNone/>
              <a:defRPr sz="1200"/>
            </a:lvl3pPr>
            <a:lvl4pPr marL="1371511" indent="0">
              <a:buNone/>
              <a:defRPr sz="1000"/>
            </a:lvl4pPr>
            <a:lvl5pPr marL="1828681" indent="0">
              <a:buNone/>
              <a:defRPr sz="1000"/>
            </a:lvl5pPr>
            <a:lvl6pPr marL="2285852" indent="0">
              <a:buNone/>
              <a:defRPr sz="1000"/>
            </a:lvl6pPr>
            <a:lvl7pPr marL="2743021" indent="0">
              <a:buNone/>
              <a:defRPr sz="1000"/>
            </a:lvl7pPr>
            <a:lvl8pPr marL="3200192" indent="0">
              <a:buNone/>
              <a:defRPr sz="1000"/>
            </a:lvl8pPr>
            <a:lvl9pPr marL="365736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449F48D-729E-44C2-A3E7-5297C7DDB8C6}" type="datetime1">
              <a:rPr lang="en-US" smtClean="0"/>
              <a:pPr/>
              <a:t>8/6/2018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69106B5-6058-41AF-9CC7-A36880636D59}" type="slidenum">
              <a:rPr lang="en-US" smtClean="0"/>
              <a:pPr/>
              <a:t>‹#›</a:t>
            </a:fld>
            <a:endParaRPr lang="en-US"/>
          </a:p>
        </p:txBody>
      </p:sp>
    </p:spTree>
    <p:extLst>
      <p:ext uri="{BB962C8B-B14F-4D97-AF65-F5344CB8AC3E}">
        <p14:creationId xmlns:p14="http://schemas.microsoft.com/office/powerpoint/2010/main" val="3657529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9"/>
            <a:ext cx="6172200" cy="4873625"/>
          </a:xfrm>
        </p:spPr>
        <p:txBody>
          <a:bodyPr/>
          <a:lstStyle>
            <a:lvl1pPr marL="0" indent="0">
              <a:buNone/>
              <a:defRPr sz="3200"/>
            </a:lvl1pPr>
            <a:lvl2pPr marL="457171" indent="0">
              <a:buNone/>
              <a:defRPr sz="2800"/>
            </a:lvl2pPr>
            <a:lvl3pPr marL="914340" indent="0">
              <a:buNone/>
              <a:defRPr sz="2400"/>
            </a:lvl3pPr>
            <a:lvl4pPr marL="1371511" indent="0">
              <a:buNone/>
              <a:defRPr sz="2000"/>
            </a:lvl4pPr>
            <a:lvl5pPr marL="1828681" indent="0">
              <a:buNone/>
              <a:defRPr sz="2000"/>
            </a:lvl5pPr>
            <a:lvl6pPr marL="2285852" indent="0">
              <a:buNone/>
              <a:defRPr sz="2000"/>
            </a:lvl6pPr>
            <a:lvl7pPr marL="2743021" indent="0">
              <a:buNone/>
              <a:defRPr sz="2000"/>
            </a:lvl7pPr>
            <a:lvl8pPr marL="3200192" indent="0">
              <a:buNone/>
              <a:defRPr sz="2000"/>
            </a:lvl8pPr>
            <a:lvl9pPr marL="3657363" indent="0">
              <a:buNone/>
              <a:defRPr sz="2000"/>
            </a:lvl9pPr>
          </a:lstStyle>
          <a:p>
            <a:endParaRPr lang="en-US"/>
          </a:p>
        </p:txBody>
      </p:sp>
      <p:sp>
        <p:nvSpPr>
          <p:cNvPr id="4" name="Text Placeholder 3"/>
          <p:cNvSpPr>
            <a:spLocks noGrp="1"/>
          </p:cNvSpPr>
          <p:nvPr>
            <p:ph type="body" sz="half" idx="2"/>
          </p:nvPr>
        </p:nvSpPr>
        <p:spPr>
          <a:xfrm>
            <a:off x="839790" y="2057400"/>
            <a:ext cx="3932237" cy="3811588"/>
          </a:xfrm>
        </p:spPr>
        <p:txBody>
          <a:bodyPr/>
          <a:lstStyle>
            <a:lvl1pPr marL="0" indent="0">
              <a:buNone/>
              <a:defRPr sz="1600"/>
            </a:lvl1pPr>
            <a:lvl2pPr marL="457171" indent="0">
              <a:buNone/>
              <a:defRPr sz="1400"/>
            </a:lvl2pPr>
            <a:lvl3pPr marL="914340" indent="0">
              <a:buNone/>
              <a:defRPr sz="1200"/>
            </a:lvl3pPr>
            <a:lvl4pPr marL="1371511" indent="0">
              <a:buNone/>
              <a:defRPr sz="1000"/>
            </a:lvl4pPr>
            <a:lvl5pPr marL="1828681" indent="0">
              <a:buNone/>
              <a:defRPr sz="1000"/>
            </a:lvl5pPr>
            <a:lvl6pPr marL="2285852" indent="0">
              <a:buNone/>
              <a:defRPr sz="1000"/>
            </a:lvl6pPr>
            <a:lvl7pPr marL="2743021" indent="0">
              <a:buNone/>
              <a:defRPr sz="1000"/>
            </a:lvl7pPr>
            <a:lvl8pPr marL="3200192" indent="0">
              <a:buNone/>
              <a:defRPr sz="1000"/>
            </a:lvl8pPr>
            <a:lvl9pPr marL="365736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BEE5762-7E01-4082-A5B5-6B3E4F9F332E}" type="datetime1">
              <a:rPr lang="en-US" smtClean="0"/>
              <a:pPr/>
              <a:t>8/6/2018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69106B5-6058-41AF-9CC7-A36880636D59}" type="slidenum">
              <a:rPr lang="en-US" smtClean="0"/>
              <a:pPr/>
              <a:t>‹#›</a:t>
            </a:fld>
            <a:endParaRPr lang="en-US"/>
          </a:p>
        </p:txBody>
      </p:sp>
    </p:spTree>
    <p:extLst>
      <p:ext uri="{BB962C8B-B14F-4D97-AF65-F5344CB8AC3E}">
        <p14:creationId xmlns:p14="http://schemas.microsoft.com/office/powerpoint/2010/main" val="15460562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BD8BF10-6E89-4776-BD02-C7BC5DBF6ECB}" type="datetime1">
              <a:rPr lang="en-US" smtClean="0"/>
              <a:pPr/>
              <a:t>8/6/2018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9106B5-6058-41AF-9CC7-A36880636D59}" type="slidenum">
              <a:rPr lang="en-US" smtClean="0"/>
              <a:pPr/>
              <a:t>‹#›</a:t>
            </a:fld>
            <a:endParaRPr lang="en-US"/>
          </a:p>
        </p:txBody>
      </p:sp>
    </p:spTree>
    <p:extLst>
      <p:ext uri="{BB962C8B-B14F-4D97-AF65-F5344CB8AC3E}">
        <p14:creationId xmlns:p14="http://schemas.microsoft.com/office/powerpoint/2010/main" val="15137847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2"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9257AC9-1ECD-47A7-B816-F2871EA65DDE}" type="datetime1">
              <a:rPr lang="en-US" smtClean="0"/>
              <a:pPr/>
              <a:t>8/6/2018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9106B5-6058-41AF-9CC7-A36880636D59}" type="slidenum">
              <a:rPr lang="en-US" smtClean="0"/>
              <a:pPr/>
              <a:t>‹#›</a:t>
            </a:fld>
            <a:endParaRPr lang="en-US"/>
          </a:p>
        </p:txBody>
      </p:sp>
    </p:spTree>
    <p:extLst>
      <p:ext uri="{BB962C8B-B14F-4D97-AF65-F5344CB8AC3E}">
        <p14:creationId xmlns:p14="http://schemas.microsoft.com/office/powerpoint/2010/main" val="40164951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9"/>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4"/>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117DAC-72DB-447D-B75C-77411BBF724C}" type="datetime1">
              <a:rPr lang="en-US" smtClean="0"/>
              <a:pPr/>
              <a:t>8/6/2018</a:t>
            </a:fld>
            <a:endParaRPr lang="en-US"/>
          </a:p>
        </p:txBody>
      </p:sp>
      <p:sp>
        <p:nvSpPr>
          <p:cNvPr id="5" name="Footer Placeholder 4"/>
          <p:cNvSpPr>
            <a:spLocks noGrp="1"/>
          </p:cNvSpPr>
          <p:nvPr>
            <p:ph type="ftr" sz="quarter" idx="3"/>
          </p:nvPr>
        </p:nvSpPr>
        <p:spPr>
          <a:xfrm>
            <a:off x="4038600" y="6356354"/>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4"/>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9106B5-6058-41AF-9CC7-A36880636D59}" type="slidenum">
              <a:rPr lang="en-US" smtClean="0"/>
              <a:pPr/>
              <a:t>‹#›</a:t>
            </a:fld>
            <a:endParaRPr lang="en-US"/>
          </a:p>
        </p:txBody>
      </p:sp>
    </p:spTree>
    <p:extLst>
      <p:ext uri="{BB962C8B-B14F-4D97-AF65-F5344CB8AC3E}">
        <p14:creationId xmlns:p14="http://schemas.microsoft.com/office/powerpoint/2010/main" val="16477131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34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85" indent="-228585" algn="l" defTabSz="91434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6" indent="-228585" algn="l" defTabSz="91434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25" indent="-228585" algn="l" defTabSz="91434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96" indent="-228585" algn="l" defTabSz="91434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67" indent="-228585" algn="l" defTabSz="91434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36" indent="-228585" algn="l" defTabSz="91434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07" indent="-228585" algn="l" defTabSz="91434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77" indent="-228585" algn="l" defTabSz="91434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48" indent="-228585" algn="l" defTabSz="91434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40" rtl="0" eaLnBrk="1" latinLnBrk="0" hangingPunct="1">
        <a:defRPr sz="1800" kern="1200">
          <a:solidFill>
            <a:schemeClr val="tx1"/>
          </a:solidFill>
          <a:latin typeface="+mn-lt"/>
          <a:ea typeface="+mn-ea"/>
          <a:cs typeface="+mn-cs"/>
        </a:defRPr>
      </a:lvl1pPr>
      <a:lvl2pPr marL="457171" algn="l" defTabSz="914340" rtl="0" eaLnBrk="1" latinLnBrk="0" hangingPunct="1">
        <a:defRPr sz="1800" kern="1200">
          <a:solidFill>
            <a:schemeClr val="tx1"/>
          </a:solidFill>
          <a:latin typeface="+mn-lt"/>
          <a:ea typeface="+mn-ea"/>
          <a:cs typeface="+mn-cs"/>
        </a:defRPr>
      </a:lvl2pPr>
      <a:lvl3pPr marL="914340" algn="l" defTabSz="914340" rtl="0" eaLnBrk="1" latinLnBrk="0" hangingPunct="1">
        <a:defRPr sz="1800" kern="1200">
          <a:solidFill>
            <a:schemeClr val="tx1"/>
          </a:solidFill>
          <a:latin typeface="+mn-lt"/>
          <a:ea typeface="+mn-ea"/>
          <a:cs typeface="+mn-cs"/>
        </a:defRPr>
      </a:lvl3pPr>
      <a:lvl4pPr marL="1371511" algn="l" defTabSz="914340" rtl="0" eaLnBrk="1" latinLnBrk="0" hangingPunct="1">
        <a:defRPr sz="1800" kern="1200">
          <a:solidFill>
            <a:schemeClr val="tx1"/>
          </a:solidFill>
          <a:latin typeface="+mn-lt"/>
          <a:ea typeface="+mn-ea"/>
          <a:cs typeface="+mn-cs"/>
        </a:defRPr>
      </a:lvl4pPr>
      <a:lvl5pPr marL="1828681" algn="l" defTabSz="914340" rtl="0" eaLnBrk="1" latinLnBrk="0" hangingPunct="1">
        <a:defRPr sz="1800" kern="1200">
          <a:solidFill>
            <a:schemeClr val="tx1"/>
          </a:solidFill>
          <a:latin typeface="+mn-lt"/>
          <a:ea typeface="+mn-ea"/>
          <a:cs typeface="+mn-cs"/>
        </a:defRPr>
      </a:lvl5pPr>
      <a:lvl6pPr marL="2285852" algn="l" defTabSz="914340" rtl="0" eaLnBrk="1" latinLnBrk="0" hangingPunct="1">
        <a:defRPr sz="1800" kern="1200">
          <a:solidFill>
            <a:schemeClr val="tx1"/>
          </a:solidFill>
          <a:latin typeface="+mn-lt"/>
          <a:ea typeface="+mn-ea"/>
          <a:cs typeface="+mn-cs"/>
        </a:defRPr>
      </a:lvl6pPr>
      <a:lvl7pPr marL="2743021" algn="l" defTabSz="914340" rtl="0" eaLnBrk="1" latinLnBrk="0" hangingPunct="1">
        <a:defRPr sz="1800" kern="1200">
          <a:solidFill>
            <a:schemeClr val="tx1"/>
          </a:solidFill>
          <a:latin typeface="+mn-lt"/>
          <a:ea typeface="+mn-ea"/>
          <a:cs typeface="+mn-cs"/>
        </a:defRPr>
      </a:lvl7pPr>
      <a:lvl8pPr marL="3200192" algn="l" defTabSz="914340" rtl="0" eaLnBrk="1" latinLnBrk="0" hangingPunct="1">
        <a:defRPr sz="1800" kern="1200">
          <a:solidFill>
            <a:schemeClr val="tx1"/>
          </a:solidFill>
          <a:latin typeface="+mn-lt"/>
          <a:ea typeface="+mn-ea"/>
          <a:cs typeface="+mn-cs"/>
        </a:defRPr>
      </a:lvl8pPr>
      <a:lvl9pPr marL="3657363" algn="l" defTabSz="91434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443164"/>
            <a:ext cx="9144000" cy="1528764"/>
          </a:xfrm>
          <a:solidFill>
            <a:schemeClr val="accent1">
              <a:lumMod val="50000"/>
            </a:schemeClr>
          </a:solidFill>
          <a:ln>
            <a:solidFill>
              <a:schemeClr val="accent1"/>
            </a:solidFill>
          </a:ln>
        </p:spPr>
        <p:txBody>
          <a:bodyPr vert="horz" lIns="121920" tIns="45720" rIns="121920" bIns="60960" rtlCol="0" anchor="ctr" anchorCtr="0">
            <a:noAutofit/>
          </a:bodyPr>
          <a:lstStyle/>
          <a:p>
            <a:pPr>
              <a:lnSpc>
                <a:spcPct val="150000"/>
              </a:lnSpc>
            </a:pPr>
            <a:r>
              <a:rPr lang="en-US" sz="8000" dirty="0" smtClean="0">
                <a:solidFill>
                  <a:schemeClr val="bg1"/>
                </a:solidFill>
                <a:latin typeface="Rockwell" panose="02060603020205020403" pitchFamily="18" charset="0"/>
              </a:rPr>
              <a:t>Counting</a:t>
            </a:r>
            <a:endParaRPr lang="en-US" sz="8000" dirty="0">
              <a:solidFill>
                <a:schemeClr val="bg1"/>
              </a:solidFill>
              <a:latin typeface="Rockwell" panose="02060603020205020403" pitchFamily="18" charset="0"/>
            </a:endParaRPr>
          </a:p>
        </p:txBody>
      </p:sp>
      <p:pic>
        <p:nvPicPr>
          <p:cNvPr id="5" name="Picture 4"/>
          <p:cNvPicPr>
            <a:picLocks noChangeAspect="1"/>
          </p:cNvPicPr>
          <p:nvPr/>
        </p:nvPicPr>
        <p:blipFill>
          <a:blip r:embed="rId2"/>
          <a:stretch>
            <a:fillRect/>
          </a:stretch>
        </p:blipFill>
        <p:spPr>
          <a:xfrm>
            <a:off x="-1057" y="0"/>
            <a:ext cx="12193057" cy="1922475"/>
          </a:xfrm>
          <a:prstGeom prst="rect">
            <a:avLst/>
          </a:prstGeom>
        </p:spPr>
      </p:pic>
      <p:sp>
        <p:nvSpPr>
          <p:cNvPr id="7" name="Slide Number Placeholder 6"/>
          <p:cNvSpPr>
            <a:spLocks noGrp="1"/>
          </p:cNvSpPr>
          <p:nvPr>
            <p:ph type="sldNum" sz="quarter" idx="12"/>
          </p:nvPr>
        </p:nvSpPr>
        <p:spPr/>
        <p:txBody>
          <a:bodyPr/>
          <a:lstStyle/>
          <a:p>
            <a:fld id="{769106B5-6058-41AF-9CC7-A36880636D59}" type="slidenum">
              <a:rPr lang="en-US" smtClean="0"/>
              <a:pPr/>
              <a:t>1</a:t>
            </a:fld>
            <a:endParaRPr lang="en-US"/>
          </a:p>
        </p:txBody>
      </p:sp>
    </p:spTree>
    <p:extLst>
      <p:ext uri="{BB962C8B-B14F-4D97-AF65-F5344CB8AC3E}">
        <p14:creationId xmlns:p14="http://schemas.microsoft.com/office/powerpoint/2010/main" val="170190335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
            <a:ext cx="12192000" cy="1228725"/>
          </a:xfrm>
          <a:solidFill>
            <a:schemeClr val="accent1">
              <a:lumMod val="50000"/>
            </a:schemeClr>
          </a:solidFill>
        </p:spPr>
        <p:txBody>
          <a:bodyPr>
            <a:normAutofit/>
          </a:bodyPr>
          <a:lstStyle/>
          <a:p>
            <a:pPr algn="ctr"/>
            <a:r>
              <a:rPr lang="en-US" sz="4800" b="1" dirty="0" smtClean="0">
                <a:solidFill>
                  <a:schemeClr val="bg1"/>
                </a:solidFill>
                <a:latin typeface="Rockwell" panose="02060603020205020403" pitchFamily="18" charset="0"/>
              </a:rPr>
              <a:t>Why?</a:t>
            </a:r>
            <a:endParaRPr lang="en-US" sz="4800" b="1" dirty="0">
              <a:solidFill>
                <a:schemeClr val="bg1"/>
              </a:solidFill>
              <a:latin typeface="Rockwell" panose="02060603020205020403" pitchFamily="18" charset="0"/>
            </a:endParaRPr>
          </a:p>
        </p:txBody>
      </p:sp>
      <p:sp>
        <p:nvSpPr>
          <p:cNvPr id="3" name="Content Placeholder 2"/>
          <p:cNvSpPr>
            <a:spLocks noGrp="1"/>
          </p:cNvSpPr>
          <p:nvPr>
            <p:ph idx="1"/>
          </p:nvPr>
        </p:nvSpPr>
        <p:spPr>
          <a:xfrm>
            <a:off x="871539" y="1614491"/>
            <a:ext cx="10915651" cy="4743451"/>
          </a:xfrm>
        </p:spPr>
        <p:txBody>
          <a:bodyPr/>
          <a:lstStyle/>
          <a:p>
            <a:pPr>
              <a:lnSpc>
                <a:spcPct val="114000"/>
              </a:lnSpc>
              <a:spcBef>
                <a:spcPts val="300"/>
              </a:spcBef>
              <a:spcAft>
                <a:spcPts val="300"/>
              </a:spcAft>
            </a:pPr>
            <a:endParaRPr lang="en-US" dirty="0"/>
          </a:p>
          <a:p>
            <a:pPr>
              <a:lnSpc>
                <a:spcPct val="114000"/>
              </a:lnSpc>
              <a:spcBef>
                <a:spcPts val="300"/>
              </a:spcBef>
              <a:spcAft>
                <a:spcPts val="300"/>
              </a:spcAft>
            </a:pPr>
            <a:endParaRPr lang="en-US" dirty="0" smtClean="0"/>
          </a:p>
          <a:p>
            <a:pPr>
              <a:lnSpc>
                <a:spcPct val="114000"/>
              </a:lnSpc>
              <a:spcBef>
                <a:spcPts val="300"/>
              </a:spcBef>
              <a:spcAft>
                <a:spcPts val="300"/>
              </a:spcAft>
            </a:pPr>
            <a:endParaRPr lang="en-US" dirty="0"/>
          </a:p>
          <a:p>
            <a:pPr>
              <a:lnSpc>
                <a:spcPct val="114000"/>
              </a:lnSpc>
              <a:spcBef>
                <a:spcPts val="300"/>
              </a:spcBef>
              <a:spcAft>
                <a:spcPts val="300"/>
              </a:spcAft>
            </a:pPr>
            <a:endParaRPr lang="en-US" dirty="0"/>
          </a:p>
        </p:txBody>
      </p:sp>
      <p:sp>
        <p:nvSpPr>
          <p:cNvPr id="4" name="Rectangle 3"/>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grpSp>
        <p:nvGrpSpPr>
          <p:cNvPr id="9" name="Group 8"/>
          <p:cNvGrpSpPr/>
          <p:nvPr/>
        </p:nvGrpSpPr>
        <p:grpSpPr>
          <a:xfrm>
            <a:off x="938200" y="1471621"/>
            <a:ext cx="10591809" cy="4672003"/>
            <a:chOff x="1563245" y="3007523"/>
            <a:chExt cx="10200139" cy="3877032"/>
          </a:xfrm>
        </p:grpSpPr>
        <p:sp>
          <p:nvSpPr>
            <p:cNvPr id="7" name="Content Placeholder 2"/>
            <p:cNvSpPr txBox="1">
              <a:spLocks/>
            </p:cNvSpPr>
            <p:nvPr/>
          </p:nvSpPr>
          <p:spPr>
            <a:xfrm>
              <a:off x="1563245" y="3007523"/>
              <a:ext cx="10190616" cy="585787"/>
            </a:xfrm>
            <a:prstGeom prst="rect">
              <a:avLst/>
            </a:prstGeom>
            <a:solidFill>
              <a:schemeClr val="accent5">
                <a:lumMod val="7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pPr>
              <a:r>
                <a:rPr lang="en-US" b="1" dirty="0" smtClean="0">
                  <a:solidFill>
                    <a:schemeClr val="bg1"/>
                  </a:solidFill>
                </a:rPr>
                <a:t>To solve different types of problem</a:t>
              </a:r>
              <a:endParaRPr lang="en-US" b="1" dirty="0">
                <a:solidFill>
                  <a:schemeClr val="bg1"/>
                </a:solidFill>
              </a:endParaRPr>
            </a:p>
          </p:txBody>
        </p:sp>
        <p:sp>
          <p:nvSpPr>
            <p:cNvPr id="8" name="Content Placeholder 2"/>
            <p:cNvSpPr txBox="1">
              <a:spLocks/>
            </p:cNvSpPr>
            <p:nvPr/>
          </p:nvSpPr>
          <p:spPr>
            <a:xfrm>
              <a:off x="1572767" y="3607598"/>
              <a:ext cx="10190617" cy="3276957"/>
            </a:xfrm>
            <a:prstGeom prst="rect">
              <a:avLst/>
            </a:prstGeom>
            <a:solidFill>
              <a:schemeClr val="accent5">
                <a:lumMod val="20000"/>
                <a:lumOff val="80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14000"/>
                </a:lnSpc>
              </a:pPr>
              <a:r>
                <a:rPr lang="en-US" dirty="0" smtClean="0"/>
                <a:t>Counting </a:t>
              </a:r>
              <a:r>
                <a:rPr lang="en-US" dirty="0"/>
                <a:t>is used to determine the complexity </a:t>
              </a:r>
              <a:r>
                <a:rPr lang="en-US" dirty="0" smtClean="0"/>
                <a:t>of algorithms</a:t>
              </a:r>
              <a:r>
                <a:rPr lang="en-US" dirty="0"/>
                <a:t>. </a:t>
              </a:r>
              <a:endParaRPr lang="en-US" dirty="0" smtClean="0"/>
            </a:p>
            <a:p>
              <a:pPr algn="just">
                <a:lnSpc>
                  <a:spcPct val="114000"/>
                </a:lnSpc>
              </a:pPr>
              <a:r>
                <a:rPr lang="en-US" dirty="0" smtClean="0"/>
                <a:t>Recently</a:t>
              </a:r>
              <a:r>
                <a:rPr lang="en-US" dirty="0"/>
                <a:t>, it has played a key role in </a:t>
              </a:r>
              <a:r>
                <a:rPr lang="en-US" dirty="0" smtClean="0"/>
                <a:t>mathematical biology</a:t>
              </a:r>
              <a:r>
                <a:rPr lang="en-US" dirty="0"/>
                <a:t>, especially in sequencing DNA. </a:t>
              </a:r>
              <a:endParaRPr lang="en-US" dirty="0" smtClean="0"/>
            </a:p>
            <a:p>
              <a:pPr algn="just">
                <a:lnSpc>
                  <a:spcPct val="114000"/>
                </a:lnSpc>
              </a:pPr>
              <a:r>
                <a:rPr lang="en-US" dirty="0" smtClean="0"/>
                <a:t>Furthermore</a:t>
              </a:r>
              <a:r>
                <a:rPr lang="en-US" dirty="0"/>
                <a:t>, counting techniques are used </a:t>
              </a:r>
              <a:r>
                <a:rPr lang="en-US" dirty="0" smtClean="0"/>
                <a:t>extensively when </a:t>
              </a:r>
              <a:r>
                <a:rPr lang="en-US" dirty="0"/>
                <a:t>probabilities of events are computed.</a:t>
              </a:r>
            </a:p>
          </p:txBody>
        </p:sp>
      </p:grpSp>
      <p:sp>
        <p:nvSpPr>
          <p:cNvPr id="6" name="Slide Number Placeholder 5"/>
          <p:cNvSpPr>
            <a:spLocks noGrp="1"/>
          </p:cNvSpPr>
          <p:nvPr>
            <p:ph type="sldNum" sz="quarter" idx="12"/>
          </p:nvPr>
        </p:nvSpPr>
        <p:spPr/>
        <p:txBody>
          <a:bodyPr/>
          <a:lstStyle/>
          <a:p>
            <a:fld id="{769106B5-6058-41AF-9CC7-A36880636D59}" type="slidenum">
              <a:rPr lang="en-US" smtClean="0"/>
              <a:pPr/>
              <a:t>2</a:t>
            </a:fld>
            <a:endParaRPr lang="en-US"/>
          </a:p>
        </p:txBody>
      </p:sp>
    </p:spTree>
    <p:extLst>
      <p:ext uri="{BB962C8B-B14F-4D97-AF65-F5344CB8AC3E}">
        <p14:creationId xmlns:p14="http://schemas.microsoft.com/office/powerpoint/2010/main" val="282936183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
            <a:ext cx="12192000" cy="1228725"/>
          </a:xfrm>
          <a:solidFill>
            <a:schemeClr val="accent1">
              <a:lumMod val="50000"/>
            </a:schemeClr>
          </a:solidFill>
        </p:spPr>
        <p:txBody>
          <a:bodyPr>
            <a:normAutofit/>
          </a:bodyPr>
          <a:lstStyle/>
          <a:p>
            <a:pPr algn="ctr"/>
            <a:r>
              <a:rPr lang="en-US" sz="3600" b="1" dirty="0">
                <a:solidFill>
                  <a:schemeClr val="bg1"/>
                </a:solidFill>
                <a:latin typeface="Rockwell" panose="02060603020205020403" pitchFamily="18" charset="0"/>
              </a:rPr>
              <a:t>Basic Counting Principles: THE </a:t>
            </a:r>
            <a:r>
              <a:rPr lang="en-US" sz="3600" b="1" dirty="0" smtClean="0">
                <a:solidFill>
                  <a:schemeClr val="bg1"/>
                </a:solidFill>
                <a:latin typeface="Rockwell" panose="02060603020205020403" pitchFamily="18" charset="0"/>
              </a:rPr>
              <a:t>SUM </a:t>
            </a:r>
            <a:r>
              <a:rPr lang="en-US" sz="3600" b="1" dirty="0">
                <a:solidFill>
                  <a:schemeClr val="bg1"/>
                </a:solidFill>
                <a:latin typeface="Rockwell" panose="02060603020205020403" pitchFamily="18" charset="0"/>
              </a:rPr>
              <a:t>RULE</a:t>
            </a:r>
          </a:p>
        </p:txBody>
      </p:sp>
      <p:sp>
        <p:nvSpPr>
          <p:cNvPr id="3" name="Content Placeholder 2"/>
          <p:cNvSpPr>
            <a:spLocks noGrp="1"/>
          </p:cNvSpPr>
          <p:nvPr>
            <p:ph idx="1"/>
          </p:nvPr>
        </p:nvSpPr>
        <p:spPr>
          <a:xfrm>
            <a:off x="871539" y="1614491"/>
            <a:ext cx="10915651" cy="4743451"/>
          </a:xfrm>
        </p:spPr>
        <p:txBody>
          <a:bodyPr/>
          <a:lstStyle/>
          <a:p>
            <a:pPr>
              <a:lnSpc>
                <a:spcPct val="114000"/>
              </a:lnSpc>
              <a:spcBef>
                <a:spcPts val="300"/>
              </a:spcBef>
              <a:spcAft>
                <a:spcPts val="300"/>
              </a:spcAft>
            </a:pPr>
            <a:endParaRPr lang="en-US" dirty="0"/>
          </a:p>
          <a:p>
            <a:pPr>
              <a:lnSpc>
                <a:spcPct val="114000"/>
              </a:lnSpc>
              <a:spcBef>
                <a:spcPts val="300"/>
              </a:spcBef>
              <a:spcAft>
                <a:spcPts val="300"/>
              </a:spcAft>
            </a:pPr>
            <a:endParaRPr lang="en-US" dirty="0" smtClean="0"/>
          </a:p>
          <a:p>
            <a:pPr>
              <a:lnSpc>
                <a:spcPct val="114000"/>
              </a:lnSpc>
              <a:spcBef>
                <a:spcPts val="300"/>
              </a:spcBef>
              <a:spcAft>
                <a:spcPts val="300"/>
              </a:spcAft>
            </a:pPr>
            <a:endParaRPr lang="en-US" dirty="0"/>
          </a:p>
          <a:p>
            <a:pPr>
              <a:lnSpc>
                <a:spcPct val="114000"/>
              </a:lnSpc>
              <a:spcBef>
                <a:spcPts val="300"/>
              </a:spcBef>
              <a:spcAft>
                <a:spcPts val="300"/>
              </a:spcAft>
            </a:pPr>
            <a:endParaRPr lang="en-US" dirty="0"/>
          </a:p>
        </p:txBody>
      </p:sp>
      <p:sp>
        <p:nvSpPr>
          <p:cNvPr id="4" name="Rectangle 3"/>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grpSp>
        <p:nvGrpSpPr>
          <p:cNvPr id="9" name="Group 8"/>
          <p:cNvGrpSpPr/>
          <p:nvPr/>
        </p:nvGrpSpPr>
        <p:grpSpPr>
          <a:xfrm>
            <a:off x="1038213" y="1371599"/>
            <a:ext cx="10591809" cy="2264565"/>
            <a:chOff x="1563245" y="3007523"/>
            <a:chExt cx="10200139" cy="2264565"/>
          </a:xfrm>
        </p:grpSpPr>
        <p:sp>
          <p:nvSpPr>
            <p:cNvPr id="7" name="Content Placeholder 2"/>
            <p:cNvSpPr txBox="1">
              <a:spLocks/>
            </p:cNvSpPr>
            <p:nvPr/>
          </p:nvSpPr>
          <p:spPr>
            <a:xfrm>
              <a:off x="1563245" y="3007523"/>
              <a:ext cx="10190617" cy="585787"/>
            </a:xfrm>
            <a:prstGeom prst="rect">
              <a:avLst/>
            </a:prstGeom>
            <a:solidFill>
              <a:schemeClr val="accent5">
                <a:lumMod val="7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pPr>
              <a:r>
                <a:rPr lang="en-US" dirty="0" smtClean="0">
                  <a:solidFill>
                    <a:schemeClr val="bg1"/>
                  </a:solidFill>
                </a:rPr>
                <a:t>The Sum Rule</a:t>
              </a:r>
              <a:endParaRPr lang="en-US" dirty="0">
                <a:solidFill>
                  <a:schemeClr val="bg1"/>
                </a:solidFill>
              </a:endParaRPr>
            </a:p>
          </p:txBody>
        </p:sp>
        <p:sp>
          <p:nvSpPr>
            <p:cNvPr id="8" name="Content Placeholder 2"/>
            <p:cNvSpPr txBox="1">
              <a:spLocks/>
            </p:cNvSpPr>
            <p:nvPr/>
          </p:nvSpPr>
          <p:spPr>
            <a:xfrm>
              <a:off x="1572767" y="3607599"/>
              <a:ext cx="10190617" cy="1664489"/>
            </a:xfrm>
            <a:prstGeom prst="rect">
              <a:avLst/>
            </a:prstGeom>
            <a:solidFill>
              <a:schemeClr val="accent5">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4000"/>
                </a:lnSpc>
                <a:buNone/>
              </a:pPr>
              <a:r>
                <a:rPr lang="en-US" sz="2400" dirty="0"/>
                <a:t>If a task can be done either in one </a:t>
              </a:r>
              <a:r>
                <a:rPr lang="en-US" sz="2400" dirty="0" smtClean="0"/>
                <a:t>of </a:t>
              </a:r>
              <a:r>
                <a:rPr lang="en-US" sz="2400" i="1" dirty="0" smtClean="0"/>
                <a:t>n</a:t>
              </a:r>
              <a:r>
                <a:rPr lang="en-US" sz="2400" i="1" baseline="-25000" dirty="0" smtClean="0"/>
                <a:t>1</a:t>
              </a:r>
              <a:r>
                <a:rPr lang="en-US" sz="2400" dirty="0" smtClean="0"/>
                <a:t> ways </a:t>
              </a:r>
              <a:r>
                <a:rPr lang="en-US" sz="2400" dirty="0"/>
                <a:t>or in one </a:t>
              </a:r>
              <a:r>
                <a:rPr lang="en-US" sz="2400" dirty="0" smtClean="0"/>
                <a:t>of </a:t>
              </a:r>
              <a:r>
                <a:rPr lang="en-US" sz="2400" i="1" dirty="0" smtClean="0"/>
                <a:t>n</a:t>
              </a:r>
              <a:r>
                <a:rPr lang="en-US" sz="2400" i="1" baseline="-25000" dirty="0" smtClean="0"/>
                <a:t>2</a:t>
              </a:r>
              <a:r>
                <a:rPr lang="en-US" sz="2400" dirty="0" smtClean="0"/>
                <a:t> ways</a:t>
              </a:r>
              <a:r>
                <a:rPr lang="en-US" sz="2400" dirty="0"/>
                <a:t>, </a:t>
              </a:r>
              <a:r>
                <a:rPr lang="en-US" sz="2400" dirty="0" smtClean="0"/>
                <a:t>where none of the set of </a:t>
              </a:r>
              <a:r>
                <a:rPr lang="en-US" sz="2400" i="1" dirty="0" smtClean="0"/>
                <a:t>n</a:t>
              </a:r>
              <a:r>
                <a:rPr lang="en-US" sz="2400" i="1" baseline="-25000" dirty="0" smtClean="0"/>
                <a:t>1</a:t>
              </a:r>
              <a:r>
                <a:rPr lang="en-US" sz="2400" baseline="-25000" dirty="0" smtClean="0"/>
                <a:t> </a:t>
              </a:r>
              <a:r>
                <a:rPr lang="en-US" sz="2400" dirty="0" smtClean="0"/>
                <a:t>ways is the same as any of the set of </a:t>
              </a:r>
              <a:r>
                <a:rPr lang="en-US" sz="2400" i="1" dirty="0" smtClean="0"/>
                <a:t>n</a:t>
              </a:r>
              <a:r>
                <a:rPr lang="en-US" sz="2400" i="1" baseline="-25000" dirty="0" smtClean="0"/>
                <a:t>2</a:t>
              </a:r>
              <a:r>
                <a:rPr lang="en-US" sz="2400" baseline="-25000" dirty="0" smtClean="0"/>
                <a:t> </a:t>
              </a:r>
              <a:r>
                <a:rPr lang="en-US" sz="2400" dirty="0" smtClean="0"/>
                <a:t>ways, then there are </a:t>
              </a:r>
              <a:r>
                <a:rPr lang="en-US" sz="2400" i="1" dirty="0" smtClean="0"/>
                <a:t>n</a:t>
              </a:r>
              <a:r>
                <a:rPr lang="en-US" sz="2400" i="1" baseline="-25000" dirty="0" smtClean="0"/>
                <a:t>1 + </a:t>
              </a:r>
              <a:r>
                <a:rPr lang="en-US" sz="2400" i="1" dirty="0" smtClean="0"/>
                <a:t>n</a:t>
              </a:r>
              <a:r>
                <a:rPr lang="en-US" sz="2400" i="1" baseline="-25000" dirty="0" smtClean="0"/>
                <a:t>2</a:t>
              </a:r>
              <a:r>
                <a:rPr lang="en-US" sz="2400" baseline="-25000" dirty="0" smtClean="0"/>
                <a:t> </a:t>
              </a:r>
              <a:r>
                <a:rPr lang="en-US" sz="2400" dirty="0" smtClean="0"/>
                <a:t>ways to do the task.</a:t>
              </a:r>
              <a:endParaRPr lang="en-US" sz="2400" dirty="0"/>
            </a:p>
          </p:txBody>
        </p:sp>
      </p:grpSp>
      <p:sp>
        <p:nvSpPr>
          <p:cNvPr id="10" name="Content Placeholder 2"/>
          <p:cNvSpPr txBox="1">
            <a:spLocks/>
          </p:cNvSpPr>
          <p:nvPr/>
        </p:nvSpPr>
        <p:spPr>
          <a:xfrm>
            <a:off x="1038403" y="3779036"/>
            <a:ext cx="10581921" cy="1042999"/>
          </a:xfrm>
          <a:prstGeom prst="rect">
            <a:avLst/>
          </a:prstGeom>
          <a:ln>
            <a:solidFill>
              <a:schemeClr val="bg1">
                <a:lumMod val="85000"/>
              </a:schemeClr>
            </a:solidFill>
          </a:ln>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sz="2400" dirty="0">
                <a:solidFill>
                  <a:schemeClr val="bg1">
                    <a:lumMod val="85000"/>
                  </a:schemeClr>
                </a:solidFill>
              </a:rPr>
              <a:t>Sum Rule: If no two events can occur at the same time, then one of the events can occur </a:t>
            </a:r>
            <a:r>
              <a:rPr lang="en-US" sz="2400" dirty="0" smtClean="0">
                <a:solidFill>
                  <a:schemeClr val="bg1">
                    <a:lumMod val="85000"/>
                  </a:schemeClr>
                </a:solidFill>
              </a:rPr>
              <a:t>in: n1+n2+n3+···</a:t>
            </a:r>
            <a:r>
              <a:rPr lang="en-US" sz="2400" dirty="0">
                <a:solidFill>
                  <a:schemeClr val="bg1">
                    <a:lumMod val="85000"/>
                  </a:schemeClr>
                </a:solidFill>
              </a:rPr>
              <a:t>ways.</a:t>
            </a:r>
          </a:p>
        </p:txBody>
      </p:sp>
      <p:sp>
        <p:nvSpPr>
          <p:cNvPr id="11" name="Content Placeholder 2"/>
          <p:cNvSpPr txBox="1">
            <a:spLocks/>
          </p:cNvSpPr>
          <p:nvPr/>
        </p:nvSpPr>
        <p:spPr>
          <a:xfrm>
            <a:off x="1038402" y="5029208"/>
            <a:ext cx="10581921" cy="1042999"/>
          </a:xfrm>
          <a:prstGeom prst="rect">
            <a:avLst/>
          </a:prstGeom>
          <a:ln>
            <a:solidFill>
              <a:schemeClr val="bg1">
                <a:lumMod val="85000"/>
              </a:schemeClr>
            </a:solidFill>
          </a:ln>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sz="2400" dirty="0">
                <a:solidFill>
                  <a:schemeClr val="bg1">
                    <a:lumMod val="85000"/>
                  </a:schemeClr>
                </a:solidFill>
              </a:rPr>
              <a:t>Sum Rule Principle</a:t>
            </a:r>
            <a:r>
              <a:rPr lang="en-US" sz="2400" dirty="0" smtClean="0">
                <a:solidFill>
                  <a:schemeClr val="bg1">
                    <a:lumMod val="85000"/>
                  </a:schemeClr>
                </a:solidFill>
              </a:rPr>
              <a:t>: Suppose A and B are </a:t>
            </a:r>
            <a:r>
              <a:rPr lang="en-US" sz="2400" dirty="0">
                <a:solidFill>
                  <a:schemeClr val="bg1">
                    <a:lumMod val="85000"/>
                  </a:schemeClr>
                </a:solidFill>
              </a:rPr>
              <a:t>disjoint sets. </a:t>
            </a:r>
            <a:r>
              <a:rPr lang="en-US" sz="2400" dirty="0" smtClean="0">
                <a:solidFill>
                  <a:schemeClr val="bg1">
                    <a:lumMod val="85000"/>
                  </a:schemeClr>
                </a:solidFill>
              </a:rPr>
              <a:t>Then n(A</a:t>
            </a:r>
            <a:r>
              <a:rPr lang="en-US" sz="2400" dirty="0">
                <a:solidFill>
                  <a:schemeClr val="bg1">
                    <a:lumMod val="85000"/>
                  </a:schemeClr>
                </a:solidFill>
              </a:rPr>
              <a:t>∪B</a:t>
            </a:r>
            <a:r>
              <a:rPr lang="en-US" sz="2400" dirty="0" smtClean="0">
                <a:solidFill>
                  <a:schemeClr val="bg1">
                    <a:lumMod val="85000"/>
                  </a:schemeClr>
                </a:solidFill>
              </a:rPr>
              <a:t>) = n(A) + n(B)</a:t>
            </a:r>
          </a:p>
          <a:p>
            <a:pPr marL="0" indent="0">
              <a:lnSpc>
                <a:spcPct val="100000"/>
              </a:lnSpc>
              <a:spcBef>
                <a:spcPts val="0"/>
              </a:spcBef>
              <a:buNone/>
            </a:pPr>
            <a:endParaRPr lang="en-US" sz="2400" dirty="0">
              <a:solidFill>
                <a:schemeClr val="bg1">
                  <a:lumMod val="85000"/>
                </a:schemeClr>
              </a:solidFill>
            </a:endParaRPr>
          </a:p>
        </p:txBody>
      </p:sp>
      <p:sp>
        <p:nvSpPr>
          <p:cNvPr id="6" name="Slide Number Placeholder 5"/>
          <p:cNvSpPr>
            <a:spLocks noGrp="1"/>
          </p:cNvSpPr>
          <p:nvPr>
            <p:ph type="sldNum" sz="quarter" idx="12"/>
          </p:nvPr>
        </p:nvSpPr>
        <p:spPr/>
        <p:txBody>
          <a:bodyPr/>
          <a:lstStyle/>
          <a:p>
            <a:fld id="{769106B5-6058-41AF-9CC7-A36880636D59}" type="slidenum">
              <a:rPr lang="en-US" smtClean="0"/>
              <a:pPr/>
              <a:t>3</a:t>
            </a:fld>
            <a:endParaRPr lang="en-US"/>
          </a:p>
        </p:txBody>
      </p:sp>
    </p:spTree>
    <p:extLst>
      <p:ext uri="{BB962C8B-B14F-4D97-AF65-F5344CB8AC3E}">
        <p14:creationId xmlns:p14="http://schemas.microsoft.com/office/powerpoint/2010/main" val="203225999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
            <a:ext cx="12192000" cy="1228725"/>
          </a:xfrm>
          <a:solidFill>
            <a:schemeClr val="accent1">
              <a:lumMod val="50000"/>
            </a:schemeClr>
          </a:solidFill>
        </p:spPr>
        <p:txBody>
          <a:bodyPr>
            <a:normAutofit/>
          </a:bodyPr>
          <a:lstStyle/>
          <a:p>
            <a:pPr algn="ctr"/>
            <a:r>
              <a:rPr lang="en-US" sz="3600" b="1" dirty="0">
                <a:solidFill>
                  <a:schemeClr val="bg1"/>
                </a:solidFill>
                <a:latin typeface="Rockwell" panose="02060603020205020403" pitchFamily="18" charset="0"/>
              </a:rPr>
              <a:t>Basic Counting Principles: THE </a:t>
            </a:r>
            <a:r>
              <a:rPr lang="en-US" sz="3600" b="1" dirty="0" smtClean="0">
                <a:solidFill>
                  <a:schemeClr val="bg1"/>
                </a:solidFill>
                <a:latin typeface="Rockwell" panose="02060603020205020403" pitchFamily="18" charset="0"/>
              </a:rPr>
              <a:t>SUM </a:t>
            </a:r>
            <a:r>
              <a:rPr lang="en-US" sz="3600" b="1" dirty="0">
                <a:solidFill>
                  <a:schemeClr val="bg1"/>
                </a:solidFill>
                <a:latin typeface="Rockwell" panose="02060603020205020403" pitchFamily="18" charset="0"/>
              </a:rPr>
              <a:t>RULE</a:t>
            </a:r>
          </a:p>
        </p:txBody>
      </p:sp>
      <p:sp>
        <p:nvSpPr>
          <p:cNvPr id="3" name="Content Placeholder 2"/>
          <p:cNvSpPr>
            <a:spLocks noGrp="1"/>
          </p:cNvSpPr>
          <p:nvPr>
            <p:ph idx="1"/>
          </p:nvPr>
        </p:nvSpPr>
        <p:spPr>
          <a:xfrm>
            <a:off x="871539" y="1614491"/>
            <a:ext cx="10915651" cy="4743451"/>
          </a:xfrm>
        </p:spPr>
        <p:txBody>
          <a:bodyPr/>
          <a:lstStyle/>
          <a:p>
            <a:pPr>
              <a:lnSpc>
                <a:spcPct val="114000"/>
              </a:lnSpc>
              <a:spcBef>
                <a:spcPts val="300"/>
              </a:spcBef>
              <a:spcAft>
                <a:spcPts val="300"/>
              </a:spcAft>
            </a:pPr>
            <a:endParaRPr lang="en-US" dirty="0"/>
          </a:p>
          <a:p>
            <a:pPr>
              <a:lnSpc>
                <a:spcPct val="114000"/>
              </a:lnSpc>
              <a:spcBef>
                <a:spcPts val="300"/>
              </a:spcBef>
              <a:spcAft>
                <a:spcPts val="300"/>
              </a:spcAft>
            </a:pPr>
            <a:endParaRPr lang="en-US" dirty="0" smtClean="0"/>
          </a:p>
          <a:p>
            <a:pPr>
              <a:lnSpc>
                <a:spcPct val="114000"/>
              </a:lnSpc>
              <a:spcBef>
                <a:spcPts val="300"/>
              </a:spcBef>
              <a:spcAft>
                <a:spcPts val="300"/>
              </a:spcAft>
            </a:pPr>
            <a:endParaRPr lang="en-US" dirty="0"/>
          </a:p>
          <a:p>
            <a:pPr>
              <a:lnSpc>
                <a:spcPct val="114000"/>
              </a:lnSpc>
              <a:spcBef>
                <a:spcPts val="300"/>
              </a:spcBef>
              <a:spcAft>
                <a:spcPts val="300"/>
              </a:spcAft>
            </a:pPr>
            <a:endParaRPr lang="en-US" dirty="0"/>
          </a:p>
        </p:txBody>
      </p:sp>
      <p:sp>
        <p:nvSpPr>
          <p:cNvPr id="4" name="Rectangle 3"/>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grpSp>
        <p:nvGrpSpPr>
          <p:cNvPr id="9" name="Group 8"/>
          <p:cNvGrpSpPr/>
          <p:nvPr/>
        </p:nvGrpSpPr>
        <p:grpSpPr>
          <a:xfrm>
            <a:off x="1038213" y="1371599"/>
            <a:ext cx="10591809" cy="2264565"/>
            <a:chOff x="1563245" y="3007523"/>
            <a:chExt cx="10200139" cy="2264565"/>
          </a:xfrm>
        </p:grpSpPr>
        <p:sp>
          <p:nvSpPr>
            <p:cNvPr id="7" name="Content Placeholder 2"/>
            <p:cNvSpPr txBox="1">
              <a:spLocks/>
            </p:cNvSpPr>
            <p:nvPr/>
          </p:nvSpPr>
          <p:spPr>
            <a:xfrm>
              <a:off x="1563245" y="3007523"/>
              <a:ext cx="10190617" cy="585787"/>
            </a:xfrm>
            <a:prstGeom prst="rect">
              <a:avLst/>
            </a:prstGeom>
            <a:solidFill>
              <a:schemeClr val="accent5">
                <a:lumMod val="7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pPr>
              <a:r>
                <a:rPr lang="en-US" dirty="0" smtClean="0">
                  <a:solidFill>
                    <a:schemeClr val="bg1"/>
                  </a:solidFill>
                </a:rPr>
                <a:t>The Sum Rule</a:t>
              </a:r>
              <a:endParaRPr lang="en-US" dirty="0">
                <a:solidFill>
                  <a:schemeClr val="bg1"/>
                </a:solidFill>
              </a:endParaRPr>
            </a:p>
          </p:txBody>
        </p:sp>
        <p:sp>
          <p:nvSpPr>
            <p:cNvPr id="8" name="Content Placeholder 2"/>
            <p:cNvSpPr txBox="1">
              <a:spLocks/>
            </p:cNvSpPr>
            <p:nvPr/>
          </p:nvSpPr>
          <p:spPr>
            <a:xfrm>
              <a:off x="1572767" y="3607599"/>
              <a:ext cx="10190617" cy="1664489"/>
            </a:xfrm>
            <a:prstGeom prst="rect">
              <a:avLst/>
            </a:prstGeom>
            <a:solidFill>
              <a:schemeClr val="accent5">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4000"/>
                </a:lnSpc>
                <a:buNone/>
              </a:pPr>
              <a:r>
                <a:rPr lang="en-US" sz="2400" dirty="0"/>
                <a:t>If a task can be done either in one </a:t>
              </a:r>
              <a:r>
                <a:rPr lang="en-US" sz="2400" dirty="0" smtClean="0"/>
                <a:t>of </a:t>
              </a:r>
              <a:r>
                <a:rPr lang="en-US" sz="2400" i="1" dirty="0" smtClean="0"/>
                <a:t>n</a:t>
              </a:r>
              <a:r>
                <a:rPr lang="en-US" sz="2400" i="1" baseline="-25000" dirty="0" smtClean="0"/>
                <a:t>1</a:t>
              </a:r>
              <a:r>
                <a:rPr lang="en-US" sz="2400" dirty="0" smtClean="0"/>
                <a:t> ways </a:t>
              </a:r>
              <a:r>
                <a:rPr lang="en-US" sz="2400" dirty="0"/>
                <a:t>or in one </a:t>
              </a:r>
              <a:r>
                <a:rPr lang="en-US" sz="2400" dirty="0" smtClean="0"/>
                <a:t>of </a:t>
              </a:r>
              <a:r>
                <a:rPr lang="en-US" sz="2400" i="1" dirty="0" smtClean="0"/>
                <a:t>n</a:t>
              </a:r>
              <a:r>
                <a:rPr lang="en-US" sz="2400" i="1" baseline="-25000" dirty="0" smtClean="0"/>
                <a:t>2</a:t>
              </a:r>
              <a:r>
                <a:rPr lang="en-US" sz="2400" dirty="0" smtClean="0"/>
                <a:t> ways</a:t>
              </a:r>
              <a:r>
                <a:rPr lang="en-US" sz="2400" dirty="0"/>
                <a:t>, </a:t>
              </a:r>
              <a:r>
                <a:rPr lang="en-US" sz="2400" dirty="0" smtClean="0"/>
                <a:t>where none of the set of </a:t>
              </a:r>
              <a:r>
                <a:rPr lang="en-US" sz="2400" i="1" dirty="0" smtClean="0"/>
                <a:t>n</a:t>
              </a:r>
              <a:r>
                <a:rPr lang="en-US" sz="2400" i="1" baseline="-25000" dirty="0" smtClean="0"/>
                <a:t>1</a:t>
              </a:r>
              <a:r>
                <a:rPr lang="en-US" sz="2400" baseline="-25000" dirty="0" smtClean="0"/>
                <a:t> </a:t>
              </a:r>
              <a:r>
                <a:rPr lang="en-US" sz="2400" dirty="0" smtClean="0"/>
                <a:t>ways is the same as any of the set of </a:t>
              </a:r>
              <a:r>
                <a:rPr lang="en-US" sz="2400" i="1" dirty="0" smtClean="0"/>
                <a:t>n</a:t>
              </a:r>
              <a:r>
                <a:rPr lang="en-US" sz="2400" i="1" baseline="-25000" dirty="0" smtClean="0"/>
                <a:t>2</a:t>
              </a:r>
              <a:r>
                <a:rPr lang="en-US" sz="2400" baseline="-25000" dirty="0" smtClean="0"/>
                <a:t> </a:t>
              </a:r>
              <a:r>
                <a:rPr lang="en-US" sz="2400" dirty="0" smtClean="0"/>
                <a:t>ways, then there are </a:t>
              </a:r>
              <a:r>
                <a:rPr lang="en-US" sz="2400" i="1" dirty="0" smtClean="0"/>
                <a:t>n</a:t>
              </a:r>
              <a:r>
                <a:rPr lang="en-US" sz="2400" i="1" baseline="-25000" dirty="0" smtClean="0"/>
                <a:t>1 + </a:t>
              </a:r>
              <a:r>
                <a:rPr lang="en-US" sz="2400" i="1" dirty="0" smtClean="0"/>
                <a:t>n</a:t>
              </a:r>
              <a:r>
                <a:rPr lang="en-US" sz="2400" i="1" baseline="-25000" dirty="0" smtClean="0"/>
                <a:t>2</a:t>
              </a:r>
              <a:r>
                <a:rPr lang="en-US" sz="2400" baseline="-25000" dirty="0" smtClean="0"/>
                <a:t> </a:t>
              </a:r>
              <a:r>
                <a:rPr lang="en-US" sz="2400" dirty="0" smtClean="0"/>
                <a:t>ways to do the task.</a:t>
              </a:r>
              <a:endParaRPr lang="en-US" sz="2400" dirty="0"/>
            </a:p>
          </p:txBody>
        </p:sp>
      </p:grpSp>
      <p:sp>
        <p:nvSpPr>
          <p:cNvPr id="10" name="Content Placeholder 2"/>
          <p:cNvSpPr txBox="1">
            <a:spLocks/>
          </p:cNvSpPr>
          <p:nvPr/>
        </p:nvSpPr>
        <p:spPr>
          <a:xfrm>
            <a:off x="1038403" y="3779036"/>
            <a:ext cx="10581921" cy="1042999"/>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sz="2400" b="1" dirty="0"/>
              <a:t>Sum Rule: </a:t>
            </a:r>
            <a:r>
              <a:rPr lang="en-US" sz="2400" dirty="0"/>
              <a:t>If no two events can occur at the same time, then one of the events can occur </a:t>
            </a:r>
            <a:r>
              <a:rPr lang="en-US" sz="2400" dirty="0" smtClean="0"/>
              <a:t>in: n1+n2+n3+···</a:t>
            </a:r>
            <a:r>
              <a:rPr lang="en-US" sz="2400" dirty="0"/>
              <a:t>ways.</a:t>
            </a:r>
          </a:p>
        </p:txBody>
      </p:sp>
      <p:sp>
        <p:nvSpPr>
          <p:cNvPr id="11" name="Content Placeholder 2"/>
          <p:cNvSpPr txBox="1">
            <a:spLocks/>
          </p:cNvSpPr>
          <p:nvPr/>
        </p:nvSpPr>
        <p:spPr>
          <a:xfrm>
            <a:off x="1038402" y="5029208"/>
            <a:ext cx="10581921" cy="1042999"/>
          </a:xfrm>
          <a:prstGeom prst="rect">
            <a:avLst/>
          </a:prstGeom>
          <a:ln>
            <a:solidFill>
              <a:schemeClr val="bg1">
                <a:lumMod val="85000"/>
              </a:schemeClr>
            </a:solidFill>
          </a:ln>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sz="2400" dirty="0">
                <a:solidFill>
                  <a:schemeClr val="bg1">
                    <a:lumMod val="85000"/>
                  </a:schemeClr>
                </a:solidFill>
              </a:rPr>
              <a:t>Sum Rule Principle</a:t>
            </a:r>
            <a:r>
              <a:rPr lang="en-US" sz="2400" dirty="0" smtClean="0">
                <a:solidFill>
                  <a:schemeClr val="bg1">
                    <a:lumMod val="85000"/>
                  </a:schemeClr>
                </a:solidFill>
              </a:rPr>
              <a:t>: Suppose A and B are </a:t>
            </a:r>
            <a:r>
              <a:rPr lang="en-US" sz="2400" dirty="0">
                <a:solidFill>
                  <a:schemeClr val="bg1">
                    <a:lumMod val="85000"/>
                  </a:schemeClr>
                </a:solidFill>
              </a:rPr>
              <a:t>disjoint sets. </a:t>
            </a:r>
            <a:r>
              <a:rPr lang="en-US" sz="2400" dirty="0" smtClean="0">
                <a:solidFill>
                  <a:schemeClr val="bg1">
                    <a:lumMod val="85000"/>
                  </a:schemeClr>
                </a:solidFill>
              </a:rPr>
              <a:t>Then n(A</a:t>
            </a:r>
            <a:r>
              <a:rPr lang="en-US" sz="2400" dirty="0">
                <a:solidFill>
                  <a:schemeClr val="bg1">
                    <a:lumMod val="85000"/>
                  </a:schemeClr>
                </a:solidFill>
              </a:rPr>
              <a:t>∪B</a:t>
            </a:r>
            <a:r>
              <a:rPr lang="en-US" sz="2400" dirty="0" smtClean="0">
                <a:solidFill>
                  <a:schemeClr val="bg1">
                    <a:lumMod val="85000"/>
                  </a:schemeClr>
                </a:solidFill>
              </a:rPr>
              <a:t>) = n(A) + n(B)</a:t>
            </a:r>
          </a:p>
          <a:p>
            <a:pPr marL="0" indent="0">
              <a:lnSpc>
                <a:spcPct val="100000"/>
              </a:lnSpc>
              <a:spcBef>
                <a:spcPts val="0"/>
              </a:spcBef>
              <a:buNone/>
            </a:pPr>
            <a:endParaRPr lang="en-US" sz="2400" dirty="0">
              <a:solidFill>
                <a:schemeClr val="bg1">
                  <a:lumMod val="85000"/>
                </a:schemeClr>
              </a:solidFill>
            </a:endParaRPr>
          </a:p>
        </p:txBody>
      </p:sp>
      <p:sp>
        <p:nvSpPr>
          <p:cNvPr id="6" name="Slide Number Placeholder 5"/>
          <p:cNvSpPr>
            <a:spLocks noGrp="1"/>
          </p:cNvSpPr>
          <p:nvPr>
            <p:ph type="sldNum" sz="quarter" idx="12"/>
          </p:nvPr>
        </p:nvSpPr>
        <p:spPr/>
        <p:txBody>
          <a:bodyPr/>
          <a:lstStyle/>
          <a:p>
            <a:fld id="{769106B5-6058-41AF-9CC7-A36880636D59}" type="slidenum">
              <a:rPr lang="en-US" smtClean="0"/>
              <a:pPr/>
              <a:t>4</a:t>
            </a:fld>
            <a:endParaRPr lang="en-US"/>
          </a:p>
        </p:txBody>
      </p:sp>
    </p:spTree>
    <p:extLst>
      <p:ext uri="{BB962C8B-B14F-4D97-AF65-F5344CB8AC3E}">
        <p14:creationId xmlns:p14="http://schemas.microsoft.com/office/powerpoint/2010/main" val="76783997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
            <a:ext cx="12192000" cy="1228725"/>
          </a:xfrm>
          <a:solidFill>
            <a:schemeClr val="accent1">
              <a:lumMod val="50000"/>
            </a:schemeClr>
          </a:solidFill>
        </p:spPr>
        <p:txBody>
          <a:bodyPr>
            <a:normAutofit/>
          </a:bodyPr>
          <a:lstStyle/>
          <a:p>
            <a:pPr algn="ctr"/>
            <a:r>
              <a:rPr lang="en-US" sz="3600" b="1" dirty="0">
                <a:solidFill>
                  <a:schemeClr val="bg1"/>
                </a:solidFill>
                <a:latin typeface="Rockwell" panose="02060603020205020403" pitchFamily="18" charset="0"/>
              </a:rPr>
              <a:t>Basic Counting Principles: THE </a:t>
            </a:r>
            <a:r>
              <a:rPr lang="en-US" sz="3600" b="1" dirty="0" smtClean="0">
                <a:solidFill>
                  <a:schemeClr val="bg1"/>
                </a:solidFill>
                <a:latin typeface="Rockwell" panose="02060603020205020403" pitchFamily="18" charset="0"/>
              </a:rPr>
              <a:t>SUM </a:t>
            </a:r>
            <a:r>
              <a:rPr lang="en-US" sz="3600" b="1" dirty="0">
                <a:solidFill>
                  <a:schemeClr val="bg1"/>
                </a:solidFill>
                <a:latin typeface="Rockwell" panose="02060603020205020403" pitchFamily="18" charset="0"/>
              </a:rPr>
              <a:t>RULE</a:t>
            </a:r>
          </a:p>
        </p:txBody>
      </p:sp>
      <p:sp>
        <p:nvSpPr>
          <p:cNvPr id="3" name="Content Placeholder 2"/>
          <p:cNvSpPr>
            <a:spLocks noGrp="1"/>
          </p:cNvSpPr>
          <p:nvPr>
            <p:ph idx="1"/>
          </p:nvPr>
        </p:nvSpPr>
        <p:spPr>
          <a:xfrm>
            <a:off x="871539" y="1614491"/>
            <a:ext cx="10915651" cy="4743451"/>
          </a:xfrm>
        </p:spPr>
        <p:txBody>
          <a:bodyPr/>
          <a:lstStyle/>
          <a:p>
            <a:pPr>
              <a:lnSpc>
                <a:spcPct val="114000"/>
              </a:lnSpc>
              <a:spcBef>
                <a:spcPts val="300"/>
              </a:spcBef>
              <a:spcAft>
                <a:spcPts val="300"/>
              </a:spcAft>
            </a:pPr>
            <a:endParaRPr lang="en-US" dirty="0"/>
          </a:p>
          <a:p>
            <a:pPr>
              <a:lnSpc>
                <a:spcPct val="114000"/>
              </a:lnSpc>
              <a:spcBef>
                <a:spcPts val="300"/>
              </a:spcBef>
              <a:spcAft>
                <a:spcPts val="300"/>
              </a:spcAft>
            </a:pPr>
            <a:endParaRPr lang="en-US" dirty="0" smtClean="0"/>
          </a:p>
          <a:p>
            <a:pPr>
              <a:lnSpc>
                <a:spcPct val="114000"/>
              </a:lnSpc>
              <a:spcBef>
                <a:spcPts val="300"/>
              </a:spcBef>
              <a:spcAft>
                <a:spcPts val="300"/>
              </a:spcAft>
            </a:pPr>
            <a:endParaRPr lang="en-US" dirty="0"/>
          </a:p>
          <a:p>
            <a:pPr>
              <a:lnSpc>
                <a:spcPct val="114000"/>
              </a:lnSpc>
              <a:spcBef>
                <a:spcPts val="300"/>
              </a:spcBef>
              <a:spcAft>
                <a:spcPts val="300"/>
              </a:spcAft>
            </a:pPr>
            <a:endParaRPr lang="en-US" dirty="0"/>
          </a:p>
        </p:txBody>
      </p:sp>
      <p:sp>
        <p:nvSpPr>
          <p:cNvPr id="4" name="Rectangle 3"/>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grpSp>
        <p:nvGrpSpPr>
          <p:cNvPr id="9" name="Group 8"/>
          <p:cNvGrpSpPr/>
          <p:nvPr/>
        </p:nvGrpSpPr>
        <p:grpSpPr>
          <a:xfrm>
            <a:off x="1038213" y="1371599"/>
            <a:ext cx="10591809" cy="2264565"/>
            <a:chOff x="1563245" y="3007523"/>
            <a:chExt cx="10200139" cy="2264565"/>
          </a:xfrm>
        </p:grpSpPr>
        <p:sp>
          <p:nvSpPr>
            <p:cNvPr id="7" name="Content Placeholder 2"/>
            <p:cNvSpPr txBox="1">
              <a:spLocks/>
            </p:cNvSpPr>
            <p:nvPr/>
          </p:nvSpPr>
          <p:spPr>
            <a:xfrm>
              <a:off x="1563245" y="3007523"/>
              <a:ext cx="10190617" cy="585787"/>
            </a:xfrm>
            <a:prstGeom prst="rect">
              <a:avLst/>
            </a:prstGeom>
            <a:solidFill>
              <a:schemeClr val="accent5">
                <a:lumMod val="7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pPr>
              <a:r>
                <a:rPr lang="en-US" dirty="0" smtClean="0">
                  <a:solidFill>
                    <a:schemeClr val="bg1"/>
                  </a:solidFill>
                </a:rPr>
                <a:t>The Sum Rule</a:t>
              </a:r>
              <a:endParaRPr lang="en-US" dirty="0">
                <a:solidFill>
                  <a:schemeClr val="bg1"/>
                </a:solidFill>
              </a:endParaRPr>
            </a:p>
          </p:txBody>
        </p:sp>
        <p:sp>
          <p:nvSpPr>
            <p:cNvPr id="8" name="Content Placeholder 2"/>
            <p:cNvSpPr txBox="1">
              <a:spLocks/>
            </p:cNvSpPr>
            <p:nvPr/>
          </p:nvSpPr>
          <p:spPr>
            <a:xfrm>
              <a:off x="1572767" y="3607599"/>
              <a:ext cx="10190617" cy="1664489"/>
            </a:xfrm>
            <a:prstGeom prst="rect">
              <a:avLst/>
            </a:prstGeom>
            <a:solidFill>
              <a:schemeClr val="accent5">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4000"/>
                </a:lnSpc>
                <a:buNone/>
              </a:pPr>
              <a:r>
                <a:rPr lang="en-US" sz="2400" dirty="0"/>
                <a:t>If a task can be done either in one </a:t>
              </a:r>
              <a:r>
                <a:rPr lang="en-US" sz="2400" dirty="0" smtClean="0"/>
                <a:t>of </a:t>
              </a:r>
              <a:r>
                <a:rPr lang="en-US" sz="2400" i="1" dirty="0" smtClean="0"/>
                <a:t>n</a:t>
              </a:r>
              <a:r>
                <a:rPr lang="en-US" sz="2400" i="1" baseline="-25000" dirty="0" smtClean="0"/>
                <a:t>1</a:t>
              </a:r>
              <a:r>
                <a:rPr lang="en-US" sz="2400" dirty="0" smtClean="0"/>
                <a:t> ways </a:t>
              </a:r>
              <a:r>
                <a:rPr lang="en-US" sz="2400" dirty="0"/>
                <a:t>or in one </a:t>
              </a:r>
              <a:r>
                <a:rPr lang="en-US" sz="2400" dirty="0" smtClean="0"/>
                <a:t>of </a:t>
              </a:r>
              <a:r>
                <a:rPr lang="en-US" sz="2400" i="1" dirty="0" smtClean="0"/>
                <a:t>n</a:t>
              </a:r>
              <a:r>
                <a:rPr lang="en-US" sz="2400" i="1" baseline="-25000" dirty="0" smtClean="0"/>
                <a:t>2</a:t>
              </a:r>
              <a:r>
                <a:rPr lang="en-US" sz="2400" dirty="0" smtClean="0"/>
                <a:t> ways</a:t>
              </a:r>
              <a:r>
                <a:rPr lang="en-US" sz="2400" dirty="0"/>
                <a:t>, </a:t>
              </a:r>
              <a:r>
                <a:rPr lang="en-US" sz="2400" dirty="0" smtClean="0"/>
                <a:t>where none of the set of </a:t>
              </a:r>
              <a:r>
                <a:rPr lang="en-US" sz="2400" i="1" dirty="0" smtClean="0"/>
                <a:t>n</a:t>
              </a:r>
              <a:r>
                <a:rPr lang="en-US" sz="2400" i="1" baseline="-25000" dirty="0" smtClean="0"/>
                <a:t>1</a:t>
              </a:r>
              <a:r>
                <a:rPr lang="en-US" sz="2400" baseline="-25000" dirty="0" smtClean="0"/>
                <a:t> </a:t>
              </a:r>
              <a:r>
                <a:rPr lang="en-US" sz="2400" dirty="0" smtClean="0"/>
                <a:t>ways is the same as any of the set of </a:t>
              </a:r>
              <a:r>
                <a:rPr lang="en-US" sz="2400" i="1" dirty="0" smtClean="0"/>
                <a:t>n</a:t>
              </a:r>
              <a:r>
                <a:rPr lang="en-US" sz="2400" i="1" baseline="-25000" dirty="0" smtClean="0"/>
                <a:t>2</a:t>
              </a:r>
              <a:r>
                <a:rPr lang="en-US" sz="2400" baseline="-25000" dirty="0" smtClean="0"/>
                <a:t> </a:t>
              </a:r>
              <a:r>
                <a:rPr lang="en-US" sz="2400" dirty="0" smtClean="0"/>
                <a:t>ways, then there are </a:t>
              </a:r>
              <a:r>
                <a:rPr lang="en-US" sz="2400" i="1" dirty="0" smtClean="0"/>
                <a:t>n</a:t>
              </a:r>
              <a:r>
                <a:rPr lang="en-US" sz="2400" i="1" baseline="-25000" dirty="0" smtClean="0"/>
                <a:t>1 + </a:t>
              </a:r>
              <a:r>
                <a:rPr lang="en-US" sz="2400" i="1" dirty="0" smtClean="0"/>
                <a:t>n</a:t>
              </a:r>
              <a:r>
                <a:rPr lang="en-US" sz="2400" i="1" baseline="-25000" dirty="0" smtClean="0"/>
                <a:t>2</a:t>
              </a:r>
              <a:r>
                <a:rPr lang="en-US" sz="2400" baseline="-25000" dirty="0" smtClean="0"/>
                <a:t> </a:t>
              </a:r>
              <a:r>
                <a:rPr lang="en-US" sz="2400" dirty="0" smtClean="0"/>
                <a:t>ways to do the task.</a:t>
              </a:r>
              <a:endParaRPr lang="en-US" sz="2400" dirty="0"/>
            </a:p>
          </p:txBody>
        </p:sp>
      </p:grpSp>
      <p:sp>
        <p:nvSpPr>
          <p:cNvPr id="10" name="Content Placeholder 2"/>
          <p:cNvSpPr txBox="1">
            <a:spLocks/>
          </p:cNvSpPr>
          <p:nvPr/>
        </p:nvSpPr>
        <p:spPr>
          <a:xfrm>
            <a:off x="1038403" y="3779036"/>
            <a:ext cx="10581921" cy="1042999"/>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sz="2400" b="1" dirty="0"/>
              <a:t>Sum Rule: </a:t>
            </a:r>
            <a:r>
              <a:rPr lang="en-US" sz="2400" dirty="0"/>
              <a:t>If no two events can occur at the same time, then one of the events can occur </a:t>
            </a:r>
            <a:r>
              <a:rPr lang="en-US" sz="2400" dirty="0" smtClean="0"/>
              <a:t>in: n1+n2+n3+···</a:t>
            </a:r>
            <a:r>
              <a:rPr lang="en-US" sz="2400" dirty="0"/>
              <a:t>ways.</a:t>
            </a:r>
          </a:p>
        </p:txBody>
      </p:sp>
      <p:sp>
        <p:nvSpPr>
          <p:cNvPr id="11" name="Content Placeholder 2"/>
          <p:cNvSpPr txBox="1">
            <a:spLocks/>
          </p:cNvSpPr>
          <p:nvPr/>
        </p:nvSpPr>
        <p:spPr>
          <a:xfrm>
            <a:off x="1038402" y="5029208"/>
            <a:ext cx="10581921" cy="1042999"/>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sz="2400" dirty="0"/>
              <a:t>Sum Rule Principle</a:t>
            </a:r>
            <a:r>
              <a:rPr lang="en-US" sz="2400" dirty="0" smtClean="0"/>
              <a:t>: Suppose A and B are </a:t>
            </a:r>
            <a:r>
              <a:rPr lang="en-US" sz="2400" dirty="0"/>
              <a:t>disjoint sets. </a:t>
            </a:r>
            <a:r>
              <a:rPr lang="en-US" sz="2400" dirty="0" smtClean="0"/>
              <a:t>Then n(A</a:t>
            </a:r>
            <a:r>
              <a:rPr lang="en-US" sz="2400" dirty="0"/>
              <a:t>∪B</a:t>
            </a:r>
            <a:r>
              <a:rPr lang="en-US" sz="2400" dirty="0" smtClean="0"/>
              <a:t>) = n(A) + n(B)</a:t>
            </a:r>
          </a:p>
          <a:p>
            <a:pPr marL="0" indent="0">
              <a:lnSpc>
                <a:spcPct val="100000"/>
              </a:lnSpc>
              <a:spcBef>
                <a:spcPts val="0"/>
              </a:spcBef>
              <a:buNone/>
            </a:pPr>
            <a:endParaRPr lang="en-US" sz="2400" dirty="0"/>
          </a:p>
        </p:txBody>
      </p:sp>
      <p:sp>
        <p:nvSpPr>
          <p:cNvPr id="6" name="Slide Number Placeholder 5"/>
          <p:cNvSpPr>
            <a:spLocks noGrp="1"/>
          </p:cNvSpPr>
          <p:nvPr>
            <p:ph type="sldNum" sz="quarter" idx="12"/>
          </p:nvPr>
        </p:nvSpPr>
        <p:spPr/>
        <p:txBody>
          <a:bodyPr/>
          <a:lstStyle/>
          <a:p>
            <a:fld id="{769106B5-6058-41AF-9CC7-A36880636D59}" type="slidenum">
              <a:rPr lang="en-US" smtClean="0"/>
              <a:pPr/>
              <a:t>5</a:t>
            </a:fld>
            <a:endParaRPr lang="en-US"/>
          </a:p>
        </p:txBody>
      </p:sp>
    </p:spTree>
    <p:extLst>
      <p:ext uri="{BB962C8B-B14F-4D97-AF65-F5344CB8AC3E}">
        <p14:creationId xmlns:p14="http://schemas.microsoft.com/office/powerpoint/2010/main" val="177593957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
            <a:ext cx="12192000" cy="900110"/>
          </a:xfrm>
          <a:solidFill>
            <a:schemeClr val="accent1">
              <a:lumMod val="50000"/>
            </a:schemeClr>
          </a:solidFill>
        </p:spPr>
        <p:txBody>
          <a:bodyPr>
            <a:normAutofit fontScale="90000"/>
          </a:bodyPr>
          <a:lstStyle/>
          <a:p>
            <a:pPr algn="ctr">
              <a:lnSpc>
                <a:spcPct val="114000"/>
              </a:lnSpc>
            </a:pPr>
            <a:r>
              <a:rPr lang="en-US" sz="4800" b="1" dirty="0">
                <a:solidFill>
                  <a:schemeClr val="bg1"/>
                </a:solidFill>
              </a:rPr>
              <a:t>The Sum </a:t>
            </a:r>
            <a:r>
              <a:rPr lang="en-US" sz="4800" b="1" dirty="0" smtClean="0">
                <a:solidFill>
                  <a:schemeClr val="bg1"/>
                </a:solidFill>
              </a:rPr>
              <a:t>Rule : Example</a:t>
            </a:r>
            <a:endParaRPr lang="en-US" sz="4800" b="1" dirty="0">
              <a:solidFill>
                <a:schemeClr val="bg1"/>
              </a:solidFill>
            </a:endParaRPr>
          </a:p>
        </p:txBody>
      </p:sp>
      <p:sp>
        <p:nvSpPr>
          <p:cNvPr id="4" name="Rectangle 3"/>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grpSp>
        <p:nvGrpSpPr>
          <p:cNvPr id="5" name="Group 4"/>
          <p:cNvGrpSpPr/>
          <p:nvPr/>
        </p:nvGrpSpPr>
        <p:grpSpPr>
          <a:xfrm>
            <a:off x="1038213" y="1371599"/>
            <a:ext cx="10591809" cy="2978950"/>
            <a:chOff x="1563245" y="3007523"/>
            <a:chExt cx="10200139" cy="2978950"/>
          </a:xfrm>
        </p:grpSpPr>
        <p:sp>
          <p:nvSpPr>
            <p:cNvPr id="6" name="Content Placeholder 2"/>
            <p:cNvSpPr txBox="1">
              <a:spLocks/>
            </p:cNvSpPr>
            <p:nvPr/>
          </p:nvSpPr>
          <p:spPr>
            <a:xfrm>
              <a:off x="1563245" y="3007523"/>
              <a:ext cx="10190617" cy="1228726"/>
            </a:xfrm>
            <a:prstGeom prst="rect">
              <a:avLst/>
            </a:prstGeom>
            <a:solidFill>
              <a:schemeClr val="accent5">
                <a:lumMod val="75000"/>
              </a:schemeClr>
            </a:solidFill>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20000"/>
                </a:lnSpc>
                <a:spcBef>
                  <a:spcPts val="600"/>
                </a:spcBef>
                <a:buNone/>
              </a:pPr>
              <a:r>
                <a:rPr lang="en-US" b="1" i="1" dirty="0">
                  <a:solidFill>
                    <a:schemeClr val="bg1"/>
                  </a:solidFill>
                </a:rPr>
                <a:t>Problem : </a:t>
              </a:r>
              <a:r>
                <a:rPr lang="en-US" dirty="0">
                  <a:solidFill>
                    <a:schemeClr val="bg1"/>
                  </a:solidFill>
                </a:rPr>
                <a:t>A student can choose a computer project from one of three lists. The three lists contain 23, </a:t>
              </a:r>
              <a:r>
                <a:rPr lang="en-US" dirty="0" smtClean="0">
                  <a:solidFill>
                    <a:schemeClr val="bg1"/>
                  </a:solidFill>
                </a:rPr>
                <a:t>15, and </a:t>
              </a:r>
              <a:r>
                <a:rPr lang="en-US" dirty="0">
                  <a:solidFill>
                    <a:schemeClr val="bg1"/>
                  </a:solidFill>
                </a:rPr>
                <a:t>19 possible projects, respectively. No project is on more than one list. How many </a:t>
              </a:r>
              <a:r>
                <a:rPr lang="en-US" dirty="0" smtClean="0">
                  <a:solidFill>
                    <a:schemeClr val="bg1"/>
                  </a:solidFill>
                </a:rPr>
                <a:t>possible projects </a:t>
              </a:r>
              <a:r>
                <a:rPr lang="en-US" dirty="0">
                  <a:solidFill>
                    <a:schemeClr val="bg1"/>
                  </a:solidFill>
                </a:rPr>
                <a:t>are there to choose from? </a:t>
              </a:r>
            </a:p>
          </p:txBody>
        </p:sp>
        <p:sp>
          <p:nvSpPr>
            <p:cNvPr id="7" name="Content Placeholder 2"/>
            <p:cNvSpPr txBox="1">
              <a:spLocks/>
            </p:cNvSpPr>
            <p:nvPr/>
          </p:nvSpPr>
          <p:spPr>
            <a:xfrm>
              <a:off x="1572767" y="4321984"/>
              <a:ext cx="10190617" cy="1664489"/>
            </a:xfrm>
            <a:prstGeom prst="rect">
              <a:avLst/>
            </a:prstGeom>
            <a:solidFill>
              <a:schemeClr val="accent5">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4000"/>
                </a:lnSpc>
                <a:buNone/>
              </a:pPr>
              <a:r>
                <a:rPr lang="en-US" sz="2400" b="1" i="1" dirty="0"/>
                <a:t>Solution: </a:t>
              </a:r>
              <a:r>
                <a:rPr lang="en-US" sz="2400" dirty="0"/>
                <a:t>The student can choose a project by selecting a project from the first list, the </a:t>
              </a:r>
              <a:r>
                <a:rPr lang="en-US" sz="2400" dirty="0" smtClean="0"/>
                <a:t>second list</a:t>
              </a:r>
              <a:r>
                <a:rPr lang="en-US" sz="2400" dirty="0"/>
                <a:t>, or the third list. Because no project is on more than one list, by the sum rule there </a:t>
              </a:r>
              <a:r>
                <a:rPr lang="en-US" sz="2400" dirty="0" smtClean="0"/>
                <a:t>are 23+15+19=57 </a:t>
              </a:r>
              <a:r>
                <a:rPr lang="en-US" sz="2400" dirty="0"/>
                <a:t>ways to choose a project. </a:t>
              </a:r>
            </a:p>
          </p:txBody>
        </p:sp>
      </p:grpSp>
      <p:sp>
        <p:nvSpPr>
          <p:cNvPr id="10" name="Slide Number Placeholder 9"/>
          <p:cNvSpPr>
            <a:spLocks noGrp="1"/>
          </p:cNvSpPr>
          <p:nvPr>
            <p:ph type="sldNum" sz="quarter" idx="12"/>
          </p:nvPr>
        </p:nvSpPr>
        <p:spPr/>
        <p:txBody>
          <a:bodyPr/>
          <a:lstStyle/>
          <a:p>
            <a:fld id="{769106B5-6058-41AF-9CC7-A36880636D59}" type="slidenum">
              <a:rPr lang="en-US" smtClean="0"/>
              <a:pPr/>
              <a:t>6</a:t>
            </a:fld>
            <a:endParaRPr lang="en-US"/>
          </a:p>
        </p:txBody>
      </p:sp>
    </p:spTree>
    <p:extLst>
      <p:ext uri="{BB962C8B-B14F-4D97-AF65-F5344CB8AC3E}">
        <p14:creationId xmlns:p14="http://schemas.microsoft.com/office/powerpoint/2010/main" val="1073754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
            <a:ext cx="12192000" cy="1228725"/>
          </a:xfrm>
          <a:solidFill>
            <a:schemeClr val="accent1">
              <a:lumMod val="50000"/>
            </a:schemeClr>
          </a:solidFill>
        </p:spPr>
        <p:txBody>
          <a:bodyPr>
            <a:normAutofit/>
          </a:bodyPr>
          <a:lstStyle/>
          <a:p>
            <a:pPr algn="ctr"/>
            <a:r>
              <a:rPr lang="en-US" sz="3600" b="1" dirty="0">
                <a:solidFill>
                  <a:schemeClr val="bg1"/>
                </a:solidFill>
                <a:latin typeface="Rockwell" panose="02060603020205020403" pitchFamily="18" charset="0"/>
              </a:rPr>
              <a:t>Basic Counting Principles: THE PRODUCT RULE</a:t>
            </a:r>
          </a:p>
        </p:txBody>
      </p:sp>
      <p:sp>
        <p:nvSpPr>
          <p:cNvPr id="3" name="Content Placeholder 2"/>
          <p:cNvSpPr>
            <a:spLocks noGrp="1"/>
          </p:cNvSpPr>
          <p:nvPr>
            <p:ph idx="1"/>
          </p:nvPr>
        </p:nvSpPr>
        <p:spPr>
          <a:xfrm>
            <a:off x="871539" y="1614491"/>
            <a:ext cx="10915651" cy="4743451"/>
          </a:xfrm>
        </p:spPr>
        <p:txBody>
          <a:bodyPr/>
          <a:lstStyle/>
          <a:p>
            <a:pPr>
              <a:lnSpc>
                <a:spcPct val="114000"/>
              </a:lnSpc>
              <a:spcBef>
                <a:spcPts val="300"/>
              </a:spcBef>
              <a:spcAft>
                <a:spcPts val="300"/>
              </a:spcAft>
            </a:pPr>
            <a:endParaRPr lang="en-US" dirty="0"/>
          </a:p>
          <a:p>
            <a:pPr>
              <a:lnSpc>
                <a:spcPct val="114000"/>
              </a:lnSpc>
              <a:spcBef>
                <a:spcPts val="300"/>
              </a:spcBef>
              <a:spcAft>
                <a:spcPts val="300"/>
              </a:spcAft>
            </a:pPr>
            <a:endParaRPr lang="en-US" dirty="0" smtClean="0"/>
          </a:p>
          <a:p>
            <a:pPr>
              <a:lnSpc>
                <a:spcPct val="114000"/>
              </a:lnSpc>
              <a:spcBef>
                <a:spcPts val="300"/>
              </a:spcBef>
              <a:spcAft>
                <a:spcPts val="300"/>
              </a:spcAft>
            </a:pPr>
            <a:endParaRPr lang="en-US" dirty="0"/>
          </a:p>
          <a:p>
            <a:pPr>
              <a:lnSpc>
                <a:spcPct val="114000"/>
              </a:lnSpc>
              <a:spcBef>
                <a:spcPts val="300"/>
              </a:spcBef>
              <a:spcAft>
                <a:spcPts val="300"/>
              </a:spcAft>
            </a:pPr>
            <a:endParaRPr lang="en-US" dirty="0"/>
          </a:p>
        </p:txBody>
      </p:sp>
      <p:sp>
        <p:nvSpPr>
          <p:cNvPr id="4" name="Rectangle 3"/>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grpSp>
        <p:nvGrpSpPr>
          <p:cNvPr id="9" name="Group 8"/>
          <p:cNvGrpSpPr/>
          <p:nvPr/>
        </p:nvGrpSpPr>
        <p:grpSpPr>
          <a:xfrm>
            <a:off x="1038213" y="1371599"/>
            <a:ext cx="10591809" cy="2264565"/>
            <a:chOff x="1563245" y="3007523"/>
            <a:chExt cx="10200139" cy="2264565"/>
          </a:xfrm>
        </p:grpSpPr>
        <p:sp>
          <p:nvSpPr>
            <p:cNvPr id="7" name="Content Placeholder 2"/>
            <p:cNvSpPr txBox="1">
              <a:spLocks/>
            </p:cNvSpPr>
            <p:nvPr/>
          </p:nvSpPr>
          <p:spPr>
            <a:xfrm>
              <a:off x="1563245" y="3007523"/>
              <a:ext cx="10190617" cy="585787"/>
            </a:xfrm>
            <a:prstGeom prst="rect">
              <a:avLst/>
            </a:prstGeom>
            <a:solidFill>
              <a:schemeClr val="accent5">
                <a:lumMod val="7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pPr>
              <a:r>
                <a:rPr lang="en-US" dirty="0" smtClean="0">
                  <a:solidFill>
                    <a:schemeClr val="bg1"/>
                  </a:solidFill>
                </a:rPr>
                <a:t>The Product Rule</a:t>
              </a:r>
              <a:endParaRPr lang="en-US" dirty="0">
                <a:solidFill>
                  <a:schemeClr val="bg1"/>
                </a:solidFill>
              </a:endParaRPr>
            </a:p>
          </p:txBody>
        </p:sp>
        <p:sp>
          <p:nvSpPr>
            <p:cNvPr id="8" name="Content Placeholder 2"/>
            <p:cNvSpPr txBox="1">
              <a:spLocks/>
            </p:cNvSpPr>
            <p:nvPr/>
          </p:nvSpPr>
          <p:spPr>
            <a:xfrm>
              <a:off x="1572767" y="3607599"/>
              <a:ext cx="10190617" cy="1664489"/>
            </a:xfrm>
            <a:prstGeom prst="rect">
              <a:avLst/>
            </a:prstGeom>
            <a:solidFill>
              <a:schemeClr val="accent5">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4000"/>
                </a:lnSpc>
                <a:buNone/>
              </a:pPr>
              <a:r>
                <a:rPr lang="en-US" sz="2400" dirty="0" smtClean="0"/>
                <a:t>Suppose </a:t>
              </a:r>
              <a:r>
                <a:rPr lang="en-US" sz="2400" dirty="0"/>
                <a:t>that a procedure can be broken down into a sequence </a:t>
              </a:r>
              <a:r>
                <a:rPr lang="en-US" sz="2400" dirty="0" smtClean="0"/>
                <a:t>of two </a:t>
              </a:r>
              <a:r>
                <a:rPr lang="en-US" sz="2400" dirty="0"/>
                <a:t>tasks. If there </a:t>
              </a:r>
              <a:r>
                <a:rPr lang="en-US" sz="2400" dirty="0" smtClean="0"/>
                <a:t>are </a:t>
              </a:r>
              <a:r>
                <a:rPr lang="en-US" sz="2400" i="1" dirty="0" smtClean="0"/>
                <a:t>n</a:t>
              </a:r>
              <a:r>
                <a:rPr lang="en-US" sz="2400" i="1" baseline="-25000" dirty="0" smtClean="0"/>
                <a:t>1</a:t>
              </a:r>
              <a:r>
                <a:rPr lang="en-US" sz="2400" i="1" dirty="0" smtClean="0"/>
                <a:t> </a:t>
              </a:r>
              <a:r>
                <a:rPr lang="en-US" sz="2400" dirty="0" smtClean="0"/>
                <a:t>ways </a:t>
              </a:r>
              <a:r>
                <a:rPr lang="en-US" sz="2400" dirty="0"/>
                <a:t>to do the first task and for each of these ways of doing the </a:t>
              </a:r>
              <a:r>
                <a:rPr lang="en-US" sz="2400" dirty="0" smtClean="0"/>
                <a:t>first task</a:t>
              </a:r>
              <a:r>
                <a:rPr lang="en-US" sz="2400" dirty="0"/>
                <a:t>, there </a:t>
              </a:r>
              <a:r>
                <a:rPr lang="en-US" sz="2400" dirty="0" smtClean="0"/>
                <a:t>are </a:t>
              </a:r>
              <a:r>
                <a:rPr lang="en-US" sz="2400" i="1" dirty="0" smtClean="0"/>
                <a:t>n</a:t>
              </a:r>
              <a:r>
                <a:rPr lang="en-US" sz="2400" i="1" baseline="-25000" dirty="0" smtClean="0"/>
                <a:t>2</a:t>
              </a:r>
              <a:r>
                <a:rPr lang="en-US" sz="2400" dirty="0" smtClean="0"/>
                <a:t> ways </a:t>
              </a:r>
              <a:r>
                <a:rPr lang="en-US" sz="2400" dirty="0"/>
                <a:t>to do the second task, then there </a:t>
              </a:r>
              <a:r>
                <a:rPr lang="en-US" sz="2400" dirty="0" smtClean="0"/>
                <a:t>are n</a:t>
              </a:r>
              <a:r>
                <a:rPr lang="en-US" sz="2400" baseline="-25000" dirty="0" smtClean="0"/>
                <a:t>1</a:t>
              </a:r>
              <a:r>
                <a:rPr lang="en-US" sz="2400" dirty="0"/>
                <a:t>.</a:t>
              </a:r>
              <a:r>
                <a:rPr lang="en-US" sz="2400" dirty="0" smtClean="0"/>
                <a:t>n</a:t>
              </a:r>
              <a:r>
                <a:rPr lang="en-US" sz="2400" baseline="-25000" dirty="0" smtClean="0"/>
                <a:t>2</a:t>
              </a:r>
              <a:r>
                <a:rPr lang="en-US" sz="2400" dirty="0" smtClean="0"/>
                <a:t> ways </a:t>
              </a:r>
              <a:r>
                <a:rPr lang="en-US" sz="2400" dirty="0"/>
                <a:t>to do the procedure.</a:t>
              </a:r>
            </a:p>
          </p:txBody>
        </p:sp>
      </p:grpSp>
      <p:sp>
        <p:nvSpPr>
          <p:cNvPr id="10" name="Content Placeholder 2"/>
          <p:cNvSpPr txBox="1">
            <a:spLocks/>
          </p:cNvSpPr>
          <p:nvPr/>
        </p:nvSpPr>
        <p:spPr>
          <a:xfrm>
            <a:off x="1038403" y="3836188"/>
            <a:ext cx="10581921" cy="1042999"/>
          </a:xfrm>
          <a:prstGeom prst="rect">
            <a:avLst/>
          </a:prstGeom>
          <a:ln>
            <a:solidFill>
              <a:schemeClr val="bg1">
                <a:lumMod val="85000"/>
              </a:schemeClr>
            </a:solidFill>
          </a:ln>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sz="2400" b="1" dirty="0">
                <a:solidFill>
                  <a:schemeClr val="bg1">
                    <a:lumMod val="85000"/>
                  </a:schemeClr>
                </a:solidFill>
              </a:rPr>
              <a:t>Product Rule: </a:t>
            </a:r>
            <a:r>
              <a:rPr lang="en-US" sz="2400" dirty="0">
                <a:solidFill>
                  <a:schemeClr val="bg1">
                    <a:lumMod val="85000"/>
                  </a:schemeClr>
                </a:solidFill>
              </a:rPr>
              <a:t>If the events occur one after the other, then all the events can occur in the order indicated in</a:t>
            </a:r>
            <a:r>
              <a:rPr lang="en-US" sz="2400" dirty="0" smtClean="0">
                <a:solidFill>
                  <a:schemeClr val="bg1">
                    <a:lumMod val="85000"/>
                  </a:schemeClr>
                </a:solidFill>
              </a:rPr>
              <a:t>: n1·n2·n3·...</a:t>
            </a:r>
            <a:r>
              <a:rPr lang="en-US" sz="2400" dirty="0">
                <a:solidFill>
                  <a:schemeClr val="bg1">
                    <a:lumMod val="85000"/>
                  </a:schemeClr>
                </a:solidFill>
              </a:rPr>
              <a:t>ways.</a:t>
            </a:r>
          </a:p>
        </p:txBody>
      </p:sp>
      <p:sp>
        <p:nvSpPr>
          <p:cNvPr id="11" name="Content Placeholder 2"/>
          <p:cNvSpPr txBox="1">
            <a:spLocks/>
          </p:cNvSpPr>
          <p:nvPr/>
        </p:nvSpPr>
        <p:spPr>
          <a:xfrm>
            <a:off x="1038402" y="5057784"/>
            <a:ext cx="10581921" cy="1042999"/>
          </a:xfrm>
          <a:prstGeom prst="rect">
            <a:avLst/>
          </a:prstGeom>
          <a:ln>
            <a:solidFill>
              <a:schemeClr val="bg1">
                <a:lumMod val="85000"/>
              </a:schemeClr>
            </a:solidFill>
          </a:ln>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sz="2400" b="1" dirty="0">
                <a:solidFill>
                  <a:schemeClr val="bg1">
                    <a:lumMod val="85000"/>
                  </a:schemeClr>
                </a:solidFill>
              </a:rPr>
              <a:t>Product Rule Principle</a:t>
            </a:r>
            <a:r>
              <a:rPr lang="en-US" sz="2400" b="1" dirty="0" smtClean="0">
                <a:solidFill>
                  <a:schemeClr val="bg1">
                    <a:lumMod val="85000"/>
                  </a:schemeClr>
                </a:solidFill>
              </a:rPr>
              <a:t>: </a:t>
            </a:r>
            <a:r>
              <a:rPr lang="en-US" sz="2400" dirty="0" smtClean="0">
                <a:solidFill>
                  <a:schemeClr val="bg1">
                    <a:lumMod val="85000"/>
                  </a:schemeClr>
                </a:solidFill>
              </a:rPr>
              <a:t>Let A × B be </a:t>
            </a:r>
            <a:r>
              <a:rPr lang="en-US" sz="2400" dirty="0">
                <a:solidFill>
                  <a:schemeClr val="bg1">
                    <a:lumMod val="85000"/>
                  </a:schemeClr>
                </a:solidFill>
              </a:rPr>
              <a:t>the Cartesian product of </a:t>
            </a:r>
            <a:r>
              <a:rPr lang="en-US" sz="2400" dirty="0" smtClean="0">
                <a:solidFill>
                  <a:schemeClr val="bg1">
                    <a:lumMod val="85000"/>
                  </a:schemeClr>
                </a:solidFill>
              </a:rPr>
              <a:t>sets A and B</a:t>
            </a:r>
            <a:r>
              <a:rPr lang="en-US" sz="2400" dirty="0">
                <a:solidFill>
                  <a:schemeClr val="bg1">
                    <a:lumMod val="85000"/>
                  </a:schemeClr>
                </a:solidFill>
              </a:rPr>
              <a:t>. Then</a:t>
            </a:r>
          </a:p>
          <a:p>
            <a:pPr marL="0" indent="0">
              <a:lnSpc>
                <a:spcPct val="100000"/>
              </a:lnSpc>
              <a:spcBef>
                <a:spcPts val="0"/>
              </a:spcBef>
              <a:buNone/>
            </a:pPr>
            <a:r>
              <a:rPr lang="en-US" sz="2400" dirty="0">
                <a:solidFill>
                  <a:schemeClr val="bg1">
                    <a:lumMod val="85000"/>
                  </a:schemeClr>
                </a:solidFill>
              </a:rPr>
              <a:t>n(A×B</a:t>
            </a:r>
            <a:r>
              <a:rPr lang="en-US" sz="2400" dirty="0" smtClean="0">
                <a:solidFill>
                  <a:schemeClr val="bg1">
                    <a:lumMod val="85000"/>
                  </a:schemeClr>
                </a:solidFill>
              </a:rPr>
              <a:t>) = n(A) · n(B</a:t>
            </a:r>
            <a:r>
              <a:rPr lang="en-US" sz="2400" dirty="0">
                <a:solidFill>
                  <a:schemeClr val="bg1">
                    <a:lumMod val="85000"/>
                  </a:schemeClr>
                </a:solidFill>
              </a:rPr>
              <a:t>)</a:t>
            </a:r>
          </a:p>
        </p:txBody>
      </p:sp>
      <p:sp>
        <p:nvSpPr>
          <p:cNvPr id="6" name="Slide Number Placeholder 5"/>
          <p:cNvSpPr>
            <a:spLocks noGrp="1"/>
          </p:cNvSpPr>
          <p:nvPr>
            <p:ph type="sldNum" sz="quarter" idx="12"/>
          </p:nvPr>
        </p:nvSpPr>
        <p:spPr/>
        <p:txBody>
          <a:bodyPr/>
          <a:lstStyle/>
          <a:p>
            <a:fld id="{769106B5-6058-41AF-9CC7-A36880636D59}" type="slidenum">
              <a:rPr lang="en-US" smtClean="0"/>
              <a:pPr/>
              <a:t>7</a:t>
            </a:fld>
            <a:endParaRPr lang="en-US"/>
          </a:p>
        </p:txBody>
      </p:sp>
    </p:spTree>
    <p:extLst>
      <p:ext uri="{BB962C8B-B14F-4D97-AF65-F5344CB8AC3E}">
        <p14:creationId xmlns:p14="http://schemas.microsoft.com/office/powerpoint/2010/main" val="387762328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
            <a:ext cx="12192000" cy="1228725"/>
          </a:xfrm>
          <a:solidFill>
            <a:schemeClr val="accent1">
              <a:lumMod val="50000"/>
            </a:schemeClr>
          </a:solidFill>
        </p:spPr>
        <p:txBody>
          <a:bodyPr>
            <a:normAutofit/>
          </a:bodyPr>
          <a:lstStyle/>
          <a:p>
            <a:pPr algn="ctr"/>
            <a:r>
              <a:rPr lang="en-US" sz="3600" b="1" dirty="0">
                <a:solidFill>
                  <a:schemeClr val="bg1"/>
                </a:solidFill>
                <a:latin typeface="Rockwell" panose="02060603020205020403" pitchFamily="18" charset="0"/>
              </a:rPr>
              <a:t>Basic Counting Principles: THE PRODUCT RULE</a:t>
            </a:r>
          </a:p>
        </p:txBody>
      </p:sp>
      <p:sp>
        <p:nvSpPr>
          <p:cNvPr id="3" name="Content Placeholder 2"/>
          <p:cNvSpPr>
            <a:spLocks noGrp="1"/>
          </p:cNvSpPr>
          <p:nvPr>
            <p:ph idx="1"/>
          </p:nvPr>
        </p:nvSpPr>
        <p:spPr>
          <a:xfrm>
            <a:off x="871539" y="1614491"/>
            <a:ext cx="10915651" cy="4743451"/>
          </a:xfrm>
        </p:spPr>
        <p:txBody>
          <a:bodyPr/>
          <a:lstStyle/>
          <a:p>
            <a:pPr>
              <a:lnSpc>
                <a:spcPct val="114000"/>
              </a:lnSpc>
              <a:spcBef>
                <a:spcPts val="300"/>
              </a:spcBef>
              <a:spcAft>
                <a:spcPts val="300"/>
              </a:spcAft>
            </a:pPr>
            <a:endParaRPr lang="en-US" dirty="0"/>
          </a:p>
          <a:p>
            <a:pPr>
              <a:lnSpc>
                <a:spcPct val="114000"/>
              </a:lnSpc>
              <a:spcBef>
                <a:spcPts val="300"/>
              </a:spcBef>
              <a:spcAft>
                <a:spcPts val="300"/>
              </a:spcAft>
            </a:pPr>
            <a:endParaRPr lang="en-US" dirty="0" smtClean="0"/>
          </a:p>
          <a:p>
            <a:pPr>
              <a:lnSpc>
                <a:spcPct val="114000"/>
              </a:lnSpc>
              <a:spcBef>
                <a:spcPts val="300"/>
              </a:spcBef>
              <a:spcAft>
                <a:spcPts val="300"/>
              </a:spcAft>
            </a:pPr>
            <a:endParaRPr lang="en-US" dirty="0"/>
          </a:p>
          <a:p>
            <a:pPr>
              <a:lnSpc>
                <a:spcPct val="114000"/>
              </a:lnSpc>
              <a:spcBef>
                <a:spcPts val="300"/>
              </a:spcBef>
              <a:spcAft>
                <a:spcPts val="300"/>
              </a:spcAft>
            </a:pPr>
            <a:endParaRPr lang="en-US" dirty="0"/>
          </a:p>
        </p:txBody>
      </p:sp>
      <p:sp>
        <p:nvSpPr>
          <p:cNvPr id="4" name="Rectangle 3"/>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grpSp>
        <p:nvGrpSpPr>
          <p:cNvPr id="9" name="Group 8"/>
          <p:cNvGrpSpPr/>
          <p:nvPr/>
        </p:nvGrpSpPr>
        <p:grpSpPr>
          <a:xfrm>
            <a:off x="1038213" y="1371599"/>
            <a:ext cx="10591809" cy="2264565"/>
            <a:chOff x="1563245" y="3007523"/>
            <a:chExt cx="10200139" cy="2264565"/>
          </a:xfrm>
        </p:grpSpPr>
        <p:sp>
          <p:nvSpPr>
            <p:cNvPr id="7" name="Content Placeholder 2"/>
            <p:cNvSpPr txBox="1">
              <a:spLocks/>
            </p:cNvSpPr>
            <p:nvPr/>
          </p:nvSpPr>
          <p:spPr>
            <a:xfrm>
              <a:off x="1563245" y="3007523"/>
              <a:ext cx="10190617" cy="585787"/>
            </a:xfrm>
            <a:prstGeom prst="rect">
              <a:avLst/>
            </a:prstGeom>
            <a:solidFill>
              <a:schemeClr val="accent5">
                <a:lumMod val="7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pPr>
              <a:r>
                <a:rPr lang="en-US" dirty="0" smtClean="0">
                  <a:solidFill>
                    <a:schemeClr val="bg1"/>
                  </a:solidFill>
                </a:rPr>
                <a:t>The Product Rule</a:t>
              </a:r>
              <a:endParaRPr lang="en-US" dirty="0">
                <a:solidFill>
                  <a:schemeClr val="bg1"/>
                </a:solidFill>
              </a:endParaRPr>
            </a:p>
          </p:txBody>
        </p:sp>
        <p:sp>
          <p:nvSpPr>
            <p:cNvPr id="8" name="Content Placeholder 2"/>
            <p:cNvSpPr txBox="1">
              <a:spLocks/>
            </p:cNvSpPr>
            <p:nvPr/>
          </p:nvSpPr>
          <p:spPr>
            <a:xfrm>
              <a:off x="1572767" y="3607599"/>
              <a:ext cx="10190617" cy="1664489"/>
            </a:xfrm>
            <a:prstGeom prst="rect">
              <a:avLst/>
            </a:prstGeom>
            <a:solidFill>
              <a:schemeClr val="accent5">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4000"/>
                </a:lnSpc>
                <a:buNone/>
              </a:pPr>
              <a:r>
                <a:rPr lang="en-US" sz="2400" dirty="0" smtClean="0"/>
                <a:t>Suppose </a:t>
              </a:r>
              <a:r>
                <a:rPr lang="en-US" sz="2400" dirty="0"/>
                <a:t>that a procedure can be broken down into a sequence </a:t>
              </a:r>
              <a:r>
                <a:rPr lang="en-US" sz="2400" dirty="0" smtClean="0"/>
                <a:t>of two </a:t>
              </a:r>
              <a:r>
                <a:rPr lang="en-US" sz="2400" dirty="0"/>
                <a:t>tasks. If there </a:t>
              </a:r>
              <a:r>
                <a:rPr lang="en-US" sz="2400" dirty="0" smtClean="0"/>
                <a:t>are </a:t>
              </a:r>
              <a:r>
                <a:rPr lang="en-US" sz="2400" i="1" dirty="0" smtClean="0"/>
                <a:t>n</a:t>
              </a:r>
              <a:r>
                <a:rPr lang="en-US" sz="2400" i="1" baseline="-25000" dirty="0" smtClean="0"/>
                <a:t>1</a:t>
              </a:r>
              <a:r>
                <a:rPr lang="en-US" sz="2400" i="1" dirty="0" smtClean="0"/>
                <a:t> </a:t>
              </a:r>
              <a:r>
                <a:rPr lang="en-US" sz="2400" dirty="0" smtClean="0"/>
                <a:t>ways </a:t>
              </a:r>
              <a:r>
                <a:rPr lang="en-US" sz="2400" dirty="0"/>
                <a:t>to do the first task and for each of these ways of doing the </a:t>
              </a:r>
              <a:r>
                <a:rPr lang="en-US" sz="2400" dirty="0" smtClean="0"/>
                <a:t>first task</a:t>
              </a:r>
              <a:r>
                <a:rPr lang="en-US" sz="2400" dirty="0"/>
                <a:t>, there </a:t>
              </a:r>
              <a:r>
                <a:rPr lang="en-US" sz="2400" dirty="0" smtClean="0"/>
                <a:t>are </a:t>
              </a:r>
              <a:r>
                <a:rPr lang="en-US" sz="2400" i="1" dirty="0" smtClean="0"/>
                <a:t>n</a:t>
              </a:r>
              <a:r>
                <a:rPr lang="en-US" sz="2400" i="1" baseline="-25000" dirty="0" smtClean="0"/>
                <a:t>2</a:t>
              </a:r>
              <a:r>
                <a:rPr lang="en-US" sz="2400" dirty="0" smtClean="0"/>
                <a:t> ways </a:t>
              </a:r>
              <a:r>
                <a:rPr lang="en-US" sz="2400" dirty="0"/>
                <a:t>to do the second task, then there </a:t>
              </a:r>
              <a:r>
                <a:rPr lang="en-US" sz="2400" dirty="0" smtClean="0"/>
                <a:t>are n</a:t>
              </a:r>
              <a:r>
                <a:rPr lang="en-US" sz="2400" baseline="-25000" dirty="0" smtClean="0"/>
                <a:t>1</a:t>
              </a:r>
              <a:r>
                <a:rPr lang="en-US" sz="2400" dirty="0"/>
                <a:t>.</a:t>
              </a:r>
              <a:r>
                <a:rPr lang="en-US" sz="2400" dirty="0" smtClean="0"/>
                <a:t>n</a:t>
              </a:r>
              <a:r>
                <a:rPr lang="en-US" sz="2400" baseline="-25000" dirty="0" smtClean="0"/>
                <a:t>2</a:t>
              </a:r>
              <a:r>
                <a:rPr lang="en-US" sz="2400" dirty="0" smtClean="0"/>
                <a:t> ways </a:t>
              </a:r>
              <a:r>
                <a:rPr lang="en-US" sz="2400" dirty="0"/>
                <a:t>to do the procedure.</a:t>
              </a:r>
            </a:p>
          </p:txBody>
        </p:sp>
      </p:grpSp>
      <p:sp>
        <p:nvSpPr>
          <p:cNvPr id="10" name="Content Placeholder 2"/>
          <p:cNvSpPr txBox="1">
            <a:spLocks/>
          </p:cNvSpPr>
          <p:nvPr/>
        </p:nvSpPr>
        <p:spPr>
          <a:xfrm>
            <a:off x="1038403" y="3836188"/>
            <a:ext cx="10581921" cy="1042999"/>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sz="2400" b="1" dirty="0"/>
              <a:t>Product Rule: </a:t>
            </a:r>
            <a:r>
              <a:rPr lang="en-US" sz="2400" dirty="0"/>
              <a:t>If the events occur one after the other, then all the events can occur in the order indicated in</a:t>
            </a:r>
            <a:r>
              <a:rPr lang="en-US" sz="2400" dirty="0" smtClean="0"/>
              <a:t>: n1·n2·n3·...</a:t>
            </a:r>
            <a:r>
              <a:rPr lang="en-US" sz="2400" dirty="0"/>
              <a:t>ways.</a:t>
            </a:r>
          </a:p>
        </p:txBody>
      </p:sp>
      <p:sp>
        <p:nvSpPr>
          <p:cNvPr id="11" name="Content Placeholder 2"/>
          <p:cNvSpPr txBox="1">
            <a:spLocks/>
          </p:cNvSpPr>
          <p:nvPr/>
        </p:nvSpPr>
        <p:spPr>
          <a:xfrm>
            <a:off x="1038402" y="5057784"/>
            <a:ext cx="10581921" cy="1042999"/>
          </a:xfrm>
          <a:prstGeom prst="rect">
            <a:avLst/>
          </a:prstGeom>
          <a:ln>
            <a:solidFill>
              <a:schemeClr val="bg1">
                <a:lumMod val="85000"/>
              </a:schemeClr>
            </a:solidFill>
          </a:ln>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sz="2400" b="1" dirty="0">
                <a:solidFill>
                  <a:schemeClr val="bg1">
                    <a:lumMod val="85000"/>
                  </a:schemeClr>
                </a:solidFill>
              </a:rPr>
              <a:t>Product Rule Principle</a:t>
            </a:r>
            <a:r>
              <a:rPr lang="en-US" sz="2400" b="1" dirty="0" smtClean="0">
                <a:solidFill>
                  <a:schemeClr val="bg1">
                    <a:lumMod val="85000"/>
                  </a:schemeClr>
                </a:solidFill>
              </a:rPr>
              <a:t>: </a:t>
            </a:r>
            <a:r>
              <a:rPr lang="en-US" sz="2400" dirty="0" smtClean="0">
                <a:solidFill>
                  <a:schemeClr val="bg1">
                    <a:lumMod val="85000"/>
                  </a:schemeClr>
                </a:solidFill>
              </a:rPr>
              <a:t>Let A × B be </a:t>
            </a:r>
            <a:r>
              <a:rPr lang="en-US" sz="2400" dirty="0">
                <a:solidFill>
                  <a:schemeClr val="bg1">
                    <a:lumMod val="85000"/>
                  </a:schemeClr>
                </a:solidFill>
              </a:rPr>
              <a:t>the Cartesian product of </a:t>
            </a:r>
            <a:r>
              <a:rPr lang="en-US" sz="2400" dirty="0" smtClean="0">
                <a:solidFill>
                  <a:schemeClr val="bg1">
                    <a:lumMod val="85000"/>
                  </a:schemeClr>
                </a:solidFill>
              </a:rPr>
              <a:t>sets A and B</a:t>
            </a:r>
            <a:r>
              <a:rPr lang="en-US" sz="2400" dirty="0">
                <a:solidFill>
                  <a:schemeClr val="bg1">
                    <a:lumMod val="85000"/>
                  </a:schemeClr>
                </a:solidFill>
              </a:rPr>
              <a:t>. Then</a:t>
            </a:r>
          </a:p>
          <a:p>
            <a:pPr marL="0" indent="0">
              <a:lnSpc>
                <a:spcPct val="100000"/>
              </a:lnSpc>
              <a:spcBef>
                <a:spcPts val="0"/>
              </a:spcBef>
              <a:buNone/>
            </a:pPr>
            <a:r>
              <a:rPr lang="en-US" sz="2400" dirty="0">
                <a:solidFill>
                  <a:schemeClr val="bg1">
                    <a:lumMod val="85000"/>
                  </a:schemeClr>
                </a:solidFill>
              </a:rPr>
              <a:t>n(A×B</a:t>
            </a:r>
            <a:r>
              <a:rPr lang="en-US" sz="2400" dirty="0" smtClean="0">
                <a:solidFill>
                  <a:schemeClr val="bg1">
                    <a:lumMod val="85000"/>
                  </a:schemeClr>
                </a:solidFill>
              </a:rPr>
              <a:t>) = n(A) · n(B</a:t>
            </a:r>
            <a:r>
              <a:rPr lang="en-US" sz="2400" dirty="0">
                <a:solidFill>
                  <a:schemeClr val="bg1">
                    <a:lumMod val="85000"/>
                  </a:schemeClr>
                </a:solidFill>
              </a:rPr>
              <a:t>)</a:t>
            </a:r>
          </a:p>
        </p:txBody>
      </p:sp>
      <p:sp>
        <p:nvSpPr>
          <p:cNvPr id="6" name="Slide Number Placeholder 5"/>
          <p:cNvSpPr>
            <a:spLocks noGrp="1"/>
          </p:cNvSpPr>
          <p:nvPr>
            <p:ph type="sldNum" sz="quarter" idx="12"/>
          </p:nvPr>
        </p:nvSpPr>
        <p:spPr/>
        <p:txBody>
          <a:bodyPr/>
          <a:lstStyle/>
          <a:p>
            <a:fld id="{769106B5-6058-41AF-9CC7-A36880636D59}" type="slidenum">
              <a:rPr lang="en-US" smtClean="0"/>
              <a:pPr/>
              <a:t>8</a:t>
            </a:fld>
            <a:endParaRPr lang="en-US"/>
          </a:p>
        </p:txBody>
      </p:sp>
    </p:spTree>
    <p:extLst>
      <p:ext uri="{BB962C8B-B14F-4D97-AF65-F5344CB8AC3E}">
        <p14:creationId xmlns:p14="http://schemas.microsoft.com/office/powerpoint/2010/main" val="181620285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
            <a:ext cx="12192000" cy="1228725"/>
          </a:xfrm>
          <a:solidFill>
            <a:schemeClr val="accent1">
              <a:lumMod val="50000"/>
            </a:schemeClr>
          </a:solidFill>
        </p:spPr>
        <p:txBody>
          <a:bodyPr>
            <a:normAutofit/>
          </a:bodyPr>
          <a:lstStyle/>
          <a:p>
            <a:pPr algn="ctr"/>
            <a:r>
              <a:rPr lang="en-US" sz="3600" b="1" dirty="0">
                <a:solidFill>
                  <a:schemeClr val="bg1"/>
                </a:solidFill>
                <a:latin typeface="Rockwell" panose="02060603020205020403" pitchFamily="18" charset="0"/>
              </a:rPr>
              <a:t>Basic Counting Principles: THE PRODUCT RULE</a:t>
            </a:r>
          </a:p>
        </p:txBody>
      </p:sp>
      <p:sp>
        <p:nvSpPr>
          <p:cNvPr id="3" name="Content Placeholder 2"/>
          <p:cNvSpPr>
            <a:spLocks noGrp="1"/>
          </p:cNvSpPr>
          <p:nvPr>
            <p:ph idx="1"/>
          </p:nvPr>
        </p:nvSpPr>
        <p:spPr>
          <a:xfrm>
            <a:off x="871539" y="1614491"/>
            <a:ext cx="10915651" cy="4743451"/>
          </a:xfrm>
        </p:spPr>
        <p:txBody>
          <a:bodyPr/>
          <a:lstStyle/>
          <a:p>
            <a:pPr>
              <a:lnSpc>
                <a:spcPct val="114000"/>
              </a:lnSpc>
              <a:spcBef>
                <a:spcPts val="300"/>
              </a:spcBef>
              <a:spcAft>
                <a:spcPts val="300"/>
              </a:spcAft>
            </a:pPr>
            <a:endParaRPr lang="en-US" dirty="0"/>
          </a:p>
          <a:p>
            <a:pPr>
              <a:lnSpc>
                <a:spcPct val="114000"/>
              </a:lnSpc>
              <a:spcBef>
                <a:spcPts val="300"/>
              </a:spcBef>
              <a:spcAft>
                <a:spcPts val="300"/>
              </a:spcAft>
            </a:pPr>
            <a:endParaRPr lang="en-US" dirty="0" smtClean="0"/>
          </a:p>
          <a:p>
            <a:pPr>
              <a:lnSpc>
                <a:spcPct val="114000"/>
              </a:lnSpc>
              <a:spcBef>
                <a:spcPts val="300"/>
              </a:spcBef>
              <a:spcAft>
                <a:spcPts val="300"/>
              </a:spcAft>
            </a:pPr>
            <a:endParaRPr lang="en-US" dirty="0"/>
          </a:p>
          <a:p>
            <a:pPr>
              <a:lnSpc>
                <a:spcPct val="114000"/>
              </a:lnSpc>
              <a:spcBef>
                <a:spcPts val="300"/>
              </a:spcBef>
              <a:spcAft>
                <a:spcPts val="300"/>
              </a:spcAft>
            </a:pPr>
            <a:endParaRPr lang="en-US" dirty="0"/>
          </a:p>
        </p:txBody>
      </p:sp>
      <p:sp>
        <p:nvSpPr>
          <p:cNvPr id="4" name="Rectangle 3"/>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grpSp>
        <p:nvGrpSpPr>
          <p:cNvPr id="9" name="Group 8"/>
          <p:cNvGrpSpPr/>
          <p:nvPr/>
        </p:nvGrpSpPr>
        <p:grpSpPr>
          <a:xfrm>
            <a:off x="1038213" y="1371599"/>
            <a:ext cx="10591809" cy="2264565"/>
            <a:chOff x="1563245" y="3007523"/>
            <a:chExt cx="10200139" cy="2264565"/>
          </a:xfrm>
        </p:grpSpPr>
        <p:sp>
          <p:nvSpPr>
            <p:cNvPr id="7" name="Content Placeholder 2"/>
            <p:cNvSpPr txBox="1">
              <a:spLocks/>
            </p:cNvSpPr>
            <p:nvPr/>
          </p:nvSpPr>
          <p:spPr>
            <a:xfrm>
              <a:off x="1563245" y="3007523"/>
              <a:ext cx="10190617" cy="585787"/>
            </a:xfrm>
            <a:prstGeom prst="rect">
              <a:avLst/>
            </a:prstGeom>
            <a:solidFill>
              <a:schemeClr val="accent5">
                <a:lumMod val="7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pPr>
              <a:r>
                <a:rPr lang="en-US" dirty="0" smtClean="0">
                  <a:solidFill>
                    <a:schemeClr val="bg1"/>
                  </a:solidFill>
                </a:rPr>
                <a:t>The Product Rule</a:t>
              </a:r>
              <a:endParaRPr lang="en-US" dirty="0">
                <a:solidFill>
                  <a:schemeClr val="bg1"/>
                </a:solidFill>
              </a:endParaRPr>
            </a:p>
          </p:txBody>
        </p:sp>
        <p:sp>
          <p:nvSpPr>
            <p:cNvPr id="8" name="Content Placeholder 2"/>
            <p:cNvSpPr txBox="1">
              <a:spLocks/>
            </p:cNvSpPr>
            <p:nvPr/>
          </p:nvSpPr>
          <p:spPr>
            <a:xfrm>
              <a:off x="1572767" y="3607599"/>
              <a:ext cx="10190617" cy="1664489"/>
            </a:xfrm>
            <a:prstGeom prst="rect">
              <a:avLst/>
            </a:prstGeom>
            <a:solidFill>
              <a:schemeClr val="accent5">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4000"/>
                </a:lnSpc>
                <a:buNone/>
              </a:pPr>
              <a:r>
                <a:rPr lang="en-US" sz="2400" dirty="0" smtClean="0"/>
                <a:t>Suppose </a:t>
              </a:r>
              <a:r>
                <a:rPr lang="en-US" sz="2400" dirty="0"/>
                <a:t>that a procedure can be broken down into a sequence </a:t>
              </a:r>
              <a:r>
                <a:rPr lang="en-US" sz="2400" dirty="0" smtClean="0"/>
                <a:t>of two </a:t>
              </a:r>
              <a:r>
                <a:rPr lang="en-US" sz="2400" dirty="0"/>
                <a:t>tasks. If there </a:t>
              </a:r>
              <a:r>
                <a:rPr lang="en-US" sz="2400" dirty="0" smtClean="0"/>
                <a:t>are </a:t>
              </a:r>
              <a:r>
                <a:rPr lang="en-US" sz="2400" i="1" dirty="0" smtClean="0"/>
                <a:t>n</a:t>
              </a:r>
              <a:r>
                <a:rPr lang="en-US" sz="2400" i="1" baseline="-25000" dirty="0" smtClean="0"/>
                <a:t>1</a:t>
              </a:r>
              <a:r>
                <a:rPr lang="en-US" sz="2400" i="1" dirty="0" smtClean="0"/>
                <a:t> </a:t>
              </a:r>
              <a:r>
                <a:rPr lang="en-US" sz="2400" dirty="0" smtClean="0"/>
                <a:t>ways </a:t>
              </a:r>
              <a:r>
                <a:rPr lang="en-US" sz="2400" dirty="0"/>
                <a:t>to do the first task and for each of these ways of doing the </a:t>
              </a:r>
              <a:r>
                <a:rPr lang="en-US" sz="2400" dirty="0" smtClean="0"/>
                <a:t>first task</a:t>
              </a:r>
              <a:r>
                <a:rPr lang="en-US" sz="2400" dirty="0"/>
                <a:t>, there </a:t>
              </a:r>
              <a:r>
                <a:rPr lang="en-US" sz="2400" dirty="0" smtClean="0"/>
                <a:t>are </a:t>
              </a:r>
              <a:r>
                <a:rPr lang="en-US" sz="2400" i="1" dirty="0" smtClean="0"/>
                <a:t>n</a:t>
              </a:r>
              <a:r>
                <a:rPr lang="en-US" sz="2400" i="1" baseline="-25000" dirty="0" smtClean="0"/>
                <a:t>2</a:t>
              </a:r>
              <a:r>
                <a:rPr lang="en-US" sz="2400" dirty="0" smtClean="0"/>
                <a:t> ways </a:t>
              </a:r>
              <a:r>
                <a:rPr lang="en-US" sz="2400" dirty="0"/>
                <a:t>to do the second task, then there </a:t>
              </a:r>
              <a:r>
                <a:rPr lang="en-US" sz="2400" dirty="0" smtClean="0"/>
                <a:t>are n</a:t>
              </a:r>
              <a:r>
                <a:rPr lang="en-US" sz="2400" baseline="-25000" dirty="0" smtClean="0"/>
                <a:t>1</a:t>
              </a:r>
              <a:r>
                <a:rPr lang="en-US" sz="2400" dirty="0"/>
                <a:t>.</a:t>
              </a:r>
              <a:r>
                <a:rPr lang="en-US" sz="2400" dirty="0" smtClean="0"/>
                <a:t>n</a:t>
              </a:r>
              <a:r>
                <a:rPr lang="en-US" sz="2400" baseline="-25000" dirty="0" smtClean="0"/>
                <a:t>2</a:t>
              </a:r>
              <a:r>
                <a:rPr lang="en-US" sz="2400" dirty="0" smtClean="0"/>
                <a:t> ways </a:t>
              </a:r>
              <a:r>
                <a:rPr lang="en-US" sz="2400" dirty="0"/>
                <a:t>to do the procedure.</a:t>
              </a:r>
            </a:p>
          </p:txBody>
        </p:sp>
      </p:grpSp>
      <p:sp>
        <p:nvSpPr>
          <p:cNvPr id="10" name="Content Placeholder 2"/>
          <p:cNvSpPr txBox="1">
            <a:spLocks/>
          </p:cNvSpPr>
          <p:nvPr/>
        </p:nvSpPr>
        <p:spPr>
          <a:xfrm>
            <a:off x="1038403" y="3836188"/>
            <a:ext cx="10581921" cy="1042999"/>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sz="2400" b="1" dirty="0"/>
              <a:t>Product Rule: </a:t>
            </a:r>
            <a:r>
              <a:rPr lang="en-US" sz="2400" dirty="0"/>
              <a:t>If the events occur one after the other, then all the events can occur in the order indicated in</a:t>
            </a:r>
            <a:r>
              <a:rPr lang="en-US" sz="2400" dirty="0" smtClean="0"/>
              <a:t>: n1·n2·n3·...</a:t>
            </a:r>
            <a:r>
              <a:rPr lang="en-US" sz="2400" dirty="0"/>
              <a:t>ways.</a:t>
            </a:r>
          </a:p>
        </p:txBody>
      </p:sp>
      <p:sp>
        <p:nvSpPr>
          <p:cNvPr id="11" name="Content Placeholder 2"/>
          <p:cNvSpPr txBox="1">
            <a:spLocks/>
          </p:cNvSpPr>
          <p:nvPr/>
        </p:nvSpPr>
        <p:spPr>
          <a:xfrm>
            <a:off x="1038402" y="5057784"/>
            <a:ext cx="10581921" cy="1042999"/>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sz="2400" b="1" dirty="0"/>
              <a:t>Product Rule Principle</a:t>
            </a:r>
            <a:r>
              <a:rPr lang="en-US" sz="2400" b="1" dirty="0" smtClean="0"/>
              <a:t>: </a:t>
            </a:r>
            <a:r>
              <a:rPr lang="en-US" sz="2400" dirty="0" smtClean="0"/>
              <a:t>Let A × B be </a:t>
            </a:r>
            <a:r>
              <a:rPr lang="en-US" sz="2400" dirty="0"/>
              <a:t>the Cartesian product of </a:t>
            </a:r>
            <a:r>
              <a:rPr lang="en-US" sz="2400" dirty="0" smtClean="0"/>
              <a:t>sets A and B</a:t>
            </a:r>
            <a:r>
              <a:rPr lang="en-US" sz="2400" dirty="0"/>
              <a:t>. Then</a:t>
            </a:r>
          </a:p>
          <a:p>
            <a:pPr marL="0" indent="0">
              <a:lnSpc>
                <a:spcPct val="100000"/>
              </a:lnSpc>
              <a:spcBef>
                <a:spcPts val="0"/>
              </a:spcBef>
              <a:buNone/>
            </a:pPr>
            <a:r>
              <a:rPr lang="en-US" sz="2400" dirty="0"/>
              <a:t>n(A×B</a:t>
            </a:r>
            <a:r>
              <a:rPr lang="en-US" sz="2400" dirty="0" smtClean="0"/>
              <a:t>) = n(A) · n(B</a:t>
            </a:r>
            <a:r>
              <a:rPr lang="en-US" sz="2400" dirty="0"/>
              <a:t>)</a:t>
            </a:r>
          </a:p>
        </p:txBody>
      </p:sp>
      <p:sp>
        <p:nvSpPr>
          <p:cNvPr id="6" name="Slide Number Placeholder 5"/>
          <p:cNvSpPr>
            <a:spLocks noGrp="1"/>
          </p:cNvSpPr>
          <p:nvPr>
            <p:ph type="sldNum" sz="quarter" idx="12"/>
          </p:nvPr>
        </p:nvSpPr>
        <p:spPr/>
        <p:txBody>
          <a:bodyPr/>
          <a:lstStyle/>
          <a:p>
            <a:fld id="{769106B5-6058-41AF-9CC7-A36880636D59}" type="slidenum">
              <a:rPr lang="en-US" smtClean="0"/>
              <a:pPr/>
              <a:t>9</a:t>
            </a:fld>
            <a:endParaRPr lang="en-US"/>
          </a:p>
        </p:txBody>
      </p:sp>
    </p:spTree>
    <p:extLst>
      <p:ext uri="{BB962C8B-B14F-4D97-AF65-F5344CB8AC3E}">
        <p14:creationId xmlns:p14="http://schemas.microsoft.com/office/powerpoint/2010/main" val="262345062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
            <a:ext cx="12192000" cy="900110"/>
          </a:xfrm>
          <a:solidFill>
            <a:schemeClr val="accent1">
              <a:lumMod val="50000"/>
            </a:schemeClr>
          </a:solidFill>
        </p:spPr>
        <p:txBody>
          <a:bodyPr>
            <a:normAutofit fontScale="90000"/>
          </a:bodyPr>
          <a:lstStyle/>
          <a:p>
            <a:pPr algn="ctr">
              <a:lnSpc>
                <a:spcPct val="114000"/>
              </a:lnSpc>
            </a:pPr>
            <a:r>
              <a:rPr lang="en-US" sz="4800" b="1" dirty="0">
                <a:solidFill>
                  <a:schemeClr val="bg1"/>
                </a:solidFill>
              </a:rPr>
              <a:t>The </a:t>
            </a:r>
            <a:r>
              <a:rPr lang="en-US" sz="4800" b="1" dirty="0" smtClean="0">
                <a:solidFill>
                  <a:schemeClr val="bg1"/>
                </a:solidFill>
              </a:rPr>
              <a:t>Product Rule : Example</a:t>
            </a:r>
            <a:endParaRPr lang="en-US" sz="4800" b="1" dirty="0">
              <a:solidFill>
                <a:schemeClr val="bg1"/>
              </a:solidFill>
            </a:endParaRPr>
          </a:p>
        </p:txBody>
      </p:sp>
      <p:sp>
        <p:nvSpPr>
          <p:cNvPr id="3" name="Content Placeholder 2"/>
          <p:cNvSpPr>
            <a:spLocks noGrp="1"/>
          </p:cNvSpPr>
          <p:nvPr>
            <p:ph idx="1"/>
          </p:nvPr>
        </p:nvSpPr>
        <p:spPr>
          <a:xfrm>
            <a:off x="871539" y="1614491"/>
            <a:ext cx="10915651" cy="4743451"/>
          </a:xfrm>
        </p:spPr>
        <p:txBody>
          <a:bodyPr/>
          <a:lstStyle/>
          <a:p>
            <a:pPr>
              <a:lnSpc>
                <a:spcPct val="114000"/>
              </a:lnSpc>
              <a:spcBef>
                <a:spcPts val="300"/>
              </a:spcBef>
              <a:spcAft>
                <a:spcPts val="300"/>
              </a:spcAft>
            </a:pPr>
            <a:endParaRPr lang="en-US" dirty="0"/>
          </a:p>
          <a:p>
            <a:pPr>
              <a:lnSpc>
                <a:spcPct val="114000"/>
              </a:lnSpc>
              <a:spcBef>
                <a:spcPts val="300"/>
              </a:spcBef>
              <a:spcAft>
                <a:spcPts val="300"/>
              </a:spcAft>
            </a:pPr>
            <a:endParaRPr lang="en-US" dirty="0" smtClean="0"/>
          </a:p>
          <a:p>
            <a:pPr>
              <a:lnSpc>
                <a:spcPct val="114000"/>
              </a:lnSpc>
              <a:spcBef>
                <a:spcPts val="300"/>
              </a:spcBef>
              <a:spcAft>
                <a:spcPts val="300"/>
              </a:spcAft>
            </a:pPr>
            <a:endParaRPr lang="en-US" dirty="0"/>
          </a:p>
          <a:p>
            <a:pPr>
              <a:lnSpc>
                <a:spcPct val="114000"/>
              </a:lnSpc>
              <a:spcBef>
                <a:spcPts val="300"/>
              </a:spcBef>
              <a:spcAft>
                <a:spcPts val="300"/>
              </a:spcAft>
            </a:pPr>
            <a:endParaRPr lang="en-US" dirty="0"/>
          </a:p>
        </p:txBody>
      </p:sp>
      <p:sp>
        <p:nvSpPr>
          <p:cNvPr id="4" name="Rectangle 3"/>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sp>
        <p:nvSpPr>
          <p:cNvPr id="6" name="Content Placeholder 2"/>
          <p:cNvSpPr txBox="1">
            <a:spLocks/>
          </p:cNvSpPr>
          <p:nvPr/>
        </p:nvSpPr>
        <p:spPr>
          <a:xfrm>
            <a:off x="1038213" y="1371599"/>
            <a:ext cx="10581921" cy="1228726"/>
          </a:xfrm>
          <a:prstGeom prst="rect">
            <a:avLst/>
          </a:prstGeom>
          <a:solidFill>
            <a:schemeClr val="accent5">
              <a:lumMod val="75000"/>
            </a:schemeClr>
          </a:solidFill>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4000"/>
              </a:lnSpc>
              <a:buNone/>
            </a:pPr>
            <a:r>
              <a:rPr lang="en-US" dirty="0" smtClean="0">
                <a:solidFill>
                  <a:schemeClr val="bg1"/>
                </a:solidFill>
              </a:rPr>
              <a:t>Problem </a:t>
            </a:r>
            <a:r>
              <a:rPr lang="en-US" dirty="0">
                <a:solidFill>
                  <a:schemeClr val="bg1"/>
                </a:solidFill>
              </a:rPr>
              <a:t>: How many different license plates can be made if each plate contains a sequence of </a:t>
            </a:r>
            <a:r>
              <a:rPr lang="en-US" dirty="0" smtClean="0">
                <a:solidFill>
                  <a:schemeClr val="bg1"/>
                </a:solidFill>
              </a:rPr>
              <a:t>three uppercase </a:t>
            </a:r>
            <a:r>
              <a:rPr lang="en-US" dirty="0">
                <a:solidFill>
                  <a:schemeClr val="bg1"/>
                </a:solidFill>
              </a:rPr>
              <a:t>English letters followed by three </a:t>
            </a:r>
            <a:r>
              <a:rPr lang="en-US" dirty="0" smtClean="0">
                <a:solidFill>
                  <a:schemeClr val="bg1"/>
                </a:solidFill>
              </a:rPr>
              <a:t>digits.</a:t>
            </a:r>
            <a:endParaRPr lang="en-US" dirty="0">
              <a:solidFill>
                <a:schemeClr val="bg1"/>
              </a:solidFill>
            </a:endParaRPr>
          </a:p>
        </p:txBody>
      </p:sp>
      <p:sp>
        <p:nvSpPr>
          <p:cNvPr id="7" name="Content Placeholder 2"/>
          <p:cNvSpPr txBox="1">
            <a:spLocks/>
          </p:cNvSpPr>
          <p:nvPr/>
        </p:nvSpPr>
        <p:spPr>
          <a:xfrm>
            <a:off x="1048101" y="2686060"/>
            <a:ext cx="10581921" cy="1664489"/>
          </a:xfrm>
          <a:prstGeom prst="rect">
            <a:avLst/>
          </a:prstGeom>
          <a:solidFill>
            <a:schemeClr val="accent5">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4000"/>
              </a:lnSpc>
              <a:buNone/>
            </a:pPr>
            <a:r>
              <a:rPr lang="en-US" sz="2400" b="1" i="1" dirty="0" smtClean="0"/>
              <a:t>Solution:</a:t>
            </a:r>
            <a:r>
              <a:rPr lang="en-US" sz="2400" i="1" dirty="0"/>
              <a:t> There are 26 choices for each of the three uppercase English letters and ten choices </a:t>
            </a:r>
            <a:r>
              <a:rPr lang="en-US" sz="2400" i="1" dirty="0" smtClean="0"/>
              <a:t>for each </a:t>
            </a:r>
            <a:r>
              <a:rPr lang="en-US" sz="2400" i="1" dirty="0"/>
              <a:t>of the three digits. Hence, by the product rule there are a total of </a:t>
            </a:r>
            <a:r>
              <a:rPr lang="en-US" sz="2400" i="1" dirty="0" smtClean="0"/>
              <a:t>26·26·26·10·10·10 = 17,576,000 </a:t>
            </a:r>
            <a:r>
              <a:rPr lang="en-US" sz="2400" i="1" dirty="0"/>
              <a:t>possible license plates. </a:t>
            </a:r>
          </a:p>
        </p:txBody>
      </p:sp>
      <p:sp>
        <p:nvSpPr>
          <p:cNvPr id="9" name="Slide Number Placeholder 8"/>
          <p:cNvSpPr>
            <a:spLocks noGrp="1"/>
          </p:cNvSpPr>
          <p:nvPr>
            <p:ph type="sldNum" sz="quarter" idx="12"/>
          </p:nvPr>
        </p:nvSpPr>
        <p:spPr/>
        <p:txBody>
          <a:bodyPr/>
          <a:lstStyle/>
          <a:p>
            <a:fld id="{769106B5-6058-41AF-9CC7-A36880636D59}" type="slidenum">
              <a:rPr lang="en-US" smtClean="0"/>
              <a:pPr/>
              <a:t>10</a:t>
            </a:fld>
            <a:endParaRPr lang="en-US"/>
          </a:p>
        </p:txBody>
      </p:sp>
    </p:spTree>
    <p:extLst>
      <p:ext uri="{BB962C8B-B14F-4D97-AF65-F5344CB8AC3E}">
        <p14:creationId xmlns:p14="http://schemas.microsoft.com/office/powerpoint/2010/main" val="321681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
            <a:ext cx="12192000" cy="900110"/>
          </a:xfrm>
          <a:solidFill>
            <a:schemeClr val="accent1">
              <a:lumMod val="50000"/>
            </a:schemeClr>
          </a:solidFill>
        </p:spPr>
        <p:txBody>
          <a:bodyPr>
            <a:normAutofit fontScale="90000"/>
          </a:bodyPr>
          <a:lstStyle/>
          <a:p>
            <a:pPr algn="ctr">
              <a:lnSpc>
                <a:spcPct val="114000"/>
              </a:lnSpc>
            </a:pPr>
            <a:r>
              <a:rPr lang="en-US" sz="4800" b="1" dirty="0">
                <a:solidFill>
                  <a:schemeClr val="bg1"/>
                </a:solidFill>
              </a:rPr>
              <a:t>The </a:t>
            </a:r>
            <a:r>
              <a:rPr lang="en-US" sz="4800" b="1" dirty="0" smtClean="0">
                <a:solidFill>
                  <a:schemeClr val="bg1"/>
                </a:solidFill>
              </a:rPr>
              <a:t>Product Rule : Example</a:t>
            </a:r>
            <a:endParaRPr lang="en-US" sz="4800" b="1" dirty="0">
              <a:solidFill>
                <a:schemeClr val="bg1"/>
              </a:solidFill>
            </a:endParaRPr>
          </a:p>
        </p:txBody>
      </p:sp>
      <p:sp>
        <p:nvSpPr>
          <p:cNvPr id="3" name="Content Placeholder 2"/>
          <p:cNvSpPr>
            <a:spLocks noGrp="1"/>
          </p:cNvSpPr>
          <p:nvPr>
            <p:ph idx="1"/>
          </p:nvPr>
        </p:nvSpPr>
        <p:spPr>
          <a:xfrm>
            <a:off x="871539" y="1614491"/>
            <a:ext cx="10915651" cy="4743451"/>
          </a:xfrm>
        </p:spPr>
        <p:txBody>
          <a:bodyPr/>
          <a:lstStyle/>
          <a:p>
            <a:pPr>
              <a:lnSpc>
                <a:spcPct val="114000"/>
              </a:lnSpc>
              <a:spcBef>
                <a:spcPts val="300"/>
              </a:spcBef>
              <a:spcAft>
                <a:spcPts val="300"/>
              </a:spcAft>
            </a:pPr>
            <a:endParaRPr lang="en-US" dirty="0"/>
          </a:p>
          <a:p>
            <a:pPr>
              <a:lnSpc>
                <a:spcPct val="114000"/>
              </a:lnSpc>
              <a:spcBef>
                <a:spcPts val="300"/>
              </a:spcBef>
              <a:spcAft>
                <a:spcPts val="300"/>
              </a:spcAft>
            </a:pPr>
            <a:endParaRPr lang="en-US" dirty="0" smtClean="0"/>
          </a:p>
          <a:p>
            <a:pPr>
              <a:lnSpc>
                <a:spcPct val="114000"/>
              </a:lnSpc>
              <a:spcBef>
                <a:spcPts val="300"/>
              </a:spcBef>
              <a:spcAft>
                <a:spcPts val="300"/>
              </a:spcAft>
            </a:pPr>
            <a:endParaRPr lang="en-US" dirty="0"/>
          </a:p>
          <a:p>
            <a:pPr>
              <a:lnSpc>
                <a:spcPct val="114000"/>
              </a:lnSpc>
              <a:spcBef>
                <a:spcPts val="300"/>
              </a:spcBef>
              <a:spcAft>
                <a:spcPts val="300"/>
              </a:spcAft>
            </a:pPr>
            <a:endParaRPr lang="en-US" dirty="0"/>
          </a:p>
        </p:txBody>
      </p:sp>
      <p:sp>
        <p:nvSpPr>
          <p:cNvPr id="4" name="Rectangle 3"/>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grpSp>
        <p:nvGrpSpPr>
          <p:cNvPr id="5" name="Group 4"/>
          <p:cNvGrpSpPr/>
          <p:nvPr/>
        </p:nvGrpSpPr>
        <p:grpSpPr>
          <a:xfrm>
            <a:off x="1038213" y="1371599"/>
            <a:ext cx="10591809" cy="2978950"/>
            <a:chOff x="1563245" y="3007523"/>
            <a:chExt cx="10200139" cy="2978950"/>
          </a:xfrm>
        </p:grpSpPr>
        <p:sp>
          <p:nvSpPr>
            <p:cNvPr id="6" name="Content Placeholder 2"/>
            <p:cNvSpPr txBox="1">
              <a:spLocks/>
            </p:cNvSpPr>
            <p:nvPr/>
          </p:nvSpPr>
          <p:spPr>
            <a:xfrm>
              <a:off x="1563245" y="3007523"/>
              <a:ext cx="10190617" cy="1228726"/>
            </a:xfrm>
            <a:prstGeom prst="rect">
              <a:avLst/>
            </a:prstGeom>
            <a:solidFill>
              <a:schemeClr val="accent5">
                <a:lumMod val="75000"/>
              </a:schemeClr>
            </a:solidFill>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pPr>
              <a:r>
                <a:rPr lang="en-US" b="1" i="1" dirty="0">
                  <a:solidFill>
                    <a:schemeClr val="bg1"/>
                  </a:solidFill>
                </a:rPr>
                <a:t>Problem </a:t>
              </a:r>
              <a:r>
                <a:rPr lang="en-US" dirty="0">
                  <a:solidFill>
                    <a:schemeClr val="bg1"/>
                  </a:solidFill>
                </a:rPr>
                <a:t>: </a:t>
              </a:r>
              <a:r>
                <a:rPr lang="en-US" sz="2600" dirty="0">
                  <a:solidFill>
                    <a:schemeClr val="bg1"/>
                  </a:solidFill>
                </a:rPr>
                <a:t>Suppose a college has 3 different history courses, 4 different literature courses, and 2 different sociology courses. What is the number of ways a student can choose just one of </a:t>
              </a:r>
              <a:r>
                <a:rPr lang="en-US" sz="2600" dirty="0" smtClean="0">
                  <a:solidFill>
                    <a:schemeClr val="bg1"/>
                  </a:solidFill>
                </a:rPr>
                <a:t>each kind of </a:t>
              </a:r>
              <a:r>
                <a:rPr lang="en-US" sz="2600" dirty="0">
                  <a:solidFill>
                    <a:schemeClr val="bg1"/>
                  </a:solidFill>
                </a:rPr>
                <a:t>courses?</a:t>
              </a:r>
            </a:p>
          </p:txBody>
        </p:sp>
        <p:sp>
          <p:nvSpPr>
            <p:cNvPr id="7" name="Content Placeholder 2"/>
            <p:cNvSpPr txBox="1">
              <a:spLocks/>
            </p:cNvSpPr>
            <p:nvPr/>
          </p:nvSpPr>
          <p:spPr>
            <a:xfrm>
              <a:off x="1572767" y="4321984"/>
              <a:ext cx="10190617" cy="1664489"/>
            </a:xfrm>
            <a:prstGeom prst="rect">
              <a:avLst/>
            </a:prstGeom>
            <a:solidFill>
              <a:schemeClr val="accent5">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4000"/>
                </a:lnSpc>
                <a:buNone/>
              </a:pPr>
              <a:r>
                <a:rPr lang="en-US" sz="2400" i="1" dirty="0" smtClean="0"/>
                <a:t>Solution:  </a:t>
              </a:r>
              <a:endParaRPr lang="en-US" sz="2400" i="1" dirty="0"/>
            </a:p>
          </p:txBody>
        </p:sp>
      </p:grpSp>
      <p:sp>
        <p:nvSpPr>
          <p:cNvPr id="9" name="Slide Number Placeholder 8"/>
          <p:cNvSpPr>
            <a:spLocks noGrp="1"/>
          </p:cNvSpPr>
          <p:nvPr>
            <p:ph type="sldNum" sz="quarter" idx="12"/>
          </p:nvPr>
        </p:nvSpPr>
        <p:spPr/>
        <p:txBody>
          <a:bodyPr/>
          <a:lstStyle/>
          <a:p>
            <a:fld id="{769106B5-6058-41AF-9CC7-A36880636D59}" type="slidenum">
              <a:rPr lang="en-US" smtClean="0"/>
              <a:pPr/>
              <a:t>11</a:t>
            </a:fld>
            <a:endParaRPr lang="en-US"/>
          </a:p>
        </p:txBody>
      </p:sp>
    </p:spTree>
    <p:extLst>
      <p:ext uri="{BB962C8B-B14F-4D97-AF65-F5344CB8AC3E}">
        <p14:creationId xmlns:p14="http://schemas.microsoft.com/office/powerpoint/2010/main" val="405139514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
            <a:ext cx="12192000" cy="900110"/>
          </a:xfrm>
          <a:solidFill>
            <a:schemeClr val="accent1">
              <a:lumMod val="50000"/>
            </a:schemeClr>
          </a:solidFill>
        </p:spPr>
        <p:txBody>
          <a:bodyPr>
            <a:normAutofit fontScale="90000"/>
          </a:bodyPr>
          <a:lstStyle/>
          <a:p>
            <a:pPr algn="ctr">
              <a:lnSpc>
                <a:spcPct val="114000"/>
              </a:lnSpc>
            </a:pPr>
            <a:r>
              <a:rPr lang="en-US" sz="4800" b="1" dirty="0">
                <a:solidFill>
                  <a:schemeClr val="bg1"/>
                </a:solidFill>
              </a:rPr>
              <a:t>The </a:t>
            </a:r>
            <a:r>
              <a:rPr lang="en-US" sz="4800" b="1" dirty="0" smtClean="0">
                <a:solidFill>
                  <a:schemeClr val="bg1"/>
                </a:solidFill>
              </a:rPr>
              <a:t>Product Rule : Example</a:t>
            </a:r>
            <a:endParaRPr lang="en-US" sz="4800" b="1" dirty="0">
              <a:solidFill>
                <a:schemeClr val="bg1"/>
              </a:solidFill>
            </a:endParaRPr>
          </a:p>
        </p:txBody>
      </p:sp>
      <p:sp>
        <p:nvSpPr>
          <p:cNvPr id="3" name="Content Placeholder 2"/>
          <p:cNvSpPr>
            <a:spLocks noGrp="1"/>
          </p:cNvSpPr>
          <p:nvPr>
            <p:ph idx="1"/>
          </p:nvPr>
        </p:nvSpPr>
        <p:spPr>
          <a:xfrm>
            <a:off x="871539" y="1614491"/>
            <a:ext cx="10915651" cy="4743451"/>
          </a:xfrm>
        </p:spPr>
        <p:txBody>
          <a:bodyPr/>
          <a:lstStyle/>
          <a:p>
            <a:pPr>
              <a:lnSpc>
                <a:spcPct val="114000"/>
              </a:lnSpc>
              <a:spcBef>
                <a:spcPts val="300"/>
              </a:spcBef>
              <a:spcAft>
                <a:spcPts val="300"/>
              </a:spcAft>
            </a:pPr>
            <a:endParaRPr lang="en-US" dirty="0"/>
          </a:p>
          <a:p>
            <a:pPr>
              <a:lnSpc>
                <a:spcPct val="114000"/>
              </a:lnSpc>
              <a:spcBef>
                <a:spcPts val="300"/>
              </a:spcBef>
              <a:spcAft>
                <a:spcPts val="300"/>
              </a:spcAft>
            </a:pPr>
            <a:endParaRPr lang="en-US" dirty="0" smtClean="0"/>
          </a:p>
          <a:p>
            <a:pPr>
              <a:lnSpc>
                <a:spcPct val="114000"/>
              </a:lnSpc>
              <a:spcBef>
                <a:spcPts val="300"/>
              </a:spcBef>
              <a:spcAft>
                <a:spcPts val="300"/>
              </a:spcAft>
            </a:pPr>
            <a:endParaRPr lang="en-US" dirty="0"/>
          </a:p>
          <a:p>
            <a:pPr>
              <a:lnSpc>
                <a:spcPct val="114000"/>
              </a:lnSpc>
              <a:spcBef>
                <a:spcPts val="300"/>
              </a:spcBef>
              <a:spcAft>
                <a:spcPts val="300"/>
              </a:spcAft>
            </a:pPr>
            <a:endParaRPr lang="en-US" dirty="0"/>
          </a:p>
        </p:txBody>
      </p:sp>
      <p:sp>
        <p:nvSpPr>
          <p:cNvPr id="4" name="Rectangle 3"/>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grpSp>
        <p:nvGrpSpPr>
          <p:cNvPr id="5" name="Group 4"/>
          <p:cNvGrpSpPr/>
          <p:nvPr/>
        </p:nvGrpSpPr>
        <p:grpSpPr>
          <a:xfrm>
            <a:off x="1038213" y="1371599"/>
            <a:ext cx="10591809" cy="4543426"/>
            <a:chOff x="1563245" y="3007523"/>
            <a:chExt cx="10200139" cy="4543426"/>
          </a:xfrm>
        </p:grpSpPr>
        <p:sp>
          <p:nvSpPr>
            <p:cNvPr id="6" name="Content Placeholder 2"/>
            <p:cNvSpPr txBox="1">
              <a:spLocks/>
            </p:cNvSpPr>
            <p:nvPr/>
          </p:nvSpPr>
          <p:spPr>
            <a:xfrm>
              <a:off x="1563245" y="3007523"/>
              <a:ext cx="10190617" cy="1228726"/>
            </a:xfrm>
            <a:prstGeom prst="rect">
              <a:avLst/>
            </a:prstGeom>
            <a:solidFill>
              <a:schemeClr val="accent5">
                <a:lumMod val="75000"/>
              </a:schemeClr>
            </a:solidFill>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pPr>
              <a:r>
                <a:rPr lang="en-US" b="1" i="1" dirty="0">
                  <a:solidFill>
                    <a:schemeClr val="bg1"/>
                  </a:solidFill>
                </a:rPr>
                <a:t>Problem </a:t>
              </a:r>
              <a:r>
                <a:rPr lang="en-US" dirty="0">
                  <a:solidFill>
                    <a:schemeClr val="bg1"/>
                  </a:solidFill>
                </a:rPr>
                <a:t>: </a:t>
              </a:r>
              <a:r>
                <a:rPr lang="en-US" sz="2600" dirty="0">
                  <a:solidFill>
                    <a:schemeClr val="bg1"/>
                  </a:solidFill>
                </a:rPr>
                <a:t>There are 32 microcomputers in a computer center. Each microcomputer has 24 ports. </a:t>
              </a:r>
              <a:r>
                <a:rPr lang="en-US" sz="2600" dirty="0" smtClean="0">
                  <a:solidFill>
                    <a:schemeClr val="bg1"/>
                  </a:solidFill>
                </a:rPr>
                <a:t>How many </a:t>
              </a:r>
              <a:r>
                <a:rPr lang="en-US" sz="2600" dirty="0">
                  <a:solidFill>
                    <a:schemeClr val="bg1"/>
                  </a:solidFill>
                </a:rPr>
                <a:t>different ports to a microcomputer in the center are there?</a:t>
              </a:r>
            </a:p>
          </p:txBody>
        </p:sp>
        <p:sp>
          <p:nvSpPr>
            <p:cNvPr id="7" name="Content Placeholder 2"/>
            <p:cNvSpPr txBox="1">
              <a:spLocks/>
            </p:cNvSpPr>
            <p:nvPr/>
          </p:nvSpPr>
          <p:spPr>
            <a:xfrm>
              <a:off x="1572767" y="4321984"/>
              <a:ext cx="10190617" cy="3228965"/>
            </a:xfrm>
            <a:prstGeom prst="rect">
              <a:avLst/>
            </a:prstGeom>
            <a:solidFill>
              <a:schemeClr val="accent5">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4000"/>
                </a:lnSpc>
                <a:buNone/>
              </a:pPr>
              <a:r>
                <a:rPr lang="en-US" sz="2400" i="1" dirty="0" smtClean="0"/>
                <a:t>Solution: The </a:t>
              </a:r>
              <a:r>
                <a:rPr lang="en-US" sz="2400" i="1" dirty="0"/>
                <a:t>procedure of choosing a port consists of two tasks, first picking a </a:t>
              </a:r>
              <a:r>
                <a:rPr lang="en-US" sz="2400" i="1" dirty="0" smtClean="0"/>
                <a:t>microcomputer and </a:t>
              </a:r>
              <a:r>
                <a:rPr lang="en-US" sz="2400" i="1" dirty="0"/>
                <a:t>then picking a port on this microcomputer. Because there are 32 ways to choose the microcomputer and 24 ways to choose the port no matter which microcomputer has been selected</a:t>
              </a:r>
              <a:r>
                <a:rPr lang="en-US" sz="2400" i="1" dirty="0" smtClean="0"/>
                <a:t>, the </a:t>
              </a:r>
              <a:r>
                <a:rPr lang="en-US" sz="2400" i="1" dirty="0"/>
                <a:t>product rule shows that there are 32·24=768 ports.:   </a:t>
              </a:r>
            </a:p>
          </p:txBody>
        </p:sp>
      </p:grpSp>
      <p:sp>
        <p:nvSpPr>
          <p:cNvPr id="9" name="Slide Number Placeholder 8"/>
          <p:cNvSpPr>
            <a:spLocks noGrp="1"/>
          </p:cNvSpPr>
          <p:nvPr>
            <p:ph type="sldNum" sz="quarter" idx="12"/>
          </p:nvPr>
        </p:nvSpPr>
        <p:spPr/>
        <p:txBody>
          <a:bodyPr/>
          <a:lstStyle/>
          <a:p>
            <a:fld id="{769106B5-6058-41AF-9CC7-A36880636D59}" type="slidenum">
              <a:rPr lang="en-US" smtClean="0"/>
              <a:pPr/>
              <a:t>12</a:t>
            </a:fld>
            <a:endParaRPr lang="en-US"/>
          </a:p>
        </p:txBody>
      </p:sp>
    </p:spTree>
    <p:extLst>
      <p:ext uri="{BB962C8B-B14F-4D97-AF65-F5344CB8AC3E}">
        <p14:creationId xmlns:p14="http://schemas.microsoft.com/office/powerpoint/2010/main" val="30258194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
            <a:ext cx="12192000" cy="900110"/>
          </a:xfrm>
          <a:solidFill>
            <a:schemeClr val="accent1">
              <a:lumMod val="50000"/>
            </a:schemeClr>
          </a:solidFill>
        </p:spPr>
        <p:txBody>
          <a:bodyPr>
            <a:normAutofit fontScale="90000"/>
          </a:bodyPr>
          <a:lstStyle/>
          <a:p>
            <a:pPr algn="ctr">
              <a:lnSpc>
                <a:spcPct val="114000"/>
              </a:lnSpc>
            </a:pPr>
            <a:r>
              <a:rPr lang="en-US" sz="4800" b="1" dirty="0">
                <a:solidFill>
                  <a:schemeClr val="bg1"/>
                </a:solidFill>
              </a:rPr>
              <a:t>The </a:t>
            </a:r>
            <a:r>
              <a:rPr lang="en-US" sz="4800" b="1" dirty="0" smtClean="0">
                <a:solidFill>
                  <a:schemeClr val="bg1"/>
                </a:solidFill>
              </a:rPr>
              <a:t>Product Rule : Example</a:t>
            </a:r>
            <a:endParaRPr lang="en-US" sz="4800" b="1" dirty="0">
              <a:solidFill>
                <a:schemeClr val="bg1"/>
              </a:solidFill>
            </a:endParaRPr>
          </a:p>
        </p:txBody>
      </p:sp>
      <p:sp>
        <p:nvSpPr>
          <p:cNvPr id="3" name="Content Placeholder 2"/>
          <p:cNvSpPr>
            <a:spLocks noGrp="1"/>
          </p:cNvSpPr>
          <p:nvPr>
            <p:ph idx="1"/>
          </p:nvPr>
        </p:nvSpPr>
        <p:spPr>
          <a:xfrm>
            <a:off x="871539" y="1614491"/>
            <a:ext cx="10915651" cy="4743451"/>
          </a:xfrm>
        </p:spPr>
        <p:txBody>
          <a:bodyPr/>
          <a:lstStyle/>
          <a:p>
            <a:pPr>
              <a:lnSpc>
                <a:spcPct val="114000"/>
              </a:lnSpc>
              <a:spcBef>
                <a:spcPts val="300"/>
              </a:spcBef>
              <a:spcAft>
                <a:spcPts val="300"/>
              </a:spcAft>
            </a:pPr>
            <a:endParaRPr lang="en-US" dirty="0"/>
          </a:p>
          <a:p>
            <a:pPr>
              <a:lnSpc>
                <a:spcPct val="114000"/>
              </a:lnSpc>
              <a:spcBef>
                <a:spcPts val="300"/>
              </a:spcBef>
              <a:spcAft>
                <a:spcPts val="300"/>
              </a:spcAft>
            </a:pPr>
            <a:endParaRPr lang="en-US" dirty="0" smtClean="0"/>
          </a:p>
          <a:p>
            <a:pPr>
              <a:lnSpc>
                <a:spcPct val="114000"/>
              </a:lnSpc>
              <a:spcBef>
                <a:spcPts val="300"/>
              </a:spcBef>
              <a:spcAft>
                <a:spcPts val="300"/>
              </a:spcAft>
            </a:pPr>
            <a:endParaRPr lang="en-US" dirty="0"/>
          </a:p>
          <a:p>
            <a:pPr>
              <a:lnSpc>
                <a:spcPct val="114000"/>
              </a:lnSpc>
              <a:spcBef>
                <a:spcPts val="300"/>
              </a:spcBef>
              <a:spcAft>
                <a:spcPts val="300"/>
              </a:spcAft>
            </a:pPr>
            <a:endParaRPr lang="en-US" dirty="0"/>
          </a:p>
        </p:txBody>
      </p:sp>
      <p:sp>
        <p:nvSpPr>
          <p:cNvPr id="4" name="Rectangle 3"/>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sp>
        <p:nvSpPr>
          <p:cNvPr id="6" name="Content Placeholder 2"/>
          <p:cNvSpPr txBox="1">
            <a:spLocks/>
          </p:cNvSpPr>
          <p:nvPr/>
        </p:nvSpPr>
        <p:spPr>
          <a:xfrm>
            <a:off x="1038213" y="1385887"/>
            <a:ext cx="10581921" cy="769943"/>
          </a:xfrm>
          <a:prstGeom prst="rect">
            <a:avLst/>
          </a:prstGeom>
          <a:solidFill>
            <a:schemeClr val="accent5">
              <a:lumMod val="7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pPr>
            <a:r>
              <a:rPr lang="en-US" b="1" i="1" dirty="0">
                <a:solidFill>
                  <a:schemeClr val="bg1"/>
                </a:solidFill>
              </a:rPr>
              <a:t>Problem </a:t>
            </a:r>
            <a:r>
              <a:rPr lang="en-US" dirty="0">
                <a:solidFill>
                  <a:schemeClr val="bg1"/>
                </a:solidFill>
              </a:rPr>
              <a:t>: How many different bit strings of length seven are there?</a:t>
            </a:r>
            <a:endParaRPr lang="en-US" sz="2600" dirty="0">
              <a:solidFill>
                <a:schemeClr val="bg1"/>
              </a:solidFill>
            </a:endParaRPr>
          </a:p>
        </p:txBody>
      </p:sp>
      <p:sp>
        <p:nvSpPr>
          <p:cNvPr id="7" name="Content Placeholder 2"/>
          <p:cNvSpPr txBox="1">
            <a:spLocks/>
          </p:cNvSpPr>
          <p:nvPr/>
        </p:nvSpPr>
        <p:spPr>
          <a:xfrm>
            <a:off x="1048101" y="2298702"/>
            <a:ext cx="10581921" cy="1973262"/>
          </a:xfrm>
          <a:prstGeom prst="rect">
            <a:avLst/>
          </a:prstGeom>
          <a:solidFill>
            <a:schemeClr val="accent5">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4000"/>
              </a:lnSpc>
              <a:buNone/>
            </a:pPr>
            <a:r>
              <a:rPr lang="en-US" sz="2400" b="1" i="1" dirty="0"/>
              <a:t>Solution: </a:t>
            </a:r>
            <a:r>
              <a:rPr lang="en-US" sz="2400" dirty="0"/>
              <a:t>Each of the seven bits can be chosen in two ways, because each bit is either 0 or </a:t>
            </a:r>
            <a:r>
              <a:rPr lang="en-US" sz="2400" dirty="0" smtClean="0"/>
              <a:t>1. Therefore</a:t>
            </a:r>
            <a:r>
              <a:rPr lang="en-US" sz="2400" dirty="0"/>
              <a:t>, the product rule shows there are a total of </a:t>
            </a:r>
            <a:r>
              <a:rPr lang="en-US" sz="2400" dirty="0" smtClean="0"/>
              <a:t>2^7=128 </a:t>
            </a:r>
            <a:r>
              <a:rPr lang="en-US" sz="2400" dirty="0"/>
              <a:t>different bit strings of </a:t>
            </a:r>
            <a:r>
              <a:rPr lang="en-US" sz="2400" dirty="0" smtClean="0"/>
              <a:t>length seven</a:t>
            </a:r>
            <a:r>
              <a:rPr lang="en-US" sz="2400" dirty="0"/>
              <a:t>.</a:t>
            </a:r>
          </a:p>
        </p:txBody>
      </p:sp>
      <p:sp>
        <p:nvSpPr>
          <p:cNvPr id="9" name="Slide Number Placeholder 8"/>
          <p:cNvSpPr>
            <a:spLocks noGrp="1"/>
          </p:cNvSpPr>
          <p:nvPr>
            <p:ph type="sldNum" sz="quarter" idx="12"/>
          </p:nvPr>
        </p:nvSpPr>
        <p:spPr/>
        <p:txBody>
          <a:bodyPr/>
          <a:lstStyle/>
          <a:p>
            <a:fld id="{769106B5-6058-41AF-9CC7-A36880636D59}" type="slidenum">
              <a:rPr lang="en-US" smtClean="0"/>
              <a:pPr/>
              <a:t>13</a:t>
            </a:fld>
            <a:endParaRPr lang="en-US"/>
          </a:p>
        </p:txBody>
      </p:sp>
    </p:spTree>
    <p:extLst>
      <p:ext uri="{BB962C8B-B14F-4D97-AF65-F5344CB8AC3E}">
        <p14:creationId xmlns:p14="http://schemas.microsoft.com/office/powerpoint/2010/main" val="3766253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220493" y="4596036"/>
            <a:ext cx="11751013" cy="2125443"/>
          </a:xfrm>
          <a:prstGeom prst="rect">
            <a:avLst/>
          </a:prstGeom>
        </p:spPr>
      </p:pic>
      <p:sp>
        <p:nvSpPr>
          <p:cNvPr id="2" name="Title 1"/>
          <p:cNvSpPr>
            <a:spLocks noGrp="1"/>
          </p:cNvSpPr>
          <p:nvPr>
            <p:ph type="title"/>
          </p:nvPr>
        </p:nvSpPr>
        <p:spPr>
          <a:xfrm>
            <a:off x="0" y="4"/>
            <a:ext cx="12192000" cy="1014410"/>
          </a:xfrm>
          <a:solidFill>
            <a:schemeClr val="accent1">
              <a:lumMod val="50000"/>
            </a:schemeClr>
          </a:solidFill>
        </p:spPr>
        <p:txBody>
          <a:bodyPr>
            <a:normAutofit/>
          </a:bodyPr>
          <a:lstStyle/>
          <a:p>
            <a:pPr algn="ctr"/>
            <a:r>
              <a:rPr lang="en-US" sz="3200" b="1" dirty="0">
                <a:solidFill>
                  <a:schemeClr val="bg1"/>
                </a:solidFill>
                <a:latin typeface="Rockwell" panose="02060603020205020403" pitchFamily="18" charset="0"/>
              </a:rPr>
              <a:t>The Subtraction Rule (Inclusion–Exclusion for Two Sets)</a:t>
            </a:r>
          </a:p>
        </p:txBody>
      </p:sp>
      <p:sp>
        <p:nvSpPr>
          <p:cNvPr id="3" name="Content Placeholder 2"/>
          <p:cNvSpPr>
            <a:spLocks noGrp="1"/>
          </p:cNvSpPr>
          <p:nvPr>
            <p:ph idx="1"/>
          </p:nvPr>
        </p:nvSpPr>
        <p:spPr>
          <a:xfrm>
            <a:off x="871539" y="1614491"/>
            <a:ext cx="10915651" cy="4743451"/>
          </a:xfrm>
        </p:spPr>
        <p:txBody>
          <a:bodyPr/>
          <a:lstStyle/>
          <a:p>
            <a:pPr>
              <a:lnSpc>
                <a:spcPct val="114000"/>
              </a:lnSpc>
              <a:spcBef>
                <a:spcPts val="300"/>
              </a:spcBef>
              <a:spcAft>
                <a:spcPts val="300"/>
              </a:spcAft>
            </a:pPr>
            <a:endParaRPr lang="en-US" dirty="0"/>
          </a:p>
          <a:p>
            <a:pPr>
              <a:lnSpc>
                <a:spcPct val="114000"/>
              </a:lnSpc>
              <a:spcBef>
                <a:spcPts val="300"/>
              </a:spcBef>
              <a:spcAft>
                <a:spcPts val="300"/>
              </a:spcAft>
            </a:pPr>
            <a:endParaRPr lang="en-US" dirty="0" smtClean="0"/>
          </a:p>
          <a:p>
            <a:pPr>
              <a:lnSpc>
                <a:spcPct val="114000"/>
              </a:lnSpc>
              <a:spcBef>
                <a:spcPts val="300"/>
              </a:spcBef>
              <a:spcAft>
                <a:spcPts val="300"/>
              </a:spcAft>
            </a:pPr>
            <a:endParaRPr lang="en-US" dirty="0"/>
          </a:p>
          <a:p>
            <a:pPr>
              <a:lnSpc>
                <a:spcPct val="114000"/>
              </a:lnSpc>
              <a:spcBef>
                <a:spcPts val="300"/>
              </a:spcBef>
              <a:spcAft>
                <a:spcPts val="300"/>
              </a:spcAft>
            </a:pPr>
            <a:endParaRPr lang="en-US" dirty="0"/>
          </a:p>
        </p:txBody>
      </p:sp>
      <p:sp>
        <p:nvSpPr>
          <p:cNvPr id="4" name="Rectangle 3"/>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grpSp>
        <p:nvGrpSpPr>
          <p:cNvPr id="9" name="Group 8"/>
          <p:cNvGrpSpPr/>
          <p:nvPr/>
        </p:nvGrpSpPr>
        <p:grpSpPr>
          <a:xfrm>
            <a:off x="1033115" y="1069615"/>
            <a:ext cx="10572752" cy="2500314"/>
            <a:chOff x="1563245" y="3007523"/>
            <a:chExt cx="10200139" cy="1860557"/>
          </a:xfrm>
        </p:grpSpPr>
        <p:sp>
          <p:nvSpPr>
            <p:cNvPr id="7" name="Content Placeholder 2"/>
            <p:cNvSpPr txBox="1">
              <a:spLocks/>
            </p:cNvSpPr>
            <p:nvPr/>
          </p:nvSpPr>
          <p:spPr>
            <a:xfrm>
              <a:off x="1563245" y="3007523"/>
              <a:ext cx="10190617" cy="585787"/>
            </a:xfrm>
            <a:prstGeom prst="rect">
              <a:avLst/>
            </a:prstGeom>
            <a:solidFill>
              <a:schemeClr val="accent5">
                <a:lumMod val="7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pPr>
              <a:r>
                <a:rPr lang="en-US" dirty="0">
                  <a:solidFill>
                    <a:schemeClr val="bg1"/>
                  </a:solidFill>
                </a:rPr>
                <a:t>Theorem</a:t>
              </a:r>
            </a:p>
          </p:txBody>
        </p:sp>
        <p:sp>
          <p:nvSpPr>
            <p:cNvPr id="8" name="Content Placeholder 2"/>
            <p:cNvSpPr txBox="1">
              <a:spLocks/>
            </p:cNvSpPr>
            <p:nvPr/>
          </p:nvSpPr>
          <p:spPr>
            <a:xfrm>
              <a:off x="1572767" y="3607599"/>
              <a:ext cx="10190617" cy="1260481"/>
            </a:xfrm>
            <a:prstGeom prst="rect">
              <a:avLst/>
            </a:prstGeom>
            <a:solidFill>
              <a:schemeClr val="accent5">
                <a:lumMod val="20000"/>
                <a:lumOff val="80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pPr>
              <a:r>
                <a:rPr lang="en-US" sz="2400" dirty="0"/>
                <a:t>If a task can be done in </a:t>
              </a:r>
              <a:r>
                <a:rPr lang="en-US" sz="2400" dirty="0" smtClean="0"/>
                <a:t>either n1 ways or n2 ways</a:t>
              </a:r>
              <a:r>
                <a:rPr lang="en-US" sz="2400" dirty="0"/>
                <a:t>, then </a:t>
              </a:r>
              <a:r>
                <a:rPr lang="en-US" sz="2400" dirty="0" smtClean="0"/>
                <a:t>the number </a:t>
              </a:r>
              <a:r>
                <a:rPr lang="en-US" sz="2400" dirty="0"/>
                <a:t>of ways to do the task </a:t>
              </a:r>
              <a:r>
                <a:rPr lang="en-US" sz="2400" dirty="0" smtClean="0"/>
                <a:t>is n1+ n2 minus </a:t>
              </a:r>
              <a:r>
                <a:rPr lang="en-US" sz="2400" dirty="0"/>
                <a:t>the number of ways to do the </a:t>
              </a:r>
              <a:r>
                <a:rPr lang="en-US" sz="2400" dirty="0" smtClean="0"/>
                <a:t>task that are common </a:t>
              </a:r>
              <a:r>
                <a:rPr lang="en-US" sz="2400" dirty="0"/>
                <a:t>to the two different ways.</a:t>
              </a:r>
            </a:p>
          </p:txBody>
        </p:sp>
      </p:grpSp>
      <p:pic>
        <p:nvPicPr>
          <p:cNvPr id="5" name="Picture 4"/>
          <p:cNvPicPr>
            <a:picLocks noChangeAspect="1"/>
          </p:cNvPicPr>
          <p:nvPr/>
        </p:nvPicPr>
        <p:blipFill>
          <a:blip r:embed="rId3"/>
          <a:stretch>
            <a:fillRect/>
          </a:stretch>
        </p:blipFill>
        <p:spPr>
          <a:xfrm>
            <a:off x="2590800" y="3760068"/>
            <a:ext cx="6556885" cy="782596"/>
          </a:xfrm>
          <a:prstGeom prst="rect">
            <a:avLst/>
          </a:prstGeom>
        </p:spPr>
      </p:pic>
      <p:sp>
        <p:nvSpPr>
          <p:cNvPr id="11" name="Slide Number Placeholder 10"/>
          <p:cNvSpPr>
            <a:spLocks noGrp="1"/>
          </p:cNvSpPr>
          <p:nvPr>
            <p:ph type="sldNum" sz="quarter" idx="12"/>
          </p:nvPr>
        </p:nvSpPr>
        <p:spPr/>
        <p:txBody>
          <a:bodyPr/>
          <a:lstStyle/>
          <a:p>
            <a:fld id="{769106B5-6058-41AF-9CC7-A36880636D59}" type="slidenum">
              <a:rPr lang="en-US" smtClean="0"/>
              <a:pPr/>
              <a:t>14</a:t>
            </a:fld>
            <a:endParaRPr lang="en-US"/>
          </a:p>
        </p:txBody>
      </p:sp>
    </p:spTree>
    <p:extLst>
      <p:ext uri="{BB962C8B-B14F-4D97-AF65-F5344CB8AC3E}">
        <p14:creationId xmlns:p14="http://schemas.microsoft.com/office/powerpoint/2010/main" val="380122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
            <a:ext cx="12192000" cy="900110"/>
          </a:xfrm>
          <a:solidFill>
            <a:schemeClr val="accent1">
              <a:lumMod val="50000"/>
            </a:schemeClr>
          </a:solidFill>
        </p:spPr>
        <p:txBody>
          <a:bodyPr>
            <a:normAutofit fontScale="90000"/>
          </a:bodyPr>
          <a:lstStyle/>
          <a:p>
            <a:pPr algn="ctr">
              <a:lnSpc>
                <a:spcPct val="114000"/>
              </a:lnSpc>
            </a:pPr>
            <a:r>
              <a:rPr lang="en-US" sz="4800" b="1" dirty="0">
                <a:solidFill>
                  <a:schemeClr val="bg1"/>
                </a:solidFill>
              </a:rPr>
              <a:t>The </a:t>
            </a:r>
            <a:r>
              <a:rPr lang="en-US" sz="4800" b="1" dirty="0">
                <a:solidFill>
                  <a:schemeClr val="bg1"/>
                </a:solidFill>
                <a:latin typeface="Rockwell" panose="02060603020205020403" pitchFamily="18" charset="0"/>
              </a:rPr>
              <a:t>Subtraction Rule </a:t>
            </a:r>
            <a:r>
              <a:rPr lang="en-US" sz="4800" b="1" dirty="0" smtClean="0">
                <a:solidFill>
                  <a:schemeClr val="bg1"/>
                </a:solidFill>
              </a:rPr>
              <a:t>: Example</a:t>
            </a:r>
            <a:endParaRPr lang="en-US" sz="4800" b="1" dirty="0">
              <a:solidFill>
                <a:schemeClr val="bg1"/>
              </a:solidFill>
            </a:endParaRPr>
          </a:p>
        </p:txBody>
      </p:sp>
      <p:sp>
        <p:nvSpPr>
          <p:cNvPr id="3" name="Content Placeholder 2"/>
          <p:cNvSpPr>
            <a:spLocks noGrp="1"/>
          </p:cNvSpPr>
          <p:nvPr>
            <p:ph idx="1"/>
          </p:nvPr>
        </p:nvSpPr>
        <p:spPr>
          <a:xfrm>
            <a:off x="871539" y="1614491"/>
            <a:ext cx="10915651" cy="4743451"/>
          </a:xfrm>
        </p:spPr>
        <p:txBody>
          <a:bodyPr/>
          <a:lstStyle/>
          <a:p>
            <a:pPr>
              <a:lnSpc>
                <a:spcPct val="114000"/>
              </a:lnSpc>
              <a:spcBef>
                <a:spcPts val="300"/>
              </a:spcBef>
              <a:spcAft>
                <a:spcPts val="300"/>
              </a:spcAft>
            </a:pPr>
            <a:endParaRPr lang="en-US" dirty="0"/>
          </a:p>
          <a:p>
            <a:pPr>
              <a:lnSpc>
                <a:spcPct val="114000"/>
              </a:lnSpc>
              <a:spcBef>
                <a:spcPts val="300"/>
              </a:spcBef>
              <a:spcAft>
                <a:spcPts val="300"/>
              </a:spcAft>
            </a:pPr>
            <a:endParaRPr lang="en-US" dirty="0" smtClean="0"/>
          </a:p>
          <a:p>
            <a:pPr>
              <a:lnSpc>
                <a:spcPct val="114000"/>
              </a:lnSpc>
              <a:spcBef>
                <a:spcPts val="300"/>
              </a:spcBef>
              <a:spcAft>
                <a:spcPts val="300"/>
              </a:spcAft>
            </a:pPr>
            <a:endParaRPr lang="en-US" dirty="0"/>
          </a:p>
          <a:p>
            <a:pPr>
              <a:lnSpc>
                <a:spcPct val="114000"/>
              </a:lnSpc>
              <a:spcBef>
                <a:spcPts val="300"/>
              </a:spcBef>
              <a:spcAft>
                <a:spcPts val="300"/>
              </a:spcAft>
            </a:pPr>
            <a:endParaRPr lang="en-US" dirty="0"/>
          </a:p>
        </p:txBody>
      </p:sp>
      <p:sp>
        <p:nvSpPr>
          <p:cNvPr id="4" name="Rectangle 3"/>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sp>
        <p:nvSpPr>
          <p:cNvPr id="6" name="Content Placeholder 2"/>
          <p:cNvSpPr txBox="1">
            <a:spLocks/>
          </p:cNvSpPr>
          <p:nvPr/>
        </p:nvSpPr>
        <p:spPr>
          <a:xfrm>
            <a:off x="128585" y="1000114"/>
            <a:ext cx="11966506" cy="1728791"/>
          </a:xfrm>
          <a:prstGeom prst="rect">
            <a:avLst/>
          </a:prstGeom>
          <a:solidFill>
            <a:schemeClr val="accent5">
              <a:lumMod val="75000"/>
            </a:schemeClr>
          </a:solidFill>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pPr>
            <a:r>
              <a:rPr lang="en-US" sz="3800" b="1" dirty="0">
                <a:solidFill>
                  <a:schemeClr val="bg1"/>
                </a:solidFill>
              </a:rPr>
              <a:t>Problem : </a:t>
            </a:r>
            <a:r>
              <a:rPr lang="en-US" sz="3800" dirty="0">
                <a:solidFill>
                  <a:schemeClr val="bg1"/>
                </a:solidFill>
              </a:rPr>
              <a:t>A computer company receives 350 applications from computer graduates for a job planning </a:t>
            </a:r>
            <a:r>
              <a:rPr lang="en-US" sz="3800" dirty="0" smtClean="0">
                <a:solidFill>
                  <a:schemeClr val="bg1"/>
                </a:solidFill>
              </a:rPr>
              <a:t>a line </a:t>
            </a:r>
            <a:r>
              <a:rPr lang="en-US" sz="3800" dirty="0">
                <a:solidFill>
                  <a:schemeClr val="bg1"/>
                </a:solidFill>
              </a:rPr>
              <a:t>of new Web servers. </a:t>
            </a:r>
            <a:r>
              <a:rPr lang="en-US" sz="3800" dirty="0" smtClean="0">
                <a:solidFill>
                  <a:schemeClr val="bg1"/>
                </a:solidFill>
              </a:rPr>
              <a:t>Suppose </a:t>
            </a:r>
            <a:r>
              <a:rPr lang="en-US" sz="3800" dirty="0">
                <a:solidFill>
                  <a:schemeClr val="bg1"/>
                </a:solidFill>
              </a:rPr>
              <a:t>that 220 of these applicants majored in computer science, </a:t>
            </a:r>
            <a:r>
              <a:rPr lang="en-US" sz="3800" dirty="0" smtClean="0">
                <a:solidFill>
                  <a:schemeClr val="bg1"/>
                </a:solidFill>
              </a:rPr>
              <a:t>147 majored </a:t>
            </a:r>
            <a:r>
              <a:rPr lang="en-US" sz="3800" dirty="0">
                <a:solidFill>
                  <a:schemeClr val="bg1"/>
                </a:solidFill>
              </a:rPr>
              <a:t>in business, and 51 majored both in computer </a:t>
            </a:r>
            <a:r>
              <a:rPr lang="en-US" sz="3800" dirty="0" smtClean="0">
                <a:solidFill>
                  <a:schemeClr val="bg1"/>
                </a:solidFill>
              </a:rPr>
              <a:t>science </a:t>
            </a:r>
            <a:r>
              <a:rPr lang="en-US" sz="3800" dirty="0">
                <a:solidFill>
                  <a:schemeClr val="bg1"/>
                </a:solidFill>
              </a:rPr>
              <a:t>and in business. How many </a:t>
            </a:r>
            <a:r>
              <a:rPr lang="en-US" sz="3800" dirty="0" smtClean="0">
                <a:solidFill>
                  <a:schemeClr val="bg1"/>
                </a:solidFill>
              </a:rPr>
              <a:t>of these </a:t>
            </a:r>
            <a:r>
              <a:rPr lang="en-US" sz="3800" dirty="0">
                <a:solidFill>
                  <a:schemeClr val="bg1"/>
                </a:solidFill>
              </a:rPr>
              <a:t>applicants majored neither in computer science nor in business?</a:t>
            </a:r>
          </a:p>
        </p:txBody>
      </p:sp>
      <p:sp>
        <p:nvSpPr>
          <p:cNvPr id="7" name="Content Placeholder 2"/>
          <p:cNvSpPr txBox="1">
            <a:spLocks/>
          </p:cNvSpPr>
          <p:nvPr/>
        </p:nvSpPr>
        <p:spPr>
          <a:xfrm>
            <a:off x="112747" y="2864637"/>
            <a:ext cx="11966506" cy="3493305"/>
          </a:xfrm>
          <a:prstGeom prst="rect">
            <a:avLst/>
          </a:prstGeom>
          <a:solidFill>
            <a:schemeClr val="accent5">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4000"/>
              </a:lnSpc>
              <a:spcBef>
                <a:spcPts val="0"/>
              </a:spcBef>
              <a:buNone/>
            </a:pPr>
            <a:r>
              <a:rPr lang="en-US" sz="2400" b="1" i="1" dirty="0"/>
              <a:t>Solution: </a:t>
            </a:r>
            <a:r>
              <a:rPr lang="en-US" sz="2400" dirty="0" smtClean="0"/>
              <a:t>Let A1 be </a:t>
            </a:r>
            <a:r>
              <a:rPr lang="en-US" sz="2400" dirty="0"/>
              <a:t>the set of students </a:t>
            </a:r>
            <a:r>
              <a:rPr lang="en-US" sz="2400" dirty="0" smtClean="0"/>
              <a:t>who majored </a:t>
            </a:r>
            <a:r>
              <a:rPr lang="en-US" sz="2400" dirty="0"/>
              <a:t>in computer science </a:t>
            </a:r>
            <a:r>
              <a:rPr lang="en-US" sz="2400" dirty="0" smtClean="0"/>
              <a:t>and A2 the </a:t>
            </a:r>
            <a:r>
              <a:rPr lang="en-US" sz="2400" dirty="0"/>
              <a:t>set of students who majored in business. </a:t>
            </a:r>
            <a:r>
              <a:rPr lang="en-US" sz="2400" dirty="0" smtClean="0"/>
              <a:t>Then A1∪A2</a:t>
            </a:r>
            <a:r>
              <a:rPr lang="en-US" sz="2400" i="1" dirty="0" smtClean="0"/>
              <a:t> </a:t>
            </a:r>
            <a:r>
              <a:rPr lang="en-US" sz="2400" dirty="0" smtClean="0"/>
              <a:t>is </a:t>
            </a:r>
            <a:r>
              <a:rPr lang="en-US" sz="2400" dirty="0"/>
              <a:t>the set of students who majored in computer science or business (or both), </a:t>
            </a:r>
            <a:r>
              <a:rPr lang="en-US" sz="2400" dirty="0" smtClean="0"/>
              <a:t>and A1</a:t>
            </a:r>
            <a:r>
              <a:rPr lang="en-US" sz="2400" dirty="0"/>
              <a:t>∩</a:t>
            </a:r>
            <a:r>
              <a:rPr lang="en-US" sz="2400" dirty="0" smtClean="0"/>
              <a:t>A2 is </a:t>
            </a:r>
            <a:r>
              <a:rPr lang="en-US" sz="2400" dirty="0"/>
              <a:t>the set of students who majored both in computer science and in business. By the subtraction </a:t>
            </a:r>
            <a:r>
              <a:rPr lang="en-US" sz="2400" dirty="0" smtClean="0"/>
              <a:t>rule the </a:t>
            </a:r>
            <a:r>
              <a:rPr lang="en-US" sz="2400" dirty="0"/>
              <a:t>number of students who majored either in computer science or in business (or both) equals</a:t>
            </a:r>
          </a:p>
          <a:p>
            <a:pPr marL="0" indent="0" algn="just">
              <a:lnSpc>
                <a:spcPct val="114000"/>
              </a:lnSpc>
              <a:spcBef>
                <a:spcPts val="0"/>
              </a:spcBef>
              <a:buNone/>
            </a:pPr>
            <a:r>
              <a:rPr lang="en-US" sz="2400" dirty="0"/>
              <a:t>|A1∪A2|=|A1|+|A2|−|A1∩A2</a:t>
            </a:r>
            <a:r>
              <a:rPr lang="en-US" sz="2400" dirty="0" smtClean="0"/>
              <a:t>| = 220 + 147 − 51 = 316</a:t>
            </a:r>
            <a:r>
              <a:rPr lang="en-US" sz="2400" dirty="0"/>
              <a:t>.</a:t>
            </a:r>
          </a:p>
          <a:p>
            <a:pPr marL="0" indent="0" algn="just">
              <a:lnSpc>
                <a:spcPct val="114000"/>
              </a:lnSpc>
              <a:spcBef>
                <a:spcPts val="0"/>
              </a:spcBef>
              <a:buNone/>
            </a:pPr>
            <a:r>
              <a:rPr lang="en-US" sz="2400" dirty="0"/>
              <a:t>We conclude that </a:t>
            </a:r>
            <a:r>
              <a:rPr lang="en-US" sz="2400" dirty="0" smtClean="0"/>
              <a:t>350 − 316 = 34 </a:t>
            </a:r>
            <a:r>
              <a:rPr lang="en-US" sz="2400" dirty="0"/>
              <a:t>of the applicants majored neither in computer science nor in</a:t>
            </a:r>
          </a:p>
          <a:p>
            <a:pPr marL="0" indent="0" algn="just">
              <a:lnSpc>
                <a:spcPct val="114000"/>
              </a:lnSpc>
              <a:spcBef>
                <a:spcPts val="0"/>
              </a:spcBef>
              <a:buNone/>
            </a:pPr>
            <a:r>
              <a:rPr lang="en-US" sz="2400" dirty="0"/>
              <a:t>business.</a:t>
            </a:r>
            <a:endParaRPr lang="en-US" sz="2200" dirty="0"/>
          </a:p>
        </p:txBody>
      </p:sp>
      <p:sp>
        <p:nvSpPr>
          <p:cNvPr id="9" name="Slide Number Placeholder 8"/>
          <p:cNvSpPr>
            <a:spLocks noGrp="1"/>
          </p:cNvSpPr>
          <p:nvPr>
            <p:ph type="sldNum" sz="quarter" idx="12"/>
          </p:nvPr>
        </p:nvSpPr>
        <p:spPr/>
        <p:txBody>
          <a:bodyPr/>
          <a:lstStyle/>
          <a:p>
            <a:fld id="{769106B5-6058-41AF-9CC7-A36880636D59}" type="slidenum">
              <a:rPr lang="en-US" smtClean="0"/>
              <a:pPr/>
              <a:t>15</a:t>
            </a:fld>
            <a:endParaRPr lang="en-US"/>
          </a:p>
        </p:txBody>
      </p:sp>
    </p:spTree>
    <p:extLst>
      <p:ext uri="{BB962C8B-B14F-4D97-AF65-F5344CB8AC3E}">
        <p14:creationId xmlns:p14="http://schemas.microsoft.com/office/powerpoint/2010/main" val="322597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
            <a:ext cx="12192000" cy="900110"/>
          </a:xfrm>
          <a:solidFill>
            <a:schemeClr val="accent1">
              <a:lumMod val="50000"/>
            </a:schemeClr>
          </a:solidFill>
        </p:spPr>
        <p:txBody>
          <a:bodyPr>
            <a:normAutofit fontScale="90000"/>
          </a:bodyPr>
          <a:lstStyle/>
          <a:p>
            <a:pPr algn="ctr">
              <a:lnSpc>
                <a:spcPct val="114000"/>
              </a:lnSpc>
            </a:pPr>
            <a:r>
              <a:rPr lang="en-US" sz="4800" b="1" dirty="0">
                <a:solidFill>
                  <a:schemeClr val="bg1"/>
                </a:solidFill>
              </a:rPr>
              <a:t>The </a:t>
            </a:r>
            <a:r>
              <a:rPr lang="en-US" sz="4800" b="1" dirty="0">
                <a:solidFill>
                  <a:schemeClr val="bg1"/>
                </a:solidFill>
                <a:latin typeface="Rockwell" panose="02060603020205020403" pitchFamily="18" charset="0"/>
              </a:rPr>
              <a:t>Subtraction Rule </a:t>
            </a:r>
            <a:r>
              <a:rPr lang="en-US" sz="4800" b="1" dirty="0" smtClean="0">
                <a:solidFill>
                  <a:schemeClr val="bg1"/>
                </a:solidFill>
              </a:rPr>
              <a:t>: Example</a:t>
            </a:r>
            <a:endParaRPr lang="en-US" sz="4800" b="1" dirty="0">
              <a:solidFill>
                <a:schemeClr val="bg1"/>
              </a:solidFill>
            </a:endParaRPr>
          </a:p>
        </p:txBody>
      </p:sp>
      <p:sp>
        <p:nvSpPr>
          <p:cNvPr id="3" name="Content Placeholder 2"/>
          <p:cNvSpPr>
            <a:spLocks noGrp="1"/>
          </p:cNvSpPr>
          <p:nvPr>
            <p:ph idx="1"/>
          </p:nvPr>
        </p:nvSpPr>
        <p:spPr>
          <a:xfrm>
            <a:off x="871539" y="1614491"/>
            <a:ext cx="10915651" cy="4743451"/>
          </a:xfrm>
        </p:spPr>
        <p:txBody>
          <a:bodyPr/>
          <a:lstStyle/>
          <a:p>
            <a:pPr>
              <a:lnSpc>
                <a:spcPct val="114000"/>
              </a:lnSpc>
              <a:spcBef>
                <a:spcPts val="300"/>
              </a:spcBef>
              <a:spcAft>
                <a:spcPts val="300"/>
              </a:spcAft>
            </a:pPr>
            <a:endParaRPr lang="en-US" dirty="0"/>
          </a:p>
          <a:p>
            <a:pPr>
              <a:lnSpc>
                <a:spcPct val="114000"/>
              </a:lnSpc>
              <a:spcBef>
                <a:spcPts val="300"/>
              </a:spcBef>
              <a:spcAft>
                <a:spcPts val="300"/>
              </a:spcAft>
            </a:pPr>
            <a:endParaRPr lang="en-US" dirty="0" smtClean="0"/>
          </a:p>
          <a:p>
            <a:pPr>
              <a:lnSpc>
                <a:spcPct val="114000"/>
              </a:lnSpc>
              <a:spcBef>
                <a:spcPts val="300"/>
              </a:spcBef>
              <a:spcAft>
                <a:spcPts val="300"/>
              </a:spcAft>
            </a:pPr>
            <a:endParaRPr lang="en-US" dirty="0"/>
          </a:p>
          <a:p>
            <a:pPr>
              <a:lnSpc>
                <a:spcPct val="114000"/>
              </a:lnSpc>
              <a:spcBef>
                <a:spcPts val="300"/>
              </a:spcBef>
              <a:spcAft>
                <a:spcPts val="300"/>
              </a:spcAft>
            </a:pPr>
            <a:endParaRPr lang="en-US" dirty="0"/>
          </a:p>
        </p:txBody>
      </p:sp>
      <p:sp>
        <p:nvSpPr>
          <p:cNvPr id="4" name="Rectangle 3"/>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grpSp>
        <p:nvGrpSpPr>
          <p:cNvPr id="5" name="Group 4"/>
          <p:cNvGrpSpPr/>
          <p:nvPr/>
        </p:nvGrpSpPr>
        <p:grpSpPr>
          <a:xfrm>
            <a:off x="1038213" y="1371599"/>
            <a:ext cx="10591809" cy="3700464"/>
            <a:chOff x="1563245" y="3007523"/>
            <a:chExt cx="10200139" cy="3700464"/>
          </a:xfrm>
        </p:grpSpPr>
        <p:sp>
          <p:nvSpPr>
            <p:cNvPr id="6" name="Content Placeholder 2"/>
            <p:cNvSpPr txBox="1">
              <a:spLocks/>
            </p:cNvSpPr>
            <p:nvPr/>
          </p:nvSpPr>
          <p:spPr>
            <a:xfrm>
              <a:off x="1563245" y="3007523"/>
              <a:ext cx="10190617" cy="1228726"/>
            </a:xfrm>
            <a:prstGeom prst="rect">
              <a:avLst/>
            </a:prstGeom>
            <a:solidFill>
              <a:schemeClr val="accent5">
                <a:lumMod val="7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pPr>
              <a:r>
                <a:rPr lang="en-US" b="1" dirty="0">
                  <a:solidFill>
                    <a:schemeClr val="bg1"/>
                  </a:solidFill>
                </a:rPr>
                <a:t>Problem : </a:t>
              </a:r>
              <a:r>
                <a:rPr lang="en-US" sz="2400" dirty="0" smtClean="0">
                  <a:solidFill>
                    <a:schemeClr val="bg1"/>
                  </a:solidFill>
                </a:rPr>
                <a:t>How many bit strings of length eight either start with a 1 bit or end with the two bits 00?</a:t>
              </a:r>
              <a:endParaRPr lang="en-US" sz="2400" dirty="0">
                <a:solidFill>
                  <a:schemeClr val="bg1"/>
                </a:solidFill>
              </a:endParaRPr>
            </a:p>
          </p:txBody>
        </p:sp>
        <p:sp>
          <p:nvSpPr>
            <p:cNvPr id="7" name="Content Placeholder 2"/>
            <p:cNvSpPr txBox="1">
              <a:spLocks/>
            </p:cNvSpPr>
            <p:nvPr/>
          </p:nvSpPr>
          <p:spPr>
            <a:xfrm>
              <a:off x="1572767" y="4321984"/>
              <a:ext cx="10190617" cy="2386003"/>
            </a:xfrm>
            <a:prstGeom prst="rect">
              <a:avLst/>
            </a:prstGeom>
            <a:solidFill>
              <a:schemeClr val="accent5">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4000"/>
                </a:lnSpc>
                <a:buNone/>
              </a:pPr>
              <a:r>
                <a:rPr lang="en-US" sz="2400" b="1" i="1" dirty="0"/>
                <a:t>Solution</a:t>
              </a:r>
              <a:r>
                <a:rPr lang="en-US" sz="2400" b="1" i="1" dirty="0" smtClean="0"/>
                <a:t>: </a:t>
              </a:r>
              <a:endParaRPr lang="en-US" sz="2400" i="1" dirty="0"/>
            </a:p>
          </p:txBody>
        </p:sp>
      </p:grpSp>
      <p:sp>
        <p:nvSpPr>
          <p:cNvPr id="9" name="Slide Number Placeholder 8"/>
          <p:cNvSpPr>
            <a:spLocks noGrp="1"/>
          </p:cNvSpPr>
          <p:nvPr>
            <p:ph type="sldNum" sz="quarter" idx="12"/>
          </p:nvPr>
        </p:nvSpPr>
        <p:spPr>
          <a:xfrm>
            <a:off x="9448800" y="6443677"/>
            <a:ext cx="2743200" cy="365125"/>
          </a:xfrm>
        </p:spPr>
        <p:txBody>
          <a:bodyPr/>
          <a:lstStyle/>
          <a:p>
            <a:fld id="{769106B5-6058-41AF-9CC7-A36880636D59}" type="slidenum">
              <a:rPr lang="en-US" smtClean="0"/>
              <a:pPr/>
              <a:t>16</a:t>
            </a:fld>
            <a:endParaRPr lang="en-US" dirty="0"/>
          </a:p>
        </p:txBody>
      </p:sp>
      <p:pic>
        <p:nvPicPr>
          <p:cNvPr id="8" name="Picture 7"/>
          <p:cNvPicPr>
            <a:picLocks noChangeAspect="1"/>
          </p:cNvPicPr>
          <p:nvPr/>
        </p:nvPicPr>
        <p:blipFill>
          <a:blip r:embed="rId3"/>
          <a:stretch>
            <a:fillRect/>
          </a:stretch>
        </p:blipFill>
        <p:spPr>
          <a:xfrm>
            <a:off x="6929442" y="2041233"/>
            <a:ext cx="4543420" cy="4667557"/>
          </a:xfrm>
          <a:prstGeom prst="rect">
            <a:avLst/>
          </a:prstGeom>
        </p:spPr>
      </p:pic>
    </p:spTree>
    <p:extLst>
      <p:ext uri="{BB962C8B-B14F-4D97-AF65-F5344CB8AC3E}">
        <p14:creationId xmlns:p14="http://schemas.microsoft.com/office/powerpoint/2010/main" val="1064995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
            <a:ext cx="12192000" cy="1228725"/>
          </a:xfrm>
          <a:solidFill>
            <a:schemeClr val="accent1">
              <a:lumMod val="50000"/>
            </a:schemeClr>
          </a:solidFill>
        </p:spPr>
        <p:txBody>
          <a:bodyPr>
            <a:normAutofit/>
          </a:bodyPr>
          <a:lstStyle/>
          <a:p>
            <a:pPr algn="ctr"/>
            <a:r>
              <a:rPr lang="en-US" sz="4800" b="1" dirty="0" smtClean="0">
                <a:solidFill>
                  <a:schemeClr val="bg1"/>
                </a:solidFill>
                <a:latin typeface="Rockwell" panose="02060603020205020403" pitchFamily="18" charset="0"/>
              </a:rPr>
              <a:t>Tree Diagram</a:t>
            </a:r>
            <a:endParaRPr lang="en-US" sz="4800" b="1" dirty="0">
              <a:solidFill>
                <a:schemeClr val="bg1"/>
              </a:solidFill>
              <a:latin typeface="Rockwell" panose="02060603020205020403" pitchFamily="18" charset="0"/>
            </a:endParaRPr>
          </a:p>
        </p:txBody>
      </p:sp>
      <p:sp>
        <p:nvSpPr>
          <p:cNvPr id="3" name="Content Placeholder 2"/>
          <p:cNvSpPr>
            <a:spLocks noGrp="1"/>
          </p:cNvSpPr>
          <p:nvPr>
            <p:ph idx="1"/>
          </p:nvPr>
        </p:nvSpPr>
        <p:spPr>
          <a:xfrm>
            <a:off x="871539" y="1614491"/>
            <a:ext cx="10915651" cy="4743451"/>
          </a:xfrm>
        </p:spPr>
        <p:txBody>
          <a:bodyPr>
            <a:normAutofit/>
          </a:bodyPr>
          <a:lstStyle/>
          <a:p>
            <a:pPr>
              <a:lnSpc>
                <a:spcPct val="114000"/>
              </a:lnSpc>
              <a:spcBef>
                <a:spcPts val="300"/>
              </a:spcBef>
              <a:spcAft>
                <a:spcPts val="300"/>
              </a:spcAft>
            </a:pPr>
            <a:r>
              <a:rPr lang="en-US" dirty="0"/>
              <a:t>How many bit strings of length four do not have two consecutive 1s</a:t>
            </a:r>
            <a:r>
              <a:rPr lang="en-US" dirty="0" smtClean="0"/>
              <a:t>?</a:t>
            </a:r>
          </a:p>
          <a:p>
            <a:pPr>
              <a:lnSpc>
                <a:spcPct val="114000"/>
              </a:lnSpc>
              <a:spcBef>
                <a:spcPts val="300"/>
              </a:spcBef>
              <a:spcAft>
                <a:spcPts val="300"/>
              </a:spcAft>
            </a:pPr>
            <a:endParaRPr lang="en-US" dirty="0" smtClean="0"/>
          </a:p>
          <a:p>
            <a:pPr>
              <a:lnSpc>
                <a:spcPct val="114000"/>
              </a:lnSpc>
              <a:spcBef>
                <a:spcPts val="300"/>
              </a:spcBef>
              <a:spcAft>
                <a:spcPts val="300"/>
              </a:spcAft>
            </a:pPr>
            <a:endParaRPr lang="en-US" dirty="0"/>
          </a:p>
          <a:p>
            <a:pPr>
              <a:lnSpc>
                <a:spcPct val="114000"/>
              </a:lnSpc>
              <a:spcBef>
                <a:spcPts val="300"/>
              </a:spcBef>
              <a:spcAft>
                <a:spcPts val="300"/>
              </a:spcAft>
            </a:pPr>
            <a:endParaRPr lang="en-US" dirty="0"/>
          </a:p>
        </p:txBody>
      </p:sp>
      <p:sp>
        <p:nvSpPr>
          <p:cNvPr id="4" name="Rectangle 3"/>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sp>
        <p:nvSpPr>
          <p:cNvPr id="6" name="Slide Number Placeholder 5"/>
          <p:cNvSpPr>
            <a:spLocks noGrp="1"/>
          </p:cNvSpPr>
          <p:nvPr>
            <p:ph type="sldNum" sz="quarter" idx="12"/>
          </p:nvPr>
        </p:nvSpPr>
        <p:spPr/>
        <p:txBody>
          <a:bodyPr/>
          <a:lstStyle/>
          <a:p>
            <a:fld id="{769106B5-6058-41AF-9CC7-A36880636D59}" type="slidenum">
              <a:rPr lang="en-US" smtClean="0"/>
              <a:pPr/>
              <a:t>17</a:t>
            </a:fld>
            <a:endParaRPr lang="en-US"/>
          </a:p>
        </p:txBody>
      </p:sp>
      <p:pic>
        <p:nvPicPr>
          <p:cNvPr id="7" name="Picture 6"/>
          <p:cNvPicPr>
            <a:picLocks noChangeAspect="1"/>
          </p:cNvPicPr>
          <p:nvPr/>
        </p:nvPicPr>
        <p:blipFill>
          <a:blip r:embed="rId2"/>
          <a:stretch>
            <a:fillRect/>
          </a:stretch>
        </p:blipFill>
        <p:spPr>
          <a:xfrm>
            <a:off x="6486524" y="2349573"/>
            <a:ext cx="3438525" cy="3863910"/>
          </a:xfrm>
          <a:prstGeom prst="rect">
            <a:avLst/>
          </a:prstGeom>
        </p:spPr>
      </p:pic>
    </p:spTree>
    <p:extLst>
      <p:ext uri="{BB962C8B-B14F-4D97-AF65-F5344CB8AC3E}">
        <p14:creationId xmlns:p14="http://schemas.microsoft.com/office/powerpoint/2010/main" val="4156830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
            <a:ext cx="12192000" cy="1228725"/>
          </a:xfrm>
          <a:solidFill>
            <a:schemeClr val="accent1">
              <a:lumMod val="50000"/>
            </a:schemeClr>
          </a:solidFill>
        </p:spPr>
        <p:txBody>
          <a:bodyPr>
            <a:normAutofit/>
          </a:bodyPr>
          <a:lstStyle/>
          <a:p>
            <a:pPr algn="ctr"/>
            <a:endParaRPr lang="en-US" sz="4800" b="1" dirty="0">
              <a:solidFill>
                <a:schemeClr val="bg1"/>
              </a:solidFill>
              <a:latin typeface="Rockwell" panose="02060603020205020403" pitchFamily="18" charset="0"/>
            </a:endParaRPr>
          </a:p>
        </p:txBody>
      </p:sp>
      <p:sp>
        <p:nvSpPr>
          <p:cNvPr id="3" name="Content Placeholder 2"/>
          <p:cNvSpPr>
            <a:spLocks noGrp="1"/>
          </p:cNvSpPr>
          <p:nvPr>
            <p:ph idx="1"/>
          </p:nvPr>
        </p:nvSpPr>
        <p:spPr>
          <a:xfrm>
            <a:off x="871539" y="1614491"/>
            <a:ext cx="10915651" cy="4743451"/>
          </a:xfrm>
        </p:spPr>
        <p:txBody>
          <a:bodyPr/>
          <a:lstStyle/>
          <a:p>
            <a:pPr>
              <a:lnSpc>
                <a:spcPct val="114000"/>
              </a:lnSpc>
              <a:spcBef>
                <a:spcPts val="300"/>
              </a:spcBef>
              <a:spcAft>
                <a:spcPts val="300"/>
              </a:spcAft>
            </a:pPr>
            <a:endParaRPr lang="en-US" dirty="0"/>
          </a:p>
          <a:p>
            <a:pPr>
              <a:lnSpc>
                <a:spcPct val="114000"/>
              </a:lnSpc>
              <a:spcBef>
                <a:spcPts val="300"/>
              </a:spcBef>
              <a:spcAft>
                <a:spcPts val="300"/>
              </a:spcAft>
            </a:pPr>
            <a:endParaRPr lang="en-US" dirty="0" smtClean="0"/>
          </a:p>
          <a:p>
            <a:pPr>
              <a:lnSpc>
                <a:spcPct val="114000"/>
              </a:lnSpc>
              <a:spcBef>
                <a:spcPts val="300"/>
              </a:spcBef>
              <a:spcAft>
                <a:spcPts val="300"/>
              </a:spcAft>
            </a:pPr>
            <a:endParaRPr lang="en-US" dirty="0"/>
          </a:p>
          <a:p>
            <a:pPr>
              <a:lnSpc>
                <a:spcPct val="114000"/>
              </a:lnSpc>
              <a:spcBef>
                <a:spcPts val="300"/>
              </a:spcBef>
              <a:spcAft>
                <a:spcPts val="300"/>
              </a:spcAft>
            </a:pPr>
            <a:endParaRPr lang="en-US" dirty="0"/>
          </a:p>
        </p:txBody>
      </p:sp>
      <p:sp>
        <p:nvSpPr>
          <p:cNvPr id="4" name="Rectangle 3"/>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grpSp>
        <p:nvGrpSpPr>
          <p:cNvPr id="9" name="Group 8"/>
          <p:cNvGrpSpPr/>
          <p:nvPr/>
        </p:nvGrpSpPr>
        <p:grpSpPr>
          <a:xfrm>
            <a:off x="1195381" y="1935961"/>
            <a:ext cx="10591809" cy="2907502"/>
            <a:chOff x="1563245" y="3007523"/>
            <a:chExt cx="10200139" cy="2907502"/>
          </a:xfrm>
        </p:grpSpPr>
        <p:sp>
          <p:nvSpPr>
            <p:cNvPr id="7" name="Content Placeholder 2"/>
            <p:cNvSpPr txBox="1">
              <a:spLocks/>
            </p:cNvSpPr>
            <p:nvPr/>
          </p:nvSpPr>
          <p:spPr>
            <a:xfrm>
              <a:off x="1563245" y="3007523"/>
              <a:ext cx="10190617" cy="585787"/>
            </a:xfrm>
            <a:prstGeom prst="rect">
              <a:avLst/>
            </a:prstGeom>
            <a:solidFill>
              <a:schemeClr val="accent5">
                <a:lumMod val="7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pPr>
              <a:r>
                <a:rPr lang="en-US" dirty="0" smtClean="0">
                  <a:solidFill>
                    <a:schemeClr val="bg1"/>
                  </a:solidFill>
                </a:rPr>
                <a:t>Problem</a:t>
              </a:r>
              <a:endParaRPr lang="en-US" dirty="0">
                <a:solidFill>
                  <a:schemeClr val="bg1"/>
                </a:solidFill>
              </a:endParaRPr>
            </a:p>
          </p:txBody>
        </p:sp>
        <p:sp>
          <p:nvSpPr>
            <p:cNvPr id="8" name="Content Placeholder 2"/>
            <p:cNvSpPr txBox="1">
              <a:spLocks/>
            </p:cNvSpPr>
            <p:nvPr/>
          </p:nvSpPr>
          <p:spPr>
            <a:xfrm>
              <a:off x="1572767" y="3607599"/>
              <a:ext cx="10190617" cy="2307426"/>
            </a:xfrm>
            <a:prstGeom prst="rect">
              <a:avLst/>
            </a:prstGeom>
            <a:solidFill>
              <a:schemeClr val="accent5">
                <a:lumMod val="20000"/>
                <a:lumOff val="80000"/>
              </a:schemeClr>
            </a:solidFill>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pPr>
              <a:r>
                <a:rPr lang="en-US" dirty="0"/>
                <a:t>A history class contains 8 male students and 6 female students. Find the </a:t>
              </a:r>
              <a:r>
                <a:rPr lang="en-US" dirty="0" smtClean="0"/>
                <a:t>number of </a:t>
              </a:r>
              <a:r>
                <a:rPr lang="en-US" dirty="0"/>
                <a:t>ways that the </a:t>
              </a:r>
              <a:r>
                <a:rPr lang="en-US" dirty="0" smtClean="0"/>
                <a:t>class can </a:t>
              </a:r>
              <a:r>
                <a:rPr lang="en-US" dirty="0"/>
                <a:t>elect: </a:t>
              </a:r>
              <a:endParaRPr lang="en-US" dirty="0" smtClean="0"/>
            </a:p>
            <a:p>
              <a:pPr marL="971550" lvl="1" indent="-514350">
                <a:lnSpc>
                  <a:spcPct val="114000"/>
                </a:lnSpc>
                <a:buAutoNum type="alphaLcParenBoth"/>
              </a:pPr>
              <a:r>
                <a:rPr lang="en-US" dirty="0" smtClean="0"/>
                <a:t>1 </a:t>
              </a:r>
              <a:r>
                <a:rPr lang="en-US" dirty="0"/>
                <a:t>class representative; </a:t>
              </a:r>
              <a:endParaRPr lang="en-US" dirty="0" smtClean="0"/>
            </a:p>
            <a:p>
              <a:pPr marL="971550" lvl="1" indent="-514350">
                <a:lnSpc>
                  <a:spcPct val="114000"/>
                </a:lnSpc>
                <a:buAutoNum type="alphaLcParenBoth"/>
              </a:pPr>
              <a:r>
                <a:rPr lang="en-US" dirty="0" smtClean="0"/>
                <a:t>2 </a:t>
              </a:r>
              <a:r>
                <a:rPr lang="en-US" dirty="0"/>
                <a:t>class representatives, 1 male and 1 female; </a:t>
              </a:r>
              <a:endParaRPr lang="en-US" dirty="0" smtClean="0"/>
            </a:p>
            <a:p>
              <a:pPr marL="971550" lvl="1" indent="-514350">
                <a:lnSpc>
                  <a:spcPct val="114000"/>
                </a:lnSpc>
                <a:buAutoNum type="alphaLcParenBoth"/>
              </a:pPr>
              <a:r>
                <a:rPr lang="en-US" dirty="0" smtClean="0"/>
                <a:t>1 </a:t>
              </a:r>
              <a:r>
                <a:rPr lang="en-US" dirty="0"/>
                <a:t>president and </a:t>
              </a:r>
              <a:r>
                <a:rPr lang="en-US" dirty="0" smtClean="0"/>
                <a:t>1 vice </a:t>
              </a:r>
              <a:r>
                <a:rPr lang="en-US" dirty="0"/>
                <a:t>president.</a:t>
              </a:r>
            </a:p>
          </p:txBody>
        </p:sp>
      </p:grpSp>
      <p:sp>
        <p:nvSpPr>
          <p:cNvPr id="6" name="Slide Number Placeholder 5"/>
          <p:cNvSpPr>
            <a:spLocks noGrp="1"/>
          </p:cNvSpPr>
          <p:nvPr>
            <p:ph type="sldNum" sz="quarter" idx="12"/>
          </p:nvPr>
        </p:nvSpPr>
        <p:spPr/>
        <p:txBody>
          <a:bodyPr/>
          <a:lstStyle/>
          <a:p>
            <a:fld id="{769106B5-6058-41AF-9CC7-A36880636D59}" type="slidenum">
              <a:rPr lang="en-US" smtClean="0"/>
              <a:pPr/>
              <a:t>18</a:t>
            </a:fld>
            <a:endParaRPr lang="en-US"/>
          </a:p>
        </p:txBody>
      </p:sp>
    </p:spTree>
    <p:extLst>
      <p:ext uri="{BB962C8B-B14F-4D97-AF65-F5344CB8AC3E}">
        <p14:creationId xmlns:p14="http://schemas.microsoft.com/office/powerpoint/2010/main" val="257281576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
            <a:ext cx="12192000" cy="1228725"/>
          </a:xfrm>
          <a:solidFill>
            <a:schemeClr val="accent1">
              <a:lumMod val="50000"/>
            </a:schemeClr>
          </a:solidFill>
        </p:spPr>
        <p:txBody>
          <a:bodyPr>
            <a:normAutofit/>
          </a:bodyPr>
          <a:lstStyle/>
          <a:p>
            <a:pPr algn="ctr"/>
            <a:endParaRPr lang="en-US" sz="4800" b="1" dirty="0">
              <a:solidFill>
                <a:schemeClr val="bg1"/>
              </a:solidFill>
              <a:latin typeface="Rockwell" panose="02060603020205020403" pitchFamily="18" charset="0"/>
            </a:endParaRPr>
          </a:p>
        </p:txBody>
      </p:sp>
      <p:sp>
        <p:nvSpPr>
          <p:cNvPr id="3" name="Content Placeholder 2"/>
          <p:cNvSpPr>
            <a:spLocks noGrp="1"/>
          </p:cNvSpPr>
          <p:nvPr>
            <p:ph idx="1"/>
          </p:nvPr>
        </p:nvSpPr>
        <p:spPr>
          <a:xfrm>
            <a:off x="871539" y="1614491"/>
            <a:ext cx="10915651" cy="4743451"/>
          </a:xfrm>
        </p:spPr>
        <p:txBody>
          <a:bodyPr/>
          <a:lstStyle/>
          <a:p>
            <a:pPr>
              <a:lnSpc>
                <a:spcPct val="114000"/>
              </a:lnSpc>
              <a:spcBef>
                <a:spcPts val="300"/>
              </a:spcBef>
              <a:spcAft>
                <a:spcPts val="300"/>
              </a:spcAft>
            </a:pPr>
            <a:endParaRPr lang="en-US" dirty="0"/>
          </a:p>
          <a:p>
            <a:pPr>
              <a:lnSpc>
                <a:spcPct val="114000"/>
              </a:lnSpc>
              <a:spcBef>
                <a:spcPts val="300"/>
              </a:spcBef>
              <a:spcAft>
                <a:spcPts val="300"/>
              </a:spcAft>
            </a:pPr>
            <a:endParaRPr lang="en-US" dirty="0" smtClean="0"/>
          </a:p>
          <a:p>
            <a:pPr>
              <a:lnSpc>
                <a:spcPct val="114000"/>
              </a:lnSpc>
              <a:spcBef>
                <a:spcPts val="300"/>
              </a:spcBef>
              <a:spcAft>
                <a:spcPts val="300"/>
              </a:spcAft>
            </a:pPr>
            <a:endParaRPr lang="en-US" dirty="0"/>
          </a:p>
          <a:p>
            <a:pPr>
              <a:lnSpc>
                <a:spcPct val="114000"/>
              </a:lnSpc>
              <a:spcBef>
                <a:spcPts val="300"/>
              </a:spcBef>
              <a:spcAft>
                <a:spcPts val="300"/>
              </a:spcAft>
            </a:pPr>
            <a:endParaRPr lang="en-US" dirty="0"/>
          </a:p>
        </p:txBody>
      </p:sp>
      <p:sp>
        <p:nvSpPr>
          <p:cNvPr id="4" name="Rectangle 3"/>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grpSp>
        <p:nvGrpSpPr>
          <p:cNvPr id="5" name="Group 8"/>
          <p:cNvGrpSpPr/>
          <p:nvPr/>
        </p:nvGrpSpPr>
        <p:grpSpPr>
          <a:xfrm>
            <a:off x="1195381" y="1935961"/>
            <a:ext cx="10591809" cy="2907502"/>
            <a:chOff x="1563245" y="3007523"/>
            <a:chExt cx="10200139" cy="2907502"/>
          </a:xfrm>
        </p:grpSpPr>
        <p:sp>
          <p:nvSpPr>
            <p:cNvPr id="7" name="Content Placeholder 2"/>
            <p:cNvSpPr txBox="1">
              <a:spLocks/>
            </p:cNvSpPr>
            <p:nvPr/>
          </p:nvSpPr>
          <p:spPr>
            <a:xfrm>
              <a:off x="1563245" y="3007523"/>
              <a:ext cx="10190617" cy="585787"/>
            </a:xfrm>
            <a:prstGeom prst="rect">
              <a:avLst/>
            </a:prstGeom>
            <a:solidFill>
              <a:schemeClr val="accent5">
                <a:lumMod val="7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pPr>
              <a:r>
                <a:rPr lang="en-US" dirty="0" smtClean="0">
                  <a:solidFill>
                    <a:schemeClr val="bg1"/>
                  </a:solidFill>
                </a:rPr>
                <a:t>Problem</a:t>
              </a:r>
              <a:endParaRPr lang="en-US" dirty="0">
                <a:solidFill>
                  <a:schemeClr val="bg1"/>
                </a:solidFill>
              </a:endParaRPr>
            </a:p>
          </p:txBody>
        </p:sp>
        <p:sp>
          <p:nvSpPr>
            <p:cNvPr id="8" name="Content Placeholder 2"/>
            <p:cNvSpPr txBox="1">
              <a:spLocks/>
            </p:cNvSpPr>
            <p:nvPr/>
          </p:nvSpPr>
          <p:spPr>
            <a:xfrm>
              <a:off x="1572767" y="3607599"/>
              <a:ext cx="10190617" cy="2307426"/>
            </a:xfrm>
            <a:prstGeom prst="rect">
              <a:avLst/>
            </a:prstGeom>
            <a:solidFill>
              <a:schemeClr val="accent5">
                <a:lumMod val="20000"/>
                <a:lumOff val="80000"/>
              </a:schemeClr>
            </a:solidFill>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pPr>
              <a:r>
                <a:rPr lang="en-US" dirty="0" smtClean="0"/>
                <a:t>32 People who save paper or bottles (or both) for recycling, 30 save paper and 14 save bottles. Find the number of people who</a:t>
              </a:r>
            </a:p>
            <a:p>
              <a:pPr marL="971550" lvl="1" indent="-514350">
                <a:lnSpc>
                  <a:spcPct val="114000"/>
                </a:lnSpc>
                <a:buAutoNum type="alphaLcParenBoth"/>
              </a:pPr>
              <a:r>
                <a:rPr lang="en-US" dirty="0" smtClean="0"/>
                <a:t>Save both;</a:t>
              </a:r>
            </a:p>
            <a:p>
              <a:pPr marL="971550" lvl="1" indent="-514350">
                <a:lnSpc>
                  <a:spcPct val="114000"/>
                </a:lnSpc>
                <a:buAutoNum type="alphaLcParenBoth"/>
              </a:pPr>
              <a:r>
                <a:rPr lang="en-US" dirty="0" smtClean="0"/>
                <a:t>Save only paper; </a:t>
              </a:r>
            </a:p>
            <a:p>
              <a:pPr marL="971550" lvl="1" indent="-514350">
                <a:lnSpc>
                  <a:spcPct val="114000"/>
                </a:lnSpc>
                <a:buAutoNum type="alphaLcParenBoth"/>
              </a:pPr>
              <a:r>
                <a:rPr lang="en-US" dirty="0" smtClean="0"/>
                <a:t>Save only bottles.</a:t>
              </a:r>
              <a:endParaRPr lang="en-US" dirty="0"/>
            </a:p>
          </p:txBody>
        </p:sp>
      </p:grpSp>
      <p:sp>
        <p:nvSpPr>
          <p:cNvPr id="6" name="Slide Number Placeholder 5"/>
          <p:cNvSpPr>
            <a:spLocks noGrp="1"/>
          </p:cNvSpPr>
          <p:nvPr>
            <p:ph type="sldNum" sz="quarter" idx="12"/>
          </p:nvPr>
        </p:nvSpPr>
        <p:spPr/>
        <p:txBody>
          <a:bodyPr/>
          <a:lstStyle/>
          <a:p>
            <a:fld id="{769106B5-6058-41AF-9CC7-A36880636D59}" type="slidenum">
              <a:rPr lang="en-US" smtClean="0"/>
              <a:pPr/>
              <a:t>19</a:t>
            </a:fld>
            <a:endParaRPr lang="en-US"/>
          </a:p>
        </p:txBody>
      </p:sp>
    </p:spTree>
    <p:extLst>
      <p:ext uri="{BB962C8B-B14F-4D97-AF65-F5344CB8AC3E}">
        <p14:creationId xmlns:p14="http://schemas.microsoft.com/office/powerpoint/2010/main" val="257281576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
            <a:ext cx="12192000" cy="1228725"/>
          </a:xfrm>
          <a:solidFill>
            <a:schemeClr val="accent1">
              <a:lumMod val="50000"/>
            </a:schemeClr>
          </a:solidFill>
        </p:spPr>
        <p:txBody>
          <a:bodyPr>
            <a:normAutofit/>
          </a:bodyPr>
          <a:lstStyle/>
          <a:p>
            <a:pPr algn="ctr"/>
            <a:r>
              <a:rPr lang="en-US" sz="4800" b="1" dirty="0">
                <a:solidFill>
                  <a:schemeClr val="bg1"/>
                </a:solidFill>
                <a:latin typeface="Rockwell" panose="02060603020205020403" pitchFamily="18" charset="0"/>
              </a:rPr>
              <a:t>The Pigeonhole Principle</a:t>
            </a:r>
          </a:p>
        </p:txBody>
      </p:sp>
      <p:sp>
        <p:nvSpPr>
          <p:cNvPr id="3" name="Content Placeholder 2"/>
          <p:cNvSpPr>
            <a:spLocks noGrp="1"/>
          </p:cNvSpPr>
          <p:nvPr>
            <p:ph idx="1"/>
          </p:nvPr>
        </p:nvSpPr>
        <p:spPr>
          <a:xfrm>
            <a:off x="871539" y="1614491"/>
            <a:ext cx="10915651" cy="4743451"/>
          </a:xfrm>
        </p:spPr>
        <p:txBody>
          <a:bodyPr/>
          <a:lstStyle/>
          <a:p>
            <a:pPr>
              <a:lnSpc>
                <a:spcPct val="114000"/>
              </a:lnSpc>
              <a:spcBef>
                <a:spcPts val="300"/>
              </a:spcBef>
              <a:spcAft>
                <a:spcPts val="300"/>
              </a:spcAft>
            </a:pPr>
            <a:endParaRPr lang="en-US" dirty="0"/>
          </a:p>
          <a:p>
            <a:pPr>
              <a:lnSpc>
                <a:spcPct val="114000"/>
              </a:lnSpc>
              <a:spcBef>
                <a:spcPts val="300"/>
              </a:spcBef>
              <a:spcAft>
                <a:spcPts val="300"/>
              </a:spcAft>
            </a:pPr>
            <a:endParaRPr lang="en-US" dirty="0" smtClean="0"/>
          </a:p>
          <a:p>
            <a:pPr>
              <a:lnSpc>
                <a:spcPct val="114000"/>
              </a:lnSpc>
              <a:spcBef>
                <a:spcPts val="300"/>
              </a:spcBef>
              <a:spcAft>
                <a:spcPts val="300"/>
              </a:spcAft>
            </a:pPr>
            <a:endParaRPr lang="en-US" dirty="0"/>
          </a:p>
          <a:p>
            <a:pPr>
              <a:lnSpc>
                <a:spcPct val="114000"/>
              </a:lnSpc>
              <a:spcBef>
                <a:spcPts val="300"/>
              </a:spcBef>
              <a:spcAft>
                <a:spcPts val="300"/>
              </a:spcAft>
            </a:pPr>
            <a:endParaRPr lang="en-US" dirty="0"/>
          </a:p>
        </p:txBody>
      </p:sp>
      <p:sp>
        <p:nvSpPr>
          <p:cNvPr id="4" name="Rectangle 3"/>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sp>
        <p:nvSpPr>
          <p:cNvPr id="6" name="Slide Number Placeholder 5"/>
          <p:cNvSpPr>
            <a:spLocks noGrp="1"/>
          </p:cNvSpPr>
          <p:nvPr>
            <p:ph type="sldNum" sz="quarter" idx="12"/>
          </p:nvPr>
        </p:nvSpPr>
        <p:spPr/>
        <p:txBody>
          <a:bodyPr/>
          <a:lstStyle/>
          <a:p>
            <a:fld id="{769106B5-6058-41AF-9CC7-A36880636D59}" type="slidenum">
              <a:rPr lang="en-US" smtClean="0"/>
              <a:pPr/>
              <a:t>20</a:t>
            </a:fld>
            <a:endParaRPr lang="en-US"/>
          </a:p>
        </p:txBody>
      </p:sp>
      <p:pic>
        <p:nvPicPr>
          <p:cNvPr id="7" name="Picture 6"/>
          <p:cNvPicPr>
            <a:picLocks noChangeAspect="1"/>
          </p:cNvPicPr>
          <p:nvPr/>
        </p:nvPicPr>
        <p:blipFill>
          <a:blip r:embed="rId2"/>
          <a:stretch>
            <a:fillRect/>
          </a:stretch>
        </p:blipFill>
        <p:spPr>
          <a:xfrm>
            <a:off x="1371599" y="1771649"/>
            <a:ext cx="9684061" cy="3886201"/>
          </a:xfrm>
          <a:prstGeom prst="rect">
            <a:avLst/>
          </a:prstGeom>
        </p:spPr>
      </p:pic>
    </p:spTree>
    <p:extLst>
      <p:ext uri="{BB962C8B-B14F-4D97-AF65-F5344CB8AC3E}">
        <p14:creationId xmlns:p14="http://schemas.microsoft.com/office/powerpoint/2010/main" val="783698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
            <a:ext cx="12192000" cy="1228725"/>
          </a:xfrm>
          <a:solidFill>
            <a:schemeClr val="accent1">
              <a:lumMod val="50000"/>
            </a:schemeClr>
          </a:solidFill>
        </p:spPr>
        <p:txBody>
          <a:bodyPr>
            <a:normAutofit/>
          </a:bodyPr>
          <a:lstStyle/>
          <a:p>
            <a:pPr algn="ctr"/>
            <a:r>
              <a:rPr lang="en-US" sz="3600" b="1" dirty="0">
                <a:solidFill>
                  <a:schemeClr val="bg1"/>
                </a:solidFill>
                <a:latin typeface="Rockwell" panose="02060603020205020403" pitchFamily="18" charset="0"/>
              </a:rPr>
              <a:t>The Pigeonhole Principle</a:t>
            </a:r>
          </a:p>
        </p:txBody>
      </p:sp>
      <p:sp>
        <p:nvSpPr>
          <p:cNvPr id="3" name="Content Placeholder 2"/>
          <p:cNvSpPr>
            <a:spLocks noGrp="1"/>
          </p:cNvSpPr>
          <p:nvPr>
            <p:ph idx="1"/>
          </p:nvPr>
        </p:nvSpPr>
        <p:spPr>
          <a:xfrm>
            <a:off x="871539" y="1614491"/>
            <a:ext cx="10915651" cy="4743451"/>
          </a:xfrm>
        </p:spPr>
        <p:txBody>
          <a:bodyPr/>
          <a:lstStyle/>
          <a:p>
            <a:pPr>
              <a:lnSpc>
                <a:spcPct val="114000"/>
              </a:lnSpc>
              <a:spcBef>
                <a:spcPts val="300"/>
              </a:spcBef>
              <a:spcAft>
                <a:spcPts val="300"/>
              </a:spcAft>
            </a:pPr>
            <a:endParaRPr lang="en-US" dirty="0"/>
          </a:p>
          <a:p>
            <a:pPr>
              <a:lnSpc>
                <a:spcPct val="114000"/>
              </a:lnSpc>
              <a:spcBef>
                <a:spcPts val="300"/>
              </a:spcBef>
              <a:spcAft>
                <a:spcPts val="300"/>
              </a:spcAft>
            </a:pPr>
            <a:endParaRPr lang="en-US" dirty="0" smtClean="0"/>
          </a:p>
          <a:p>
            <a:pPr>
              <a:lnSpc>
                <a:spcPct val="114000"/>
              </a:lnSpc>
              <a:spcBef>
                <a:spcPts val="300"/>
              </a:spcBef>
              <a:spcAft>
                <a:spcPts val="300"/>
              </a:spcAft>
            </a:pPr>
            <a:endParaRPr lang="en-US" dirty="0"/>
          </a:p>
          <a:p>
            <a:pPr>
              <a:lnSpc>
                <a:spcPct val="114000"/>
              </a:lnSpc>
              <a:spcBef>
                <a:spcPts val="300"/>
              </a:spcBef>
              <a:spcAft>
                <a:spcPts val="300"/>
              </a:spcAft>
            </a:pPr>
            <a:endParaRPr lang="en-US" dirty="0"/>
          </a:p>
        </p:txBody>
      </p:sp>
      <p:sp>
        <p:nvSpPr>
          <p:cNvPr id="4" name="Rectangle 3"/>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grpSp>
        <p:nvGrpSpPr>
          <p:cNvPr id="9" name="Group 8"/>
          <p:cNvGrpSpPr/>
          <p:nvPr/>
        </p:nvGrpSpPr>
        <p:grpSpPr>
          <a:xfrm>
            <a:off x="1038213" y="2100270"/>
            <a:ext cx="10591809" cy="1735931"/>
            <a:chOff x="1563245" y="3007523"/>
            <a:chExt cx="10200139" cy="1735931"/>
          </a:xfrm>
        </p:grpSpPr>
        <p:sp>
          <p:nvSpPr>
            <p:cNvPr id="7" name="Content Placeholder 2"/>
            <p:cNvSpPr txBox="1">
              <a:spLocks/>
            </p:cNvSpPr>
            <p:nvPr/>
          </p:nvSpPr>
          <p:spPr>
            <a:xfrm>
              <a:off x="1563245" y="3007523"/>
              <a:ext cx="10190617" cy="585787"/>
            </a:xfrm>
            <a:prstGeom prst="rect">
              <a:avLst/>
            </a:prstGeom>
            <a:solidFill>
              <a:schemeClr val="accent5">
                <a:lumMod val="7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pPr>
              <a:r>
                <a:rPr lang="en-US" dirty="0" smtClean="0">
                  <a:solidFill>
                    <a:schemeClr val="bg1"/>
                  </a:solidFill>
                </a:rPr>
                <a:t>Theorem</a:t>
              </a:r>
              <a:endParaRPr lang="en-US" dirty="0">
                <a:solidFill>
                  <a:schemeClr val="bg1"/>
                </a:solidFill>
              </a:endParaRPr>
            </a:p>
          </p:txBody>
        </p:sp>
        <p:sp>
          <p:nvSpPr>
            <p:cNvPr id="8" name="Content Placeholder 2"/>
            <p:cNvSpPr txBox="1">
              <a:spLocks/>
            </p:cNvSpPr>
            <p:nvPr/>
          </p:nvSpPr>
          <p:spPr>
            <a:xfrm>
              <a:off x="1572767" y="3607599"/>
              <a:ext cx="10190617" cy="1135855"/>
            </a:xfrm>
            <a:prstGeom prst="rect">
              <a:avLst/>
            </a:prstGeom>
            <a:solidFill>
              <a:schemeClr val="accent5">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4000"/>
                </a:lnSpc>
                <a:buNone/>
              </a:pPr>
              <a:r>
                <a:rPr lang="en-US" sz="2400" dirty="0" smtClean="0"/>
                <a:t>If k is </a:t>
              </a:r>
              <a:r>
                <a:rPr lang="en-US" sz="2400" dirty="0"/>
                <a:t>a positive integer and k+1 or more </a:t>
              </a:r>
              <a:r>
                <a:rPr lang="en-US" sz="2400" dirty="0" smtClean="0"/>
                <a:t>objects are </a:t>
              </a:r>
              <a:r>
                <a:rPr lang="en-US" sz="2400" dirty="0"/>
                <a:t>placed </a:t>
              </a:r>
              <a:r>
                <a:rPr lang="en-US" sz="2400" dirty="0" smtClean="0"/>
                <a:t>into k boxes</a:t>
              </a:r>
              <a:r>
                <a:rPr lang="en-US" sz="2400" dirty="0"/>
                <a:t>, then there is at least one box containing two or more of the objects.</a:t>
              </a:r>
            </a:p>
          </p:txBody>
        </p:sp>
      </p:grpSp>
      <p:sp>
        <p:nvSpPr>
          <p:cNvPr id="6" name="Slide Number Placeholder 5"/>
          <p:cNvSpPr>
            <a:spLocks noGrp="1"/>
          </p:cNvSpPr>
          <p:nvPr>
            <p:ph type="sldNum" sz="quarter" idx="12"/>
          </p:nvPr>
        </p:nvSpPr>
        <p:spPr/>
        <p:txBody>
          <a:bodyPr/>
          <a:lstStyle/>
          <a:p>
            <a:fld id="{769106B5-6058-41AF-9CC7-A36880636D59}" type="slidenum">
              <a:rPr lang="en-US" smtClean="0"/>
              <a:pPr/>
              <a:t>21</a:t>
            </a:fld>
            <a:endParaRPr lang="en-US"/>
          </a:p>
        </p:txBody>
      </p:sp>
    </p:spTree>
    <p:extLst>
      <p:ext uri="{BB962C8B-B14F-4D97-AF65-F5344CB8AC3E}">
        <p14:creationId xmlns:p14="http://schemas.microsoft.com/office/powerpoint/2010/main" val="115619048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
            <a:ext cx="12192000" cy="1228725"/>
          </a:xfrm>
          <a:solidFill>
            <a:schemeClr val="accent1">
              <a:lumMod val="50000"/>
            </a:schemeClr>
          </a:solidFill>
        </p:spPr>
        <p:txBody>
          <a:bodyPr>
            <a:normAutofit/>
          </a:bodyPr>
          <a:lstStyle/>
          <a:p>
            <a:pPr algn="ctr"/>
            <a:r>
              <a:rPr lang="en-US" sz="3600" b="1" dirty="0">
                <a:solidFill>
                  <a:schemeClr val="bg1"/>
                </a:solidFill>
                <a:latin typeface="Rockwell" panose="02060603020205020403" pitchFamily="18" charset="0"/>
              </a:rPr>
              <a:t>The Pigeonhole Principle</a:t>
            </a:r>
          </a:p>
        </p:txBody>
      </p:sp>
      <p:sp>
        <p:nvSpPr>
          <p:cNvPr id="3" name="Content Placeholder 2"/>
          <p:cNvSpPr>
            <a:spLocks noGrp="1"/>
          </p:cNvSpPr>
          <p:nvPr>
            <p:ph idx="1"/>
          </p:nvPr>
        </p:nvSpPr>
        <p:spPr>
          <a:xfrm>
            <a:off x="871539" y="1614491"/>
            <a:ext cx="10915651" cy="4743451"/>
          </a:xfrm>
        </p:spPr>
        <p:txBody>
          <a:bodyPr/>
          <a:lstStyle/>
          <a:p>
            <a:pPr>
              <a:lnSpc>
                <a:spcPct val="114000"/>
              </a:lnSpc>
              <a:spcBef>
                <a:spcPts val="300"/>
              </a:spcBef>
              <a:spcAft>
                <a:spcPts val="300"/>
              </a:spcAft>
            </a:pPr>
            <a:endParaRPr lang="en-US" dirty="0"/>
          </a:p>
          <a:p>
            <a:pPr>
              <a:lnSpc>
                <a:spcPct val="114000"/>
              </a:lnSpc>
              <a:spcBef>
                <a:spcPts val="300"/>
              </a:spcBef>
              <a:spcAft>
                <a:spcPts val="300"/>
              </a:spcAft>
            </a:pPr>
            <a:endParaRPr lang="en-US" dirty="0" smtClean="0"/>
          </a:p>
          <a:p>
            <a:pPr>
              <a:lnSpc>
                <a:spcPct val="114000"/>
              </a:lnSpc>
              <a:spcBef>
                <a:spcPts val="300"/>
              </a:spcBef>
              <a:spcAft>
                <a:spcPts val="300"/>
              </a:spcAft>
            </a:pPr>
            <a:endParaRPr lang="en-US" dirty="0"/>
          </a:p>
          <a:p>
            <a:pPr>
              <a:lnSpc>
                <a:spcPct val="114000"/>
              </a:lnSpc>
              <a:spcBef>
                <a:spcPts val="300"/>
              </a:spcBef>
              <a:spcAft>
                <a:spcPts val="300"/>
              </a:spcAft>
            </a:pPr>
            <a:endParaRPr lang="en-US" dirty="0"/>
          </a:p>
        </p:txBody>
      </p:sp>
      <p:sp>
        <p:nvSpPr>
          <p:cNvPr id="4" name="Rectangle 3"/>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grpSp>
        <p:nvGrpSpPr>
          <p:cNvPr id="9" name="Group 8"/>
          <p:cNvGrpSpPr/>
          <p:nvPr/>
        </p:nvGrpSpPr>
        <p:grpSpPr>
          <a:xfrm>
            <a:off x="1038213" y="2100270"/>
            <a:ext cx="10591809" cy="1735931"/>
            <a:chOff x="1563245" y="3007523"/>
            <a:chExt cx="10200139" cy="1735931"/>
          </a:xfrm>
        </p:grpSpPr>
        <p:sp>
          <p:nvSpPr>
            <p:cNvPr id="7" name="Content Placeholder 2"/>
            <p:cNvSpPr txBox="1">
              <a:spLocks/>
            </p:cNvSpPr>
            <p:nvPr/>
          </p:nvSpPr>
          <p:spPr>
            <a:xfrm>
              <a:off x="1563245" y="3007523"/>
              <a:ext cx="10190617" cy="585787"/>
            </a:xfrm>
            <a:prstGeom prst="rect">
              <a:avLst/>
            </a:prstGeom>
            <a:solidFill>
              <a:schemeClr val="accent5">
                <a:lumMod val="7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pPr>
              <a:r>
                <a:rPr lang="en-US" dirty="0" smtClean="0">
                  <a:solidFill>
                    <a:schemeClr val="bg1"/>
                  </a:solidFill>
                </a:rPr>
                <a:t>Theorem</a:t>
              </a:r>
              <a:endParaRPr lang="en-US" dirty="0">
                <a:solidFill>
                  <a:schemeClr val="bg1"/>
                </a:solidFill>
              </a:endParaRPr>
            </a:p>
          </p:txBody>
        </p:sp>
        <p:sp>
          <p:nvSpPr>
            <p:cNvPr id="8" name="Content Placeholder 2"/>
            <p:cNvSpPr txBox="1">
              <a:spLocks/>
            </p:cNvSpPr>
            <p:nvPr/>
          </p:nvSpPr>
          <p:spPr>
            <a:xfrm>
              <a:off x="1572767" y="3607599"/>
              <a:ext cx="10190617" cy="1135855"/>
            </a:xfrm>
            <a:prstGeom prst="rect">
              <a:avLst/>
            </a:prstGeom>
            <a:solidFill>
              <a:schemeClr val="accent5">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4000"/>
                </a:lnSpc>
                <a:buNone/>
              </a:pPr>
              <a:r>
                <a:rPr lang="en-US" sz="2400" dirty="0" smtClean="0"/>
                <a:t>If k is </a:t>
              </a:r>
              <a:r>
                <a:rPr lang="en-US" sz="2400" dirty="0"/>
                <a:t>a positive integer and k+1 or more </a:t>
              </a:r>
              <a:r>
                <a:rPr lang="en-US" sz="2400" dirty="0" smtClean="0"/>
                <a:t>objects are </a:t>
              </a:r>
              <a:r>
                <a:rPr lang="en-US" sz="2400" dirty="0"/>
                <a:t>placed </a:t>
              </a:r>
              <a:r>
                <a:rPr lang="en-US" sz="2400" dirty="0" smtClean="0"/>
                <a:t>into k boxes</a:t>
              </a:r>
              <a:r>
                <a:rPr lang="en-US" sz="2400" dirty="0"/>
                <a:t>, then there is at least one box containing two or more of the objects.</a:t>
              </a:r>
            </a:p>
          </p:txBody>
        </p:sp>
      </p:grpSp>
      <p:sp>
        <p:nvSpPr>
          <p:cNvPr id="6" name="Slide Number Placeholder 5"/>
          <p:cNvSpPr>
            <a:spLocks noGrp="1"/>
          </p:cNvSpPr>
          <p:nvPr>
            <p:ph type="sldNum" sz="quarter" idx="12"/>
          </p:nvPr>
        </p:nvSpPr>
        <p:spPr/>
        <p:txBody>
          <a:bodyPr/>
          <a:lstStyle/>
          <a:p>
            <a:fld id="{769106B5-6058-41AF-9CC7-A36880636D59}" type="slidenum">
              <a:rPr lang="en-US" smtClean="0"/>
              <a:pPr/>
              <a:t>22</a:t>
            </a:fld>
            <a:endParaRPr lang="en-US"/>
          </a:p>
        </p:txBody>
      </p:sp>
    </p:spTree>
    <p:extLst>
      <p:ext uri="{BB962C8B-B14F-4D97-AF65-F5344CB8AC3E}">
        <p14:creationId xmlns:p14="http://schemas.microsoft.com/office/powerpoint/2010/main" val="312387132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
            <a:ext cx="12192000" cy="1228725"/>
          </a:xfrm>
          <a:solidFill>
            <a:schemeClr val="accent1">
              <a:lumMod val="50000"/>
            </a:schemeClr>
          </a:solidFill>
        </p:spPr>
        <p:txBody>
          <a:bodyPr>
            <a:normAutofit/>
          </a:bodyPr>
          <a:lstStyle/>
          <a:p>
            <a:pPr algn="ctr"/>
            <a:r>
              <a:rPr lang="en-US" sz="3600" b="1" dirty="0">
                <a:solidFill>
                  <a:schemeClr val="bg1"/>
                </a:solidFill>
                <a:latin typeface="Rockwell" panose="02060603020205020403" pitchFamily="18" charset="0"/>
              </a:rPr>
              <a:t>The Pigeonhole </a:t>
            </a:r>
            <a:r>
              <a:rPr lang="en-US" sz="3600" b="1" dirty="0" smtClean="0">
                <a:solidFill>
                  <a:schemeClr val="bg1"/>
                </a:solidFill>
                <a:latin typeface="Rockwell" panose="02060603020205020403" pitchFamily="18" charset="0"/>
              </a:rPr>
              <a:t>Principle</a:t>
            </a:r>
            <a:endParaRPr lang="en-US" sz="3600" b="1" dirty="0">
              <a:solidFill>
                <a:schemeClr val="bg1"/>
              </a:solidFill>
              <a:latin typeface="Rockwell" panose="02060603020205020403" pitchFamily="18" charset="0"/>
            </a:endParaRPr>
          </a:p>
        </p:txBody>
      </p:sp>
      <p:sp>
        <p:nvSpPr>
          <p:cNvPr id="3" name="Content Placeholder 2"/>
          <p:cNvSpPr>
            <a:spLocks noGrp="1"/>
          </p:cNvSpPr>
          <p:nvPr>
            <p:ph idx="1"/>
          </p:nvPr>
        </p:nvSpPr>
        <p:spPr>
          <a:xfrm>
            <a:off x="871539" y="1614491"/>
            <a:ext cx="10915651" cy="4743451"/>
          </a:xfrm>
        </p:spPr>
        <p:txBody>
          <a:bodyPr/>
          <a:lstStyle/>
          <a:p>
            <a:pPr>
              <a:lnSpc>
                <a:spcPct val="114000"/>
              </a:lnSpc>
              <a:spcBef>
                <a:spcPts val="300"/>
              </a:spcBef>
              <a:spcAft>
                <a:spcPts val="300"/>
              </a:spcAft>
            </a:pPr>
            <a:endParaRPr lang="en-US" dirty="0"/>
          </a:p>
          <a:p>
            <a:pPr>
              <a:lnSpc>
                <a:spcPct val="114000"/>
              </a:lnSpc>
              <a:spcBef>
                <a:spcPts val="300"/>
              </a:spcBef>
              <a:spcAft>
                <a:spcPts val="300"/>
              </a:spcAft>
            </a:pPr>
            <a:endParaRPr lang="en-US" dirty="0" smtClean="0"/>
          </a:p>
          <a:p>
            <a:pPr>
              <a:lnSpc>
                <a:spcPct val="114000"/>
              </a:lnSpc>
              <a:spcBef>
                <a:spcPts val="300"/>
              </a:spcBef>
              <a:spcAft>
                <a:spcPts val="300"/>
              </a:spcAft>
            </a:pPr>
            <a:endParaRPr lang="en-US" dirty="0"/>
          </a:p>
          <a:p>
            <a:pPr>
              <a:lnSpc>
                <a:spcPct val="114000"/>
              </a:lnSpc>
              <a:spcBef>
                <a:spcPts val="300"/>
              </a:spcBef>
              <a:spcAft>
                <a:spcPts val="300"/>
              </a:spcAft>
            </a:pPr>
            <a:endParaRPr lang="en-US" dirty="0"/>
          </a:p>
        </p:txBody>
      </p:sp>
      <p:sp>
        <p:nvSpPr>
          <p:cNvPr id="4" name="Rectangle 3"/>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sp>
        <p:nvSpPr>
          <p:cNvPr id="7" name="Content Placeholder 2"/>
          <p:cNvSpPr txBox="1">
            <a:spLocks/>
          </p:cNvSpPr>
          <p:nvPr/>
        </p:nvSpPr>
        <p:spPr>
          <a:xfrm>
            <a:off x="1033459" y="1614491"/>
            <a:ext cx="10581921" cy="585787"/>
          </a:xfrm>
          <a:prstGeom prst="rect">
            <a:avLst/>
          </a:prstGeom>
          <a:solidFill>
            <a:schemeClr val="accent5">
              <a:lumMod val="7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pPr>
            <a:r>
              <a:rPr lang="en-US" dirty="0" smtClean="0">
                <a:solidFill>
                  <a:schemeClr val="bg1"/>
                </a:solidFill>
              </a:rPr>
              <a:t>Example</a:t>
            </a:r>
            <a:endParaRPr lang="en-US" dirty="0">
              <a:solidFill>
                <a:schemeClr val="bg1"/>
              </a:solidFill>
            </a:endParaRPr>
          </a:p>
        </p:txBody>
      </p:sp>
      <p:sp>
        <p:nvSpPr>
          <p:cNvPr id="8" name="Content Placeholder 2"/>
          <p:cNvSpPr txBox="1">
            <a:spLocks/>
          </p:cNvSpPr>
          <p:nvPr/>
        </p:nvSpPr>
        <p:spPr>
          <a:xfrm>
            <a:off x="1043347" y="2214566"/>
            <a:ext cx="10581921" cy="4141788"/>
          </a:xfrm>
          <a:prstGeom prst="rect">
            <a:avLst/>
          </a:prstGeom>
          <a:solidFill>
            <a:schemeClr val="accent5">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14000"/>
              </a:lnSpc>
            </a:pPr>
            <a:r>
              <a:rPr lang="en-US" sz="2400" dirty="0"/>
              <a:t>Suppose a department contains 13 professors, then two of the professors (pigeons) were born in the </a:t>
            </a:r>
            <a:r>
              <a:rPr lang="en-US" sz="2400" dirty="0" smtClean="0"/>
              <a:t>same month </a:t>
            </a:r>
            <a:r>
              <a:rPr lang="en-US" sz="2400" dirty="0"/>
              <a:t>(pigeonholes</a:t>
            </a:r>
            <a:r>
              <a:rPr lang="en-US" sz="2400" dirty="0" smtClean="0"/>
              <a:t>)</a:t>
            </a:r>
          </a:p>
          <a:p>
            <a:pPr algn="just">
              <a:lnSpc>
                <a:spcPct val="114000"/>
              </a:lnSpc>
            </a:pPr>
            <a:r>
              <a:rPr lang="en-US" sz="2400" dirty="0">
                <a:solidFill>
                  <a:schemeClr val="bg2">
                    <a:lumMod val="90000"/>
                  </a:schemeClr>
                </a:solidFill>
              </a:rPr>
              <a:t>Among any group of 367 people, there must be at least two with the same birthday, </a:t>
            </a:r>
            <a:r>
              <a:rPr lang="en-US" sz="2400" dirty="0" smtClean="0">
                <a:solidFill>
                  <a:schemeClr val="bg2">
                    <a:lumMod val="90000"/>
                  </a:schemeClr>
                </a:solidFill>
              </a:rPr>
              <a:t>because there </a:t>
            </a:r>
            <a:r>
              <a:rPr lang="en-US" sz="2400" dirty="0">
                <a:solidFill>
                  <a:schemeClr val="bg2">
                    <a:lumMod val="90000"/>
                  </a:schemeClr>
                </a:solidFill>
              </a:rPr>
              <a:t>are only 366 possible birthdays</a:t>
            </a:r>
            <a:r>
              <a:rPr lang="en-US" sz="2400" dirty="0" smtClean="0">
                <a:solidFill>
                  <a:schemeClr val="bg2">
                    <a:lumMod val="90000"/>
                  </a:schemeClr>
                </a:solidFill>
              </a:rPr>
              <a:t>.</a:t>
            </a:r>
          </a:p>
        </p:txBody>
      </p:sp>
      <p:sp>
        <p:nvSpPr>
          <p:cNvPr id="6" name="Slide Number Placeholder 5"/>
          <p:cNvSpPr>
            <a:spLocks noGrp="1"/>
          </p:cNvSpPr>
          <p:nvPr>
            <p:ph type="sldNum" sz="quarter" idx="12"/>
          </p:nvPr>
        </p:nvSpPr>
        <p:spPr/>
        <p:txBody>
          <a:bodyPr/>
          <a:lstStyle/>
          <a:p>
            <a:fld id="{769106B5-6058-41AF-9CC7-A36880636D59}" type="slidenum">
              <a:rPr lang="en-US" smtClean="0"/>
              <a:pPr/>
              <a:t>23</a:t>
            </a:fld>
            <a:endParaRPr lang="en-US"/>
          </a:p>
        </p:txBody>
      </p:sp>
    </p:spTree>
    <p:extLst>
      <p:ext uri="{BB962C8B-B14F-4D97-AF65-F5344CB8AC3E}">
        <p14:creationId xmlns:p14="http://schemas.microsoft.com/office/powerpoint/2010/main" val="306031304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
            <a:ext cx="12192000" cy="1228725"/>
          </a:xfrm>
          <a:solidFill>
            <a:schemeClr val="accent1">
              <a:lumMod val="50000"/>
            </a:schemeClr>
          </a:solidFill>
        </p:spPr>
        <p:txBody>
          <a:bodyPr>
            <a:normAutofit/>
          </a:bodyPr>
          <a:lstStyle/>
          <a:p>
            <a:pPr algn="ctr"/>
            <a:r>
              <a:rPr lang="en-US" sz="3600" b="1" dirty="0">
                <a:solidFill>
                  <a:schemeClr val="bg1"/>
                </a:solidFill>
                <a:latin typeface="Rockwell" panose="02060603020205020403" pitchFamily="18" charset="0"/>
              </a:rPr>
              <a:t>The Pigeonhole </a:t>
            </a:r>
            <a:r>
              <a:rPr lang="en-US" sz="3600" b="1" dirty="0" smtClean="0">
                <a:solidFill>
                  <a:schemeClr val="bg1"/>
                </a:solidFill>
                <a:latin typeface="Rockwell" panose="02060603020205020403" pitchFamily="18" charset="0"/>
              </a:rPr>
              <a:t>Principle</a:t>
            </a:r>
            <a:endParaRPr lang="en-US" sz="3600" b="1" dirty="0">
              <a:solidFill>
                <a:schemeClr val="bg1"/>
              </a:solidFill>
              <a:latin typeface="Rockwell" panose="02060603020205020403" pitchFamily="18" charset="0"/>
            </a:endParaRPr>
          </a:p>
        </p:txBody>
      </p:sp>
      <p:sp>
        <p:nvSpPr>
          <p:cNvPr id="3" name="Content Placeholder 2"/>
          <p:cNvSpPr>
            <a:spLocks noGrp="1"/>
          </p:cNvSpPr>
          <p:nvPr>
            <p:ph idx="1"/>
          </p:nvPr>
        </p:nvSpPr>
        <p:spPr>
          <a:xfrm>
            <a:off x="871539" y="1614491"/>
            <a:ext cx="10915651" cy="4743451"/>
          </a:xfrm>
        </p:spPr>
        <p:txBody>
          <a:bodyPr/>
          <a:lstStyle/>
          <a:p>
            <a:pPr>
              <a:lnSpc>
                <a:spcPct val="114000"/>
              </a:lnSpc>
              <a:spcBef>
                <a:spcPts val="300"/>
              </a:spcBef>
              <a:spcAft>
                <a:spcPts val="300"/>
              </a:spcAft>
            </a:pPr>
            <a:endParaRPr lang="en-US" dirty="0"/>
          </a:p>
          <a:p>
            <a:pPr>
              <a:lnSpc>
                <a:spcPct val="114000"/>
              </a:lnSpc>
              <a:spcBef>
                <a:spcPts val="300"/>
              </a:spcBef>
              <a:spcAft>
                <a:spcPts val="300"/>
              </a:spcAft>
            </a:pPr>
            <a:endParaRPr lang="en-US" dirty="0" smtClean="0"/>
          </a:p>
          <a:p>
            <a:pPr>
              <a:lnSpc>
                <a:spcPct val="114000"/>
              </a:lnSpc>
              <a:spcBef>
                <a:spcPts val="300"/>
              </a:spcBef>
              <a:spcAft>
                <a:spcPts val="300"/>
              </a:spcAft>
            </a:pPr>
            <a:endParaRPr lang="en-US" dirty="0"/>
          </a:p>
          <a:p>
            <a:pPr>
              <a:lnSpc>
                <a:spcPct val="114000"/>
              </a:lnSpc>
              <a:spcBef>
                <a:spcPts val="300"/>
              </a:spcBef>
              <a:spcAft>
                <a:spcPts val="300"/>
              </a:spcAft>
            </a:pPr>
            <a:endParaRPr lang="en-US" dirty="0"/>
          </a:p>
        </p:txBody>
      </p:sp>
      <p:sp>
        <p:nvSpPr>
          <p:cNvPr id="4" name="Rectangle 3"/>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sp>
        <p:nvSpPr>
          <p:cNvPr id="7" name="Content Placeholder 2"/>
          <p:cNvSpPr txBox="1">
            <a:spLocks/>
          </p:cNvSpPr>
          <p:nvPr/>
        </p:nvSpPr>
        <p:spPr>
          <a:xfrm>
            <a:off x="1033459" y="1614491"/>
            <a:ext cx="10581921" cy="585787"/>
          </a:xfrm>
          <a:prstGeom prst="rect">
            <a:avLst/>
          </a:prstGeom>
          <a:solidFill>
            <a:schemeClr val="accent5">
              <a:lumMod val="7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pPr>
            <a:r>
              <a:rPr lang="en-US" dirty="0" smtClean="0">
                <a:solidFill>
                  <a:schemeClr val="bg1"/>
                </a:solidFill>
              </a:rPr>
              <a:t>Example</a:t>
            </a:r>
            <a:endParaRPr lang="en-US" dirty="0">
              <a:solidFill>
                <a:schemeClr val="bg1"/>
              </a:solidFill>
            </a:endParaRPr>
          </a:p>
        </p:txBody>
      </p:sp>
      <p:sp>
        <p:nvSpPr>
          <p:cNvPr id="8" name="Content Placeholder 2"/>
          <p:cNvSpPr txBox="1">
            <a:spLocks/>
          </p:cNvSpPr>
          <p:nvPr/>
        </p:nvSpPr>
        <p:spPr>
          <a:xfrm>
            <a:off x="1043347" y="2214566"/>
            <a:ext cx="10581921" cy="4141788"/>
          </a:xfrm>
          <a:prstGeom prst="rect">
            <a:avLst/>
          </a:prstGeom>
          <a:solidFill>
            <a:schemeClr val="accent5">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14000"/>
              </a:lnSpc>
            </a:pPr>
            <a:r>
              <a:rPr lang="en-US" sz="2400" dirty="0">
                <a:solidFill>
                  <a:schemeClr val="bg2">
                    <a:lumMod val="90000"/>
                  </a:schemeClr>
                </a:solidFill>
              </a:rPr>
              <a:t>Suppose a department contains 13 professors, then two of the professors (pigeons) were born in the </a:t>
            </a:r>
            <a:r>
              <a:rPr lang="en-US" sz="2400" dirty="0" smtClean="0">
                <a:solidFill>
                  <a:schemeClr val="bg2">
                    <a:lumMod val="90000"/>
                  </a:schemeClr>
                </a:solidFill>
              </a:rPr>
              <a:t>same month </a:t>
            </a:r>
            <a:r>
              <a:rPr lang="en-US" sz="2400" dirty="0">
                <a:solidFill>
                  <a:schemeClr val="bg2">
                    <a:lumMod val="90000"/>
                  </a:schemeClr>
                </a:solidFill>
              </a:rPr>
              <a:t>(pigeonholes</a:t>
            </a:r>
            <a:r>
              <a:rPr lang="en-US" sz="2400" dirty="0" smtClean="0">
                <a:solidFill>
                  <a:schemeClr val="bg2">
                    <a:lumMod val="90000"/>
                  </a:schemeClr>
                </a:solidFill>
              </a:rPr>
              <a:t>)</a:t>
            </a:r>
          </a:p>
          <a:p>
            <a:pPr algn="just">
              <a:lnSpc>
                <a:spcPct val="114000"/>
              </a:lnSpc>
            </a:pPr>
            <a:r>
              <a:rPr lang="en-US" sz="2400" dirty="0"/>
              <a:t>Among any group of </a:t>
            </a:r>
            <a:r>
              <a:rPr lang="en-US" sz="2400" dirty="0" smtClean="0"/>
              <a:t>366 </a:t>
            </a:r>
            <a:r>
              <a:rPr lang="en-US" sz="2400" dirty="0"/>
              <a:t>people, there must be at least two with the same birthday, </a:t>
            </a:r>
            <a:r>
              <a:rPr lang="en-US" sz="2400" dirty="0" smtClean="0"/>
              <a:t>because there </a:t>
            </a:r>
            <a:r>
              <a:rPr lang="en-US" sz="2400" dirty="0"/>
              <a:t>are only </a:t>
            </a:r>
            <a:r>
              <a:rPr lang="en-US" sz="2400" dirty="0" smtClean="0"/>
              <a:t>365 </a:t>
            </a:r>
            <a:r>
              <a:rPr lang="en-US" sz="2400" dirty="0"/>
              <a:t>possible birthdays</a:t>
            </a:r>
            <a:r>
              <a:rPr lang="en-US" sz="2400" dirty="0" smtClean="0"/>
              <a:t>.</a:t>
            </a:r>
          </a:p>
        </p:txBody>
      </p:sp>
      <p:sp>
        <p:nvSpPr>
          <p:cNvPr id="6" name="Slide Number Placeholder 5"/>
          <p:cNvSpPr>
            <a:spLocks noGrp="1"/>
          </p:cNvSpPr>
          <p:nvPr>
            <p:ph type="sldNum" sz="quarter" idx="12"/>
          </p:nvPr>
        </p:nvSpPr>
        <p:spPr/>
        <p:txBody>
          <a:bodyPr/>
          <a:lstStyle/>
          <a:p>
            <a:fld id="{769106B5-6058-41AF-9CC7-A36880636D59}" type="slidenum">
              <a:rPr lang="en-US" smtClean="0"/>
              <a:pPr/>
              <a:t>24</a:t>
            </a:fld>
            <a:endParaRPr lang="en-US"/>
          </a:p>
        </p:txBody>
      </p:sp>
    </p:spTree>
    <p:extLst>
      <p:ext uri="{BB962C8B-B14F-4D97-AF65-F5344CB8AC3E}">
        <p14:creationId xmlns:p14="http://schemas.microsoft.com/office/powerpoint/2010/main" val="260191968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
            <a:ext cx="12192000" cy="1228725"/>
          </a:xfrm>
          <a:solidFill>
            <a:schemeClr val="accent1">
              <a:lumMod val="50000"/>
            </a:schemeClr>
          </a:solidFill>
        </p:spPr>
        <p:txBody>
          <a:bodyPr>
            <a:normAutofit/>
          </a:bodyPr>
          <a:lstStyle/>
          <a:p>
            <a:pPr algn="ctr"/>
            <a:r>
              <a:rPr lang="en-US" sz="3600" b="1" dirty="0">
                <a:solidFill>
                  <a:schemeClr val="bg1"/>
                </a:solidFill>
                <a:latin typeface="Rockwell" panose="02060603020205020403" pitchFamily="18" charset="0"/>
              </a:rPr>
              <a:t>The Pigeonhole </a:t>
            </a:r>
            <a:r>
              <a:rPr lang="en-US" sz="3600" b="1" dirty="0" smtClean="0">
                <a:solidFill>
                  <a:schemeClr val="bg1"/>
                </a:solidFill>
                <a:latin typeface="Rockwell" panose="02060603020205020403" pitchFamily="18" charset="0"/>
              </a:rPr>
              <a:t>Principle</a:t>
            </a:r>
            <a:endParaRPr lang="en-US" sz="3600" b="1" dirty="0">
              <a:solidFill>
                <a:schemeClr val="bg1"/>
              </a:solidFill>
              <a:latin typeface="Rockwell" panose="02060603020205020403" pitchFamily="18" charset="0"/>
            </a:endParaRPr>
          </a:p>
        </p:txBody>
      </p:sp>
      <p:sp>
        <p:nvSpPr>
          <p:cNvPr id="3" name="Content Placeholder 2"/>
          <p:cNvSpPr>
            <a:spLocks noGrp="1"/>
          </p:cNvSpPr>
          <p:nvPr>
            <p:ph idx="1"/>
          </p:nvPr>
        </p:nvSpPr>
        <p:spPr>
          <a:xfrm>
            <a:off x="871539" y="1614491"/>
            <a:ext cx="10915651" cy="4743451"/>
          </a:xfrm>
        </p:spPr>
        <p:txBody>
          <a:bodyPr/>
          <a:lstStyle/>
          <a:p>
            <a:pPr>
              <a:lnSpc>
                <a:spcPct val="114000"/>
              </a:lnSpc>
              <a:spcBef>
                <a:spcPts val="300"/>
              </a:spcBef>
              <a:spcAft>
                <a:spcPts val="300"/>
              </a:spcAft>
            </a:pPr>
            <a:endParaRPr lang="en-US" dirty="0"/>
          </a:p>
          <a:p>
            <a:pPr>
              <a:lnSpc>
                <a:spcPct val="114000"/>
              </a:lnSpc>
              <a:spcBef>
                <a:spcPts val="300"/>
              </a:spcBef>
              <a:spcAft>
                <a:spcPts val="300"/>
              </a:spcAft>
            </a:pPr>
            <a:endParaRPr lang="en-US" dirty="0" smtClean="0"/>
          </a:p>
          <a:p>
            <a:pPr>
              <a:lnSpc>
                <a:spcPct val="114000"/>
              </a:lnSpc>
              <a:spcBef>
                <a:spcPts val="300"/>
              </a:spcBef>
              <a:spcAft>
                <a:spcPts val="300"/>
              </a:spcAft>
            </a:pPr>
            <a:endParaRPr lang="en-US" dirty="0"/>
          </a:p>
          <a:p>
            <a:pPr>
              <a:lnSpc>
                <a:spcPct val="114000"/>
              </a:lnSpc>
              <a:spcBef>
                <a:spcPts val="300"/>
              </a:spcBef>
              <a:spcAft>
                <a:spcPts val="300"/>
              </a:spcAft>
            </a:pPr>
            <a:endParaRPr lang="en-US" dirty="0"/>
          </a:p>
        </p:txBody>
      </p:sp>
      <p:sp>
        <p:nvSpPr>
          <p:cNvPr id="4" name="Rectangle 3"/>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sp>
        <p:nvSpPr>
          <p:cNvPr id="7" name="Content Placeholder 2"/>
          <p:cNvSpPr txBox="1">
            <a:spLocks/>
          </p:cNvSpPr>
          <p:nvPr/>
        </p:nvSpPr>
        <p:spPr>
          <a:xfrm>
            <a:off x="1033459" y="1614491"/>
            <a:ext cx="10581921" cy="585787"/>
          </a:xfrm>
          <a:prstGeom prst="rect">
            <a:avLst/>
          </a:prstGeom>
          <a:solidFill>
            <a:schemeClr val="accent5">
              <a:lumMod val="7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pPr>
            <a:r>
              <a:rPr lang="en-US" dirty="0" smtClean="0">
                <a:solidFill>
                  <a:schemeClr val="bg1"/>
                </a:solidFill>
              </a:rPr>
              <a:t>Example</a:t>
            </a:r>
            <a:endParaRPr lang="en-US" dirty="0">
              <a:solidFill>
                <a:schemeClr val="bg1"/>
              </a:solidFill>
            </a:endParaRPr>
          </a:p>
        </p:txBody>
      </p:sp>
      <p:sp>
        <p:nvSpPr>
          <p:cNvPr id="8" name="Content Placeholder 2"/>
          <p:cNvSpPr txBox="1">
            <a:spLocks/>
          </p:cNvSpPr>
          <p:nvPr/>
        </p:nvSpPr>
        <p:spPr>
          <a:xfrm>
            <a:off x="1043347" y="2214566"/>
            <a:ext cx="10581921" cy="4141788"/>
          </a:xfrm>
          <a:prstGeom prst="rect">
            <a:avLst/>
          </a:prstGeom>
          <a:solidFill>
            <a:schemeClr val="accent5">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14000"/>
              </a:lnSpc>
            </a:pPr>
            <a:r>
              <a:rPr lang="en-US" sz="2400" dirty="0" smtClean="0">
                <a:solidFill>
                  <a:schemeClr val="bg2">
                    <a:lumMod val="90000"/>
                  </a:schemeClr>
                </a:solidFill>
              </a:rPr>
              <a:t>Among </a:t>
            </a:r>
            <a:r>
              <a:rPr lang="en-US" sz="2400" dirty="0">
                <a:solidFill>
                  <a:schemeClr val="bg2">
                    <a:lumMod val="90000"/>
                  </a:schemeClr>
                </a:solidFill>
              </a:rPr>
              <a:t>any group of 367 people, there must be at least two with the same birthday, </a:t>
            </a:r>
            <a:r>
              <a:rPr lang="en-US" sz="2400" dirty="0" smtClean="0">
                <a:solidFill>
                  <a:schemeClr val="bg2">
                    <a:lumMod val="90000"/>
                  </a:schemeClr>
                </a:solidFill>
              </a:rPr>
              <a:t>because there </a:t>
            </a:r>
            <a:r>
              <a:rPr lang="en-US" sz="2400" dirty="0">
                <a:solidFill>
                  <a:schemeClr val="bg2">
                    <a:lumMod val="90000"/>
                  </a:schemeClr>
                </a:solidFill>
              </a:rPr>
              <a:t>are only 366 possible birthdays</a:t>
            </a:r>
            <a:r>
              <a:rPr lang="en-US" sz="2400" dirty="0" smtClean="0">
                <a:solidFill>
                  <a:schemeClr val="bg2">
                    <a:lumMod val="90000"/>
                  </a:schemeClr>
                </a:solidFill>
              </a:rPr>
              <a:t>.</a:t>
            </a:r>
          </a:p>
          <a:p>
            <a:pPr algn="just">
              <a:lnSpc>
                <a:spcPct val="114000"/>
              </a:lnSpc>
            </a:pPr>
            <a:r>
              <a:rPr lang="en-US" sz="2400" dirty="0"/>
              <a:t>How many students must be in a class to guarantee that at least two students receive the </a:t>
            </a:r>
            <a:r>
              <a:rPr lang="en-US" sz="2400" dirty="0" smtClean="0"/>
              <a:t>same score </a:t>
            </a:r>
            <a:r>
              <a:rPr lang="en-US" sz="2400" dirty="0"/>
              <a:t>on the final exam, if the exam is graded on a scale from 0 to 100 points</a:t>
            </a:r>
            <a:r>
              <a:rPr lang="en-US" sz="2400" dirty="0" smtClean="0"/>
              <a:t>?</a:t>
            </a:r>
          </a:p>
          <a:p>
            <a:pPr algn="just">
              <a:lnSpc>
                <a:spcPct val="114000"/>
              </a:lnSpc>
            </a:pPr>
            <a:r>
              <a:rPr lang="en-US" sz="2400" i="1" dirty="0" smtClean="0"/>
              <a:t>Solution: There </a:t>
            </a:r>
            <a:r>
              <a:rPr lang="en-US" sz="2400" i="1" dirty="0"/>
              <a:t>are 101 possible scores on the final. The pigeonhole principle shows that </a:t>
            </a:r>
            <a:r>
              <a:rPr lang="en-US" sz="2400" i="1" dirty="0" smtClean="0"/>
              <a:t>among any </a:t>
            </a:r>
            <a:r>
              <a:rPr lang="en-US" sz="2400" i="1" dirty="0"/>
              <a:t>102 students there must be at least 2 students with the same score.</a:t>
            </a:r>
          </a:p>
        </p:txBody>
      </p:sp>
      <p:sp>
        <p:nvSpPr>
          <p:cNvPr id="6" name="Slide Number Placeholder 5"/>
          <p:cNvSpPr>
            <a:spLocks noGrp="1"/>
          </p:cNvSpPr>
          <p:nvPr>
            <p:ph type="sldNum" sz="quarter" idx="12"/>
          </p:nvPr>
        </p:nvSpPr>
        <p:spPr/>
        <p:txBody>
          <a:bodyPr/>
          <a:lstStyle/>
          <a:p>
            <a:fld id="{769106B5-6058-41AF-9CC7-A36880636D59}" type="slidenum">
              <a:rPr lang="en-US" smtClean="0"/>
              <a:pPr/>
              <a:t>25</a:t>
            </a:fld>
            <a:endParaRPr lang="en-US"/>
          </a:p>
        </p:txBody>
      </p:sp>
    </p:spTree>
    <p:extLst>
      <p:ext uri="{BB962C8B-B14F-4D97-AF65-F5344CB8AC3E}">
        <p14:creationId xmlns:p14="http://schemas.microsoft.com/office/powerpoint/2010/main" val="1593392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wipe(down)">
                                      <p:cBhvr>
                                        <p:cTn id="7"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
            <a:ext cx="12192000" cy="1228725"/>
          </a:xfrm>
          <a:solidFill>
            <a:schemeClr val="accent1">
              <a:lumMod val="50000"/>
            </a:schemeClr>
          </a:solidFill>
        </p:spPr>
        <p:txBody>
          <a:bodyPr>
            <a:normAutofit/>
          </a:bodyPr>
          <a:lstStyle/>
          <a:p>
            <a:pPr algn="ctr"/>
            <a:r>
              <a:rPr lang="en-US" sz="3600" b="1" dirty="0">
                <a:solidFill>
                  <a:schemeClr val="bg1"/>
                </a:solidFill>
                <a:latin typeface="Rockwell" panose="02060603020205020403" pitchFamily="18" charset="0"/>
              </a:rPr>
              <a:t>The Generalized Pigeonhole Principle</a:t>
            </a:r>
          </a:p>
        </p:txBody>
      </p:sp>
      <p:sp>
        <p:nvSpPr>
          <p:cNvPr id="3" name="Content Placeholder 2"/>
          <p:cNvSpPr>
            <a:spLocks noGrp="1"/>
          </p:cNvSpPr>
          <p:nvPr>
            <p:ph idx="1"/>
          </p:nvPr>
        </p:nvSpPr>
        <p:spPr>
          <a:xfrm>
            <a:off x="871539" y="1614491"/>
            <a:ext cx="10915651" cy="4743451"/>
          </a:xfrm>
        </p:spPr>
        <p:txBody>
          <a:bodyPr/>
          <a:lstStyle/>
          <a:p>
            <a:pPr>
              <a:lnSpc>
                <a:spcPct val="114000"/>
              </a:lnSpc>
              <a:spcBef>
                <a:spcPts val="300"/>
              </a:spcBef>
              <a:spcAft>
                <a:spcPts val="300"/>
              </a:spcAft>
            </a:pPr>
            <a:endParaRPr lang="en-US" dirty="0"/>
          </a:p>
          <a:p>
            <a:pPr>
              <a:lnSpc>
                <a:spcPct val="114000"/>
              </a:lnSpc>
              <a:spcBef>
                <a:spcPts val="300"/>
              </a:spcBef>
              <a:spcAft>
                <a:spcPts val="300"/>
              </a:spcAft>
            </a:pPr>
            <a:endParaRPr lang="en-US" dirty="0" smtClean="0"/>
          </a:p>
          <a:p>
            <a:pPr>
              <a:lnSpc>
                <a:spcPct val="114000"/>
              </a:lnSpc>
              <a:spcBef>
                <a:spcPts val="300"/>
              </a:spcBef>
              <a:spcAft>
                <a:spcPts val="300"/>
              </a:spcAft>
            </a:pPr>
            <a:endParaRPr lang="en-US" dirty="0"/>
          </a:p>
          <a:p>
            <a:pPr>
              <a:lnSpc>
                <a:spcPct val="114000"/>
              </a:lnSpc>
              <a:spcBef>
                <a:spcPts val="300"/>
              </a:spcBef>
              <a:spcAft>
                <a:spcPts val="300"/>
              </a:spcAft>
            </a:pPr>
            <a:endParaRPr lang="en-US" dirty="0"/>
          </a:p>
        </p:txBody>
      </p:sp>
      <p:sp>
        <p:nvSpPr>
          <p:cNvPr id="4" name="Rectangle 3"/>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grpSp>
        <p:nvGrpSpPr>
          <p:cNvPr id="9" name="Group 8"/>
          <p:cNvGrpSpPr/>
          <p:nvPr/>
        </p:nvGrpSpPr>
        <p:grpSpPr>
          <a:xfrm>
            <a:off x="585783" y="2100270"/>
            <a:ext cx="11158538" cy="1735931"/>
            <a:chOff x="1563245" y="3007523"/>
            <a:chExt cx="10200139" cy="1735931"/>
          </a:xfrm>
        </p:grpSpPr>
        <p:sp>
          <p:nvSpPr>
            <p:cNvPr id="7" name="Content Placeholder 2"/>
            <p:cNvSpPr txBox="1">
              <a:spLocks/>
            </p:cNvSpPr>
            <p:nvPr/>
          </p:nvSpPr>
          <p:spPr>
            <a:xfrm>
              <a:off x="1563245" y="3007523"/>
              <a:ext cx="10190617" cy="585787"/>
            </a:xfrm>
            <a:prstGeom prst="rect">
              <a:avLst/>
            </a:prstGeom>
            <a:solidFill>
              <a:schemeClr val="accent5">
                <a:lumMod val="7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pPr>
              <a:r>
                <a:rPr lang="en-US" dirty="0" smtClean="0">
                  <a:solidFill>
                    <a:schemeClr val="bg1"/>
                  </a:solidFill>
                </a:rPr>
                <a:t>Theorem</a:t>
              </a:r>
              <a:endParaRPr lang="en-US" dirty="0">
                <a:solidFill>
                  <a:schemeClr val="bg1"/>
                </a:solidFill>
              </a:endParaRPr>
            </a:p>
          </p:txBody>
        </p:sp>
        <p:sp>
          <p:nvSpPr>
            <p:cNvPr id="8" name="Content Placeholder 2"/>
            <p:cNvSpPr txBox="1">
              <a:spLocks/>
            </p:cNvSpPr>
            <p:nvPr/>
          </p:nvSpPr>
          <p:spPr>
            <a:xfrm>
              <a:off x="1572767" y="3607599"/>
              <a:ext cx="10190617" cy="1135855"/>
            </a:xfrm>
            <a:prstGeom prst="rect">
              <a:avLst/>
            </a:prstGeom>
            <a:solidFill>
              <a:schemeClr val="accent5">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4000"/>
                </a:lnSpc>
                <a:buNone/>
              </a:pPr>
              <a:r>
                <a:rPr lang="en-US" sz="2400" dirty="0"/>
                <a:t>If </a:t>
              </a:r>
              <a:r>
                <a:rPr lang="en-US" sz="2400" dirty="0" smtClean="0"/>
                <a:t>N objects </a:t>
              </a:r>
              <a:r>
                <a:rPr lang="en-US" sz="2400" dirty="0"/>
                <a:t>are placed </a:t>
              </a:r>
              <a:r>
                <a:rPr lang="en-US" sz="2400" dirty="0" smtClean="0"/>
                <a:t>into k boxes</a:t>
              </a:r>
              <a:r>
                <a:rPr lang="en-US" sz="2400" dirty="0"/>
                <a:t>, then there is at least one box containing at </a:t>
              </a:r>
              <a:r>
                <a:rPr lang="en-US" sz="2400" dirty="0" smtClean="0"/>
                <a:t>least  [N/k] objects</a:t>
              </a:r>
              <a:r>
                <a:rPr lang="en-US" sz="2400" dirty="0"/>
                <a:t>.</a:t>
              </a:r>
            </a:p>
          </p:txBody>
        </p:sp>
      </p:grpSp>
      <p:sp>
        <p:nvSpPr>
          <p:cNvPr id="6" name="Slide Number Placeholder 5"/>
          <p:cNvSpPr>
            <a:spLocks noGrp="1"/>
          </p:cNvSpPr>
          <p:nvPr>
            <p:ph type="sldNum" sz="quarter" idx="12"/>
          </p:nvPr>
        </p:nvSpPr>
        <p:spPr/>
        <p:txBody>
          <a:bodyPr/>
          <a:lstStyle/>
          <a:p>
            <a:fld id="{769106B5-6058-41AF-9CC7-A36880636D59}" type="slidenum">
              <a:rPr lang="en-US" smtClean="0"/>
              <a:pPr/>
              <a:t>26</a:t>
            </a:fld>
            <a:endParaRPr lang="en-US"/>
          </a:p>
        </p:txBody>
      </p:sp>
      <p:sp>
        <p:nvSpPr>
          <p:cNvPr id="10" name="Content Placeholder 2"/>
          <p:cNvSpPr txBox="1">
            <a:spLocks/>
          </p:cNvSpPr>
          <p:nvPr/>
        </p:nvSpPr>
        <p:spPr>
          <a:xfrm>
            <a:off x="596200" y="4400556"/>
            <a:ext cx="11137704" cy="1042999"/>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sz="2400" dirty="0"/>
              <a:t>If k</a:t>
            </a:r>
            <a:r>
              <a:rPr lang="en-US" sz="2400" dirty="0" smtClean="0"/>
              <a:t> pigeonholes </a:t>
            </a:r>
            <a:r>
              <a:rPr lang="en-US" sz="2400" dirty="0"/>
              <a:t>are occupied </a:t>
            </a:r>
            <a:r>
              <a:rPr lang="en-US" sz="2400" dirty="0" smtClean="0"/>
              <a:t>by [nk+1] </a:t>
            </a:r>
            <a:r>
              <a:rPr lang="en-US" sz="2400" dirty="0"/>
              <a:t>or more pigeons, </a:t>
            </a:r>
            <a:r>
              <a:rPr lang="en-US" sz="2400" dirty="0" smtClean="0"/>
              <a:t>where k is a positive </a:t>
            </a:r>
            <a:r>
              <a:rPr lang="en-US" sz="2400" dirty="0"/>
              <a:t>integer, then at least one pigeonhole is occupied </a:t>
            </a:r>
            <a:r>
              <a:rPr lang="en-US" sz="2400" dirty="0" smtClean="0"/>
              <a:t>by [n+1] </a:t>
            </a:r>
            <a:r>
              <a:rPr lang="en-US" sz="2400" dirty="0"/>
              <a:t>or more pigeons</a:t>
            </a:r>
          </a:p>
        </p:txBody>
      </p:sp>
    </p:spTree>
    <p:extLst>
      <p:ext uri="{BB962C8B-B14F-4D97-AF65-F5344CB8AC3E}">
        <p14:creationId xmlns:p14="http://schemas.microsoft.com/office/powerpoint/2010/main" val="233363614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
            <a:ext cx="12192000" cy="1228725"/>
          </a:xfrm>
          <a:solidFill>
            <a:schemeClr val="accent1">
              <a:lumMod val="50000"/>
            </a:schemeClr>
          </a:solidFill>
        </p:spPr>
        <p:txBody>
          <a:bodyPr>
            <a:normAutofit/>
          </a:bodyPr>
          <a:lstStyle/>
          <a:p>
            <a:pPr algn="ctr"/>
            <a:r>
              <a:rPr lang="en-US" sz="3600" b="1" dirty="0">
                <a:solidFill>
                  <a:schemeClr val="bg1"/>
                </a:solidFill>
                <a:latin typeface="Rockwell" panose="02060603020205020403" pitchFamily="18" charset="0"/>
              </a:rPr>
              <a:t>The Generalized Pigeonhole Principle</a:t>
            </a:r>
          </a:p>
        </p:txBody>
      </p:sp>
      <p:sp>
        <p:nvSpPr>
          <p:cNvPr id="3" name="Content Placeholder 2"/>
          <p:cNvSpPr>
            <a:spLocks noGrp="1"/>
          </p:cNvSpPr>
          <p:nvPr>
            <p:ph idx="1"/>
          </p:nvPr>
        </p:nvSpPr>
        <p:spPr>
          <a:xfrm>
            <a:off x="871539" y="1614491"/>
            <a:ext cx="10915651" cy="4743451"/>
          </a:xfrm>
        </p:spPr>
        <p:txBody>
          <a:bodyPr/>
          <a:lstStyle/>
          <a:p>
            <a:pPr>
              <a:lnSpc>
                <a:spcPct val="114000"/>
              </a:lnSpc>
              <a:spcBef>
                <a:spcPts val="300"/>
              </a:spcBef>
              <a:spcAft>
                <a:spcPts val="300"/>
              </a:spcAft>
            </a:pPr>
            <a:endParaRPr lang="en-US" dirty="0"/>
          </a:p>
          <a:p>
            <a:pPr>
              <a:lnSpc>
                <a:spcPct val="114000"/>
              </a:lnSpc>
              <a:spcBef>
                <a:spcPts val="300"/>
              </a:spcBef>
              <a:spcAft>
                <a:spcPts val="300"/>
              </a:spcAft>
            </a:pPr>
            <a:endParaRPr lang="en-US" dirty="0" smtClean="0"/>
          </a:p>
          <a:p>
            <a:pPr>
              <a:lnSpc>
                <a:spcPct val="114000"/>
              </a:lnSpc>
              <a:spcBef>
                <a:spcPts val="300"/>
              </a:spcBef>
              <a:spcAft>
                <a:spcPts val="300"/>
              </a:spcAft>
            </a:pPr>
            <a:endParaRPr lang="en-US" dirty="0"/>
          </a:p>
          <a:p>
            <a:pPr>
              <a:lnSpc>
                <a:spcPct val="114000"/>
              </a:lnSpc>
              <a:spcBef>
                <a:spcPts val="300"/>
              </a:spcBef>
              <a:spcAft>
                <a:spcPts val="300"/>
              </a:spcAft>
            </a:pPr>
            <a:endParaRPr lang="en-US" dirty="0"/>
          </a:p>
        </p:txBody>
      </p:sp>
      <p:sp>
        <p:nvSpPr>
          <p:cNvPr id="4" name="Rectangle 3"/>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sp>
        <p:nvSpPr>
          <p:cNvPr id="7" name="Content Placeholder 2"/>
          <p:cNvSpPr txBox="1">
            <a:spLocks/>
          </p:cNvSpPr>
          <p:nvPr/>
        </p:nvSpPr>
        <p:spPr>
          <a:xfrm>
            <a:off x="628652" y="1381526"/>
            <a:ext cx="11148121" cy="585787"/>
          </a:xfrm>
          <a:prstGeom prst="rect">
            <a:avLst/>
          </a:prstGeom>
          <a:solidFill>
            <a:schemeClr val="accent5">
              <a:lumMod val="7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pPr>
            <a:r>
              <a:rPr lang="en-US" dirty="0" smtClean="0">
                <a:solidFill>
                  <a:schemeClr val="bg1"/>
                </a:solidFill>
              </a:rPr>
              <a:t>Example</a:t>
            </a:r>
            <a:endParaRPr lang="en-US" dirty="0">
              <a:solidFill>
                <a:schemeClr val="bg1"/>
              </a:solidFill>
            </a:endParaRPr>
          </a:p>
        </p:txBody>
      </p:sp>
      <p:sp>
        <p:nvSpPr>
          <p:cNvPr id="8" name="Content Placeholder 2"/>
          <p:cNvSpPr txBox="1">
            <a:spLocks/>
          </p:cNvSpPr>
          <p:nvPr/>
        </p:nvSpPr>
        <p:spPr>
          <a:xfrm>
            <a:off x="639069" y="1981602"/>
            <a:ext cx="11148121" cy="4519211"/>
          </a:xfrm>
          <a:prstGeom prst="rect">
            <a:avLst/>
          </a:prstGeom>
          <a:solidFill>
            <a:schemeClr val="accent5">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14000"/>
              </a:lnSpc>
            </a:pPr>
            <a:r>
              <a:rPr lang="en-US" sz="2400" dirty="0"/>
              <a:t>Among 100 people there are at </a:t>
            </a:r>
            <a:r>
              <a:rPr lang="en-US" sz="2400" dirty="0" smtClean="0"/>
              <a:t>least 100/12=9 </a:t>
            </a:r>
            <a:r>
              <a:rPr lang="en-US" sz="2400" dirty="0"/>
              <a:t>who were born in the same month</a:t>
            </a:r>
            <a:r>
              <a:rPr lang="en-US" sz="2400" dirty="0" smtClean="0"/>
              <a:t>.</a:t>
            </a:r>
          </a:p>
          <a:p>
            <a:pPr algn="just">
              <a:lnSpc>
                <a:spcPct val="114000"/>
              </a:lnSpc>
            </a:pPr>
            <a:r>
              <a:rPr lang="en-US" sz="2400" dirty="0" smtClean="0">
                <a:solidFill>
                  <a:schemeClr val="bg2">
                    <a:lumMod val="90000"/>
                  </a:schemeClr>
                </a:solidFill>
              </a:rPr>
              <a:t>What </a:t>
            </a:r>
            <a:r>
              <a:rPr lang="en-US" sz="2400" dirty="0">
                <a:solidFill>
                  <a:schemeClr val="bg2">
                    <a:lumMod val="90000"/>
                  </a:schemeClr>
                </a:solidFill>
              </a:rPr>
              <a:t>is the minimum number of students required in a discrete mathematics class to be </a:t>
            </a:r>
            <a:r>
              <a:rPr lang="en-US" sz="2400" dirty="0" smtClean="0">
                <a:solidFill>
                  <a:schemeClr val="bg2">
                    <a:lumMod val="90000"/>
                  </a:schemeClr>
                </a:solidFill>
              </a:rPr>
              <a:t>sure that </a:t>
            </a:r>
            <a:r>
              <a:rPr lang="en-US" sz="2400" dirty="0">
                <a:solidFill>
                  <a:schemeClr val="bg2">
                    <a:lumMod val="90000"/>
                  </a:schemeClr>
                </a:solidFill>
              </a:rPr>
              <a:t>at least six will receive the same grade, if there are five possible grades, A, B, C, D, and F?</a:t>
            </a:r>
          </a:p>
          <a:p>
            <a:pPr marL="0" indent="0" algn="just">
              <a:lnSpc>
                <a:spcPct val="114000"/>
              </a:lnSpc>
              <a:buNone/>
            </a:pPr>
            <a:r>
              <a:rPr lang="en-US" sz="2400" dirty="0">
                <a:solidFill>
                  <a:schemeClr val="bg2">
                    <a:lumMod val="90000"/>
                  </a:schemeClr>
                </a:solidFill>
              </a:rPr>
              <a:t>Solution</a:t>
            </a:r>
            <a:r>
              <a:rPr lang="en-US" sz="2400" dirty="0" smtClean="0">
                <a:solidFill>
                  <a:schemeClr val="bg2">
                    <a:lumMod val="90000"/>
                  </a:schemeClr>
                </a:solidFill>
              </a:rPr>
              <a:t>: The </a:t>
            </a:r>
            <a:r>
              <a:rPr lang="en-US" sz="2400" dirty="0">
                <a:solidFill>
                  <a:schemeClr val="bg2">
                    <a:lumMod val="90000"/>
                  </a:schemeClr>
                </a:solidFill>
              </a:rPr>
              <a:t>minimum number of students needed to ensure that at least six students </a:t>
            </a:r>
            <a:r>
              <a:rPr lang="en-US" sz="2400" dirty="0" smtClean="0">
                <a:solidFill>
                  <a:schemeClr val="bg2">
                    <a:lumMod val="90000"/>
                  </a:schemeClr>
                </a:solidFill>
              </a:rPr>
              <a:t>receive the </a:t>
            </a:r>
            <a:r>
              <a:rPr lang="en-US" sz="2400" dirty="0">
                <a:solidFill>
                  <a:schemeClr val="bg2">
                    <a:lumMod val="90000"/>
                  </a:schemeClr>
                </a:solidFill>
              </a:rPr>
              <a:t>same grade is the smallest integer </a:t>
            </a:r>
            <a:r>
              <a:rPr lang="en-US" sz="2400" dirty="0" smtClean="0">
                <a:solidFill>
                  <a:schemeClr val="bg2">
                    <a:lumMod val="90000"/>
                  </a:schemeClr>
                </a:solidFill>
              </a:rPr>
              <a:t>N such </a:t>
            </a:r>
            <a:r>
              <a:rPr lang="en-US" sz="2400" dirty="0" err="1">
                <a:solidFill>
                  <a:schemeClr val="bg2">
                    <a:lumMod val="90000"/>
                  </a:schemeClr>
                </a:solidFill>
              </a:rPr>
              <a:t>that</a:t>
            </a:r>
            <a:r>
              <a:rPr lang="en-US" sz="2400" dirty="0" err="1" smtClean="0">
                <a:solidFill>
                  <a:schemeClr val="bg2">
                    <a:lumMod val="90000"/>
                  </a:schemeClr>
                </a:solidFill>
              </a:rPr>
              <a:t>N</a:t>
            </a:r>
            <a:r>
              <a:rPr lang="en-US" sz="2400" dirty="0" smtClean="0">
                <a:solidFill>
                  <a:schemeClr val="bg2">
                    <a:lumMod val="90000"/>
                  </a:schemeClr>
                </a:solidFill>
              </a:rPr>
              <a:t>/5=6</a:t>
            </a:r>
            <a:r>
              <a:rPr lang="en-US" sz="2400" dirty="0">
                <a:solidFill>
                  <a:schemeClr val="bg2">
                    <a:lumMod val="90000"/>
                  </a:schemeClr>
                </a:solidFill>
              </a:rPr>
              <a:t>. The smallest such integer </a:t>
            </a:r>
            <a:r>
              <a:rPr lang="en-US" sz="2400" dirty="0" smtClean="0">
                <a:solidFill>
                  <a:schemeClr val="bg2">
                    <a:lumMod val="90000"/>
                  </a:schemeClr>
                </a:solidFill>
              </a:rPr>
              <a:t>is N=5·5+1=26</a:t>
            </a:r>
            <a:r>
              <a:rPr lang="en-US" sz="2400" dirty="0">
                <a:solidFill>
                  <a:schemeClr val="bg2">
                    <a:lumMod val="90000"/>
                  </a:schemeClr>
                </a:solidFill>
              </a:rPr>
              <a:t>. If you have only 25 students, it is possible for there to be five who have received each grade so that no six students have received the same grade. Thus, 26 is the </a:t>
            </a:r>
            <a:r>
              <a:rPr lang="en-US" sz="2400" dirty="0" smtClean="0">
                <a:solidFill>
                  <a:schemeClr val="bg2">
                    <a:lumMod val="90000"/>
                  </a:schemeClr>
                </a:solidFill>
              </a:rPr>
              <a:t>minimum number </a:t>
            </a:r>
            <a:r>
              <a:rPr lang="en-US" sz="2400" dirty="0">
                <a:solidFill>
                  <a:schemeClr val="bg2">
                    <a:lumMod val="90000"/>
                  </a:schemeClr>
                </a:solidFill>
              </a:rPr>
              <a:t>of students needed to ensure that at least six students will receive the same grade. </a:t>
            </a:r>
          </a:p>
        </p:txBody>
      </p:sp>
      <p:sp>
        <p:nvSpPr>
          <p:cNvPr id="6" name="Slide Number Placeholder 5"/>
          <p:cNvSpPr>
            <a:spLocks noGrp="1"/>
          </p:cNvSpPr>
          <p:nvPr>
            <p:ph type="sldNum" sz="quarter" idx="12"/>
          </p:nvPr>
        </p:nvSpPr>
        <p:spPr/>
        <p:txBody>
          <a:bodyPr/>
          <a:lstStyle/>
          <a:p>
            <a:fld id="{769106B5-6058-41AF-9CC7-A36880636D59}" type="slidenum">
              <a:rPr lang="en-US" smtClean="0"/>
              <a:pPr/>
              <a:t>27</a:t>
            </a:fld>
            <a:endParaRPr lang="en-US"/>
          </a:p>
        </p:txBody>
      </p:sp>
    </p:spTree>
    <p:extLst>
      <p:ext uri="{BB962C8B-B14F-4D97-AF65-F5344CB8AC3E}">
        <p14:creationId xmlns:p14="http://schemas.microsoft.com/office/powerpoint/2010/main" val="156603105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
            <a:ext cx="12192000" cy="1228725"/>
          </a:xfrm>
          <a:solidFill>
            <a:schemeClr val="accent1">
              <a:lumMod val="50000"/>
            </a:schemeClr>
          </a:solidFill>
        </p:spPr>
        <p:txBody>
          <a:bodyPr>
            <a:normAutofit/>
          </a:bodyPr>
          <a:lstStyle/>
          <a:p>
            <a:pPr algn="ctr"/>
            <a:r>
              <a:rPr lang="en-US" sz="3600" b="1" dirty="0">
                <a:solidFill>
                  <a:schemeClr val="bg1"/>
                </a:solidFill>
                <a:latin typeface="Rockwell" panose="02060603020205020403" pitchFamily="18" charset="0"/>
              </a:rPr>
              <a:t>The Generalized Pigeonhole Principle</a:t>
            </a:r>
          </a:p>
        </p:txBody>
      </p:sp>
      <p:sp>
        <p:nvSpPr>
          <p:cNvPr id="3" name="Content Placeholder 2"/>
          <p:cNvSpPr>
            <a:spLocks noGrp="1"/>
          </p:cNvSpPr>
          <p:nvPr>
            <p:ph idx="1"/>
          </p:nvPr>
        </p:nvSpPr>
        <p:spPr>
          <a:xfrm>
            <a:off x="871539" y="1614491"/>
            <a:ext cx="10915651" cy="4743451"/>
          </a:xfrm>
        </p:spPr>
        <p:txBody>
          <a:bodyPr/>
          <a:lstStyle/>
          <a:p>
            <a:pPr>
              <a:lnSpc>
                <a:spcPct val="114000"/>
              </a:lnSpc>
              <a:spcBef>
                <a:spcPts val="300"/>
              </a:spcBef>
              <a:spcAft>
                <a:spcPts val="300"/>
              </a:spcAft>
            </a:pPr>
            <a:endParaRPr lang="en-US" dirty="0"/>
          </a:p>
          <a:p>
            <a:pPr>
              <a:lnSpc>
                <a:spcPct val="114000"/>
              </a:lnSpc>
              <a:spcBef>
                <a:spcPts val="300"/>
              </a:spcBef>
              <a:spcAft>
                <a:spcPts val="300"/>
              </a:spcAft>
            </a:pPr>
            <a:endParaRPr lang="en-US" dirty="0" smtClean="0"/>
          </a:p>
          <a:p>
            <a:pPr>
              <a:lnSpc>
                <a:spcPct val="114000"/>
              </a:lnSpc>
              <a:spcBef>
                <a:spcPts val="300"/>
              </a:spcBef>
              <a:spcAft>
                <a:spcPts val="300"/>
              </a:spcAft>
            </a:pPr>
            <a:endParaRPr lang="en-US" dirty="0"/>
          </a:p>
          <a:p>
            <a:pPr>
              <a:lnSpc>
                <a:spcPct val="114000"/>
              </a:lnSpc>
              <a:spcBef>
                <a:spcPts val="300"/>
              </a:spcBef>
              <a:spcAft>
                <a:spcPts val="300"/>
              </a:spcAft>
            </a:pPr>
            <a:endParaRPr lang="en-US" dirty="0"/>
          </a:p>
        </p:txBody>
      </p:sp>
      <p:sp>
        <p:nvSpPr>
          <p:cNvPr id="4" name="Rectangle 3"/>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sp>
        <p:nvSpPr>
          <p:cNvPr id="7" name="Content Placeholder 2"/>
          <p:cNvSpPr txBox="1">
            <a:spLocks/>
          </p:cNvSpPr>
          <p:nvPr/>
        </p:nvSpPr>
        <p:spPr>
          <a:xfrm>
            <a:off x="628652" y="1381526"/>
            <a:ext cx="11148121" cy="585787"/>
          </a:xfrm>
          <a:prstGeom prst="rect">
            <a:avLst/>
          </a:prstGeom>
          <a:solidFill>
            <a:schemeClr val="accent5">
              <a:lumMod val="7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pPr>
            <a:r>
              <a:rPr lang="en-US" dirty="0" smtClean="0">
                <a:solidFill>
                  <a:schemeClr val="bg1"/>
                </a:solidFill>
              </a:rPr>
              <a:t>Example</a:t>
            </a:r>
            <a:endParaRPr lang="en-US" dirty="0">
              <a:solidFill>
                <a:schemeClr val="bg1"/>
              </a:solidFill>
            </a:endParaRPr>
          </a:p>
        </p:txBody>
      </p:sp>
      <p:sp>
        <p:nvSpPr>
          <p:cNvPr id="8" name="Content Placeholder 2"/>
          <p:cNvSpPr txBox="1">
            <a:spLocks/>
          </p:cNvSpPr>
          <p:nvPr/>
        </p:nvSpPr>
        <p:spPr>
          <a:xfrm>
            <a:off x="639069" y="1981602"/>
            <a:ext cx="11148121" cy="4519211"/>
          </a:xfrm>
          <a:prstGeom prst="rect">
            <a:avLst/>
          </a:prstGeom>
          <a:solidFill>
            <a:schemeClr val="accent5">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14000"/>
              </a:lnSpc>
            </a:pPr>
            <a:r>
              <a:rPr lang="en-US" sz="2400" dirty="0" smtClean="0"/>
              <a:t>What </a:t>
            </a:r>
            <a:r>
              <a:rPr lang="en-US" sz="2400" dirty="0"/>
              <a:t>is the minimum number of students required in a discrete mathematics class to be </a:t>
            </a:r>
            <a:r>
              <a:rPr lang="en-US" sz="2400" dirty="0" smtClean="0"/>
              <a:t>sure that </a:t>
            </a:r>
            <a:r>
              <a:rPr lang="en-US" sz="2400" dirty="0"/>
              <a:t>at least six will receive the same grade, if there are five possible grades, A, B, C, D, and F?</a:t>
            </a:r>
          </a:p>
          <a:p>
            <a:pPr marL="0" indent="0" algn="just">
              <a:lnSpc>
                <a:spcPct val="114000"/>
              </a:lnSpc>
              <a:buNone/>
            </a:pPr>
            <a:r>
              <a:rPr lang="en-US" sz="2400" dirty="0"/>
              <a:t>Solution</a:t>
            </a:r>
            <a:r>
              <a:rPr lang="en-US" sz="2400" dirty="0" smtClean="0"/>
              <a:t>: The </a:t>
            </a:r>
            <a:r>
              <a:rPr lang="en-US" sz="2400" dirty="0"/>
              <a:t>minimum number of students needed to ensure that at least six students </a:t>
            </a:r>
            <a:r>
              <a:rPr lang="en-US" sz="2400" dirty="0" smtClean="0"/>
              <a:t>receive the </a:t>
            </a:r>
            <a:r>
              <a:rPr lang="en-US" sz="2400" dirty="0"/>
              <a:t>same grade is the smallest integer </a:t>
            </a:r>
            <a:r>
              <a:rPr lang="en-US" sz="2400" dirty="0" smtClean="0"/>
              <a:t>N such that N/5=6</a:t>
            </a:r>
            <a:r>
              <a:rPr lang="en-US" sz="2400" dirty="0"/>
              <a:t>. The smallest such integer </a:t>
            </a:r>
            <a:r>
              <a:rPr lang="en-US" sz="2400" dirty="0" smtClean="0"/>
              <a:t>is N=5·5+1=26</a:t>
            </a:r>
            <a:r>
              <a:rPr lang="en-US" sz="2400" dirty="0"/>
              <a:t>. If you have only 25 students, it is possible for there to be five who have received each grade so that no six students have received the same grade. Thus, 26 is the </a:t>
            </a:r>
            <a:r>
              <a:rPr lang="en-US" sz="2400" dirty="0" smtClean="0"/>
              <a:t>minimum number </a:t>
            </a:r>
            <a:r>
              <a:rPr lang="en-US" sz="2400" dirty="0"/>
              <a:t>of students needed to ensure that at least six students will receive the same grade. </a:t>
            </a:r>
          </a:p>
        </p:txBody>
      </p:sp>
      <p:sp>
        <p:nvSpPr>
          <p:cNvPr id="6" name="Slide Number Placeholder 5"/>
          <p:cNvSpPr>
            <a:spLocks noGrp="1"/>
          </p:cNvSpPr>
          <p:nvPr>
            <p:ph type="sldNum" sz="quarter" idx="12"/>
          </p:nvPr>
        </p:nvSpPr>
        <p:spPr/>
        <p:txBody>
          <a:bodyPr/>
          <a:lstStyle/>
          <a:p>
            <a:fld id="{769106B5-6058-41AF-9CC7-A36880636D59}" type="slidenum">
              <a:rPr lang="en-US" smtClean="0"/>
              <a:pPr/>
              <a:t>28</a:t>
            </a:fld>
            <a:endParaRPr lang="en-US"/>
          </a:p>
        </p:txBody>
      </p:sp>
    </p:spTree>
    <p:extLst>
      <p:ext uri="{BB962C8B-B14F-4D97-AF65-F5344CB8AC3E}">
        <p14:creationId xmlns:p14="http://schemas.microsoft.com/office/powerpoint/2010/main" val="560335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wipe(down)">
                                      <p:cBhvr>
                                        <p:cTn id="7" dur="5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
            <a:ext cx="12192000" cy="1228725"/>
          </a:xfrm>
          <a:solidFill>
            <a:schemeClr val="accent1">
              <a:lumMod val="50000"/>
            </a:schemeClr>
          </a:solidFill>
        </p:spPr>
        <p:txBody>
          <a:bodyPr>
            <a:normAutofit/>
          </a:bodyPr>
          <a:lstStyle/>
          <a:p>
            <a:pPr algn="ctr"/>
            <a:r>
              <a:rPr lang="en-US" sz="3600" b="1" dirty="0" smtClean="0">
                <a:solidFill>
                  <a:schemeClr val="bg1"/>
                </a:solidFill>
                <a:latin typeface="Rockwell" panose="02060603020205020403" pitchFamily="18" charset="0"/>
              </a:rPr>
              <a:t>Problem!!!</a:t>
            </a:r>
            <a:endParaRPr lang="en-US" sz="3600" b="1" dirty="0">
              <a:solidFill>
                <a:schemeClr val="bg1"/>
              </a:solidFill>
              <a:latin typeface="Rockwell" panose="02060603020205020403" pitchFamily="18" charset="0"/>
            </a:endParaRPr>
          </a:p>
        </p:txBody>
      </p:sp>
      <p:sp>
        <p:nvSpPr>
          <p:cNvPr id="3" name="Content Placeholder 2"/>
          <p:cNvSpPr>
            <a:spLocks noGrp="1"/>
          </p:cNvSpPr>
          <p:nvPr>
            <p:ph idx="1"/>
          </p:nvPr>
        </p:nvSpPr>
        <p:spPr>
          <a:xfrm>
            <a:off x="871539" y="1614491"/>
            <a:ext cx="10915651" cy="4743451"/>
          </a:xfrm>
        </p:spPr>
        <p:txBody>
          <a:bodyPr/>
          <a:lstStyle/>
          <a:p>
            <a:pPr>
              <a:lnSpc>
                <a:spcPct val="114000"/>
              </a:lnSpc>
              <a:spcBef>
                <a:spcPts val="300"/>
              </a:spcBef>
              <a:spcAft>
                <a:spcPts val="300"/>
              </a:spcAft>
            </a:pPr>
            <a:r>
              <a:rPr lang="en-US" dirty="0" smtClean="0"/>
              <a:t>In </a:t>
            </a:r>
            <a:r>
              <a:rPr lang="en-US" dirty="0"/>
              <a:t>how many ways can we </a:t>
            </a:r>
            <a:r>
              <a:rPr lang="en-US" dirty="0" smtClean="0"/>
              <a:t>arrange five </a:t>
            </a:r>
            <a:r>
              <a:rPr lang="en-US" dirty="0"/>
              <a:t>students in a line for a picture</a:t>
            </a:r>
            <a:r>
              <a:rPr lang="en-US" dirty="0" smtClean="0"/>
              <a:t>?</a:t>
            </a:r>
          </a:p>
          <a:p>
            <a:pPr>
              <a:lnSpc>
                <a:spcPct val="114000"/>
              </a:lnSpc>
              <a:spcBef>
                <a:spcPts val="300"/>
              </a:spcBef>
              <a:spcAft>
                <a:spcPts val="300"/>
              </a:spcAft>
            </a:pPr>
            <a:r>
              <a:rPr lang="en-US" dirty="0"/>
              <a:t>In how many ways can we select three students from a group of five students to stand in line </a:t>
            </a:r>
            <a:r>
              <a:rPr lang="en-US" dirty="0" smtClean="0"/>
              <a:t>for a </a:t>
            </a:r>
            <a:r>
              <a:rPr lang="en-US" dirty="0"/>
              <a:t>picture?</a:t>
            </a:r>
          </a:p>
          <a:p>
            <a:pPr>
              <a:lnSpc>
                <a:spcPct val="114000"/>
              </a:lnSpc>
              <a:spcBef>
                <a:spcPts val="300"/>
              </a:spcBef>
              <a:spcAft>
                <a:spcPts val="300"/>
              </a:spcAft>
            </a:pPr>
            <a:endParaRPr lang="en-US" dirty="0" smtClean="0"/>
          </a:p>
          <a:p>
            <a:pPr>
              <a:lnSpc>
                <a:spcPct val="114000"/>
              </a:lnSpc>
              <a:spcBef>
                <a:spcPts val="300"/>
              </a:spcBef>
              <a:spcAft>
                <a:spcPts val="300"/>
              </a:spcAft>
            </a:pPr>
            <a:endParaRPr lang="en-US" dirty="0"/>
          </a:p>
          <a:p>
            <a:pPr>
              <a:lnSpc>
                <a:spcPct val="114000"/>
              </a:lnSpc>
              <a:spcBef>
                <a:spcPts val="300"/>
              </a:spcBef>
              <a:spcAft>
                <a:spcPts val="300"/>
              </a:spcAft>
            </a:pPr>
            <a:endParaRPr lang="en-US" dirty="0"/>
          </a:p>
        </p:txBody>
      </p:sp>
      <p:sp>
        <p:nvSpPr>
          <p:cNvPr id="4" name="Rectangle 3"/>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sp>
        <p:nvSpPr>
          <p:cNvPr id="6" name="Slide Number Placeholder 5"/>
          <p:cNvSpPr>
            <a:spLocks noGrp="1"/>
          </p:cNvSpPr>
          <p:nvPr>
            <p:ph type="sldNum" sz="quarter" idx="12"/>
          </p:nvPr>
        </p:nvSpPr>
        <p:spPr/>
        <p:txBody>
          <a:bodyPr/>
          <a:lstStyle/>
          <a:p>
            <a:fld id="{769106B5-6058-41AF-9CC7-A36880636D59}" type="slidenum">
              <a:rPr lang="en-US" smtClean="0"/>
              <a:pPr/>
              <a:t>29</a:t>
            </a:fld>
            <a:endParaRPr lang="en-US"/>
          </a:p>
        </p:txBody>
      </p:sp>
    </p:spTree>
    <p:extLst>
      <p:ext uri="{BB962C8B-B14F-4D97-AF65-F5344CB8AC3E}">
        <p14:creationId xmlns:p14="http://schemas.microsoft.com/office/powerpoint/2010/main" val="3284835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
            <a:ext cx="12192000" cy="1228725"/>
          </a:xfrm>
          <a:solidFill>
            <a:schemeClr val="accent1">
              <a:lumMod val="50000"/>
            </a:schemeClr>
          </a:solidFill>
        </p:spPr>
        <p:txBody>
          <a:bodyPr>
            <a:normAutofit/>
          </a:bodyPr>
          <a:lstStyle/>
          <a:p>
            <a:pPr algn="ctr"/>
            <a:r>
              <a:rPr lang="en-US" sz="3600" b="1" dirty="0">
                <a:solidFill>
                  <a:schemeClr val="bg1"/>
                </a:solidFill>
                <a:latin typeface="Rockwell" panose="02060603020205020403" pitchFamily="18" charset="0"/>
              </a:rPr>
              <a:t>Permutations</a:t>
            </a:r>
          </a:p>
        </p:txBody>
      </p:sp>
      <p:sp>
        <p:nvSpPr>
          <p:cNvPr id="3" name="Content Placeholder 2"/>
          <p:cNvSpPr>
            <a:spLocks noGrp="1"/>
          </p:cNvSpPr>
          <p:nvPr>
            <p:ph idx="1"/>
          </p:nvPr>
        </p:nvSpPr>
        <p:spPr>
          <a:xfrm>
            <a:off x="871539" y="1614491"/>
            <a:ext cx="10915651" cy="4743451"/>
          </a:xfrm>
        </p:spPr>
        <p:txBody>
          <a:bodyPr/>
          <a:lstStyle/>
          <a:p>
            <a:pPr>
              <a:lnSpc>
                <a:spcPct val="114000"/>
              </a:lnSpc>
              <a:spcBef>
                <a:spcPts val="300"/>
              </a:spcBef>
              <a:spcAft>
                <a:spcPts val="300"/>
              </a:spcAft>
            </a:pPr>
            <a:endParaRPr lang="en-US" dirty="0"/>
          </a:p>
          <a:p>
            <a:pPr>
              <a:lnSpc>
                <a:spcPct val="114000"/>
              </a:lnSpc>
              <a:spcBef>
                <a:spcPts val="300"/>
              </a:spcBef>
              <a:spcAft>
                <a:spcPts val="300"/>
              </a:spcAft>
            </a:pPr>
            <a:endParaRPr lang="en-US" dirty="0" smtClean="0"/>
          </a:p>
          <a:p>
            <a:pPr>
              <a:lnSpc>
                <a:spcPct val="114000"/>
              </a:lnSpc>
              <a:spcBef>
                <a:spcPts val="300"/>
              </a:spcBef>
              <a:spcAft>
                <a:spcPts val="300"/>
              </a:spcAft>
            </a:pPr>
            <a:endParaRPr lang="en-US" dirty="0"/>
          </a:p>
          <a:p>
            <a:pPr>
              <a:lnSpc>
                <a:spcPct val="114000"/>
              </a:lnSpc>
              <a:spcBef>
                <a:spcPts val="300"/>
              </a:spcBef>
              <a:spcAft>
                <a:spcPts val="300"/>
              </a:spcAft>
            </a:pPr>
            <a:endParaRPr lang="en-US" dirty="0"/>
          </a:p>
        </p:txBody>
      </p:sp>
      <p:sp>
        <p:nvSpPr>
          <p:cNvPr id="4" name="Rectangle 3"/>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grpSp>
        <p:nvGrpSpPr>
          <p:cNvPr id="9" name="Group 8"/>
          <p:cNvGrpSpPr/>
          <p:nvPr/>
        </p:nvGrpSpPr>
        <p:grpSpPr>
          <a:xfrm>
            <a:off x="628652" y="1671652"/>
            <a:ext cx="11158538" cy="1735931"/>
            <a:chOff x="1563245" y="3007523"/>
            <a:chExt cx="10200139" cy="1735931"/>
          </a:xfrm>
        </p:grpSpPr>
        <p:sp>
          <p:nvSpPr>
            <p:cNvPr id="7" name="Content Placeholder 2"/>
            <p:cNvSpPr txBox="1">
              <a:spLocks/>
            </p:cNvSpPr>
            <p:nvPr/>
          </p:nvSpPr>
          <p:spPr>
            <a:xfrm>
              <a:off x="1563245" y="3007523"/>
              <a:ext cx="10190617" cy="585787"/>
            </a:xfrm>
            <a:prstGeom prst="rect">
              <a:avLst/>
            </a:prstGeom>
            <a:solidFill>
              <a:schemeClr val="accent5">
                <a:lumMod val="7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pPr>
              <a:r>
                <a:rPr lang="en-US" dirty="0" smtClean="0">
                  <a:solidFill>
                    <a:schemeClr val="bg1"/>
                  </a:solidFill>
                </a:rPr>
                <a:t>Theorem</a:t>
              </a:r>
              <a:endParaRPr lang="en-US" dirty="0">
                <a:solidFill>
                  <a:schemeClr val="bg1"/>
                </a:solidFill>
              </a:endParaRPr>
            </a:p>
          </p:txBody>
        </p:sp>
        <p:sp>
          <p:nvSpPr>
            <p:cNvPr id="8" name="Content Placeholder 2"/>
            <p:cNvSpPr txBox="1">
              <a:spLocks/>
            </p:cNvSpPr>
            <p:nvPr/>
          </p:nvSpPr>
          <p:spPr>
            <a:xfrm>
              <a:off x="1572767" y="3607599"/>
              <a:ext cx="10190617" cy="1135855"/>
            </a:xfrm>
            <a:prstGeom prst="rect">
              <a:avLst/>
            </a:prstGeom>
            <a:solidFill>
              <a:schemeClr val="accent5">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4000"/>
                </a:lnSpc>
                <a:buNone/>
              </a:pPr>
              <a:r>
                <a:rPr lang="en-US" sz="2400" dirty="0"/>
                <a:t>Any arrangement of a set </a:t>
              </a:r>
              <a:r>
                <a:rPr lang="en-US" sz="2400" dirty="0" smtClean="0"/>
                <a:t>of n objects </a:t>
              </a:r>
              <a:r>
                <a:rPr lang="en-US" sz="2400" dirty="0">
                  <a:solidFill>
                    <a:srgbClr val="FF0000"/>
                  </a:solidFill>
                </a:rPr>
                <a:t>in a given order</a:t>
              </a:r>
              <a:r>
                <a:rPr lang="en-US" sz="2400" dirty="0"/>
                <a:t> is called </a:t>
              </a:r>
              <a:r>
                <a:rPr lang="en-US" sz="2400" dirty="0" smtClean="0"/>
                <a:t>a permutation of </a:t>
              </a:r>
              <a:r>
                <a:rPr lang="en-US" sz="2400" dirty="0"/>
                <a:t>the object (</a:t>
              </a:r>
              <a:r>
                <a:rPr lang="en-US" sz="2400" dirty="0">
                  <a:solidFill>
                    <a:srgbClr val="00B0F0"/>
                  </a:solidFill>
                </a:rPr>
                <a:t>taken all at a time</a:t>
              </a:r>
              <a:r>
                <a:rPr lang="en-US" sz="2400" dirty="0"/>
                <a:t>).</a:t>
              </a:r>
            </a:p>
          </p:txBody>
        </p:sp>
      </p:grpSp>
      <p:sp>
        <p:nvSpPr>
          <p:cNvPr id="6" name="Slide Number Placeholder 5"/>
          <p:cNvSpPr>
            <a:spLocks noGrp="1"/>
          </p:cNvSpPr>
          <p:nvPr>
            <p:ph type="sldNum" sz="quarter" idx="12"/>
          </p:nvPr>
        </p:nvSpPr>
        <p:spPr/>
        <p:txBody>
          <a:bodyPr/>
          <a:lstStyle/>
          <a:p>
            <a:fld id="{769106B5-6058-41AF-9CC7-A36880636D59}" type="slidenum">
              <a:rPr lang="en-US" smtClean="0"/>
              <a:pPr/>
              <a:t>30</a:t>
            </a:fld>
            <a:endParaRPr lang="en-US"/>
          </a:p>
        </p:txBody>
      </p:sp>
    </p:spTree>
    <p:extLst>
      <p:ext uri="{BB962C8B-B14F-4D97-AF65-F5344CB8AC3E}">
        <p14:creationId xmlns:p14="http://schemas.microsoft.com/office/powerpoint/2010/main" val="39277696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
            <a:ext cx="12192000" cy="1228725"/>
          </a:xfrm>
          <a:solidFill>
            <a:schemeClr val="accent1">
              <a:lumMod val="50000"/>
            </a:schemeClr>
          </a:solidFill>
        </p:spPr>
        <p:txBody>
          <a:bodyPr>
            <a:normAutofit/>
          </a:bodyPr>
          <a:lstStyle/>
          <a:p>
            <a:pPr algn="ctr"/>
            <a:r>
              <a:rPr lang="en-US" sz="3600" b="1" dirty="0">
                <a:solidFill>
                  <a:schemeClr val="bg1"/>
                </a:solidFill>
                <a:latin typeface="Rockwell" panose="02060603020205020403" pitchFamily="18" charset="0"/>
              </a:rPr>
              <a:t>Permutations</a:t>
            </a:r>
          </a:p>
        </p:txBody>
      </p:sp>
      <p:sp>
        <p:nvSpPr>
          <p:cNvPr id="3" name="Content Placeholder 2"/>
          <p:cNvSpPr>
            <a:spLocks noGrp="1"/>
          </p:cNvSpPr>
          <p:nvPr>
            <p:ph idx="1"/>
          </p:nvPr>
        </p:nvSpPr>
        <p:spPr>
          <a:xfrm>
            <a:off x="871539" y="1614491"/>
            <a:ext cx="10915651" cy="4743451"/>
          </a:xfrm>
        </p:spPr>
        <p:txBody>
          <a:bodyPr/>
          <a:lstStyle/>
          <a:p>
            <a:pPr>
              <a:lnSpc>
                <a:spcPct val="114000"/>
              </a:lnSpc>
              <a:spcBef>
                <a:spcPts val="300"/>
              </a:spcBef>
              <a:spcAft>
                <a:spcPts val="300"/>
              </a:spcAft>
            </a:pPr>
            <a:endParaRPr lang="en-US" dirty="0"/>
          </a:p>
          <a:p>
            <a:pPr>
              <a:lnSpc>
                <a:spcPct val="114000"/>
              </a:lnSpc>
              <a:spcBef>
                <a:spcPts val="300"/>
              </a:spcBef>
              <a:spcAft>
                <a:spcPts val="300"/>
              </a:spcAft>
            </a:pPr>
            <a:endParaRPr lang="en-US" dirty="0" smtClean="0"/>
          </a:p>
          <a:p>
            <a:pPr>
              <a:lnSpc>
                <a:spcPct val="114000"/>
              </a:lnSpc>
              <a:spcBef>
                <a:spcPts val="300"/>
              </a:spcBef>
              <a:spcAft>
                <a:spcPts val="300"/>
              </a:spcAft>
            </a:pPr>
            <a:endParaRPr lang="en-US" dirty="0"/>
          </a:p>
          <a:p>
            <a:pPr>
              <a:lnSpc>
                <a:spcPct val="114000"/>
              </a:lnSpc>
              <a:spcBef>
                <a:spcPts val="300"/>
              </a:spcBef>
              <a:spcAft>
                <a:spcPts val="300"/>
              </a:spcAft>
            </a:pPr>
            <a:endParaRPr lang="en-US" dirty="0"/>
          </a:p>
        </p:txBody>
      </p:sp>
      <p:sp>
        <p:nvSpPr>
          <p:cNvPr id="4" name="Rectangle 3"/>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grpSp>
        <p:nvGrpSpPr>
          <p:cNvPr id="9" name="Group 8"/>
          <p:cNvGrpSpPr/>
          <p:nvPr/>
        </p:nvGrpSpPr>
        <p:grpSpPr>
          <a:xfrm>
            <a:off x="628652" y="1671652"/>
            <a:ext cx="11158538" cy="1735931"/>
            <a:chOff x="1563245" y="3007523"/>
            <a:chExt cx="10200139" cy="1735931"/>
          </a:xfrm>
        </p:grpSpPr>
        <p:sp>
          <p:nvSpPr>
            <p:cNvPr id="7" name="Content Placeholder 2"/>
            <p:cNvSpPr txBox="1">
              <a:spLocks/>
            </p:cNvSpPr>
            <p:nvPr/>
          </p:nvSpPr>
          <p:spPr>
            <a:xfrm>
              <a:off x="1563245" y="3007523"/>
              <a:ext cx="10190617" cy="585787"/>
            </a:xfrm>
            <a:prstGeom prst="rect">
              <a:avLst/>
            </a:prstGeom>
            <a:solidFill>
              <a:schemeClr val="accent5">
                <a:lumMod val="7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pPr>
              <a:r>
                <a:rPr lang="en-US" dirty="0" smtClean="0">
                  <a:solidFill>
                    <a:schemeClr val="bg1"/>
                  </a:solidFill>
                </a:rPr>
                <a:t>Theorem</a:t>
              </a:r>
              <a:endParaRPr lang="en-US" dirty="0">
                <a:solidFill>
                  <a:schemeClr val="bg1"/>
                </a:solidFill>
              </a:endParaRPr>
            </a:p>
          </p:txBody>
        </p:sp>
        <p:sp>
          <p:nvSpPr>
            <p:cNvPr id="8" name="Content Placeholder 2"/>
            <p:cNvSpPr txBox="1">
              <a:spLocks/>
            </p:cNvSpPr>
            <p:nvPr/>
          </p:nvSpPr>
          <p:spPr>
            <a:xfrm>
              <a:off x="1572767" y="3607599"/>
              <a:ext cx="10190617" cy="1135855"/>
            </a:xfrm>
            <a:prstGeom prst="rect">
              <a:avLst/>
            </a:prstGeom>
            <a:solidFill>
              <a:schemeClr val="accent5">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4000"/>
                </a:lnSpc>
                <a:buNone/>
              </a:pPr>
              <a:r>
                <a:rPr lang="en-US" sz="2400" dirty="0"/>
                <a:t>Any arrangement of a set </a:t>
              </a:r>
              <a:r>
                <a:rPr lang="en-US" sz="2400" dirty="0" smtClean="0"/>
                <a:t>of n objects </a:t>
              </a:r>
              <a:r>
                <a:rPr lang="en-US" sz="2400" dirty="0">
                  <a:solidFill>
                    <a:srgbClr val="FF0000"/>
                  </a:solidFill>
                </a:rPr>
                <a:t>in a given order</a:t>
              </a:r>
              <a:r>
                <a:rPr lang="en-US" sz="2400" dirty="0"/>
                <a:t> is called </a:t>
              </a:r>
              <a:r>
                <a:rPr lang="en-US" sz="2400" dirty="0" smtClean="0"/>
                <a:t>a permutation of </a:t>
              </a:r>
              <a:r>
                <a:rPr lang="en-US" sz="2400" dirty="0"/>
                <a:t>the object (</a:t>
              </a:r>
              <a:r>
                <a:rPr lang="en-US" sz="2400" dirty="0">
                  <a:solidFill>
                    <a:srgbClr val="00B0F0"/>
                  </a:solidFill>
                </a:rPr>
                <a:t>taken all at a time</a:t>
              </a:r>
              <a:r>
                <a:rPr lang="en-US" sz="2400" dirty="0"/>
                <a:t>).</a:t>
              </a:r>
            </a:p>
          </p:txBody>
        </p:sp>
      </p:grpSp>
      <p:sp>
        <p:nvSpPr>
          <p:cNvPr id="6" name="Slide Number Placeholder 5"/>
          <p:cNvSpPr>
            <a:spLocks noGrp="1"/>
          </p:cNvSpPr>
          <p:nvPr>
            <p:ph type="sldNum" sz="quarter" idx="12"/>
          </p:nvPr>
        </p:nvSpPr>
        <p:spPr/>
        <p:txBody>
          <a:bodyPr/>
          <a:lstStyle/>
          <a:p>
            <a:fld id="{769106B5-6058-41AF-9CC7-A36880636D59}" type="slidenum">
              <a:rPr lang="en-US" smtClean="0"/>
              <a:pPr/>
              <a:t>31</a:t>
            </a:fld>
            <a:endParaRPr lang="en-US"/>
          </a:p>
        </p:txBody>
      </p:sp>
      <p:sp>
        <p:nvSpPr>
          <p:cNvPr id="10" name="Content Placeholder 2"/>
          <p:cNvSpPr txBox="1">
            <a:spLocks/>
          </p:cNvSpPr>
          <p:nvPr/>
        </p:nvSpPr>
        <p:spPr>
          <a:xfrm>
            <a:off x="628652" y="3713167"/>
            <a:ext cx="11137704" cy="521500"/>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300"/>
              </a:spcBef>
              <a:spcAft>
                <a:spcPts val="300"/>
              </a:spcAft>
              <a:buNone/>
            </a:pPr>
            <a:r>
              <a:rPr lang="en-US" sz="2400" dirty="0"/>
              <a:t>In how many ways can we arrange </a:t>
            </a:r>
            <a:r>
              <a:rPr lang="en-US" sz="2400" dirty="0" smtClean="0"/>
              <a:t>three letter A, B, C without repetition?</a:t>
            </a:r>
            <a:endParaRPr lang="en-US" sz="2400" dirty="0"/>
          </a:p>
        </p:txBody>
      </p:sp>
    </p:spTree>
    <p:extLst>
      <p:ext uri="{BB962C8B-B14F-4D97-AF65-F5344CB8AC3E}">
        <p14:creationId xmlns:p14="http://schemas.microsoft.com/office/powerpoint/2010/main" val="197540986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
            <a:ext cx="12192000" cy="1228725"/>
          </a:xfrm>
          <a:solidFill>
            <a:schemeClr val="accent1">
              <a:lumMod val="50000"/>
            </a:schemeClr>
          </a:solidFill>
        </p:spPr>
        <p:txBody>
          <a:bodyPr>
            <a:normAutofit/>
          </a:bodyPr>
          <a:lstStyle/>
          <a:p>
            <a:pPr algn="ctr"/>
            <a:r>
              <a:rPr lang="en-US" sz="3600" b="1" dirty="0">
                <a:solidFill>
                  <a:schemeClr val="bg1"/>
                </a:solidFill>
                <a:latin typeface="Rockwell" panose="02060603020205020403" pitchFamily="18" charset="0"/>
              </a:rPr>
              <a:t>Permutations</a:t>
            </a:r>
          </a:p>
        </p:txBody>
      </p:sp>
      <p:sp>
        <p:nvSpPr>
          <p:cNvPr id="3" name="Content Placeholder 2"/>
          <p:cNvSpPr>
            <a:spLocks noGrp="1"/>
          </p:cNvSpPr>
          <p:nvPr>
            <p:ph idx="1"/>
          </p:nvPr>
        </p:nvSpPr>
        <p:spPr>
          <a:xfrm>
            <a:off x="871539" y="1614491"/>
            <a:ext cx="10915651" cy="4743451"/>
          </a:xfrm>
        </p:spPr>
        <p:txBody>
          <a:bodyPr/>
          <a:lstStyle/>
          <a:p>
            <a:pPr>
              <a:lnSpc>
                <a:spcPct val="114000"/>
              </a:lnSpc>
              <a:spcBef>
                <a:spcPts val="300"/>
              </a:spcBef>
              <a:spcAft>
                <a:spcPts val="300"/>
              </a:spcAft>
            </a:pPr>
            <a:endParaRPr lang="en-US" dirty="0"/>
          </a:p>
          <a:p>
            <a:pPr>
              <a:lnSpc>
                <a:spcPct val="114000"/>
              </a:lnSpc>
              <a:spcBef>
                <a:spcPts val="300"/>
              </a:spcBef>
              <a:spcAft>
                <a:spcPts val="300"/>
              </a:spcAft>
            </a:pPr>
            <a:endParaRPr lang="en-US" dirty="0" smtClean="0"/>
          </a:p>
          <a:p>
            <a:pPr>
              <a:lnSpc>
                <a:spcPct val="114000"/>
              </a:lnSpc>
              <a:spcBef>
                <a:spcPts val="300"/>
              </a:spcBef>
              <a:spcAft>
                <a:spcPts val="300"/>
              </a:spcAft>
            </a:pPr>
            <a:endParaRPr lang="en-US" dirty="0"/>
          </a:p>
          <a:p>
            <a:pPr>
              <a:lnSpc>
                <a:spcPct val="114000"/>
              </a:lnSpc>
              <a:spcBef>
                <a:spcPts val="300"/>
              </a:spcBef>
              <a:spcAft>
                <a:spcPts val="300"/>
              </a:spcAft>
            </a:pPr>
            <a:endParaRPr lang="en-US" dirty="0"/>
          </a:p>
        </p:txBody>
      </p:sp>
      <p:sp>
        <p:nvSpPr>
          <p:cNvPr id="4" name="Rectangle 3"/>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grpSp>
        <p:nvGrpSpPr>
          <p:cNvPr id="9" name="Group 8"/>
          <p:cNvGrpSpPr/>
          <p:nvPr/>
        </p:nvGrpSpPr>
        <p:grpSpPr>
          <a:xfrm>
            <a:off x="628652" y="1671652"/>
            <a:ext cx="11158538" cy="1735931"/>
            <a:chOff x="1563245" y="3007523"/>
            <a:chExt cx="10200139" cy="1735931"/>
          </a:xfrm>
        </p:grpSpPr>
        <p:sp>
          <p:nvSpPr>
            <p:cNvPr id="7" name="Content Placeholder 2"/>
            <p:cNvSpPr txBox="1">
              <a:spLocks/>
            </p:cNvSpPr>
            <p:nvPr/>
          </p:nvSpPr>
          <p:spPr>
            <a:xfrm>
              <a:off x="1563245" y="3007523"/>
              <a:ext cx="10190617" cy="585787"/>
            </a:xfrm>
            <a:prstGeom prst="rect">
              <a:avLst/>
            </a:prstGeom>
            <a:solidFill>
              <a:schemeClr val="accent5">
                <a:lumMod val="7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pPr>
              <a:r>
                <a:rPr lang="en-US" dirty="0" smtClean="0">
                  <a:solidFill>
                    <a:schemeClr val="bg1"/>
                  </a:solidFill>
                </a:rPr>
                <a:t>Theorem</a:t>
              </a:r>
              <a:endParaRPr lang="en-US" dirty="0">
                <a:solidFill>
                  <a:schemeClr val="bg1"/>
                </a:solidFill>
              </a:endParaRPr>
            </a:p>
          </p:txBody>
        </p:sp>
        <p:sp>
          <p:nvSpPr>
            <p:cNvPr id="8" name="Content Placeholder 2"/>
            <p:cNvSpPr txBox="1">
              <a:spLocks/>
            </p:cNvSpPr>
            <p:nvPr/>
          </p:nvSpPr>
          <p:spPr>
            <a:xfrm>
              <a:off x="1572767" y="3607599"/>
              <a:ext cx="10190617" cy="1135855"/>
            </a:xfrm>
            <a:prstGeom prst="rect">
              <a:avLst/>
            </a:prstGeom>
            <a:solidFill>
              <a:schemeClr val="accent5">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4000"/>
                </a:lnSpc>
                <a:buNone/>
              </a:pPr>
              <a:r>
                <a:rPr lang="en-US" sz="2400" dirty="0"/>
                <a:t>Any arrangement of a set </a:t>
              </a:r>
              <a:r>
                <a:rPr lang="en-US" sz="2400" dirty="0" smtClean="0"/>
                <a:t>of n objects </a:t>
              </a:r>
              <a:r>
                <a:rPr lang="en-US" sz="2400" dirty="0">
                  <a:solidFill>
                    <a:srgbClr val="FF0000"/>
                  </a:solidFill>
                </a:rPr>
                <a:t>in a given order</a:t>
              </a:r>
              <a:r>
                <a:rPr lang="en-US" sz="2400" dirty="0"/>
                <a:t> is called </a:t>
              </a:r>
              <a:r>
                <a:rPr lang="en-US" sz="2400" dirty="0" smtClean="0"/>
                <a:t>a permutation of </a:t>
              </a:r>
              <a:r>
                <a:rPr lang="en-US" sz="2400" dirty="0"/>
                <a:t>the object (</a:t>
              </a:r>
              <a:r>
                <a:rPr lang="en-US" sz="2400" dirty="0">
                  <a:solidFill>
                    <a:srgbClr val="00B0F0"/>
                  </a:solidFill>
                </a:rPr>
                <a:t>taken all at a time</a:t>
              </a:r>
              <a:r>
                <a:rPr lang="en-US" sz="2400" dirty="0"/>
                <a:t>).</a:t>
              </a:r>
            </a:p>
          </p:txBody>
        </p:sp>
      </p:grpSp>
      <p:sp>
        <p:nvSpPr>
          <p:cNvPr id="6" name="Slide Number Placeholder 5"/>
          <p:cNvSpPr>
            <a:spLocks noGrp="1"/>
          </p:cNvSpPr>
          <p:nvPr>
            <p:ph type="sldNum" sz="quarter" idx="12"/>
          </p:nvPr>
        </p:nvSpPr>
        <p:spPr/>
        <p:txBody>
          <a:bodyPr/>
          <a:lstStyle/>
          <a:p>
            <a:fld id="{769106B5-6058-41AF-9CC7-A36880636D59}" type="slidenum">
              <a:rPr lang="en-US" smtClean="0"/>
              <a:pPr/>
              <a:t>32</a:t>
            </a:fld>
            <a:endParaRPr lang="en-US"/>
          </a:p>
        </p:txBody>
      </p:sp>
      <p:sp>
        <p:nvSpPr>
          <p:cNvPr id="10" name="Content Placeholder 2"/>
          <p:cNvSpPr txBox="1">
            <a:spLocks/>
          </p:cNvSpPr>
          <p:nvPr/>
        </p:nvSpPr>
        <p:spPr>
          <a:xfrm>
            <a:off x="628652" y="3713167"/>
            <a:ext cx="11137704" cy="521500"/>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300"/>
              </a:spcBef>
              <a:spcAft>
                <a:spcPts val="300"/>
              </a:spcAft>
              <a:buNone/>
            </a:pPr>
            <a:r>
              <a:rPr lang="en-US" sz="2400" dirty="0"/>
              <a:t>In how many ways can we arrange </a:t>
            </a:r>
            <a:r>
              <a:rPr lang="en-US" sz="2400" dirty="0" smtClean="0"/>
              <a:t>three letter A, B, C without repetition?</a:t>
            </a:r>
            <a:endParaRPr lang="en-US" sz="2400" dirty="0"/>
          </a:p>
        </p:txBody>
      </p:sp>
      <p:grpSp>
        <p:nvGrpSpPr>
          <p:cNvPr id="11" name="Group 10"/>
          <p:cNvGrpSpPr/>
          <p:nvPr/>
        </p:nvGrpSpPr>
        <p:grpSpPr>
          <a:xfrm>
            <a:off x="639069" y="4548987"/>
            <a:ext cx="11158537" cy="1308889"/>
            <a:chOff x="1563245" y="3007523"/>
            <a:chExt cx="10200138" cy="1308889"/>
          </a:xfrm>
        </p:grpSpPr>
        <p:sp>
          <p:nvSpPr>
            <p:cNvPr id="12" name="Content Placeholder 2"/>
            <p:cNvSpPr txBox="1">
              <a:spLocks/>
            </p:cNvSpPr>
            <p:nvPr/>
          </p:nvSpPr>
          <p:spPr>
            <a:xfrm>
              <a:off x="1563245" y="3007523"/>
              <a:ext cx="10190617" cy="585787"/>
            </a:xfrm>
            <a:prstGeom prst="rect">
              <a:avLst/>
            </a:prstGeom>
            <a:solidFill>
              <a:schemeClr val="accent5">
                <a:lumMod val="7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pPr>
              <a:r>
                <a:rPr lang="en-US" dirty="0">
                  <a:solidFill>
                    <a:schemeClr val="bg1"/>
                  </a:solidFill>
                </a:rPr>
                <a:t>Corollary</a:t>
              </a:r>
            </a:p>
          </p:txBody>
        </p:sp>
        <p:sp>
          <p:nvSpPr>
            <p:cNvPr id="13" name="Content Placeholder 2"/>
            <p:cNvSpPr txBox="1">
              <a:spLocks/>
            </p:cNvSpPr>
            <p:nvPr/>
          </p:nvSpPr>
          <p:spPr>
            <a:xfrm>
              <a:off x="1572767" y="3607600"/>
              <a:ext cx="10190616" cy="708812"/>
            </a:xfrm>
            <a:prstGeom prst="rect">
              <a:avLst/>
            </a:prstGeom>
            <a:solidFill>
              <a:schemeClr val="accent5">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4000"/>
                </a:lnSpc>
                <a:buNone/>
              </a:pPr>
              <a:r>
                <a:rPr lang="en-US" sz="2400" dirty="0"/>
                <a:t>There </a:t>
              </a:r>
              <a:r>
                <a:rPr lang="en-US" sz="2400" dirty="0" smtClean="0"/>
                <a:t>are n</a:t>
              </a:r>
              <a:r>
                <a:rPr lang="en-US" sz="2400" dirty="0"/>
                <a:t>! permutations </a:t>
              </a:r>
              <a:r>
                <a:rPr lang="en-US" sz="2400" dirty="0" smtClean="0"/>
                <a:t>of n objects </a:t>
              </a:r>
              <a:r>
                <a:rPr lang="en-US" sz="2400" dirty="0"/>
                <a:t>(taken all at a time).</a:t>
              </a:r>
            </a:p>
          </p:txBody>
        </p:sp>
      </p:grpSp>
    </p:spTree>
    <p:extLst>
      <p:ext uri="{BB962C8B-B14F-4D97-AF65-F5344CB8AC3E}">
        <p14:creationId xmlns:p14="http://schemas.microsoft.com/office/powerpoint/2010/main" val="117459711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
            <a:ext cx="12192000" cy="1228725"/>
          </a:xfrm>
          <a:solidFill>
            <a:schemeClr val="accent1">
              <a:lumMod val="50000"/>
            </a:schemeClr>
          </a:solidFill>
        </p:spPr>
        <p:txBody>
          <a:bodyPr>
            <a:normAutofit/>
          </a:bodyPr>
          <a:lstStyle/>
          <a:p>
            <a:pPr algn="ctr"/>
            <a:r>
              <a:rPr lang="en-US" sz="4800" b="1" dirty="0">
                <a:solidFill>
                  <a:schemeClr val="bg1"/>
                </a:solidFill>
              </a:rPr>
              <a:t>r-permutation</a:t>
            </a:r>
            <a:endParaRPr lang="en-US" sz="4800" b="1" dirty="0">
              <a:solidFill>
                <a:schemeClr val="bg1"/>
              </a:solidFill>
              <a:latin typeface="Rockwell" panose="02060603020205020403" pitchFamily="18" charset="0"/>
            </a:endParaRPr>
          </a:p>
        </p:txBody>
      </p:sp>
      <p:sp>
        <p:nvSpPr>
          <p:cNvPr id="3" name="Content Placeholder 2"/>
          <p:cNvSpPr>
            <a:spLocks noGrp="1"/>
          </p:cNvSpPr>
          <p:nvPr>
            <p:ph idx="1"/>
          </p:nvPr>
        </p:nvSpPr>
        <p:spPr>
          <a:xfrm>
            <a:off x="871539" y="1614491"/>
            <a:ext cx="10915651" cy="4743451"/>
          </a:xfrm>
        </p:spPr>
        <p:txBody>
          <a:bodyPr/>
          <a:lstStyle/>
          <a:p>
            <a:pPr>
              <a:lnSpc>
                <a:spcPct val="114000"/>
              </a:lnSpc>
              <a:spcBef>
                <a:spcPts val="300"/>
              </a:spcBef>
              <a:spcAft>
                <a:spcPts val="300"/>
              </a:spcAft>
            </a:pPr>
            <a:endParaRPr lang="en-US" dirty="0"/>
          </a:p>
          <a:p>
            <a:pPr>
              <a:lnSpc>
                <a:spcPct val="114000"/>
              </a:lnSpc>
              <a:spcBef>
                <a:spcPts val="300"/>
              </a:spcBef>
              <a:spcAft>
                <a:spcPts val="300"/>
              </a:spcAft>
            </a:pPr>
            <a:endParaRPr lang="en-US" dirty="0" smtClean="0"/>
          </a:p>
          <a:p>
            <a:pPr>
              <a:lnSpc>
                <a:spcPct val="114000"/>
              </a:lnSpc>
              <a:spcBef>
                <a:spcPts val="300"/>
              </a:spcBef>
              <a:spcAft>
                <a:spcPts val="300"/>
              </a:spcAft>
            </a:pPr>
            <a:endParaRPr lang="en-US" dirty="0"/>
          </a:p>
          <a:p>
            <a:pPr>
              <a:lnSpc>
                <a:spcPct val="114000"/>
              </a:lnSpc>
              <a:spcBef>
                <a:spcPts val="300"/>
              </a:spcBef>
              <a:spcAft>
                <a:spcPts val="300"/>
              </a:spcAft>
            </a:pPr>
            <a:endParaRPr lang="en-US" dirty="0"/>
          </a:p>
        </p:txBody>
      </p:sp>
      <p:sp>
        <p:nvSpPr>
          <p:cNvPr id="4" name="Rectangle 3"/>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grpSp>
        <p:nvGrpSpPr>
          <p:cNvPr id="9" name="Group 8"/>
          <p:cNvGrpSpPr/>
          <p:nvPr/>
        </p:nvGrpSpPr>
        <p:grpSpPr>
          <a:xfrm>
            <a:off x="585783" y="2100270"/>
            <a:ext cx="11158538" cy="1735931"/>
            <a:chOff x="1563245" y="3007523"/>
            <a:chExt cx="10200139" cy="1735931"/>
          </a:xfrm>
        </p:grpSpPr>
        <p:sp>
          <p:nvSpPr>
            <p:cNvPr id="7" name="Content Placeholder 2"/>
            <p:cNvSpPr txBox="1">
              <a:spLocks/>
            </p:cNvSpPr>
            <p:nvPr/>
          </p:nvSpPr>
          <p:spPr>
            <a:xfrm>
              <a:off x="1563245" y="3007523"/>
              <a:ext cx="10190617" cy="585787"/>
            </a:xfrm>
            <a:prstGeom prst="rect">
              <a:avLst/>
            </a:prstGeom>
            <a:solidFill>
              <a:schemeClr val="accent5">
                <a:lumMod val="7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pPr>
              <a:r>
                <a:rPr lang="en-US" dirty="0" smtClean="0">
                  <a:solidFill>
                    <a:schemeClr val="bg1"/>
                  </a:solidFill>
                </a:rPr>
                <a:t>Theorem</a:t>
              </a:r>
              <a:endParaRPr lang="en-US" dirty="0">
                <a:solidFill>
                  <a:schemeClr val="bg1"/>
                </a:solidFill>
              </a:endParaRPr>
            </a:p>
          </p:txBody>
        </p:sp>
        <p:sp>
          <p:nvSpPr>
            <p:cNvPr id="8" name="Content Placeholder 2"/>
            <p:cNvSpPr txBox="1">
              <a:spLocks/>
            </p:cNvSpPr>
            <p:nvPr/>
          </p:nvSpPr>
          <p:spPr>
            <a:xfrm>
              <a:off x="1572767" y="3607599"/>
              <a:ext cx="10190617" cy="1135855"/>
            </a:xfrm>
            <a:prstGeom prst="rect">
              <a:avLst/>
            </a:prstGeom>
            <a:solidFill>
              <a:schemeClr val="accent5">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4000"/>
                </a:lnSpc>
                <a:buNone/>
              </a:pPr>
              <a:r>
                <a:rPr lang="en-US" sz="2400" dirty="0"/>
                <a:t>Any arrangement of </a:t>
              </a:r>
              <a:r>
                <a:rPr lang="en-US" sz="2400" dirty="0" smtClean="0"/>
                <a:t>any </a:t>
              </a:r>
              <a:r>
                <a:rPr lang="en-US" sz="2400" i="1" dirty="0" smtClean="0">
                  <a:solidFill>
                    <a:srgbClr val="FF0000"/>
                  </a:solidFill>
                </a:rPr>
                <a:t>r ≤ n</a:t>
              </a:r>
              <a:r>
                <a:rPr lang="en-US" sz="2400" dirty="0" smtClean="0"/>
                <a:t> of </a:t>
              </a:r>
              <a:r>
                <a:rPr lang="en-US" sz="2400" i="1" dirty="0" smtClean="0">
                  <a:solidFill>
                    <a:schemeClr val="accent1">
                      <a:lumMod val="75000"/>
                    </a:schemeClr>
                  </a:solidFill>
                </a:rPr>
                <a:t>n</a:t>
              </a:r>
              <a:r>
                <a:rPr lang="en-US" sz="2400" dirty="0" smtClean="0"/>
                <a:t> </a:t>
              </a:r>
              <a:r>
                <a:rPr lang="en-US" sz="2400" dirty="0"/>
                <a:t>objects in a given order is called an </a:t>
              </a:r>
              <a:r>
                <a:rPr lang="en-US" sz="2400" dirty="0" smtClean="0"/>
                <a:t>“r-permutation” </a:t>
              </a:r>
              <a:r>
                <a:rPr lang="en-US" sz="2400" dirty="0"/>
                <a:t>or “a permutation </a:t>
              </a:r>
              <a:r>
                <a:rPr lang="en-US" sz="2400" dirty="0" smtClean="0"/>
                <a:t>of then objects taken r at </a:t>
              </a:r>
              <a:r>
                <a:rPr lang="en-US" sz="2400" dirty="0"/>
                <a:t>a time.”</a:t>
              </a:r>
            </a:p>
          </p:txBody>
        </p:sp>
      </p:grpSp>
      <p:sp>
        <p:nvSpPr>
          <p:cNvPr id="6" name="Slide Number Placeholder 5"/>
          <p:cNvSpPr>
            <a:spLocks noGrp="1"/>
          </p:cNvSpPr>
          <p:nvPr>
            <p:ph type="sldNum" sz="quarter" idx="12"/>
          </p:nvPr>
        </p:nvSpPr>
        <p:spPr/>
        <p:txBody>
          <a:bodyPr/>
          <a:lstStyle/>
          <a:p>
            <a:fld id="{769106B5-6058-41AF-9CC7-A36880636D59}" type="slidenum">
              <a:rPr lang="en-US" smtClean="0"/>
              <a:pPr/>
              <a:t>33</a:t>
            </a:fld>
            <a:endParaRPr lang="en-US"/>
          </a:p>
        </p:txBody>
      </p:sp>
    </p:spTree>
    <p:extLst>
      <p:ext uri="{BB962C8B-B14F-4D97-AF65-F5344CB8AC3E}">
        <p14:creationId xmlns:p14="http://schemas.microsoft.com/office/powerpoint/2010/main" val="410046859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
            <a:ext cx="12192000" cy="1228725"/>
          </a:xfrm>
          <a:solidFill>
            <a:schemeClr val="accent1">
              <a:lumMod val="50000"/>
            </a:schemeClr>
          </a:solidFill>
        </p:spPr>
        <p:txBody>
          <a:bodyPr>
            <a:normAutofit/>
          </a:bodyPr>
          <a:lstStyle/>
          <a:p>
            <a:pPr algn="ctr"/>
            <a:r>
              <a:rPr lang="en-US" sz="4800" b="1" dirty="0">
                <a:solidFill>
                  <a:schemeClr val="bg1"/>
                </a:solidFill>
              </a:rPr>
              <a:t>r-permutation</a:t>
            </a:r>
            <a:endParaRPr lang="en-US" sz="4800" b="1" dirty="0">
              <a:solidFill>
                <a:schemeClr val="bg1"/>
              </a:solidFill>
              <a:latin typeface="Rockwell" panose="02060603020205020403" pitchFamily="18" charset="0"/>
            </a:endParaRPr>
          </a:p>
        </p:txBody>
      </p:sp>
      <p:sp>
        <p:nvSpPr>
          <p:cNvPr id="3" name="Content Placeholder 2"/>
          <p:cNvSpPr>
            <a:spLocks noGrp="1"/>
          </p:cNvSpPr>
          <p:nvPr>
            <p:ph idx="1"/>
          </p:nvPr>
        </p:nvSpPr>
        <p:spPr>
          <a:xfrm>
            <a:off x="871539" y="1614491"/>
            <a:ext cx="10915651" cy="4743451"/>
          </a:xfrm>
        </p:spPr>
        <p:txBody>
          <a:bodyPr/>
          <a:lstStyle/>
          <a:p>
            <a:pPr>
              <a:lnSpc>
                <a:spcPct val="114000"/>
              </a:lnSpc>
              <a:spcBef>
                <a:spcPts val="300"/>
              </a:spcBef>
              <a:spcAft>
                <a:spcPts val="300"/>
              </a:spcAft>
            </a:pPr>
            <a:endParaRPr lang="en-US" dirty="0"/>
          </a:p>
          <a:p>
            <a:pPr>
              <a:lnSpc>
                <a:spcPct val="114000"/>
              </a:lnSpc>
              <a:spcBef>
                <a:spcPts val="300"/>
              </a:spcBef>
              <a:spcAft>
                <a:spcPts val="300"/>
              </a:spcAft>
            </a:pPr>
            <a:endParaRPr lang="en-US" dirty="0" smtClean="0"/>
          </a:p>
          <a:p>
            <a:pPr>
              <a:lnSpc>
                <a:spcPct val="114000"/>
              </a:lnSpc>
              <a:spcBef>
                <a:spcPts val="300"/>
              </a:spcBef>
              <a:spcAft>
                <a:spcPts val="300"/>
              </a:spcAft>
            </a:pPr>
            <a:endParaRPr lang="en-US" dirty="0"/>
          </a:p>
          <a:p>
            <a:pPr>
              <a:lnSpc>
                <a:spcPct val="114000"/>
              </a:lnSpc>
              <a:spcBef>
                <a:spcPts val="300"/>
              </a:spcBef>
              <a:spcAft>
                <a:spcPts val="300"/>
              </a:spcAft>
            </a:pPr>
            <a:endParaRPr lang="en-US" dirty="0"/>
          </a:p>
        </p:txBody>
      </p:sp>
      <p:sp>
        <p:nvSpPr>
          <p:cNvPr id="4" name="Rectangle 3"/>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grpSp>
        <p:nvGrpSpPr>
          <p:cNvPr id="9" name="Group 8"/>
          <p:cNvGrpSpPr/>
          <p:nvPr/>
        </p:nvGrpSpPr>
        <p:grpSpPr>
          <a:xfrm>
            <a:off x="585783" y="2100270"/>
            <a:ext cx="11158538" cy="1735931"/>
            <a:chOff x="1563245" y="3007523"/>
            <a:chExt cx="10200139" cy="1735931"/>
          </a:xfrm>
        </p:grpSpPr>
        <p:sp>
          <p:nvSpPr>
            <p:cNvPr id="7" name="Content Placeholder 2"/>
            <p:cNvSpPr txBox="1">
              <a:spLocks/>
            </p:cNvSpPr>
            <p:nvPr/>
          </p:nvSpPr>
          <p:spPr>
            <a:xfrm>
              <a:off x="1563245" y="3007523"/>
              <a:ext cx="10190617" cy="585787"/>
            </a:xfrm>
            <a:prstGeom prst="rect">
              <a:avLst/>
            </a:prstGeom>
            <a:solidFill>
              <a:schemeClr val="accent5">
                <a:lumMod val="7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pPr>
              <a:r>
                <a:rPr lang="en-US" dirty="0" smtClean="0">
                  <a:solidFill>
                    <a:schemeClr val="bg1"/>
                  </a:solidFill>
                </a:rPr>
                <a:t>Theorem</a:t>
              </a:r>
              <a:endParaRPr lang="en-US" dirty="0">
                <a:solidFill>
                  <a:schemeClr val="bg1"/>
                </a:solidFill>
              </a:endParaRPr>
            </a:p>
          </p:txBody>
        </p:sp>
        <p:sp>
          <p:nvSpPr>
            <p:cNvPr id="8" name="Content Placeholder 2"/>
            <p:cNvSpPr txBox="1">
              <a:spLocks/>
            </p:cNvSpPr>
            <p:nvPr/>
          </p:nvSpPr>
          <p:spPr>
            <a:xfrm>
              <a:off x="1572767" y="3607599"/>
              <a:ext cx="10190617" cy="1135855"/>
            </a:xfrm>
            <a:prstGeom prst="rect">
              <a:avLst/>
            </a:prstGeom>
            <a:solidFill>
              <a:schemeClr val="accent5">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4000"/>
                </a:lnSpc>
                <a:buNone/>
              </a:pPr>
              <a:r>
                <a:rPr lang="en-US" sz="2400" dirty="0"/>
                <a:t>Any arrangement of </a:t>
              </a:r>
              <a:r>
                <a:rPr lang="en-US" sz="2400" dirty="0" smtClean="0"/>
                <a:t>any </a:t>
              </a:r>
              <a:r>
                <a:rPr lang="en-US" sz="2400" i="1" dirty="0" smtClean="0">
                  <a:solidFill>
                    <a:srgbClr val="FF0000"/>
                  </a:solidFill>
                </a:rPr>
                <a:t>r ≤ n</a:t>
              </a:r>
              <a:r>
                <a:rPr lang="en-US" sz="2400" dirty="0" smtClean="0"/>
                <a:t> of </a:t>
              </a:r>
              <a:r>
                <a:rPr lang="en-US" sz="2400" i="1" dirty="0" smtClean="0">
                  <a:solidFill>
                    <a:schemeClr val="accent1">
                      <a:lumMod val="75000"/>
                    </a:schemeClr>
                  </a:solidFill>
                </a:rPr>
                <a:t>n</a:t>
              </a:r>
              <a:r>
                <a:rPr lang="en-US" sz="2400" dirty="0" smtClean="0"/>
                <a:t> </a:t>
              </a:r>
              <a:r>
                <a:rPr lang="en-US" sz="2400" dirty="0"/>
                <a:t>objects in a given order is called an </a:t>
              </a:r>
              <a:r>
                <a:rPr lang="en-US" sz="2400" dirty="0" smtClean="0"/>
                <a:t>“r-permutation” </a:t>
              </a:r>
              <a:r>
                <a:rPr lang="en-US" sz="2400" dirty="0"/>
                <a:t>or “a permutation </a:t>
              </a:r>
              <a:r>
                <a:rPr lang="en-US" sz="2400" dirty="0" smtClean="0"/>
                <a:t>of then objects taken r at </a:t>
              </a:r>
              <a:r>
                <a:rPr lang="en-US" sz="2400" dirty="0"/>
                <a:t>a time.”</a:t>
              </a:r>
            </a:p>
          </p:txBody>
        </p:sp>
      </p:grpSp>
      <p:sp>
        <p:nvSpPr>
          <p:cNvPr id="6" name="Slide Number Placeholder 5"/>
          <p:cNvSpPr>
            <a:spLocks noGrp="1"/>
          </p:cNvSpPr>
          <p:nvPr>
            <p:ph type="sldNum" sz="quarter" idx="12"/>
          </p:nvPr>
        </p:nvSpPr>
        <p:spPr/>
        <p:txBody>
          <a:bodyPr/>
          <a:lstStyle/>
          <a:p>
            <a:fld id="{769106B5-6058-41AF-9CC7-A36880636D59}" type="slidenum">
              <a:rPr lang="en-US" smtClean="0"/>
              <a:pPr/>
              <a:t>34</a:t>
            </a:fld>
            <a:endParaRPr lang="en-US"/>
          </a:p>
        </p:txBody>
      </p:sp>
      <p:sp>
        <p:nvSpPr>
          <p:cNvPr id="10" name="Content Placeholder 2"/>
          <p:cNvSpPr txBox="1">
            <a:spLocks/>
          </p:cNvSpPr>
          <p:nvPr/>
        </p:nvSpPr>
        <p:spPr>
          <a:xfrm>
            <a:off x="596200" y="4400556"/>
            <a:ext cx="11137704" cy="1042999"/>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sz="2400" dirty="0"/>
              <a:t>The number of permutations </a:t>
            </a:r>
            <a:r>
              <a:rPr lang="en-US" sz="2400" dirty="0" smtClean="0"/>
              <a:t>of n objects taken r at </a:t>
            </a:r>
            <a:r>
              <a:rPr lang="en-US" sz="2400" dirty="0"/>
              <a:t>a time will be denoted </a:t>
            </a:r>
            <a:r>
              <a:rPr lang="en-US" sz="2400" dirty="0" smtClean="0"/>
              <a:t>by</a:t>
            </a:r>
            <a:endParaRPr lang="en-US" sz="2400" dirty="0"/>
          </a:p>
        </p:txBody>
      </p:sp>
      <p:pic>
        <p:nvPicPr>
          <p:cNvPr id="11" name="Picture 10"/>
          <p:cNvPicPr>
            <a:picLocks noChangeAspect="1"/>
          </p:cNvPicPr>
          <p:nvPr/>
        </p:nvPicPr>
        <p:blipFill rotWithShape="1">
          <a:blip r:embed="rId2"/>
          <a:srcRect t="23779" b="11314"/>
          <a:stretch/>
        </p:blipFill>
        <p:spPr>
          <a:xfrm>
            <a:off x="1290638" y="4872038"/>
            <a:ext cx="8273098" cy="500062"/>
          </a:xfrm>
          <a:prstGeom prst="rect">
            <a:avLst/>
          </a:prstGeom>
        </p:spPr>
      </p:pic>
    </p:spTree>
    <p:extLst>
      <p:ext uri="{BB962C8B-B14F-4D97-AF65-F5344CB8AC3E}">
        <p14:creationId xmlns:p14="http://schemas.microsoft.com/office/powerpoint/2010/main" val="374164023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
            <a:ext cx="12192000" cy="1228725"/>
          </a:xfrm>
          <a:solidFill>
            <a:schemeClr val="accent1">
              <a:lumMod val="50000"/>
            </a:schemeClr>
          </a:solidFill>
        </p:spPr>
        <p:txBody>
          <a:bodyPr>
            <a:normAutofit/>
          </a:bodyPr>
          <a:lstStyle/>
          <a:p>
            <a:pPr algn="ctr"/>
            <a:r>
              <a:rPr lang="en-US" sz="4800" b="1" dirty="0">
                <a:solidFill>
                  <a:schemeClr val="bg1"/>
                </a:solidFill>
              </a:rPr>
              <a:t>r-permutation</a:t>
            </a:r>
            <a:endParaRPr lang="en-US" sz="4800" b="1" dirty="0">
              <a:solidFill>
                <a:schemeClr val="bg1"/>
              </a:solidFill>
              <a:latin typeface="Rockwell" panose="02060603020205020403" pitchFamily="18" charset="0"/>
            </a:endParaRPr>
          </a:p>
        </p:txBody>
      </p:sp>
      <p:sp>
        <p:nvSpPr>
          <p:cNvPr id="3" name="Content Placeholder 2"/>
          <p:cNvSpPr>
            <a:spLocks noGrp="1"/>
          </p:cNvSpPr>
          <p:nvPr>
            <p:ph idx="1"/>
          </p:nvPr>
        </p:nvSpPr>
        <p:spPr>
          <a:xfrm>
            <a:off x="871539" y="1614491"/>
            <a:ext cx="10915651" cy="4743451"/>
          </a:xfrm>
        </p:spPr>
        <p:txBody>
          <a:bodyPr/>
          <a:lstStyle/>
          <a:p>
            <a:pPr>
              <a:lnSpc>
                <a:spcPct val="114000"/>
              </a:lnSpc>
              <a:spcBef>
                <a:spcPts val="300"/>
              </a:spcBef>
              <a:spcAft>
                <a:spcPts val="300"/>
              </a:spcAft>
            </a:pPr>
            <a:endParaRPr lang="en-US" dirty="0"/>
          </a:p>
          <a:p>
            <a:pPr>
              <a:lnSpc>
                <a:spcPct val="114000"/>
              </a:lnSpc>
              <a:spcBef>
                <a:spcPts val="300"/>
              </a:spcBef>
              <a:spcAft>
                <a:spcPts val="300"/>
              </a:spcAft>
            </a:pPr>
            <a:endParaRPr lang="en-US" dirty="0" smtClean="0"/>
          </a:p>
          <a:p>
            <a:pPr>
              <a:lnSpc>
                <a:spcPct val="114000"/>
              </a:lnSpc>
              <a:spcBef>
                <a:spcPts val="300"/>
              </a:spcBef>
              <a:spcAft>
                <a:spcPts val="300"/>
              </a:spcAft>
            </a:pPr>
            <a:endParaRPr lang="en-US" dirty="0"/>
          </a:p>
          <a:p>
            <a:pPr>
              <a:lnSpc>
                <a:spcPct val="114000"/>
              </a:lnSpc>
              <a:spcBef>
                <a:spcPts val="300"/>
              </a:spcBef>
              <a:spcAft>
                <a:spcPts val="300"/>
              </a:spcAft>
            </a:pPr>
            <a:endParaRPr lang="en-US" dirty="0"/>
          </a:p>
        </p:txBody>
      </p:sp>
      <p:sp>
        <p:nvSpPr>
          <p:cNvPr id="4" name="Rectangle 3"/>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sp>
        <p:nvSpPr>
          <p:cNvPr id="6" name="Slide Number Placeholder 5"/>
          <p:cNvSpPr>
            <a:spLocks noGrp="1"/>
          </p:cNvSpPr>
          <p:nvPr>
            <p:ph type="sldNum" sz="quarter" idx="12"/>
          </p:nvPr>
        </p:nvSpPr>
        <p:spPr/>
        <p:txBody>
          <a:bodyPr/>
          <a:lstStyle/>
          <a:p>
            <a:fld id="{769106B5-6058-41AF-9CC7-A36880636D59}" type="slidenum">
              <a:rPr lang="en-US" smtClean="0"/>
              <a:pPr/>
              <a:t>35</a:t>
            </a:fld>
            <a:endParaRPr lang="en-US"/>
          </a:p>
        </p:txBody>
      </p:sp>
      <p:sp>
        <p:nvSpPr>
          <p:cNvPr id="10" name="Content Placeholder 2"/>
          <p:cNvSpPr txBox="1">
            <a:spLocks/>
          </p:cNvSpPr>
          <p:nvPr/>
        </p:nvSpPr>
        <p:spPr>
          <a:xfrm>
            <a:off x="649486" y="1692287"/>
            <a:ext cx="11137704" cy="1528757"/>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spcBef>
                <a:spcPts val="600"/>
              </a:spcBef>
            </a:pPr>
            <a:r>
              <a:rPr lang="en-US" sz="2400" dirty="0"/>
              <a:t>In how many ways can we select three students from a group of five students to stand in line </a:t>
            </a:r>
            <a:r>
              <a:rPr lang="en-US" sz="2400" dirty="0" smtClean="0"/>
              <a:t>for a </a:t>
            </a:r>
            <a:r>
              <a:rPr lang="en-US" sz="2400" dirty="0"/>
              <a:t>picture</a:t>
            </a:r>
            <a:r>
              <a:rPr lang="en-US" sz="2400" dirty="0" smtClean="0"/>
              <a:t>?</a:t>
            </a:r>
          </a:p>
          <a:p>
            <a:pPr algn="just">
              <a:lnSpc>
                <a:spcPct val="100000"/>
              </a:lnSpc>
              <a:spcBef>
                <a:spcPts val="600"/>
              </a:spcBef>
            </a:pPr>
            <a:r>
              <a:rPr lang="en-US" sz="2400" dirty="0"/>
              <a:t>In how many ways can we select </a:t>
            </a:r>
            <a:r>
              <a:rPr lang="en-US" sz="2400" dirty="0" smtClean="0"/>
              <a:t>four </a:t>
            </a:r>
            <a:r>
              <a:rPr lang="en-US" sz="2400" dirty="0"/>
              <a:t>students from a group of five students to stand in line </a:t>
            </a:r>
            <a:r>
              <a:rPr lang="en-US" sz="2400" dirty="0" smtClean="0"/>
              <a:t>for a picture</a:t>
            </a:r>
            <a:endParaRPr lang="en-US" sz="2400" dirty="0"/>
          </a:p>
        </p:txBody>
      </p:sp>
    </p:spTree>
    <p:extLst>
      <p:ext uri="{BB962C8B-B14F-4D97-AF65-F5344CB8AC3E}">
        <p14:creationId xmlns:p14="http://schemas.microsoft.com/office/powerpoint/2010/main" val="633466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wipe(down)">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wipe(down)">
                                      <p:cBhvr>
                                        <p:cTn id="12" dur="500"/>
                                        <p:tgtEl>
                                          <p:spTgt spid="1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
            <a:ext cx="12192000" cy="771522"/>
          </a:xfrm>
          <a:solidFill>
            <a:schemeClr val="accent1">
              <a:lumMod val="50000"/>
            </a:schemeClr>
          </a:solidFill>
        </p:spPr>
        <p:txBody>
          <a:bodyPr>
            <a:normAutofit/>
          </a:bodyPr>
          <a:lstStyle/>
          <a:p>
            <a:pPr algn="ctr"/>
            <a:r>
              <a:rPr lang="en-US" sz="4800" b="1" dirty="0">
                <a:solidFill>
                  <a:schemeClr val="bg1"/>
                </a:solidFill>
              </a:rPr>
              <a:t>r-permutation</a:t>
            </a:r>
            <a:endParaRPr lang="en-US" sz="4800" b="1" dirty="0">
              <a:solidFill>
                <a:schemeClr val="bg1"/>
              </a:solidFill>
              <a:latin typeface="Rockwell" panose="02060603020205020403" pitchFamily="18" charset="0"/>
            </a:endParaRPr>
          </a:p>
        </p:txBody>
      </p:sp>
      <p:sp>
        <p:nvSpPr>
          <p:cNvPr id="3" name="Content Placeholder 2"/>
          <p:cNvSpPr>
            <a:spLocks noGrp="1"/>
          </p:cNvSpPr>
          <p:nvPr>
            <p:ph idx="1"/>
          </p:nvPr>
        </p:nvSpPr>
        <p:spPr>
          <a:xfrm>
            <a:off x="871539" y="1614491"/>
            <a:ext cx="10915651" cy="4743451"/>
          </a:xfrm>
        </p:spPr>
        <p:txBody>
          <a:bodyPr/>
          <a:lstStyle/>
          <a:p>
            <a:pPr>
              <a:lnSpc>
                <a:spcPct val="114000"/>
              </a:lnSpc>
              <a:spcBef>
                <a:spcPts val="300"/>
              </a:spcBef>
              <a:spcAft>
                <a:spcPts val="300"/>
              </a:spcAft>
            </a:pPr>
            <a:endParaRPr lang="en-US" dirty="0"/>
          </a:p>
          <a:p>
            <a:pPr>
              <a:lnSpc>
                <a:spcPct val="114000"/>
              </a:lnSpc>
              <a:spcBef>
                <a:spcPts val="300"/>
              </a:spcBef>
              <a:spcAft>
                <a:spcPts val="300"/>
              </a:spcAft>
            </a:pPr>
            <a:endParaRPr lang="en-US" dirty="0" smtClean="0"/>
          </a:p>
          <a:p>
            <a:pPr>
              <a:lnSpc>
                <a:spcPct val="114000"/>
              </a:lnSpc>
              <a:spcBef>
                <a:spcPts val="300"/>
              </a:spcBef>
              <a:spcAft>
                <a:spcPts val="300"/>
              </a:spcAft>
            </a:pPr>
            <a:endParaRPr lang="en-US" dirty="0"/>
          </a:p>
          <a:p>
            <a:pPr>
              <a:lnSpc>
                <a:spcPct val="114000"/>
              </a:lnSpc>
              <a:spcBef>
                <a:spcPts val="300"/>
              </a:spcBef>
              <a:spcAft>
                <a:spcPts val="300"/>
              </a:spcAft>
            </a:pPr>
            <a:endParaRPr lang="en-US" dirty="0"/>
          </a:p>
        </p:txBody>
      </p:sp>
      <p:sp>
        <p:nvSpPr>
          <p:cNvPr id="4" name="Rectangle 3"/>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grpSp>
        <p:nvGrpSpPr>
          <p:cNvPr id="9" name="Group 8"/>
          <p:cNvGrpSpPr/>
          <p:nvPr/>
        </p:nvGrpSpPr>
        <p:grpSpPr>
          <a:xfrm>
            <a:off x="871539" y="1614491"/>
            <a:ext cx="11158538" cy="2886086"/>
            <a:chOff x="1563245" y="3007523"/>
            <a:chExt cx="10200139" cy="2886086"/>
          </a:xfrm>
        </p:grpSpPr>
        <p:sp>
          <p:nvSpPr>
            <p:cNvPr id="7" name="Content Placeholder 2"/>
            <p:cNvSpPr txBox="1">
              <a:spLocks/>
            </p:cNvSpPr>
            <p:nvPr/>
          </p:nvSpPr>
          <p:spPr>
            <a:xfrm>
              <a:off x="1563245" y="3007523"/>
              <a:ext cx="10190617" cy="585787"/>
            </a:xfrm>
            <a:prstGeom prst="rect">
              <a:avLst/>
            </a:prstGeom>
            <a:solidFill>
              <a:schemeClr val="accent5">
                <a:lumMod val="7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pPr>
              <a:r>
                <a:rPr lang="en-US" dirty="0" smtClean="0">
                  <a:solidFill>
                    <a:schemeClr val="bg1"/>
                  </a:solidFill>
                </a:rPr>
                <a:t>Theorem</a:t>
              </a:r>
              <a:endParaRPr lang="en-US" dirty="0">
                <a:solidFill>
                  <a:schemeClr val="bg1"/>
                </a:solidFill>
              </a:endParaRPr>
            </a:p>
          </p:txBody>
        </p:sp>
        <p:sp>
          <p:nvSpPr>
            <p:cNvPr id="8" name="Content Placeholder 2"/>
            <p:cNvSpPr txBox="1">
              <a:spLocks/>
            </p:cNvSpPr>
            <p:nvPr/>
          </p:nvSpPr>
          <p:spPr>
            <a:xfrm>
              <a:off x="1572767" y="3607599"/>
              <a:ext cx="10190617" cy="2286010"/>
            </a:xfrm>
            <a:prstGeom prst="rect">
              <a:avLst/>
            </a:prstGeom>
            <a:solidFill>
              <a:schemeClr val="accent5">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4000"/>
                </a:lnSpc>
                <a:buNone/>
              </a:pPr>
              <a:endParaRPr lang="en-US" sz="2400" dirty="0"/>
            </a:p>
          </p:txBody>
        </p:sp>
      </p:grpSp>
      <p:sp>
        <p:nvSpPr>
          <p:cNvPr id="6" name="Slide Number Placeholder 5"/>
          <p:cNvSpPr>
            <a:spLocks noGrp="1"/>
          </p:cNvSpPr>
          <p:nvPr>
            <p:ph type="sldNum" sz="quarter" idx="12"/>
          </p:nvPr>
        </p:nvSpPr>
        <p:spPr/>
        <p:txBody>
          <a:bodyPr/>
          <a:lstStyle/>
          <a:p>
            <a:fld id="{769106B5-6058-41AF-9CC7-A36880636D59}" type="slidenum">
              <a:rPr lang="en-US" smtClean="0"/>
              <a:pPr/>
              <a:t>36</a:t>
            </a:fld>
            <a:endParaRPr lang="en-US"/>
          </a:p>
        </p:txBody>
      </p:sp>
      <p:pic>
        <p:nvPicPr>
          <p:cNvPr id="5" name="Picture 4"/>
          <p:cNvPicPr>
            <a:picLocks noChangeAspect="1"/>
          </p:cNvPicPr>
          <p:nvPr/>
        </p:nvPicPr>
        <p:blipFill rotWithShape="1">
          <a:blip r:embed="rId2"/>
          <a:srcRect r="4682"/>
          <a:stretch/>
        </p:blipFill>
        <p:spPr>
          <a:xfrm>
            <a:off x="870942" y="2200278"/>
            <a:ext cx="11155264" cy="2286010"/>
          </a:xfrm>
          <a:prstGeom prst="rect">
            <a:avLst/>
          </a:prstGeom>
        </p:spPr>
      </p:pic>
    </p:spTree>
    <p:extLst>
      <p:ext uri="{BB962C8B-B14F-4D97-AF65-F5344CB8AC3E}">
        <p14:creationId xmlns:p14="http://schemas.microsoft.com/office/powerpoint/2010/main" val="223729879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
            <a:ext cx="12192000" cy="771522"/>
          </a:xfrm>
          <a:solidFill>
            <a:schemeClr val="accent1">
              <a:lumMod val="50000"/>
            </a:schemeClr>
          </a:solidFill>
        </p:spPr>
        <p:txBody>
          <a:bodyPr>
            <a:normAutofit/>
          </a:bodyPr>
          <a:lstStyle/>
          <a:p>
            <a:pPr algn="ctr"/>
            <a:r>
              <a:rPr lang="pt-BR" sz="4800" b="1" dirty="0">
                <a:solidFill>
                  <a:schemeClr val="bg1"/>
                </a:solidFill>
              </a:rPr>
              <a:t>P (n, r</a:t>
            </a:r>
            <a:r>
              <a:rPr lang="pt-BR" sz="4800" b="1" dirty="0" smtClean="0">
                <a:solidFill>
                  <a:schemeClr val="bg1"/>
                </a:solidFill>
              </a:rPr>
              <a:t>) = n(n</a:t>
            </a:r>
            <a:r>
              <a:rPr lang="pt-BR" sz="4800" b="1" dirty="0">
                <a:solidFill>
                  <a:schemeClr val="bg1"/>
                </a:solidFill>
              </a:rPr>
              <a:t>−1)(n−2)···(n−r+1)</a:t>
            </a:r>
            <a:endParaRPr lang="en-US" sz="4800" b="1" dirty="0">
              <a:solidFill>
                <a:schemeClr val="bg1"/>
              </a:solidFill>
              <a:latin typeface="Rockwell" panose="02060603020205020403" pitchFamily="18" charset="0"/>
            </a:endParaRPr>
          </a:p>
        </p:txBody>
      </p:sp>
      <p:sp>
        <p:nvSpPr>
          <p:cNvPr id="3" name="Content Placeholder 2"/>
          <p:cNvSpPr>
            <a:spLocks noGrp="1"/>
          </p:cNvSpPr>
          <p:nvPr>
            <p:ph idx="1"/>
          </p:nvPr>
        </p:nvSpPr>
        <p:spPr>
          <a:xfrm>
            <a:off x="871539" y="1614491"/>
            <a:ext cx="10915651" cy="4743451"/>
          </a:xfrm>
        </p:spPr>
        <p:txBody>
          <a:bodyPr/>
          <a:lstStyle/>
          <a:p>
            <a:pPr>
              <a:lnSpc>
                <a:spcPct val="114000"/>
              </a:lnSpc>
              <a:spcBef>
                <a:spcPts val="300"/>
              </a:spcBef>
              <a:spcAft>
                <a:spcPts val="300"/>
              </a:spcAft>
            </a:pPr>
            <a:endParaRPr lang="en-US" dirty="0"/>
          </a:p>
          <a:p>
            <a:pPr>
              <a:lnSpc>
                <a:spcPct val="114000"/>
              </a:lnSpc>
              <a:spcBef>
                <a:spcPts val="300"/>
              </a:spcBef>
              <a:spcAft>
                <a:spcPts val="300"/>
              </a:spcAft>
            </a:pPr>
            <a:endParaRPr lang="en-US" dirty="0" smtClean="0"/>
          </a:p>
          <a:p>
            <a:pPr>
              <a:lnSpc>
                <a:spcPct val="114000"/>
              </a:lnSpc>
              <a:spcBef>
                <a:spcPts val="300"/>
              </a:spcBef>
              <a:spcAft>
                <a:spcPts val="300"/>
              </a:spcAft>
            </a:pPr>
            <a:endParaRPr lang="en-US" dirty="0"/>
          </a:p>
          <a:p>
            <a:pPr>
              <a:lnSpc>
                <a:spcPct val="114000"/>
              </a:lnSpc>
              <a:spcBef>
                <a:spcPts val="300"/>
              </a:spcBef>
              <a:spcAft>
                <a:spcPts val="300"/>
              </a:spcAft>
            </a:pPr>
            <a:endParaRPr lang="en-US" dirty="0"/>
          </a:p>
        </p:txBody>
      </p:sp>
      <p:sp>
        <p:nvSpPr>
          <p:cNvPr id="4" name="Rectangle 3"/>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sp>
        <p:nvSpPr>
          <p:cNvPr id="6" name="Slide Number Placeholder 5"/>
          <p:cNvSpPr>
            <a:spLocks noGrp="1"/>
          </p:cNvSpPr>
          <p:nvPr>
            <p:ph type="sldNum" sz="quarter" idx="12"/>
          </p:nvPr>
        </p:nvSpPr>
        <p:spPr/>
        <p:txBody>
          <a:bodyPr/>
          <a:lstStyle/>
          <a:p>
            <a:fld id="{769106B5-6058-41AF-9CC7-A36880636D59}" type="slidenum">
              <a:rPr lang="en-US" smtClean="0"/>
              <a:pPr/>
              <a:t>37</a:t>
            </a:fld>
            <a:endParaRPr lang="en-US"/>
          </a:p>
        </p:txBody>
      </p:sp>
      <p:grpSp>
        <p:nvGrpSpPr>
          <p:cNvPr id="12" name="Group 11"/>
          <p:cNvGrpSpPr/>
          <p:nvPr/>
        </p:nvGrpSpPr>
        <p:grpSpPr>
          <a:xfrm>
            <a:off x="628652" y="1141150"/>
            <a:ext cx="11158538" cy="4145225"/>
            <a:chOff x="1563245" y="3007523"/>
            <a:chExt cx="10200139" cy="4145225"/>
          </a:xfrm>
        </p:grpSpPr>
        <p:sp>
          <p:nvSpPr>
            <p:cNvPr id="13" name="Content Placeholder 2"/>
            <p:cNvSpPr txBox="1">
              <a:spLocks/>
            </p:cNvSpPr>
            <p:nvPr/>
          </p:nvSpPr>
          <p:spPr>
            <a:xfrm>
              <a:off x="1563245" y="3007523"/>
              <a:ext cx="10190617" cy="585787"/>
            </a:xfrm>
            <a:prstGeom prst="rect">
              <a:avLst/>
            </a:prstGeom>
            <a:solidFill>
              <a:schemeClr val="accent5">
                <a:lumMod val="7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pPr>
              <a:r>
                <a:rPr lang="en-US" dirty="0" smtClean="0">
                  <a:solidFill>
                    <a:schemeClr val="bg1"/>
                  </a:solidFill>
                </a:rPr>
                <a:t>Proof</a:t>
              </a:r>
              <a:endParaRPr lang="en-US" dirty="0">
                <a:solidFill>
                  <a:schemeClr val="bg1"/>
                </a:solidFill>
              </a:endParaRPr>
            </a:p>
          </p:txBody>
        </p:sp>
        <p:sp>
          <p:nvSpPr>
            <p:cNvPr id="14" name="Content Placeholder 2"/>
            <p:cNvSpPr txBox="1">
              <a:spLocks/>
            </p:cNvSpPr>
            <p:nvPr/>
          </p:nvSpPr>
          <p:spPr>
            <a:xfrm>
              <a:off x="1572767" y="3607599"/>
              <a:ext cx="10190617" cy="3545149"/>
            </a:xfrm>
            <a:prstGeom prst="rect">
              <a:avLst/>
            </a:prstGeom>
            <a:solidFill>
              <a:schemeClr val="accent5">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4000"/>
                </a:lnSpc>
                <a:buNone/>
              </a:pPr>
              <a:r>
                <a:rPr lang="en-US" sz="2400" dirty="0"/>
                <a:t>We will use the </a:t>
              </a:r>
              <a:r>
                <a:rPr lang="en-US" sz="2400" dirty="0">
                  <a:solidFill>
                    <a:schemeClr val="accent2">
                      <a:lumMod val="75000"/>
                    </a:schemeClr>
                  </a:solidFill>
                </a:rPr>
                <a:t>product rule</a:t>
              </a:r>
              <a:r>
                <a:rPr lang="en-US" sz="2400" dirty="0"/>
                <a:t> to prove that this formula is correct. The </a:t>
              </a:r>
              <a:r>
                <a:rPr lang="en-US" sz="2400" dirty="0">
                  <a:solidFill>
                    <a:schemeClr val="accent2">
                      <a:lumMod val="75000"/>
                    </a:schemeClr>
                  </a:solidFill>
                </a:rPr>
                <a:t>first element of </a:t>
              </a:r>
              <a:r>
                <a:rPr lang="en-US" sz="2400" dirty="0" smtClean="0">
                  <a:solidFill>
                    <a:schemeClr val="accent2">
                      <a:lumMod val="75000"/>
                    </a:schemeClr>
                  </a:solidFill>
                </a:rPr>
                <a:t>the permutation </a:t>
              </a:r>
              <a:r>
                <a:rPr lang="en-US" sz="2400" dirty="0">
                  <a:solidFill>
                    <a:schemeClr val="accent2">
                      <a:lumMod val="75000"/>
                    </a:schemeClr>
                  </a:solidFill>
                </a:rPr>
                <a:t>can be chosen </a:t>
              </a:r>
              <a:r>
                <a:rPr lang="en-US" sz="2400" dirty="0" smtClean="0">
                  <a:solidFill>
                    <a:schemeClr val="accent2">
                      <a:lumMod val="75000"/>
                    </a:schemeClr>
                  </a:solidFill>
                </a:rPr>
                <a:t>in </a:t>
              </a:r>
              <a:r>
                <a:rPr lang="en-US" sz="2400" b="1" dirty="0" smtClean="0">
                  <a:solidFill>
                    <a:srgbClr val="FF0000"/>
                  </a:solidFill>
                </a:rPr>
                <a:t>n</a:t>
              </a:r>
              <a:r>
                <a:rPr lang="en-US" sz="2400" dirty="0" smtClean="0">
                  <a:solidFill>
                    <a:schemeClr val="accent2">
                      <a:lumMod val="75000"/>
                    </a:schemeClr>
                  </a:solidFill>
                </a:rPr>
                <a:t> ways </a:t>
              </a:r>
              <a:r>
                <a:rPr lang="en-US" sz="2400" dirty="0"/>
                <a:t>because there </a:t>
              </a:r>
              <a:r>
                <a:rPr lang="en-US" sz="2400" dirty="0" smtClean="0"/>
                <a:t>are n elements </a:t>
              </a:r>
              <a:r>
                <a:rPr lang="en-US" sz="2400" dirty="0"/>
                <a:t>in the set. There </a:t>
              </a:r>
              <a:r>
                <a:rPr lang="en-US" sz="2400" dirty="0" smtClean="0"/>
                <a:t>are </a:t>
              </a:r>
              <a:r>
                <a:rPr lang="en-US" sz="2400" b="1" dirty="0" smtClean="0">
                  <a:solidFill>
                    <a:srgbClr val="FF0000"/>
                  </a:solidFill>
                </a:rPr>
                <a:t>n</a:t>
              </a:r>
              <a:r>
                <a:rPr lang="en-US" sz="2400" b="1" dirty="0">
                  <a:solidFill>
                    <a:srgbClr val="FF0000"/>
                  </a:solidFill>
                </a:rPr>
                <a:t>−</a:t>
              </a:r>
              <a:r>
                <a:rPr lang="en-US" sz="2400" b="1" dirty="0" smtClean="0">
                  <a:solidFill>
                    <a:srgbClr val="FF0000"/>
                  </a:solidFill>
                </a:rPr>
                <a:t>1</a:t>
              </a:r>
              <a:r>
                <a:rPr lang="en-US" sz="2400" dirty="0" smtClean="0"/>
                <a:t> ways </a:t>
              </a:r>
              <a:r>
                <a:rPr lang="en-US" sz="2400" dirty="0"/>
                <a:t>to choose the second element of the permutation, because there aren−1 elements </a:t>
              </a:r>
              <a:r>
                <a:rPr lang="en-US" sz="2400" dirty="0" smtClean="0"/>
                <a:t>left in </a:t>
              </a:r>
              <a:r>
                <a:rPr lang="en-US" sz="2400" dirty="0"/>
                <a:t>the set after using the element picked for the first position. Similarly, there are </a:t>
              </a:r>
              <a:r>
                <a:rPr lang="en-US" sz="2400" b="1" dirty="0">
                  <a:solidFill>
                    <a:srgbClr val="FF0000"/>
                  </a:solidFill>
                </a:rPr>
                <a:t>n−2</a:t>
              </a:r>
              <a:r>
                <a:rPr lang="en-US" sz="2400" dirty="0"/>
                <a:t> </a:t>
              </a:r>
              <a:r>
                <a:rPr lang="en-US" sz="2400" dirty="0" smtClean="0"/>
                <a:t>ways to </a:t>
              </a:r>
              <a:r>
                <a:rPr lang="en-US" sz="2400" dirty="0"/>
                <a:t>choose the third element, </a:t>
              </a:r>
              <a:r>
                <a:rPr lang="en-US" sz="2400" dirty="0">
                  <a:solidFill>
                    <a:schemeClr val="accent2">
                      <a:lumMod val="75000"/>
                    </a:schemeClr>
                  </a:solidFill>
                </a:rPr>
                <a:t>and so on</a:t>
              </a:r>
              <a:r>
                <a:rPr lang="en-US" sz="2400" dirty="0"/>
                <a:t>, until there are </a:t>
              </a:r>
              <a:r>
                <a:rPr lang="en-US" sz="2400" dirty="0" smtClean="0"/>
                <a:t>exactly n</a:t>
              </a:r>
              <a:r>
                <a:rPr lang="en-US" sz="2400" dirty="0"/>
                <a:t>−(r−1)=n−r+1 ways </a:t>
              </a:r>
              <a:r>
                <a:rPr lang="en-US" sz="2400" dirty="0" smtClean="0"/>
                <a:t>to choose the </a:t>
              </a:r>
              <a:r>
                <a:rPr lang="en-US" sz="2400" dirty="0" err="1" smtClean="0"/>
                <a:t>r</a:t>
              </a:r>
              <a:r>
                <a:rPr lang="en-US" sz="2400" baseline="30000" dirty="0" err="1" smtClean="0"/>
                <a:t>th</a:t>
              </a:r>
              <a:r>
                <a:rPr lang="en-US" sz="2400" baseline="30000" dirty="0" smtClean="0"/>
                <a:t> </a:t>
              </a:r>
              <a:r>
                <a:rPr lang="en-US" sz="2400" dirty="0"/>
                <a:t>element. Consequently, by the product rule, there </a:t>
              </a:r>
              <a:r>
                <a:rPr lang="en-US" sz="2400" dirty="0" smtClean="0"/>
                <a:t>are n(n</a:t>
              </a:r>
              <a:r>
                <a:rPr lang="en-US" sz="2400" dirty="0"/>
                <a:t>−1)(n−2)···(n−</a:t>
              </a:r>
              <a:r>
                <a:rPr lang="en-US" sz="2400" dirty="0" smtClean="0"/>
                <a:t>r+1) r-permutations </a:t>
              </a:r>
              <a:r>
                <a:rPr lang="en-US" sz="2400" dirty="0"/>
                <a:t>of the set.</a:t>
              </a:r>
            </a:p>
          </p:txBody>
        </p:sp>
      </p:grpSp>
    </p:spTree>
    <p:extLst>
      <p:ext uri="{BB962C8B-B14F-4D97-AF65-F5344CB8AC3E}">
        <p14:creationId xmlns:p14="http://schemas.microsoft.com/office/powerpoint/2010/main" val="2990160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
            <a:ext cx="12192000" cy="1228725"/>
          </a:xfrm>
          <a:solidFill>
            <a:schemeClr val="accent1">
              <a:lumMod val="50000"/>
            </a:schemeClr>
          </a:solidFill>
        </p:spPr>
        <p:txBody>
          <a:bodyPr>
            <a:normAutofit/>
          </a:bodyPr>
          <a:lstStyle/>
          <a:p>
            <a:pPr algn="ctr"/>
            <a:r>
              <a:rPr lang="en-US" sz="4800" b="1" dirty="0">
                <a:solidFill>
                  <a:schemeClr val="bg1"/>
                </a:solidFill>
              </a:rPr>
              <a:t>r-permutation</a:t>
            </a:r>
            <a:endParaRPr lang="en-US" sz="4800" b="1" dirty="0">
              <a:solidFill>
                <a:schemeClr val="bg1"/>
              </a:solidFill>
              <a:latin typeface="Rockwell" panose="02060603020205020403" pitchFamily="18" charset="0"/>
            </a:endParaRPr>
          </a:p>
        </p:txBody>
      </p:sp>
      <p:sp>
        <p:nvSpPr>
          <p:cNvPr id="3" name="Content Placeholder 2"/>
          <p:cNvSpPr>
            <a:spLocks noGrp="1"/>
          </p:cNvSpPr>
          <p:nvPr>
            <p:ph idx="1"/>
          </p:nvPr>
        </p:nvSpPr>
        <p:spPr>
          <a:xfrm>
            <a:off x="871539" y="1614491"/>
            <a:ext cx="10915651" cy="4743451"/>
          </a:xfrm>
        </p:spPr>
        <p:txBody>
          <a:bodyPr/>
          <a:lstStyle/>
          <a:p>
            <a:pPr>
              <a:lnSpc>
                <a:spcPct val="114000"/>
              </a:lnSpc>
              <a:spcBef>
                <a:spcPts val="300"/>
              </a:spcBef>
              <a:spcAft>
                <a:spcPts val="300"/>
              </a:spcAft>
            </a:pPr>
            <a:endParaRPr lang="en-US" dirty="0"/>
          </a:p>
          <a:p>
            <a:pPr>
              <a:lnSpc>
                <a:spcPct val="114000"/>
              </a:lnSpc>
              <a:spcBef>
                <a:spcPts val="300"/>
              </a:spcBef>
              <a:spcAft>
                <a:spcPts val="300"/>
              </a:spcAft>
            </a:pPr>
            <a:endParaRPr lang="en-US" dirty="0" smtClean="0"/>
          </a:p>
          <a:p>
            <a:pPr>
              <a:lnSpc>
                <a:spcPct val="114000"/>
              </a:lnSpc>
              <a:spcBef>
                <a:spcPts val="300"/>
              </a:spcBef>
              <a:spcAft>
                <a:spcPts val="300"/>
              </a:spcAft>
            </a:pPr>
            <a:endParaRPr lang="en-US" dirty="0"/>
          </a:p>
          <a:p>
            <a:pPr>
              <a:lnSpc>
                <a:spcPct val="114000"/>
              </a:lnSpc>
              <a:spcBef>
                <a:spcPts val="300"/>
              </a:spcBef>
              <a:spcAft>
                <a:spcPts val="300"/>
              </a:spcAft>
            </a:pPr>
            <a:endParaRPr lang="en-US" dirty="0"/>
          </a:p>
        </p:txBody>
      </p:sp>
      <p:sp>
        <p:nvSpPr>
          <p:cNvPr id="4" name="Rectangle 3"/>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grpSp>
        <p:nvGrpSpPr>
          <p:cNvPr id="9" name="Group 8"/>
          <p:cNvGrpSpPr/>
          <p:nvPr/>
        </p:nvGrpSpPr>
        <p:grpSpPr>
          <a:xfrm>
            <a:off x="750095" y="1371599"/>
            <a:ext cx="11158538" cy="2886086"/>
            <a:chOff x="1563245" y="3007523"/>
            <a:chExt cx="10200139" cy="2886086"/>
          </a:xfrm>
        </p:grpSpPr>
        <p:sp>
          <p:nvSpPr>
            <p:cNvPr id="7" name="Content Placeholder 2"/>
            <p:cNvSpPr txBox="1">
              <a:spLocks/>
            </p:cNvSpPr>
            <p:nvPr/>
          </p:nvSpPr>
          <p:spPr>
            <a:xfrm>
              <a:off x="1563245" y="3007523"/>
              <a:ext cx="10190617" cy="585787"/>
            </a:xfrm>
            <a:prstGeom prst="rect">
              <a:avLst/>
            </a:prstGeom>
            <a:solidFill>
              <a:schemeClr val="accent5">
                <a:lumMod val="7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pPr>
              <a:r>
                <a:rPr lang="en-US" dirty="0" smtClean="0">
                  <a:solidFill>
                    <a:schemeClr val="bg1"/>
                  </a:solidFill>
                </a:rPr>
                <a:t>Theorem</a:t>
              </a:r>
              <a:endParaRPr lang="en-US" dirty="0">
                <a:solidFill>
                  <a:schemeClr val="bg1"/>
                </a:solidFill>
              </a:endParaRPr>
            </a:p>
          </p:txBody>
        </p:sp>
        <p:sp>
          <p:nvSpPr>
            <p:cNvPr id="8" name="Content Placeholder 2"/>
            <p:cNvSpPr txBox="1">
              <a:spLocks/>
            </p:cNvSpPr>
            <p:nvPr/>
          </p:nvSpPr>
          <p:spPr>
            <a:xfrm>
              <a:off x="1572767" y="3607599"/>
              <a:ext cx="10190617" cy="2286010"/>
            </a:xfrm>
            <a:prstGeom prst="rect">
              <a:avLst/>
            </a:prstGeom>
            <a:solidFill>
              <a:schemeClr val="accent5">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4000"/>
                </a:lnSpc>
                <a:buNone/>
              </a:pPr>
              <a:endParaRPr lang="en-US" sz="2400" dirty="0"/>
            </a:p>
          </p:txBody>
        </p:sp>
      </p:grpSp>
      <p:sp>
        <p:nvSpPr>
          <p:cNvPr id="6" name="Slide Number Placeholder 5"/>
          <p:cNvSpPr>
            <a:spLocks noGrp="1"/>
          </p:cNvSpPr>
          <p:nvPr>
            <p:ph type="sldNum" sz="quarter" idx="12"/>
          </p:nvPr>
        </p:nvSpPr>
        <p:spPr/>
        <p:txBody>
          <a:bodyPr/>
          <a:lstStyle/>
          <a:p>
            <a:fld id="{769106B5-6058-41AF-9CC7-A36880636D59}" type="slidenum">
              <a:rPr lang="en-US" smtClean="0"/>
              <a:pPr/>
              <a:t>38</a:t>
            </a:fld>
            <a:endParaRPr lang="en-US"/>
          </a:p>
        </p:txBody>
      </p:sp>
      <p:sp>
        <p:nvSpPr>
          <p:cNvPr id="10" name="Content Placeholder 2"/>
          <p:cNvSpPr txBox="1">
            <a:spLocks/>
          </p:cNvSpPr>
          <p:nvPr/>
        </p:nvSpPr>
        <p:spPr>
          <a:xfrm>
            <a:off x="624776" y="4572010"/>
            <a:ext cx="11137704" cy="1528757"/>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spcBef>
                <a:spcPts val="600"/>
              </a:spcBef>
            </a:pPr>
            <a:r>
              <a:rPr lang="en-US" sz="2400" dirty="0"/>
              <a:t>Note </a:t>
            </a:r>
            <a:r>
              <a:rPr lang="en-US" sz="2400" dirty="0" smtClean="0"/>
              <a:t>that P(n,0</a:t>
            </a:r>
            <a:r>
              <a:rPr lang="en-US" sz="2400" dirty="0"/>
              <a:t>)=1 </a:t>
            </a:r>
            <a:r>
              <a:rPr lang="en-US" sz="2400" dirty="0" smtClean="0"/>
              <a:t>whenever n is </a:t>
            </a:r>
            <a:r>
              <a:rPr lang="en-US" sz="2400" dirty="0"/>
              <a:t>a nonnegative integer </a:t>
            </a:r>
            <a:endParaRPr lang="en-US" sz="2400" dirty="0" smtClean="0"/>
          </a:p>
          <a:p>
            <a:pPr lvl="1" algn="just">
              <a:lnSpc>
                <a:spcPct val="100000"/>
              </a:lnSpc>
              <a:spcBef>
                <a:spcPts val="600"/>
              </a:spcBef>
            </a:pPr>
            <a:r>
              <a:rPr lang="en-US" dirty="0" smtClean="0"/>
              <a:t>because </a:t>
            </a:r>
            <a:r>
              <a:rPr lang="en-US" dirty="0"/>
              <a:t>there is exactly </a:t>
            </a:r>
            <a:r>
              <a:rPr lang="en-US" dirty="0" smtClean="0"/>
              <a:t>one way </a:t>
            </a:r>
            <a:r>
              <a:rPr lang="en-US" dirty="0"/>
              <a:t>to order zero elements. </a:t>
            </a:r>
            <a:endParaRPr lang="en-US" dirty="0" smtClean="0"/>
          </a:p>
          <a:p>
            <a:pPr lvl="1" algn="just">
              <a:lnSpc>
                <a:spcPct val="100000"/>
              </a:lnSpc>
              <a:spcBef>
                <a:spcPts val="600"/>
              </a:spcBef>
            </a:pPr>
            <a:r>
              <a:rPr lang="en-US" dirty="0" smtClean="0"/>
              <a:t>That </a:t>
            </a:r>
            <a:r>
              <a:rPr lang="en-US" dirty="0"/>
              <a:t>is, there is exactly one list with no elements in it, namely </a:t>
            </a:r>
            <a:r>
              <a:rPr lang="en-US" dirty="0" smtClean="0"/>
              <a:t>the empty </a:t>
            </a:r>
            <a:r>
              <a:rPr lang="en-US" dirty="0"/>
              <a:t>list.</a:t>
            </a:r>
          </a:p>
        </p:txBody>
      </p:sp>
      <p:pic>
        <p:nvPicPr>
          <p:cNvPr id="5" name="Picture 4"/>
          <p:cNvPicPr>
            <a:picLocks noChangeAspect="1"/>
          </p:cNvPicPr>
          <p:nvPr/>
        </p:nvPicPr>
        <p:blipFill rotWithShape="1">
          <a:blip r:embed="rId2"/>
          <a:srcRect r="4682"/>
          <a:stretch/>
        </p:blipFill>
        <p:spPr>
          <a:xfrm>
            <a:off x="760512" y="1971675"/>
            <a:ext cx="11155264" cy="2286010"/>
          </a:xfrm>
          <a:prstGeom prst="rect">
            <a:avLst/>
          </a:prstGeom>
        </p:spPr>
      </p:pic>
    </p:spTree>
    <p:extLst>
      <p:ext uri="{BB962C8B-B14F-4D97-AF65-F5344CB8AC3E}">
        <p14:creationId xmlns:p14="http://schemas.microsoft.com/office/powerpoint/2010/main" val="176385556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
            <a:ext cx="12192000" cy="1228725"/>
          </a:xfrm>
          <a:solidFill>
            <a:schemeClr val="accent1">
              <a:lumMod val="50000"/>
            </a:schemeClr>
          </a:solidFill>
        </p:spPr>
        <p:txBody>
          <a:bodyPr>
            <a:normAutofit/>
          </a:bodyPr>
          <a:lstStyle/>
          <a:p>
            <a:pPr algn="ctr"/>
            <a:r>
              <a:rPr lang="en-US" sz="4800" b="1" dirty="0">
                <a:solidFill>
                  <a:schemeClr val="bg1"/>
                </a:solidFill>
              </a:rPr>
              <a:t>r-permutation</a:t>
            </a:r>
            <a:endParaRPr lang="en-US" sz="4800" b="1" dirty="0">
              <a:solidFill>
                <a:schemeClr val="bg1"/>
              </a:solidFill>
              <a:latin typeface="Rockwell" panose="02060603020205020403" pitchFamily="18" charset="0"/>
            </a:endParaRPr>
          </a:p>
        </p:txBody>
      </p:sp>
      <p:sp>
        <p:nvSpPr>
          <p:cNvPr id="3" name="Content Placeholder 2"/>
          <p:cNvSpPr>
            <a:spLocks noGrp="1"/>
          </p:cNvSpPr>
          <p:nvPr>
            <p:ph idx="1"/>
          </p:nvPr>
        </p:nvSpPr>
        <p:spPr>
          <a:xfrm>
            <a:off x="871539" y="1614491"/>
            <a:ext cx="10915651" cy="4743451"/>
          </a:xfrm>
        </p:spPr>
        <p:txBody>
          <a:bodyPr/>
          <a:lstStyle/>
          <a:p>
            <a:pPr>
              <a:lnSpc>
                <a:spcPct val="114000"/>
              </a:lnSpc>
              <a:spcBef>
                <a:spcPts val="300"/>
              </a:spcBef>
              <a:spcAft>
                <a:spcPts val="300"/>
              </a:spcAft>
            </a:pPr>
            <a:endParaRPr lang="en-US" dirty="0"/>
          </a:p>
          <a:p>
            <a:pPr>
              <a:lnSpc>
                <a:spcPct val="114000"/>
              </a:lnSpc>
              <a:spcBef>
                <a:spcPts val="300"/>
              </a:spcBef>
              <a:spcAft>
                <a:spcPts val="300"/>
              </a:spcAft>
            </a:pPr>
            <a:endParaRPr lang="en-US" dirty="0" smtClean="0"/>
          </a:p>
          <a:p>
            <a:pPr>
              <a:lnSpc>
                <a:spcPct val="114000"/>
              </a:lnSpc>
              <a:spcBef>
                <a:spcPts val="300"/>
              </a:spcBef>
              <a:spcAft>
                <a:spcPts val="300"/>
              </a:spcAft>
            </a:pPr>
            <a:endParaRPr lang="en-US" dirty="0"/>
          </a:p>
          <a:p>
            <a:pPr>
              <a:lnSpc>
                <a:spcPct val="114000"/>
              </a:lnSpc>
              <a:spcBef>
                <a:spcPts val="300"/>
              </a:spcBef>
              <a:spcAft>
                <a:spcPts val="300"/>
              </a:spcAft>
            </a:pPr>
            <a:endParaRPr lang="en-US" dirty="0"/>
          </a:p>
        </p:txBody>
      </p:sp>
      <p:sp>
        <p:nvSpPr>
          <p:cNvPr id="4" name="Rectangle 3"/>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grpSp>
        <p:nvGrpSpPr>
          <p:cNvPr id="9" name="Group 8"/>
          <p:cNvGrpSpPr/>
          <p:nvPr/>
        </p:nvGrpSpPr>
        <p:grpSpPr>
          <a:xfrm>
            <a:off x="585783" y="2100270"/>
            <a:ext cx="11158538" cy="1735931"/>
            <a:chOff x="1563245" y="3007523"/>
            <a:chExt cx="10200139" cy="1735931"/>
          </a:xfrm>
        </p:grpSpPr>
        <p:sp>
          <p:nvSpPr>
            <p:cNvPr id="7" name="Content Placeholder 2"/>
            <p:cNvSpPr txBox="1">
              <a:spLocks/>
            </p:cNvSpPr>
            <p:nvPr/>
          </p:nvSpPr>
          <p:spPr>
            <a:xfrm>
              <a:off x="1563245" y="3007523"/>
              <a:ext cx="10190617" cy="585787"/>
            </a:xfrm>
            <a:prstGeom prst="rect">
              <a:avLst/>
            </a:prstGeom>
            <a:solidFill>
              <a:schemeClr val="accent5">
                <a:lumMod val="7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pPr>
              <a:r>
                <a:rPr lang="en-US" dirty="0">
                  <a:solidFill>
                    <a:schemeClr val="bg1"/>
                  </a:solidFill>
                </a:rPr>
                <a:t>COROLLARY</a:t>
              </a:r>
            </a:p>
          </p:txBody>
        </p:sp>
        <p:sp>
          <p:nvSpPr>
            <p:cNvPr id="8" name="Content Placeholder 2"/>
            <p:cNvSpPr txBox="1">
              <a:spLocks/>
            </p:cNvSpPr>
            <p:nvPr/>
          </p:nvSpPr>
          <p:spPr>
            <a:xfrm>
              <a:off x="1572767" y="3607599"/>
              <a:ext cx="10190617" cy="1135855"/>
            </a:xfrm>
            <a:prstGeom prst="rect">
              <a:avLst/>
            </a:prstGeom>
            <a:solidFill>
              <a:schemeClr val="accent5">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4000"/>
                </a:lnSpc>
                <a:buNone/>
              </a:pPr>
              <a:endParaRPr lang="en-US" sz="2400" dirty="0"/>
            </a:p>
          </p:txBody>
        </p:sp>
      </p:grpSp>
      <p:sp>
        <p:nvSpPr>
          <p:cNvPr id="6" name="Slide Number Placeholder 5"/>
          <p:cNvSpPr>
            <a:spLocks noGrp="1"/>
          </p:cNvSpPr>
          <p:nvPr>
            <p:ph type="sldNum" sz="quarter" idx="12"/>
          </p:nvPr>
        </p:nvSpPr>
        <p:spPr/>
        <p:txBody>
          <a:bodyPr/>
          <a:lstStyle/>
          <a:p>
            <a:fld id="{769106B5-6058-41AF-9CC7-A36880636D59}" type="slidenum">
              <a:rPr lang="en-US" smtClean="0"/>
              <a:pPr/>
              <a:t>39</a:t>
            </a:fld>
            <a:endParaRPr lang="en-US"/>
          </a:p>
        </p:txBody>
      </p:sp>
      <p:pic>
        <p:nvPicPr>
          <p:cNvPr id="5" name="Picture 4"/>
          <p:cNvPicPr>
            <a:picLocks noChangeAspect="1"/>
          </p:cNvPicPr>
          <p:nvPr/>
        </p:nvPicPr>
        <p:blipFill rotWithShape="1">
          <a:blip r:embed="rId2"/>
          <a:srcRect r="4462"/>
          <a:stretch/>
        </p:blipFill>
        <p:spPr>
          <a:xfrm>
            <a:off x="596200" y="2705121"/>
            <a:ext cx="11148126" cy="1131080"/>
          </a:xfrm>
          <a:prstGeom prst="rect">
            <a:avLst/>
          </a:prstGeom>
        </p:spPr>
      </p:pic>
    </p:spTree>
    <p:extLst>
      <p:ext uri="{BB962C8B-B14F-4D97-AF65-F5344CB8AC3E}">
        <p14:creationId xmlns:p14="http://schemas.microsoft.com/office/powerpoint/2010/main" val="3551235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
            <a:ext cx="12192000" cy="1228725"/>
          </a:xfrm>
          <a:solidFill>
            <a:schemeClr val="accent1">
              <a:lumMod val="50000"/>
            </a:schemeClr>
          </a:solidFill>
        </p:spPr>
        <p:txBody>
          <a:bodyPr>
            <a:normAutofit/>
          </a:bodyPr>
          <a:lstStyle/>
          <a:p>
            <a:pPr algn="ctr"/>
            <a:r>
              <a:rPr lang="en-US" sz="4800" b="1" dirty="0" smtClean="0">
                <a:solidFill>
                  <a:schemeClr val="bg1"/>
                </a:solidFill>
              </a:rPr>
              <a:t>r-permutation : Example</a:t>
            </a:r>
            <a:endParaRPr lang="en-US" sz="4800" b="1" dirty="0">
              <a:solidFill>
                <a:schemeClr val="bg1"/>
              </a:solidFill>
              <a:latin typeface="Rockwell" panose="02060603020205020403" pitchFamily="18" charset="0"/>
            </a:endParaRPr>
          </a:p>
        </p:txBody>
      </p:sp>
      <p:sp>
        <p:nvSpPr>
          <p:cNvPr id="3" name="Content Placeholder 2"/>
          <p:cNvSpPr>
            <a:spLocks noGrp="1"/>
          </p:cNvSpPr>
          <p:nvPr>
            <p:ph idx="1"/>
          </p:nvPr>
        </p:nvSpPr>
        <p:spPr>
          <a:xfrm>
            <a:off x="871539" y="1614491"/>
            <a:ext cx="10915651" cy="4743451"/>
          </a:xfrm>
        </p:spPr>
        <p:txBody>
          <a:bodyPr/>
          <a:lstStyle/>
          <a:p>
            <a:pPr>
              <a:lnSpc>
                <a:spcPct val="114000"/>
              </a:lnSpc>
              <a:spcBef>
                <a:spcPts val="300"/>
              </a:spcBef>
              <a:spcAft>
                <a:spcPts val="300"/>
              </a:spcAft>
            </a:pPr>
            <a:endParaRPr lang="en-US" dirty="0"/>
          </a:p>
          <a:p>
            <a:pPr>
              <a:lnSpc>
                <a:spcPct val="114000"/>
              </a:lnSpc>
              <a:spcBef>
                <a:spcPts val="300"/>
              </a:spcBef>
              <a:spcAft>
                <a:spcPts val="300"/>
              </a:spcAft>
            </a:pPr>
            <a:endParaRPr lang="en-US" dirty="0" smtClean="0"/>
          </a:p>
          <a:p>
            <a:pPr>
              <a:lnSpc>
                <a:spcPct val="114000"/>
              </a:lnSpc>
              <a:spcBef>
                <a:spcPts val="300"/>
              </a:spcBef>
              <a:spcAft>
                <a:spcPts val="300"/>
              </a:spcAft>
            </a:pPr>
            <a:endParaRPr lang="en-US" dirty="0"/>
          </a:p>
          <a:p>
            <a:pPr>
              <a:lnSpc>
                <a:spcPct val="114000"/>
              </a:lnSpc>
              <a:spcBef>
                <a:spcPts val="300"/>
              </a:spcBef>
              <a:spcAft>
                <a:spcPts val="300"/>
              </a:spcAft>
            </a:pPr>
            <a:endParaRPr lang="en-US" dirty="0"/>
          </a:p>
        </p:txBody>
      </p:sp>
      <p:sp>
        <p:nvSpPr>
          <p:cNvPr id="4" name="Rectangle 3"/>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sp>
        <p:nvSpPr>
          <p:cNvPr id="7" name="Content Placeholder 2"/>
          <p:cNvSpPr txBox="1">
            <a:spLocks/>
          </p:cNvSpPr>
          <p:nvPr/>
        </p:nvSpPr>
        <p:spPr>
          <a:xfrm>
            <a:off x="628652" y="1614491"/>
            <a:ext cx="11148121" cy="1357318"/>
          </a:xfrm>
          <a:prstGeom prst="rect">
            <a:avLst/>
          </a:prstGeom>
          <a:solidFill>
            <a:schemeClr val="accent5">
              <a:lumMod val="75000"/>
            </a:schemeClr>
          </a:solidFill>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pPr>
            <a:r>
              <a:rPr lang="en-US" dirty="0">
                <a:solidFill>
                  <a:schemeClr val="bg1"/>
                </a:solidFill>
              </a:rPr>
              <a:t>Problem: How many ways are there to select a first-prize winner, a second-prize winner, and a </a:t>
            </a:r>
            <a:r>
              <a:rPr lang="en-US" dirty="0" smtClean="0">
                <a:solidFill>
                  <a:schemeClr val="bg1"/>
                </a:solidFill>
              </a:rPr>
              <a:t>third-prize winner </a:t>
            </a:r>
            <a:r>
              <a:rPr lang="en-US" dirty="0">
                <a:solidFill>
                  <a:schemeClr val="bg1"/>
                </a:solidFill>
              </a:rPr>
              <a:t>from 100 different people who have entered a contest? </a:t>
            </a:r>
          </a:p>
        </p:txBody>
      </p:sp>
      <p:sp>
        <p:nvSpPr>
          <p:cNvPr id="8" name="Content Placeholder 2"/>
          <p:cNvSpPr txBox="1">
            <a:spLocks/>
          </p:cNvSpPr>
          <p:nvPr/>
        </p:nvSpPr>
        <p:spPr>
          <a:xfrm>
            <a:off x="639069" y="3014664"/>
            <a:ext cx="11148121" cy="2871786"/>
          </a:xfrm>
          <a:prstGeom prst="rect">
            <a:avLst/>
          </a:prstGeom>
          <a:solidFill>
            <a:schemeClr val="accent5">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4000"/>
              </a:lnSpc>
              <a:buNone/>
            </a:pPr>
            <a:r>
              <a:rPr lang="en-US" sz="2400" dirty="0"/>
              <a:t>Solve: Because it matters which person wins which prize, the number of ways to pick </a:t>
            </a:r>
            <a:r>
              <a:rPr lang="en-US" sz="2400" dirty="0" smtClean="0"/>
              <a:t>the three </a:t>
            </a:r>
            <a:r>
              <a:rPr lang="en-US" sz="2400" dirty="0"/>
              <a:t>prize winners is the number of ordered selections of three elements from a set of </a:t>
            </a:r>
            <a:r>
              <a:rPr lang="en-US" sz="2400" dirty="0" smtClean="0"/>
              <a:t>100 elements</a:t>
            </a:r>
            <a:r>
              <a:rPr lang="en-US" sz="2400" dirty="0"/>
              <a:t>, that is, the number of 3-permutations of a set of 100 elements. Consequently, </a:t>
            </a:r>
            <a:r>
              <a:rPr lang="en-US" sz="2400" dirty="0" smtClean="0"/>
              <a:t>the answer </a:t>
            </a:r>
            <a:r>
              <a:rPr lang="en-US" sz="2400" dirty="0"/>
              <a:t>is</a:t>
            </a:r>
          </a:p>
          <a:p>
            <a:pPr marL="0" indent="0" algn="just">
              <a:lnSpc>
                <a:spcPct val="114000"/>
              </a:lnSpc>
              <a:buNone/>
            </a:pPr>
            <a:r>
              <a:rPr lang="en-US" sz="2400" dirty="0" smtClean="0"/>
              <a:t>				P(100,3) = 100·99·98 = 970,200</a:t>
            </a:r>
            <a:r>
              <a:rPr lang="en-US" sz="2400" dirty="0"/>
              <a:t>. </a:t>
            </a:r>
          </a:p>
        </p:txBody>
      </p:sp>
      <p:sp>
        <p:nvSpPr>
          <p:cNvPr id="6" name="Slide Number Placeholder 5"/>
          <p:cNvSpPr>
            <a:spLocks noGrp="1"/>
          </p:cNvSpPr>
          <p:nvPr>
            <p:ph type="sldNum" sz="quarter" idx="12"/>
          </p:nvPr>
        </p:nvSpPr>
        <p:spPr/>
        <p:txBody>
          <a:bodyPr/>
          <a:lstStyle/>
          <a:p>
            <a:fld id="{769106B5-6058-41AF-9CC7-A36880636D59}" type="slidenum">
              <a:rPr lang="en-US" smtClean="0"/>
              <a:pPr/>
              <a:t>40</a:t>
            </a:fld>
            <a:endParaRPr lang="en-US"/>
          </a:p>
        </p:txBody>
      </p:sp>
    </p:spTree>
    <p:extLst>
      <p:ext uri="{BB962C8B-B14F-4D97-AF65-F5344CB8AC3E}">
        <p14:creationId xmlns:p14="http://schemas.microsoft.com/office/powerpoint/2010/main" val="2220821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
            <a:ext cx="12192000" cy="1228725"/>
          </a:xfrm>
          <a:solidFill>
            <a:schemeClr val="accent1">
              <a:lumMod val="50000"/>
            </a:schemeClr>
          </a:solidFill>
        </p:spPr>
        <p:txBody>
          <a:bodyPr>
            <a:normAutofit/>
          </a:bodyPr>
          <a:lstStyle/>
          <a:p>
            <a:pPr algn="ctr"/>
            <a:r>
              <a:rPr lang="en-US" sz="4800" b="1" dirty="0" smtClean="0">
                <a:solidFill>
                  <a:schemeClr val="bg1"/>
                </a:solidFill>
              </a:rPr>
              <a:t>r-permutation : Example</a:t>
            </a:r>
            <a:endParaRPr lang="en-US" sz="4800" b="1" dirty="0">
              <a:solidFill>
                <a:schemeClr val="bg1"/>
              </a:solidFill>
              <a:latin typeface="Rockwell" panose="02060603020205020403" pitchFamily="18" charset="0"/>
            </a:endParaRPr>
          </a:p>
        </p:txBody>
      </p:sp>
      <p:sp>
        <p:nvSpPr>
          <p:cNvPr id="3" name="Content Placeholder 2"/>
          <p:cNvSpPr>
            <a:spLocks noGrp="1"/>
          </p:cNvSpPr>
          <p:nvPr>
            <p:ph idx="1"/>
          </p:nvPr>
        </p:nvSpPr>
        <p:spPr>
          <a:xfrm>
            <a:off x="871539" y="1614491"/>
            <a:ext cx="10915651" cy="4743451"/>
          </a:xfrm>
        </p:spPr>
        <p:txBody>
          <a:bodyPr/>
          <a:lstStyle/>
          <a:p>
            <a:pPr>
              <a:lnSpc>
                <a:spcPct val="114000"/>
              </a:lnSpc>
              <a:spcBef>
                <a:spcPts val="300"/>
              </a:spcBef>
              <a:spcAft>
                <a:spcPts val="300"/>
              </a:spcAft>
            </a:pPr>
            <a:endParaRPr lang="en-US" dirty="0"/>
          </a:p>
          <a:p>
            <a:pPr>
              <a:lnSpc>
                <a:spcPct val="114000"/>
              </a:lnSpc>
              <a:spcBef>
                <a:spcPts val="300"/>
              </a:spcBef>
              <a:spcAft>
                <a:spcPts val="300"/>
              </a:spcAft>
            </a:pPr>
            <a:endParaRPr lang="en-US" dirty="0" smtClean="0"/>
          </a:p>
          <a:p>
            <a:pPr>
              <a:lnSpc>
                <a:spcPct val="114000"/>
              </a:lnSpc>
              <a:spcBef>
                <a:spcPts val="300"/>
              </a:spcBef>
              <a:spcAft>
                <a:spcPts val="300"/>
              </a:spcAft>
            </a:pPr>
            <a:endParaRPr lang="en-US" dirty="0"/>
          </a:p>
          <a:p>
            <a:pPr>
              <a:lnSpc>
                <a:spcPct val="114000"/>
              </a:lnSpc>
              <a:spcBef>
                <a:spcPts val="300"/>
              </a:spcBef>
              <a:spcAft>
                <a:spcPts val="300"/>
              </a:spcAft>
            </a:pPr>
            <a:endParaRPr lang="en-US" dirty="0"/>
          </a:p>
        </p:txBody>
      </p:sp>
      <p:sp>
        <p:nvSpPr>
          <p:cNvPr id="4" name="Rectangle 3"/>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sp>
        <p:nvSpPr>
          <p:cNvPr id="7" name="Content Placeholder 2"/>
          <p:cNvSpPr txBox="1">
            <a:spLocks/>
          </p:cNvSpPr>
          <p:nvPr/>
        </p:nvSpPr>
        <p:spPr>
          <a:xfrm>
            <a:off x="628652" y="1614490"/>
            <a:ext cx="11148121" cy="1614495"/>
          </a:xfrm>
          <a:prstGeom prst="rect">
            <a:avLst/>
          </a:prstGeom>
          <a:solidFill>
            <a:schemeClr val="accent5">
              <a:lumMod val="75000"/>
            </a:schemeClr>
          </a:solidFill>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pPr>
            <a:r>
              <a:rPr lang="en-US" dirty="0">
                <a:solidFill>
                  <a:schemeClr val="bg1"/>
                </a:solidFill>
              </a:rPr>
              <a:t>Problem: </a:t>
            </a:r>
            <a:r>
              <a:rPr lang="en-US" sz="2600" dirty="0">
                <a:solidFill>
                  <a:schemeClr val="bg1"/>
                </a:solidFill>
              </a:rPr>
              <a:t>Suppose that there are eight runners in a race. The winner receives a gold medal, the </a:t>
            </a:r>
            <a:r>
              <a:rPr lang="en-US" sz="2600" dirty="0" smtClean="0">
                <a:solidFill>
                  <a:schemeClr val="bg1"/>
                </a:solidFill>
              </a:rPr>
              <a:t>second place </a:t>
            </a:r>
            <a:r>
              <a:rPr lang="en-US" sz="2600" dirty="0">
                <a:solidFill>
                  <a:schemeClr val="bg1"/>
                </a:solidFill>
              </a:rPr>
              <a:t>finisher receives a silver medal, and the third-place finisher receives a bronze medal. </a:t>
            </a:r>
            <a:r>
              <a:rPr lang="en-US" sz="2600" dirty="0" smtClean="0">
                <a:solidFill>
                  <a:schemeClr val="bg1"/>
                </a:solidFill>
              </a:rPr>
              <a:t>How many </a:t>
            </a:r>
            <a:r>
              <a:rPr lang="en-US" sz="2600" dirty="0">
                <a:solidFill>
                  <a:schemeClr val="bg1"/>
                </a:solidFill>
              </a:rPr>
              <a:t>different ways are there to award these medals, if all possible outcomes of the race </a:t>
            </a:r>
            <a:r>
              <a:rPr lang="en-US" sz="2600" dirty="0" smtClean="0">
                <a:solidFill>
                  <a:schemeClr val="bg1"/>
                </a:solidFill>
              </a:rPr>
              <a:t>can occur </a:t>
            </a:r>
            <a:r>
              <a:rPr lang="en-US" sz="2600" dirty="0">
                <a:solidFill>
                  <a:schemeClr val="bg1"/>
                </a:solidFill>
              </a:rPr>
              <a:t>and there are no ties? </a:t>
            </a:r>
          </a:p>
        </p:txBody>
      </p:sp>
      <p:sp>
        <p:nvSpPr>
          <p:cNvPr id="8" name="Content Placeholder 2"/>
          <p:cNvSpPr txBox="1">
            <a:spLocks/>
          </p:cNvSpPr>
          <p:nvPr/>
        </p:nvSpPr>
        <p:spPr>
          <a:xfrm>
            <a:off x="639069" y="3314704"/>
            <a:ext cx="11148121" cy="2928936"/>
          </a:xfrm>
          <a:prstGeom prst="rect">
            <a:avLst/>
          </a:prstGeom>
          <a:solidFill>
            <a:schemeClr val="accent5">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4000"/>
              </a:lnSpc>
              <a:buNone/>
            </a:pPr>
            <a:r>
              <a:rPr lang="en-US" sz="2400" dirty="0"/>
              <a:t>Solve: The number of different ways to award the medals is the number of </a:t>
            </a:r>
            <a:r>
              <a:rPr lang="en-US" sz="2400" dirty="0" smtClean="0"/>
              <a:t>3-permutations of </a:t>
            </a:r>
            <a:r>
              <a:rPr lang="en-US" sz="2400" dirty="0"/>
              <a:t>a set with eight elements. Hence, there </a:t>
            </a:r>
            <a:r>
              <a:rPr lang="en-US" sz="2400" dirty="0" smtClean="0"/>
              <a:t>are </a:t>
            </a:r>
          </a:p>
          <a:p>
            <a:pPr marL="0" indent="0" algn="just">
              <a:lnSpc>
                <a:spcPct val="114000"/>
              </a:lnSpc>
              <a:buNone/>
            </a:pPr>
            <a:r>
              <a:rPr lang="en-US" sz="2400" dirty="0" smtClean="0"/>
              <a:t>			P(8,3) = 8·7·6 = 336 </a:t>
            </a:r>
            <a:r>
              <a:rPr lang="en-US" sz="2400" dirty="0"/>
              <a:t>possible ways to </a:t>
            </a:r>
            <a:r>
              <a:rPr lang="en-US" sz="2400" dirty="0" smtClean="0"/>
              <a:t>award the </a:t>
            </a:r>
            <a:r>
              <a:rPr lang="en-US" sz="2400" dirty="0"/>
              <a:t>medals. </a:t>
            </a:r>
          </a:p>
        </p:txBody>
      </p:sp>
      <p:sp>
        <p:nvSpPr>
          <p:cNvPr id="6" name="Slide Number Placeholder 5"/>
          <p:cNvSpPr>
            <a:spLocks noGrp="1"/>
          </p:cNvSpPr>
          <p:nvPr>
            <p:ph type="sldNum" sz="quarter" idx="12"/>
          </p:nvPr>
        </p:nvSpPr>
        <p:spPr/>
        <p:txBody>
          <a:bodyPr/>
          <a:lstStyle/>
          <a:p>
            <a:fld id="{769106B5-6058-41AF-9CC7-A36880636D59}" type="slidenum">
              <a:rPr lang="en-US" smtClean="0"/>
              <a:pPr/>
              <a:t>41</a:t>
            </a:fld>
            <a:endParaRPr lang="en-US"/>
          </a:p>
        </p:txBody>
      </p:sp>
    </p:spTree>
    <p:extLst>
      <p:ext uri="{BB962C8B-B14F-4D97-AF65-F5344CB8AC3E}">
        <p14:creationId xmlns:p14="http://schemas.microsoft.com/office/powerpoint/2010/main" val="1132605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
            <a:ext cx="12192000" cy="1228725"/>
          </a:xfrm>
          <a:solidFill>
            <a:schemeClr val="accent1">
              <a:lumMod val="50000"/>
            </a:schemeClr>
          </a:solidFill>
        </p:spPr>
        <p:txBody>
          <a:bodyPr>
            <a:normAutofit/>
          </a:bodyPr>
          <a:lstStyle/>
          <a:p>
            <a:pPr algn="ctr"/>
            <a:r>
              <a:rPr lang="en-US" sz="4800" b="1" dirty="0" smtClean="0">
                <a:solidFill>
                  <a:schemeClr val="bg1"/>
                </a:solidFill>
                <a:latin typeface="Rockwell" panose="02060603020205020403" pitchFamily="18" charset="0"/>
              </a:rPr>
              <a:t>r-permutation : Example</a:t>
            </a:r>
            <a:endParaRPr lang="en-US" sz="4800" b="1" dirty="0">
              <a:solidFill>
                <a:schemeClr val="bg1"/>
              </a:solidFill>
              <a:latin typeface="Rockwell" panose="02060603020205020403" pitchFamily="18" charset="0"/>
            </a:endParaRPr>
          </a:p>
        </p:txBody>
      </p:sp>
      <p:sp>
        <p:nvSpPr>
          <p:cNvPr id="3" name="Content Placeholder 2"/>
          <p:cNvSpPr>
            <a:spLocks noGrp="1"/>
          </p:cNvSpPr>
          <p:nvPr>
            <p:ph idx="1"/>
          </p:nvPr>
        </p:nvSpPr>
        <p:spPr>
          <a:xfrm>
            <a:off x="871539" y="1614491"/>
            <a:ext cx="10915651" cy="4743451"/>
          </a:xfrm>
        </p:spPr>
        <p:txBody>
          <a:bodyPr/>
          <a:lstStyle/>
          <a:p>
            <a:pPr>
              <a:lnSpc>
                <a:spcPct val="114000"/>
              </a:lnSpc>
              <a:spcBef>
                <a:spcPts val="300"/>
              </a:spcBef>
              <a:spcAft>
                <a:spcPts val="300"/>
              </a:spcAft>
            </a:pPr>
            <a:endParaRPr lang="en-US" dirty="0"/>
          </a:p>
          <a:p>
            <a:pPr>
              <a:lnSpc>
                <a:spcPct val="114000"/>
              </a:lnSpc>
              <a:spcBef>
                <a:spcPts val="300"/>
              </a:spcBef>
              <a:spcAft>
                <a:spcPts val="300"/>
              </a:spcAft>
            </a:pPr>
            <a:endParaRPr lang="en-US" dirty="0" smtClean="0"/>
          </a:p>
          <a:p>
            <a:pPr>
              <a:lnSpc>
                <a:spcPct val="114000"/>
              </a:lnSpc>
              <a:spcBef>
                <a:spcPts val="300"/>
              </a:spcBef>
              <a:spcAft>
                <a:spcPts val="300"/>
              </a:spcAft>
            </a:pPr>
            <a:endParaRPr lang="en-US" dirty="0"/>
          </a:p>
          <a:p>
            <a:pPr>
              <a:lnSpc>
                <a:spcPct val="114000"/>
              </a:lnSpc>
              <a:spcBef>
                <a:spcPts val="300"/>
              </a:spcBef>
              <a:spcAft>
                <a:spcPts val="300"/>
              </a:spcAft>
            </a:pPr>
            <a:endParaRPr lang="en-US" dirty="0"/>
          </a:p>
        </p:txBody>
      </p:sp>
      <p:sp>
        <p:nvSpPr>
          <p:cNvPr id="4" name="Rectangle 3"/>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sp>
        <p:nvSpPr>
          <p:cNvPr id="7" name="Content Placeholder 2"/>
          <p:cNvSpPr txBox="1">
            <a:spLocks/>
          </p:cNvSpPr>
          <p:nvPr/>
        </p:nvSpPr>
        <p:spPr>
          <a:xfrm>
            <a:off x="628652" y="1614491"/>
            <a:ext cx="11148121" cy="1357318"/>
          </a:xfrm>
          <a:prstGeom prst="rect">
            <a:avLst/>
          </a:prstGeom>
          <a:solidFill>
            <a:schemeClr val="accent5">
              <a:lumMod val="7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pPr>
            <a:r>
              <a:rPr lang="en-US" dirty="0">
                <a:solidFill>
                  <a:schemeClr val="bg1"/>
                </a:solidFill>
              </a:rPr>
              <a:t>Problem: </a:t>
            </a:r>
            <a:r>
              <a:rPr lang="en-US" sz="2600" dirty="0">
                <a:solidFill>
                  <a:schemeClr val="bg1"/>
                </a:solidFill>
              </a:rPr>
              <a:t>How many permutations of the </a:t>
            </a:r>
            <a:r>
              <a:rPr lang="en-US" sz="2600" dirty="0" smtClean="0">
                <a:solidFill>
                  <a:schemeClr val="bg1"/>
                </a:solidFill>
              </a:rPr>
              <a:t>letters ABCDEFGH contain </a:t>
            </a:r>
            <a:r>
              <a:rPr lang="en-US" sz="2600" dirty="0">
                <a:solidFill>
                  <a:schemeClr val="bg1"/>
                </a:solidFill>
              </a:rPr>
              <a:t>the </a:t>
            </a:r>
            <a:r>
              <a:rPr lang="en-US" sz="2600" dirty="0" smtClean="0">
                <a:solidFill>
                  <a:schemeClr val="bg1"/>
                </a:solidFill>
              </a:rPr>
              <a:t>string ABC</a:t>
            </a:r>
            <a:r>
              <a:rPr lang="en-US" sz="2600" dirty="0">
                <a:solidFill>
                  <a:schemeClr val="bg1"/>
                </a:solidFill>
              </a:rPr>
              <a:t>? </a:t>
            </a:r>
          </a:p>
        </p:txBody>
      </p:sp>
      <p:sp>
        <p:nvSpPr>
          <p:cNvPr id="8" name="Content Placeholder 2"/>
          <p:cNvSpPr txBox="1">
            <a:spLocks/>
          </p:cNvSpPr>
          <p:nvPr/>
        </p:nvSpPr>
        <p:spPr>
          <a:xfrm>
            <a:off x="639069" y="3014664"/>
            <a:ext cx="11148121" cy="2871786"/>
          </a:xfrm>
          <a:prstGeom prst="rect">
            <a:avLst/>
          </a:prstGeom>
          <a:solidFill>
            <a:schemeClr val="accent5">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4000"/>
              </a:lnSpc>
              <a:buNone/>
            </a:pPr>
            <a:r>
              <a:rPr lang="en-US" sz="2400" dirty="0"/>
              <a:t>Solve: Because the </a:t>
            </a:r>
            <a:r>
              <a:rPr lang="en-US" sz="2400" dirty="0" smtClean="0"/>
              <a:t>letters ABC must </a:t>
            </a:r>
            <a:r>
              <a:rPr lang="en-US" sz="2400" dirty="0"/>
              <a:t>occur as a block, we can find the answer by finding </a:t>
            </a:r>
            <a:r>
              <a:rPr lang="en-US" sz="2400" dirty="0" smtClean="0"/>
              <a:t>the number </a:t>
            </a:r>
            <a:r>
              <a:rPr lang="en-US" sz="2400" dirty="0"/>
              <a:t>of permutations of six objects, namely, the </a:t>
            </a:r>
            <a:r>
              <a:rPr lang="en-US" sz="2400" dirty="0" smtClean="0"/>
              <a:t>block ABC and </a:t>
            </a:r>
            <a:r>
              <a:rPr lang="en-US" sz="2400" dirty="0"/>
              <a:t>the individual </a:t>
            </a:r>
            <a:r>
              <a:rPr lang="en-US" sz="2400" dirty="0" smtClean="0"/>
              <a:t>letters D</a:t>
            </a:r>
            <a:r>
              <a:rPr lang="en-US" sz="2400" dirty="0"/>
              <a:t>, </a:t>
            </a:r>
            <a:r>
              <a:rPr lang="en-US" sz="2400" dirty="0" smtClean="0"/>
              <a:t>E, </a:t>
            </a:r>
            <a:r>
              <a:rPr lang="en-US" sz="2400" smtClean="0"/>
              <a:t>F, G</a:t>
            </a:r>
            <a:r>
              <a:rPr lang="en-US" sz="2400" dirty="0"/>
              <a:t>, </a:t>
            </a:r>
            <a:r>
              <a:rPr lang="en-US" sz="2400" dirty="0" smtClean="0"/>
              <a:t>and H</a:t>
            </a:r>
            <a:r>
              <a:rPr lang="en-US" sz="2400" dirty="0"/>
              <a:t>. Because these six objects can occur in any order, there are 6!=720 </a:t>
            </a:r>
            <a:r>
              <a:rPr lang="en-US" sz="2400" dirty="0" smtClean="0"/>
              <a:t>permutations of </a:t>
            </a:r>
            <a:r>
              <a:rPr lang="en-US" sz="2400" dirty="0"/>
              <a:t>the </a:t>
            </a:r>
            <a:r>
              <a:rPr lang="en-US" sz="2400" dirty="0" smtClean="0"/>
              <a:t>letters ABCDEFGH in which ABC occurs </a:t>
            </a:r>
            <a:r>
              <a:rPr lang="en-US" sz="2400" dirty="0"/>
              <a:t>as a block. </a:t>
            </a:r>
          </a:p>
        </p:txBody>
      </p:sp>
      <p:sp>
        <p:nvSpPr>
          <p:cNvPr id="6" name="Slide Number Placeholder 5"/>
          <p:cNvSpPr>
            <a:spLocks noGrp="1"/>
          </p:cNvSpPr>
          <p:nvPr>
            <p:ph type="sldNum" sz="quarter" idx="12"/>
          </p:nvPr>
        </p:nvSpPr>
        <p:spPr/>
        <p:txBody>
          <a:bodyPr/>
          <a:lstStyle/>
          <a:p>
            <a:fld id="{769106B5-6058-41AF-9CC7-A36880636D59}" type="slidenum">
              <a:rPr lang="en-US" smtClean="0"/>
              <a:pPr/>
              <a:t>42</a:t>
            </a:fld>
            <a:endParaRPr lang="en-US"/>
          </a:p>
        </p:txBody>
      </p:sp>
    </p:spTree>
    <p:extLst>
      <p:ext uri="{BB962C8B-B14F-4D97-AF65-F5344CB8AC3E}">
        <p14:creationId xmlns:p14="http://schemas.microsoft.com/office/powerpoint/2010/main" val="2284656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
            <a:ext cx="12192000" cy="1228725"/>
          </a:xfrm>
          <a:solidFill>
            <a:schemeClr val="accent1">
              <a:lumMod val="50000"/>
            </a:schemeClr>
          </a:solidFill>
        </p:spPr>
        <p:txBody>
          <a:bodyPr>
            <a:normAutofit/>
          </a:bodyPr>
          <a:lstStyle/>
          <a:p>
            <a:pPr algn="ctr"/>
            <a:r>
              <a:rPr lang="en-US" sz="4800" b="1" dirty="0">
                <a:solidFill>
                  <a:schemeClr val="bg1"/>
                </a:solidFill>
                <a:latin typeface="Rockwell" panose="02060603020205020403" pitchFamily="18" charset="0"/>
              </a:rPr>
              <a:t>Permutations with </a:t>
            </a:r>
            <a:r>
              <a:rPr lang="en-US" sz="4800" b="1" dirty="0" smtClean="0">
                <a:solidFill>
                  <a:schemeClr val="bg1"/>
                </a:solidFill>
                <a:latin typeface="Rockwell" panose="02060603020205020403" pitchFamily="18" charset="0"/>
              </a:rPr>
              <a:t>Repetitions</a:t>
            </a:r>
            <a:endParaRPr lang="en-US" sz="4800" b="1" dirty="0">
              <a:solidFill>
                <a:schemeClr val="bg1"/>
              </a:solidFill>
              <a:latin typeface="Rockwell" panose="02060603020205020403" pitchFamily="18" charset="0"/>
            </a:endParaRPr>
          </a:p>
        </p:txBody>
      </p:sp>
      <p:sp>
        <p:nvSpPr>
          <p:cNvPr id="3" name="Content Placeholder 2"/>
          <p:cNvSpPr>
            <a:spLocks noGrp="1"/>
          </p:cNvSpPr>
          <p:nvPr>
            <p:ph idx="1"/>
          </p:nvPr>
        </p:nvSpPr>
        <p:spPr>
          <a:xfrm>
            <a:off x="871539" y="1614491"/>
            <a:ext cx="10915651" cy="4743451"/>
          </a:xfrm>
        </p:spPr>
        <p:txBody>
          <a:bodyPr>
            <a:normAutofit/>
          </a:bodyPr>
          <a:lstStyle/>
          <a:p>
            <a:pPr>
              <a:lnSpc>
                <a:spcPct val="114000"/>
              </a:lnSpc>
              <a:spcBef>
                <a:spcPts val="300"/>
              </a:spcBef>
              <a:spcAft>
                <a:spcPts val="300"/>
              </a:spcAft>
            </a:pPr>
            <a:r>
              <a:rPr lang="en-US" dirty="0"/>
              <a:t>Frequently we want to know the number of permutations of a </a:t>
            </a:r>
            <a:r>
              <a:rPr lang="en-US" dirty="0" smtClean="0"/>
              <a:t>multi set</a:t>
            </a:r>
            <a:r>
              <a:rPr lang="en-US" dirty="0"/>
              <a:t>, that is, a set of objects some of </a:t>
            </a:r>
            <a:r>
              <a:rPr lang="en-US" dirty="0" smtClean="0"/>
              <a:t>which are </a:t>
            </a:r>
            <a:r>
              <a:rPr lang="en-US" dirty="0"/>
              <a:t>alike. </a:t>
            </a:r>
            <a:r>
              <a:rPr lang="en-US" dirty="0" smtClean="0"/>
              <a:t>We </a:t>
            </a:r>
            <a:r>
              <a:rPr lang="en-US" dirty="0"/>
              <a:t>will </a:t>
            </a:r>
            <a:r>
              <a:rPr lang="en-US" dirty="0" smtClean="0"/>
              <a:t>let  </a:t>
            </a:r>
          </a:p>
          <a:p>
            <a:pPr marL="0" indent="0">
              <a:lnSpc>
                <a:spcPct val="114000"/>
              </a:lnSpc>
              <a:spcBef>
                <a:spcPts val="300"/>
              </a:spcBef>
              <a:spcAft>
                <a:spcPts val="300"/>
              </a:spcAft>
              <a:buNone/>
            </a:pPr>
            <a:r>
              <a:rPr lang="en-US" dirty="0"/>
              <a:t>	</a:t>
            </a:r>
            <a:r>
              <a:rPr lang="en-US" dirty="0" smtClean="0"/>
              <a:t>		P(n; n</a:t>
            </a:r>
            <a:r>
              <a:rPr lang="en-US" baseline="-25000" dirty="0" smtClean="0"/>
              <a:t>1</a:t>
            </a:r>
            <a:r>
              <a:rPr lang="en-US" dirty="0" smtClean="0"/>
              <a:t>,n</a:t>
            </a:r>
            <a:r>
              <a:rPr lang="en-US" baseline="-25000" dirty="0" smtClean="0"/>
              <a:t>2</a:t>
            </a:r>
            <a:r>
              <a:rPr lang="en-US" dirty="0" smtClean="0"/>
              <a:t>, </a:t>
            </a:r>
            <a:r>
              <a:rPr lang="en-US" dirty="0"/>
              <a:t>..., </a:t>
            </a:r>
            <a:r>
              <a:rPr lang="en-US" dirty="0" smtClean="0"/>
              <a:t>n</a:t>
            </a:r>
            <a:r>
              <a:rPr lang="en-US" baseline="-25000" dirty="0" smtClean="0"/>
              <a:t>r</a:t>
            </a:r>
            <a:r>
              <a:rPr lang="en-US" dirty="0" smtClean="0"/>
              <a:t>)</a:t>
            </a:r>
            <a:endParaRPr lang="en-US" dirty="0"/>
          </a:p>
          <a:p>
            <a:pPr>
              <a:lnSpc>
                <a:spcPct val="114000"/>
              </a:lnSpc>
              <a:spcBef>
                <a:spcPts val="300"/>
              </a:spcBef>
              <a:spcAft>
                <a:spcPts val="300"/>
              </a:spcAft>
            </a:pPr>
            <a:r>
              <a:rPr lang="en-US" dirty="0"/>
              <a:t>denote the number of permutations </a:t>
            </a:r>
            <a:r>
              <a:rPr lang="en-US" dirty="0" smtClean="0"/>
              <a:t>of n objects of which n1 are </a:t>
            </a:r>
            <a:r>
              <a:rPr lang="en-US" dirty="0"/>
              <a:t>alike</a:t>
            </a:r>
            <a:r>
              <a:rPr lang="en-US" dirty="0" smtClean="0"/>
              <a:t>, n2 are </a:t>
            </a:r>
            <a:r>
              <a:rPr lang="en-US" dirty="0"/>
              <a:t>alike</a:t>
            </a:r>
            <a:r>
              <a:rPr lang="en-US" dirty="0" smtClean="0"/>
              <a:t>, ..., nr are </a:t>
            </a:r>
            <a:r>
              <a:rPr lang="en-US" dirty="0"/>
              <a:t>alike. </a:t>
            </a:r>
            <a:endParaRPr lang="en-US" dirty="0" smtClean="0"/>
          </a:p>
          <a:p>
            <a:pPr>
              <a:lnSpc>
                <a:spcPct val="114000"/>
              </a:lnSpc>
              <a:spcBef>
                <a:spcPts val="300"/>
              </a:spcBef>
              <a:spcAft>
                <a:spcPts val="300"/>
              </a:spcAft>
            </a:pPr>
            <a:endParaRPr lang="en-US" dirty="0" smtClean="0"/>
          </a:p>
          <a:p>
            <a:pPr>
              <a:lnSpc>
                <a:spcPct val="114000"/>
              </a:lnSpc>
              <a:spcBef>
                <a:spcPts val="300"/>
              </a:spcBef>
              <a:spcAft>
                <a:spcPts val="300"/>
              </a:spcAft>
            </a:pPr>
            <a:r>
              <a:rPr lang="en-US" dirty="0" smtClean="0"/>
              <a:t>The general formula </a:t>
            </a:r>
            <a:r>
              <a:rPr lang="en-US" dirty="0"/>
              <a:t>follows:</a:t>
            </a:r>
          </a:p>
          <a:p>
            <a:pPr>
              <a:lnSpc>
                <a:spcPct val="114000"/>
              </a:lnSpc>
              <a:spcBef>
                <a:spcPts val="300"/>
              </a:spcBef>
              <a:spcAft>
                <a:spcPts val="300"/>
              </a:spcAft>
            </a:pPr>
            <a:endParaRPr lang="en-US" dirty="0" smtClean="0"/>
          </a:p>
          <a:p>
            <a:pPr>
              <a:lnSpc>
                <a:spcPct val="114000"/>
              </a:lnSpc>
              <a:spcBef>
                <a:spcPts val="300"/>
              </a:spcBef>
              <a:spcAft>
                <a:spcPts val="300"/>
              </a:spcAft>
            </a:pPr>
            <a:endParaRPr lang="en-US" dirty="0"/>
          </a:p>
          <a:p>
            <a:pPr>
              <a:lnSpc>
                <a:spcPct val="114000"/>
              </a:lnSpc>
              <a:spcBef>
                <a:spcPts val="300"/>
              </a:spcBef>
              <a:spcAft>
                <a:spcPts val="300"/>
              </a:spcAft>
            </a:pPr>
            <a:endParaRPr lang="en-US" dirty="0"/>
          </a:p>
        </p:txBody>
      </p:sp>
      <p:sp>
        <p:nvSpPr>
          <p:cNvPr id="4" name="Rectangle 3"/>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sp>
        <p:nvSpPr>
          <p:cNvPr id="6" name="Slide Number Placeholder 5"/>
          <p:cNvSpPr>
            <a:spLocks noGrp="1"/>
          </p:cNvSpPr>
          <p:nvPr>
            <p:ph type="sldNum" sz="quarter" idx="12"/>
          </p:nvPr>
        </p:nvSpPr>
        <p:spPr/>
        <p:txBody>
          <a:bodyPr/>
          <a:lstStyle/>
          <a:p>
            <a:fld id="{769106B5-6058-41AF-9CC7-A36880636D59}" type="slidenum">
              <a:rPr lang="en-US" smtClean="0"/>
              <a:pPr/>
              <a:t>43</a:t>
            </a:fld>
            <a:endParaRPr lang="en-US"/>
          </a:p>
        </p:txBody>
      </p:sp>
    </p:spTree>
    <p:extLst>
      <p:ext uri="{BB962C8B-B14F-4D97-AF65-F5344CB8AC3E}">
        <p14:creationId xmlns:p14="http://schemas.microsoft.com/office/powerpoint/2010/main" val="208101607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
            <a:ext cx="12192000" cy="1228725"/>
          </a:xfrm>
          <a:solidFill>
            <a:schemeClr val="accent1">
              <a:lumMod val="50000"/>
            </a:schemeClr>
          </a:solidFill>
        </p:spPr>
        <p:txBody>
          <a:bodyPr>
            <a:normAutofit/>
          </a:bodyPr>
          <a:lstStyle/>
          <a:p>
            <a:pPr algn="ctr"/>
            <a:r>
              <a:rPr lang="en-US" sz="4800" b="1" dirty="0">
                <a:solidFill>
                  <a:schemeClr val="bg1"/>
                </a:solidFill>
                <a:latin typeface="Rockwell" panose="02060603020205020403" pitchFamily="18" charset="0"/>
              </a:rPr>
              <a:t>Permutations with </a:t>
            </a:r>
            <a:r>
              <a:rPr lang="en-US" sz="4800" b="1" dirty="0" smtClean="0">
                <a:solidFill>
                  <a:schemeClr val="bg1"/>
                </a:solidFill>
                <a:latin typeface="Rockwell" panose="02060603020205020403" pitchFamily="18" charset="0"/>
              </a:rPr>
              <a:t>Repetitions</a:t>
            </a:r>
            <a:endParaRPr lang="en-US" sz="4800" b="1" dirty="0">
              <a:solidFill>
                <a:schemeClr val="bg1"/>
              </a:solidFill>
              <a:latin typeface="Rockwell" panose="02060603020205020403" pitchFamily="18" charset="0"/>
            </a:endParaRPr>
          </a:p>
        </p:txBody>
      </p:sp>
      <p:sp>
        <p:nvSpPr>
          <p:cNvPr id="3" name="Content Placeholder 2"/>
          <p:cNvSpPr>
            <a:spLocks noGrp="1"/>
          </p:cNvSpPr>
          <p:nvPr>
            <p:ph idx="1"/>
          </p:nvPr>
        </p:nvSpPr>
        <p:spPr>
          <a:xfrm>
            <a:off x="871539" y="1614491"/>
            <a:ext cx="10915651" cy="4743451"/>
          </a:xfrm>
        </p:spPr>
        <p:txBody>
          <a:bodyPr/>
          <a:lstStyle/>
          <a:p>
            <a:pPr>
              <a:lnSpc>
                <a:spcPct val="114000"/>
              </a:lnSpc>
              <a:spcBef>
                <a:spcPts val="300"/>
              </a:spcBef>
              <a:spcAft>
                <a:spcPts val="300"/>
              </a:spcAft>
            </a:pPr>
            <a:endParaRPr lang="en-US" dirty="0"/>
          </a:p>
          <a:p>
            <a:pPr>
              <a:lnSpc>
                <a:spcPct val="114000"/>
              </a:lnSpc>
              <a:spcBef>
                <a:spcPts val="300"/>
              </a:spcBef>
              <a:spcAft>
                <a:spcPts val="300"/>
              </a:spcAft>
            </a:pPr>
            <a:endParaRPr lang="en-US" dirty="0" smtClean="0"/>
          </a:p>
          <a:p>
            <a:pPr>
              <a:lnSpc>
                <a:spcPct val="114000"/>
              </a:lnSpc>
              <a:spcBef>
                <a:spcPts val="300"/>
              </a:spcBef>
              <a:spcAft>
                <a:spcPts val="300"/>
              </a:spcAft>
            </a:pPr>
            <a:endParaRPr lang="en-US" dirty="0"/>
          </a:p>
          <a:p>
            <a:pPr>
              <a:lnSpc>
                <a:spcPct val="114000"/>
              </a:lnSpc>
              <a:spcBef>
                <a:spcPts val="300"/>
              </a:spcBef>
              <a:spcAft>
                <a:spcPts val="300"/>
              </a:spcAft>
            </a:pPr>
            <a:endParaRPr lang="en-US" dirty="0"/>
          </a:p>
        </p:txBody>
      </p:sp>
      <p:sp>
        <p:nvSpPr>
          <p:cNvPr id="4" name="Rectangle 3"/>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grpSp>
        <p:nvGrpSpPr>
          <p:cNvPr id="9" name="Group 8"/>
          <p:cNvGrpSpPr/>
          <p:nvPr/>
        </p:nvGrpSpPr>
        <p:grpSpPr>
          <a:xfrm>
            <a:off x="585783" y="2100270"/>
            <a:ext cx="9715505" cy="1735931"/>
            <a:chOff x="1563245" y="3007523"/>
            <a:chExt cx="10200139" cy="1735931"/>
          </a:xfrm>
        </p:grpSpPr>
        <p:sp>
          <p:nvSpPr>
            <p:cNvPr id="7" name="Content Placeholder 2"/>
            <p:cNvSpPr txBox="1">
              <a:spLocks/>
            </p:cNvSpPr>
            <p:nvPr/>
          </p:nvSpPr>
          <p:spPr>
            <a:xfrm>
              <a:off x="1563245" y="3007523"/>
              <a:ext cx="10190617" cy="585787"/>
            </a:xfrm>
            <a:prstGeom prst="rect">
              <a:avLst/>
            </a:prstGeom>
            <a:solidFill>
              <a:schemeClr val="accent5">
                <a:lumMod val="7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pPr>
              <a:r>
                <a:rPr lang="en-US" dirty="0" smtClean="0">
                  <a:solidFill>
                    <a:schemeClr val="bg1"/>
                  </a:solidFill>
                </a:rPr>
                <a:t>Theorem</a:t>
              </a:r>
              <a:endParaRPr lang="en-US" dirty="0">
                <a:solidFill>
                  <a:schemeClr val="bg1"/>
                </a:solidFill>
              </a:endParaRPr>
            </a:p>
          </p:txBody>
        </p:sp>
        <p:sp>
          <p:nvSpPr>
            <p:cNvPr id="8" name="Content Placeholder 2"/>
            <p:cNvSpPr txBox="1">
              <a:spLocks/>
            </p:cNvSpPr>
            <p:nvPr/>
          </p:nvSpPr>
          <p:spPr>
            <a:xfrm>
              <a:off x="1572767" y="3607599"/>
              <a:ext cx="10190617" cy="1135855"/>
            </a:xfrm>
            <a:prstGeom prst="rect">
              <a:avLst/>
            </a:prstGeom>
            <a:solidFill>
              <a:schemeClr val="accent5">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4000"/>
                </a:lnSpc>
                <a:buNone/>
              </a:pPr>
              <a:endParaRPr lang="en-US" sz="2400" dirty="0"/>
            </a:p>
          </p:txBody>
        </p:sp>
      </p:grpSp>
      <p:sp>
        <p:nvSpPr>
          <p:cNvPr id="6" name="Slide Number Placeholder 5"/>
          <p:cNvSpPr>
            <a:spLocks noGrp="1"/>
          </p:cNvSpPr>
          <p:nvPr>
            <p:ph type="sldNum" sz="quarter" idx="12"/>
          </p:nvPr>
        </p:nvSpPr>
        <p:spPr/>
        <p:txBody>
          <a:bodyPr/>
          <a:lstStyle/>
          <a:p>
            <a:fld id="{769106B5-6058-41AF-9CC7-A36880636D59}" type="slidenum">
              <a:rPr lang="en-US" smtClean="0"/>
              <a:pPr/>
              <a:t>44</a:t>
            </a:fld>
            <a:endParaRPr lang="en-US"/>
          </a:p>
        </p:txBody>
      </p:sp>
      <p:pic>
        <p:nvPicPr>
          <p:cNvPr id="5" name="Picture 4"/>
          <p:cNvPicPr>
            <a:picLocks noChangeAspect="1"/>
          </p:cNvPicPr>
          <p:nvPr/>
        </p:nvPicPr>
        <p:blipFill>
          <a:blip r:embed="rId2"/>
          <a:stretch>
            <a:fillRect/>
          </a:stretch>
        </p:blipFill>
        <p:spPr>
          <a:xfrm>
            <a:off x="596200" y="2686058"/>
            <a:ext cx="10148000" cy="1633012"/>
          </a:xfrm>
          <a:prstGeom prst="rect">
            <a:avLst/>
          </a:prstGeom>
        </p:spPr>
      </p:pic>
    </p:spTree>
    <p:extLst>
      <p:ext uri="{BB962C8B-B14F-4D97-AF65-F5344CB8AC3E}">
        <p14:creationId xmlns:p14="http://schemas.microsoft.com/office/powerpoint/2010/main" val="265755309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
            <a:ext cx="12192000" cy="1228725"/>
          </a:xfrm>
          <a:solidFill>
            <a:schemeClr val="accent1">
              <a:lumMod val="50000"/>
            </a:schemeClr>
          </a:solidFill>
        </p:spPr>
        <p:txBody>
          <a:bodyPr>
            <a:normAutofit fontScale="90000"/>
          </a:bodyPr>
          <a:lstStyle/>
          <a:p>
            <a:pPr algn="ctr"/>
            <a:r>
              <a:rPr lang="en-US" sz="4800" b="1" dirty="0">
                <a:solidFill>
                  <a:schemeClr val="bg1"/>
                </a:solidFill>
                <a:latin typeface="Rockwell" panose="02060603020205020403" pitchFamily="18" charset="0"/>
              </a:rPr>
              <a:t>Permutations with </a:t>
            </a:r>
            <a:r>
              <a:rPr lang="en-US" sz="4800" b="1" dirty="0" smtClean="0">
                <a:solidFill>
                  <a:schemeClr val="bg1"/>
                </a:solidFill>
                <a:latin typeface="Rockwell" panose="02060603020205020403" pitchFamily="18" charset="0"/>
              </a:rPr>
              <a:t>Repetitions: Example</a:t>
            </a:r>
            <a:endParaRPr lang="en-US" sz="4800" b="1" dirty="0">
              <a:solidFill>
                <a:schemeClr val="bg1"/>
              </a:solidFill>
              <a:latin typeface="Rockwell" panose="02060603020205020403" pitchFamily="18" charset="0"/>
            </a:endParaRPr>
          </a:p>
        </p:txBody>
      </p:sp>
      <p:sp>
        <p:nvSpPr>
          <p:cNvPr id="3" name="Content Placeholder 2"/>
          <p:cNvSpPr>
            <a:spLocks noGrp="1"/>
          </p:cNvSpPr>
          <p:nvPr>
            <p:ph idx="1"/>
          </p:nvPr>
        </p:nvSpPr>
        <p:spPr>
          <a:xfrm>
            <a:off x="871539" y="1614491"/>
            <a:ext cx="10915651" cy="4743451"/>
          </a:xfrm>
        </p:spPr>
        <p:txBody>
          <a:bodyPr/>
          <a:lstStyle/>
          <a:p>
            <a:pPr>
              <a:lnSpc>
                <a:spcPct val="114000"/>
              </a:lnSpc>
              <a:spcBef>
                <a:spcPts val="300"/>
              </a:spcBef>
              <a:spcAft>
                <a:spcPts val="300"/>
              </a:spcAft>
            </a:pPr>
            <a:endParaRPr lang="en-US" dirty="0"/>
          </a:p>
          <a:p>
            <a:pPr>
              <a:lnSpc>
                <a:spcPct val="114000"/>
              </a:lnSpc>
              <a:spcBef>
                <a:spcPts val="300"/>
              </a:spcBef>
              <a:spcAft>
                <a:spcPts val="300"/>
              </a:spcAft>
            </a:pPr>
            <a:endParaRPr lang="en-US" dirty="0" smtClean="0"/>
          </a:p>
          <a:p>
            <a:pPr>
              <a:lnSpc>
                <a:spcPct val="114000"/>
              </a:lnSpc>
              <a:spcBef>
                <a:spcPts val="300"/>
              </a:spcBef>
              <a:spcAft>
                <a:spcPts val="300"/>
              </a:spcAft>
            </a:pPr>
            <a:endParaRPr lang="en-US" dirty="0"/>
          </a:p>
          <a:p>
            <a:pPr>
              <a:lnSpc>
                <a:spcPct val="114000"/>
              </a:lnSpc>
              <a:spcBef>
                <a:spcPts val="300"/>
              </a:spcBef>
              <a:spcAft>
                <a:spcPts val="300"/>
              </a:spcAft>
            </a:pPr>
            <a:endParaRPr lang="en-US" dirty="0"/>
          </a:p>
        </p:txBody>
      </p:sp>
      <p:sp>
        <p:nvSpPr>
          <p:cNvPr id="4" name="Rectangle 3"/>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sp>
        <p:nvSpPr>
          <p:cNvPr id="6" name="Slide Number Placeholder 5"/>
          <p:cNvSpPr>
            <a:spLocks noGrp="1"/>
          </p:cNvSpPr>
          <p:nvPr>
            <p:ph type="sldNum" sz="quarter" idx="12"/>
          </p:nvPr>
        </p:nvSpPr>
        <p:spPr/>
        <p:txBody>
          <a:bodyPr/>
          <a:lstStyle/>
          <a:p>
            <a:fld id="{769106B5-6058-41AF-9CC7-A36880636D59}" type="slidenum">
              <a:rPr lang="en-US" smtClean="0"/>
              <a:pPr/>
              <a:t>45</a:t>
            </a:fld>
            <a:endParaRPr lang="en-US"/>
          </a:p>
        </p:txBody>
      </p:sp>
      <p:pic>
        <p:nvPicPr>
          <p:cNvPr id="10" name="Picture 9"/>
          <p:cNvPicPr>
            <a:picLocks noChangeAspect="1"/>
          </p:cNvPicPr>
          <p:nvPr/>
        </p:nvPicPr>
        <p:blipFill>
          <a:blip r:embed="rId2"/>
          <a:stretch>
            <a:fillRect/>
          </a:stretch>
        </p:blipFill>
        <p:spPr>
          <a:xfrm>
            <a:off x="125528" y="1614491"/>
            <a:ext cx="11872395" cy="4171943"/>
          </a:xfrm>
          <a:prstGeom prst="rect">
            <a:avLst/>
          </a:prstGeom>
        </p:spPr>
      </p:pic>
    </p:spTree>
    <p:extLst>
      <p:ext uri="{BB962C8B-B14F-4D97-AF65-F5344CB8AC3E}">
        <p14:creationId xmlns:p14="http://schemas.microsoft.com/office/powerpoint/2010/main" val="385121581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
            <a:ext cx="12192000" cy="1228725"/>
          </a:xfrm>
          <a:solidFill>
            <a:schemeClr val="accent1">
              <a:lumMod val="50000"/>
            </a:schemeClr>
          </a:solidFill>
        </p:spPr>
        <p:txBody>
          <a:bodyPr>
            <a:normAutofit fontScale="90000"/>
          </a:bodyPr>
          <a:lstStyle/>
          <a:p>
            <a:pPr algn="ctr"/>
            <a:r>
              <a:rPr lang="en-US" sz="4800" b="1" dirty="0">
                <a:solidFill>
                  <a:schemeClr val="bg1"/>
                </a:solidFill>
                <a:latin typeface="Rockwell" panose="02060603020205020403" pitchFamily="18" charset="0"/>
              </a:rPr>
              <a:t>Permutations with </a:t>
            </a:r>
            <a:r>
              <a:rPr lang="en-US" sz="4800" b="1" dirty="0" smtClean="0">
                <a:solidFill>
                  <a:schemeClr val="bg1"/>
                </a:solidFill>
                <a:latin typeface="Rockwell" panose="02060603020205020403" pitchFamily="18" charset="0"/>
              </a:rPr>
              <a:t>Repetitions: Example</a:t>
            </a:r>
            <a:endParaRPr lang="en-US" sz="4800" b="1" dirty="0">
              <a:solidFill>
                <a:schemeClr val="bg1"/>
              </a:solidFill>
              <a:latin typeface="Rockwell" panose="02060603020205020403" pitchFamily="18" charset="0"/>
            </a:endParaRPr>
          </a:p>
        </p:txBody>
      </p:sp>
      <p:sp>
        <p:nvSpPr>
          <p:cNvPr id="3" name="Content Placeholder 2"/>
          <p:cNvSpPr>
            <a:spLocks noGrp="1"/>
          </p:cNvSpPr>
          <p:nvPr>
            <p:ph idx="1"/>
          </p:nvPr>
        </p:nvSpPr>
        <p:spPr>
          <a:xfrm>
            <a:off x="871539" y="1614491"/>
            <a:ext cx="10915651" cy="4743451"/>
          </a:xfrm>
        </p:spPr>
        <p:txBody>
          <a:bodyPr/>
          <a:lstStyle/>
          <a:p>
            <a:pPr>
              <a:lnSpc>
                <a:spcPct val="114000"/>
              </a:lnSpc>
              <a:spcBef>
                <a:spcPts val="300"/>
              </a:spcBef>
              <a:spcAft>
                <a:spcPts val="300"/>
              </a:spcAft>
            </a:pPr>
            <a:r>
              <a:rPr lang="en-US" dirty="0"/>
              <a:t>Find </a:t>
            </a:r>
            <a:r>
              <a:rPr lang="en-US"/>
              <a:t>the </a:t>
            </a:r>
            <a:r>
              <a:rPr lang="en-US" smtClean="0"/>
              <a:t>number of </a:t>
            </a:r>
            <a:r>
              <a:rPr lang="en-US" dirty="0"/>
              <a:t>seven-letter words that can be formed using the letters of the </a:t>
            </a:r>
            <a:r>
              <a:rPr lang="en-US" dirty="0" smtClean="0"/>
              <a:t>word “</a:t>
            </a:r>
            <a:r>
              <a:rPr lang="en-US" dirty="0"/>
              <a:t>BENZENE.”</a:t>
            </a:r>
          </a:p>
          <a:p>
            <a:pPr>
              <a:lnSpc>
                <a:spcPct val="114000"/>
              </a:lnSpc>
              <a:spcBef>
                <a:spcPts val="300"/>
              </a:spcBef>
              <a:spcAft>
                <a:spcPts val="300"/>
              </a:spcAft>
            </a:pPr>
            <a:endParaRPr lang="en-US" dirty="0" smtClean="0"/>
          </a:p>
          <a:p>
            <a:pPr>
              <a:lnSpc>
                <a:spcPct val="114000"/>
              </a:lnSpc>
              <a:spcBef>
                <a:spcPts val="300"/>
              </a:spcBef>
              <a:spcAft>
                <a:spcPts val="300"/>
              </a:spcAft>
            </a:pPr>
            <a:endParaRPr lang="en-US" dirty="0"/>
          </a:p>
          <a:p>
            <a:pPr>
              <a:lnSpc>
                <a:spcPct val="114000"/>
              </a:lnSpc>
              <a:spcBef>
                <a:spcPts val="300"/>
              </a:spcBef>
              <a:spcAft>
                <a:spcPts val="300"/>
              </a:spcAft>
            </a:pPr>
            <a:endParaRPr lang="en-US" dirty="0"/>
          </a:p>
        </p:txBody>
      </p:sp>
      <p:sp>
        <p:nvSpPr>
          <p:cNvPr id="4" name="Rectangle 3"/>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sp>
        <p:nvSpPr>
          <p:cNvPr id="6" name="Slide Number Placeholder 5"/>
          <p:cNvSpPr>
            <a:spLocks noGrp="1"/>
          </p:cNvSpPr>
          <p:nvPr>
            <p:ph type="sldNum" sz="quarter" idx="12"/>
          </p:nvPr>
        </p:nvSpPr>
        <p:spPr/>
        <p:txBody>
          <a:bodyPr/>
          <a:lstStyle/>
          <a:p>
            <a:fld id="{769106B5-6058-41AF-9CC7-A36880636D59}" type="slidenum">
              <a:rPr lang="en-US" smtClean="0"/>
              <a:pPr/>
              <a:t>46</a:t>
            </a:fld>
            <a:endParaRPr lang="en-US"/>
          </a:p>
        </p:txBody>
      </p:sp>
    </p:spTree>
    <p:extLst>
      <p:ext uri="{BB962C8B-B14F-4D97-AF65-F5344CB8AC3E}">
        <p14:creationId xmlns:p14="http://schemas.microsoft.com/office/powerpoint/2010/main" val="225501156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
            <a:ext cx="12192000" cy="1228725"/>
          </a:xfrm>
          <a:solidFill>
            <a:schemeClr val="accent1">
              <a:lumMod val="50000"/>
            </a:schemeClr>
          </a:solidFill>
        </p:spPr>
        <p:txBody>
          <a:bodyPr>
            <a:normAutofit/>
          </a:bodyPr>
          <a:lstStyle/>
          <a:p>
            <a:pPr algn="ctr"/>
            <a:r>
              <a:rPr lang="en-US" sz="4800" b="1" dirty="0" smtClean="0">
                <a:solidFill>
                  <a:schemeClr val="bg1"/>
                </a:solidFill>
                <a:latin typeface="Rockwell" panose="02060603020205020403" pitchFamily="18" charset="0"/>
              </a:rPr>
              <a:t>Again Problem!!!</a:t>
            </a:r>
            <a:endParaRPr lang="en-US" sz="4800" b="1" dirty="0">
              <a:solidFill>
                <a:schemeClr val="bg1"/>
              </a:solidFill>
              <a:latin typeface="Rockwell" panose="02060603020205020403" pitchFamily="18" charset="0"/>
            </a:endParaRPr>
          </a:p>
        </p:txBody>
      </p:sp>
      <p:sp>
        <p:nvSpPr>
          <p:cNvPr id="3" name="Content Placeholder 2"/>
          <p:cNvSpPr>
            <a:spLocks noGrp="1"/>
          </p:cNvSpPr>
          <p:nvPr>
            <p:ph idx="1"/>
          </p:nvPr>
        </p:nvSpPr>
        <p:spPr>
          <a:xfrm>
            <a:off x="871539" y="1614491"/>
            <a:ext cx="10915651" cy="4743451"/>
          </a:xfrm>
        </p:spPr>
        <p:txBody>
          <a:bodyPr/>
          <a:lstStyle/>
          <a:p>
            <a:pPr>
              <a:lnSpc>
                <a:spcPct val="114000"/>
              </a:lnSpc>
              <a:spcBef>
                <a:spcPts val="300"/>
              </a:spcBef>
              <a:spcAft>
                <a:spcPts val="300"/>
              </a:spcAft>
            </a:pPr>
            <a:r>
              <a:rPr lang="en-US" dirty="0"/>
              <a:t>How many different committees of three students can be formed from a group of four students?</a:t>
            </a:r>
          </a:p>
          <a:p>
            <a:pPr>
              <a:lnSpc>
                <a:spcPct val="114000"/>
              </a:lnSpc>
              <a:spcBef>
                <a:spcPts val="300"/>
              </a:spcBef>
              <a:spcAft>
                <a:spcPts val="300"/>
              </a:spcAft>
            </a:pPr>
            <a:endParaRPr lang="en-US" dirty="0" smtClean="0"/>
          </a:p>
          <a:p>
            <a:pPr>
              <a:lnSpc>
                <a:spcPct val="114000"/>
              </a:lnSpc>
              <a:spcBef>
                <a:spcPts val="300"/>
              </a:spcBef>
              <a:spcAft>
                <a:spcPts val="300"/>
              </a:spcAft>
            </a:pPr>
            <a:endParaRPr lang="en-US" dirty="0"/>
          </a:p>
          <a:p>
            <a:pPr>
              <a:lnSpc>
                <a:spcPct val="114000"/>
              </a:lnSpc>
              <a:spcBef>
                <a:spcPts val="300"/>
              </a:spcBef>
              <a:spcAft>
                <a:spcPts val="300"/>
              </a:spcAft>
            </a:pPr>
            <a:endParaRPr lang="en-US" dirty="0"/>
          </a:p>
        </p:txBody>
      </p:sp>
      <p:sp>
        <p:nvSpPr>
          <p:cNvPr id="4" name="Rectangle 3"/>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sp>
        <p:nvSpPr>
          <p:cNvPr id="6" name="Slide Number Placeholder 5"/>
          <p:cNvSpPr>
            <a:spLocks noGrp="1"/>
          </p:cNvSpPr>
          <p:nvPr>
            <p:ph type="sldNum" sz="quarter" idx="12"/>
          </p:nvPr>
        </p:nvSpPr>
        <p:spPr/>
        <p:txBody>
          <a:bodyPr/>
          <a:lstStyle/>
          <a:p>
            <a:fld id="{769106B5-6058-41AF-9CC7-A36880636D59}" type="slidenum">
              <a:rPr lang="en-US" smtClean="0"/>
              <a:pPr/>
              <a:t>47</a:t>
            </a:fld>
            <a:endParaRPr lang="en-US"/>
          </a:p>
        </p:txBody>
      </p:sp>
    </p:spTree>
    <p:extLst>
      <p:ext uri="{BB962C8B-B14F-4D97-AF65-F5344CB8AC3E}">
        <p14:creationId xmlns:p14="http://schemas.microsoft.com/office/powerpoint/2010/main" val="108518467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
            <a:ext cx="12192000" cy="1228725"/>
          </a:xfrm>
          <a:solidFill>
            <a:schemeClr val="accent1">
              <a:lumMod val="50000"/>
            </a:schemeClr>
          </a:solidFill>
        </p:spPr>
        <p:txBody>
          <a:bodyPr>
            <a:normAutofit/>
          </a:bodyPr>
          <a:lstStyle/>
          <a:p>
            <a:pPr algn="ctr"/>
            <a:r>
              <a:rPr lang="en-US" sz="5400" b="1" dirty="0" smtClean="0">
                <a:solidFill>
                  <a:schemeClr val="bg1"/>
                </a:solidFill>
                <a:latin typeface="Rockwell" panose="02060603020205020403" pitchFamily="18" charset="0"/>
              </a:rPr>
              <a:t>r-combination</a:t>
            </a:r>
            <a:endParaRPr lang="en-US" sz="5400" b="1" dirty="0">
              <a:solidFill>
                <a:schemeClr val="bg1"/>
              </a:solidFill>
              <a:latin typeface="Rockwell" panose="02060603020205020403" pitchFamily="18" charset="0"/>
            </a:endParaRPr>
          </a:p>
        </p:txBody>
      </p:sp>
      <p:sp>
        <p:nvSpPr>
          <p:cNvPr id="3" name="Content Placeholder 2"/>
          <p:cNvSpPr>
            <a:spLocks noGrp="1"/>
          </p:cNvSpPr>
          <p:nvPr>
            <p:ph idx="1"/>
          </p:nvPr>
        </p:nvSpPr>
        <p:spPr>
          <a:xfrm>
            <a:off x="871539" y="1614491"/>
            <a:ext cx="10915651" cy="4743451"/>
          </a:xfrm>
        </p:spPr>
        <p:txBody>
          <a:bodyPr/>
          <a:lstStyle/>
          <a:p>
            <a:pPr>
              <a:lnSpc>
                <a:spcPct val="114000"/>
              </a:lnSpc>
              <a:spcBef>
                <a:spcPts val="300"/>
              </a:spcBef>
              <a:spcAft>
                <a:spcPts val="300"/>
              </a:spcAft>
            </a:pPr>
            <a:endParaRPr lang="en-US" dirty="0"/>
          </a:p>
          <a:p>
            <a:pPr>
              <a:lnSpc>
                <a:spcPct val="114000"/>
              </a:lnSpc>
              <a:spcBef>
                <a:spcPts val="300"/>
              </a:spcBef>
              <a:spcAft>
                <a:spcPts val="300"/>
              </a:spcAft>
            </a:pPr>
            <a:endParaRPr lang="en-US" dirty="0" smtClean="0"/>
          </a:p>
          <a:p>
            <a:pPr>
              <a:lnSpc>
                <a:spcPct val="114000"/>
              </a:lnSpc>
              <a:spcBef>
                <a:spcPts val="300"/>
              </a:spcBef>
              <a:spcAft>
                <a:spcPts val="300"/>
              </a:spcAft>
            </a:pPr>
            <a:endParaRPr lang="en-US" dirty="0"/>
          </a:p>
          <a:p>
            <a:pPr>
              <a:lnSpc>
                <a:spcPct val="114000"/>
              </a:lnSpc>
              <a:spcBef>
                <a:spcPts val="300"/>
              </a:spcBef>
              <a:spcAft>
                <a:spcPts val="300"/>
              </a:spcAft>
            </a:pPr>
            <a:endParaRPr lang="en-US" dirty="0"/>
          </a:p>
        </p:txBody>
      </p:sp>
      <p:sp>
        <p:nvSpPr>
          <p:cNvPr id="4" name="Rectangle 3"/>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grpSp>
        <p:nvGrpSpPr>
          <p:cNvPr id="9" name="Group 8"/>
          <p:cNvGrpSpPr/>
          <p:nvPr/>
        </p:nvGrpSpPr>
        <p:grpSpPr>
          <a:xfrm>
            <a:off x="585783" y="1543045"/>
            <a:ext cx="11158537" cy="3386112"/>
            <a:chOff x="1563245" y="3007523"/>
            <a:chExt cx="10200138" cy="3386112"/>
          </a:xfrm>
        </p:grpSpPr>
        <p:sp>
          <p:nvSpPr>
            <p:cNvPr id="7" name="Content Placeholder 2"/>
            <p:cNvSpPr txBox="1">
              <a:spLocks/>
            </p:cNvSpPr>
            <p:nvPr/>
          </p:nvSpPr>
          <p:spPr>
            <a:xfrm>
              <a:off x="1563245" y="3007523"/>
              <a:ext cx="10190617" cy="585787"/>
            </a:xfrm>
            <a:prstGeom prst="rect">
              <a:avLst/>
            </a:prstGeom>
            <a:solidFill>
              <a:schemeClr val="accent5">
                <a:lumMod val="7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pPr>
              <a:r>
                <a:rPr lang="en-US" dirty="0" smtClean="0">
                  <a:solidFill>
                    <a:schemeClr val="bg1"/>
                  </a:solidFill>
                </a:rPr>
                <a:t>Theorem</a:t>
              </a:r>
              <a:endParaRPr lang="en-US" dirty="0">
                <a:solidFill>
                  <a:schemeClr val="bg1"/>
                </a:solidFill>
              </a:endParaRPr>
            </a:p>
          </p:txBody>
        </p:sp>
        <p:sp>
          <p:nvSpPr>
            <p:cNvPr id="8" name="Content Placeholder 2"/>
            <p:cNvSpPr txBox="1">
              <a:spLocks/>
            </p:cNvSpPr>
            <p:nvPr/>
          </p:nvSpPr>
          <p:spPr>
            <a:xfrm>
              <a:off x="1572767" y="3607599"/>
              <a:ext cx="10190616" cy="2786036"/>
            </a:xfrm>
            <a:prstGeom prst="rect">
              <a:avLst/>
            </a:prstGeom>
            <a:solidFill>
              <a:schemeClr val="accent5">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4000"/>
                </a:lnSpc>
                <a:buNone/>
              </a:pPr>
              <a:r>
                <a:rPr lang="en-US" sz="2400" dirty="0" smtClean="0"/>
                <a:t>Let S be </a:t>
              </a:r>
              <a:r>
                <a:rPr lang="en-US" sz="2400" dirty="0"/>
                <a:t>a set </a:t>
              </a:r>
              <a:r>
                <a:rPr lang="en-US" sz="2400" dirty="0" smtClean="0"/>
                <a:t>with n elements</a:t>
              </a:r>
              <a:r>
                <a:rPr lang="en-US" sz="2400" dirty="0"/>
                <a:t>. </a:t>
              </a:r>
              <a:r>
                <a:rPr lang="en-US" sz="2400" dirty="0" smtClean="0"/>
                <a:t>A combination of these n elements taken </a:t>
              </a:r>
              <a:r>
                <a:rPr lang="en-US" sz="2400" dirty="0" smtClean="0">
                  <a:solidFill>
                    <a:schemeClr val="accent2">
                      <a:lumMod val="75000"/>
                    </a:schemeClr>
                  </a:solidFill>
                </a:rPr>
                <a:t>r at </a:t>
              </a:r>
              <a:r>
                <a:rPr lang="en-US" sz="2400" dirty="0">
                  <a:solidFill>
                    <a:schemeClr val="accent2">
                      <a:lumMod val="75000"/>
                    </a:schemeClr>
                  </a:solidFill>
                </a:rPr>
                <a:t>a time </a:t>
              </a:r>
              <a:r>
                <a:rPr lang="en-US" sz="2400" dirty="0"/>
                <a:t>is any selection </a:t>
              </a:r>
              <a:r>
                <a:rPr lang="en-US" sz="2400" dirty="0" smtClean="0"/>
                <a:t>of r of the </a:t>
              </a:r>
              <a:r>
                <a:rPr lang="en-US" sz="2400" dirty="0"/>
                <a:t>elements where </a:t>
              </a:r>
              <a:r>
                <a:rPr lang="en-US" sz="2400" dirty="0">
                  <a:solidFill>
                    <a:srgbClr val="FF0000"/>
                  </a:solidFill>
                </a:rPr>
                <a:t>order does not count. </a:t>
              </a:r>
              <a:endParaRPr lang="en-US" sz="2400" dirty="0" smtClean="0">
                <a:solidFill>
                  <a:srgbClr val="FF0000"/>
                </a:solidFill>
              </a:endParaRPr>
            </a:p>
            <a:p>
              <a:pPr marL="0" indent="0" algn="just">
                <a:lnSpc>
                  <a:spcPct val="114000"/>
                </a:lnSpc>
                <a:buNone/>
              </a:pPr>
              <a:r>
                <a:rPr lang="en-US" sz="2400" dirty="0" smtClean="0"/>
                <a:t>Such </a:t>
              </a:r>
              <a:r>
                <a:rPr lang="en-US" sz="2400" dirty="0"/>
                <a:t>a selection is called </a:t>
              </a:r>
              <a:r>
                <a:rPr lang="en-US" sz="2400" dirty="0" smtClean="0"/>
                <a:t>an r-combination</a:t>
              </a:r>
              <a:r>
                <a:rPr lang="en-US" sz="2400" dirty="0"/>
                <a:t>; it is simply a subset </a:t>
              </a:r>
              <a:r>
                <a:rPr lang="en-US" sz="2400" dirty="0" smtClean="0"/>
                <a:t>of S with r elements</a:t>
              </a:r>
              <a:r>
                <a:rPr lang="en-US" sz="2400" dirty="0"/>
                <a:t>. The number of such combinations will be denoted </a:t>
              </a:r>
              <a:r>
                <a:rPr lang="en-US" sz="2400" dirty="0" smtClean="0"/>
                <a:t>by</a:t>
              </a:r>
              <a:endParaRPr lang="en-US" sz="2400" dirty="0"/>
            </a:p>
          </p:txBody>
        </p:sp>
      </p:grpSp>
      <p:sp>
        <p:nvSpPr>
          <p:cNvPr id="6" name="Slide Number Placeholder 5"/>
          <p:cNvSpPr>
            <a:spLocks noGrp="1"/>
          </p:cNvSpPr>
          <p:nvPr>
            <p:ph type="sldNum" sz="quarter" idx="12"/>
          </p:nvPr>
        </p:nvSpPr>
        <p:spPr/>
        <p:txBody>
          <a:bodyPr/>
          <a:lstStyle/>
          <a:p>
            <a:fld id="{769106B5-6058-41AF-9CC7-A36880636D59}" type="slidenum">
              <a:rPr lang="en-US" smtClean="0"/>
              <a:pPr/>
              <a:t>48</a:t>
            </a:fld>
            <a:endParaRPr lang="en-US"/>
          </a:p>
        </p:txBody>
      </p:sp>
      <p:pic>
        <p:nvPicPr>
          <p:cNvPr id="5" name="Picture 4"/>
          <p:cNvPicPr>
            <a:picLocks noChangeAspect="1"/>
          </p:cNvPicPr>
          <p:nvPr/>
        </p:nvPicPr>
        <p:blipFill>
          <a:blip r:embed="rId2"/>
          <a:stretch>
            <a:fillRect/>
          </a:stretch>
        </p:blipFill>
        <p:spPr>
          <a:xfrm>
            <a:off x="2726531" y="4072202"/>
            <a:ext cx="6738938" cy="764080"/>
          </a:xfrm>
          <a:prstGeom prst="rect">
            <a:avLst/>
          </a:prstGeom>
        </p:spPr>
      </p:pic>
    </p:spTree>
    <p:extLst>
      <p:ext uri="{BB962C8B-B14F-4D97-AF65-F5344CB8AC3E}">
        <p14:creationId xmlns:p14="http://schemas.microsoft.com/office/powerpoint/2010/main" val="280049927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
            <a:ext cx="12192000" cy="841373"/>
          </a:xfrm>
          <a:solidFill>
            <a:schemeClr val="accent1">
              <a:lumMod val="50000"/>
            </a:schemeClr>
          </a:solidFill>
        </p:spPr>
        <p:txBody>
          <a:bodyPr>
            <a:normAutofit/>
          </a:bodyPr>
          <a:lstStyle/>
          <a:p>
            <a:pPr algn="ctr"/>
            <a:r>
              <a:rPr lang="en-US" sz="4800" b="1" dirty="0">
                <a:solidFill>
                  <a:schemeClr val="bg1"/>
                </a:solidFill>
                <a:latin typeface="Rockwell" panose="02060603020205020403" pitchFamily="18" charset="0"/>
              </a:rPr>
              <a:t>r-combination</a:t>
            </a:r>
            <a:r>
              <a:rPr lang="en-US" sz="4800" b="1" dirty="0" smtClean="0">
                <a:solidFill>
                  <a:schemeClr val="bg1"/>
                </a:solidFill>
              </a:rPr>
              <a:t> : Example</a:t>
            </a:r>
            <a:endParaRPr lang="en-US" sz="4800" b="1" dirty="0">
              <a:solidFill>
                <a:schemeClr val="bg1"/>
              </a:solidFill>
              <a:latin typeface="Rockwell" panose="02060603020205020403" pitchFamily="18" charset="0"/>
            </a:endParaRPr>
          </a:p>
        </p:txBody>
      </p:sp>
      <p:sp>
        <p:nvSpPr>
          <p:cNvPr id="3" name="Content Placeholder 2"/>
          <p:cNvSpPr>
            <a:spLocks noGrp="1"/>
          </p:cNvSpPr>
          <p:nvPr>
            <p:ph idx="1"/>
          </p:nvPr>
        </p:nvSpPr>
        <p:spPr>
          <a:xfrm>
            <a:off x="871539" y="1493045"/>
            <a:ext cx="10915651" cy="4743451"/>
          </a:xfrm>
        </p:spPr>
        <p:txBody>
          <a:bodyPr/>
          <a:lstStyle/>
          <a:p>
            <a:pPr>
              <a:lnSpc>
                <a:spcPct val="114000"/>
              </a:lnSpc>
              <a:spcBef>
                <a:spcPts val="300"/>
              </a:spcBef>
              <a:spcAft>
                <a:spcPts val="300"/>
              </a:spcAft>
            </a:pPr>
            <a:endParaRPr lang="en-US" dirty="0"/>
          </a:p>
          <a:p>
            <a:pPr>
              <a:lnSpc>
                <a:spcPct val="114000"/>
              </a:lnSpc>
              <a:spcBef>
                <a:spcPts val="300"/>
              </a:spcBef>
              <a:spcAft>
                <a:spcPts val="300"/>
              </a:spcAft>
            </a:pPr>
            <a:endParaRPr lang="en-US" dirty="0" smtClean="0"/>
          </a:p>
          <a:p>
            <a:pPr>
              <a:lnSpc>
                <a:spcPct val="114000"/>
              </a:lnSpc>
              <a:spcBef>
                <a:spcPts val="300"/>
              </a:spcBef>
              <a:spcAft>
                <a:spcPts val="300"/>
              </a:spcAft>
            </a:pPr>
            <a:endParaRPr lang="en-US" dirty="0"/>
          </a:p>
          <a:p>
            <a:pPr>
              <a:lnSpc>
                <a:spcPct val="114000"/>
              </a:lnSpc>
              <a:spcBef>
                <a:spcPts val="300"/>
              </a:spcBef>
              <a:spcAft>
                <a:spcPts val="300"/>
              </a:spcAft>
            </a:pPr>
            <a:endParaRPr lang="en-US" dirty="0"/>
          </a:p>
        </p:txBody>
      </p:sp>
      <p:sp>
        <p:nvSpPr>
          <p:cNvPr id="4" name="Rectangle 3"/>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grpSp>
        <p:nvGrpSpPr>
          <p:cNvPr id="9" name="Group 8"/>
          <p:cNvGrpSpPr/>
          <p:nvPr/>
        </p:nvGrpSpPr>
        <p:grpSpPr>
          <a:xfrm>
            <a:off x="628652" y="985835"/>
            <a:ext cx="11158538" cy="5395119"/>
            <a:chOff x="1563245" y="3007523"/>
            <a:chExt cx="10200139" cy="5395119"/>
          </a:xfrm>
        </p:grpSpPr>
        <p:sp>
          <p:nvSpPr>
            <p:cNvPr id="7" name="Content Placeholder 2"/>
            <p:cNvSpPr txBox="1">
              <a:spLocks/>
            </p:cNvSpPr>
            <p:nvPr/>
          </p:nvSpPr>
          <p:spPr>
            <a:xfrm>
              <a:off x="1563245" y="3007523"/>
              <a:ext cx="10190617" cy="1357318"/>
            </a:xfrm>
            <a:prstGeom prst="rect">
              <a:avLst/>
            </a:prstGeom>
            <a:solidFill>
              <a:schemeClr val="accent5">
                <a:lumMod val="7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pPr>
              <a:r>
                <a:rPr lang="en-US" dirty="0" smtClean="0">
                  <a:solidFill>
                    <a:schemeClr val="bg1"/>
                  </a:solidFill>
                </a:rPr>
                <a:t>Problem</a:t>
              </a:r>
              <a:r>
                <a:rPr lang="en-US" dirty="0">
                  <a:solidFill>
                    <a:schemeClr val="bg1"/>
                  </a:solidFill>
                </a:rPr>
                <a:t>: Find the number of combinations of 4 </a:t>
              </a:r>
              <a:r>
                <a:rPr lang="en-US" dirty="0" smtClean="0">
                  <a:solidFill>
                    <a:schemeClr val="bg1"/>
                  </a:solidFill>
                </a:rPr>
                <a:t>objects A,B,C,D</a:t>
              </a:r>
              <a:r>
                <a:rPr lang="en-US" dirty="0">
                  <a:solidFill>
                    <a:schemeClr val="bg1"/>
                  </a:solidFill>
                </a:rPr>
                <a:t>, taken 3 at a time. </a:t>
              </a:r>
            </a:p>
          </p:txBody>
        </p:sp>
        <p:sp>
          <p:nvSpPr>
            <p:cNvPr id="8" name="Content Placeholder 2"/>
            <p:cNvSpPr txBox="1">
              <a:spLocks/>
            </p:cNvSpPr>
            <p:nvPr/>
          </p:nvSpPr>
          <p:spPr>
            <a:xfrm>
              <a:off x="1572767" y="4407695"/>
              <a:ext cx="10190617" cy="3994947"/>
            </a:xfrm>
            <a:prstGeom prst="rect">
              <a:avLst/>
            </a:prstGeom>
            <a:solidFill>
              <a:schemeClr val="accent5">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4000"/>
                </a:lnSpc>
                <a:buNone/>
              </a:pPr>
              <a:r>
                <a:rPr lang="en-US" sz="2400" dirty="0" smtClean="0"/>
                <a:t>Solve: </a:t>
              </a:r>
              <a:endParaRPr lang="en-US" sz="2400" dirty="0"/>
            </a:p>
          </p:txBody>
        </p:sp>
      </p:grpSp>
      <p:sp>
        <p:nvSpPr>
          <p:cNvPr id="6" name="Slide Number Placeholder 5"/>
          <p:cNvSpPr>
            <a:spLocks noGrp="1"/>
          </p:cNvSpPr>
          <p:nvPr>
            <p:ph type="sldNum" sz="quarter" idx="12"/>
          </p:nvPr>
        </p:nvSpPr>
        <p:spPr/>
        <p:txBody>
          <a:bodyPr/>
          <a:lstStyle/>
          <a:p>
            <a:fld id="{769106B5-6058-41AF-9CC7-A36880636D59}" type="slidenum">
              <a:rPr lang="en-US" smtClean="0"/>
              <a:pPr/>
              <a:t>49</a:t>
            </a:fld>
            <a:endParaRPr lang="en-US"/>
          </a:p>
        </p:txBody>
      </p:sp>
      <p:pic>
        <p:nvPicPr>
          <p:cNvPr id="5" name="Picture 4"/>
          <p:cNvPicPr>
            <a:picLocks noChangeAspect="1"/>
          </p:cNvPicPr>
          <p:nvPr/>
        </p:nvPicPr>
        <p:blipFill>
          <a:blip r:embed="rId2"/>
          <a:stretch>
            <a:fillRect/>
          </a:stretch>
        </p:blipFill>
        <p:spPr>
          <a:xfrm>
            <a:off x="1638300" y="2460629"/>
            <a:ext cx="9715500" cy="3895725"/>
          </a:xfrm>
          <a:prstGeom prst="rect">
            <a:avLst/>
          </a:prstGeom>
        </p:spPr>
      </p:pic>
    </p:spTree>
    <p:extLst>
      <p:ext uri="{BB962C8B-B14F-4D97-AF65-F5344CB8AC3E}">
        <p14:creationId xmlns:p14="http://schemas.microsoft.com/office/powerpoint/2010/main" val="4023795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
            <a:ext cx="12192000" cy="1228725"/>
          </a:xfrm>
          <a:solidFill>
            <a:schemeClr val="accent1">
              <a:lumMod val="50000"/>
            </a:schemeClr>
          </a:solidFill>
        </p:spPr>
        <p:txBody>
          <a:bodyPr>
            <a:normAutofit/>
          </a:bodyPr>
          <a:lstStyle/>
          <a:p>
            <a:pPr algn="ctr"/>
            <a:r>
              <a:rPr lang="en-US" sz="5400" b="1" dirty="0">
                <a:solidFill>
                  <a:schemeClr val="bg1"/>
                </a:solidFill>
                <a:latin typeface="Rockwell" panose="02060603020205020403" pitchFamily="18" charset="0"/>
              </a:rPr>
              <a:t>r-combination</a:t>
            </a:r>
            <a:endParaRPr lang="en-US" sz="5400" dirty="0">
              <a:solidFill>
                <a:schemeClr val="bg1"/>
              </a:solidFill>
              <a:latin typeface="Rockwell" panose="02060603020205020403" pitchFamily="18" charset="0"/>
            </a:endParaRPr>
          </a:p>
        </p:txBody>
      </p:sp>
      <p:sp>
        <p:nvSpPr>
          <p:cNvPr id="3" name="Content Placeholder 2"/>
          <p:cNvSpPr>
            <a:spLocks noGrp="1"/>
          </p:cNvSpPr>
          <p:nvPr>
            <p:ph idx="1"/>
          </p:nvPr>
        </p:nvSpPr>
        <p:spPr>
          <a:xfrm>
            <a:off x="871539" y="1614491"/>
            <a:ext cx="10915651" cy="4743451"/>
          </a:xfrm>
        </p:spPr>
        <p:txBody>
          <a:bodyPr/>
          <a:lstStyle/>
          <a:p>
            <a:pPr>
              <a:lnSpc>
                <a:spcPct val="114000"/>
              </a:lnSpc>
              <a:spcBef>
                <a:spcPts val="300"/>
              </a:spcBef>
              <a:spcAft>
                <a:spcPts val="300"/>
              </a:spcAft>
            </a:pPr>
            <a:endParaRPr lang="en-US" dirty="0"/>
          </a:p>
          <a:p>
            <a:pPr>
              <a:lnSpc>
                <a:spcPct val="114000"/>
              </a:lnSpc>
              <a:spcBef>
                <a:spcPts val="300"/>
              </a:spcBef>
              <a:spcAft>
                <a:spcPts val="300"/>
              </a:spcAft>
            </a:pPr>
            <a:endParaRPr lang="en-US" dirty="0" smtClean="0"/>
          </a:p>
          <a:p>
            <a:pPr>
              <a:lnSpc>
                <a:spcPct val="114000"/>
              </a:lnSpc>
              <a:spcBef>
                <a:spcPts val="300"/>
              </a:spcBef>
              <a:spcAft>
                <a:spcPts val="300"/>
              </a:spcAft>
            </a:pPr>
            <a:endParaRPr lang="en-US" dirty="0"/>
          </a:p>
          <a:p>
            <a:pPr>
              <a:lnSpc>
                <a:spcPct val="114000"/>
              </a:lnSpc>
              <a:spcBef>
                <a:spcPts val="300"/>
              </a:spcBef>
              <a:spcAft>
                <a:spcPts val="300"/>
              </a:spcAft>
            </a:pPr>
            <a:endParaRPr lang="en-US" dirty="0"/>
          </a:p>
        </p:txBody>
      </p:sp>
      <p:sp>
        <p:nvSpPr>
          <p:cNvPr id="4" name="Rectangle 3"/>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grpSp>
        <p:nvGrpSpPr>
          <p:cNvPr id="9" name="Group 8"/>
          <p:cNvGrpSpPr/>
          <p:nvPr/>
        </p:nvGrpSpPr>
        <p:grpSpPr>
          <a:xfrm>
            <a:off x="628652" y="1471620"/>
            <a:ext cx="11158538" cy="1735931"/>
            <a:chOff x="1563245" y="3007523"/>
            <a:chExt cx="10200139" cy="1735931"/>
          </a:xfrm>
        </p:grpSpPr>
        <p:sp>
          <p:nvSpPr>
            <p:cNvPr id="7" name="Content Placeholder 2"/>
            <p:cNvSpPr txBox="1">
              <a:spLocks/>
            </p:cNvSpPr>
            <p:nvPr/>
          </p:nvSpPr>
          <p:spPr>
            <a:xfrm>
              <a:off x="1563245" y="3007523"/>
              <a:ext cx="10190617" cy="585787"/>
            </a:xfrm>
            <a:prstGeom prst="rect">
              <a:avLst/>
            </a:prstGeom>
            <a:solidFill>
              <a:schemeClr val="accent5">
                <a:lumMod val="7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pPr>
              <a:r>
                <a:rPr lang="en-US" dirty="0" smtClean="0">
                  <a:solidFill>
                    <a:schemeClr val="bg1"/>
                  </a:solidFill>
                </a:rPr>
                <a:t>Theorem</a:t>
              </a:r>
              <a:endParaRPr lang="en-US" dirty="0">
                <a:solidFill>
                  <a:schemeClr val="bg1"/>
                </a:solidFill>
              </a:endParaRPr>
            </a:p>
          </p:txBody>
        </p:sp>
        <p:sp>
          <p:nvSpPr>
            <p:cNvPr id="8" name="Content Placeholder 2"/>
            <p:cNvSpPr txBox="1">
              <a:spLocks/>
            </p:cNvSpPr>
            <p:nvPr/>
          </p:nvSpPr>
          <p:spPr>
            <a:xfrm>
              <a:off x="1572767" y="3607599"/>
              <a:ext cx="10190617" cy="1135855"/>
            </a:xfrm>
            <a:prstGeom prst="rect">
              <a:avLst/>
            </a:prstGeom>
            <a:solidFill>
              <a:schemeClr val="accent5">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4000"/>
                </a:lnSpc>
                <a:buNone/>
              </a:pPr>
              <a:endParaRPr lang="en-US" sz="2400" dirty="0"/>
            </a:p>
          </p:txBody>
        </p:sp>
      </p:grpSp>
      <p:sp>
        <p:nvSpPr>
          <p:cNvPr id="6" name="Slide Number Placeholder 5"/>
          <p:cNvSpPr>
            <a:spLocks noGrp="1"/>
          </p:cNvSpPr>
          <p:nvPr>
            <p:ph type="sldNum" sz="quarter" idx="12"/>
          </p:nvPr>
        </p:nvSpPr>
        <p:spPr/>
        <p:txBody>
          <a:bodyPr/>
          <a:lstStyle/>
          <a:p>
            <a:fld id="{769106B5-6058-41AF-9CC7-A36880636D59}" type="slidenum">
              <a:rPr lang="en-US" smtClean="0"/>
              <a:pPr/>
              <a:t>50</a:t>
            </a:fld>
            <a:endParaRPr lang="en-US"/>
          </a:p>
        </p:txBody>
      </p:sp>
      <p:pic>
        <p:nvPicPr>
          <p:cNvPr id="5" name="Picture 4"/>
          <p:cNvPicPr>
            <a:picLocks noChangeAspect="1"/>
          </p:cNvPicPr>
          <p:nvPr/>
        </p:nvPicPr>
        <p:blipFill>
          <a:blip r:embed="rId2"/>
          <a:stretch>
            <a:fillRect/>
          </a:stretch>
        </p:blipFill>
        <p:spPr>
          <a:xfrm>
            <a:off x="610493" y="2057407"/>
            <a:ext cx="11177539" cy="2320124"/>
          </a:xfrm>
          <a:prstGeom prst="rect">
            <a:avLst/>
          </a:prstGeom>
        </p:spPr>
      </p:pic>
      <p:pic>
        <p:nvPicPr>
          <p:cNvPr id="11" name="Picture 10"/>
          <p:cNvPicPr>
            <a:picLocks noChangeAspect="1"/>
          </p:cNvPicPr>
          <p:nvPr/>
        </p:nvPicPr>
        <p:blipFill>
          <a:blip r:embed="rId3"/>
          <a:stretch>
            <a:fillRect/>
          </a:stretch>
        </p:blipFill>
        <p:spPr>
          <a:xfrm>
            <a:off x="1516945" y="4620602"/>
            <a:ext cx="8098543" cy="1592881"/>
          </a:xfrm>
          <a:prstGeom prst="rect">
            <a:avLst/>
          </a:prstGeom>
        </p:spPr>
      </p:pic>
    </p:spTree>
    <p:extLst>
      <p:ext uri="{BB962C8B-B14F-4D97-AF65-F5344CB8AC3E}">
        <p14:creationId xmlns:p14="http://schemas.microsoft.com/office/powerpoint/2010/main" val="1085713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
            <a:ext cx="12192000" cy="1228725"/>
          </a:xfrm>
          <a:solidFill>
            <a:schemeClr val="accent1">
              <a:lumMod val="50000"/>
            </a:schemeClr>
          </a:solidFill>
        </p:spPr>
        <p:txBody>
          <a:bodyPr>
            <a:normAutofit/>
          </a:bodyPr>
          <a:lstStyle/>
          <a:p>
            <a:pPr algn="ctr"/>
            <a:r>
              <a:rPr lang="en-US" sz="5400" b="1" dirty="0">
                <a:solidFill>
                  <a:schemeClr val="bg1"/>
                </a:solidFill>
                <a:latin typeface="Rockwell" panose="02060603020205020403" pitchFamily="18" charset="0"/>
              </a:rPr>
              <a:t>r-combination</a:t>
            </a:r>
          </a:p>
        </p:txBody>
      </p:sp>
      <p:sp>
        <p:nvSpPr>
          <p:cNvPr id="3" name="Content Placeholder 2"/>
          <p:cNvSpPr>
            <a:spLocks noGrp="1"/>
          </p:cNvSpPr>
          <p:nvPr>
            <p:ph idx="1"/>
          </p:nvPr>
        </p:nvSpPr>
        <p:spPr>
          <a:xfrm>
            <a:off x="871539" y="1614491"/>
            <a:ext cx="10915651" cy="4743451"/>
          </a:xfrm>
        </p:spPr>
        <p:txBody>
          <a:bodyPr/>
          <a:lstStyle/>
          <a:p>
            <a:pPr>
              <a:lnSpc>
                <a:spcPct val="114000"/>
              </a:lnSpc>
              <a:spcBef>
                <a:spcPts val="300"/>
              </a:spcBef>
              <a:spcAft>
                <a:spcPts val="300"/>
              </a:spcAft>
            </a:pPr>
            <a:r>
              <a:rPr lang="en-US" dirty="0"/>
              <a:t>How many ways are there to select five players from a 10-member tennis team to make a trip </a:t>
            </a:r>
            <a:r>
              <a:rPr lang="en-US" dirty="0" smtClean="0"/>
              <a:t>to a </a:t>
            </a:r>
            <a:r>
              <a:rPr lang="en-US" dirty="0"/>
              <a:t>match at another school</a:t>
            </a:r>
            <a:r>
              <a:rPr lang="en-US" dirty="0" smtClean="0"/>
              <a:t>?</a:t>
            </a:r>
          </a:p>
          <a:p>
            <a:pPr>
              <a:lnSpc>
                <a:spcPct val="114000"/>
              </a:lnSpc>
              <a:spcBef>
                <a:spcPts val="300"/>
              </a:spcBef>
              <a:spcAft>
                <a:spcPts val="300"/>
              </a:spcAft>
            </a:pPr>
            <a:r>
              <a:rPr lang="en-US" dirty="0"/>
              <a:t>A group of 30 people have been trained as astronauts to go on the first mission to Mars. </a:t>
            </a:r>
            <a:r>
              <a:rPr lang="en-US" dirty="0" smtClean="0"/>
              <a:t>How many </a:t>
            </a:r>
            <a:r>
              <a:rPr lang="en-US" dirty="0"/>
              <a:t>ways are there to select a crew of six people to go on this mission (assuming that all </a:t>
            </a:r>
            <a:r>
              <a:rPr lang="en-US" dirty="0" smtClean="0"/>
              <a:t>crew members </a:t>
            </a:r>
            <a:r>
              <a:rPr lang="en-US" dirty="0"/>
              <a:t>have the same job)?</a:t>
            </a:r>
          </a:p>
          <a:p>
            <a:pPr>
              <a:lnSpc>
                <a:spcPct val="114000"/>
              </a:lnSpc>
              <a:spcBef>
                <a:spcPts val="300"/>
              </a:spcBef>
              <a:spcAft>
                <a:spcPts val="300"/>
              </a:spcAft>
            </a:pPr>
            <a:endParaRPr lang="en-US" dirty="0" smtClean="0"/>
          </a:p>
          <a:p>
            <a:pPr>
              <a:lnSpc>
                <a:spcPct val="114000"/>
              </a:lnSpc>
              <a:spcBef>
                <a:spcPts val="300"/>
              </a:spcBef>
              <a:spcAft>
                <a:spcPts val="300"/>
              </a:spcAft>
            </a:pPr>
            <a:endParaRPr lang="en-US" dirty="0"/>
          </a:p>
          <a:p>
            <a:pPr>
              <a:lnSpc>
                <a:spcPct val="114000"/>
              </a:lnSpc>
              <a:spcBef>
                <a:spcPts val="300"/>
              </a:spcBef>
              <a:spcAft>
                <a:spcPts val="300"/>
              </a:spcAft>
            </a:pPr>
            <a:endParaRPr lang="en-US" dirty="0"/>
          </a:p>
        </p:txBody>
      </p:sp>
      <p:sp>
        <p:nvSpPr>
          <p:cNvPr id="4" name="Rectangle 3"/>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sp>
        <p:nvSpPr>
          <p:cNvPr id="6" name="Slide Number Placeholder 5"/>
          <p:cNvSpPr>
            <a:spLocks noGrp="1"/>
          </p:cNvSpPr>
          <p:nvPr>
            <p:ph type="sldNum" sz="quarter" idx="12"/>
          </p:nvPr>
        </p:nvSpPr>
        <p:spPr/>
        <p:txBody>
          <a:bodyPr/>
          <a:lstStyle/>
          <a:p>
            <a:fld id="{769106B5-6058-41AF-9CC7-A36880636D59}" type="slidenum">
              <a:rPr lang="en-US" smtClean="0"/>
              <a:pPr/>
              <a:t>51</a:t>
            </a:fld>
            <a:endParaRPr lang="en-US"/>
          </a:p>
        </p:txBody>
      </p:sp>
    </p:spTree>
    <p:extLst>
      <p:ext uri="{BB962C8B-B14F-4D97-AF65-F5344CB8AC3E}">
        <p14:creationId xmlns:p14="http://schemas.microsoft.com/office/powerpoint/2010/main" val="195229353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
            <a:ext cx="12192000" cy="1228725"/>
          </a:xfrm>
          <a:solidFill>
            <a:schemeClr val="accent1">
              <a:lumMod val="50000"/>
            </a:schemeClr>
          </a:solidFill>
        </p:spPr>
        <p:txBody>
          <a:bodyPr>
            <a:normAutofit/>
          </a:bodyPr>
          <a:lstStyle/>
          <a:p>
            <a:pPr algn="ctr"/>
            <a:r>
              <a:rPr lang="en-US" sz="5400" b="1" dirty="0" smtClean="0">
                <a:solidFill>
                  <a:schemeClr val="bg1"/>
                </a:solidFill>
                <a:latin typeface="Rockwell" panose="02060603020205020403" pitchFamily="18" charset="0"/>
              </a:rPr>
              <a:t>The Binomial Theorem</a:t>
            </a:r>
            <a:endParaRPr lang="en-US" sz="5400" b="1" dirty="0">
              <a:solidFill>
                <a:schemeClr val="bg1"/>
              </a:solidFill>
              <a:latin typeface="Rockwell" panose="02060603020205020403" pitchFamily="18" charset="0"/>
            </a:endParaRPr>
          </a:p>
        </p:txBody>
      </p:sp>
      <p:sp>
        <p:nvSpPr>
          <p:cNvPr id="3" name="Content Placeholder 2"/>
          <p:cNvSpPr>
            <a:spLocks noGrp="1"/>
          </p:cNvSpPr>
          <p:nvPr>
            <p:ph idx="1"/>
          </p:nvPr>
        </p:nvSpPr>
        <p:spPr>
          <a:xfrm>
            <a:off x="871539" y="1614491"/>
            <a:ext cx="10915651" cy="4743451"/>
          </a:xfrm>
        </p:spPr>
        <p:txBody>
          <a:bodyPr/>
          <a:lstStyle/>
          <a:p>
            <a:pPr>
              <a:lnSpc>
                <a:spcPct val="114000"/>
              </a:lnSpc>
              <a:spcBef>
                <a:spcPts val="300"/>
              </a:spcBef>
              <a:spcAft>
                <a:spcPts val="300"/>
              </a:spcAft>
            </a:pPr>
            <a:endParaRPr lang="en-US" dirty="0"/>
          </a:p>
          <a:p>
            <a:pPr>
              <a:lnSpc>
                <a:spcPct val="114000"/>
              </a:lnSpc>
              <a:spcBef>
                <a:spcPts val="300"/>
              </a:spcBef>
              <a:spcAft>
                <a:spcPts val="300"/>
              </a:spcAft>
            </a:pPr>
            <a:endParaRPr lang="en-US" dirty="0" smtClean="0"/>
          </a:p>
          <a:p>
            <a:pPr>
              <a:lnSpc>
                <a:spcPct val="114000"/>
              </a:lnSpc>
              <a:spcBef>
                <a:spcPts val="300"/>
              </a:spcBef>
              <a:spcAft>
                <a:spcPts val="300"/>
              </a:spcAft>
            </a:pPr>
            <a:endParaRPr lang="en-US" dirty="0"/>
          </a:p>
          <a:p>
            <a:pPr>
              <a:lnSpc>
                <a:spcPct val="114000"/>
              </a:lnSpc>
              <a:spcBef>
                <a:spcPts val="300"/>
              </a:spcBef>
              <a:spcAft>
                <a:spcPts val="300"/>
              </a:spcAft>
            </a:pPr>
            <a:endParaRPr lang="en-US" dirty="0"/>
          </a:p>
        </p:txBody>
      </p:sp>
      <p:sp>
        <p:nvSpPr>
          <p:cNvPr id="4" name="Rectangle 3"/>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grpSp>
        <p:nvGrpSpPr>
          <p:cNvPr id="9" name="Group 8"/>
          <p:cNvGrpSpPr/>
          <p:nvPr/>
        </p:nvGrpSpPr>
        <p:grpSpPr>
          <a:xfrm>
            <a:off x="585783" y="2100270"/>
            <a:ext cx="11158538" cy="2943214"/>
            <a:chOff x="1563245" y="3007523"/>
            <a:chExt cx="10200139" cy="2943214"/>
          </a:xfrm>
        </p:grpSpPr>
        <p:sp>
          <p:nvSpPr>
            <p:cNvPr id="7" name="Content Placeholder 2"/>
            <p:cNvSpPr txBox="1">
              <a:spLocks/>
            </p:cNvSpPr>
            <p:nvPr/>
          </p:nvSpPr>
          <p:spPr>
            <a:xfrm>
              <a:off x="1563245" y="3007523"/>
              <a:ext cx="10190617" cy="585787"/>
            </a:xfrm>
            <a:prstGeom prst="rect">
              <a:avLst/>
            </a:prstGeom>
            <a:solidFill>
              <a:schemeClr val="accent5">
                <a:lumMod val="7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pPr>
              <a:r>
                <a:rPr lang="en-US" dirty="0" smtClean="0">
                  <a:solidFill>
                    <a:schemeClr val="bg1"/>
                  </a:solidFill>
                </a:rPr>
                <a:t>Theorem</a:t>
              </a:r>
              <a:endParaRPr lang="en-US" dirty="0">
                <a:solidFill>
                  <a:schemeClr val="bg1"/>
                </a:solidFill>
              </a:endParaRPr>
            </a:p>
          </p:txBody>
        </p:sp>
        <p:sp>
          <p:nvSpPr>
            <p:cNvPr id="8" name="Content Placeholder 2"/>
            <p:cNvSpPr txBox="1">
              <a:spLocks/>
            </p:cNvSpPr>
            <p:nvPr/>
          </p:nvSpPr>
          <p:spPr>
            <a:xfrm>
              <a:off x="1572767" y="3607599"/>
              <a:ext cx="10190617" cy="2343138"/>
            </a:xfrm>
            <a:prstGeom prst="rect">
              <a:avLst/>
            </a:prstGeom>
            <a:solidFill>
              <a:schemeClr val="accent5">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4000"/>
                </a:lnSpc>
                <a:buNone/>
              </a:pPr>
              <a:endParaRPr lang="en-US" sz="2400" dirty="0"/>
            </a:p>
          </p:txBody>
        </p:sp>
      </p:grpSp>
      <p:sp>
        <p:nvSpPr>
          <p:cNvPr id="6" name="Slide Number Placeholder 5"/>
          <p:cNvSpPr>
            <a:spLocks noGrp="1"/>
          </p:cNvSpPr>
          <p:nvPr>
            <p:ph type="sldNum" sz="quarter" idx="12"/>
          </p:nvPr>
        </p:nvSpPr>
        <p:spPr/>
        <p:txBody>
          <a:bodyPr/>
          <a:lstStyle/>
          <a:p>
            <a:fld id="{769106B5-6058-41AF-9CC7-A36880636D59}" type="slidenum">
              <a:rPr lang="en-US" smtClean="0"/>
              <a:pPr/>
              <a:t>52</a:t>
            </a:fld>
            <a:endParaRPr lang="en-US"/>
          </a:p>
        </p:txBody>
      </p:sp>
      <p:pic>
        <p:nvPicPr>
          <p:cNvPr id="5" name="Picture 4"/>
          <p:cNvPicPr>
            <a:picLocks noChangeAspect="1"/>
          </p:cNvPicPr>
          <p:nvPr/>
        </p:nvPicPr>
        <p:blipFill>
          <a:blip r:embed="rId2"/>
          <a:stretch>
            <a:fillRect/>
          </a:stretch>
        </p:blipFill>
        <p:spPr>
          <a:xfrm>
            <a:off x="585782" y="2700346"/>
            <a:ext cx="11148121" cy="2375154"/>
          </a:xfrm>
          <a:prstGeom prst="rect">
            <a:avLst/>
          </a:prstGeom>
        </p:spPr>
      </p:pic>
    </p:spTree>
    <p:extLst>
      <p:ext uri="{BB962C8B-B14F-4D97-AF65-F5344CB8AC3E}">
        <p14:creationId xmlns:p14="http://schemas.microsoft.com/office/powerpoint/2010/main" val="2967698956"/>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
            <a:ext cx="12192000" cy="1228725"/>
          </a:xfrm>
          <a:solidFill>
            <a:schemeClr val="accent1">
              <a:lumMod val="50000"/>
            </a:schemeClr>
          </a:solidFill>
        </p:spPr>
        <p:txBody>
          <a:bodyPr>
            <a:normAutofit/>
          </a:bodyPr>
          <a:lstStyle/>
          <a:p>
            <a:pPr algn="ctr"/>
            <a:r>
              <a:rPr lang="en-US" sz="4800" b="1" dirty="0">
                <a:solidFill>
                  <a:schemeClr val="bg1"/>
                </a:solidFill>
                <a:latin typeface="Rockwell" panose="02060603020205020403" pitchFamily="18" charset="0"/>
              </a:rPr>
              <a:t>The Binomial Theorem</a:t>
            </a:r>
          </a:p>
        </p:txBody>
      </p:sp>
      <p:sp>
        <p:nvSpPr>
          <p:cNvPr id="3" name="Content Placeholder 2"/>
          <p:cNvSpPr>
            <a:spLocks noGrp="1"/>
          </p:cNvSpPr>
          <p:nvPr>
            <p:ph idx="1"/>
          </p:nvPr>
        </p:nvSpPr>
        <p:spPr>
          <a:xfrm>
            <a:off x="871539" y="1614491"/>
            <a:ext cx="10915651" cy="4743451"/>
          </a:xfrm>
        </p:spPr>
        <p:txBody>
          <a:bodyPr/>
          <a:lstStyle/>
          <a:p>
            <a:pPr>
              <a:lnSpc>
                <a:spcPct val="114000"/>
              </a:lnSpc>
              <a:spcBef>
                <a:spcPts val="300"/>
              </a:spcBef>
              <a:spcAft>
                <a:spcPts val="300"/>
              </a:spcAft>
            </a:pPr>
            <a:endParaRPr lang="en-US" dirty="0"/>
          </a:p>
          <a:p>
            <a:pPr>
              <a:lnSpc>
                <a:spcPct val="114000"/>
              </a:lnSpc>
              <a:spcBef>
                <a:spcPts val="300"/>
              </a:spcBef>
              <a:spcAft>
                <a:spcPts val="300"/>
              </a:spcAft>
            </a:pPr>
            <a:endParaRPr lang="en-US" dirty="0" smtClean="0"/>
          </a:p>
          <a:p>
            <a:pPr>
              <a:lnSpc>
                <a:spcPct val="114000"/>
              </a:lnSpc>
              <a:spcBef>
                <a:spcPts val="300"/>
              </a:spcBef>
              <a:spcAft>
                <a:spcPts val="300"/>
              </a:spcAft>
            </a:pPr>
            <a:endParaRPr lang="en-US" dirty="0"/>
          </a:p>
          <a:p>
            <a:pPr>
              <a:lnSpc>
                <a:spcPct val="114000"/>
              </a:lnSpc>
              <a:spcBef>
                <a:spcPts val="300"/>
              </a:spcBef>
              <a:spcAft>
                <a:spcPts val="300"/>
              </a:spcAft>
            </a:pPr>
            <a:endParaRPr lang="en-US" dirty="0"/>
          </a:p>
        </p:txBody>
      </p:sp>
      <p:sp>
        <p:nvSpPr>
          <p:cNvPr id="4" name="Rectangle 3"/>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grpSp>
        <p:nvGrpSpPr>
          <p:cNvPr id="9" name="Group 8"/>
          <p:cNvGrpSpPr/>
          <p:nvPr/>
        </p:nvGrpSpPr>
        <p:grpSpPr>
          <a:xfrm>
            <a:off x="628652" y="1614491"/>
            <a:ext cx="9558336" cy="4271959"/>
            <a:chOff x="1563245" y="3007523"/>
            <a:chExt cx="10200139" cy="4271959"/>
          </a:xfrm>
        </p:grpSpPr>
        <p:sp>
          <p:nvSpPr>
            <p:cNvPr id="7" name="Content Placeholder 2"/>
            <p:cNvSpPr txBox="1">
              <a:spLocks/>
            </p:cNvSpPr>
            <p:nvPr/>
          </p:nvSpPr>
          <p:spPr>
            <a:xfrm>
              <a:off x="1563245" y="3007523"/>
              <a:ext cx="10190617" cy="1357318"/>
            </a:xfrm>
            <a:prstGeom prst="rect">
              <a:avLst/>
            </a:prstGeom>
            <a:solidFill>
              <a:schemeClr val="accent5">
                <a:lumMod val="7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pPr>
              <a:r>
                <a:rPr lang="en-US" dirty="0" smtClean="0">
                  <a:solidFill>
                    <a:schemeClr val="bg1"/>
                  </a:solidFill>
                </a:rPr>
                <a:t>Problem</a:t>
              </a:r>
              <a:r>
                <a:rPr lang="en-US" dirty="0">
                  <a:solidFill>
                    <a:schemeClr val="bg1"/>
                  </a:solidFill>
                </a:rPr>
                <a:t>: What is the expansion </a:t>
              </a:r>
              <a:r>
                <a:rPr lang="en-US" dirty="0" smtClean="0">
                  <a:solidFill>
                    <a:schemeClr val="bg1"/>
                  </a:solidFill>
                </a:rPr>
                <a:t>of (</a:t>
              </a:r>
              <a:r>
                <a:rPr lang="en-US" dirty="0" err="1" smtClean="0">
                  <a:solidFill>
                    <a:schemeClr val="bg1"/>
                  </a:solidFill>
                </a:rPr>
                <a:t>x+y</a:t>
              </a:r>
              <a:r>
                <a:rPr lang="en-US" dirty="0" smtClean="0">
                  <a:solidFill>
                    <a:schemeClr val="bg1"/>
                  </a:solidFill>
                </a:rPr>
                <a:t>)</a:t>
              </a:r>
              <a:r>
                <a:rPr lang="en-US" baseline="30000" dirty="0" smtClean="0">
                  <a:solidFill>
                    <a:schemeClr val="bg1"/>
                  </a:solidFill>
                </a:rPr>
                <a:t>4</a:t>
              </a:r>
              <a:endParaRPr lang="en-US" dirty="0">
                <a:solidFill>
                  <a:schemeClr val="bg1"/>
                </a:solidFill>
              </a:endParaRPr>
            </a:p>
          </p:txBody>
        </p:sp>
        <p:sp>
          <p:nvSpPr>
            <p:cNvPr id="8" name="Content Placeholder 2"/>
            <p:cNvSpPr txBox="1">
              <a:spLocks/>
            </p:cNvSpPr>
            <p:nvPr/>
          </p:nvSpPr>
          <p:spPr>
            <a:xfrm>
              <a:off x="1572767" y="4407696"/>
              <a:ext cx="10190617" cy="2871786"/>
            </a:xfrm>
            <a:prstGeom prst="rect">
              <a:avLst/>
            </a:prstGeom>
            <a:solidFill>
              <a:schemeClr val="accent5">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4000"/>
                </a:lnSpc>
                <a:buNone/>
              </a:pPr>
              <a:r>
                <a:rPr lang="en-US" sz="2400" dirty="0" smtClean="0"/>
                <a:t>Solve: </a:t>
              </a:r>
              <a:endParaRPr lang="en-US" sz="2400" dirty="0"/>
            </a:p>
          </p:txBody>
        </p:sp>
      </p:grpSp>
      <p:sp>
        <p:nvSpPr>
          <p:cNvPr id="6" name="Slide Number Placeholder 5"/>
          <p:cNvSpPr>
            <a:spLocks noGrp="1"/>
          </p:cNvSpPr>
          <p:nvPr>
            <p:ph type="sldNum" sz="quarter" idx="12"/>
          </p:nvPr>
        </p:nvSpPr>
        <p:spPr/>
        <p:txBody>
          <a:bodyPr/>
          <a:lstStyle/>
          <a:p>
            <a:fld id="{769106B5-6058-41AF-9CC7-A36880636D59}" type="slidenum">
              <a:rPr lang="en-US" smtClean="0"/>
              <a:pPr/>
              <a:t>53</a:t>
            </a:fld>
            <a:endParaRPr lang="en-US"/>
          </a:p>
        </p:txBody>
      </p:sp>
      <p:pic>
        <p:nvPicPr>
          <p:cNvPr id="5" name="Picture 4"/>
          <p:cNvPicPr>
            <a:picLocks noChangeAspect="1"/>
          </p:cNvPicPr>
          <p:nvPr/>
        </p:nvPicPr>
        <p:blipFill>
          <a:blip r:embed="rId2"/>
          <a:stretch>
            <a:fillRect/>
          </a:stretch>
        </p:blipFill>
        <p:spPr>
          <a:xfrm>
            <a:off x="628652" y="3014663"/>
            <a:ext cx="9558336" cy="3207495"/>
          </a:xfrm>
          <a:prstGeom prst="rect">
            <a:avLst/>
          </a:prstGeom>
        </p:spPr>
      </p:pic>
    </p:spTree>
    <p:extLst>
      <p:ext uri="{BB962C8B-B14F-4D97-AF65-F5344CB8AC3E}">
        <p14:creationId xmlns:p14="http://schemas.microsoft.com/office/powerpoint/2010/main" val="3099546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
            <a:ext cx="12192000" cy="1228725"/>
          </a:xfrm>
          <a:solidFill>
            <a:schemeClr val="accent1">
              <a:lumMod val="50000"/>
            </a:schemeClr>
          </a:solidFill>
        </p:spPr>
        <p:txBody>
          <a:bodyPr>
            <a:normAutofit/>
          </a:bodyPr>
          <a:lstStyle/>
          <a:p>
            <a:pPr algn="ctr"/>
            <a:r>
              <a:rPr lang="en-US" sz="4800" b="1" dirty="0">
                <a:solidFill>
                  <a:schemeClr val="bg1"/>
                </a:solidFill>
                <a:latin typeface="Rockwell" panose="02060603020205020403" pitchFamily="18" charset="0"/>
              </a:rPr>
              <a:t>The Binomial Theorem</a:t>
            </a:r>
          </a:p>
        </p:txBody>
      </p:sp>
      <p:sp>
        <p:nvSpPr>
          <p:cNvPr id="3" name="Content Placeholder 2"/>
          <p:cNvSpPr>
            <a:spLocks noGrp="1"/>
          </p:cNvSpPr>
          <p:nvPr>
            <p:ph idx="1"/>
          </p:nvPr>
        </p:nvSpPr>
        <p:spPr>
          <a:xfrm>
            <a:off x="871539" y="1614491"/>
            <a:ext cx="10915651" cy="4743451"/>
          </a:xfrm>
        </p:spPr>
        <p:txBody>
          <a:bodyPr/>
          <a:lstStyle/>
          <a:p>
            <a:pPr>
              <a:lnSpc>
                <a:spcPct val="114000"/>
              </a:lnSpc>
              <a:spcBef>
                <a:spcPts val="300"/>
              </a:spcBef>
              <a:spcAft>
                <a:spcPts val="300"/>
              </a:spcAft>
            </a:pPr>
            <a:endParaRPr lang="en-US" dirty="0"/>
          </a:p>
          <a:p>
            <a:pPr>
              <a:lnSpc>
                <a:spcPct val="114000"/>
              </a:lnSpc>
              <a:spcBef>
                <a:spcPts val="300"/>
              </a:spcBef>
              <a:spcAft>
                <a:spcPts val="300"/>
              </a:spcAft>
            </a:pPr>
            <a:endParaRPr lang="en-US" dirty="0" smtClean="0"/>
          </a:p>
          <a:p>
            <a:pPr>
              <a:lnSpc>
                <a:spcPct val="114000"/>
              </a:lnSpc>
              <a:spcBef>
                <a:spcPts val="300"/>
              </a:spcBef>
              <a:spcAft>
                <a:spcPts val="300"/>
              </a:spcAft>
            </a:pPr>
            <a:endParaRPr lang="en-US" dirty="0"/>
          </a:p>
          <a:p>
            <a:pPr>
              <a:lnSpc>
                <a:spcPct val="114000"/>
              </a:lnSpc>
              <a:spcBef>
                <a:spcPts val="300"/>
              </a:spcBef>
              <a:spcAft>
                <a:spcPts val="300"/>
              </a:spcAft>
            </a:pPr>
            <a:endParaRPr lang="en-US" dirty="0"/>
          </a:p>
        </p:txBody>
      </p:sp>
      <p:sp>
        <p:nvSpPr>
          <p:cNvPr id="4" name="Rectangle 3"/>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grpSp>
        <p:nvGrpSpPr>
          <p:cNvPr id="9" name="Group 8"/>
          <p:cNvGrpSpPr/>
          <p:nvPr/>
        </p:nvGrpSpPr>
        <p:grpSpPr>
          <a:xfrm>
            <a:off x="628652" y="1614491"/>
            <a:ext cx="11158538" cy="3143241"/>
            <a:chOff x="1563245" y="3007523"/>
            <a:chExt cx="10200139" cy="3143241"/>
          </a:xfrm>
        </p:grpSpPr>
        <p:sp>
          <p:nvSpPr>
            <p:cNvPr id="7" name="Content Placeholder 2"/>
            <p:cNvSpPr txBox="1">
              <a:spLocks/>
            </p:cNvSpPr>
            <p:nvPr/>
          </p:nvSpPr>
          <p:spPr>
            <a:xfrm>
              <a:off x="1563245" y="3007523"/>
              <a:ext cx="10190617" cy="1357318"/>
            </a:xfrm>
            <a:prstGeom prst="rect">
              <a:avLst/>
            </a:prstGeom>
            <a:solidFill>
              <a:schemeClr val="accent5">
                <a:lumMod val="7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pPr>
              <a:r>
                <a:rPr lang="en-US" dirty="0">
                  <a:solidFill>
                    <a:schemeClr val="bg1"/>
                  </a:solidFill>
                </a:rPr>
                <a:t>What is the coefficient </a:t>
              </a:r>
              <a:r>
                <a:rPr lang="en-US" dirty="0" smtClean="0">
                  <a:solidFill>
                    <a:schemeClr val="bg1"/>
                  </a:solidFill>
                </a:rPr>
                <a:t>of </a:t>
              </a:r>
              <a:r>
                <a:rPr lang="en-US" i="1" dirty="0" smtClean="0">
                  <a:solidFill>
                    <a:schemeClr val="bg1"/>
                  </a:solidFill>
                  <a:latin typeface="Courier New" panose="02070309020205020404" pitchFamily="49" charset="0"/>
                  <a:cs typeface="Courier New" panose="02070309020205020404" pitchFamily="49" charset="0"/>
                </a:rPr>
                <a:t>x</a:t>
              </a:r>
              <a:r>
                <a:rPr lang="en-US" i="1" baseline="30000" dirty="0" smtClean="0">
                  <a:solidFill>
                    <a:schemeClr val="bg1"/>
                  </a:solidFill>
                  <a:latin typeface="Courier New" panose="02070309020205020404" pitchFamily="49" charset="0"/>
                  <a:cs typeface="Courier New" panose="02070309020205020404" pitchFamily="49" charset="0"/>
                </a:rPr>
                <a:t>12</a:t>
              </a:r>
              <a:r>
                <a:rPr lang="en-US" i="1" dirty="0" smtClean="0">
                  <a:solidFill>
                    <a:schemeClr val="bg1"/>
                  </a:solidFill>
                  <a:latin typeface="Courier New" panose="02070309020205020404" pitchFamily="49" charset="0"/>
                  <a:cs typeface="Courier New" panose="02070309020205020404" pitchFamily="49" charset="0"/>
                </a:rPr>
                <a:t>y</a:t>
              </a:r>
              <a:r>
                <a:rPr lang="en-US" i="1" baseline="30000" dirty="0" smtClean="0">
                  <a:solidFill>
                    <a:schemeClr val="bg1"/>
                  </a:solidFill>
                  <a:latin typeface="Courier New" panose="02070309020205020404" pitchFamily="49" charset="0"/>
                  <a:cs typeface="Courier New" panose="02070309020205020404" pitchFamily="49" charset="0"/>
                </a:rPr>
                <a:t>13</a:t>
              </a:r>
              <a:r>
                <a:rPr lang="en-US" dirty="0" smtClean="0">
                  <a:solidFill>
                    <a:schemeClr val="bg1"/>
                  </a:solidFill>
                </a:rPr>
                <a:t> in </a:t>
              </a:r>
              <a:r>
                <a:rPr lang="en-US" dirty="0">
                  <a:solidFill>
                    <a:schemeClr val="bg1"/>
                  </a:solidFill>
                </a:rPr>
                <a:t>the expansion </a:t>
              </a:r>
              <a:r>
                <a:rPr lang="en-US" dirty="0" smtClean="0">
                  <a:solidFill>
                    <a:schemeClr val="bg1"/>
                  </a:solidFill>
                </a:rPr>
                <a:t>of </a:t>
              </a:r>
              <a:r>
                <a:rPr lang="en-US" i="1" dirty="0" smtClean="0">
                  <a:solidFill>
                    <a:schemeClr val="bg1"/>
                  </a:solidFill>
                  <a:latin typeface="Courier New" panose="02070309020205020404" pitchFamily="49" charset="0"/>
                  <a:cs typeface="Courier New" panose="02070309020205020404" pitchFamily="49" charset="0"/>
                </a:rPr>
                <a:t>(</a:t>
              </a:r>
              <a:r>
                <a:rPr lang="en-US" i="1" dirty="0" err="1" smtClean="0">
                  <a:solidFill>
                    <a:schemeClr val="bg1"/>
                  </a:solidFill>
                  <a:latin typeface="Courier New" panose="02070309020205020404" pitchFamily="49" charset="0"/>
                  <a:cs typeface="Courier New" panose="02070309020205020404" pitchFamily="49" charset="0"/>
                </a:rPr>
                <a:t>x+y</a:t>
              </a:r>
              <a:r>
                <a:rPr lang="en-US" i="1" baseline="30000" dirty="0" smtClean="0">
                  <a:solidFill>
                    <a:schemeClr val="bg1"/>
                  </a:solidFill>
                  <a:latin typeface="Courier New" panose="02070309020205020404" pitchFamily="49" charset="0"/>
                  <a:cs typeface="Courier New" panose="02070309020205020404" pitchFamily="49" charset="0"/>
                </a:rPr>
                <a:t>)25?</a:t>
              </a:r>
              <a:endParaRPr lang="en-US" i="1" baseline="30000" dirty="0">
                <a:solidFill>
                  <a:schemeClr val="bg1"/>
                </a:solidFill>
                <a:latin typeface="Courier New" panose="02070309020205020404" pitchFamily="49" charset="0"/>
                <a:cs typeface="Courier New" panose="02070309020205020404" pitchFamily="49" charset="0"/>
              </a:endParaRPr>
            </a:p>
          </p:txBody>
        </p:sp>
        <p:sp>
          <p:nvSpPr>
            <p:cNvPr id="8" name="Content Placeholder 2"/>
            <p:cNvSpPr txBox="1">
              <a:spLocks/>
            </p:cNvSpPr>
            <p:nvPr/>
          </p:nvSpPr>
          <p:spPr>
            <a:xfrm>
              <a:off x="1572767" y="4407696"/>
              <a:ext cx="10190617" cy="1743068"/>
            </a:xfrm>
            <a:prstGeom prst="rect">
              <a:avLst/>
            </a:prstGeom>
            <a:solidFill>
              <a:schemeClr val="accent5">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4000"/>
                </a:lnSpc>
                <a:buNone/>
              </a:pPr>
              <a:r>
                <a:rPr lang="en-US" sz="2400" dirty="0" smtClean="0"/>
                <a:t>Solve: </a:t>
              </a:r>
              <a:endParaRPr lang="en-US" sz="2400" dirty="0"/>
            </a:p>
          </p:txBody>
        </p:sp>
      </p:grpSp>
      <p:sp>
        <p:nvSpPr>
          <p:cNvPr id="6" name="Slide Number Placeholder 5"/>
          <p:cNvSpPr>
            <a:spLocks noGrp="1"/>
          </p:cNvSpPr>
          <p:nvPr>
            <p:ph type="sldNum" sz="quarter" idx="12"/>
          </p:nvPr>
        </p:nvSpPr>
        <p:spPr/>
        <p:txBody>
          <a:bodyPr/>
          <a:lstStyle/>
          <a:p>
            <a:fld id="{769106B5-6058-41AF-9CC7-A36880636D59}" type="slidenum">
              <a:rPr lang="en-US" smtClean="0"/>
              <a:pPr/>
              <a:t>54</a:t>
            </a:fld>
            <a:endParaRPr lang="en-US"/>
          </a:p>
        </p:txBody>
      </p:sp>
      <p:pic>
        <p:nvPicPr>
          <p:cNvPr id="5" name="Picture 4"/>
          <p:cNvPicPr>
            <a:picLocks noChangeAspect="1"/>
          </p:cNvPicPr>
          <p:nvPr/>
        </p:nvPicPr>
        <p:blipFill>
          <a:blip r:embed="rId2"/>
          <a:stretch>
            <a:fillRect/>
          </a:stretch>
        </p:blipFill>
        <p:spPr>
          <a:xfrm>
            <a:off x="639069" y="3014665"/>
            <a:ext cx="11148122" cy="1830494"/>
          </a:xfrm>
          <a:prstGeom prst="rect">
            <a:avLst/>
          </a:prstGeom>
          <a:ln>
            <a:solidFill>
              <a:schemeClr val="accent1"/>
            </a:solidFill>
          </a:ln>
        </p:spPr>
      </p:pic>
    </p:spTree>
    <p:extLst>
      <p:ext uri="{BB962C8B-B14F-4D97-AF65-F5344CB8AC3E}">
        <p14:creationId xmlns:p14="http://schemas.microsoft.com/office/powerpoint/2010/main" val="1291450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
            <a:ext cx="12192000" cy="1228725"/>
          </a:xfrm>
          <a:solidFill>
            <a:schemeClr val="accent1">
              <a:lumMod val="50000"/>
            </a:schemeClr>
          </a:solidFill>
        </p:spPr>
        <p:txBody>
          <a:bodyPr>
            <a:normAutofit/>
          </a:bodyPr>
          <a:lstStyle/>
          <a:p>
            <a:pPr algn="ctr"/>
            <a:r>
              <a:rPr lang="en-US" b="1" dirty="0" smtClean="0">
                <a:solidFill>
                  <a:schemeClr val="bg1"/>
                </a:solidFill>
                <a:latin typeface="Rockwell" panose="02060603020205020403" pitchFamily="18" charset="0"/>
              </a:rPr>
              <a:t>Pascal’s Identity and Triangle</a:t>
            </a:r>
            <a:endParaRPr lang="en-US" b="1" dirty="0">
              <a:solidFill>
                <a:schemeClr val="bg1"/>
              </a:solidFill>
              <a:latin typeface="Rockwell" panose="02060603020205020403" pitchFamily="18" charset="0"/>
            </a:endParaRPr>
          </a:p>
        </p:txBody>
      </p:sp>
      <p:sp>
        <p:nvSpPr>
          <p:cNvPr id="3" name="Content Placeholder 2"/>
          <p:cNvSpPr>
            <a:spLocks noGrp="1"/>
          </p:cNvSpPr>
          <p:nvPr>
            <p:ph idx="1"/>
          </p:nvPr>
        </p:nvSpPr>
        <p:spPr>
          <a:xfrm>
            <a:off x="871539" y="1614491"/>
            <a:ext cx="10915651" cy="4743451"/>
          </a:xfrm>
        </p:spPr>
        <p:txBody>
          <a:bodyPr/>
          <a:lstStyle/>
          <a:p>
            <a:pPr>
              <a:lnSpc>
                <a:spcPct val="114000"/>
              </a:lnSpc>
              <a:spcBef>
                <a:spcPts val="300"/>
              </a:spcBef>
              <a:spcAft>
                <a:spcPts val="300"/>
              </a:spcAft>
            </a:pPr>
            <a:endParaRPr lang="en-US" dirty="0"/>
          </a:p>
          <a:p>
            <a:pPr>
              <a:lnSpc>
                <a:spcPct val="114000"/>
              </a:lnSpc>
              <a:spcBef>
                <a:spcPts val="300"/>
              </a:spcBef>
              <a:spcAft>
                <a:spcPts val="300"/>
              </a:spcAft>
            </a:pPr>
            <a:endParaRPr lang="en-US" dirty="0" smtClean="0"/>
          </a:p>
          <a:p>
            <a:pPr>
              <a:lnSpc>
                <a:spcPct val="114000"/>
              </a:lnSpc>
              <a:spcBef>
                <a:spcPts val="300"/>
              </a:spcBef>
              <a:spcAft>
                <a:spcPts val="300"/>
              </a:spcAft>
            </a:pPr>
            <a:endParaRPr lang="en-US" dirty="0"/>
          </a:p>
          <a:p>
            <a:pPr>
              <a:lnSpc>
                <a:spcPct val="114000"/>
              </a:lnSpc>
              <a:spcBef>
                <a:spcPts val="300"/>
              </a:spcBef>
              <a:spcAft>
                <a:spcPts val="300"/>
              </a:spcAft>
            </a:pPr>
            <a:endParaRPr lang="en-US" dirty="0"/>
          </a:p>
        </p:txBody>
      </p:sp>
      <p:sp>
        <p:nvSpPr>
          <p:cNvPr id="4" name="Rectangle 3"/>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grpSp>
        <p:nvGrpSpPr>
          <p:cNvPr id="9" name="Group 8"/>
          <p:cNvGrpSpPr/>
          <p:nvPr/>
        </p:nvGrpSpPr>
        <p:grpSpPr>
          <a:xfrm>
            <a:off x="585783" y="2100270"/>
            <a:ext cx="11158538" cy="1735931"/>
            <a:chOff x="1563245" y="3007523"/>
            <a:chExt cx="10200139" cy="1735931"/>
          </a:xfrm>
        </p:grpSpPr>
        <p:sp>
          <p:nvSpPr>
            <p:cNvPr id="7" name="Content Placeholder 2"/>
            <p:cNvSpPr txBox="1">
              <a:spLocks/>
            </p:cNvSpPr>
            <p:nvPr/>
          </p:nvSpPr>
          <p:spPr>
            <a:xfrm>
              <a:off x="1563245" y="3007523"/>
              <a:ext cx="10190617" cy="585787"/>
            </a:xfrm>
            <a:prstGeom prst="rect">
              <a:avLst/>
            </a:prstGeom>
            <a:solidFill>
              <a:schemeClr val="accent5">
                <a:lumMod val="7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None/>
              </a:pPr>
              <a:r>
                <a:rPr lang="en-US" dirty="0" smtClean="0">
                  <a:solidFill>
                    <a:schemeClr val="bg1"/>
                  </a:solidFill>
                </a:rPr>
                <a:t>Theorem</a:t>
              </a:r>
              <a:endParaRPr lang="en-US" dirty="0">
                <a:solidFill>
                  <a:schemeClr val="bg1"/>
                </a:solidFill>
              </a:endParaRPr>
            </a:p>
          </p:txBody>
        </p:sp>
        <p:sp>
          <p:nvSpPr>
            <p:cNvPr id="8" name="Content Placeholder 2"/>
            <p:cNvSpPr txBox="1">
              <a:spLocks/>
            </p:cNvSpPr>
            <p:nvPr/>
          </p:nvSpPr>
          <p:spPr>
            <a:xfrm>
              <a:off x="1572767" y="3607599"/>
              <a:ext cx="10190617" cy="1135855"/>
            </a:xfrm>
            <a:prstGeom prst="rect">
              <a:avLst/>
            </a:prstGeom>
            <a:solidFill>
              <a:schemeClr val="accent5">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4000"/>
                </a:lnSpc>
                <a:buNone/>
              </a:pPr>
              <a:endParaRPr lang="en-US" sz="2400" dirty="0"/>
            </a:p>
          </p:txBody>
        </p:sp>
      </p:grpSp>
      <p:sp>
        <p:nvSpPr>
          <p:cNvPr id="6" name="Slide Number Placeholder 5"/>
          <p:cNvSpPr>
            <a:spLocks noGrp="1"/>
          </p:cNvSpPr>
          <p:nvPr>
            <p:ph type="sldNum" sz="quarter" idx="12"/>
          </p:nvPr>
        </p:nvSpPr>
        <p:spPr/>
        <p:txBody>
          <a:bodyPr/>
          <a:lstStyle/>
          <a:p>
            <a:fld id="{769106B5-6058-41AF-9CC7-A36880636D59}" type="slidenum">
              <a:rPr lang="en-US" smtClean="0"/>
              <a:pPr/>
              <a:t>55</a:t>
            </a:fld>
            <a:endParaRPr lang="en-US"/>
          </a:p>
        </p:txBody>
      </p:sp>
      <p:pic>
        <p:nvPicPr>
          <p:cNvPr id="5" name="Picture 4"/>
          <p:cNvPicPr>
            <a:picLocks noChangeAspect="1"/>
          </p:cNvPicPr>
          <p:nvPr/>
        </p:nvPicPr>
        <p:blipFill>
          <a:blip r:embed="rId2"/>
          <a:stretch>
            <a:fillRect/>
          </a:stretch>
        </p:blipFill>
        <p:spPr>
          <a:xfrm>
            <a:off x="596199" y="2700346"/>
            <a:ext cx="11148121" cy="1899006"/>
          </a:xfrm>
          <a:prstGeom prst="rect">
            <a:avLst/>
          </a:prstGeom>
        </p:spPr>
      </p:pic>
    </p:spTree>
    <p:extLst>
      <p:ext uri="{BB962C8B-B14F-4D97-AF65-F5344CB8AC3E}">
        <p14:creationId xmlns:p14="http://schemas.microsoft.com/office/powerpoint/2010/main" val="884532274"/>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
            <a:ext cx="12192000" cy="1228725"/>
          </a:xfrm>
          <a:solidFill>
            <a:schemeClr val="accent1">
              <a:lumMod val="50000"/>
            </a:schemeClr>
          </a:solidFill>
        </p:spPr>
        <p:txBody>
          <a:bodyPr>
            <a:normAutofit/>
          </a:bodyPr>
          <a:lstStyle/>
          <a:p>
            <a:pPr algn="ctr"/>
            <a:r>
              <a:rPr lang="en-US" b="1" dirty="0" smtClean="0">
                <a:solidFill>
                  <a:schemeClr val="bg1"/>
                </a:solidFill>
                <a:latin typeface="Rockwell" panose="02060603020205020403" pitchFamily="18" charset="0"/>
              </a:rPr>
              <a:t>Pascal’s Identity and Triangle</a:t>
            </a:r>
            <a:endParaRPr lang="en-US" b="1" dirty="0">
              <a:solidFill>
                <a:schemeClr val="bg1"/>
              </a:solidFill>
              <a:latin typeface="Rockwell" panose="02060603020205020403" pitchFamily="18" charset="0"/>
            </a:endParaRPr>
          </a:p>
        </p:txBody>
      </p:sp>
      <p:sp>
        <p:nvSpPr>
          <p:cNvPr id="3" name="Content Placeholder 2"/>
          <p:cNvSpPr>
            <a:spLocks noGrp="1"/>
          </p:cNvSpPr>
          <p:nvPr>
            <p:ph idx="1"/>
          </p:nvPr>
        </p:nvSpPr>
        <p:spPr>
          <a:xfrm>
            <a:off x="871539" y="1614491"/>
            <a:ext cx="10915651" cy="4743451"/>
          </a:xfrm>
        </p:spPr>
        <p:txBody>
          <a:bodyPr/>
          <a:lstStyle/>
          <a:p>
            <a:pPr>
              <a:lnSpc>
                <a:spcPct val="114000"/>
              </a:lnSpc>
              <a:spcBef>
                <a:spcPts val="300"/>
              </a:spcBef>
              <a:spcAft>
                <a:spcPts val="300"/>
              </a:spcAft>
            </a:pPr>
            <a:endParaRPr lang="en-US" dirty="0"/>
          </a:p>
          <a:p>
            <a:pPr>
              <a:lnSpc>
                <a:spcPct val="114000"/>
              </a:lnSpc>
              <a:spcBef>
                <a:spcPts val="300"/>
              </a:spcBef>
              <a:spcAft>
                <a:spcPts val="300"/>
              </a:spcAft>
            </a:pPr>
            <a:endParaRPr lang="en-US" dirty="0" smtClean="0"/>
          </a:p>
          <a:p>
            <a:pPr>
              <a:lnSpc>
                <a:spcPct val="114000"/>
              </a:lnSpc>
              <a:spcBef>
                <a:spcPts val="300"/>
              </a:spcBef>
              <a:spcAft>
                <a:spcPts val="300"/>
              </a:spcAft>
            </a:pPr>
            <a:endParaRPr lang="en-US" dirty="0"/>
          </a:p>
          <a:p>
            <a:pPr>
              <a:lnSpc>
                <a:spcPct val="114000"/>
              </a:lnSpc>
              <a:spcBef>
                <a:spcPts val="300"/>
              </a:spcBef>
              <a:spcAft>
                <a:spcPts val="300"/>
              </a:spcAft>
            </a:pPr>
            <a:endParaRPr lang="en-US" dirty="0"/>
          </a:p>
        </p:txBody>
      </p:sp>
      <p:sp>
        <p:nvSpPr>
          <p:cNvPr id="4" name="Rectangle 3"/>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sp>
        <p:nvSpPr>
          <p:cNvPr id="6" name="Slide Number Placeholder 5"/>
          <p:cNvSpPr>
            <a:spLocks noGrp="1"/>
          </p:cNvSpPr>
          <p:nvPr>
            <p:ph type="sldNum" sz="quarter" idx="12"/>
          </p:nvPr>
        </p:nvSpPr>
        <p:spPr/>
        <p:txBody>
          <a:bodyPr/>
          <a:lstStyle/>
          <a:p>
            <a:fld id="{769106B5-6058-41AF-9CC7-A36880636D59}" type="slidenum">
              <a:rPr lang="en-US" smtClean="0"/>
              <a:pPr/>
              <a:t>56</a:t>
            </a:fld>
            <a:endParaRPr lang="en-US"/>
          </a:p>
        </p:txBody>
      </p:sp>
      <p:pic>
        <p:nvPicPr>
          <p:cNvPr id="5" name="Picture 4"/>
          <p:cNvPicPr>
            <a:picLocks noChangeAspect="1"/>
          </p:cNvPicPr>
          <p:nvPr/>
        </p:nvPicPr>
        <p:blipFill rotWithShape="1">
          <a:blip r:embed="rId2"/>
          <a:srcRect l="5822" t="3572" r="6291"/>
          <a:stretch/>
        </p:blipFill>
        <p:spPr>
          <a:xfrm>
            <a:off x="1571623" y="1100138"/>
            <a:ext cx="8915400" cy="5400675"/>
          </a:xfrm>
          <a:prstGeom prst="rect">
            <a:avLst/>
          </a:prstGeom>
        </p:spPr>
      </p:pic>
    </p:spTree>
    <p:extLst>
      <p:ext uri="{BB962C8B-B14F-4D97-AF65-F5344CB8AC3E}">
        <p14:creationId xmlns:p14="http://schemas.microsoft.com/office/powerpoint/2010/main" val="142339449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3815</TotalTime>
  <Words>3283</Words>
  <Application>Microsoft Office PowerPoint</Application>
  <PresentationFormat>Custom</PresentationFormat>
  <Paragraphs>356</Paragraphs>
  <Slides>56</Slides>
  <Notes>2</Notes>
  <HiddenSlides>0</HiddenSlides>
  <MMClips>0</MMClips>
  <ScaleCrop>false</ScaleCrop>
  <HeadingPairs>
    <vt:vector size="4" baseType="variant">
      <vt:variant>
        <vt:lpstr>Theme</vt:lpstr>
      </vt:variant>
      <vt:variant>
        <vt:i4>1</vt:i4>
      </vt:variant>
      <vt:variant>
        <vt:lpstr>Slide Titles</vt:lpstr>
      </vt:variant>
      <vt:variant>
        <vt:i4>56</vt:i4>
      </vt:variant>
    </vt:vector>
  </HeadingPairs>
  <TitlesOfParts>
    <vt:vector size="57" baseType="lpstr">
      <vt:lpstr>Office Theme</vt:lpstr>
      <vt:lpstr>Counting</vt:lpstr>
      <vt:lpstr>Why?</vt:lpstr>
      <vt:lpstr>Basic Counting Principles: THE SUM RULE</vt:lpstr>
      <vt:lpstr>Basic Counting Principles: THE SUM RULE</vt:lpstr>
      <vt:lpstr>Basic Counting Principles: THE SUM RULE</vt:lpstr>
      <vt:lpstr>The Sum Rule : Example</vt:lpstr>
      <vt:lpstr>Basic Counting Principles: THE PRODUCT RULE</vt:lpstr>
      <vt:lpstr>Basic Counting Principles: THE PRODUCT RULE</vt:lpstr>
      <vt:lpstr>Basic Counting Principles: THE PRODUCT RULE</vt:lpstr>
      <vt:lpstr>The Product Rule : Example</vt:lpstr>
      <vt:lpstr>The Product Rule : Example</vt:lpstr>
      <vt:lpstr>The Product Rule : Example</vt:lpstr>
      <vt:lpstr>The Product Rule : Example</vt:lpstr>
      <vt:lpstr>The Subtraction Rule (Inclusion–Exclusion for Two Sets)</vt:lpstr>
      <vt:lpstr>The Subtraction Rule : Example</vt:lpstr>
      <vt:lpstr>The Subtraction Rule : Example</vt:lpstr>
      <vt:lpstr>Tree Diagram</vt:lpstr>
      <vt:lpstr>PowerPoint Presentation</vt:lpstr>
      <vt:lpstr>PowerPoint Presentation</vt:lpstr>
      <vt:lpstr>The Pigeonhole Principle</vt:lpstr>
      <vt:lpstr>The Pigeonhole Principle</vt:lpstr>
      <vt:lpstr>The Pigeonhole Principle</vt:lpstr>
      <vt:lpstr>The Pigeonhole Principle</vt:lpstr>
      <vt:lpstr>The Pigeonhole Principle</vt:lpstr>
      <vt:lpstr>The Pigeonhole Principle</vt:lpstr>
      <vt:lpstr>The Generalized Pigeonhole Principle</vt:lpstr>
      <vt:lpstr>The Generalized Pigeonhole Principle</vt:lpstr>
      <vt:lpstr>The Generalized Pigeonhole Principle</vt:lpstr>
      <vt:lpstr>Problem!!!</vt:lpstr>
      <vt:lpstr>Permutations</vt:lpstr>
      <vt:lpstr>Permutations</vt:lpstr>
      <vt:lpstr>Permutations</vt:lpstr>
      <vt:lpstr>r-permutation</vt:lpstr>
      <vt:lpstr>r-permutation</vt:lpstr>
      <vt:lpstr>r-permutation</vt:lpstr>
      <vt:lpstr>r-permutation</vt:lpstr>
      <vt:lpstr>P (n, r) = n(n−1)(n−2)···(n−r+1)</vt:lpstr>
      <vt:lpstr>r-permutation</vt:lpstr>
      <vt:lpstr>r-permutation</vt:lpstr>
      <vt:lpstr>r-permutation : Example</vt:lpstr>
      <vt:lpstr>r-permutation : Example</vt:lpstr>
      <vt:lpstr>r-permutation : Example</vt:lpstr>
      <vt:lpstr>Permutations with Repetitions</vt:lpstr>
      <vt:lpstr>Permutations with Repetitions</vt:lpstr>
      <vt:lpstr>Permutations with Repetitions: Example</vt:lpstr>
      <vt:lpstr>Permutations with Repetitions: Example</vt:lpstr>
      <vt:lpstr>Again Problem!!!</vt:lpstr>
      <vt:lpstr>r-combination</vt:lpstr>
      <vt:lpstr>r-combination : Example</vt:lpstr>
      <vt:lpstr>r-combination</vt:lpstr>
      <vt:lpstr>r-combination</vt:lpstr>
      <vt:lpstr>The Binomial Theorem</vt:lpstr>
      <vt:lpstr>The Binomial Theorem</vt:lpstr>
      <vt:lpstr>The Binomial Theorem</vt:lpstr>
      <vt:lpstr>Pascal’s Identity and Triangle</vt:lpstr>
      <vt:lpstr>Pascal’s Identity and Triangle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T-T</dc:creator>
  <cp:lastModifiedBy>Ananna Sharker</cp:lastModifiedBy>
  <cp:revision>109</cp:revision>
  <dcterms:created xsi:type="dcterms:W3CDTF">2014-03-10T13:34:12Z</dcterms:created>
  <dcterms:modified xsi:type="dcterms:W3CDTF">2018-08-06T03:17:10Z</dcterms:modified>
</cp:coreProperties>
</file>