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56" r:id="rId10"/>
    <p:sldId id="264" r:id="rId11"/>
    <p:sldId id="258" r:id="rId12"/>
    <p:sldId id="260" r:id="rId13"/>
    <p:sldId id="265" r:id="rId14"/>
    <p:sldId id="261" r:id="rId15"/>
    <p:sldId id="262" r:id="rId16"/>
    <p:sldId id="267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Algebraic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an "Algebraic Structure"?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A collection of objects, and one or more operations that can be performed on those objects.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objects can be numbers, but do not have to be.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We categorize algebraic structures based on the properties of the operations.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Do We Care?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Draw generalizations among number systems.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Discover new systems with similar properties.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Prove theorems about all systems with the same basic properties.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Applications of Group Theory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805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1800" b="1"/>
              <a:t>1. In Physics</a:t>
            </a:r>
            <a:r>
              <a:rPr lang="en-US" altLang="en-US" sz="1600"/>
              <a:t>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800"/>
              <a:t>   - Indispensable role in determining selection rules for spectroscopic transitions (Atomic and Molecular Spectroscopy).  </a:t>
            </a:r>
            <a:endParaRPr lang="en-US" altLang="en-US" sz="1800"/>
          </a:p>
          <a:p>
            <a:pPr marL="0" indent="0">
              <a:buNone/>
            </a:pPr>
            <a:endParaRPr lang="en-US" altLang="en-US" sz="1400"/>
          </a:p>
          <a:p>
            <a:pPr marL="0" indent="0">
              <a:buNone/>
            </a:pPr>
            <a:r>
              <a:rPr lang="en-US" altLang="en-US" sz="1800" b="1"/>
              <a:t>2. In Chemistry </a:t>
            </a:r>
            <a:r>
              <a:rPr lang="en-US" altLang="en-US" sz="1400"/>
              <a:t> 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800"/>
              <a:t>   - Analyzes symmetries and crystal structures of molecules.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- Studies molecular properties via molecular orbital theory.  </a:t>
            </a:r>
            <a:endParaRPr lang="en-US" altLang="en-US" sz="1800"/>
          </a:p>
          <a:p>
            <a:pPr marL="0" indent="0">
              <a:buNone/>
            </a:pPr>
            <a:endParaRPr lang="en-US" altLang="en-US" sz="1400"/>
          </a:p>
          <a:p>
            <a:pPr marL="0" indent="0">
              <a:buNone/>
            </a:pPr>
            <a:r>
              <a:rPr lang="en-US" altLang="en-US" sz="1800" b="1"/>
              <a:t>3. In Robotics &amp; Computer Science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   - Used in robotics, computer vision, graphics, and medical image analysis (symmetry applications).  </a:t>
            </a:r>
            <a:endParaRPr lang="en-US" altLang="en-US" sz="1800"/>
          </a:p>
          <a:p>
            <a:pPr marL="0" indent="0">
              <a:buNone/>
            </a:pPr>
            <a:endParaRPr lang="en-US" altLang="en-US" sz="1400"/>
          </a:p>
          <a:p>
            <a:pPr marL="0" indent="0">
              <a:buNone/>
            </a:pPr>
            <a:r>
              <a:rPr lang="en-US" altLang="en-US" sz="1800" b="1"/>
              <a:t>4. In Mathematics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   - Classifies symmetric objects (e.g., circles under rotation).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- Applies to functions and operations.  </a:t>
            </a:r>
            <a:endParaRPr lang="en-US" altLang="en-US" sz="1800"/>
          </a:p>
          <a:p>
            <a:pPr marL="0" indent="0">
              <a:buNone/>
            </a:pPr>
            <a:endParaRPr lang="en-US" altLang="en-US" sz="1400"/>
          </a:p>
          <a:p>
            <a:pPr marL="0" indent="0">
              <a:buNone/>
            </a:pPr>
            <a:r>
              <a:rPr lang="en-US" altLang="en-US" sz="1800" b="1"/>
              <a:t>5. In Cryptography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   - Groups, subgroups, and cosets enable secure data transmission (e.g., Public Key algorithms).  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Groups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(307)"/>
          <p:cNvPicPr>
            <a:picLocks noChangeAspect="1"/>
          </p:cNvPicPr>
          <p:nvPr/>
        </p:nvPicPr>
        <p:blipFill>
          <a:blip r:embed="rId1"/>
          <a:srcRect l="12681" t="20790" r="12868"/>
          <a:stretch>
            <a:fillRect/>
          </a:stretch>
        </p:blipFill>
        <p:spPr>
          <a:xfrm>
            <a:off x="457200" y="1417955"/>
            <a:ext cx="8237855" cy="4930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Examples of Groups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Picture 3" descr="Screenshot (308)"/>
          <p:cNvPicPr>
            <a:picLocks noChangeAspect="1"/>
          </p:cNvPicPr>
          <p:nvPr/>
        </p:nvPicPr>
        <p:blipFill>
          <a:blip r:embed="rId1"/>
          <a:srcRect l="13743" t="24025" r="14535"/>
          <a:stretch>
            <a:fillRect/>
          </a:stretch>
        </p:blipFill>
        <p:spPr>
          <a:xfrm>
            <a:off x="457200" y="1600200"/>
            <a:ext cx="821626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Rings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(309)"/>
          <p:cNvPicPr>
            <a:picLocks noChangeAspect="1"/>
          </p:cNvPicPr>
          <p:nvPr/>
        </p:nvPicPr>
        <p:blipFill>
          <a:blip r:embed="rId1"/>
          <a:srcRect l="14958" t="22235" r="16146"/>
          <a:stretch>
            <a:fillRect/>
          </a:stretch>
        </p:blipFill>
        <p:spPr>
          <a:xfrm>
            <a:off x="457200" y="1600200"/>
            <a:ext cx="8229600" cy="4531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t>A monoid is a set M with a binary operation (*) that satisfies:</a:t>
            </a:r>
          </a:p>
          <a:p>
            <a:r>
              <a:rPr b="1"/>
              <a:t>Closure:</a:t>
            </a:r>
            <a:r>
              <a:rPr lang="en-US"/>
              <a:t> </a:t>
            </a:r>
            <a:r>
              <a:rPr lang="en-US" altLang="en-US"/>
              <a:t>If you take any two elements from the set and combine them using the operation, the result must still be in the set.</a:t>
            </a:r>
            <a:r>
              <a:t> </a:t>
            </a:r>
          </a:p>
          <a:p>
            <a:r>
              <a:rPr b="1"/>
              <a:t>Associativity</a:t>
            </a:r>
            <a:r>
              <a:t>:</a:t>
            </a:r>
            <a:r>
              <a:rPr lang="en-US" altLang="en-US"/>
              <a:t>The way you group the operations doesn’t matter.	</a:t>
            </a:r>
            <a:r>
              <a:t> (a * b) * c = a * (b * c).</a:t>
            </a:r>
          </a:p>
          <a:p>
            <a:r>
              <a:rPr b="1"/>
              <a:t>Identity Element</a:t>
            </a:r>
            <a:r>
              <a:t>: There exists e in M such that a * e = e * a = a.</a:t>
            </a:r>
          </a:p>
          <a:p/>
          <a:p>
            <a:r>
              <a:rPr b="1"/>
              <a:t>Example</a:t>
            </a:r>
            <a:r>
              <a:t>: (N, +) where N is the set of natural numbers and 0 is the identity.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Monoid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Think of adding numbers:</a:t>
            </a:r>
            <a:endParaRPr lang="en-US" altLang="en-US"/>
          </a:p>
          <a:p>
            <a:r>
              <a:rPr lang="en-US" altLang="en-US"/>
              <a:t>Set: Whole numbers (0, 1, 2, 3,...)</a:t>
            </a:r>
            <a:endParaRPr lang="en-US" altLang="en-US"/>
          </a:p>
          <a:p>
            <a:r>
              <a:rPr lang="en-US" altLang="en-US"/>
              <a:t>Operation: Addition (+)</a:t>
            </a:r>
            <a:endParaRPr lang="en-US" altLang="en-US"/>
          </a:p>
          <a:p>
            <a:r>
              <a:rPr lang="en-US" altLang="en-US"/>
              <a:t>Why it works:</a:t>
            </a:r>
            <a:endParaRPr lang="en-US" altLang="en-US"/>
          </a:p>
          <a:p>
            <a:pPr lvl="1"/>
            <a:r>
              <a:rPr lang="en-US" altLang="en-US"/>
              <a:t>Any two numbers add to another whole number</a:t>
            </a:r>
            <a:endParaRPr lang="en-US" altLang="en-US"/>
          </a:p>
          <a:p>
            <a:pPr lvl="1"/>
            <a:r>
              <a:rPr lang="en-US" altLang="en-US"/>
              <a:t>(2+3)+4 = 2+(3+4) = 9</a:t>
            </a:r>
            <a:endParaRPr lang="en-US" altLang="en-US"/>
          </a:p>
          <a:p>
            <a:pPr lvl="1"/>
            <a:r>
              <a:rPr lang="en-US" altLang="en-US"/>
              <a:t>Adding zero changes nothing: 5+0 = 5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Abelian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Abelian group is a group where the operation is commutative:</a:t>
            </a:r>
          </a:p>
          <a:p>
            <a:r>
              <a:t>a * b = b * a for all a, b in G.</a:t>
            </a:r>
          </a:p>
          <a:p/>
          <a:p>
            <a:r>
              <a:t>Example: (Z, +) is Abelian because addition is commutative.</a:t>
            </a:r>
          </a:p>
          <a:p>
            <a:r>
              <a:t>Non-example: Matrix multiplication is generally not commutative.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700"/>
              <a:t>A smaller group living inside a bigger group that follows all group rules. </a:t>
            </a:r>
            <a:endParaRPr lang="en-US" altLang="en-US" sz="2700"/>
          </a:p>
          <a:p>
            <a:r>
              <a:rPr sz="2700"/>
              <a:t>A subgroup H of a group G is a subset that is itself a group.</a:t>
            </a:r>
            <a:endParaRPr sz="2700"/>
          </a:p>
          <a:p>
            <a:r>
              <a:rPr sz="2700"/>
              <a:t>Conditions:</a:t>
            </a:r>
            <a:endParaRPr sz="2700"/>
          </a:p>
          <a:p>
            <a:pPr lvl="1"/>
            <a:r>
              <a:rPr sz="2360"/>
              <a:t>Closure</a:t>
            </a:r>
            <a:endParaRPr sz="2360"/>
          </a:p>
          <a:p>
            <a:pPr lvl="1"/>
            <a:r>
              <a:rPr sz="2360"/>
              <a:t>Contains identity</a:t>
            </a:r>
            <a:endParaRPr sz="2360"/>
          </a:p>
          <a:p>
            <a:pPr lvl="1"/>
            <a:r>
              <a:rPr sz="2360"/>
              <a:t>Contains inverses</a:t>
            </a:r>
            <a:endParaRPr sz="2360"/>
          </a:p>
          <a:p>
            <a:endParaRPr sz="2700"/>
          </a:p>
          <a:p>
            <a:r>
              <a:rPr sz="2700"/>
              <a:t>Notation: H ≤ G</a:t>
            </a:r>
            <a:endParaRPr sz="2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Subgroups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Even numbers within integers:</a:t>
            </a:r>
            <a:endParaRPr lang="en-US" altLang="en-US"/>
          </a:p>
          <a:p>
            <a:r>
              <a:rPr lang="en-US" altLang="en-US"/>
              <a:t>Big group: All integers with addition</a:t>
            </a:r>
            <a:endParaRPr lang="en-US" altLang="en-US"/>
          </a:p>
          <a:p>
            <a:r>
              <a:rPr lang="en-US" altLang="en-US"/>
              <a:t>Subgroup: Even numbers with addition</a:t>
            </a:r>
            <a:endParaRPr lang="en-US" altLang="en-US"/>
          </a:p>
          <a:p>
            <a:pPr lvl="1"/>
            <a:r>
              <a:rPr lang="en-US" altLang="en-US"/>
              <a:t>Even + even = even (closure)</a:t>
            </a:r>
            <a:endParaRPr lang="en-US" altLang="en-US"/>
          </a:p>
          <a:p>
            <a:pPr lvl="1"/>
            <a:r>
              <a:rPr lang="en-US" altLang="en-US"/>
              <a:t>0 is identity</a:t>
            </a:r>
            <a:endParaRPr lang="en-US" altLang="en-US"/>
          </a:p>
          <a:p>
            <a:pPr lvl="1"/>
            <a:r>
              <a:rPr lang="en-US" altLang="en-US"/>
              <a:t>Inverse of 4 is -4 (both even)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/>
              <a:t>A group generated by repeating a single element.</a:t>
            </a:r>
            <a:endParaRPr lang="en-US" altLang="en-US"/>
          </a:p>
          <a:p>
            <a:r>
              <a:rPr lang="en-US" altLang="en-US" sz="3200">
                <a:sym typeface="+mn-ea"/>
              </a:rPr>
              <a:t>Rotating a pizza: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Set: {0°, 90°, 180°, 270°}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Operation: Adding rotations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Generator: 90° rotation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90°+90°=180°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90°+90°+90°=270°</a:t>
            </a:r>
            <a:endParaRPr lang="en-US" altLang="en-US" sz="3200"/>
          </a:p>
          <a:p>
            <a:pPr lvl="1"/>
            <a:r>
              <a:rPr lang="en-US" altLang="en-US" sz="3200">
                <a:sym typeface="+mn-ea"/>
              </a:rPr>
              <a:t>90°×4=0° (full rotation)</a:t>
            </a:r>
            <a:endParaRPr lang="en-US" altLang="en-US"/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Permutation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 permutation group is a collection of all possible permutations of a set, combined with an operation (usually composition, meaning applying one permutation after another).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Shuffling 3 cards (ABC):</a:t>
            </a:r>
            <a:endParaRPr lang="en-US" altLang="en-US"/>
          </a:p>
          <a:p>
            <a:pPr lvl="1"/>
            <a:r>
              <a:rPr lang="en-US" altLang="en-US"/>
              <a:t>Possible orders: ABC, ACB, BAC, BCA, CAB, CBA</a:t>
            </a:r>
            <a:endParaRPr lang="en-US" altLang="en-US"/>
          </a:p>
          <a:p>
            <a:pPr lvl="1"/>
            <a:r>
              <a:rPr lang="en-US" altLang="en-US"/>
              <a:t>Combining swaps: Swap 1st/2nd then 2nd/3rd gives different result than doing it in reverse order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Takeaways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800" b="1"/>
              <a:t>Monoid</a:t>
            </a:r>
            <a:r>
              <a:rPr lang="en-US" altLang="en-US" sz="2800"/>
              <a:t>: Like a group but missing inverses (e.g., counting numbers with addition).</a:t>
            </a:r>
            <a:endParaRPr lang="en-US" altLang="en-US" sz="2800"/>
          </a:p>
          <a:p>
            <a:r>
              <a:rPr lang="en-US" altLang="en-US" sz="2800" b="1"/>
              <a:t>Group</a:t>
            </a:r>
            <a:r>
              <a:rPr lang="en-US" altLang="en-US" sz="2800"/>
              <a:t>: A set where you can combine elements, undo operations, and has an identity.</a:t>
            </a:r>
            <a:endParaRPr lang="en-US" altLang="en-US" sz="2800"/>
          </a:p>
          <a:p>
            <a:r>
              <a:rPr lang="en-US" altLang="en-US" sz="2800" b="1"/>
              <a:t>Abelian Group</a:t>
            </a:r>
            <a:r>
              <a:rPr lang="en-US" altLang="en-US" sz="2800"/>
              <a:t>: A group where swapping elements doesn’t change the result.</a:t>
            </a:r>
            <a:endParaRPr lang="en-US" altLang="en-US" sz="2800"/>
          </a:p>
          <a:p>
            <a:r>
              <a:rPr lang="en-US" altLang="en-US" sz="2800" b="1"/>
              <a:t>Permutation Group</a:t>
            </a:r>
            <a:r>
              <a:rPr lang="en-US" altLang="en-US" sz="2800"/>
              <a:t>: All possible shuffles of objects.</a:t>
            </a:r>
            <a:endParaRPr lang="en-US" altLang="en-US" sz="2800"/>
          </a:p>
          <a:p>
            <a:r>
              <a:rPr lang="en-US" altLang="en-US" sz="2800" b="1"/>
              <a:t>Subgroup</a:t>
            </a:r>
            <a:r>
              <a:rPr lang="en-US" altLang="en-US" sz="2800"/>
              <a:t>: A smaller group inside a bigger one.</a:t>
            </a:r>
            <a:endParaRPr lang="en-US" altLang="en-US" sz="2800"/>
          </a:p>
          <a:p>
            <a:r>
              <a:rPr lang="en-US" altLang="en-US" sz="2800" b="1"/>
              <a:t>Cyclic Group</a:t>
            </a:r>
            <a:r>
              <a:rPr lang="en-US" altLang="en-US" sz="2800"/>
              <a:t>: A group generated by repeating a single element.</a:t>
            </a:r>
            <a:endParaRPr lang="en-US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Algebraic Structures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(312)"/>
          <p:cNvPicPr>
            <a:picLocks noChangeAspect="1"/>
          </p:cNvPicPr>
          <p:nvPr/>
        </p:nvPicPr>
        <p:blipFill>
          <a:blip r:embed="rId1"/>
          <a:srcRect l="15854" t="26049" r="29222" b="8457"/>
          <a:stretch>
            <a:fillRect/>
          </a:stretch>
        </p:blipFill>
        <p:spPr>
          <a:xfrm>
            <a:off x="444500" y="1565910"/>
            <a:ext cx="8238490" cy="4560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3398</Words>
  <Application>WPS Presentation</Application>
  <PresentationFormat>On-screen Show 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DeepSeek-CJK-patch</vt:lpstr>
      <vt:lpstr>Segoe Print</vt:lpstr>
      <vt:lpstr>Cambria Math</vt:lpstr>
      <vt:lpstr>Office Theme</vt:lpstr>
      <vt:lpstr>Algebraic Structures:</vt:lpstr>
      <vt:lpstr>What is an "Algebraic Structure"?</vt:lpstr>
      <vt:lpstr>Why Do We Care?</vt:lpstr>
      <vt:lpstr>Applications of Group Theory</vt:lpstr>
      <vt:lpstr>Groups</vt:lpstr>
      <vt:lpstr>Examples of Groups</vt:lpstr>
      <vt:lpstr>Rings</vt:lpstr>
      <vt:lpstr>Monoid</vt:lpstr>
      <vt:lpstr>Monoid</vt:lpstr>
      <vt:lpstr>Abelian Group</vt:lpstr>
      <vt:lpstr>Subgroups</vt:lpstr>
      <vt:lpstr>PowerPoint 演示文稿</vt:lpstr>
      <vt:lpstr>Cyclic Group</vt:lpstr>
      <vt:lpstr>Permutation Groups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13</cp:revision>
  <dcterms:created xsi:type="dcterms:W3CDTF">2013-01-27T09:14:00Z</dcterms:created>
  <dcterms:modified xsi:type="dcterms:W3CDTF">2025-05-17T04:06:42Z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0641F11401964F82BBC352EED257C375_12</vt:lpwstr>
  </property>
  <property fmtid="{D5CDD505-2E9C-101B-9397-08002B2CF9AE}" pid="3" name="KSOProductBuildVer">
    <vt:lpwstr>1033-12.2.0.21179</vt:lpwstr>
  </property>
</Properties>
</file>