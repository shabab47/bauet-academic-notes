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04" r:id="rId3"/>
    <p:sldId id="321" r:id="rId4"/>
    <p:sldId id="330" r:id="rId5"/>
    <p:sldId id="313" r:id="rId6"/>
    <p:sldId id="324" r:id="rId7"/>
    <p:sldId id="325" r:id="rId8"/>
    <p:sldId id="335" r:id="rId9"/>
    <p:sldId id="336" r:id="rId10"/>
    <p:sldId id="338" r:id="rId11"/>
    <p:sldId id="339" r:id="rId12"/>
    <p:sldId id="341" r:id="rId13"/>
    <p:sldId id="331" r:id="rId14"/>
    <p:sldId id="332" r:id="rId15"/>
    <p:sldId id="342" r:id="rId16"/>
    <p:sldId id="333" r:id="rId18"/>
    <p:sldId id="348" r:id="rId19"/>
    <p:sldId id="349" r:id="rId20"/>
    <p:sldId id="351" r:id="rId21"/>
    <p:sldId id="352" r:id="rId22"/>
    <p:sldId id="356" r:id="rId23"/>
    <p:sldId id="353" r:id="rId24"/>
    <p:sldId id="357" r:id="rId25"/>
    <p:sldId id="354" r:id="rId26"/>
    <p:sldId id="355" r:id="rId27"/>
    <p:sldId id="334" r:id="rId28"/>
    <p:sldId id="358" r:id="rId29"/>
    <p:sldId id="344" r:id="rId30"/>
    <p:sldId id="343" r:id="rId31"/>
    <p:sldId id="365" r:id="rId32"/>
    <p:sldId id="345" r:id="rId33"/>
    <p:sldId id="364" r:id="rId34"/>
    <p:sldId id="359" r:id="rId35"/>
    <p:sldId id="362" r:id="rId36"/>
    <p:sldId id="366" r:id="rId37"/>
    <p:sldId id="363" r:id="rId38"/>
    <p:sldId id="367" r:id="rId39"/>
    <p:sldId id="347" r:id="rId40"/>
    <p:sldId id="368" r:id="rId41"/>
    <p:sldId id="346" r:id="rId42"/>
    <p:sldId id="369" r:id="rId43"/>
    <p:sldId id="372" r:id="rId44"/>
    <p:sldId id="373" r:id="rId45"/>
    <p:sldId id="374" r:id="rId46"/>
    <p:sldId id="375" r:id="rId47"/>
    <p:sldId id="376" r:id="rId48"/>
    <p:sldId id="377" r:id="rId49"/>
    <p:sldId id="378" r:id="rId50"/>
    <p:sldId id="379" r:id="rId51"/>
    <p:sldId id="381" r:id="rId52"/>
    <p:sldId id="380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-75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98F68-B3D3-45EB-AA2E-28D2BD72F94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E0B90-5F46-4E81-9680-901DE55937C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A271FA2A-6DA0-4864-86F2-44209CB3DD1F}" type="slidenum">
              <a:rPr lang="en-US"/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E0B90-5F46-4E81-9680-901DE55937C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fld id="{735F4F5D-A3A0-4310-83AC-9A91106479DB}" type="slidenum">
              <a:rPr lang="en-US" smtClean="0"/>
            </a:fld>
            <a:endParaRPr lang="en-US" smtClean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2A29F-7983-4317-A6D1-7211E1E64D4F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30FE7-DE21-4C34-8359-382B8E4823D7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BF5E8-DF8F-4899-AA97-932C9E32C5C6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6EC2F-45E2-4DFE-9A99-6E53152C8E6E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E40B8-E7AF-4D32-9552-ADC4F6E5B06A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9D1FD-F206-489C-B856-6AC5DB63BD7B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9ED4A-9A94-465B-B25B-3B5D64706D9E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0FAA2-5335-4425-A9C8-5E6EF88688AF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9127F-09DB-46FE-8520-F7E8F9B407CE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65969-8381-48D5-AA22-F74337823250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DA3EF-1391-4E47-BE3F-19832F23BBE9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235C6F-9E0E-4D7B-ADC2-B70D85E248FF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91175-7146-41E0-A892-BE9BEA3824E6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BA831-9DFF-4CF1-B441-627A4166C8B3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46A4E7-47FD-4D73-8CA1-400E43D8BFAB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39C2F-3F1F-4EC5-8D7F-112ABB78AC64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0DF17-2945-4519-B7D0-D6F7409C40C9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3195A-8FE1-4BC7-87AE-966FE3931863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657DE-DBF9-4588-BC62-20635E8853CA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792A-71BC-4BCC-85F5-1E3A71DE2274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89069-177B-4D1D-86DC-7E8664B49F46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055E1-EC79-4A87-9FDC-10D37A46324F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Times New Roman" panose="0202060305040502030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2BDC36-6EDD-41F4-87C3-3325C5A5C7B3}" type="datetime1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Times New Roman" panose="0202060305040502030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Times New Roman" panose="0202060305040502030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0E08685-CCD9-4C20-ABC8-525121F0A5BB}" type="slidenum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emf"/><Relationship Id="rId1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emf"/><Relationship Id="rId3" Type="http://schemas.openxmlformats.org/officeDocument/2006/relationships/image" Target="../media/image31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4.w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33.emf"/><Relationship Id="rId4" Type="http://schemas.openxmlformats.org/officeDocument/2006/relationships/image" Target="../media/image32.emf"/><Relationship Id="rId3" Type="http://schemas.openxmlformats.org/officeDocument/2006/relationships/image" Target="../media/image31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35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33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3164" y="2401600"/>
            <a:ext cx="9144000" cy="1806588"/>
          </a:xfr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txBody>
          <a:bodyPr vert="horz" lIns="121920" tIns="45720" rIns="121920" bIns="6096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8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 panose="02060603020205020403" pitchFamily="18" charset="0"/>
              </a:rPr>
              <a:t>Set Theory</a:t>
            </a:r>
            <a:endParaRPr 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" panose="020606030202050204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057" y="0"/>
            <a:ext cx="12193057" cy="192247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51455" y="6248400"/>
            <a:ext cx="2540000" cy="457200"/>
          </a:xfrm>
        </p:spPr>
        <p:txBody>
          <a:bodyPr/>
          <a:lstStyle/>
          <a:p>
            <a:fld id="{769106B5-6058-41AF-9CC7-A36880636D59}" type="slidenum">
              <a:rPr lang="en-US" smtClean="0"/>
            </a:fld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842654" y="3920836"/>
            <a:ext cx="8520545" cy="1717964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</a:rPr>
              <a:t>Set Basics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337066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001063"/>
            <a:ext cx="10653296" cy="8058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kern="0" dirty="0">
                <a:solidFill>
                  <a:srgbClr val="000000"/>
                </a:solidFill>
              </a:rPr>
              <a:t>A set is </a:t>
            </a:r>
            <a:r>
              <a:rPr lang="en-US" kern="0" dirty="0" smtClean="0">
                <a:solidFill>
                  <a:srgbClr val="000000"/>
                </a:solidFill>
              </a:rPr>
              <a:t>an </a:t>
            </a:r>
            <a:r>
              <a:rPr lang="en-US" kern="0" dirty="0">
                <a:solidFill>
                  <a:srgbClr val="000000"/>
                </a:solidFill>
              </a:rPr>
              <a:t>unordered collection of “objects”</a:t>
            </a: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18" name="Content Placeholder 2"/>
          <p:cNvSpPr txBox="1"/>
          <p:nvPr/>
        </p:nvSpPr>
        <p:spPr>
          <a:xfrm>
            <a:off x="985396" y="3019981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Example		</a:t>
            </a:r>
            <a:endParaRPr lang="en-US" b="1" dirty="0">
              <a:latin typeface="+mj-lt"/>
            </a:endParaRPr>
          </a:p>
        </p:txBody>
      </p:sp>
      <p:sp>
        <p:nvSpPr>
          <p:cNvPr id="19" name="Content Placeholder 2"/>
          <p:cNvSpPr txBox="1"/>
          <p:nvPr/>
        </p:nvSpPr>
        <p:spPr>
          <a:xfrm>
            <a:off x="995350" y="3683978"/>
            <a:ext cx="10653296" cy="26644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ebdings" panose="05030102010509060703" pitchFamily="18" charset="2"/>
              <a:buChar char="4"/>
            </a:pPr>
            <a:r>
              <a:rPr lang="en-US" kern="0" dirty="0">
                <a:solidFill>
                  <a:srgbClr val="000000"/>
                </a:solidFill>
                <a:latin typeface="Verdana" panose="020B0604030504040204"/>
              </a:rPr>
              <a:t>People in a class: </a:t>
            </a:r>
            <a:r>
              <a:rPr lang="en-US" kern="0" dirty="0" smtClean="0">
                <a:solidFill>
                  <a:srgbClr val="000000"/>
                </a:solidFill>
                <a:latin typeface="Verdana" panose="020B0604030504040204"/>
              </a:rPr>
              <a:t>{</a:t>
            </a:r>
            <a:r>
              <a:rPr lang="en-US" kern="0" dirty="0" err="1" smtClean="0">
                <a:solidFill>
                  <a:srgbClr val="000000"/>
                </a:solidFill>
                <a:latin typeface="Verdana" panose="020B0604030504040204"/>
              </a:rPr>
              <a:t>Faiza</a:t>
            </a:r>
            <a:r>
              <a:rPr lang="en-US" kern="0" dirty="0" smtClean="0">
                <a:solidFill>
                  <a:srgbClr val="000000"/>
                </a:solidFill>
                <a:latin typeface="Verdana" panose="020B0604030504040204"/>
              </a:rPr>
              <a:t>, </a:t>
            </a:r>
            <a:r>
              <a:rPr lang="en-US" kern="0" dirty="0" err="1" smtClean="0">
                <a:solidFill>
                  <a:srgbClr val="000000"/>
                </a:solidFill>
                <a:latin typeface="Verdana" panose="020B0604030504040204"/>
              </a:rPr>
              <a:t>Maysha</a:t>
            </a:r>
            <a:r>
              <a:rPr lang="en-US" kern="0" dirty="0" smtClean="0">
                <a:solidFill>
                  <a:srgbClr val="000000"/>
                </a:solidFill>
                <a:latin typeface="Verdana" panose="020B0604030504040204"/>
              </a:rPr>
              <a:t>, </a:t>
            </a:r>
            <a:r>
              <a:rPr lang="en-US" kern="0" dirty="0" err="1" smtClean="0">
                <a:solidFill>
                  <a:srgbClr val="000000"/>
                </a:solidFill>
                <a:latin typeface="Verdana" panose="020B0604030504040204"/>
              </a:rPr>
              <a:t>shojib</a:t>
            </a:r>
            <a:r>
              <a:rPr lang="en-US" kern="0" dirty="0" smtClean="0">
                <a:solidFill>
                  <a:srgbClr val="000000"/>
                </a:solidFill>
                <a:latin typeface="Verdana" panose="020B0604030504040204"/>
              </a:rPr>
              <a:t>, </a:t>
            </a:r>
            <a:r>
              <a:rPr lang="en-US" kern="0" dirty="0" err="1" smtClean="0">
                <a:solidFill>
                  <a:srgbClr val="000000"/>
                </a:solidFill>
                <a:latin typeface="Verdana" panose="020B0604030504040204"/>
              </a:rPr>
              <a:t>Nayem</a:t>
            </a:r>
            <a:r>
              <a:rPr lang="en-US" kern="0" dirty="0" smtClean="0">
                <a:solidFill>
                  <a:srgbClr val="000000"/>
                </a:solidFill>
                <a:latin typeface="Verdana" panose="020B0604030504040204"/>
              </a:rPr>
              <a:t>}</a:t>
            </a:r>
            <a:endParaRPr lang="en-US" kern="0" dirty="0">
              <a:solidFill>
                <a:srgbClr val="000000"/>
              </a:solidFill>
              <a:latin typeface="Verdana" panose="020B0604030504040204"/>
            </a:endParaRPr>
          </a:p>
          <a:p>
            <a:pPr marL="742950" lvl="1" indent="-2857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ebdings" panose="05030102010509060703" pitchFamily="18" charset="2"/>
              <a:buChar char="4"/>
            </a:pPr>
            <a:r>
              <a:rPr lang="en-US" kern="0" dirty="0">
                <a:solidFill>
                  <a:srgbClr val="000000"/>
                </a:solidFill>
                <a:latin typeface="Verdana" panose="020B0604030504040204"/>
              </a:rPr>
              <a:t>Districts in the BD : {Rajshahi, Dhaka, </a:t>
            </a:r>
            <a:r>
              <a:rPr lang="en-US" kern="0" dirty="0" err="1" smtClean="0">
                <a:solidFill>
                  <a:srgbClr val="000000"/>
                </a:solidFill>
                <a:latin typeface="Verdana" panose="020B0604030504040204"/>
              </a:rPr>
              <a:t>Natore</a:t>
            </a:r>
            <a:r>
              <a:rPr lang="en-US" kern="0" dirty="0" smtClean="0">
                <a:solidFill>
                  <a:srgbClr val="000000"/>
                </a:solidFill>
                <a:latin typeface="Verdana" panose="020B0604030504040204"/>
              </a:rPr>
              <a:t>, </a:t>
            </a:r>
            <a:r>
              <a:rPr lang="en-US" kern="0" dirty="0">
                <a:solidFill>
                  <a:srgbClr val="000000"/>
                </a:solidFill>
                <a:latin typeface="Verdana" panose="020B0604030504040204"/>
              </a:rPr>
              <a:t>… }</a:t>
            </a:r>
            <a:endParaRPr lang="en-US" kern="0" dirty="0">
              <a:solidFill>
                <a:srgbClr val="000000"/>
              </a:solidFill>
              <a:latin typeface="Verdana" panose="020B0604030504040204"/>
            </a:endParaRPr>
          </a:p>
          <a:p>
            <a:pPr marL="742950" lvl="1" indent="-2857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ebdings" panose="05030102010509060703" pitchFamily="18" charset="2"/>
              <a:buChar char="4"/>
            </a:pPr>
            <a:r>
              <a:rPr lang="en-US" kern="0" dirty="0">
                <a:solidFill>
                  <a:srgbClr val="000000"/>
                </a:solidFill>
                <a:latin typeface="Verdana" panose="020B0604030504040204"/>
              </a:rPr>
              <a:t>Sets can contain non-related elements: {3, a, Potato}</a:t>
            </a:r>
            <a:endParaRPr lang="en-US" kern="0" dirty="0">
              <a:solidFill>
                <a:srgbClr val="000000"/>
              </a:solidFill>
              <a:latin typeface="Verdana" panose="020B0604030504040204"/>
            </a:endParaRPr>
          </a:p>
          <a:p>
            <a:pPr marL="742950" lvl="1" indent="-2857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ebdings" panose="05030102010509060703" pitchFamily="18" charset="2"/>
              <a:buChar char="4"/>
            </a:pPr>
            <a:r>
              <a:rPr lang="en-US" kern="0" dirty="0">
                <a:solidFill>
                  <a:srgbClr val="000000"/>
                </a:solidFill>
                <a:latin typeface="Verdana" panose="020B0604030504040204"/>
              </a:rPr>
              <a:t>All positive numbers less than or equal to 5: {1, 2, 3, 4, 5}</a:t>
            </a:r>
            <a:endParaRPr lang="en-US" kern="0" dirty="0">
              <a:solidFill>
                <a:srgbClr val="000000"/>
              </a:solidFill>
              <a:latin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</a:rPr>
              <a:t>Set Basics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337066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		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001063"/>
            <a:ext cx="10653296" cy="127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000000"/>
                </a:solidFill>
              </a:rPr>
              <a:t>A set is </a:t>
            </a:r>
            <a:r>
              <a:rPr lang="en-US" kern="0" dirty="0">
                <a:solidFill>
                  <a:srgbClr val="000000"/>
                </a:solidFill>
              </a:rPr>
              <a:t>an </a:t>
            </a:r>
            <a:r>
              <a:rPr lang="en-US" kern="0" dirty="0"/>
              <a:t>unordered</a:t>
            </a:r>
            <a:r>
              <a:rPr lang="en-US" kern="0" dirty="0">
                <a:solidFill>
                  <a:srgbClr val="000000"/>
                </a:solidFill>
              </a:rPr>
              <a:t> collection of </a:t>
            </a:r>
            <a:r>
              <a:rPr lang="en-US" kern="0" dirty="0"/>
              <a:t>objects</a:t>
            </a:r>
            <a:r>
              <a:rPr lang="en-US" kern="0" dirty="0">
                <a:solidFill>
                  <a:srgbClr val="000000"/>
                </a:solidFill>
              </a:rPr>
              <a:t>, called </a:t>
            </a:r>
            <a:r>
              <a:rPr lang="en-US" kern="0" dirty="0" smtClean="0">
                <a:solidFill>
                  <a:schemeClr val="accent2">
                    <a:lumMod val="50000"/>
                  </a:schemeClr>
                </a:solidFill>
              </a:rPr>
              <a:t>elements or members</a:t>
            </a:r>
            <a:r>
              <a:rPr lang="en-US" kern="0" dirty="0" smtClean="0">
                <a:solidFill>
                  <a:srgbClr val="000000"/>
                </a:solidFill>
              </a:rPr>
              <a:t> of </a:t>
            </a:r>
            <a:r>
              <a:rPr lang="en-US" kern="0" dirty="0">
                <a:solidFill>
                  <a:srgbClr val="000000"/>
                </a:solidFill>
              </a:rPr>
              <a:t>the set. A set </a:t>
            </a:r>
            <a:r>
              <a:rPr lang="en-US" kern="0" dirty="0" smtClean="0">
                <a:solidFill>
                  <a:srgbClr val="000000"/>
                </a:solidFill>
              </a:rPr>
              <a:t>is said to contain its </a:t>
            </a:r>
            <a:r>
              <a:rPr lang="en-US" kern="0" dirty="0">
                <a:solidFill>
                  <a:srgbClr val="000000"/>
                </a:solidFill>
              </a:rPr>
              <a:t>elements.</a:t>
            </a: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304" y="5078698"/>
            <a:ext cx="10348925" cy="9079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is common for </a:t>
            </a:r>
            <a:r>
              <a:rPr lang="en-US" sz="2400" b="1" dirty="0"/>
              <a:t>SETS</a:t>
            </a:r>
            <a:r>
              <a:rPr lang="en-US" sz="2400" dirty="0"/>
              <a:t> to be denoted using </a:t>
            </a:r>
            <a:r>
              <a:rPr lang="en-US" sz="2400" dirty="0">
                <a:solidFill>
                  <a:schemeClr val="tx1"/>
                </a:solidFill>
              </a:rPr>
              <a:t>uppercase letters. 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Lowercase letters </a:t>
            </a:r>
            <a:r>
              <a:rPr lang="en-US" sz="2400" dirty="0"/>
              <a:t>are usually used to denote </a:t>
            </a:r>
            <a:r>
              <a:rPr lang="en-US" sz="2400" b="1" dirty="0"/>
              <a:t>elements of sets.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00100" y="3557270"/>
                <a:ext cx="10753090" cy="124650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noAutofit/>
              </a:bodyPr>
              <a:lstStyle/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We write </a:t>
                </a:r>
                <a:r>
                  <a:rPr lang="en-US" sz="2400" b="1" i="1" dirty="0" smtClean="0"/>
                  <a:t>a ∈ A  </a:t>
                </a:r>
                <a:r>
                  <a:rPr lang="en-US" sz="2400" dirty="0" smtClean="0"/>
                  <a:t>to </a:t>
                </a:r>
                <a:r>
                  <a:rPr lang="en-US" sz="2400" dirty="0"/>
                  <a:t>denote </a:t>
                </a:r>
                <a:r>
                  <a:rPr lang="en-US" sz="2400" dirty="0" smtClean="0"/>
                  <a:t>that a is </a:t>
                </a:r>
                <a:r>
                  <a:rPr lang="en-US" sz="2400" dirty="0"/>
                  <a:t>an element of the </a:t>
                </a:r>
                <a:r>
                  <a:rPr lang="en-US" sz="2400" dirty="0" smtClean="0"/>
                  <a:t>set A</a:t>
                </a:r>
                <a:r>
                  <a:rPr lang="en-US" sz="2400" dirty="0"/>
                  <a:t>. </a:t>
                </a:r>
                <a:r>
                  <a:rPr lang="en-US" sz="2400" dirty="0" smtClean="0"/>
                  <a:t> (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/>
                  <a:t> = belongs to)</a:t>
                </a:r>
                <a:endParaRPr lang="en-US" sz="2400" dirty="0" smtClean="0"/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The notation </a:t>
                </a:r>
                <a:r>
                  <a:rPr lang="en-US" sz="2400" b="1" dirty="0" smtClean="0"/>
                  <a:t>a ∈ A</a:t>
                </a:r>
                <a:r>
                  <a:rPr lang="en-US" sz="2400" dirty="0" smtClean="0"/>
                  <a:t> denotes that a is </a:t>
                </a:r>
                <a:r>
                  <a:rPr lang="en-US" sz="2400" dirty="0"/>
                  <a:t>not an element of the </a:t>
                </a:r>
                <a:r>
                  <a:rPr lang="en-US" sz="2400" dirty="0" smtClean="0"/>
                  <a:t>set A</a:t>
                </a:r>
                <a:r>
                  <a:rPr lang="en-US" sz="2400" dirty="0" smtClean="0">
                    <a:solidFill>
                      <a:srgbClr val="FF0000"/>
                    </a:solidFill>
                  </a:rPr>
                  <a:t>. 		  </a:t>
                </a:r>
                <a:r>
                  <a:rPr lang="en-US" sz="2400" dirty="0" smtClean="0"/>
                  <a:t>(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not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belongs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to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3557270"/>
                <a:ext cx="10753090" cy="1246505"/>
              </a:xfrm>
              <a:prstGeom prst="rect">
                <a:avLst/>
              </a:prstGeom>
              <a:blipFill rotWithShape="1">
                <a:blip r:embed="rId1"/>
                <a:stretch>
                  <a:fillRect l="-47" t="-408" r="-41" b="-357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 flipH="1">
            <a:off x="3071809" y="4114801"/>
            <a:ext cx="228600" cy="2714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and Elements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Let, A = { 1, a, e, u, </a:t>
            </a:r>
            <a:r>
              <a:rPr lang="en-US" b="1" dirty="0" err="1" smtClean="0">
                <a:latin typeface="+mj-lt"/>
              </a:rPr>
              <a:t>i</a:t>
            </a:r>
            <a:r>
              <a:rPr lang="en-US" b="1" dirty="0" smtClean="0">
                <a:latin typeface="+mj-lt"/>
              </a:rPr>
              <a:t>, o, 2, 3}</a:t>
            </a:r>
            <a:endParaRPr lang="en-US" b="1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/>
              <p:cNvSpPr txBox="1"/>
              <p:nvPr/>
            </p:nvSpPr>
            <p:spPr>
              <a:xfrm>
                <a:off x="1005304" y="2201095"/>
                <a:ext cx="10653296" cy="257093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kern="0" dirty="0" smtClean="0">
                    <a:solidFill>
                      <a:srgbClr val="000000"/>
                    </a:solidFill>
                  </a:rPr>
                  <a:t>Name of the Set? </a:t>
                </a:r>
                <a:endParaRPr lang="en-US" kern="0" dirty="0" smtClean="0">
                  <a:solidFill>
                    <a:srgbClr val="000000"/>
                  </a:solidFill>
                </a:endParaRPr>
              </a:p>
              <a:p>
                <a:pPr fontAlgn="base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kern="0" dirty="0" smtClean="0">
                    <a:solidFill>
                      <a:srgbClr val="00000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kern="0" dirty="0" smtClean="0">
                    <a:solidFill>
                      <a:srgbClr val="000000"/>
                    </a:solidFill>
                  </a:rPr>
                  <a:t> (true or false)</a:t>
                </a:r>
                <a:endParaRPr lang="en-US" kern="0" dirty="0" smtClean="0">
                  <a:solidFill>
                    <a:srgbClr val="000000"/>
                  </a:solidFill>
                </a:endParaRPr>
              </a:p>
              <a:p>
                <a:pPr fontAlgn="base">
                  <a:lnSpc>
                    <a:spcPct val="114000"/>
                  </a:lnSpc>
                  <a:spcBef>
                    <a:spcPts val="0"/>
                  </a:spcBef>
                </a:pPr>
                <a:r>
                  <a:rPr lang="en-US" kern="0" dirty="0" smtClean="0">
                    <a:solidFill>
                      <a:srgbClr val="000000"/>
                    </a:solidFill>
                  </a:rPr>
                  <a:t>a </a:t>
                </a:r>
                <a14:m>
                  <m:oMath xmlns:m="http://schemas.openxmlformats.org/officeDocument/2006/math">
                    <m:r>
                      <a:rPr lang="en-US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kern="0" dirty="0" smtClean="0">
                    <a:solidFill>
                      <a:srgbClr val="000000"/>
                    </a:solidFill>
                  </a:rPr>
                  <a:t> A (true or false)</a:t>
                </a:r>
                <a:endParaRPr 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04" y="2201095"/>
                <a:ext cx="10653296" cy="2570930"/>
              </a:xfrm>
              <a:prstGeom prst="rect">
                <a:avLst/>
              </a:prstGeom>
              <a:blipFill rotWithShape="1">
                <a:blip r:embed="rId1"/>
                <a:stretch>
                  <a:fillRect l="-1" t="-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How to describe a Set?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Three popular methods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40473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lvl="0" indent="-514350" fontAlgn="base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kern="0" dirty="0" smtClean="0">
                <a:solidFill>
                  <a:srgbClr val="000000"/>
                </a:solidFill>
              </a:rPr>
              <a:t>Word description </a:t>
            </a:r>
            <a:endParaRPr lang="en-US" i="1" kern="0" dirty="0" smtClean="0">
              <a:solidFill>
                <a:srgbClr val="000000"/>
              </a:solidFill>
            </a:endParaRPr>
          </a:p>
          <a:p>
            <a:pPr marL="0" lv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i="1" kern="0" dirty="0">
                <a:solidFill>
                  <a:srgbClr val="000000"/>
                </a:solidFill>
              </a:rPr>
              <a:t>	</a:t>
            </a:r>
            <a:r>
              <a:rPr lang="en-US" i="1" kern="0" dirty="0" smtClean="0">
                <a:solidFill>
                  <a:srgbClr val="000000"/>
                </a:solidFill>
              </a:rPr>
              <a:t>Set of even  numbers less than 10</a:t>
            </a:r>
            <a:endParaRPr lang="en-US" i="1" kern="0" dirty="0" smtClean="0">
              <a:solidFill>
                <a:srgbClr val="000000"/>
              </a:solidFill>
            </a:endParaRP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 smtClean="0"/>
              <a:t>2.   The </a:t>
            </a:r>
            <a:r>
              <a:rPr lang="en-US" dirty="0"/>
              <a:t>listing method / </a:t>
            </a:r>
            <a:r>
              <a:rPr lang="en-US" dirty="0" smtClean="0"/>
              <a:t>Roster method </a:t>
            </a:r>
            <a:endParaRPr lang="en-US" dirty="0" smtClean="0"/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i="1" dirty="0"/>
              <a:t>	</a:t>
            </a:r>
            <a:r>
              <a:rPr lang="en-US" i="1" dirty="0" smtClean="0"/>
              <a:t>{</a:t>
            </a:r>
            <a:r>
              <a:rPr lang="en-US" i="1" dirty="0"/>
              <a:t>2, 4, 6, </a:t>
            </a:r>
            <a:r>
              <a:rPr lang="en-US" i="1" dirty="0" smtClean="0"/>
              <a:t>8}</a:t>
            </a:r>
            <a:endParaRPr lang="en-US" i="1" dirty="0" smtClean="0"/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i="1" dirty="0" smtClean="0"/>
              <a:t>3.   </a:t>
            </a:r>
            <a:r>
              <a:rPr lang="en-US" dirty="0" smtClean="0"/>
              <a:t>Set-builder notation </a:t>
            </a:r>
            <a:endParaRPr lang="en-US" dirty="0" smtClean="0"/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i="1" dirty="0"/>
              <a:t>	</a:t>
            </a:r>
            <a:r>
              <a:rPr lang="en-US" dirty="0" smtClean="0"/>
              <a:t>{x | x </a:t>
            </a:r>
            <a:r>
              <a:rPr lang="en-US" dirty="0"/>
              <a:t>is an even </a:t>
            </a:r>
            <a:r>
              <a:rPr lang="en-US" dirty="0" smtClean="0"/>
              <a:t> </a:t>
            </a:r>
            <a:r>
              <a:rPr lang="en-US" dirty="0"/>
              <a:t>number less than 10</a:t>
            </a:r>
            <a:r>
              <a:rPr lang="en-US" dirty="0" smtClean="0"/>
              <a:t>}</a:t>
            </a:r>
            <a:endParaRPr lang="en-US" dirty="0"/>
          </a:p>
          <a:p>
            <a:pPr marL="514350" lvl="0" indent="-514350" fontAlgn="base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</a:pPr>
            <a:endParaRPr lang="en-US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How to describe a Set?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lvl="0" indent="-514350" fontAlgn="base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kern="0" dirty="0">
                <a:solidFill>
                  <a:srgbClr val="000000"/>
                </a:solidFill>
              </a:rPr>
              <a:t>Word description </a:t>
            </a:r>
            <a:endParaRPr lang="en-US" i="1" kern="0" dirty="0">
              <a:solidFill>
                <a:srgbClr val="000000"/>
              </a:solidFill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9528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14000"/>
              </a:lnSpc>
              <a:spcBef>
                <a:spcPts val="0"/>
              </a:spcBef>
            </a:pPr>
            <a:r>
              <a:rPr lang="en-US" kern="0" dirty="0" smtClean="0">
                <a:solidFill>
                  <a:srgbClr val="000000"/>
                </a:solidFill>
              </a:rPr>
              <a:t>Make a word description of the set. </a:t>
            </a:r>
            <a:endParaRPr lang="en-US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How to describe a Set?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000000"/>
                </a:solidFill>
              </a:rPr>
              <a:t>2. Roster Method</a:t>
            </a:r>
            <a:endParaRPr lang="en-US" kern="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/>
              <p:cNvSpPr txBox="1"/>
              <p:nvPr/>
            </p:nvSpPr>
            <p:spPr>
              <a:xfrm>
                <a:off x="1005304" y="2201095"/>
                <a:ext cx="10653296" cy="389490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kern="0" dirty="0">
                    <a:solidFill>
                      <a:srgbClr val="000000"/>
                    </a:solidFill>
                  </a:rPr>
                  <a:t>R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epresented </a:t>
                </a:r>
                <a:r>
                  <a:rPr lang="en-US" kern="0" dirty="0">
                    <a:solidFill>
                      <a:srgbClr val="000000"/>
                    </a:solidFill>
                  </a:rPr>
                  <a:t>by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listing </a:t>
                </a:r>
                <a:r>
                  <a:rPr lang="en-US" kern="0" dirty="0">
                    <a:solidFill>
                      <a:srgbClr val="000000"/>
                    </a:solidFill>
                  </a:rPr>
                  <a:t>its elements between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braces {}</a:t>
                </a:r>
                <a:endParaRPr lang="en-US" kern="0" dirty="0" smtClean="0">
                  <a:solidFill>
                    <a:srgbClr val="000000"/>
                  </a:solidFill>
                </a:endParaRPr>
              </a:p>
              <a:p>
                <a:pPr fontAlgn="base"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kern="0" dirty="0" smtClean="0">
                    <a:solidFill>
                      <a:srgbClr val="000000"/>
                    </a:solidFill>
                  </a:rPr>
                  <a:t>Example : 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={ </m:t>
                    </m:r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kern="0" dirty="0" smtClean="0">
                  <a:solidFill>
                    <a:srgbClr val="000000"/>
                  </a:solidFill>
                </a:endParaRPr>
              </a:p>
              <a:p>
                <a:pPr fontAlgn="base"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kern="0" dirty="0" smtClean="0">
                    <a:solidFill>
                      <a:srgbClr val="000000"/>
                    </a:solidFill>
                  </a:rPr>
                  <a:t>Sometime use ellipses (...) rather than listing all elements.</a:t>
                </a:r>
                <a:endParaRPr lang="en-US" kern="0" dirty="0" smtClean="0">
                  <a:solidFill>
                    <a:srgbClr val="000000"/>
                  </a:solidFill>
                </a:endParaRPr>
              </a:p>
              <a:p>
                <a:pPr fontAlgn="base"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kern="0" dirty="0">
                    <a:solidFill>
                      <a:srgbClr val="000000"/>
                    </a:solidFill>
                  </a:rPr>
                  <a:t>The set of positive integers less than 100 can be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denoted by </a:t>
                </a:r>
                <a:r>
                  <a:rPr lang="en-US" i="1" kern="0" dirty="0" smtClean="0">
                    <a:solidFill>
                      <a:srgbClr val="000000"/>
                    </a:solidFill>
                  </a:rPr>
                  <a:t>{1,2,3</a:t>
                </a:r>
                <a:r>
                  <a:rPr lang="en-US" i="1" kern="0" dirty="0">
                    <a:solidFill>
                      <a:srgbClr val="000000"/>
                    </a:solidFill>
                  </a:rPr>
                  <a:t>,...,99</a:t>
                </a:r>
                <a:r>
                  <a:rPr lang="en-US" i="1" kern="0" dirty="0" smtClean="0">
                    <a:solidFill>
                      <a:srgbClr val="000000"/>
                    </a:solidFill>
                  </a:rPr>
                  <a:t>}.</a:t>
                </a:r>
                <a:endParaRPr lang="en-US" i="1" kern="0" dirty="0" smtClean="0">
                  <a:solidFill>
                    <a:srgbClr val="000000"/>
                  </a:solidFill>
                </a:endParaRPr>
              </a:p>
              <a:p>
                <a:pPr fontAlgn="base"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i="1" kern="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04" y="2201095"/>
                <a:ext cx="10653296" cy="3894904"/>
              </a:xfrm>
              <a:prstGeom prst="rect">
                <a:avLst/>
              </a:prstGeom>
              <a:blipFill rotWithShape="1">
                <a:blip r:embed="rId1"/>
                <a:stretch>
                  <a:fillRect l="-1" t="-5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How to describe a Set?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528638" y="1337066"/>
            <a:ext cx="11472862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3.  Set-builder </a:t>
            </a:r>
            <a:r>
              <a:rPr lang="en-US" dirty="0"/>
              <a:t>notation</a:t>
            </a:r>
            <a:endParaRPr lang="en-US" i="1" kern="0" dirty="0">
              <a:solidFill>
                <a:srgbClr val="000000"/>
              </a:solidFill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528638" y="2001062"/>
            <a:ext cx="11472862" cy="42997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kern="0" dirty="0" smtClean="0">
              <a:solidFill>
                <a:srgbClr val="000000"/>
              </a:solidFill>
            </a:endParaRPr>
          </a:p>
          <a:p>
            <a:pPr fontAlgn="base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kern="0" dirty="0">
                <a:solidFill>
                  <a:srgbClr val="000000"/>
                </a:solidFill>
              </a:rPr>
              <a:t>the </a:t>
            </a:r>
            <a:r>
              <a:rPr lang="en-US" sz="2400" kern="0" dirty="0" smtClean="0">
                <a:solidFill>
                  <a:srgbClr val="000000"/>
                </a:solidFill>
              </a:rPr>
              <a:t>set O of </a:t>
            </a:r>
            <a:r>
              <a:rPr lang="en-US" sz="2400" kern="0" dirty="0">
                <a:solidFill>
                  <a:srgbClr val="000000"/>
                </a:solidFill>
              </a:rPr>
              <a:t>all odd positive integers less than 10 can be written as</a:t>
            </a:r>
            <a:endParaRPr lang="en-US" sz="2400" kern="0" dirty="0">
              <a:solidFill>
                <a:srgbClr val="000000"/>
              </a:solidFill>
            </a:endParaRPr>
          </a:p>
          <a:p>
            <a:pPr marL="0" indent="0" fontAlgn="base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kern="0" dirty="0" smtClean="0">
                <a:solidFill>
                  <a:srgbClr val="000000"/>
                </a:solidFill>
              </a:rPr>
              <a:t>	</a:t>
            </a:r>
            <a:r>
              <a:rPr lang="en-US" sz="2400" i="1" kern="0" dirty="0" smtClean="0">
                <a:solidFill>
                  <a:srgbClr val="000000"/>
                </a:solidFill>
              </a:rPr>
              <a:t>O = { x | x is </a:t>
            </a:r>
            <a:r>
              <a:rPr lang="en-US" sz="2400" i="1" kern="0" dirty="0">
                <a:solidFill>
                  <a:srgbClr val="000000"/>
                </a:solidFill>
              </a:rPr>
              <a:t>an odd positive integer less than </a:t>
            </a:r>
            <a:r>
              <a:rPr lang="en-US" sz="2400" i="1" kern="0" dirty="0" smtClean="0">
                <a:solidFill>
                  <a:srgbClr val="000000"/>
                </a:solidFill>
              </a:rPr>
              <a:t>10 }</a:t>
            </a:r>
            <a:endParaRPr lang="en-US" sz="2400" i="1" kern="0" dirty="0" smtClean="0">
              <a:solidFill>
                <a:srgbClr val="000000"/>
              </a:solidFill>
            </a:endParaRPr>
          </a:p>
          <a:p>
            <a:pPr marL="0" indent="0" fontAlgn="base">
              <a:lnSpc>
                <a:spcPct val="100000"/>
              </a:lnSpc>
              <a:spcBef>
                <a:spcPts val="0"/>
              </a:spcBef>
              <a:buNone/>
            </a:pPr>
            <a:endParaRPr lang="en-US" sz="2000" i="1" kern="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 smtClean="0"/>
              <a:t>Example</a:t>
            </a:r>
            <a:r>
              <a:rPr lang="en-US" sz="2400" b="1" dirty="0"/>
              <a:t>:</a:t>
            </a:r>
            <a:r>
              <a:rPr lang="en-US" sz="2400" dirty="0"/>
              <a:t> B = {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| x </a:t>
            </a:r>
            <a:r>
              <a:rPr lang="en-US" sz="2400" dirty="0"/>
              <a:t>is an even integer,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&gt; 0</a:t>
            </a:r>
            <a:r>
              <a:rPr lang="en-US" sz="2400" dirty="0"/>
              <a:t>}</a:t>
            </a:r>
            <a:endParaRPr lang="en-US" sz="2400" dirty="0"/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Read as- “B is the set of x </a:t>
            </a:r>
            <a:r>
              <a:rPr lang="en-US" b="1" dirty="0"/>
              <a:t>such that </a:t>
            </a:r>
            <a:r>
              <a:rPr lang="en-US" dirty="0"/>
              <a:t>x is an even integer </a:t>
            </a:r>
            <a:r>
              <a:rPr lang="en-US" b="1" dirty="0"/>
              <a:t>and</a:t>
            </a:r>
            <a:r>
              <a:rPr lang="en-US" dirty="0"/>
              <a:t> x is greater than </a:t>
            </a:r>
            <a:r>
              <a:rPr lang="en-US" dirty="0" smtClean="0"/>
              <a:t>0”</a:t>
            </a:r>
            <a:endParaRPr lang="en-US" dirty="0"/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|</a:t>
            </a:r>
            <a:r>
              <a:rPr lang="en-US" dirty="0" smtClean="0"/>
              <a:t> </a:t>
            </a:r>
            <a:r>
              <a:rPr lang="en-US" dirty="0"/>
              <a:t>is read as “such that” </a:t>
            </a:r>
            <a:r>
              <a:rPr lang="en-US" dirty="0" smtClean="0"/>
              <a:t>and comma as “and”.</a:t>
            </a:r>
            <a:endParaRPr lang="en-US" dirty="0"/>
          </a:p>
          <a:p>
            <a:pPr marL="0" indent="0" fontAlgn="base">
              <a:lnSpc>
                <a:spcPct val="114000"/>
              </a:lnSpc>
              <a:spcBef>
                <a:spcPts val="0"/>
              </a:spcBef>
              <a:buNone/>
            </a:pPr>
            <a:endParaRPr lang="en-US" i="1" kern="0" dirty="0" smtClean="0">
              <a:solidFill>
                <a:srgbClr val="000000"/>
              </a:solidFill>
            </a:endParaRPr>
          </a:p>
          <a:p>
            <a:pPr fontAlgn="base">
              <a:lnSpc>
                <a:spcPct val="114000"/>
              </a:lnSpc>
              <a:spcBef>
                <a:spcPts val="0"/>
              </a:spcBef>
            </a:pPr>
            <a:endParaRPr lang="en-US" kern="0" dirty="0">
              <a:solidFill>
                <a:srgbClr val="000000"/>
              </a:solidFill>
            </a:endParaRPr>
          </a:p>
          <a:p>
            <a:pPr fontAlgn="base">
              <a:lnSpc>
                <a:spcPct val="114000"/>
              </a:lnSpc>
              <a:spcBef>
                <a:spcPts val="0"/>
              </a:spcBef>
            </a:pPr>
            <a:endParaRPr lang="en-US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5110"/>
            <a:ext cx="10515600" cy="1035050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</a:rPr>
              <a:t>Specifying Sets (cont.)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Demi ITC" panose="020B08050305040208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00160"/>
                <a:ext cx="10820400" cy="5229228"/>
              </a:xfrm>
            </p:spPr>
            <p:txBody>
              <a:bodyPr/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 smtClean="0"/>
                  <a:t>	A = {a, e, </a:t>
                </a:r>
                <a:r>
                  <a:rPr lang="en-US" dirty="0" err="1" smtClean="0"/>
                  <a:t>i</a:t>
                </a:r>
                <a:r>
                  <a:rPr lang="en-US" dirty="0" smtClean="0"/>
                  <a:t>, o, u}</a:t>
                </a:r>
                <a:endParaRPr lang="en-US" dirty="0" smtClean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dirty="0" smtClean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sz="2000" dirty="0"/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 smtClean="0"/>
                  <a:t>B = {</a:t>
                </a:r>
                <a:r>
                  <a:rPr lang="en-US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 | x </a:t>
                </a:r>
                <a:r>
                  <a:rPr lang="en-US" dirty="0" smtClean="0"/>
                  <a:t>is an even integer, </a:t>
                </a:r>
                <a:r>
                  <a:rPr lang="en-US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 &gt; 0</a:t>
                </a:r>
                <a:r>
                  <a:rPr lang="en-US" dirty="0" smtClean="0"/>
                  <a:t>}</a:t>
                </a:r>
                <a:endParaRPr lang="en-US" dirty="0" smtClean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sz="100" dirty="0" smtClean="0"/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dirty="0" smtClean="0"/>
                  <a:t>	E = {</a:t>
                </a:r>
                <a:r>
                  <a:rPr lang="en-US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 |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0</m:t>
                    </m:r>
                  </m:oMath>
                </a14:m>
                <a:r>
                  <a:rPr lang="en-US" dirty="0" smtClean="0"/>
                  <a:t>}</a:t>
                </a:r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00160"/>
                <a:ext cx="10820400" cy="5229228"/>
              </a:xfrm>
              <a:blipFill rotWithShape="1">
                <a:blip r:embed="rId1"/>
                <a:stretch>
                  <a:fillRect t="-6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228725" y="2078844"/>
            <a:ext cx="10301288" cy="6929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dirty="0" smtClean="0"/>
              <a:t>A = {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| x is a letter in English, x is a vowel</a:t>
            </a:r>
            <a:r>
              <a:rPr lang="en-US" sz="2800" dirty="0" smtClean="0"/>
              <a:t>}</a:t>
            </a:r>
            <a:endParaRPr lang="en-US" sz="28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1228726" y="3917169"/>
            <a:ext cx="6800850" cy="6929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smtClean="0"/>
              <a:t>B = {2, 4, 6, …….}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1228725" y="5614987"/>
            <a:ext cx="5143500" cy="7596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E</a:t>
            </a:r>
            <a:r>
              <a:rPr lang="en-US" sz="2800" dirty="0" smtClean="0"/>
              <a:t> = {1, 2}</a:t>
            </a:r>
            <a:endParaRPr lang="en-US" sz="2800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6665-778D-4C0D-A9F6-9DA9A96D4469}" type="slidenum">
              <a:rPr lang="en-US" smtClean="0"/>
            </a:fld>
            <a:endParaRPr lang="en-US"/>
          </a:p>
        </p:txBody>
      </p:sp>
      <p:sp>
        <p:nvSpPr>
          <p:cNvPr id="8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How to describe a Set?</a:t>
            </a:r>
            <a:endParaRPr lang="en-US" sz="4800" b="1" kern="0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5110"/>
            <a:ext cx="10515600" cy="1035050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</a:rPr>
              <a:t>Specifying Sets (cont.)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ras Demi ITC" panose="020B08050305040208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0160"/>
            <a:ext cx="10820400" cy="5229228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= {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|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 Z, x is even, x &lt;15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}</a:t>
            </a:r>
            <a:endParaRPr lang="en-US" dirty="0" smtClean="0"/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 smtClean="0"/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/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B = {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|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 Z, x + 4 = 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}</a:t>
            </a:r>
            <a:endParaRPr lang="en-US" dirty="0"/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sz="4000" dirty="0" smtClean="0"/>
          </a:p>
          <a:p>
            <a:pPr marL="0" indent="0">
              <a:buNone/>
            </a:pPr>
            <a:endParaRPr lang="en-US" sz="1600" dirty="0"/>
          </a:p>
          <a:p>
            <a:r>
              <a:rPr lang="en-US" dirty="0" smtClean="0"/>
              <a:t>C </a:t>
            </a:r>
            <a:r>
              <a:rPr lang="en-US" dirty="0"/>
              <a:t>= {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|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 Z,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x</a:t>
            </a:r>
            <a:r>
              <a:rPr lang="en-US" baseline="30000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2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+ 2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= 6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}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28725" y="2078844"/>
            <a:ext cx="10301288" cy="678644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dirty="0" smtClean="0"/>
              <a:t>A = {… -8, -6, -4, -2, 0, 2, 4, …., 14}</a:t>
            </a:r>
            <a:endParaRPr lang="en-US" sz="28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1228726" y="3988601"/>
            <a:ext cx="6800850" cy="583399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smtClean="0"/>
              <a:t>B = {-1}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1228725" y="5460207"/>
            <a:ext cx="5143500" cy="597693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E</a:t>
            </a:r>
            <a:r>
              <a:rPr lang="en-US" sz="2800" dirty="0" smtClean="0"/>
              <a:t> = {-2, +2}</a:t>
            </a:r>
            <a:endParaRPr lang="en-US" sz="2800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6665-778D-4C0D-A9F6-9DA9A96D4469}" type="slidenum">
              <a:rPr lang="en-US" smtClean="0"/>
            </a:fld>
            <a:endParaRPr lang="en-US"/>
          </a:p>
        </p:txBody>
      </p:sp>
      <p:sp>
        <p:nvSpPr>
          <p:cNvPr id="8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How to describe a Set?</a:t>
            </a:r>
            <a:endParaRPr lang="en-US" sz="4800" b="1" kern="0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5963"/>
            <a:ext cx="10906124" cy="1314450"/>
          </a:xfr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 fontAlgn="base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333399"/>
              </a:buClr>
              <a:buNone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</a:rPr>
              <a:t>Order does not matter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</a:endParaRPr>
          </a:p>
          <a:p>
            <a:pPr lvl="1" fontAlgn="base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tx1"/>
              </a:buClr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</a:rPr>
              <a:t>{1, 2, 3, 4, 5} is equivalent to {3, 5, 2, 4, 1}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6665-778D-4C0D-A9F6-9DA9A96D4469}" type="slidenum">
              <a:rPr lang="en-US" smtClean="0"/>
            </a:fld>
            <a:endParaRPr lang="en-US"/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</a:rPr>
              <a:t>Set - properties</a:t>
            </a:r>
            <a:endParaRPr lang="en-US" sz="4800" b="1" kern="0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838199" y="3657600"/>
            <a:ext cx="10906125" cy="1757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600"/>
              </a:spcAft>
              <a:buClr>
                <a:srgbClr val="333399"/>
              </a:buClr>
              <a:buNone/>
            </a:pPr>
            <a:r>
              <a:rPr lang="en-US" sz="2400" b="1" kern="0" dirty="0">
                <a:solidFill>
                  <a:srgbClr val="000000"/>
                </a:solidFill>
                <a:latin typeface="Verdana" panose="020B0604030504040204"/>
              </a:rPr>
              <a:t>Frequency does not matter </a:t>
            </a:r>
            <a:endParaRPr lang="en-US" sz="2400" b="1" kern="0" dirty="0" smtClean="0">
              <a:solidFill>
                <a:srgbClr val="000000"/>
              </a:solidFill>
              <a:latin typeface="Verdana" panose="020B0604030504040204"/>
            </a:endParaRPr>
          </a:p>
          <a:p>
            <a:pPr marL="0" indent="0">
              <a:spcBef>
                <a:spcPts val="1200"/>
              </a:spcBef>
              <a:spcAft>
                <a:spcPts val="600"/>
              </a:spcAft>
              <a:buClr>
                <a:srgbClr val="333399"/>
              </a:buClr>
              <a:buNone/>
            </a:pPr>
            <a:r>
              <a:rPr lang="en-US" sz="2400" b="1" kern="0" dirty="0">
                <a:solidFill>
                  <a:srgbClr val="000000"/>
                </a:solidFill>
                <a:latin typeface="Verdana" panose="020B0604030504040204"/>
              </a:rPr>
              <a:t>	</a:t>
            </a:r>
            <a:r>
              <a:rPr lang="en-US" sz="2400" b="1" kern="0" dirty="0" smtClean="0">
                <a:solidFill>
                  <a:srgbClr val="000000"/>
                </a:solidFill>
                <a:latin typeface="Verdana" panose="020B0604030504040204"/>
              </a:rPr>
              <a:t>- </a:t>
            </a:r>
            <a:r>
              <a:rPr lang="en-US" sz="2400" kern="0" dirty="0" smtClean="0">
                <a:solidFill>
                  <a:srgbClr val="000000"/>
                </a:solidFill>
                <a:latin typeface="Verdana" panose="020B0604030504040204"/>
              </a:rPr>
              <a:t>Consider the list of students in this class</a:t>
            </a:r>
            <a:endParaRPr lang="en-US" sz="2400" kern="0" dirty="0" smtClean="0">
              <a:solidFill>
                <a:srgbClr val="000000"/>
              </a:solidFill>
              <a:latin typeface="Verdana" panose="020B0604030504040204"/>
            </a:endParaRPr>
          </a:p>
          <a:p>
            <a:pPr lvl="2">
              <a:spcBef>
                <a:spcPts val="12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kern="0" dirty="0" smtClean="0">
                <a:solidFill>
                  <a:srgbClr val="000000"/>
                </a:solidFill>
                <a:latin typeface="Verdana" panose="020B0604030504040204"/>
              </a:rPr>
              <a:t>It does not make sense to list somebody twice</a:t>
            </a:r>
            <a:endParaRPr lang="en-US" kern="0" dirty="0" smtClean="0">
              <a:solidFill>
                <a:srgbClr val="000000"/>
              </a:solidFill>
              <a:latin typeface="Verdana" panose="020B0604030504040204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kern="0" dirty="0" smtClean="0"/>
          </a:p>
          <a:p>
            <a:endParaRPr lang="en-US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Terminology : The </a:t>
            </a:r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universal set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9528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b="1" i="1" dirty="0">
                <a:latin typeface="Times New Roman" panose="02020603050405020304" charset="0"/>
              </a:rPr>
              <a:t>U</a:t>
            </a:r>
            <a:r>
              <a:rPr lang="en-US" dirty="0"/>
              <a:t> is the universal set – the set of all of elements (or the “universe”) from which given any set is drawn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00100" y="3557587"/>
            <a:ext cx="10477500" cy="10618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1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For the set {-2, 0.4, 2}, </a:t>
            </a:r>
            <a:r>
              <a:rPr lang="en-US" sz="2400" b="1" i="1" dirty="0">
                <a:latin typeface="Times New Roman" panose="02020603050405020304" charset="0"/>
              </a:rPr>
              <a:t>U</a:t>
            </a:r>
            <a:r>
              <a:rPr lang="en-US" sz="2400" dirty="0"/>
              <a:t> would be the </a:t>
            </a:r>
            <a:r>
              <a:rPr lang="en-US" sz="2400" dirty="0" smtClean="0"/>
              <a:t>Real numbers</a:t>
            </a:r>
            <a:endParaRPr lang="en-US" sz="2400" dirty="0"/>
          </a:p>
          <a:p>
            <a:pPr marL="285750" lvl="1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For the set of the vowels of the alphabet, </a:t>
            </a:r>
            <a:r>
              <a:rPr lang="en-US" sz="2400" b="1" i="1" dirty="0">
                <a:latin typeface="Times New Roman" panose="02020603050405020304" charset="0"/>
              </a:rPr>
              <a:t>U</a:t>
            </a:r>
            <a:r>
              <a:rPr lang="en-US" sz="2400" dirty="0"/>
              <a:t> would be all the letters of the </a:t>
            </a:r>
            <a:r>
              <a:rPr lang="en-US" sz="2400" dirty="0" smtClean="0"/>
              <a:t>alphabet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: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The </a:t>
            </a:r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Empty Set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8874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 set has zero elements, it is called the empty (or null) </a:t>
            </a:r>
            <a:r>
              <a:rPr lang="en-US" dirty="0" smtClean="0"/>
              <a:t>set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05304" y="3237219"/>
            <a:ext cx="6624221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Written using the symbol </a:t>
            </a:r>
            <a:r>
              <a:rPr lang="en-US" sz="2400" dirty="0">
                <a:sym typeface="Symbol" panose="05050102010706020507" pitchFamily="18" charset="2"/>
              </a:rPr>
              <a:t></a:t>
            </a:r>
            <a:endParaRPr lang="en-US" sz="2400" dirty="0">
              <a:sym typeface="Symbol" panose="05050102010706020507" pitchFamily="18" charset="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ym typeface="Symbol" panose="05050102010706020507" pitchFamily="18" charset="2"/>
              </a:rPr>
              <a:t>Thus,  = { }             </a:t>
            </a:r>
            <a:r>
              <a:rPr lang="en-US" sz="2400" dirty="0">
                <a:sym typeface="Wingdings" panose="05000000000000000000" pitchFamily="2" charset="2"/>
              </a:rPr>
              <a:t> VERY IMPORTANT</a:t>
            </a:r>
            <a:endParaRPr lang="en-US" sz="2400" dirty="0">
              <a:sym typeface="Symbol" panose="05050102010706020507" pitchFamily="18" charset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5350" y="4261687"/>
            <a:ext cx="8577275" cy="7571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Symbol" panose="05050102010706020507" pitchFamily="18" charset="2"/>
              </a:rPr>
              <a:t>It can be a element of other sets</a:t>
            </a:r>
            <a:endParaRPr lang="en-US" sz="24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ym typeface="Symbol" panose="05050102010706020507" pitchFamily="18" charset="2"/>
              </a:rPr>
              <a:t>{ , 1, 2, 3, x } is a valid </a:t>
            </a:r>
            <a:r>
              <a:rPr lang="en-US" sz="2400" dirty="0" smtClean="0">
                <a:sym typeface="Symbol" panose="05050102010706020507" pitchFamily="18" charset="2"/>
              </a:rPr>
              <a:t>set</a:t>
            </a:r>
            <a:endParaRPr lang="en-US" sz="2400" dirty="0">
              <a:sym typeface="Symbol" panose="05050102010706020507" pitchFamily="18" charset="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5350" y="5212288"/>
            <a:ext cx="10663250" cy="10895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Symbol" panose="05050102010706020507" pitchFamily="18" charset="2"/>
              </a:rPr>
              <a:t> </a:t>
            </a:r>
            <a:r>
              <a:rPr lang="en-US" sz="2400" dirty="0">
                <a:sym typeface="Symbol" panose="05050102010706020507" pitchFamily="18" charset="2"/>
              </a:rPr>
              <a:t>≠ {  } </a:t>
            </a:r>
            <a:endParaRPr lang="en-US" sz="2400" dirty="0" smtClean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sym typeface="Symbol" panose="05050102010706020507" pitchFamily="18" charset="2"/>
              </a:rPr>
              <a:t>      The first is a set of zero elements</a:t>
            </a:r>
            <a:endParaRPr lang="en-US" sz="2400" dirty="0" smtClean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ym typeface="Symbol" panose="05050102010706020507" pitchFamily="18" charset="2"/>
              </a:rPr>
              <a:t>The </a:t>
            </a:r>
            <a:r>
              <a:rPr lang="en-US" sz="2400" dirty="0">
                <a:sym typeface="Symbol" panose="05050102010706020507" pitchFamily="18" charset="2"/>
              </a:rPr>
              <a:t>second is a set of 1 </a:t>
            </a:r>
            <a:r>
              <a:rPr lang="en-US" sz="2400" dirty="0" smtClean="0">
                <a:sym typeface="Symbol" panose="05050102010706020507" pitchFamily="18" charset="2"/>
              </a:rPr>
              <a:t>element </a:t>
            </a:r>
            <a:r>
              <a:rPr lang="en-US" sz="2400" i="1" dirty="0">
                <a:sym typeface="Symbol" panose="05050102010706020507" pitchFamily="18" charset="2"/>
              </a:rPr>
              <a:t>[A set with one element is called </a:t>
            </a:r>
            <a:r>
              <a:rPr lang="en-US" sz="2400" b="1" i="1" dirty="0" smtClean="0">
                <a:sym typeface="Symbol" panose="05050102010706020507" pitchFamily="18" charset="2"/>
              </a:rPr>
              <a:t>a singleton</a:t>
            </a:r>
            <a:r>
              <a:rPr lang="en-US" sz="2400" i="1" dirty="0" smtClean="0">
                <a:sym typeface="Symbol" panose="05050102010706020507" pitchFamily="18" charset="2"/>
              </a:rPr>
              <a:t> </a:t>
            </a:r>
            <a:r>
              <a:rPr lang="en-US" sz="2400" i="1" dirty="0">
                <a:sym typeface="Symbol" panose="05050102010706020507" pitchFamily="18" charset="2"/>
              </a:rPr>
              <a:t>set</a:t>
            </a:r>
            <a:r>
              <a:rPr lang="en-US" sz="2400" i="1" dirty="0" smtClean="0">
                <a:sym typeface="Symbol" panose="05050102010706020507" pitchFamily="18" charset="2"/>
              </a:rPr>
              <a:t>]</a:t>
            </a:r>
            <a:endParaRPr lang="en-US" sz="24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6" y="1585913"/>
            <a:ext cx="6575432" cy="46148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Represents sets graphically</a:t>
            </a:r>
            <a:endParaRPr lang="en-US" sz="2800" dirty="0"/>
          </a:p>
          <a:p>
            <a:pPr lvl="1" eaLnBrk="1" hangingPunct="1"/>
            <a:r>
              <a:rPr lang="en-US" dirty="0"/>
              <a:t>The box represents the universal set</a:t>
            </a:r>
            <a:endParaRPr lang="en-US" dirty="0"/>
          </a:p>
          <a:p>
            <a:pPr lvl="1" eaLnBrk="1" hangingPunct="1"/>
            <a:r>
              <a:rPr lang="en-US" dirty="0"/>
              <a:t>Circles represent the set(s)</a:t>
            </a:r>
            <a:endParaRPr lang="en-US" dirty="0"/>
          </a:p>
          <a:p>
            <a:pPr eaLnBrk="1" hangingPunct="1"/>
            <a:r>
              <a:rPr lang="en-US" sz="2800" dirty="0"/>
              <a:t>Consider set S, which is </a:t>
            </a:r>
            <a:r>
              <a:rPr lang="en-US" sz="2800" dirty="0" smtClean="0"/>
              <a:t>the </a:t>
            </a:r>
            <a:r>
              <a:rPr lang="en-US" sz="2800" dirty="0"/>
              <a:t>set </a:t>
            </a:r>
            <a:r>
              <a:rPr lang="en-US" sz="2800" dirty="0" smtClean="0"/>
              <a:t>of </a:t>
            </a:r>
            <a:r>
              <a:rPr lang="en-US" sz="2800" dirty="0"/>
              <a:t>all </a:t>
            </a:r>
            <a:r>
              <a:rPr lang="en-US" sz="2800" dirty="0" smtClean="0"/>
              <a:t>vowels </a:t>
            </a:r>
            <a:r>
              <a:rPr lang="en-US" sz="2800" dirty="0"/>
              <a:t>in </a:t>
            </a:r>
            <a:r>
              <a:rPr lang="en-US" sz="2800" dirty="0" smtClean="0"/>
              <a:t>the alphabet</a:t>
            </a:r>
            <a:endParaRPr lang="en-US" sz="2800" dirty="0"/>
          </a:p>
          <a:p>
            <a:pPr eaLnBrk="1" hangingPunct="1"/>
            <a:r>
              <a:rPr lang="en-US" sz="2800" dirty="0" smtClean="0"/>
              <a:t>The </a:t>
            </a:r>
            <a:r>
              <a:rPr lang="en-US" sz="2800" dirty="0"/>
              <a:t>individual elements </a:t>
            </a:r>
            <a:r>
              <a:rPr lang="en-US" sz="2800" dirty="0" smtClean="0"/>
              <a:t>are </a:t>
            </a:r>
            <a:r>
              <a:rPr lang="en-US" sz="2800" dirty="0"/>
              <a:t>usually not written </a:t>
            </a:r>
            <a:r>
              <a:rPr lang="en-US" sz="2800" dirty="0" smtClean="0"/>
              <a:t>in </a:t>
            </a:r>
            <a:r>
              <a:rPr lang="en-US" sz="2800" dirty="0"/>
              <a:t>a Venn diagram</a:t>
            </a:r>
            <a:endParaRPr lang="en-US" sz="2800" dirty="0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0118725" y="3389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Osaka" pitchFamily="-65" charset="-128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7893057" y="3276601"/>
            <a:ext cx="3057525" cy="2805113"/>
            <a:chOff x="3310" y="2064"/>
            <a:chExt cx="1926" cy="1767"/>
          </a:xfrm>
        </p:grpSpPr>
        <p:sp>
          <p:nvSpPr>
            <p:cNvPr id="20491" name="Text Box 6"/>
            <p:cNvSpPr txBox="1">
              <a:spLocks noChangeArrowheads="1"/>
            </p:cNvSpPr>
            <p:nvPr/>
          </p:nvSpPr>
          <p:spPr bwMode="auto">
            <a:xfrm>
              <a:off x="4272" y="2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a</a:t>
              </a:r>
              <a:endParaRPr lang="en-US"/>
            </a:p>
          </p:txBody>
        </p:sp>
        <p:sp>
          <p:nvSpPr>
            <p:cNvPr id="20492" name="Text Box 7"/>
            <p:cNvSpPr txBox="1">
              <a:spLocks noChangeArrowheads="1"/>
            </p:cNvSpPr>
            <p:nvPr/>
          </p:nvSpPr>
          <p:spPr bwMode="auto">
            <a:xfrm>
              <a:off x="4656" y="28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e</a:t>
              </a:r>
              <a:endParaRPr lang="en-US"/>
            </a:p>
          </p:txBody>
        </p:sp>
        <p:sp>
          <p:nvSpPr>
            <p:cNvPr id="20493" name="Text Box 8"/>
            <p:cNvSpPr txBox="1">
              <a:spLocks noChangeArrowheads="1"/>
            </p:cNvSpPr>
            <p:nvPr/>
          </p:nvSpPr>
          <p:spPr bwMode="auto">
            <a:xfrm>
              <a:off x="5088" y="2832"/>
              <a:ext cx="1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i</a:t>
              </a:r>
              <a:endParaRPr lang="en-US"/>
            </a:p>
          </p:txBody>
        </p:sp>
        <p:sp>
          <p:nvSpPr>
            <p:cNvPr id="20494" name="Text Box 9"/>
            <p:cNvSpPr txBox="1">
              <a:spLocks noChangeArrowheads="1"/>
            </p:cNvSpPr>
            <p:nvPr/>
          </p:nvSpPr>
          <p:spPr bwMode="auto">
            <a:xfrm>
              <a:off x="4560" y="32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o</a:t>
              </a:r>
              <a:endParaRPr lang="en-US"/>
            </a:p>
          </p:txBody>
        </p:sp>
        <p:sp>
          <p:nvSpPr>
            <p:cNvPr id="20495" name="Text Box 10"/>
            <p:cNvSpPr txBox="1">
              <a:spLocks noChangeArrowheads="1"/>
            </p:cNvSpPr>
            <p:nvPr/>
          </p:nvSpPr>
          <p:spPr bwMode="auto">
            <a:xfrm>
              <a:off x="4944" y="32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u</a:t>
              </a:r>
              <a:endParaRPr lang="en-US"/>
            </a:p>
          </p:txBody>
        </p:sp>
        <p:sp>
          <p:nvSpPr>
            <p:cNvPr id="20496" name="Text Box 11"/>
            <p:cNvSpPr txBox="1">
              <a:spLocks noChangeArrowheads="1"/>
            </p:cNvSpPr>
            <p:nvPr/>
          </p:nvSpPr>
          <p:spPr bwMode="auto">
            <a:xfrm>
              <a:off x="3310" y="20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b</a:t>
              </a:r>
              <a:endParaRPr lang="en-US"/>
            </a:p>
          </p:txBody>
        </p:sp>
        <p:sp>
          <p:nvSpPr>
            <p:cNvPr id="20497" name="Text Box 12"/>
            <p:cNvSpPr txBox="1">
              <a:spLocks noChangeArrowheads="1"/>
            </p:cNvSpPr>
            <p:nvPr/>
          </p:nvSpPr>
          <p:spPr bwMode="auto">
            <a:xfrm>
              <a:off x="3600" y="206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c</a:t>
              </a:r>
              <a:endParaRPr lang="en-US"/>
            </a:p>
          </p:txBody>
        </p:sp>
        <p:sp>
          <p:nvSpPr>
            <p:cNvPr id="20498" name="Text Box 13"/>
            <p:cNvSpPr txBox="1">
              <a:spLocks noChangeArrowheads="1"/>
            </p:cNvSpPr>
            <p:nvPr/>
          </p:nvSpPr>
          <p:spPr bwMode="auto">
            <a:xfrm>
              <a:off x="3838" y="20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d</a:t>
              </a:r>
              <a:endParaRPr lang="en-US"/>
            </a:p>
          </p:txBody>
        </p:sp>
        <p:sp>
          <p:nvSpPr>
            <p:cNvPr id="20499" name="Text Box 14"/>
            <p:cNvSpPr txBox="1">
              <a:spLocks noChangeArrowheads="1"/>
            </p:cNvSpPr>
            <p:nvPr/>
          </p:nvSpPr>
          <p:spPr bwMode="auto">
            <a:xfrm>
              <a:off x="4050" y="2087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f</a:t>
              </a:r>
              <a:endParaRPr lang="en-US"/>
            </a:p>
          </p:txBody>
        </p:sp>
        <p:sp>
          <p:nvSpPr>
            <p:cNvPr id="20500" name="Text Box 15"/>
            <p:cNvSpPr txBox="1">
              <a:spLocks noChangeArrowheads="1"/>
            </p:cNvSpPr>
            <p:nvPr/>
          </p:nvSpPr>
          <p:spPr bwMode="auto">
            <a:xfrm>
              <a:off x="3310" y="232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g</a:t>
              </a:r>
              <a:endParaRPr lang="en-US"/>
            </a:p>
          </p:txBody>
        </p:sp>
        <p:sp>
          <p:nvSpPr>
            <p:cNvPr id="20501" name="Text Box 16"/>
            <p:cNvSpPr txBox="1">
              <a:spLocks noChangeArrowheads="1"/>
            </p:cNvSpPr>
            <p:nvPr/>
          </p:nvSpPr>
          <p:spPr bwMode="auto">
            <a:xfrm>
              <a:off x="3600" y="235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h</a:t>
              </a:r>
              <a:endParaRPr lang="en-US"/>
            </a:p>
          </p:txBody>
        </p:sp>
        <p:sp>
          <p:nvSpPr>
            <p:cNvPr id="20502" name="Text Box 17"/>
            <p:cNvSpPr txBox="1">
              <a:spLocks noChangeArrowheads="1"/>
            </p:cNvSpPr>
            <p:nvPr/>
          </p:nvSpPr>
          <p:spPr bwMode="auto">
            <a:xfrm>
              <a:off x="3888" y="2352"/>
              <a:ext cx="1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j</a:t>
              </a:r>
              <a:endParaRPr lang="en-US"/>
            </a:p>
          </p:txBody>
        </p:sp>
        <p:sp>
          <p:nvSpPr>
            <p:cNvPr id="20503" name="Text Box 18"/>
            <p:cNvSpPr txBox="1">
              <a:spLocks noChangeArrowheads="1"/>
            </p:cNvSpPr>
            <p:nvPr/>
          </p:nvSpPr>
          <p:spPr bwMode="auto">
            <a:xfrm>
              <a:off x="3312" y="259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k</a:t>
              </a:r>
              <a:endParaRPr lang="en-US"/>
            </a:p>
          </p:txBody>
        </p:sp>
        <p:sp>
          <p:nvSpPr>
            <p:cNvPr id="20504" name="Text Box 19"/>
            <p:cNvSpPr txBox="1">
              <a:spLocks noChangeArrowheads="1"/>
            </p:cNvSpPr>
            <p:nvPr/>
          </p:nvSpPr>
          <p:spPr bwMode="auto">
            <a:xfrm>
              <a:off x="3600" y="2592"/>
              <a:ext cx="1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l</a:t>
              </a:r>
              <a:endParaRPr lang="en-US"/>
            </a:p>
          </p:txBody>
        </p:sp>
        <p:sp>
          <p:nvSpPr>
            <p:cNvPr id="20505" name="Text Box 20"/>
            <p:cNvSpPr txBox="1">
              <a:spLocks noChangeArrowheads="1"/>
            </p:cNvSpPr>
            <p:nvPr/>
          </p:nvSpPr>
          <p:spPr bwMode="auto">
            <a:xfrm>
              <a:off x="3818" y="2567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m</a:t>
              </a:r>
              <a:endParaRPr lang="en-US"/>
            </a:p>
          </p:txBody>
        </p:sp>
        <p:sp>
          <p:nvSpPr>
            <p:cNvPr id="20506" name="Text Box 21"/>
            <p:cNvSpPr txBox="1">
              <a:spLocks noChangeArrowheads="1"/>
            </p:cNvSpPr>
            <p:nvPr/>
          </p:nvSpPr>
          <p:spPr bwMode="auto">
            <a:xfrm>
              <a:off x="3312" y="28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n</a:t>
              </a:r>
              <a:endParaRPr lang="en-US"/>
            </a:p>
          </p:txBody>
        </p:sp>
        <p:sp>
          <p:nvSpPr>
            <p:cNvPr id="20507" name="Text Box 22"/>
            <p:cNvSpPr txBox="1">
              <a:spLocks noChangeArrowheads="1"/>
            </p:cNvSpPr>
            <p:nvPr/>
          </p:nvSpPr>
          <p:spPr bwMode="auto">
            <a:xfrm>
              <a:off x="3552" y="28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p</a:t>
              </a:r>
              <a:endParaRPr lang="en-US"/>
            </a:p>
          </p:txBody>
        </p:sp>
        <p:sp>
          <p:nvSpPr>
            <p:cNvPr id="20508" name="Text Box 23"/>
            <p:cNvSpPr txBox="1">
              <a:spLocks noChangeArrowheads="1"/>
            </p:cNvSpPr>
            <p:nvPr/>
          </p:nvSpPr>
          <p:spPr bwMode="auto">
            <a:xfrm>
              <a:off x="3840" y="28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q</a:t>
              </a:r>
              <a:endParaRPr lang="en-US"/>
            </a:p>
          </p:txBody>
        </p:sp>
        <p:sp>
          <p:nvSpPr>
            <p:cNvPr id="20509" name="Text Box 24"/>
            <p:cNvSpPr txBox="1">
              <a:spLocks noChangeArrowheads="1"/>
            </p:cNvSpPr>
            <p:nvPr/>
          </p:nvSpPr>
          <p:spPr bwMode="auto">
            <a:xfrm>
              <a:off x="3312" y="3120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r</a:t>
              </a:r>
              <a:endParaRPr lang="en-US"/>
            </a:p>
          </p:txBody>
        </p:sp>
        <p:sp>
          <p:nvSpPr>
            <p:cNvPr id="20510" name="Text Box 25"/>
            <p:cNvSpPr txBox="1">
              <a:spLocks noChangeArrowheads="1"/>
            </p:cNvSpPr>
            <p:nvPr/>
          </p:nvSpPr>
          <p:spPr bwMode="auto">
            <a:xfrm>
              <a:off x="3552" y="312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s</a:t>
              </a:r>
              <a:endParaRPr lang="en-US"/>
            </a:p>
          </p:txBody>
        </p:sp>
        <p:sp>
          <p:nvSpPr>
            <p:cNvPr id="20511" name="Text Box 26"/>
            <p:cNvSpPr txBox="1">
              <a:spLocks noChangeArrowheads="1"/>
            </p:cNvSpPr>
            <p:nvPr/>
          </p:nvSpPr>
          <p:spPr bwMode="auto">
            <a:xfrm>
              <a:off x="3840" y="3120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t</a:t>
              </a:r>
              <a:endParaRPr lang="en-US"/>
            </a:p>
          </p:txBody>
        </p:sp>
        <p:sp>
          <p:nvSpPr>
            <p:cNvPr id="20512" name="Text Box 27"/>
            <p:cNvSpPr txBox="1">
              <a:spLocks noChangeArrowheads="1"/>
            </p:cNvSpPr>
            <p:nvPr/>
          </p:nvSpPr>
          <p:spPr bwMode="auto">
            <a:xfrm>
              <a:off x="3312" y="336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v</a:t>
              </a:r>
              <a:endParaRPr lang="en-US"/>
            </a:p>
          </p:txBody>
        </p:sp>
        <p:sp>
          <p:nvSpPr>
            <p:cNvPr id="20513" name="Text Box 28"/>
            <p:cNvSpPr txBox="1">
              <a:spLocks noChangeArrowheads="1"/>
            </p:cNvSpPr>
            <p:nvPr/>
          </p:nvSpPr>
          <p:spPr bwMode="auto">
            <a:xfrm>
              <a:off x="3552" y="3360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w</a:t>
              </a:r>
              <a:endParaRPr lang="en-US"/>
            </a:p>
          </p:txBody>
        </p:sp>
        <p:sp>
          <p:nvSpPr>
            <p:cNvPr id="20514" name="Text Box 29"/>
            <p:cNvSpPr txBox="1">
              <a:spLocks noChangeArrowheads="1"/>
            </p:cNvSpPr>
            <p:nvPr/>
          </p:nvSpPr>
          <p:spPr bwMode="auto">
            <a:xfrm>
              <a:off x="3840" y="336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x</a:t>
              </a:r>
              <a:endParaRPr lang="en-US"/>
            </a:p>
          </p:txBody>
        </p:sp>
        <p:sp>
          <p:nvSpPr>
            <p:cNvPr id="20515" name="Text Box 30"/>
            <p:cNvSpPr txBox="1">
              <a:spLocks noChangeArrowheads="1"/>
            </p:cNvSpPr>
            <p:nvPr/>
          </p:nvSpPr>
          <p:spPr bwMode="auto">
            <a:xfrm>
              <a:off x="3312" y="360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y</a:t>
              </a:r>
              <a:endParaRPr lang="en-US"/>
            </a:p>
          </p:txBody>
        </p:sp>
        <p:sp>
          <p:nvSpPr>
            <p:cNvPr id="20516" name="Text Box 31"/>
            <p:cNvSpPr txBox="1">
              <a:spLocks noChangeArrowheads="1"/>
            </p:cNvSpPr>
            <p:nvPr/>
          </p:nvSpPr>
          <p:spPr bwMode="auto">
            <a:xfrm>
              <a:off x="3552" y="360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/>
                <a:t>z</a:t>
              </a:r>
              <a:endParaRPr lang="en-US"/>
            </a:p>
          </p:txBody>
        </p:sp>
      </p:grpSp>
      <p:grpSp>
        <p:nvGrpSpPr>
          <p:cNvPr id="3" name="Group 32"/>
          <p:cNvGrpSpPr/>
          <p:nvPr/>
        </p:nvGrpSpPr>
        <p:grpSpPr bwMode="auto">
          <a:xfrm>
            <a:off x="7820031" y="3276600"/>
            <a:ext cx="3657600" cy="2895600"/>
            <a:chOff x="3264" y="2064"/>
            <a:chExt cx="2304" cy="1824"/>
          </a:xfrm>
        </p:grpSpPr>
        <p:sp>
          <p:nvSpPr>
            <p:cNvPr id="20487" name="Rectangle 33"/>
            <p:cNvSpPr>
              <a:spLocks noChangeArrowheads="1"/>
            </p:cNvSpPr>
            <p:nvPr/>
          </p:nvSpPr>
          <p:spPr bwMode="auto">
            <a:xfrm>
              <a:off x="3264" y="2064"/>
              <a:ext cx="2304" cy="1824"/>
            </a:xfrm>
            <a:prstGeom prst="rect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endParaRPr lang="en-US">
                <a:latin typeface="Garamond" panose="02020404030301010803" pitchFamily="18" charset="0"/>
              </a:endParaRPr>
            </a:p>
          </p:txBody>
        </p:sp>
        <p:sp>
          <p:nvSpPr>
            <p:cNvPr id="20488" name="Text Box 34"/>
            <p:cNvSpPr txBox="1">
              <a:spLocks noChangeArrowheads="1"/>
            </p:cNvSpPr>
            <p:nvPr/>
          </p:nvSpPr>
          <p:spPr bwMode="auto">
            <a:xfrm>
              <a:off x="5280" y="2112"/>
              <a:ext cx="255" cy="288"/>
            </a:xfrm>
            <a:prstGeom prst="rect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 sz="2400" b="1" i="1">
                  <a:latin typeface="Times New Roman" panose="02020603050405020304" charset="0"/>
                </a:rPr>
                <a:t>U</a:t>
              </a:r>
              <a:endParaRPr lang="en-US" sz="2400" b="1" i="1">
                <a:latin typeface="Times New Roman" panose="02020603050405020304" charset="0"/>
              </a:endParaRPr>
            </a:p>
          </p:txBody>
        </p:sp>
        <p:sp>
          <p:nvSpPr>
            <p:cNvPr id="20489" name="Oval 35"/>
            <p:cNvSpPr>
              <a:spLocks noChangeArrowheads="1"/>
            </p:cNvSpPr>
            <p:nvPr/>
          </p:nvSpPr>
          <p:spPr bwMode="auto">
            <a:xfrm>
              <a:off x="4128" y="2304"/>
              <a:ext cx="1344" cy="1344"/>
            </a:xfrm>
            <a:prstGeom prst="ellips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0490" name="Text Box 36"/>
            <p:cNvSpPr txBox="1">
              <a:spLocks noChangeArrowheads="1"/>
            </p:cNvSpPr>
            <p:nvPr/>
          </p:nvSpPr>
          <p:spPr bwMode="auto">
            <a:xfrm>
              <a:off x="4704" y="2352"/>
              <a:ext cx="244" cy="288"/>
            </a:xfrm>
            <a:prstGeom prst="rect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Osaka" pitchFamily="-65" charset="-128"/>
                </a:defRPr>
              </a:lvl9pPr>
            </a:lstStyle>
            <a:p>
              <a:pPr algn="ctr" eaLnBrk="1" hangingPunct="1"/>
              <a:r>
                <a:rPr lang="en-US" sz="2400" dirty="0"/>
                <a:t>S</a:t>
              </a:r>
              <a:endParaRPr lang="en-US" sz="2400" dirty="0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6665-778D-4C0D-A9F6-9DA9A96D4469}" type="slidenum">
              <a:rPr lang="en-US" smtClean="0"/>
            </a:fld>
            <a:endParaRPr lang="en-US"/>
          </a:p>
        </p:txBody>
      </p:sp>
      <p:sp>
        <p:nvSpPr>
          <p:cNvPr id="38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</a:rPr>
              <a:t>Venn diagrams</a:t>
            </a:r>
            <a:endParaRPr lang="en-US" sz="4800" b="1" kern="0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: Subset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337067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001064"/>
            <a:ext cx="10653296" cy="11659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000000"/>
                </a:solidFill>
              </a:rPr>
              <a:t>The </a:t>
            </a:r>
            <a:r>
              <a:rPr lang="en-US" kern="0" dirty="0" smtClean="0">
                <a:solidFill>
                  <a:srgbClr val="000000"/>
                </a:solidFill>
              </a:rPr>
              <a:t>set A is a sub set of B if </a:t>
            </a:r>
            <a:r>
              <a:rPr lang="en-US" kern="0" dirty="0">
                <a:solidFill>
                  <a:srgbClr val="000000"/>
                </a:solidFill>
              </a:rPr>
              <a:t>and only if every element </a:t>
            </a:r>
            <a:r>
              <a:rPr lang="en-US" kern="0" dirty="0" smtClean="0">
                <a:solidFill>
                  <a:srgbClr val="000000"/>
                </a:solidFill>
              </a:rPr>
              <a:t>of A is </a:t>
            </a:r>
            <a:r>
              <a:rPr lang="en-US" kern="0" dirty="0">
                <a:solidFill>
                  <a:srgbClr val="000000"/>
                </a:solidFill>
              </a:rPr>
              <a:t>also an element </a:t>
            </a:r>
            <a:r>
              <a:rPr lang="en-US" kern="0" dirty="0" smtClean="0">
                <a:solidFill>
                  <a:srgbClr val="000000"/>
                </a:solidFill>
              </a:rPr>
              <a:t>of B</a:t>
            </a:r>
            <a:r>
              <a:rPr lang="en-US" kern="0" dirty="0">
                <a:solidFill>
                  <a:srgbClr val="000000"/>
                </a:solidFill>
              </a:rPr>
              <a:t>. </a:t>
            </a: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304" y="3666966"/>
            <a:ext cx="10663250" cy="4247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kern="0">
                <a:solidFill>
                  <a:srgbClr val="000000"/>
                </a:solidFill>
              </a:rPr>
              <a:t>We use the notation A ⊆ B to indicate that A is a subset of the set B.</a:t>
            </a:r>
            <a:endParaRPr lang="en-US" sz="2400" i="1" dirty="0">
              <a:sym typeface="Symbol" panose="05050102010706020507" pitchFamily="18" charset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5350" y="4574683"/>
            <a:ext cx="10673204" cy="4247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sym typeface="Symbol" panose="05050102010706020507" pitchFamily="18" charset="2"/>
              </a:rPr>
              <a:t>We see </a:t>
            </a:r>
            <a:r>
              <a:rPr lang="en-US" sz="2400" b="1" dirty="0" smtClean="0">
                <a:sym typeface="Symbol" panose="05050102010706020507" pitchFamily="18" charset="2"/>
              </a:rPr>
              <a:t>that A ⊆ B if </a:t>
            </a:r>
            <a:r>
              <a:rPr lang="en-US" sz="2400" b="1" dirty="0">
                <a:sym typeface="Symbol" panose="05050102010706020507" pitchFamily="18" charset="2"/>
              </a:rPr>
              <a:t>and only if the </a:t>
            </a:r>
            <a:r>
              <a:rPr lang="en-US" sz="2400" b="1" dirty="0" smtClean="0">
                <a:sym typeface="Symbol" panose="05050102010706020507" pitchFamily="18" charset="2"/>
              </a:rPr>
              <a:t>quantification ∀x (</a:t>
            </a:r>
            <a:r>
              <a:rPr lang="en-US" sz="2400" b="1" dirty="0">
                <a:sym typeface="Symbol" panose="05050102010706020507" pitchFamily="18" charset="2"/>
              </a:rPr>
              <a:t>x</a:t>
            </a:r>
            <a:r>
              <a:rPr lang="en-US" sz="2400" b="1" dirty="0" smtClean="0">
                <a:sym typeface="Symbol" panose="05050102010706020507" pitchFamily="18" charset="2"/>
              </a:rPr>
              <a:t>∈ A → x ∈ B) is true</a:t>
            </a:r>
            <a:endParaRPr lang="en-US" sz="24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: Subset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Example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13827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If A = {2, 4, 6} and B = {1, 2, 3, 4, 5, 6, 7}; A is a subset of </a:t>
            </a:r>
            <a:r>
              <a:rPr lang="en-US" dirty="0" smtClean="0"/>
              <a:t>B</a:t>
            </a:r>
            <a:endParaRPr lang="en-US" dirty="0" smtClean="0"/>
          </a:p>
          <a:p>
            <a:pPr marL="285750" lvl="1" indent="-285750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If A = </a:t>
            </a:r>
            <a:r>
              <a:rPr lang="en-US" dirty="0" smtClean="0"/>
              <a:t>{1, 2, 3, 4} </a:t>
            </a:r>
            <a:r>
              <a:rPr lang="en-US" dirty="0"/>
              <a:t>and B = {1, 2, 3, </a:t>
            </a:r>
            <a:r>
              <a:rPr lang="en-US" dirty="0" smtClean="0"/>
              <a:t>4}; </a:t>
            </a:r>
            <a:r>
              <a:rPr lang="en-US" dirty="0"/>
              <a:t>A is a subset of B</a:t>
            </a:r>
            <a:endParaRPr lang="en-US" dirty="0"/>
          </a:p>
          <a:p>
            <a:pPr marL="285750" lvl="1" indent="-285750"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: Proper Subset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/>
              <p:cNvSpPr txBox="1"/>
              <p:nvPr/>
            </p:nvSpPr>
            <p:spPr>
              <a:xfrm>
                <a:off x="1005304" y="2201095"/>
                <a:ext cx="10653296" cy="116596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just" fontAlgn="base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kern="0" dirty="0" smtClean="0">
                    <a:solidFill>
                      <a:srgbClr val="000000"/>
                    </a:solidFill>
                  </a:rPr>
                  <a:t>When a set A is </a:t>
                </a:r>
                <a:r>
                  <a:rPr lang="en-US" kern="0" dirty="0">
                    <a:solidFill>
                      <a:srgbClr val="000000"/>
                    </a:solidFill>
                  </a:rPr>
                  <a:t>a subset of a set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B but that A </a:t>
                </a:r>
                <a14:m>
                  <m:oMath xmlns:m="http://schemas.openxmlformats.org/officeDocument/2006/math">
                    <m:r>
                      <a:rPr lang="en-US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kern="0" dirty="0" smtClean="0">
                    <a:solidFill>
                      <a:srgbClr val="000000"/>
                    </a:solidFill>
                  </a:rPr>
                  <a:t> B, we write A ⊂ B and </a:t>
                </a:r>
                <a:r>
                  <a:rPr lang="en-US" kern="0" dirty="0">
                    <a:solidFill>
                      <a:srgbClr val="000000"/>
                    </a:solidFill>
                  </a:rPr>
                  <a:t>say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that A is </a:t>
                </a:r>
                <a:r>
                  <a:rPr lang="en-US" kern="0" dirty="0">
                    <a:solidFill>
                      <a:srgbClr val="000000"/>
                    </a:solidFill>
                  </a:rPr>
                  <a:t>a proper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subset of B</a:t>
                </a:r>
                <a:r>
                  <a:rPr lang="en-US" kern="0" dirty="0">
                    <a:solidFill>
                      <a:srgbClr val="000000"/>
                    </a:solidFill>
                  </a:rPr>
                  <a:t>.</a:t>
                </a:r>
                <a:endParaRPr 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04" y="2201095"/>
                <a:ext cx="10653296" cy="1165961"/>
              </a:xfrm>
              <a:prstGeom prst="rect">
                <a:avLst/>
              </a:prstGeom>
              <a:blipFill rotWithShape="1">
                <a:blip r:embed="rId1"/>
                <a:stretch>
                  <a:fillRect l="-1" t="-16" b="2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05304" y="3805334"/>
            <a:ext cx="10663250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1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smtClean="0"/>
              <a:t>For A ⊂ B to </a:t>
            </a:r>
            <a:r>
              <a:rPr lang="en-US" sz="2400" dirty="0"/>
              <a:t>be true, it must be the case </a:t>
            </a:r>
            <a:r>
              <a:rPr lang="en-US" sz="2400" dirty="0" smtClean="0"/>
              <a:t>that A ⊆ B and </a:t>
            </a:r>
            <a:r>
              <a:rPr lang="en-US" sz="2400" dirty="0"/>
              <a:t>there must exist an </a:t>
            </a:r>
            <a:r>
              <a:rPr lang="en-US" sz="2400" dirty="0" smtClean="0"/>
              <a:t>element y of B that </a:t>
            </a:r>
            <a:r>
              <a:rPr lang="en-US" sz="2400" dirty="0"/>
              <a:t>is not an element </a:t>
            </a:r>
            <a:r>
              <a:rPr lang="en-US" sz="2400" dirty="0" smtClean="0"/>
              <a:t>of A</a:t>
            </a:r>
            <a:r>
              <a:rPr lang="en-US" sz="2400" dirty="0"/>
              <a:t>. </a:t>
            </a:r>
            <a:endParaRPr lang="en-US" sz="24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005304" y="4964934"/>
                <a:ext cx="10663250" cy="106182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400" b="1" dirty="0" smtClean="0"/>
                  <a:t>That </a:t>
                </a:r>
                <a:r>
                  <a:rPr lang="en-US" sz="2400" b="1" dirty="0"/>
                  <a:t>is</a:t>
                </a:r>
                <a:r>
                  <a:rPr lang="en-US" sz="2400" b="1" dirty="0" smtClean="0"/>
                  <a:t>, A is </a:t>
                </a:r>
                <a:r>
                  <a:rPr lang="en-US" sz="2400" b="1" dirty="0"/>
                  <a:t>a </a:t>
                </a:r>
                <a:r>
                  <a:rPr lang="en-US" sz="2400" b="1" dirty="0" smtClean="0"/>
                  <a:t>proper subset of B if </a:t>
                </a:r>
                <a:r>
                  <a:rPr lang="en-US" sz="2400" b="1" dirty="0"/>
                  <a:t>and only </a:t>
                </a:r>
                <a:r>
                  <a:rPr lang="en-US" sz="2400" b="1" dirty="0" smtClean="0"/>
                  <a:t>if</a:t>
                </a:r>
                <a:endParaRPr lang="en-US" sz="2400" b="1" dirty="0" smtClean="0"/>
              </a:p>
              <a:p>
                <a:pPr marL="0"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400" b="1" dirty="0" smtClean="0"/>
                  <a:t>∀x (x ∈ A → x ∈ B) ∧ ∃x (x ∈ B ∧ 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lang="en-US" sz="2400" b="1" dirty="0" smtClean="0"/>
                  <a:t>A) is true</a:t>
                </a:r>
                <a:endParaRPr lang="en-US" sz="2400" b="1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04" y="4964934"/>
                <a:ext cx="10663250" cy="1061829"/>
              </a:xfrm>
              <a:prstGeom prst="rect">
                <a:avLst/>
              </a:prstGeom>
              <a:blipFill rotWithShape="1">
                <a:blip r:embed="rId2"/>
                <a:stretch>
                  <a:fillRect l="-49" t="-466" r="-44" b="-421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: Proper Subset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Example</a:t>
            </a:r>
            <a:endParaRPr lang="en-US" b="1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/>
              <p:cNvSpPr txBox="1"/>
              <p:nvPr/>
            </p:nvSpPr>
            <p:spPr>
              <a:xfrm>
                <a:off x="1005303" y="2201095"/>
                <a:ext cx="10910471" cy="218772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lvl="1" indent="-285750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dirty="0" smtClean="0"/>
                  <a:t>If A = {2, 4, 6} and B = {1, 2, 3, 4, 5, 6, 7}; A is a subset of B and also proper subset</a:t>
                </a:r>
                <a:endParaRPr lang="en-US" dirty="0" smtClean="0"/>
              </a:p>
              <a:p>
                <a:pPr marL="0" lvl="1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i="1" dirty="0" smtClean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i="1" dirty="0" smtClean="0"/>
                  <a:t> B and 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 smtClean="0"/>
                  <a:t>B both are true.</a:t>
                </a:r>
                <a:endParaRPr lang="en-US" i="1" dirty="0" smtClean="0"/>
              </a:p>
              <a:p>
                <a:pPr marL="285750" lvl="1" indent="-285750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dirty="0"/>
                  <a:t>If A = </a:t>
                </a:r>
                <a:r>
                  <a:rPr lang="en-US" dirty="0" smtClean="0"/>
                  <a:t>{1, 2, 3, 4} </a:t>
                </a:r>
                <a:r>
                  <a:rPr lang="en-US" dirty="0"/>
                  <a:t>and B = {1, 2, 3, </a:t>
                </a:r>
                <a:r>
                  <a:rPr lang="en-US" dirty="0" smtClean="0"/>
                  <a:t>4}; </a:t>
                </a:r>
                <a:r>
                  <a:rPr lang="en-US" dirty="0"/>
                  <a:t>A </a:t>
                </a:r>
                <a:r>
                  <a:rPr lang="en-US" dirty="0" smtClean="0"/>
                  <a:t>is not a proper </a:t>
                </a:r>
                <a:r>
                  <a:rPr lang="en-US" dirty="0"/>
                  <a:t>subset of </a:t>
                </a:r>
                <a:r>
                  <a:rPr lang="en-US" dirty="0" smtClean="0"/>
                  <a:t>B but subset.</a:t>
                </a:r>
                <a:endParaRPr lang="en-US" dirty="0" smtClean="0"/>
              </a:p>
              <a:p>
                <a:pPr marL="0" lvl="1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i="1" dirty="0" smtClean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i="1" dirty="0"/>
                  <a:t>B </a:t>
                </a:r>
                <a:r>
                  <a:rPr lang="en-US" i="1" dirty="0" smtClean="0"/>
                  <a:t>but </a:t>
                </a:r>
                <a:r>
                  <a:rPr lang="en-US" i="1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⊄</m:t>
                    </m:r>
                  </m:oMath>
                </a14:m>
                <a:r>
                  <a:rPr lang="en-US" i="1" dirty="0" smtClean="0"/>
                  <a:t> B.</a:t>
                </a:r>
                <a:endParaRPr lang="en-US" i="1" dirty="0"/>
              </a:p>
              <a:p>
                <a:pPr marL="0" lvl="1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endParaRPr lang="en-US" dirty="0"/>
              </a:p>
              <a:p>
                <a:pPr marL="285750" lvl="1" indent="-285750">
                  <a:spcBef>
                    <a:spcPts val="1200"/>
                  </a:spcBef>
                  <a:spcAft>
                    <a:spcPts val="600"/>
                  </a:spcAft>
                </a:pPr>
                <a:endParaRPr lang="en-US" dirty="0"/>
              </a:p>
            </p:txBody>
          </p:sp>
        </mc:Choice>
        <mc:Fallback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03" y="2201095"/>
                <a:ext cx="10910471" cy="2187723"/>
              </a:xfrm>
              <a:prstGeom prst="rect">
                <a:avLst/>
              </a:prstGeom>
              <a:blipFill rotWithShape="1">
                <a:blip r:embed="rId1"/>
                <a:stretch>
                  <a:fillRect l="-1" t="-8" r="6" b="-445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: Set Equality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11659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000000"/>
                </a:solidFill>
              </a:rPr>
              <a:t>Two sets </a:t>
            </a:r>
            <a:r>
              <a:rPr lang="en-US" kern="0" dirty="0" smtClean="0">
                <a:solidFill>
                  <a:srgbClr val="000000"/>
                </a:solidFill>
              </a:rPr>
              <a:t>are equal </a:t>
            </a:r>
            <a:r>
              <a:rPr lang="en-US" kern="0" dirty="0" smtClean="0"/>
              <a:t>if </a:t>
            </a:r>
            <a:r>
              <a:rPr lang="en-US" kern="0" dirty="0"/>
              <a:t>and only if </a:t>
            </a:r>
            <a:r>
              <a:rPr lang="en-US" kern="0" dirty="0">
                <a:solidFill>
                  <a:srgbClr val="000000"/>
                </a:solidFill>
              </a:rPr>
              <a:t>they have the same elements. We </a:t>
            </a:r>
            <a:r>
              <a:rPr lang="en-US" kern="0" dirty="0" smtClean="0">
                <a:solidFill>
                  <a:srgbClr val="000000"/>
                </a:solidFill>
              </a:rPr>
              <a:t>write A = B if A and B are equal </a:t>
            </a:r>
            <a:r>
              <a:rPr lang="en-US" kern="0" dirty="0">
                <a:solidFill>
                  <a:srgbClr val="000000"/>
                </a:solidFill>
              </a:rPr>
              <a:t>sets.</a:t>
            </a: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5396" y="4176804"/>
            <a:ext cx="10663250" cy="7571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ym typeface="Symbol" panose="05050102010706020507" pitchFamily="18" charset="2"/>
              </a:rPr>
              <a:t>Therefore, </a:t>
            </a:r>
            <a:r>
              <a:rPr lang="en-US" sz="2400" b="1" dirty="0" smtClean="0">
                <a:sym typeface="Symbol" panose="05050102010706020507" pitchFamily="18" charset="2"/>
              </a:rPr>
              <a:t>if A and B are sets, then A and B are </a:t>
            </a:r>
            <a:r>
              <a:rPr lang="en-US" sz="2400" b="1" dirty="0">
                <a:sym typeface="Symbol" panose="05050102010706020507" pitchFamily="18" charset="2"/>
              </a:rPr>
              <a:t>equal if and only </a:t>
            </a:r>
            <a:r>
              <a:rPr lang="en-US" sz="2400" b="1" dirty="0" smtClean="0">
                <a:sym typeface="Symbol" panose="05050102010706020507" pitchFamily="18" charset="2"/>
              </a:rPr>
              <a:t>if </a:t>
            </a:r>
            <a:endParaRPr lang="en-US" sz="2400" b="1" dirty="0" smtClean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anose="05050102010706020507" pitchFamily="18" charset="2"/>
              </a:rPr>
              <a:t>	</a:t>
            </a:r>
            <a:r>
              <a:rPr lang="en-US" sz="2400" b="1" dirty="0" smtClean="0">
                <a:sym typeface="Symbol" panose="05050102010706020507" pitchFamily="18" charset="2"/>
              </a:rPr>
              <a:t>∀x (x ∈ A ↔ x ∈ B)</a:t>
            </a:r>
            <a:endParaRPr lang="en-US" sz="24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: Set Equality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379933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Example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043930"/>
            <a:ext cx="10653296" cy="2342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kern="0" dirty="0" smtClean="0">
                <a:solidFill>
                  <a:srgbClr val="000000"/>
                </a:solidFill>
              </a:rPr>
              <a:t>Let two sets A = {1, 2, 3} and B = {3, 2, 1} </a:t>
            </a:r>
            <a:endParaRPr lang="en-US" kern="0" dirty="0" smtClean="0">
              <a:solidFill>
                <a:srgbClr val="000000"/>
              </a:solidFill>
            </a:endParaRPr>
          </a:p>
          <a:p>
            <a:pPr marL="0" indent="0" algn="just" fontAlgn="base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kern="0" dirty="0">
                <a:solidFill>
                  <a:srgbClr val="000000"/>
                </a:solidFill>
              </a:rPr>
              <a:t>	</a:t>
            </a:r>
            <a:r>
              <a:rPr lang="en-US" kern="0" dirty="0" smtClean="0">
                <a:solidFill>
                  <a:srgbClr val="000000"/>
                </a:solidFill>
              </a:rPr>
              <a:t>	then A = B </a:t>
            </a:r>
            <a:r>
              <a:rPr lang="en-US" kern="0" dirty="0" smtClean="0"/>
              <a:t>(true or false?) </a:t>
            </a:r>
            <a:endParaRPr lang="en-US" kern="0" dirty="0" smtClean="0"/>
          </a:p>
          <a:p>
            <a:pPr algn="just" fontAlgn="base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kern="0" dirty="0">
                <a:solidFill>
                  <a:srgbClr val="000000"/>
                </a:solidFill>
              </a:rPr>
              <a:t>Let two sets A = {1, 2, 3} and B = {</a:t>
            </a:r>
            <a:r>
              <a:rPr lang="en-US" kern="0" dirty="0" smtClean="0">
                <a:solidFill>
                  <a:srgbClr val="000000"/>
                </a:solidFill>
              </a:rPr>
              <a:t>3, 3, 2, 1, 2, </a:t>
            </a:r>
            <a:r>
              <a:rPr lang="en-US" kern="0" dirty="0">
                <a:solidFill>
                  <a:srgbClr val="000000"/>
                </a:solidFill>
              </a:rPr>
              <a:t>1} </a:t>
            </a:r>
            <a:endParaRPr lang="en-US" kern="0" dirty="0" smtClean="0">
              <a:solidFill>
                <a:srgbClr val="000000"/>
              </a:solidFill>
            </a:endParaRPr>
          </a:p>
          <a:p>
            <a:pPr marL="0" indent="0" algn="just" fontAlgn="base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kern="0" dirty="0">
                <a:solidFill>
                  <a:srgbClr val="000000"/>
                </a:solidFill>
              </a:rPr>
              <a:t>	</a:t>
            </a:r>
            <a:r>
              <a:rPr lang="en-US" kern="0" dirty="0" smtClean="0">
                <a:solidFill>
                  <a:srgbClr val="000000"/>
                </a:solidFill>
              </a:rPr>
              <a:t>	then </a:t>
            </a:r>
            <a:r>
              <a:rPr lang="en-US" kern="0" dirty="0">
                <a:solidFill>
                  <a:srgbClr val="000000"/>
                </a:solidFill>
              </a:rPr>
              <a:t>A = B </a:t>
            </a:r>
            <a:r>
              <a:rPr lang="en-US" kern="0" dirty="0"/>
              <a:t>(true or false?) </a:t>
            </a:r>
            <a:endParaRPr lang="en-US" kern="0" dirty="0"/>
          </a:p>
          <a:p>
            <a:pPr algn="just" fontAlgn="base">
              <a:lnSpc>
                <a:spcPct val="114000"/>
              </a:lnSpc>
              <a:spcBef>
                <a:spcPts val="0"/>
              </a:spcBef>
            </a:pPr>
            <a:endParaRPr lang="en-US" kern="0" dirty="0">
              <a:solidFill>
                <a:srgbClr val="000000"/>
              </a:solidFill>
            </a:endParaRPr>
          </a:p>
          <a:p>
            <a:pPr algn="just" fontAlgn="base">
              <a:lnSpc>
                <a:spcPct val="114000"/>
              </a:lnSpc>
              <a:spcBef>
                <a:spcPts val="0"/>
              </a:spcBef>
            </a:pP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5350" y="4562471"/>
            <a:ext cx="10663250" cy="9848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A = {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x: x is an odd positive integer less than 10</a:t>
            </a:r>
            <a:r>
              <a:rPr lang="en-US" sz="2400" dirty="0"/>
              <a:t>}</a:t>
            </a:r>
            <a:endParaRPr lang="en-US" sz="2400" dirty="0"/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B = {1, 3, 5, 7, 9</a:t>
            </a:r>
            <a:r>
              <a:rPr lang="en-US" sz="2400" dirty="0" smtClean="0"/>
              <a:t>}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3081336" y="5661315"/>
            <a:ext cx="5143500" cy="706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800" dirty="0" smtClean="0"/>
              <a:t>A = B ?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: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Cardinality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16973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000000"/>
                </a:solidFill>
              </a:rPr>
              <a:t>Let S be </a:t>
            </a:r>
            <a:r>
              <a:rPr lang="en-US" kern="0" dirty="0">
                <a:solidFill>
                  <a:srgbClr val="000000"/>
                </a:solidFill>
              </a:rPr>
              <a:t>a set. If there are </a:t>
            </a:r>
            <a:r>
              <a:rPr lang="en-US" kern="0" dirty="0" smtClean="0">
                <a:solidFill>
                  <a:srgbClr val="000000"/>
                </a:solidFill>
              </a:rPr>
              <a:t>exactly </a:t>
            </a:r>
            <a:r>
              <a:rPr lang="en-US" kern="0" dirty="0" smtClean="0"/>
              <a:t>n distinct </a:t>
            </a:r>
            <a:r>
              <a:rPr lang="en-US" kern="0" dirty="0"/>
              <a:t>elements </a:t>
            </a:r>
            <a:r>
              <a:rPr lang="en-US" kern="0" dirty="0" smtClean="0">
                <a:solidFill>
                  <a:srgbClr val="000000"/>
                </a:solidFill>
              </a:rPr>
              <a:t>in S where n is </a:t>
            </a:r>
            <a:r>
              <a:rPr lang="en-US" kern="0" dirty="0">
                <a:solidFill>
                  <a:srgbClr val="000000"/>
                </a:solidFill>
              </a:rPr>
              <a:t>a nonnegative </a:t>
            </a:r>
            <a:r>
              <a:rPr lang="en-US" kern="0" dirty="0" smtClean="0">
                <a:solidFill>
                  <a:srgbClr val="000000"/>
                </a:solidFill>
              </a:rPr>
              <a:t>integer, we </a:t>
            </a:r>
            <a:r>
              <a:rPr lang="en-US" kern="0" dirty="0">
                <a:solidFill>
                  <a:srgbClr val="000000"/>
                </a:solidFill>
              </a:rPr>
              <a:t>say </a:t>
            </a:r>
            <a:r>
              <a:rPr lang="en-US" kern="0" dirty="0" smtClean="0">
                <a:solidFill>
                  <a:srgbClr val="000000"/>
                </a:solidFill>
              </a:rPr>
              <a:t>that S is </a:t>
            </a:r>
            <a:r>
              <a:rPr lang="en-US" kern="0" dirty="0">
                <a:solidFill>
                  <a:srgbClr val="000000"/>
                </a:solidFill>
              </a:rPr>
              <a:t>a finite </a:t>
            </a:r>
            <a:r>
              <a:rPr lang="en-US" kern="0" dirty="0" smtClean="0">
                <a:solidFill>
                  <a:srgbClr val="000000"/>
                </a:solidFill>
              </a:rPr>
              <a:t>set and that n is the cardinality of S</a:t>
            </a:r>
            <a:r>
              <a:rPr lang="en-US" kern="0" dirty="0">
                <a:solidFill>
                  <a:srgbClr val="000000"/>
                </a:solidFill>
              </a:rPr>
              <a:t>. The cardinality </a:t>
            </a:r>
            <a:r>
              <a:rPr lang="en-US" kern="0" dirty="0" smtClean="0">
                <a:solidFill>
                  <a:srgbClr val="000000"/>
                </a:solidFill>
              </a:rPr>
              <a:t>of S is denoted by |S</a:t>
            </a:r>
            <a:r>
              <a:rPr lang="en-US" kern="0" dirty="0">
                <a:solidFill>
                  <a:srgbClr val="000000"/>
                </a:solidFill>
              </a:rPr>
              <a:t>|.</a:t>
            </a: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5396" y="4492232"/>
            <a:ext cx="10663250" cy="7571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400" i="1" dirty="0">
                <a:sym typeface="Symbol" panose="05050102010706020507" pitchFamily="18" charset="2"/>
              </a:rPr>
              <a:t>The </a:t>
            </a:r>
            <a:r>
              <a:rPr lang="en-US" sz="2400" i="1" dirty="0" smtClean="0">
                <a:sym typeface="Symbol" panose="05050102010706020507" pitchFamily="18" charset="2"/>
              </a:rPr>
              <a:t>term cardinality comes </a:t>
            </a:r>
            <a:r>
              <a:rPr lang="en-US" sz="2400" i="1" dirty="0">
                <a:sym typeface="Symbol" panose="05050102010706020507" pitchFamily="18" charset="2"/>
              </a:rPr>
              <a:t>from the common usage of the </a:t>
            </a:r>
            <a:r>
              <a:rPr lang="en-US" sz="2400" i="1" dirty="0" smtClean="0">
                <a:sym typeface="Symbol" panose="05050102010706020507" pitchFamily="18" charset="2"/>
              </a:rPr>
              <a:t>term </a:t>
            </a:r>
            <a:r>
              <a:rPr lang="en-US" sz="2400" b="1" i="1" dirty="0" smtClean="0">
                <a:sym typeface="Symbol" panose="05050102010706020507" pitchFamily="18" charset="2"/>
              </a:rPr>
              <a:t>cardinal number </a:t>
            </a:r>
            <a:r>
              <a:rPr lang="en-US" sz="2400" i="1" dirty="0" smtClean="0">
                <a:sym typeface="Symbol" panose="05050102010706020507" pitchFamily="18" charset="2"/>
              </a:rPr>
              <a:t>as</a:t>
            </a:r>
            <a:endParaRPr lang="en-US" sz="2400" i="1" dirty="0">
              <a:sym typeface="Symbol" panose="05050102010706020507" pitchFamily="18" charset="2"/>
            </a:endParaRPr>
          </a:p>
          <a:p>
            <a:pPr algn="just">
              <a:lnSpc>
                <a:spcPct val="90000"/>
              </a:lnSpc>
            </a:pPr>
            <a:r>
              <a:rPr lang="en-US" sz="2400" i="1" dirty="0">
                <a:sym typeface="Symbol" panose="05050102010706020507" pitchFamily="18" charset="2"/>
              </a:rPr>
              <a:t>the size of a finite set.</a:t>
            </a:r>
            <a:endParaRPr lang="en-US" sz="24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: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Cardinality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Example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20851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lnSpc>
                <a:spcPct val="114000"/>
              </a:lnSpc>
              <a:spcBef>
                <a:spcPts val="0"/>
              </a:spcBef>
            </a:pPr>
            <a:r>
              <a:rPr lang="en-US" sz="2400" kern="0" dirty="0" smtClean="0">
                <a:solidFill>
                  <a:srgbClr val="000000"/>
                </a:solidFill>
              </a:rPr>
              <a:t>Let A be </a:t>
            </a:r>
            <a:r>
              <a:rPr lang="en-US" sz="2400" kern="0" dirty="0">
                <a:solidFill>
                  <a:srgbClr val="000000"/>
                </a:solidFill>
              </a:rPr>
              <a:t>the set of odd positive integers less than 10. </a:t>
            </a:r>
            <a:r>
              <a:rPr lang="en-US" sz="2400" kern="0" dirty="0" smtClean="0">
                <a:solidFill>
                  <a:srgbClr val="000000"/>
                </a:solidFill>
              </a:rPr>
              <a:t>Then |</a:t>
            </a:r>
            <a:r>
              <a:rPr lang="en-US" sz="2400" kern="0" dirty="0">
                <a:solidFill>
                  <a:srgbClr val="000000"/>
                </a:solidFill>
              </a:rPr>
              <a:t>A</a:t>
            </a:r>
            <a:r>
              <a:rPr lang="en-US" sz="2400" kern="0" dirty="0" smtClean="0">
                <a:solidFill>
                  <a:srgbClr val="000000"/>
                </a:solidFill>
              </a:rPr>
              <a:t>| = 5.</a:t>
            </a:r>
            <a:endParaRPr lang="en-US" sz="2400" kern="0" dirty="0" smtClean="0">
              <a:solidFill>
                <a:srgbClr val="000000"/>
              </a:solidFill>
            </a:endParaRPr>
          </a:p>
          <a:p>
            <a:pPr algn="just" fontAlgn="base">
              <a:lnSpc>
                <a:spcPct val="114000"/>
              </a:lnSpc>
              <a:spcBef>
                <a:spcPts val="0"/>
              </a:spcBef>
            </a:pPr>
            <a:r>
              <a:rPr lang="en-US" sz="2400" kern="0" dirty="0" smtClean="0">
                <a:solidFill>
                  <a:srgbClr val="000000"/>
                </a:solidFill>
              </a:rPr>
              <a:t>Let S be </a:t>
            </a:r>
            <a:r>
              <a:rPr lang="en-US" sz="2400" kern="0" dirty="0">
                <a:solidFill>
                  <a:srgbClr val="000000"/>
                </a:solidFill>
              </a:rPr>
              <a:t>the set of letters in the English alphabet. </a:t>
            </a:r>
            <a:r>
              <a:rPr lang="en-US" sz="2400" kern="0" dirty="0" smtClean="0">
                <a:solidFill>
                  <a:srgbClr val="000000"/>
                </a:solidFill>
              </a:rPr>
              <a:t>Then |</a:t>
            </a:r>
            <a:r>
              <a:rPr lang="en-US" sz="2400" kern="0" dirty="0">
                <a:solidFill>
                  <a:srgbClr val="000000"/>
                </a:solidFill>
              </a:rPr>
              <a:t>S</a:t>
            </a:r>
            <a:r>
              <a:rPr lang="en-US" sz="2400" kern="0" dirty="0" smtClean="0">
                <a:solidFill>
                  <a:srgbClr val="000000"/>
                </a:solidFill>
              </a:rPr>
              <a:t>| = 26.</a:t>
            </a:r>
            <a:endParaRPr lang="en-US" sz="2400" kern="0" dirty="0" smtClean="0">
              <a:solidFill>
                <a:srgbClr val="000000"/>
              </a:solidFill>
            </a:endParaRPr>
          </a:p>
          <a:p>
            <a:pPr marL="228600" lvl="1" algn="just" fontAlgn="base">
              <a:lnSpc>
                <a:spcPct val="114000"/>
              </a:lnSpc>
              <a:spcBef>
                <a:spcPts val="0"/>
              </a:spcBef>
            </a:pPr>
            <a:r>
              <a:rPr lang="en-US" dirty="0"/>
              <a:t>Let R = {1, 2, 3, 4, 5}.  Then |R| = </a:t>
            </a:r>
            <a:r>
              <a:rPr lang="en-US" dirty="0" smtClean="0"/>
              <a:t>5</a:t>
            </a:r>
            <a:endParaRPr lang="en-US" dirty="0" smtClean="0"/>
          </a:p>
          <a:p>
            <a:pPr marL="228600" lvl="1" algn="just" fontAlgn="base">
              <a:lnSpc>
                <a:spcPct val="114000"/>
              </a:lnSpc>
              <a:spcBef>
                <a:spcPts val="0"/>
              </a:spcBef>
            </a:pPr>
            <a:r>
              <a:rPr lang="en-US" dirty="0"/>
              <a:t>|</a:t>
            </a:r>
            <a:r>
              <a:rPr lang="en-US" dirty="0">
                <a:sym typeface="Symbol" panose="05050102010706020507" pitchFamily="18" charset="2"/>
              </a:rPr>
              <a:t>| = 0</a:t>
            </a:r>
            <a:endParaRPr lang="en-US" dirty="0">
              <a:sym typeface="Symbol" panose="05050102010706020507" pitchFamily="18" charset="2"/>
            </a:endParaRPr>
          </a:p>
          <a:p>
            <a:pPr marL="228600" lvl="1" algn="just" fontAlgn="base">
              <a:lnSpc>
                <a:spcPct val="114000"/>
              </a:lnSpc>
              <a:spcBef>
                <a:spcPts val="0"/>
              </a:spcBef>
            </a:pPr>
            <a:endParaRPr lang="en-US" dirty="0"/>
          </a:p>
          <a:p>
            <a:pPr algn="just" fontAlgn="base">
              <a:lnSpc>
                <a:spcPct val="114000"/>
              </a:lnSpc>
              <a:spcBef>
                <a:spcPts val="0"/>
              </a:spcBef>
            </a:pPr>
            <a:endParaRPr lang="en-US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: Finite Set and Infinite Set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365642"/>
            <a:ext cx="10653296" cy="50311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 : Finite Set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1986775"/>
            <a:ext cx="10653296" cy="9993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000000"/>
                </a:solidFill>
              </a:rPr>
              <a:t>Let S be a set. If there are exactly </a:t>
            </a:r>
            <a:r>
              <a:rPr lang="en-US" kern="0" dirty="0"/>
              <a:t>n distinct elements </a:t>
            </a:r>
            <a:r>
              <a:rPr lang="en-US" kern="0" dirty="0">
                <a:solidFill>
                  <a:srgbClr val="000000"/>
                </a:solidFill>
              </a:rPr>
              <a:t>in S where n is a nonnegative integer, we say that S is a finite set</a:t>
            </a: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5396" y="3206539"/>
            <a:ext cx="10663250" cy="4247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 = {1, 2, 3, 4, 5</a:t>
            </a:r>
            <a:r>
              <a:rPr lang="en-US" sz="2400" dirty="0" smtClean="0"/>
              <a:t>} finite set</a:t>
            </a:r>
            <a:endParaRPr lang="en-US" sz="2400" i="1" dirty="0">
              <a:sym typeface="Symbol" panose="05050102010706020507" pitchFamily="18" charset="2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985396" y="3883684"/>
            <a:ext cx="10653296" cy="50311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sz="4000" b="1" dirty="0"/>
              <a:t>Definition : </a:t>
            </a:r>
            <a:r>
              <a:rPr lang="en-US" sz="4000" b="1" dirty="0" smtClean="0"/>
              <a:t>Infinite </a:t>
            </a:r>
            <a:r>
              <a:rPr lang="en-US" sz="4000" b="1" dirty="0"/>
              <a:t>Set</a:t>
            </a:r>
            <a:endParaRPr lang="en-US" sz="4000" b="1" dirty="0"/>
          </a:p>
        </p:txBody>
      </p:sp>
      <p:sp>
        <p:nvSpPr>
          <p:cNvPr id="11" name="Content Placeholder 2"/>
          <p:cNvSpPr txBox="1"/>
          <p:nvPr/>
        </p:nvSpPr>
        <p:spPr>
          <a:xfrm>
            <a:off x="995350" y="4504817"/>
            <a:ext cx="10653296" cy="7529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000000"/>
                </a:solidFill>
              </a:rPr>
              <a:t>A set is said to </a:t>
            </a:r>
            <a:r>
              <a:rPr lang="en-US" kern="0" dirty="0" smtClean="0">
                <a:solidFill>
                  <a:srgbClr val="000000"/>
                </a:solidFill>
              </a:rPr>
              <a:t>be infinite if </a:t>
            </a:r>
            <a:r>
              <a:rPr lang="en-US" kern="0" dirty="0">
                <a:solidFill>
                  <a:srgbClr val="000000"/>
                </a:solidFill>
              </a:rPr>
              <a:t>it is not finite.</a:t>
            </a: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5442" y="5454574"/>
            <a:ext cx="10663250" cy="4247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>
                <a:sym typeface="Symbol" panose="05050102010706020507" pitchFamily="18" charset="2"/>
              </a:rPr>
              <a:t>The set of positive integers is infinite.</a:t>
            </a:r>
            <a:endParaRPr 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: Power Set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11659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000000"/>
                </a:solidFill>
              </a:rPr>
              <a:t>Given a </a:t>
            </a:r>
            <a:r>
              <a:rPr lang="en-US" kern="0" dirty="0" smtClean="0">
                <a:solidFill>
                  <a:srgbClr val="000000"/>
                </a:solidFill>
              </a:rPr>
              <a:t>set S, </a:t>
            </a:r>
            <a:r>
              <a:rPr lang="en-US" kern="0" dirty="0">
                <a:solidFill>
                  <a:srgbClr val="000000"/>
                </a:solidFill>
              </a:rPr>
              <a:t>the power </a:t>
            </a:r>
            <a:r>
              <a:rPr lang="en-US" kern="0" dirty="0" smtClean="0">
                <a:solidFill>
                  <a:srgbClr val="000000"/>
                </a:solidFill>
              </a:rPr>
              <a:t>set of S is </a:t>
            </a:r>
            <a:r>
              <a:rPr lang="en-US" kern="0" dirty="0">
                <a:solidFill>
                  <a:srgbClr val="000000"/>
                </a:solidFill>
              </a:rPr>
              <a:t>the set of all subsets of the </a:t>
            </a:r>
            <a:r>
              <a:rPr lang="en-US" kern="0" dirty="0" smtClean="0">
                <a:solidFill>
                  <a:srgbClr val="000000"/>
                </a:solidFill>
              </a:rPr>
              <a:t>set S</a:t>
            </a:r>
            <a:r>
              <a:rPr lang="en-US" kern="0" dirty="0">
                <a:solidFill>
                  <a:srgbClr val="000000"/>
                </a:solidFill>
              </a:rPr>
              <a:t>. The power set of </a:t>
            </a:r>
            <a:r>
              <a:rPr lang="en-US" kern="0" dirty="0" smtClean="0">
                <a:solidFill>
                  <a:srgbClr val="000000"/>
                </a:solidFill>
              </a:rPr>
              <a:t>S is denoted by P(S</a:t>
            </a:r>
            <a:r>
              <a:rPr lang="en-US" kern="0" dirty="0">
                <a:solidFill>
                  <a:srgbClr val="000000"/>
                </a:solidFill>
              </a:rPr>
              <a:t>).</a:t>
            </a: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5396" y="3847683"/>
            <a:ext cx="10663250" cy="19082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sym typeface="Symbol" panose="05050102010706020507" pitchFamily="18" charset="2"/>
              </a:rPr>
              <a:t>What is the power set of the </a:t>
            </a:r>
            <a:r>
              <a:rPr lang="en-US" sz="2400" i="1" dirty="0" smtClean="0">
                <a:sym typeface="Symbol" panose="05050102010706020507" pitchFamily="18" charset="2"/>
              </a:rPr>
              <a:t>set {</a:t>
            </a:r>
            <a:r>
              <a:rPr lang="en-US" sz="2400" i="1" dirty="0">
                <a:sym typeface="Symbol" panose="05050102010706020507" pitchFamily="18" charset="2"/>
              </a:rPr>
              <a:t>0,1,2</a:t>
            </a:r>
            <a:r>
              <a:rPr lang="en-US" sz="2400" i="1" dirty="0" smtClean="0">
                <a:sym typeface="Symbol" panose="05050102010706020507" pitchFamily="18" charset="2"/>
              </a:rPr>
              <a:t>}?</a:t>
            </a:r>
            <a:endParaRPr lang="en-US" sz="2400" i="1" dirty="0" smtClean="0">
              <a:sym typeface="Symbol" panose="05050102010706020507" pitchFamily="18" charset="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sym typeface="Symbol" panose="05050102010706020507" pitchFamily="18" charset="2"/>
              </a:rPr>
              <a:t>What is the power set of the empty set? </a:t>
            </a:r>
            <a:endParaRPr lang="en-US" sz="2400" i="1" dirty="0" smtClean="0">
              <a:sym typeface="Symbol" panose="05050102010706020507" pitchFamily="18" charset="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 smtClean="0">
                <a:sym typeface="Symbol" panose="05050102010706020507" pitchFamily="18" charset="2"/>
              </a:rPr>
              <a:t>What is the power set of the set{∅}?</a:t>
            </a:r>
            <a:endParaRPr lang="en-US" sz="24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Terminology : Cartesian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Product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9528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dirty="0"/>
              <a:t>Let A and B be sets. The Cartesian product of A and B, denoted by A x B, is the set of all ordered pairs (a, b) where a </a:t>
            </a:r>
            <a:r>
              <a:rPr lang="en-US" dirty="0">
                <a:sym typeface="Symbol" panose="05050102010706020507" pitchFamily="18" charset="2"/>
              </a:rPr>
              <a:t> A and b B.</a:t>
            </a:r>
            <a:endParaRPr lang="en-US" kern="0" dirty="0"/>
          </a:p>
        </p:txBody>
      </p:sp>
      <p:sp>
        <p:nvSpPr>
          <p:cNvPr id="7" name="TextBox 6"/>
          <p:cNvSpPr txBox="1"/>
          <p:nvPr/>
        </p:nvSpPr>
        <p:spPr>
          <a:xfrm>
            <a:off x="1005304" y="3479185"/>
            <a:ext cx="10663250" cy="4247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400" b="1" dirty="0" smtClean="0">
                <a:sym typeface="Symbol" panose="05050102010706020507" pitchFamily="18" charset="2"/>
              </a:rPr>
              <a:t>Hence A×B = {(</a:t>
            </a:r>
            <a:r>
              <a:rPr lang="pt-BR" sz="2400" b="1" dirty="0">
                <a:sym typeface="Symbol" panose="05050102010706020507" pitchFamily="18" charset="2"/>
              </a:rPr>
              <a:t>a, b</a:t>
            </a:r>
            <a:r>
              <a:rPr lang="pt-BR" sz="2400" b="1" dirty="0" smtClean="0">
                <a:sym typeface="Symbol" panose="05050102010706020507" pitchFamily="18" charset="2"/>
              </a:rPr>
              <a:t>) | a ∈ A ∧ b ∈ B</a:t>
            </a:r>
            <a:r>
              <a:rPr lang="pt-BR" sz="2400" b="1" dirty="0">
                <a:sym typeface="Symbol" panose="05050102010706020507" pitchFamily="18" charset="2"/>
              </a:rPr>
              <a:t>}.</a:t>
            </a:r>
            <a:endParaRPr lang="en-US" sz="2400" b="1" dirty="0">
              <a:sym typeface="Symbol" panose="05050102010706020507" pitchFamily="18" charset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90625" y="4356370"/>
            <a:ext cx="8324850" cy="15081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ym typeface="Symbol" panose="05050102010706020507" pitchFamily="18" charset="2"/>
              </a:rPr>
              <a:t>Let, A </a:t>
            </a:r>
            <a:r>
              <a:rPr lang="en-US" sz="2400" dirty="0">
                <a:sym typeface="Symbol" panose="05050102010706020507" pitchFamily="18" charset="2"/>
              </a:rPr>
              <a:t>= {1, 2} and b = {a, b, c}</a:t>
            </a:r>
            <a:endParaRPr lang="en-US" sz="2400" dirty="0">
              <a:sym typeface="Symbol" panose="05050102010706020507" pitchFamily="18" charset="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ym typeface="Symbol" panose="05050102010706020507" pitchFamily="18" charset="2"/>
              </a:rPr>
              <a:t>A x B = {(1, a), (1, b), (1, c), (2, a), (2, b), (2, c</a:t>
            </a:r>
            <a:r>
              <a:rPr lang="en-US" sz="2400" dirty="0" smtClean="0">
                <a:sym typeface="Symbol" panose="05050102010706020507" pitchFamily="18" charset="2"/>
              </a:rPr>
              <a:t>)}</a:t>
            </a:r>
            <a:endParaRPr lang="en-US" sz="2400" dirty="0">
              <a:sym typeface="Symbol" panose="05050102010706020507" pitchFamily="18" charset="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ym typeface="Symbol" panose="05050102010706020507" pitchFamily="18" charset="2"/>
              </a:rPr>
              <a:t>B x A = ?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43163"/>
            <a:ext cx="9144000" cy="1806589"/>
          </a:xfr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txBody>
          <a:bodyPr vert="horz" lIns="121920" tIns="45720" rIns="121920" bIns="6096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8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 panose="02060603020205020403" pitchFamily="18" charset="0"/>
              </a:rPr>
              <a:t>Set Operations</a:t>
            </a:r>
            <a:endParaRPr 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" panose="020606030202050204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057" y="0"/>
            <a:ext cx="12193057" cy="19224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06B5-6058-41AF-9CC7-A36880636D59}" type="slidenum">
              <a:rPr lang="en-US" smtClean="0"/>
            </a:fld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Operation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308493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Operations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1972490"/>
            <a:ext cx="10653296" cy="22708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Union (</a:t>
            </a:r>
            <a:r>
              <a:rPr lang="en-US" dirty="0">
                <a:sym typeface="Symbol" panose="05050102010706020507" pitchFamily="18" charset="2"/>
              </a:rPr>
              <a:t>)</a:t>
            </a:r>
            <a:endParaRPr lang="en-US" dirty="0"/>
          </a:p>
          <a:p>
            <a:pPr lvl="1"/>
            <a:r>
              <a:rPr lang="en-US" dirty="0"/>
              <a:t>Intersection (</a:t>
            </a:r>
            <a:r>
              <a:rPr lang="en-US" dirty="0">
                <a:sym typeface="Symbol" panose="05050102010706020507" pitchFamily="18" charset="2"/>
              </a:rPr>
              <a:t>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/>
              <a:t>Difference (</a:t>
            </a:r>
            <a:r>
              <a:rPr lang="en-US" dirty="0">
                <a:latin typeface="Symbol" panose="05050102010706020507" pitchFamily="18" charset="2"/>
              </a:rPr>
              <a:t>-)</a:t>
            </a:r>
            <a:endParaRPr lang="en-US" dirty="0"/>
          </a:p>
          <a:p>
            <a:pPr lvl="1"/>
            <a:r>
              <a:rPr lang="en-US" dirty="0"/>
              <a:t>Complement</a:t>
            </a:r>
            <a:r>
              <a:rPr lang="en-US" dirty="0">
                <a:sym typeface="Symbol" panose="05050102010706020507" pitchFamily="18" charset="2"/>
              </a:rPr>
              <a:t> (</a:t>
            </a:r>
            <a:r>
              <a:rPr lang="en-US" dirty="0">
                <a:latin typeface="Times New Roman" panose="02020603050405020304" charset="0"/>
                <a:sym typeface="Symbol" panose="05050102010706020507" pitchFamily="18" charset="2"/>
              </a:rPr>
              <a:t>“—”</a:t>
            </a:r>
            <a:r>
              <a:rPr lang="en-US" dirty="0">
                <a:sym typeface="Symbol" panose="05050102010706020507" pitchFamily="18" charset="2"/>
              </a:rPr>
              <a:t>)</a:t>
            </a:r>
            <a:endParaRPr lang="en-US" dirty="0">
              <a:sym typeface="Symbol" panose="05050102010706020507" pitchFamily="18" charset="2"/>
            </a:endParaRPr>
          </a:p>
          <a:p>
            <a:pPr lvl="1"/>
            <a:r>
              <a:rPr lang="en-US" dirty="0">
                <a:sym typeface="Symbol" panose="05050102010706020507" pitchFamily="18" charset="2"/>
              </a:rPr>
              <a:t>Symmetric Difference ()</a:t>
            </a:r>
            <a:endParaRPr lang="en-US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85396" y="4414088"/>
                <a:ext cx="10663250" cy="211609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 smtClean="0"/>
                  <a:t>Operation into </a:t>
                </a:r>
                <a:r>
                  <a:rPr lang="en-US" sz="2400" dirty="0" smtClean="0"/>
                  <a:t>two </a:t>
                </a:r>
                <a:r>
                  <a:rPr lang="en-US" sz="2400" dirty="0" smtClean="0"/>
                  <a:t>sets A and B give </a:t>
                </a:r>
                <a:r>
                  <a:rPr lang="en-US" sz="2400" dirty="0"/>
                  <a:t>us new sets  </a:t>
                </a:r>
                <a:endParaRPr lang="en-US" sz="2400" dirty="0" smtClean="0"/>
              </a:p>
              <a:p>
                <a:pPr marL="19431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400" i="1" dirty="0" smtClean="0"/>
                  <a:t>A</a:t>
                </a:r>
                <a:r>
                  <a:rPr lang="en-US" sz="2400" dirty="0">
                    <a:sym typeface="Symbol" panose="05050102010706020507" pitchFamily="18" charset="2"/>
                  </a:rPr>
                  <a:t></a:t>
                </a:r>
                <a:r>
                  <a:rPr lang="en-US" sz="2400" i="1" dirty="0">
                    <a:sym typeface="Symbol" panose="05050102010706020507" pitchFamily="18" charset="2"/>
                  </a:rPr>
                  <a:t>B</a:t>
                </a:r>
                <a:r>
                  <a:rPr lang="en-US" sz="2400" dirty="0">
                    <a:sym typeface="Symbol" panose="05050102010706020507" pitchFamily="18" charset="2"/>
                  </a:rPr>
                  <a:t>, </a:t>
                </a:r>
                <a:endParaRPr lang="en-US" sz="2400" dirty="0" smtClean="0">
                  <a:sym typeface="Symbol" panose="05050102010706020507" pitchFamily="18" charset="2"/>
                </a:endParaRPr>
              </a:p>
              <a:p>
                <a:pPr marL="19431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400" i="1" dirty="0" smtClean="0"/>
                  <a:t>A</a:t>
                </a:r>
                <a:r>
                  <a:rPr lang="en-US" sz="2400" dirty="0">
                    <a:sym typeface="Symbol" panose="05050102010706020507" pitchFamily="18" charset="2"/>
                  </a:rPr>
                  <a:t></a:t>
                </a:r>
                <a:r>
                  <a:rPr lang="en-US" sz="2400" i="1" dirty="0">
                    <a:sym typeface="Symbol" panose="05050102010706020507" pitchFamily="18" charset="2"/>
                  </a:rPr>
                  <a:t>B</a:t>
                </a:r>
                <a:r>
                  <a:rPr lang="en-US" sz="2400" dirty="0">
                    <a:sym typeface="Symbol" panose="05050102010706020507" pitchFamily="18" charset="2"/>
                  </a:rPr>
                  <a:t>, </a:t>
                </a:r>
                <a:endParaRPr lang="en-US" sz="2400" dirty="0" smtClean="0">
                  <a:sym typeface="Symbol" panose="05050102010706020507" pitchFamily="18" charset="2"/>
                </a:endParaRPr>
              </a:p>
              <a:p>
                <a:pPr marL="19431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400" i="1" dirty="0" smtClean="0"/>
                  <a:t>A</a:t>
                </a:r>
                <a:r>
                  <a:rPr lang="en-US" sz="2400" dirty="0" smtClean="0">
                    <a:sym typeface="Symbol" panose="05050102010706020507" pitchFamily="18" charset="2"/>
                  </a:rPr>
                  <a:t>-</a:t>
                </a:r>
                <a:r>
                  <a:rPr lang="en-US" sz="2400" i="1" dirty="0" smtClean="0">
                    <a:sym typeface="Symbol" panose="05050102010706020507" pitchFamily="18" charset="2"/>
                  </a:rPr>
                  <a:t>B</a:t>
                </a:r>
                <a:r>
                  <a:rPr lang="en-US" sz="2400" dirty="0">
                    <a:sym typeface="Symbol" panose="05050102010706020507" pitchFamily="18" charset="2"/>
                  </a:rPr>
                  <a:t>, </a:t>
                </a:r>
                <a:endParaRPr lang="en-US" sz="2400" dirty="0" smtClean="0">
                  <a:sym typeface="Symbol" panose="05050102010706020507" pitchFamily="18" charset="2"/>
                </a:endParaRPr>
              </a:p>
              <a:p>
                <a:pPr marL="19431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400" i="1" dirty="0" smtClean="0"/>
                  <a:t>A</a:t>
                </a:r>
                <a:r>
                  <a:rPr lang="en-US" sz="2400" dirty="0">
                    <a:sym typeface="Symbol" panose="05050102010706020507" pitchFamily="18" charset="2"/>
                  </a:rPr>
                  <a:t></a:t>
                </a:r>
                <a:r>
                  <a:rPr lang="en-US" sz="2400" i="1" dirty="0">
                    <a:sym typeface="Symbol" panose="05050102010706020507" pitchFamily="18" charset="2"/>
                  </a:rPr>
                  <a:t>B</a:t>
                </a:r>
                <a:r>
                  <a:rPr lang="en-US" sz="2400" dirty="0">
                    <a:sym typeface="Symbol" panose="05050102010706020507" pitchFamily="18" charset="2"/>
                  </a:rPr>
                  <a:t>, </a:t>
                </a:r>
                <a:r>
                  <a:rPr lang="en-US" sz="2400" dirty="0" smtClean="0">
                    <a:sym typeface="Symbol" panose="05050102010706020507" pitchFamily="18" charset="2"/>
                  </a:rPr>
                  <a:t>and</a:t>
                </a:r>
                <a:endParaRPr lang="en-US" sz="2400" i="1" dirty="0">
                  <a:sym typeface="Symbol" panose="05050102010706020507" pitchFamily="18" charset="2"/>
                </a:endParaRPr>
              </a:p>
              <a:p>
                <a:pPr marL="19431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𝐴</m:t>
                        </m:r>
                      </m:e>
                    </m:acc>
                  </m:oMath>
                </a14:m>
                <a:endParaRPr lang="en-US" sz="24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396" y="4414088"/>
                <a:ext cx="10663250" cy="2116092"/>
              </a:xfrm>
              <a:prstGeom prst="rect">
                <a:avLst/>
              </a:prstGeom>
              <a:blipFill rotWithShape="1">
                <a:blip r:embed="rId1"/>
                <a:stretch>
                  <a:fillRect l="-46" t="-250" r="-40" b="-218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Operation : Union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965728"/>
            <a:ext cx="10763262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3" y="2629725"/>
            <a:ext cx="10753309" cy="10850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000000"/>
                </a:solidFill>
              </a:rPr>
              <a:t>Let A and B be </a:t>
            </a:r>
            <a:r>
              <a:rPr lang="en-US" kern="0" dirty="0">
                <a:solidFill>
                  <a:srgbClr val="000000"/>
                </a:solidFill>
              </a:rPr>
              <a:t>sets. </a:t>
            </a:r>
            <a:r>
              <a:rPr lang="en-US" kern="0" dirty="0" smtClean="0">
                <a:solidFill>
                  <a:srgbClr val="000000"/>
                </a:solidFill>
              </a:rPr>
              <a:t>The union of </a:t>
            </a:r>
            <a:r>
              <a:rPr lang="en-US" kern="0" dirty="0">
                <a:solidFill>
                  <a:srgbClr val="000000"/>
                </a:solidFill>
              </a:rPr>
              <a:t>the </a:t>
            </a:r>
            <a:r>
              <a:rPr lang="en-US" kern="0" dirty="0" smtClean="0">
                <a:solidFill>
                  <a:srgbClr val="000000"/>
                </a:solidFill>
              </a:rPr>
              <a:t>sets A and B</a:t>
            </a:r>
            <a:r>
              <a:rPr lang="en-US" kern="0" dirty="0">
                <a:solidFill>
                  <a:srgbClr val="000000"/>
                </a:solidFill>
              </a:rPr>
              <a:t>, denoted </a:t>
            </a:r>
            <a:r>
              <a:rPr lang="en-US" kern="0" dirty="0" smtClean="0">
                <a:solidFill>
                  <a:srgbClr val="000000"/>
                </a:solidFill>
              </a:rPr>
              <a:t>by A ∪ B</a:t>
            </a:r>
            <a:r>
              <a:rPr lang="en-US" kern="0" dirty="0">
                <a:solidFill>
                  <a:srgbClr val="000000"/>
                </a:solidFill>
              </a:rPr>
              <a:t>, is the set that </a:t>
            </a:r>
            <a:r>
              <a:rPr lang="en-US" kern="0" dirty="0" smtClean="0">
                <a:solidFill>
                  <a:srgbClr val="000000"/>
                </a:solidFill>
              </a:rPr>
              <a:t>contains those </a:t>
            </a:r>
            <a:r>
              <a:rPr lang="en-US" kern="0" dirty="0">
                <a:solidFill>
                  <a:srgbClr val="000000"/>
                </a:solidFill>
              </a:rPr>
              <a:t>elements that are either </a:t>
            </a:r>
            <a:r>
              <a:rPr lang="en-US" kern="0" dirty="0" smtClean="0">
                <a:solidFill>
                  <a:srgbClr val="000000"/>
                </a:solidFill>
              </a:rPr>
              <a:t>in A or in B</a:t>
            </a:r>
            <a:r>
              <a:rPr lang="en-US" kern="0" dirty="0">
                <a:solidFill>
                  <a:srgbClr val="000000"/>
                </a:solidFill>
              </a:rPr>
              <a:t>, or </a:t>
            </a:r>
            <a:r>
              <a:rPr lang="en-US" kern="0" dirty="0"/>
              <a:t>in both.</a:t>
            </a:r>
            <a:endParaRPr lang="en-US" kern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95350" y="3997614"/>
                <a:ext cx="10663250" cy="42473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>
                  <a:lnSpc>
                    <a:spcPct val="90000"/>
                  </a:lnSpc>
                </a:pPr>
                <a:r>
                  <a:rPr lang="en-US" sz="2400" dirty="0"/>
                  <a:t>A U B = { </a:t>
                </a:r>
                <a:r>
                  <a:rPr lang="en-US" sz="2400" i="1" dirty="0"/>
                  <a:t>x</a:t>
                </a:r>
                <a:r>
                  <a:rPr lang="en-US" sz="2400" dirty="0"/>
                  <a:t> | </a:t>
                </a:r>
                <a:r>
                  <a:rPr lang="en-US" sz="2400" i="1" dirty="0"/>
                  <a:t>x</a:t>
                </a:r>
                <a:r>
                  <a:rPr lang="en-US" sz="2400" dirty="0">
                    <a:sym typeface="Symbol" panose="05050102010706020507" pitchFamily="18" charset="2"/>
                  </a:rPr>
                  <a:t> A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∨</m:t>
                    </m:r>
                  </m:oMath>
                </a14:m>
                <a:r>
                  <a:rPr lang="en-US" sz="2400" i="1" dirty="0"/>
                  <a:t>x</a:t>
                </a:r>
                <a:r>
                  <a:rPr lang="en-US" sz="2400" dirty="0">
                    <a:sym typeface="Symbol" panose="05050102010706020507" pitchFamily="18" charset="2"/>
                  </a:rPr>
                  <a:t> B }</a:t>
                </a:r>
                <a:endParaRPr lang="en-US" sz="24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350" y="3997614"/>
                <a:ext cx="10663250" cy="424732"/>
              </a:xfrm>
              <a:prstGeom prst="rect">
                <a:avLst/>
              </a:prstGeom>
              <a:blipFill rotWithShape="1">
                <a:blip r:embed="rId1"/>
                <a:stretch>
                  <a:fillRect l="-51" t="-1264" r="-42" b="-998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360219" y="5159629"/>
            <a:ext cx="4754278" cy="4247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>
              <a:lnSpc>
                <a:spcPct val="90000"/>
              </a:lnSpc>
            </a:pPr>
            <a:r>
              <a:rPr lang="en-US" sz="2400" dirty="0" smtClean="0">
                <a:sym typeface="Symbol" panose="05050102010706020507" pitchFamily="18" charset="2"/>
              </a:rPr>
              <a:t>A = {1, 2, 5, 7}, B = {3, 4, 5, 6}</a:t>
            </a:r>
            <a:endParaRPr lang="en-US" sz="2400" dirty="0">
              <a:sym typeface="Symbol" panose="05050102010706020507" pitchFamily="18" charset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9091" y="5159629"/>
            <a:ext cx="1673818" cy="4247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>
              <a:lnSpc>
                <a:spcPct val="90000"/>
              </a:lnSpc>
            </a:pPr>
            <a:r>
              <a:rPr lang="en-US" sz="2400" dirty="0"/>
              <a:t>A U B = </a:t>
            </a:r>
            <a:endParaRPr lang="en-US" sz="2400" dirty="0">
              <a:sym typeface="Symbol" panose="05050102010706020507" pitchFamily="18" charset="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77504" y="5178642"/>
            <a:ext cx="4438235" cy="4247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>
              <a:lnSpc>
                <a:spcPct val="90000"/>
              </a:lnSpc>
            </a:pPr>
            <a:r>
              <a:rPr lang="en-US" sz="2400" dirty="0" smtClean="0"/>
              <a:t>{ </a:t>
            </a:r>
            <a:r>
              <a:rPr lang="en-US" sz="2400" i="1" dirty="0" smtClean="0"/>
              <a:t>1, 2, 3, 4, 5, 6, 7</a:t>
            </a:r>
            <a:r>
              <a:rPr lang="en-US" sz="2400" dirty="0" smtClean="0">
                <a:sym typeface="Symbol" panose="05050102010706020507" pitchFamily="18" charset="2"/>
              </a:rPr>
              <a:t>}</a:t>
            </a:r>
            <a:endParaRPr 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Operation </a:t>
            </a:r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: Intersection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965728"/>
            <a:ext cx="10763262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3" y="2629725"/>
            <a:ext cx="10753309" cy="10850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000000"/>
                </a:solidFill>
              </a:rPr>
              <a:t>Let A and B be </a:t>
            </a:r>
            <a:r>
              <a:rPr lang="en-US" kern="0" dirty="0">
                <a:solidFill>
                  <a:srgbClr val="000000"/>
                </a:solidFill>
              </a:rPr>
              <a:t>sets. </a:t>
            </a:r>
            <a:r>
              <a:rPr lang="en-US" kern="0" dirty="0" smtClean="0">
                <a:solidFill>
                  <a:srgbClr val="000000"/>
                </a:solidFill>
              </a:rPr>
              <a:t>The intersection </a:t>
            </a:r>
            <a:r>
              <a:rPr lang="en-US" kern="0" dirty="0">
                <a:solidFill>
                  <a:srgbClr val="000000"/>
                </a:solidFill>
              </a:rPr>
              <a:t>of the </a:t>
            </a:r>
            <a:r>
              <a:rPr lang="en-US" kern="0" dirty="0" smtClean="0">
                <a:solidFill>
                  <a:srgbClr val="000000"/>
                </a:solidFill>
              </a:rPr>
              <a:t>sets A and B</a:t>
            </a:r>
            <a:r>
              <a:rPr lang="en-US" kern="0" dirty="0">
                <a:solidFill>
                  <a:srgbClr val="000000"/>
                </a:solidFill>
              </a:rPr>
              <a:t>, denoted by A∩B, is the </a:t>
            </a:r>
            <a:r>
              <a:rPr lang="en-US" kern="0" dirty="0" smtClean="0">
                <a:solidFill>
                  <a:srgbClr val="000000"/>
                </a:solidFill>
              </a:rPr>
              <a:t>set containing </a:t>
            </a:r>
            <a:r>
              <a:rPr lang="en-US" kern="0" dirty="0">
                <a:solidFill>
                  <a:srgbClr val="000000"/>
                </a:solidFill>
              </a:rPr>
              <a:t>those elements in </a:t>
            </a:r>
            <a:r>
              <a:rPr lang="en-US" kern="0" dirty="0" smtClean="0">
                <a:solidFill>
                  <a:srgbClr val="000000"/>
                </a:solidFill>
              </a:rPr>
              <a:t>both A and B</a:t>
            </a:r>
            <a:r>
              <a:rPr lang="en-US" kern="0" dirty="0">
                <a:solidFill>
                  <a:srgbClr val="000000"/>
                </a:solidFill>
              </a:rPr>
              <a:t>.</a:t>
            </a:r>
            <a:endParaRPr lang="en-US" kern="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95350" y="3997614"/>
                <a:ext cx="10663250" cy="42473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>
                  <a:lnSpc>
                    <a:spcPct val="90000"/>
                  </a:lnSpc>
                </a:pPr>
                <a:r>
                  <a:rPr lang="en-US" sz="2400" dirty="0"/>
                  <a:t>A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400" dirty="0"/>
                  <a:t>B = { </a:t>
                </a:r>
                <a:r>
                  <a:rPr lang="en-US" sz="2400" i="1" dirty="0"/>
                  <a:t>x</a:t>
                </a:r>
                <a:r>
                  <a:rPr lang="en-US" sz="2400" dirty="0"/>
                  <a:t> | </a:t>
                </a:r>
                <a:r>
                  <a:rPr lang="en-US" sz="2400" i="1" dirty="0"/>
                  <a:t>x</a:t>
                </a:r>
                <a:r>
                  <a:rPr lang="en-US" sz="2400" dirty="0">
                    <a:sym typeface="Symbol" panose="05050102010706020507" pitchFamily="18" charset="2"/>
                  </a:rPr>
                  <a:t> A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∧</m:t>
                    </m:r>
                  </m:oMath>
                </a14:m>
                <a:r>
                  <a:rPr lang="en-US" sz="2400" i="1" dirty="0"/>
                  <a:t>x</a:t>
                </a:r>
                <a:r>
                  <a:rPr lang="en-US" sz="2400" dirty="0">
                    <a:sym typeface="Symbol" panose="05050102010706020507" pitchFamily="18" charset="2"/>
                  </a:rPr>
                  <a:t> B }</a:t>
                </a:r>
                <a:endParaRPr lang="en-US" sz="24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350" y="3997614"/>
                <a:ext cx="10663250" cy="424732"/>
              </a:xfrm>
              <a:prstGeom prst="rect">
                <a:avLst/>
              </a:prstGeom>
              <a:blipFill rotWithShape="1">
                <a:blip r:embed="rId1"/>
                <a:stretch>
                  <a:fillRect l="-51" t="-1264" r="-42" b="-998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42925" y="5159629"/>
            <a:ext cx="4571571" cy="4247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>
              <a:lnSpc>
                <a:spcPct val="90000"/>
              </a:lnSpc>
            </a:pPr>
            <a:r>
              <a:rPr lang="en-US" sz="2400" dirty="0" smtClean="0">
                <a:sym typeface="Symbol" panose="05050102010706020507" pitchFamily="18" charset="2"/>
              </a:rPr>
              <a:t>A = {1, 2, 5, 7}, B = {3, 4, 5, 6}</a:t>
            </a:r>
            <a:endParaRPr lang="en-US" sz="2400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259091" y="5159629"/>
                <a:ext cx="1673818" cy="4247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>
                  <a:lnSpc>
                    <a:spcPct val="90000"/>
                  </a:lnSpc>
                </a:pPr>
                <a:r>
                  <a:rPr lang="en-US" sz="2400" dirty="0"/>
                  <a:t>A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400" dirty="0"/>
                  <a:t>B = </a:t>
                </a:r>
                <a:endParaRPr lang="en-US" sz="24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091" y="5159629"/>
                <a:ext cx="1673818" cy="424732"/>
              </a:xfrm>
              <a:prstGeom prst="rect">
                <a:avLst/>
              </a:prstGeom>
              <a:blipFill rotWithShape="1">
                <a:blip r:embed="rId2"/>
                <a:stretch>
                  <a:fillRect l="-760" t="-3050" r="-722" b="-2950"/>
                </a:stretch>
              </a:blip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7077504" y="5178642"/>
            <a:ext cx="4438235" cy="4247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>
              <a:lnSpc>
                <a:spcPct val="90000"/>
              </a:lnSpc>
            </a:pPr>
            <a:r>
              <a:rPr lang="en-US" sz="2400" dirty="0" smtClean="0"/>
              <a:t>{ </a:t>
            </a:r>
            <a:r>
              <a:rPr lang="en-US" sz="2400" i="1" dirty="0" smtClean="0"/>
              <a:t>5 </a:t>
            </a:r>
            <a:r>
              <a:rPr lang="en-US" sz="2400" dirty="0" smtClean="0">
                <a:sym typeface="Symbol" panose="05050102010706020507" pitchFamily="18" charset="2"/>
              </a:rPr>
              <a:t>}</a:t>
            </a:r>
            <a:endParaRPr 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Union and Intersection in VD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086" y="1728786"/>
            <a:ext cx="10196514" cy="4167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Operation : Union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1056834" y="1481141"/>
            <a:ext cx="10763262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Examples</a:t>
            </a:r>
            <a:endParaRPr lang="en-US" b="1" dirty="0">
              <a:latin typeface="+mj-lt"/>
            </a:endParaRPr>
          </a:p>
        </p:txBody>
      </p:sp>
      <p:sp>
        <p:nvSpPr>
          <p:cNvPr id="11" name="Content Placeholder 2"/>
          <p:cNvSpPr txBox="1"/>
          <p:nvPr/>
        </p:nvSpPr>
        <p:spPr>
          <a:xfrm>
            <a:off x="1066787" y="2145138"/>
            <a:ext cx="10753309" cy="35162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dirty="0"/>
              <a:t>A = {1, 2, 3, 4}, B = {3, 4, 5, 6, 7}, C = {2, 3, 5, 7}</a:t>
            </a:r>
            <a:endParaRPr lang="en-US" dirty="0"/>
          </a:p>
          <a:p>
            <a:pPr marL="0" lvl="0" indent="0" fontAlgn="base">
              <a:lnSpc>
                <a:spcPct val="114000"/>
              </a:lnSpc>
              <a:spcBef>
                <a:spcPts val="0"/>
              </a:spcBef>
              <a:buNone/>
            </a:pPr>
            <a:endParaRPr lang="en-US" kern="0" dirty="0" smtClean="0">
              <a:solidFill>
                <a:srgbClr val="000000"/>
              </a:solidFill>
            </a:endParaRPr>
          </a:p>
          <a:p>
            <a:r>
              <a:rPr lang="en-US" sz="2400" dirty="0"/>
              <a:t>A U B = ?</a:t>
            </a:r>
            <a:endParaRPr lang="en-US" sz="2400" dirty="0"/>
          </a:p>
          <a:p>
            <a:r>
              <a:rPr lang="en-US" sz="2400" dirty="0"/>
              <a:t>A U C = ?</a:t>
            </a:r>
            <a:endParaRPr lang="en-US" sz="2400" dirty="0"/>
          </a:p>
          <a:p>
            <a:r>
              <a:rPr lang="en-US" sz="2400" dirty="0"/>
              <a:t>A </a:t>
            </a:r>
            <a:r>
              <a:rPr lang="en-US" sz="2400" dirty="0">
                <a:ea typeface="ヒラギノ角ゴ Pro W3" pitchFamily="-65" charset="-128"/>
              </a:rPr>
              <a:t>∩ B = ?</a:t>
            </a:r>
            <a:endParaRPr lang="en-US" sz="2400" dirty="0">
              <a:ea typeface="ヒラギノ角ゴ Pro W3" pitchFamily="-65" charset="-128"/>
            </a:endParaRPr>
          </a:p>
          <a:p>
            <a:r>
              <a:rPr lang="en-US" sz="2400" dirty="0">
                <a:ea typeface="ヒラギノ角ゴ Pro W3" pitchFamily="-65" charset="-128"/>
              </a:rPr>
              <a:t>B ∩ C = ?</a:t>
            </a:r>
            <a:endParaRPr lang="en-US" sz="2400" dirty="0"/>
          </a:p>
          <a:p>
            <a:pPr fontAlgn="base">
              <a:lnSpc>
                <a:spcPct val="150000"/>
              </a:lnSpc>
              <a:spcBef>
                <a:spcPts val="0"/>
              </a:spcBef>
            </a:pPr>
            <a:endParaRPr lang="en-US" sz="2400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Disjoint Sets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10246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Two sets are </a:t>
            </a:r>
            <a:r>
              <a:rPr lang="en-US" dirty="0" smtClean="0"/>
              <a:t>called disjoint if </a:t>
            </a:r>
            <a:r>
              <a:rPr lang="en-US" dirty="0"/>
              <a:t>their intersection is the empty set. </a:t>
            </a:r>
            <a:endParaRPr lang="en-US" dirty="0" smtClean="0"/>
          </a:p>
          <a:p>
            <a:pPr marL="0" indent="0">
              <a:buNone/>
            </a:pPr>
            <a:r>
              <a:rPr lang="en-US" sz="3200" dirty="0" smtClean="0"/>
              <a:t>i.e</a:t>
            </a:r>
            <a:r>
              <a:rPr lang="en-US" sz="3200" dirty="0"/>
              <a:t>.  </a:t>
            </a:r>
            <a:r>
              <a:rPr lang="en-US" sz="3200" i="1" dirty="0"/>
              <a:t>A </a:t>
            </a:r>
            <a:r>
              <a:rPr lang="en-US" sz="3200" dirty="0" smtClean="0">
                <a:sym typeface="Symbol" panose="05050102010706020507" pitchFamily="18" charset="2"/>
              </a:rPr>
              <a:t> </a:t>
            </a:r>
            <a:r>
              <a:rPr lang="en-US" sz="3200" i="1" dirty="0" smtClean="0"/>
              <a:t>B </a:t>
            </a:r>
            <a:r>
              <a:rPr lang="en-US" sz="3200" i="1" dirty="0"/>
              <a:t>= </a:t>
            </a:r>
            <a:r>
              <a:rPr lang="en-US" sz="3200" dirty="0">
                <a:sym typeface="Symbol" panose="05050102010706020507" pitchFamily="18" charset="2"/>
              </a:rPr>
              <a:t></a:t>
            </a:r>
            <a:r>
              <a:rPr lang="en-US" sz="2400" dirty="0">
                <a:sym typeface="Symbol" panose="05050102010706020507" pitchFamily="18" charset="2"/>
              </a:rPr>
              <a:t> .</a:t>
            </a:r>
            <a:endParaRPr lang="en-US" i="1" dirty="0"/>
          </a:p>
        </p:txBody>
      </p:sp>
      <p:pic>
        <p:nvPicPr>
          <p:cNvPr id="10" name="Picture 1036" descr="Dijoint"/>
          <p:cNvPicPr>
            <a:picLocks noChangeAspect="1" noChangeArrowheads="1"/>
          </p:cNvPicPr>
          <p:nvPr/>
        </p:nvPicPr>
        <p:blipFill>
          <a:blip r:embed="rId1">
            <a:duotone>
              <a:prstClr val="black"/>
              <a:schemeClr val="accent5">
                <a:lumMod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358" y="3697589"/>
            <a:ext cx="4354642" cy="279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1037"/>
          <p:cNvSpPr txBox="1">
            <a:spLocks noChangeArrowheads="1"/>
          </p:cNvSpPr>
          <p:nvPr/>
        </p:nvSpPr>
        <p:spPr bwMode="auto">
          <a:xfrm>
            <a:off x="8608376" y="4610813"/>
            <a:ext cx="25844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r>
              <a:rPr lang="en-US" sz="3200" i="1" dirty="0">
                <a:latin typeface="Times New Roman" panose="02020603050405020304" charset="0"/>
              </a:rPr>
              <a:t>A</a:t>
            </a:r>
            <a:endParaRPr lang="en-US" sz="3200" i="1" dirty="0">
              <a:latin typeface="Times New Roman" panose="02020603050405020304" charset="0"/>
            </a:endParaRPr>
          </a:p>
        </p:txBody>
      </p:sp>
      <p:sp>
        <p:nvSpPr>
          <p:cNvPr id="12" name="Text Box 1038"/>
          <p:cNvSpPr txBox="1">
            <a:spLocks noChangeArrowheads="1"/>
          </p:cNvSpPr>
          <p:nvPr/>
        </p:nvSpPr>
        <p:spPr bwMode="auto">
          <a:xfrm>
            <a:off x="10668314" y="4613942"/>
            <a:ext cx="25844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r>
              <a:rPr lang="en-US" sz="3200" i="1" dirty="0">
                <a:latin typeface="Times New Roman" panose="02020603050405020304" charset="0"/>
              </a:rPr>
              <a:t>B</a:t>
            </a:r>
            <a:endParaRPr lang="en-US" sz="3200" i="1" dirty="0">
              <a:latin typeface="Times New Roman" panose="02020603050405020304" charset="0"/>
            </a:endParaRPr>
          </a:p>
        </p:txBody>
      </p:sp>
      <p:sp>
        <p:nvSpPr>
          <p:cNvPr id="13" name="Text Box 1039"/>
          <p:cNvSpPr txBox="1">
            <a:spLocks noChangeArrowheads="1"/>
          </p:cNvSpPr>
          <p:nvPr/>
        </p:nvSpPr>
        <p:spPr bwMode="auto">
          <a:xfrm>
            <a:off x="11277600" y="3747466"/>
            <a:ext cx="2860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r>
              <a:rPr lang="en-US" sz="3200" i="1" dirty="0">
                <a:latin typeface="Times New Roman" panose="02020603050405020304" charset="0"/>
              </a:rPr>
              <a:t>U</a:t>
            </a:r>
            <a:endParaRPr lang="en-US" sz="3200" i="1" dirty="0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</a:t>
            </a:r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Operation :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Difference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16973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000000"/>
                </a:solidFill>
              </a:rPr>
              <a:t>Let A and B be </a:t>
            </a:r>
            <a:r>
              <a:rPr lang="en-US" kern="0" dirty="0">
                <a:solidFill>
                  <a:srgbClr val="000000"/>
                </a:solidFill>
              </a:rPr>
              <a:t>sets. </a:t>
            </a:r>
            <a:r>
              <a:rPr lang="en-US" kern="0" dirty="0" smtClean="0">
                <a:solidFill>
                  <a:srgbClr val="000000"/>
                </a:solidFill>
              </a:rPr>
              <a:t>The difference of A and B, denoted by A</a:t>
            </a:r>
            <a:r>
              <a:rPr lang="en-US" kern="0" dirty="0">
                <a:solidFill>
                  <a:srgbClr val="000000"/>
                </a:solidFill>
              </a:rPr>
              <a:t>−B</a:t>
            </a:r>
            <a:r>
              <a:rPr lang="en-US" kern="0" dirty="0" smtClean="0">
                <a:solidFill>
                  <a:srgbClr val="000000"/>
                </a:solidFill>
              </a:rPr>
              <a:t>, is </a:t>
            </a:r>
            <a:r>
              <a:rPr lang="en-US" kern="0" dirty="0">
                <a:solidFill>
                  <a:srgbClr val="000000"/>
                </a:solidFill>
              </a:rPr>
              <a:t>the set containing </a:t>
            </a:r>
            <a:r>
              <a:rPr lang="en-US" kern="0" dirty="0" smtClean="0">
                <a:solidFill>
                  <a:srgbClr val="000000"/>
                </a:solidFill>
              </a:rPr>
              <a:t>those elements </a:t>
            </a:r>
            <a:r>
              <a:rPr lang="en-US" kern="0" dirty="0">
                <a:solidFill>
                  <a:srgbClr val="000000"/>
                </a:solidFill>
              </a:rPr>
              <a:t>that are </a:t>
            </a:r>
            <a:r>
              <a:rPr lang="en-US" kern="0" dirty="0" smtClean="0">
                <a:solidFill>
                  <a:srgbClr val="000000"/>
                </a:solidFill>
              </a:rPr>
              <a:t>in A but </a:t>
            </a:r>
            <a:r>
              <a:rPr lang="en-US" kern="0" dirty="0">
                <a:solidFill>
                  <a:srgbClr val="000000"/>
                </a:solidFill>
              </a:rPr>
              <a:t>not </a:t>
            </a:r>
            <a:r>
              <a:rPr lang="en-US" kern="0" dirty="0" smtClean="0">
                <a:solidFill>
                  <a:srgbClr val="000000"/>
                </a:solidFill>
              </a:rPr>
              <a:t>in B</a:t>
            </a:r>
            <a:r>
              <a:rPr lang="en-US" kern="0" dirty="0">
                <a:solidFill>
                  <a:srgbClr val="000000"/>
                </a:solidFill>
              </a:rPr>
              <a:t>. The </a:t>
            </a:r>
            <a:r>
              <a:rPr lang="en-US" kern="0" dirty="0" smtClean="0">
                <a:solidFill>
                  <a:srgbClr val="000000"/>
                </a:solidFill>
              </a:rPr>
              <a:t>difference of A and B is </a:t>
            </a:r>
            <a:r>
              <a:rPr lang="en-US" kern="0" dirty="0">
                <a:solidFill>
                  <a:srgbClr val="000000"/>
                </a:solidFill>
              </a:rPr>
              <a:t>also called </a:t>
            </a:r>
            <a:r>
              <a:rPr lang="en-US" kern="0" dirty="0" smtClean="0">
                <a:solidFill>
                  <a:srgbClr val="000000"/>
                </a:solidFill>
              </a:rPr>
              <a:t>the complement of </a:t>
            </a:r>
            <a:r>
              <a:rPr lang="en-US" kern="0" dirty="0">
                <a:solidFill>
                  <a:srgbClr val="000000"/>
                </a:solidFill>
              </a:rPr>
              <a:t>B with respect to A.</a:t>
            </a:r>
            <a:endParaRPr lang="en-US" kern="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85396" y="4129767"/>
                <a:ext cx="10663250" cy="42473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b="1" dirty="0" smtClean="0">
                    <a:sym typeface="Symbol" panose="05050102010706020507" pitchFamily="18" charset="2"/>
                  </a:rPr>
                  <a:t>A − B = { x | x ∈ A ∧ x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∉</m:t>
                    </m:r>
                  </m:oMath>
                </a14:m>
                <a:r>
                  <a:rPr lang="en-US" sz="2400" b="1" dirty="0" smtClean="0">
                    <a:sym typeface="Symbol" panose="05050102010706020507" pitchFamily="18" charset="2"/>
                  </a:rPr>
                  <a:t> B</a:t>
                </a:r>
                <a:r>
                  <a:rPr lang="en-US" sz="2400" b="1" dirty="0">
                    <a:sym typeface="Symbol" panose="05050102010706020507" pitchFamily="18" charset="2"/>
                  </a:rPr>
                  <a:t>}</a:t>
                </a:r>
                <a:endParaRPr lang="en-US" sz="2400" b="1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396" y="4129767"/>
                <a:ext cx="10663250" cy="424732"/>
              </a:xfrm>
              <a:prstGeom prst="rect">
                <a:avLst/>
              </a:prstGeom>
              <a:blipFill rotWithShape="1">
                <a:blip r:embed="rId1"/>
                <a:stretch>
                  <a:fillRect l="-46" t="-1132" r="-40" b="-981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85396" y="4905763"/>
            <a:ext cx="10663250" cy="9343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lvl="0" indent="-3429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</a:rPr>
              <a:t>The difference of A and B is also called the complement of B with respect to A</a:t>
            </a:r>
            <a:r>
              <a:rPr lang="en-US" sz="2400" kern="0" dirty="0" smtClean="0">
                <a:solidFill>
                  <a:srgbClr val="000000"/>
                </a:solidFill>
              </a:rPr>
              <a:t>.</a:t>
            </a:r>
            <a:endParaRPr lang="en-US" sz="2400" kern="0" dirty="0" smtClean="0">
              <a:solidFill>
                <a:srgbClr val="000000"/>
              </a:solidFill>
            </a:endParaRPr>
          </a:p>
          <a:p>
            <a:pPr marL="342900" lvl="0" indent="-3429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</a:rPr>
              <a:t>The difference of </a:t>
            </a:r>
            <a:r>
              <a:rPr lang="en-US" sz="2400" kern="0" dirty="0" smtClean="0">
                <a:solidFill>
                  <a:srgbClr val="000000"/>
                </a:solidFill>
              </a:rPr>
              <a:t>sets A and B is </a:t>
            </a:r>
            <a:r>
              <a:rPr lang="en-US" sz="2400" kern="0" dirty="0">
                <a:solidFill>
                  <a:srgbClr val="000000"/>
                </a:solidFill>
              </a:rPr>
              <a:t>sometimes denoted </a:t>
            </a:r>
            <a:r>
              <a:rPr lang="en-US" sz="2400" kern="0" dirty="0" smtClean="0">
                <a:solidFill>
                  <a:srgbClr val="000000"/>
                </a:solidFill>
              </a:rPr>
              <a:t>by A \ B</a:t>
            </a:r>
            <a:r>
              <a:rPr lang="en-US" sz="2400" kern="0" dirty="0">
                <a:solidFill>
                  <a:srgbClr val="000000"/>
                </a:solidFill>
              </a:rPr>
              <a:t>.</a:t>
            </a:r>
            <a:endParaRPr lang="en-US" sz="2400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</a:t>
            </a:r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Operation :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Difference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Example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5"/>
            <a:ext cx="10653296" cy="25423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14000"/>
              </a:lnSpc>
              <a:spcBef>
                <a:spcPts val="0"/>
              </a:spcBef>
            </a:pPr>
            <a:r>
              <a:rPr lang="en-US" kern="0" dirty="0">
                <a:solidFill>
                  <a:srgbClr val="000000"/>
                </a:solidFill>
              </a:rPr>
              <a:t>Let A = {1</a:t>
            </a:r>
            <a:r>
              <a:rPr lang="en-US" kern="0" dirty="0" smtClean="0">
                <a:solidFill>
                  <a:srgbClr val="000000"/>
                </a:solidFill>
              </a:rPr>
              <a:t>, 3, 5</a:t>
            </a:r>
            <a:r>
              <a:rPr lang="en-US" kern="0" dirty="0">
                <a:solidFill>
                  <a:srgbClr val="000000"/>
                </a:solidFill>
              </a:rPr>
              <a:t>}, B = {1</a:t>
            </a:r>
            <a:r>
              <a:rPr lang="en-US" kern="0" dirty="0" smtClean="0">
                <a:solidFill>
                  <a:srgbClr val="000000"/>
                </a:solidFill>
              </a:rPr>
              <a:t>, 2, 3}</a:t>
            </a:r>
            <a:endParaRPr lang="en-US" kern="0" dirty="0" smtClean="0">
              <a:solidFill>
                <a:srgbClr val="000000"/>
              </a:solidFill>
            </a:endParaRPr>
          </a:p>
          <a:p>
            <a:pPr marL="0" indent="0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000000"/>
                </a:solidFill>
              </a:rPr>
              <a:t>	A </a:t>
            </a:r>
            <a:r>
              <a:rPr lang="en-US" kern="0" dirty="0">
                <a:solidFill>
                  <a:srgbClr val="000000"/>
                </a:solidFill>
              </a:rPr>
              <a:t>– B = {5} </a:t>
            </a:r>
            <a:endParaRPr lang="en-US" kern="0" dirty="0" smtClean="0">
              <a:solidFill>
                <a:srgbClr val="000000"/>
              </a:solidFill>
            </a:endParaRPr>
          </a:p>
          <a:p>
            <a:pPr fontAlgn="base">
              <a:lnSpc>
                <a:spcPct val="114000"/>
              </a:lnSpc>
              <a:spcBef>
                <a:spcPts val="0"/>
              </a:spcBef>
            </a:pPr>
            <a:r>
              <a:rPr lang="en-US" kern="0" dirty="0">
                <a:solidFill>
                  <a:srgbClr val="000000"/>
                </a:solidFill>
              </a:rPr>
              <a:t>Let A = {1</a:t>
            </a:r>
            <a:r>
              <a:rPr lang="en-US" kern="0" dirty="0" smtClean="0">
                <a:solidFill>
                  <a:srgbClr val="000000"/>
                </a:solidFill>
              </a:rPr>
              <a:t>, 3, 5, 6}, </a:t>
            </a:r>
            <a:r>
              <a:rPr lang="en-US" kern="0" dirty="0">
                <a:solidFill>
                  <a:srgbClr val="000000"/>
                </a:solidFill>
              </a:rPr>
              <a:t>B = {1</a:t>
            </a:r>
            <a:r>
              <a:rPr lang="en-US" kern="0" dirty="0" smtClean="0">
                <a:solidFill>
                  <a:srgbClr val="000000"/>
                </a:solidFill>
              </a:rPr>
              <a:t>, 2, 3,9,10}</a:t>
            </a:r>
            <a:endParaRPr lang="en-US" kern="0" dirty="0">
              <a:solidFill>
                <a:srgbClr val="000000"/>
              </a:solidFill>
            </a:endParaRPr>
          </a:p>
          <a:p>
            <a:pPr marL="0" indent="0" fontAlgn="base">
              <a:lnSpc>
                <a:spcPct val="114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000000"/>
                </a:solidFill>
              </a:rPr>
              <a:t>	A – B = {</a:t>
            </a:r>
            <a:r>
              <a:rPr lang="en-US" kern="0" dirty="0" smtClean="0">
                <a:solidFill>
                  <a:srgbClr val="000000"/>
                </a:solidFill>
              </a:rPr>
              <a:t>5, 6} </a:t>
            </a:r>
            <a:endParaRPr lang="en-US" kern="0" dirty="0">
              <a:solidFill>
                <a:srgbClr val="000000"/>
              </a:solidFill>
            </a:endParaRPr>
          </a:p>
          <a:p>
            <a:pPr marL="0" indent="0" fontAlgn="base">
              <a:lnSpc>
                <a:spcPct val="114000"/>
              </a:lnSpc>
              <a:spcBef>
                <a:spcPts val="0"/>
              </a:spcBef>
              <a:buNone/>
            </a:pPr>
            <a:endParaRPr lang="en-US" kern="0" dirty="0">
              <a:solidFill>
                <a:srgbClr val="00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1112" y="2490788"/>
            <a:ext cx="3961620" cy="36052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Operation : Complement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/>
              <p:cNvSpPr txBox="1"/>
              <p:nvPr/>
            </p:nvSpPr>
            <p:spPr>
              <a:xfrm>
                <a:off x="1005304" y="2201095"/>
                <a:ext cx="10653296" cy="169733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fontAlgn="base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kern="0" dirty="0" smtClean="0">
                    <a:solidFill>
                      <a:srgbClr val="000000"/>
                    </a:solidFill>
                  </a:rPr>
                  <a:t>Let U be </a:t>
                </a:r>
                <a:r>
                  <a:rPr lang="en-US" kern="0" dirty="0">
                    <a:solidFill>
                      <a:srgbClr val="000000"/>
                    </a:solidFill>
                  </a:rPr>
                  <a:t>the universal set.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The complement of </a:t>
                </a:r>
                <a:r>
                  <a:rPr lang="en-US" kern="0" dirty="0">
                    <a:solidFill>
                      <a:srgbClr val="000000"/>
                    </a:solidFill>
                  </a:rPr>
                  <a:t>the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set A, denoted by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kern="0" smtClean="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kern="0" dirty="0" smtClean="0">
                    <a:solidFill>
                      <a:srgbClr val="000000"/>
                    </a:solidFill>
                  </a:rPr>
                  <a:t>, is </a:t>
                </a:r>
                <a:r>
                  <a:rPr lang="en-US" kern="0" dirty="0">
                    <a:solidFill>
                      <a:srgbClr val="000000"/>
                    </a:solidFill>
                  </a:rPr>
                  <a:t>the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complement of A with </a:t>
                </a:r>
                <a:r>
                  <a:rPr lang="en-US" kern="0" dirty="0">
                    <a:solidFill>
                      <a:srgbClr val="000000"/>
                    </a:solidFill>
                  </a:rPr>
                  <a:t>respect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to U</a:t>
                </a:r>
                <a:r>
                  <a:rPr lang="en-US" kern="0" dirty="0">
                    <a:solidFill>
                      <a:srgbClr val="000000"/>
                    </a:solidFill>
                  </a:rPr>
                  <a:t>. Therefore, the complement of the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set A is U</a:t>
                </a:r>
                <a:r>
                  <a:rPr lang="en-US" kern="0" dirty="0">
                    <a:solidFill>
                      <a:srgbClr val="000000"/>
                    </a:solidFill>
                  </a:rPr>
                  <a:t>−A.</a:t>
                </a:r>
                <a:endParaRPr 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04" y="2201095"/>
                <a:ext cx="10653296" cy="1697335"/>
              </a:xfrm>
              <a:prstGeom prst="rect">
                <a:avLst/>
              </a:prstGeom>
              <a:blipFill rotWithShape="1">
                <a:blip r:embed="rId1"/>
                <a:stretch>
                  <a:fillRect l="-1" t="-11" b="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005304" y="4150843"/>
                <a:ext cx="3086542" cy="42473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b="1" dirty="0" smtClean="0">
                    <a:sym typeface="Symbol" panose="05050102010706020507" pitchFamily="18" charset="2"/>
                  </a:rPr>
                  <a:t>A = {x ∈ U | 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∉</m:t>
                    </m:r>
                  </m:oMath>
                </a14:m>
                <a:r>
                  <a:rPr lang="en-US" sz="2400" b="1" dirty="0" smtClean="0">
                    <a:sym typeface="Symbol" panose="05050102010706020507" pitchFamily="18" charset="2"/>
                  </a:rPr>
                  <a:t> A</a:t>
                </a:r>
                <a:r>
                  <a:rPr lang="en-US" sz="2400" b="1" dirty="0">
                    <a:sym typeface="Symbol" panose="05050102010706020507" pitchFamily="18" charset="2"/>
                  </a:rPr>
                  <a:t>}.</a:t>
                </a:r>
                <a:endParaRPr lang="en-US" sz="2400" b="1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04" y="4150843"/>
                <a:ext cx="3086542" cy="424732"/>
              </a:xfrm>
              <a:prstGeom prst="rect">
                <a:avLst/>
              </a:prstGeom>
              <a:blipFill rotWithShape="1">
                <a:blip r:embed="rId2"/>
                <a:stretch>
                  <a:fillRect l="-168" t="-1160" r="-147" b="-1102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713" y="3236569"/>
            <a:ext cx="3661933" cy="31679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Set </a:t>
            </a:r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Operation : </a:t>
            </a:r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Symmetric Difference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889714" y="1537098"/>
            <a:ext cx="10663250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Definition</a:t>
            </a:r>
            <a:endParaRPr lang="en-US" b="1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/>
              <p:cNvSpPr txBox="1"/>
              <p:nvPr/>
            </p:nvSpPr>
            <p:spPr>
              <a:xfrm>
                <a:off x="899668" y="2201095"/>
                <a:ext cx="10663250" cy="169939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just" fontAlgn="base">
                  <a:lnSpc>
                    <a:spcPct val="114000"/>
                  </a:lnSpc>
                  <a:spcBef>
                    <a:spcPts val="0"/>
                  </a:spcBef>
                  <a:buNone/>
                </a:pPr>
                <a:r>
                  <a:rPr lang="en-US" kern="0" dirty="0" smtClean="0">
                    <a:solidFill>
                      <a:srgbClr val="000000"/>
                    </a:solidFill>
                  </a:rPr>
                  <a:t>Let A and B be </a:t>
                </a:r>
                <a:r>
                  <a:rPr lang="en-US" kern="0" dirty="0">
                    <a:solidFill>
                      <a:srgbClr val="000000"/>
                    </a:solidFill>
                  </a:rPr>
                  <a:t>sets.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The symmetric difference of A and B, denoted by   A</a:t>
                </a:r>
                <a14:m>
                  <m:oMath xmlns:m="http://schemas.openxmlformats.org/officeDocument/2006/math">
                    <m:r>
                      <a:rPr lang="en-US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kern="0" dirty="0" smtClean="0">
                    <a:solidFill>
                      <a:srgbClr val="000000"/>
                    </a:solidFill>
                  </a:rPr>
                  <a:t> B, is </a:t>
                </a:r>
                <a:r>
                  <a:rPr lang="en-US" kern="0" dirty="0">
                    <a:solidFill>
                      <a:srgbClr val="000000"/>
                    </a:solidFill>
                  </a:rPr>
                  <a:t>the set containing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those elements </a:t>
                </a:r>
                <a:r>
                  <a:rPr lang="en-US" kern="0" dirty="0">
                    <a:solidFill>
                      <a:srgbClr val="000000"/>
                    </a:solidFill>
                  </a:rPr>
                  <a:t>that </a:t>
                </a:r>
                <a:r>
                  <a:rPr lang="en-US" kern="0" dirty="0" smtClean="0">
                    <a:solidFill>
                      <a:srgbClr val="000000"/>
                    </a:solidFill>
                  </a:rPr>
                  <a:t>are either in A or in B, but not in both. </a:t>
                </a:r>
                <a:endParaRPr 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68" y="2201095"/>
                <a:ext cx="10663250" cy="1699393"/>
              </a:xfrm>
              <a:prstGeom prst="rect">
                <a:avLst/>
              </a:prstGeom>
              <a:blipFill rotWithShape="1">
                <a:blip r:embed="rId1"/>
                <a:stretch>
                  <a:fillRect l="-5" t="-11" r="2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99668" y="4201202"/>
                <a:ext cx="5988966" cy="42473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b="1" dirty="0" smtClean="0">
                    <a:sym typeface="Symbol" panose="05050102010706020507" pitchFamily="18" charset="2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2400" b="1" dirty="0" smtClean="0">
                    <a:sym typeface="Symbol" panose="05050102010706020507" pitchFamily="18" charset="2"/>
                  </a:rPr>
                  <a:t> B = { x | x ∈ A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∨</m:t>
                    </m:r>
                  </m:oMath>
                </a14:m>
                <a:r>
                  <a:rPr lang="en-US" sz="2400" b="1" dirty="0" smtClean="0">
                    <a:sym typeface="Symbol" panose="05050102010706020507" pitchFamily="18" charset="2"/>
                  </a:rPr>
                  <a:t> 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</m:oMath>
                </a14:m>
                <a:r>
                  <a:rPr lang="en-US" sz="2400" b="1" dirty="0" smtClean="0">
                    <a:sym typeface="Symbol" panose="05050102010706020507" pitchFamily="18" charset="2"/>
                  </a:rPr>
                  <a:t> B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∧</m:t>
                    </m:r>
                  </m:oMath>
                </a14:m>
                <a:r>
                  <a:rPr lang="en-US" sz="2400" b="1" dirty="0" smtClean="0">
                    <a:sym typeface="Symbol" panose="05050102010706020507" pitchFamily="18" charset="2"/>
                  </a:rPr>
                  <a:t> 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∉</m:t>
                    </m:r>
                  </m:oMath>
                </a14:m>
                <a:r>
                  <a:rPr lang="en-US" sz="2400" b="1" dirty="0" smtClean="0">
                    <a:sym typeface="Symbol" panose="05050102010706020507" pitchFamily="18" charset="2"/>
                  </a:rPr>
                  <a:t> (A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∩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sz="2400" b="1" dirty="0" smtClean="0">
                    <a:sym typeface="Symbol" panose="05050102010706020507" pitchFamily="18" charset="2"/>
                  </a:rPr>
                  <a:t>}</a:t>
                </a:r>
                <a:endParaRPr lang="en-US" sz="2400" b="1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68" y="4201202"/>
                <a:ext cx="5988966" cy="424732"/>
              </a:xfrm>
              <a:prstGeom prst="rect">
                <a:avLst/>
              </a:prstGeom>
              <a:blipFill rotWithShape="1">
                <a:blip r:embed="rId2"/>
                <a:stretch>
                  <a:fillRect l="-83" t="-1206" r="-72" b="-1056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SymmetricDiffer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366" y="3457902"/>
            <a:ext cx="4957572" cy="297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8252298" y="4495552"/>
            <a:ext cx="3300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r>
              <a:rPr lang="en-US" sz="3200" i="1" dirty="0">
                <a:latin typeface="Times New Roman" panose="02020603050405020304" charset="0"/>
              </a:rPr>
              <a:t>A</a:t>
            </a:r>
            <a:endParaRPr lang="en-US" sz="3200" i="1" dirty="0">
              <a:latin typeface="Times New Roman" panose="02020603050405020304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0379263" y="4495552"/>
            <a:ext cx="3300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r>
              <a:rPr lang="en-US" sz="3200" i="1">
                <a:latin typeface="Times New Roman" panose="02020603050405020304" charset="0"/>
              </a:rPr>
              <a:t>B</a:t>
            </a:r>
            <a:endParaRPr lang="en-US" sz="3200" i="1">
              <a:latin typeface="Times New Roman" panose="02020603050405020304" charset="0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11370366" y="3584840"/>
            <a:ext cx="3651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r>
              <a:rPr lang="en-US" sz="3200" i="1" dirty="0">
                <a:latin typeface="Times New Roman" panose="02020603050405020304" charset="0"/>
              </a:rPr>
              <a:t>U</a:t>
            </a:r>
            <a:endParaRPr lang="en-US" sz="3200" i="1" dirty="0">
              <a:latin typeface="Times New Roman" panose="02020603050405020304" charset="0"/>
            </a:endParaRP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9053956" y="3435299"/>
            <a:ext cx="1080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r>
              <a:rPr lang="en-US" sz="3200" i="1" dirty="0">
                <a:latin typeface="Times New Roman" panose="02020603050405020304" charset="0"/>
              </a:rPr>
              <a:t>A</a:t>
            </a:r>
            <a:r>
              <a:rPr 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</a:t>
            </a:r>
            <a:r>
              <a:rPr lang="en-US" sz="3200" i="1" dirty="0">
                <a:latin typeface="Times New Roman" panose="02020603050405020304" charset="0"/>
              </a:rPr>
              <a:t>B</a:t>
            </a:r>
            <a:endParaRPr lang="en-US" sz="3200" i="1" dirty="0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 animBg="1"/>
      <p:bldP spid="12" grpId="0"/>
      <p:bldP spid="13" grpId="0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How to Prove a Set </a:t>
            </a:r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identities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dirty="0" smtClean="0">
                <a:latin typeface="+mj-lt"/>
              </a:rPr>
              <a:t> Methods</a:t>
            </a:r>
            <a:endParaRPr lang="en-US" b="1" dirty="0">
              <a:latin typeface="+mj-lt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01094"/>
            <a:ext cx="10653296" cy="3151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50000"/>
              </a:lnSpc>
            </a:pPr>
            <a:r>
              <a:rPr lang="en-US" dirty="0"/>
              <a:t>Use the basic set identities</a:t>
            </a:r>
            <a:endParaRPr lang="en-US" dirty="0"/>
          </a:p>
          <a:p>
            <a:pPr lvl="1" algn="just">
              <a:lnSpc>
                <a:spcPct val="150000"/>
              </a:lnSpc>
            </a:pPr>
            <a:r>
              <a:rPr lang="en-US" dirty="0"/>
              <a:t>Use membership tables</a:t>
            </a:r>
            <a:endParaRPr lang="en-US" dirty="0"/>
          </a:p>
          <a:p>
            <a:pPr lvl="1" algn="just">
              <a:lnSpc>
                <a:spcPct val="150000"/>
              </a:lnSpc>
            </a:pPr>
            <a:r>
              <a:rPr lang="en-US" dirty="0"/>
              <a:t>Prove each set is a subset of each </a:t>
            </a:r>
            <a:r>
              <a:rPr lang="en-US" dirty="0" smtClean="0"/>
              <a:t>other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Use Venn Diagram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563" name="Group 3"/>
          <p:cNvGraphicFramePr>
            <a:graphicFrameLocks noGrp="1"/>
          </p:cNvGraphicFramePr>
          <p:nvPr/>
        </p:nvGraphicFramePr>
        <p:xfrm>
          <a:off x="457200" y="1504955"/>
          <a:ext cx="11344276" cy="418698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86088"/>
                <a:gridCol w="2287919"/>
                <a:gridCol w="3727119"/>
                <a:gridCol w="2343150"/>
              </a:tblGrid>
              <a:tr h="7641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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= A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U = A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Identity Law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U = U</a:t>
                      </a:r>
                      <a:endParaRPr kumimoji="0" lang="en-US" sz="20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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= 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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Domination law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</a:tr>
              <a:tr h="7641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 = A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 = A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Idempotent Law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(A</a:t>
                      </a:r>
                      <a:r>
                        <a:rPr kumimoji="0" lang="en-US" sz="2000" u="none" strike="noStrike" cap="none" normalizeH="0" baseline="3000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)</a:t>
                      </a:r>
                      <a:r>
                        <a:rPr kumimoji="0" lang="en-US" sz="2000" u="none" strike="noStrike" cap="none" normalizeH="0" baseline="3000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= A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Complement Law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</a:tr>
              <a:tr h="8500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 = B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sz="20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 = B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Commutative Law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B)</a:t>
                      </a:r>
                      <a:r>
                        <a:rPr kumimoji="0" lang="en-US" sz="2000" u="none" strike="noStrike" cap="none" normalizeH="0" baseline="3000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= A</a:t>
                      </a:r>
                      <a:r>
                        <a:rPr kumimoji="0" lang="en-US" sz="2000" u="none" strike="noStrike" cap="none" normalizeH="0" baseline="30000" dirty="0" smtClean="0">
                          <a:ln>
                            <a:noFill/>
                          </a:ln>
                          <a:effectLst/>
                        </a:rPr>
                        <a:t>c 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 </a:t>
                      </a:r>
                      <a:r>
                        <a:rPr kumimoji="0" lang="en-US" sz="20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B</a:t>
                      </a:r>
                      <a:r>
                        <a:rPr kumimoji="0" lang="en-US" sz="2000" u="none" strike="noStrike" cap="none" normalizeH="0" baseline="30000" dirty="0" err="1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B)</a:t>
                      </a:r>
                      <a:r>
                        <a:rPr kumimoji="0" lang="en-US" sz="2000" u="none" strike="noStrike" cap="none" normalizeH="0" baseline="3000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= A</a:t>
                      </a:r>
                      <a:r>
                        <a:rPr kumimoji="0" lang="en-US" sz="2000" u="none" strike="noStrike" cap="none" normalizeH="0" baseline="30000" dirty="0" smtClean="0">
                          <a:ln>
                            <a:noFill/>
                          </a:ln>
                          <a:effectLst/>
                        </a:rPr>
                        <a:t>c 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 </a:t>
                      </a:r>
                      <a:r>
                        <a:rPr kumimoji="0" lang="en-US" sz="20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B</a:t>
                      </a:r>
                      <a:r>
                        <a:rPr kumimoji="0" lang="en-US" sz="2000" u="none" strike="noStrike" cap="none" normalizeH="0" baseline="30000" dirty="0" err="1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 Morgan’s Law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</a:tr>
              <a:tr h="960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(B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C) = (A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B)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(B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C) = (A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B)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Associative Law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(B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C) = (A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B)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C)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(B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C) = (A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B)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Distributive Law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</a:tr>
              <a:tr h="8484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(A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B) = A</a:t>
                      </a:r>
                      <a:endParaRPr kumimoji="0" lang="en-US" sz="20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(A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B) = A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Absorption Law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 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A</a:t>
                      </a:r>
                      <a:r>
                        <a:rPr kumimoji="0" lang="en-US" sz="2000" u="none" strike="noStrike" cap="none" normalizeH="0" baseline="3000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= U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 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A</a:t>
                      </a:r>
                      <a:r>
                        <a:rPr kumimoji="0" lang="en-US" sz="2000" u="none" strike="noStrike" cap="none" normalizeH="0" baseline="3000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= 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anose="05050102010706020507" pitchFamily="18" charset="2"/>
                        </a:rPr>
                        <a:t>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Monotype Sorts" pitchFamily="-65" charset="2"/>
                        <a:buNone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Complement Law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-65" charset="0"/>
                        <a:ea typeface="Osaka" pitchFamily="-65" charset="-128"/>
                        <a:cs typeface="Arial" panose="020B0604020202020204" pitchFamily="34" charset="0"/>
                      </a:endParaRPr>
                    </a:p>
                  </a:txBody>
                  <a:tcPr marT="45723" marB="45723" anchor="ctr" horzOverflow="overflow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4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kern="0" smtClean="0">
                <a:solidFill>
                  <a:schemeClr val="bg1"/>
                </a:solidFill>
                <a:latin typeface="Rockwell" panose="02060603020205020403" pitchFamily="18" charset="0"/>
              </a:rPr>
              <a:t>Set identities</a:t>
            </a:r>
            <a:endParaRPr lang="en-US" sz="4800" b="1" kern="0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identities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dirty="0">
                <a:sym typeface="Symbol" panose="05050102010706020507" pitchFamily="18" charset="2"/>
              </a:rPr>
              <a:t>(</a:t>
            </a:r>
            <a:r>
              <a:rPr lang="en-US" i="1" dirty="0" smtClean="0"/>
              <a:t>A </a:t>
            </a:r>
            <a:r>
              <a:rPr lang="en-US" dirty="0" smtClean="0">
                <a:sym typeface="Symbol" panose="05050102010706020507" pitchFamily="18" charset="2"/>
              </a:rPr>
              <a:t> </a:t>
            </a:r>
            <a:r>
              <a:rPr lang="en-US" i="1" dirty="0" smtClean="0">
                <a:sym typeface="Symbol" panose="05050102010706020507" pitchFamily="18" charset="2"/>
              </a:rPr>
              <a:t>B </a:t>
            </a:r>
            <a:r>
              <a:rPr lang="en-US" dirty="0" smtClean="0">
                <a:sym typeface="Symbol" panose="05050102010706020507" pitchFamily="18" charset="2"/>
              </a:rPr>
              <a:t>)  </a:t>
            </a:r>
            <a:r>
              <a:rPr lang="en-US" i="1" dirty="0" smtClean="0">
                <a:sym typeface="Symbol" panose="05050102010706020507" pitchFamily="18" charset="2"/>
              </a:rPr>
              <a:t>C </a:t>
            </a:r>
            <a:r>
              <a:rPr lang="en-US" dirty="0">
                <a:sym typeface="Symbol" panose="05050102010706020507" pitchFamily="18" charset="2"/>
              </a:rPr>
              <a:t>= </a:t>
            </a:r>
            <a:r>
              <a:rPr lang="en-US" i="1" dirty="0" smtClean="0"/>
              <a:t>A </a:t>
            </a:r>
            <a:r>
              <a:rPr lang="en-US" dirty="0" smtClean="0">
                <a:sym typeface="Symbol" panose="05050102010706020507" pitchFamily="18" charset="2"/>
              </a:rPr>
              <a:t> (</a:t>
            </a:r>
            <a:r>
              <a:rPr lang="en-US" i="1" dirty="0">
                <a:sym typeface="Symbol" panose="05050102010706020507" pitchFamily="18" charset="2"/>
              </a:rPr>
              <a:t>B </a:t>
            </a:r>
            <a:r>
              <a:rPr lang="en-US" dirty="0" smtClean="0">
                <a:sym typeface="Symbol" panose="05050102010706020507" pitchFamily="18" charset="2"/>
              </a:rPr>
              <a:t> </a:t>
            </a:r>
            <a:r>
              <a:rPr lang="en-US" i="1" dirty="0" smtClean="0">
                <a:sym typeface="Symbol" panose="05050102010706020507" pitchFamily="18" charset="2"/>
              </a:rPr>
              <a:t>C </a:t>
            </a:r>
            <a:r>
              <a:rPr lang="en-US" dirty="0">
                <a:sym typeface="Symbol" panose="05050102010706020507" pitchFamily="18" charset="2"/>
              </a:rPr>
              <a:t>) </a:t>
            </a:r>
            <a:endParaRPr lang="en-US" dirty="0">
              <a:sym typeface="Symbol" panose="05050102010706020507" pitchFamily="18" charset="2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05304" y="2228850"/>
            <a:ext cx="10653296" cy="33765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sz="800" i="1" dirty="0" smtClean="0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 smtClean="0">
                <a:sym typeface="Symbol" panose="05050102010706020507" pitchFamily="18" charset="2"/>
              </a:rPr>
              <a:t>Proof </a:t>
            </a:r>
            <a:r>
              <a:rPr lang="en-US" dirty="0">
                <a:sym typeface="Symbol" panose="05050102010706020507" pitchFamily="18" charset="2"/>
              </a:rPr>
              <a:t>: (</a:t>
            </a:r>
            <a:r>
              <a:rPr lang="en-US" i="1" dirty="0"/>
              <a:t>A</a:t>
            </a:r>
            <a:r>
              <a:rPr lang="en-US" dirty="0">
                <a:sym typeface="Symbol" panose="05050102010706020507" pitchFamily="18" charset="2"/>
              </a:rPr>
              <a:t></a:t>
            </a:r>
            <a:r>
              <a:rPr lang="en-US" i="1" dirty="0">
                <a:sym typeface="Symbol" panose="05050102010706020507" pitchFamily="18" charset="2"/>
              </a:rPr>
              <a:t>B </a:t>
            </a:r>
            <a:r>
              <a:rPr lang="en-US" dirty="0">
                <a:sym typeface="Symbol" panose="05050102010706020507" pitchFamily="18" charset="2"/>
              </a:rPr>
              <a:t>)</a:t>
            </a:r>
            <a:r>
              <a:rPr lang="en-US" i="1" dirty="0">
                <a:sym typeface="Symbol" panose="05050102010706020507" pitchFamily="18" charset="2"/>
              </a:rPr>
              <a:t>C  </a:t>
            </a:r>
            <a:r>
              <a:rPr lang="en-US" dirty="0">
                <a:sym typeface="Symbol" panose="05050102010706020507" pitchFamily="18" charset="2"/>
              </a:rPr>
              <a:t>= {</a:t>
            </a:r>
            <a:r>
              <a:rPr lang="en-US" i="1" dirty="0"/>
              <a:t>x </a:t>
            </a:r>
            <a:r>
              <a:rPr lang="en-US" dirty="0"/>
              <a:t>|</a:t>
            </a:r>
            <a:r>
              <a:rPr lang="en-US" i="1" dirty="0"/>
              <a:t> x </a:t>
            </a:r>
            <a:r>
              <a:rPr lang="en-US" dirty="0">
                <a:sym typeface="Symbol" panose="05050102010706020507" pitchFamily="18" charset="2"/>
              </a:rPr>
              <a:t> </a:t>
            </a:r>
            <a:r>
              <a:rPr lang="en-US" i="1" dirty="0">
                <a:sym typeface="Symbol" panose="05050102010706020507" pitchFamily="18" charset="2"/>
              </a:rPr>
              <a:t>A</a:t>
            </a:r>
            <a:r>
              <a:rPr lang="en-US" i="1" dirty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</a:t>
            </a:r>
            <a:r>
              <a:rPr lang="en-US" i="1" dirty="0">
                <a:sym typeface="Symbol" panose="05050102010706020507" pitchFamily="18" charset="2"/>
              </a:rPr>
              <a:t>B </a:t>
            </a:r>
            <a:r>
              <a:rPr lang="en-US" i="1" dirty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 </a:t>
            </a:r>
            <a:r>
              <a:rPr lang="en-US" i="1" dirty="0"/>
              <a:t>x </a:t>
            </a:r>
            <a:r>
              <a:rPr lang="en-US" dirty="0">
                <a:sym typeface="Symbol" panose="05050102010706020507" pitchFamily="18" charset="2"/>
              </a:rPr>
              <a:t> </a:t>
            </a:r>
            <a:r>
              <a:rPr lang="en-US" i="1" dirty="0">
                <a:sym typeface="Symbol" panose="05050102010706020507" pitchFamily="18" charset="2"/>
              </a:rPr>
              <a:t>C </a:t>
            </a:r>
            <a:r>
              <a:rPr lang="en-US" dirty="0"/>
              <a:t>}</a:t>
            </a:r>
            <a:r>
              <a:rPr lang="en-US" i="1" dirty="0">
                <a:latin typeface="Times New Roman" panose="02020603050405020304" charset="0"/>
                <a:sym typeface="Symbol" panose="05050102010706020507" pitchFamily="18" charset="2"/>
              </a:rPr>
              <a:t>         </a:t>
            </a:r>
            <a:r>
              <a:rPr lang="en-US" dirty="0">
                <a:sym typeface="Symbol" panose="05050102010706020507" pitchFamily="18" charset="2"/>
              </a:rPr>
              <a:t>(by def.)</a:t>
            </a:r>
            <a:endParaRPr lang="en-US" dirty="0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ym typeface="Symbol" panose="05050102010706020507" pitchFamily="18" charset="2"/>
              </a:rPr>
              <a:t>		= {</a:t>
            </a:r>
            <a:r>
              <a:rPr lang="en-US" i="1" dirty="0"/>
              <a:t>x </a:t>
            </a:r>
            <a:r>
              <a:rPr lang="en-US" dirty="0"/>
              <a:t>|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/>
              <a:t>x </a:t>
            </a:r>
            <a:r>
              <a:rPr lang="en-US" dirty="0">
                <a:sym typeface="Symbol" panose="05050102010706020507" pitchFamily="18" charset="2"/>
              </a:rPr>
              <a:t> </a:t>
            </a:r>
            <a:r>
              <a:rPr lang="en-US" i="1" dirty="0">
                <a:sym typeface="Symbol" panose="05050102010706020507" pitchFamily="18" charset="2"/>
              </a:rPr>
              <a:t>A</a:t>
            </a:r>
            <a:r>
              <a:rPr lang="en-US" i="1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dirty="0">
                <a:sym typeface="Symbol" panose="05050102010706020507" pitchFamily="18" charset="2"/>
              </a:rPr>
              <a:t> </a:t>
            </a:r>
            <a:r>
              <a:rPr lang="en-US" i="1" dirty="0">
                <a:latin typeface="Times New Roman" panose="02020603050405020304" charset="0"/>
              </a:rPr>
              <a:t> </a:t>
            </a:r>
            <a:r>
              <a:rPr lang="en-US" i="1" dirty="0"/>
              <a:t>x </a:t>
            </a:r>
            <a:r>
              <a:rPr lang="en-US" dirty="0">
                <a:sym typeface="Symbol" panose="05050102010706020507" pitchFamily="18" charset="2"/>
              </a:rPr>
              <a:t> </a:t>
            </a:r>
            <a:r>
              <a:rPr lang="en-US" i="1" dirty="0">
                <a:sym typeface="Symbol" panose="05050102010706020507" pitchFamily="18" charset="2"/>
              </a:rPr>
              <a:t>B </a:t>
            </a:r>
            <a:r>
              <a:rPr lang="en-US" dirty="0">
                <a:sym typeface="Symbol" panose="05050102010706020507" pitchFamily="18" charset="2"/>
              </a:rPr>
              <a:t>)  </a:t>
            </a:r>
            <a:r>
              <a:rPr lang="en-US" i="1" dirty="0"/>
              <a:t>x </a:t>
            </a:r>
            <a:r>
              <a:rPr lang="en-US" dirty="0">
                <a:sym typeface="Symbol" panose="05050102010706020507" pitchFamily="18" charset="2"/>
              </a:rPr>
              <a:t> </a:t>
            </a:r>
            <a:r>
              <a:rPr lang="en-US" i="1" dirty="0">
                <a:sym typeface="Symbol" panose="05050102010706020507" pitchFamily="18" charset="2"/>
              </a:rPr>
              <a:t>C </a:t>
            </a:r>
            <a:r>
              <a:rPr lang="en-US" dirty="0">
                <a:sym typeface="Symbol" panose="05050102010706020507" pitchFamily="18" charset="2"/>
              </a:rPr>
              <a:t>}              </a:t>
            </a:r>
            <a:r>
              <a:rPr lang="en-US" dirty="0" smtClean="0">
                <a:sym typeface="Symbol" panose="05050102010706020507" pitchFamily="18" charset="2"/>
              </a:rPr>
              <a:t>    (</a:t>
            </a:r>
            <a:r>
              <a:rPr lang="en-US" dirty="0">
                <a:sym typeface="Symbol" panose="05050102010706020507" pitchFamily="18" charset="2"/>
              </a:rPr>
              <a:t>by def.)</a:t>
            </a:r>
            <a:endParaRPr lang="en-US" dirty="0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ym typeface="Symbol" panose="05050102010706020507" pitchFamily="18" charset="2"/>
              </a:rPr>
              <a:t>		= {</a:t>
            </a:r>
            <a:r>
              <a:rPr lang="en-US" i="1" dirty="0"/>
              <a:t>x </a:t>
            </a:r>
            <a:r>
              <a:rPr lang="en-US" dirty="0"/>
              <a:t>|</a:t>
            </a:r>
            <a:r>
              <a:rPr lang="en-US" i="1" dirty="0"/>
              <a:t> x </a:t>
            </a:r>
            <a:r>
              <a:rPr lang="en-US" dirty="0">
                <a:sym typeface="Symbol" panose="05050102010706020507" pitchFamily="18" charset="2"/>
              </a:rPr>
              <a:t> </a:t>
            </a:r>
            <a:r>
              <a:rPr lang="en-US" i="1" dirty="0">
                <a:sym typeface="Symbol" panose="05050102010706020507" pitchFamily="18" charset="2"/>
              </a:rPr>
              <a:t>A</a:t>
            </a:r>
            <a:r>
              <a:rPr lang="en-US" i="1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dirty="0">
                <a:sym typeface="Symbol" panose="05050102010706020507" pitchFamily="18" charset="2"/>
              </a:rPr>
              <a:t> </a:t>
            </a:r>
            <a:r>
              <a:rPr lang="en-US" dirty="0"/>
              <a:t>(</a:t>
            </a:r>
            <a:r>
              <a:rPr lang="en-US" i="1" dirty="0">
                <a:latin typeface="Times New Roman" panose="02020603050405020304" charset="0"/>
              </a:rPr>
              <a:t> </a:t>
            </a:r>
            <a:r>
              <a:rPr lang="en-US" i="1" dirty="0"/>
              <a:t>x </a:t>
            </a:r>
            <a:r>
              <a:rPr lang="en-US" dirty="0">
                <a:sym typeface="Symbol" panose="05050102010706020507" pitchFamily="18" charset="2"/>
              </a:rPr>
              <a:t> </a:t>
            </a:r>
            <a:r>
              <a:rPr lang="en-US" i="1" dirty="0">
                <a:sym typeface="Symbol" panose="05050102010706020507" pitchFamily="18" charset="2"/>
              </a:rPr>
              <a:t>B </a:t>
            </a:r>
            <a:r>
              <a:rPr lang="en-US" dirty="0">
                <a:sym typeface="Symbol" panose="05050102010706020507" pitchFamily="18" charset="2"/>
              </a:rPr>
              <a:t> </a:t>
            </a:r>
            <a:r>
              <a:rPr lang="en-US" i="1" dirty="0"/>
              <a:t>x </a:t>
            </a:r>
            <a:r>
              <a:rPr lang="en-US" dirty="0">
                <a:sym typeface="Symbol" panose="05050102010706020507" pitchFamily="18" charset="2"/>
              </a:rPr>
              <a:t> </a:t>
            </a:r>
            <a:r>
              <a:rPr lang="en-US" i="1" dirty="0">
                <a:sym typeface="Symbol" panose="05050102010706020507" pitchFamily="18" charset="2"/>
              </a:rPr>
              <a:t>C </a:t>
            </a:r>
            <a:r>
              <a:rPr lang="en-US" dirty="0">
                <a:sym typeface="Symbol" panose="05050102010706020507" pitchFamily="18" charset="2"/>
              </a:rPr>
              <a:t>) }    </a:t>
            </a:r>
            <a:r>
              <a:rPr lang="en-US" dirty="0" smtClean="0">
                <a:sym typeface="Symbol" panose="05050102010706020507" pitchFamily="18" charset="2"/>
              </a:rPr>
              <a:t>              </a:t>
            </a:r>
            <a:r>
              <a:rPr lang="en-US" dirty="0">
                <a:sym typeface="Symbol" panose="05050102010706020507" pitchFamily="18" charset="2"/>
              </a:rPr>
              <a:t>(logical assoc.)</a:t>
            </a:r>
            <a:endParaRPr lang="en-US" dirty="0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ym typeface="Symbol" panose="05050102010706020507" pitchFamily="18" charset="2"/>
              </a:rPr>
              <a:t>		= {</a:t>
            </a:r>
            <a:r>
              <a:rPr lang="en-US" i="1" dirty="0"/>
              <a:t>x </a:t>
            </a:r>
            <a:r>
              <a:rPr lang="en-US" dirty="0"/>
              <a:t>|</a:t>
            </a:r>
            <a:r>
              <a:rPr lang="en-US" i="1" dirty="0"/>
              <a:t> x </a:t>
            </a:r>
            <a:r>
              <a:rPr lang="en-US" dirty="0">
                <a:sym typeface="Symbol" panose="05050102010706020507" pitchFamily="18" charset="2"/>
              </a:rPr>
              <a:t> </a:t>
            </a:r>
            <a:r>
              <a:rPr lang="en-US" i="1" dirty="0">
                <a:sym typeface="Symbol" panose="05050102010706020507" pitchFamily="18" charset="2"/>
              </a:rPr>
              <a:t>A</a:t>
            </a:r>
            <a:r>
              <a:rPr lang="en-US" i="1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dirty="0">
                <a:sym typeface="Symbol" panose="05050102010706020507" pitchFamily="18" charset="2"/>
              </a:rPr>
              <a:t> (</a:t>
            </a:r>
            <a:r>
              <a:rPr lang="en-US" i="1" dirty="0"/>
              <a:t>x </a:t>
            </a:r>
            <a:r>
              <a:rPr lang="en-US" dirty="0">
                <a:sym typeface="Symbol" panose="05050102010706020507" pitchFamily="18" charset="2"/>
              </a:rPr>
              <a:t> </a:t>
            </a:r>
            <a:r>
              <a:rPr lang="en-US" i="1" dirty="0">
                <a:sym typeface="Symbol" panose="05050102010706020507" pitchFamily="18" charset="2"/>
              </a:rPr>
              <a:t>B </a:t>
            </a:r>
            <a:r>
              <a:rPr lang="en-US" dirty="0">
                <a:sym typeface="Symbol" panose="05050102010706020507" pitchFamily="18" charset="2"/>
              </a:rPr>
              <a:t></a:t>
            </a:r>
            <a:r>
              <a:rPr lang="en-US" i="1" dirty="0">
                <a:sym typeface="Symbol" panose="05050102010706020507" pitchFamily="18" charset="2"/>
              </a:rPr>
              <a:t> C </a:t>
            </a:r>
            <a:r>
              <a:rPr lang="en-US" dirty="0">
                <a:sym typeface="Symbol" panose="05050102010706020507" pitchFamily="18" charset="2"/>
              </a:rPr>
              <a:t>) } 	    	   </a:t>
            </a:r>
            <a:r>
              <a:rPr lang="en-US" dirty="0" smtClean="0">
                <a:sym typeface="Symbol" panose="05050102010706020507" pitchFamily="18" charset="2"/>
              </a:rPr>
              <a:t>        </a:t>
            </a:r>
            <a:r>
              <a:rPr lang="en-US" dirty="0">
                <a:sym typeface="Symbol" panose="05050102010706020507" pitchFamily="18" charset="2"/>
              </a:rPr>
              <a:t>(by def.)</a:t>
            </a:r>
            <a:endParaRPr lang="en-US" dirty="0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ym typeface="Symbol" panose="05050102010706020507" pitchFamily="18" charset="2"/>
              </a:rPr>
              <a:t>		= </a:t>
            </a:r>
            <a:r>
              <a:rPr lang="en-US" i="1" dirty="0"/>
              <a:t>A</a:t>
            </a:r>
            <a:r>
              <a:rPr lang="en-US" dirty="0">
                <a:sym typeface="Symbol" panose="05050102010706020507" pitchFamily="18" charset="2"/>
              </a:rPr>
              <a:t>(</a:t>
            </a:r>
            <a:r>
              <a:rPr lang="en-US" i="1" dirty="0">
                <a:sym typeface="Symbol" panose="05050102010706020507" pitchFamily="18" charset="2"/>
              </a:rPr>
              <a:t>B </a:t>
            </a:r>
            <a:r>
              <a:rPr lang="en-US" dirty="0">
                <a:sym typeface="Symbol" panose="05050102010706020507" pitchFamily="18" charset="2"/>
              </a:rPr>
              <a:t></a:t>
            </a:r>
            <a:r>
              <a:rPr lang="en-US" i="1" dirty="0">
                <a:sym typeface="Symbol" panose="05050102010706020507" pitchFamily="18" charset="2"/>
              </a:rPr>
              <a:t>C </a:t>
            </a:r>
            <a:r>
              <a:rPr lang="en-US" dirty="0">
                <a:sym typeface="Symbol" panose="05050102010706020507" pitchFamily="18" charset="2"/>
              </a:rPr>
              <a:t>) 			             </a:t>
            </a:r>
            <a:r>
              <a:rPr lang="en-US" dirty="0" smtClean="0">
                <a:sym typeface="Symbol" panose="05050102010706020507" pitchFamily="18" charset="2"/>
              </a:rPr>
              <a:t>        </a:t>
            </a:r>
            <a:r>
              <a:rPr lang="en-US" dirty="0">
                <a:sym typeface="Symbol" panose="05050102010706020507" pitchFamily="18" charset="2"/>
              </a:rPr>
              <a:t>(by def.)</a:t>
            </a:r>
            <a:endParaRPr lang="en-US" dirty="0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latin typeface="Times New Roman" panose="02020603050405020304" charset="0"/>
                <a:sym typeface="Symbol" panose="05050102010706020507" pitchFamily="18" charset="2"/>
              </a:rPr>
              <a:t></a:t>
            </a:r>
            <a:endParaRPr lang="en-US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3"/>
                <a:ext cx="12192000" cy="1228725"/>
              </a:xfrm>
              <a:solidFill>
                <a:schemeClr val="accent1">
                  <a:lumMod val="50000"/>
                </a:schemeClr>
              </a:solidFill>
            </p:spPr>
            <p:txBody>
              <a:bodyPr>
                <a:normAutofit/>
              </a:bodyPr>
              <a:lstStyle/>
              <a:p>
                <a:r>
                  <a:rPr lang="en-US" sz="4800" b="1" dirty="0" smtClean="0">
                    <a:solidFill>
                      <a:schemeClr val="bg1"/>
                    </a:solidFill>
                    <a:latin typeface="Rockwell" panose="02060603020205020403" pitchFamily="18" charset="0"/>
                  </a:rPr>
                  <a:t>Set identities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4800" b="1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</m:ctrlPr>
                      </m:accPr>
                      <m:e>
                        <m:r>
                          <a:rPr lang="en-US" sz="4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4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4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en-US" sz="4800" b="1" dirty="0" smtClean="0">
                    <a:solidFill>
                      <a:schemeClr val="bg1"/>
                    </a:solidFill>
                    <a:latin typeface="Rockwell" panose="02060603020205020403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4800" b="1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</m:ctrlPr>
                      </m:accPr>
                      <m:e>
                        <m:r>
                          <a:rPr lang="en-US" sz="4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4800" b="1" dirty="0" smtClean="0">
                    <a:solidFill>
                      <a:schemeClr val="bg1"/>
                    </a:solidFill>
                    <a:latin typeface="Rockwell" panose="02060603020205020403" pitchFamily="18" charset="0"/>
                  </a:rPr>
                  <a:t>∪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4800" b="1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</m:ctrlPr>
                      </m:accPr>
                      <m:e>
                        <m:r>
                          <a:rPr lang="en-US" sz="4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en-US" sz="4800" b="1" dirty="0">
                  <a:solidFill>
                    <a:schemeClr val="bg1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>
          <p:sp>
            <p:nvSpPr>
              <p:cNvPr id="5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3"/>
                <a:ext cx="12192000" cy="122872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dirty="0">
                <a:sym typeface="Symbol" panose="05050102010706020507" pitchFamily="18" charset="2"/>
              </a:rPr>
              <a:t>Use set builder notation and logical equivalences</a:t>
            </a:r>
            <a:endParaRPr lang="en-US" dirty="0">
              <a:sym typeface="Symbol" panose="05050102010706020507" pitchFamily="18" charset="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50" y="2294353"/>
            <a:ext cx="10429875" cy="3771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Rockwell" panose="02060603020205020403" pitchFamily="18" charset="0"/>
              </a:rPr>
              <a:t>Set identities : </a:t>
            </a:r>
            <a:r>
              <a:rPr lang="en-US" sz="4800" b="1" dirty="0">
                <a:solidFill>
                  <a:schemeClr val="bg1"/>
                </a:solidFill>
                <a:latin typeface="+mn-lt"/>
              </a:rPr>
              <a:t>A∩(B∪C)=(A∩B)∪(A∩C)</a:t>
            </a:r>
            <a:endParaRPr lang="en-US" sz="4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8"/>
            <a:ext cx="10653296" cy="5870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dirty="0">
                <a:sym typeface="Symbol" panose="05050102010706020507" pitchFamily="18" charset="2"/>
              </a:rPr>
              <a:t>Use a membership table</a:t>
            </a:r>
            <a:endParaRPr lang="en-US" dirty="0">
              <a:sym typeface="Symbol" panose="05050102010706020507" pitchFamily="18" charset="2"/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1005304" y="2201094"/>
            <a:ext cx="10653296" cy="31519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164573"/>
            <a:ext cx="10820400" cy="42979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23D7B-1D02-4D0D-BA0A-B6C50FBDD40F}" type="slidenum">
              <a:rPr lang="en-US"/>
            </a:fld>
            <a:endParaRPr lang="en-US"/>
          </a:p>
        </p:txBody>
      </p:sp>
      <p:sp>
        <p:nvSpPr>
          <p:cNvPr id="168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dirty="0"/>
              <a:t>It</a:t>
            </a:r>
            <a:r>
              <a:rPr lang="en-US" dirty="0">
                <a:latin typeface="Times New Roman" panose="02020603050405020304" charset="0"/>
              </a:rPr>
              <a:t>’</a:t>
            </a:r>
            <a:r>
              <a:rPr lang="en-US" dirty="0"/>
              <a:t>s often simpler to understand an identity by drawing a Venn Diagram.</a:t>
            </a:r>
            <a:endParaRPr 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dirty="0"/>
              <a:t>For example </a:t>
            </a:r>
            <a:r>
              <a:rPr lang="en-US" dirty="0" err="1"/>
              <a:t>DeMorgan</a:t>
            </a:r>
            <a:r>
              <a:rPr lang="en-US" dirty="0" err="1">
                <a:latin typeface="Times New Roman" panose="02020603050405020304" charset="0"/>
              </a:rPr>
              <a:t>’</a:t>
            </a:r>
            <a:r>
              <a:rPr lang="en-US" dirty="0" err="1"/>
              <a:t>s</a:t>
            </a:r>
            <a:r>
              <a:rPr lang="en-US" dirty="0"/>
              <a:t> first law</a:t>
            </a: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dirty="0"/>
              <a:t>	can be visualized as follows.</a:t>
            </a:r>
            <a:endParaRPr lang="en-US" dirty="0"/>
          </a:p>
        </p:txBody>
      </p:sp>
      <p:graphicFrame>
        <p:nvGraphicFramePr>
          <p:cNvPr id="168964" name="Object 4"/>
          <p:cNvGraphicFramePr>
            <a:graphicFrameLocks noChangeAspect="1"/>
          </p:cNvGraphicFramePr>
          <p:nvPr/>
        </p:nvGraphicFramePr>
        <p:xfrm>
          <a:off x="4495801" y="3505200"/>
          <a:ext cx="31210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Equation" r:id="rId1" imgW="1231900" imgH="266700" progId="Equation.3">
                  <p:embed/>
                </p:oleObj>
              </mc:Choice>
              <mc:Fallback>
                <p:oleObj name="Equation" r:id="rId1" imgW="1231900" imgH="26670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3505200"/>
                        <a:ext cx="31210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kern="0" dirty="0">
                <a:solidFill>
                  <a:schemeClr val="bg1"/>
                </a:solidFill>
                <a:latin typeface="Rockwell" panose="02060603020205020403" pitchFamily="18" charset="0"/>
              </a:rPr>
              <a:t>Set Identities via Venn</a:t>
            </a:r>
            <a:endParaRPr lang="en-US" sz="4800" b="1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3F10-77D3-45D5-956B-F8B6B0399047}" type="slidenum">
              <a:rPr lang="en-US"/>
            </a:fld>
            <a:endParaRPr lang="en-US"/>
          </a:p>
        </p:txBody>
      </p:sp>
      <p:pic>
        <p:nvPicPr>
          <p:cNvPr id="171011" name="Picture 3" descr="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012" name="Picture 4" descr="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013" name="Text Box 5"/>
          <p:cNvSpPr txBox="1">
            <a:spLocks noChangeArrowheads="1"/>
          </p:cNvSpPr>
          <p:nvPr/>
        </p:nvSpPr>
        <p:spPr bwMode="auto">
          <a:xfrm>
            <a:off x="2055813" y="229766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A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sp>
        <p:nvSpPr>
          <p:cNvPr id="171014" name="Text Box 6"/>
          <p:cNvSpPr txBox="1">
            <a:spLocks noChangeArrowheads="1"/>
          </p:cNvSpPr>
          <p:nvPr/>
        </p:nvSpPr>
        <p:spPr bwMode="auto">
          <a:xfrm>
            <a:off x="6705600" y="222146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B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sp>
        <p:nvSpPr>
          <p:cNvPr id="9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kern="0" dirty="0" smtClean="0">
                <a:solidFill>
                  <a:schemeClr val="bg1"/>
                </a:solidFill>
                <a:latin typeface="Rockwell" panose="02060603020205020403" pitchFamily="18" charset="0"/>
              </a:rPr>
              <a:t> </a:t>
            </a:r>
            <a:r>
              <a:rPr lang="en-US" sz="4800" b="1" kern="0" dirty="0" err="1">
                <a:solidFill>
                  <a:schemeClr val="bg1"/>
                </a:solidFill>
                <a:latin typeface="Rockwell" panose="02060603020205020403" pitchFamily="18" charset="0"/>
              </a:rPr>
              <a:t>DeMorgan</a:t>
            </a:r>
            <a:endParaRPr lang="en-US" sz="4800" b="1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263D7-9552-49B5-BB90-E7D1E271B065}" type="slidenum">
              <a:rPr lang="en-US"/>
            </a:fld>
            <a:endParaRPr lang="en-US"/>
          </a:p>
        </p:txBody>
      </p:sp>
      <p:pic>
        <p:nvPicPr>
          <p:cNvPr id="222211" name="Picture 3" descr="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212" name="Picture 4" descr="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2055813" y="229766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A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6705600" y="222146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B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sp>
        <p:nvSpPr>
          <p:cNvPr id="222215" name="Text Box 7"/>
          <p:cNvSpPr txBox="1">
            <a:spLocks noChangeArrowheads="1"/>
          </p:cNvSpPr>
          <p:nvPr/>
        </p:nvSpPr>
        <p:spPr bwMode="auto">
          <a:xfrm>
            <a:off x="3657601" y="3635514"/>
            <a:ext cx="117371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A</a:t>
            </a:r>
            <a:r>
              <a:rPr lang="en-US" sz="4000">
                <a:latin typeface="Times New Roman" panose="02020603050405020304" charset="0"/>
                <a:sym typeface="Symbol" panose="05050102010706020507" pitchFamily="18" charset="2"/>
              </a:rPr>
              <a:t></a:t>
            </a:r>
            <a:r>
              <a:rPr lang="en-US" sz="4000" i="1">
                <a:latin typeface="Times New Roman" panose="02020603050405020304" charset="0"/>
                <a:sym typeface="Symbol" panose="05050102010706020507" pitchFamily="18" charset="2"/>
              </a:rPr>
              <a:t>B</a:t>
            </a:r>
            <a:r>
              <a:rPr lang="en-US" sz="2400" i="1">
                <a:sym typeface="Symbol" panose="05050102010706020507" pitchFamily="18" charset="2"/>
              </a:rPr>
              <a:t> 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pic>
        <p:nvPicPr>
          <p:cNvPr id="222216" name="Picture 8" descr="Un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200400"/>
            <a:ext cx="2808288" cy="180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kern="0" dirty="0" smtClean="0">
                <a:solidFill>
                  <a:schemeClr val="bg1"/>
                </a:solidFill>
                <a:latin typeface="Rockwell" panose="02060603020205020403" pitchFamily="18" charset="0"/>
              </a:rPr>
              <a:t> </a:t>
            </a:r>
            <a:r>
              <a:rPr lang="en-US" sz="4800" b="1" kern="0" dirty="0" err="1">
                <a:solidFill>
                  <a:schemeClr val="bg1"/>
                </a:solidFill>
                <a:latin typeface="Rockwell" panose="02060603020205020403" pitchFamily="18" charset="0"/>
              </a:rPr>
              <a:t>DeMorgan</a:t>
            </a:r>
            <a:endParaRPr lang="en-US" sz="4800" b="1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51A5-8969-442C-8162-6E2493777451}" type="slidenum">
              <a:rPr lang="en-US"/>
            </a:fld>
            <a:endParaRPr lang="en-US"/>
          </a:p>
        </p:txBody>
      </p:sp>
      <p:pic>
        <p:nvPicPr>
          <p:cNvPr id="169989" name="Picture 5" descr="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990" name="Picture 6" descr="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9991" name="Text Box 7"/>
          <p:cNvSpPr txBox="1">
            <a:spLocks noChangeArrowheads="1"/>
          </p:cNvSpPr>
          <p:nvPr/>
        </p:nvSpPr>
        <p:spPr bwMode="auto">
          <a:xfrm>
            <a:off x="2055813" y="229766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A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sp>
        <p:nvSpPr>
          <p:cNvPr id="169992" name="Text Box 8"/>
          <p:cNvSpPr txBox="1">
            <a:spLocks noChangeArrowheads="1"/>
          </p:cNvSpPr>
          <p:nvPr/>
        </p:nvSpPr>
        <p:spPr bwMode="auto">
          <a:xfrm>
            <a:off x="6705600" y="222146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B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sp>
        <p:nvSpPr>
          <p:cNvPr id="9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kern="0" dirty="0" smtClean="0">
                <a:solidFill>
                  <a:schemeClr val="bg1"/>
                </a:solidFill>
                <a:latin typeface="Rockwell" panose="02060603020205020403" pitchFamily="18" charset="0"/>
              </a:rPr>
              <a:t> </a:t>
            </a:r>
            <a:r>
              <a:rPr lang="en-US" sz="4800" b="1" kern="0" dirty="0" err="1">
                <a:solidFill>
                  <a:schemeClr val="bg1"/>
                </a:solidFill>
                <a:latin typeface="Rockwell" panose="02060603020205020403" pitchFamily="18" charset="0"/>
              </a:rPr>
              <a:t>DeMorgan</a:t>
            </a:r>
            <a:endParaRPr lang="en-US" sz="4800" b="1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856DE-2A00-4C79-A368-1A87DA4A49AC}" type="slidenum">
              <a:rPr lang="en-US"/>
            </a:fld>
            <a:endParaRPr lang="en-US"/>
          </a:p>
        </p:txBody>
      </p:sp>
      <p:pic>
        <p:nvPicPr>
          <p:cNvPr id="225283" name="Picture 3" descr="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284" name="Picture 4" descr="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285" name="Text Box 5"/>
          <p:cNvSpPr txBox="1">
            <a:spLocks noChangeArrowheads="1"/>
          </p:cNvSpPr>
          <p:nvPr/>
        </p:nvSpPr>
        <p:spPr bwMode="auto">
          <a:xfrm>
            <a:off x="2055813" y="229766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A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sp>
        <p:nvSpPr>
          <p:cNvPr id="225286" name="Text Box 6"/>
          <p:cNvSpPr txBox="1">
            <a:spLocks noChangeArrowheads="1"/>
          </p:cNvSpPr>
          <p:nvPr/>
        </p:nvSpPr>
        <p:spPr bwMode="auto">
          <a:xfrm>
            <a:off x="6705600" y="222146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B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pic>
        <p:nvPicPr>
          <p:cNvPr id="225287" name="Picture 7" descr="ACompl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200401"/>
            <a:ext cx="27432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288" name="Text Box 8"/>
          <p:cNvSpPr txBox="1">
            <a:spLocks noChangeArrowheads="1"/>
          </p:cNvSpPr>
          <p:nvPr/>
        </p:nvSpPr>
        <p:spPr bwMode="auto">
          <a:xfrm>
            <a:off x="1752601" y="3897868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  <a:sym typeface="Symbol" panose="05050102010706020507" pitchFamily="18" charset="2"/>
              </a:rPr>
              <a:t></a:t>
            </a:r>
            <a:r>
              <a:rPr lang="en-US" i="1">
                <a:latin typeface="Times New Roman" panose="02020603050405020304" charset="0"/>
              </a:rPr>
              <a:t>A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sp>
        <p:nvSpPr>
          <p:cNvPr id="225289" name="Text Box 9"/>
          <p:cNvSpPr txBox="1">
            <a:spLocks noChangeArrowheads="1"/>
          </p:cNvSpPr>
          <p:nvPr/>
        </p:nvSpPr>
        <p:spPr bwMode="auto">
          <a:xfrm>
            <a:off x="6354764" y="3897868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  <a:sym typeface="Symbol" panose="05050102010706020507" pitchFamily="18" charset="2"/>
              </a:rPr>
              <a:t></a:t>
            </a:r>
            <a:r>
              <a:rPr lang="en-US" i="1">
                <a:latin typeface="Times New Roman" panose="02020603050405020304" charset="0"/>
              </a:rPr>
              <a:t>B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pic>
        <p:nvPicPr>
          <p:cNvPr id="225290" name="Picture 10" descr="BComplem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200401"/>
            <a:ext cx="2732088" cy="175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kern="0" dirty="0" smtClean="0">
                <a:solidFill>
                  <a:schemeClr val="bg1"/>
                </a:solidFill>
                <a:latin typeface="Rockwell" panose="02060603020205020403" pitchFamily="18" charset="0"/>
              </a:rPr>
              <a:t> </a:t>
            </a:r>
            <a:r>
              <a:rPr lang="en-US" sz="4800" b="1" kern="0" dirty="0" err="1">
                <a:solidFill>
                  <a:schemeClr val="bg1"/>
                </a:solidFill>
                <a:latin typeface="Rockwell" panose="02060603020205020403" pitchFamily="18" charset="0"/>
              </a:rPr>
              <a:t>DeMorgan</a:t>
            </a:r>
            <a:endParaRPr lang="en-US" sz="4800" b="1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34038-DFA1-410B-B668-E391BB6E275D}" type="slidenum">
              <a:rPr lang="en-US"/>
            </a:fld>
            <a:endParaRPr lang="en-US"/>
          </a:p>
        </p:txBody>
      </p:sp>
      <p:pic>
        <p:nvPicPr>
          <p:cNvPr id="226307" name="Picture 3" descr="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6308" name="Picture 4" descr="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309" name="Text Box 5"/>
          <p:cNvSpPr txBox="1">
            <a:spLocks noChangeArrowheads="1"/>
          </p:cNvSpPr>
          <p:nvPr/>
        </p:nvSpPr>
        <p:spPr bwMode="auto">
          <a:xfrm>
            <a:off x="2055813" y="229766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A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sp>
        <p:nvSpPr>
          <p:cNvPr id="226310" name="Text Box 6"/>
          <p:cNvSpPr txBox="1">
            <a:spLocks noChangeArrowheads="1"/>
          </p:cNvSpPr>
          <p:nvPr/>
        </p:nvSpPr>
        <p:spPr bwMode="auto">
          <a:xfrm>
            <a:off x="6705600" y="222146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</a:rPr>
              <a:t>B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pic>
        <p:nvPicPr>
          <p:cNvPr id="226311" name="Picture 7" descr="ACompl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200401"/>
            <a:ext cx="27432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312" name="Text Box 8"/>
          <p:cNvSpPr txBox="1">
            <a:spLocks noChangeArrowheads="1"/>
          </p:cNvSpPr>
          <p:nvPr/>
        </p:nvSpPr>
        <p:spPr bwMode="auto">
          <a:xfrm>
            <a:off x="1752601" y="3897868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  <a:sym typeface="Symbol" panose="05050102010706020507" pitchFamily="18" charset="2"/>
              </a:rPr>
              <a:t></a:t>
            </a:r>
            <a:r>
              <a:rPr lang="en-US" i="1">
                <a:latin typeface="Times New Roman" panose="02020603050405020304" charset="0"/>
              </a:rPr>
              <a:t>A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sp>
        <p:nvSpPr>
          <p:cNvPr id="226313" name="Text Box 9"/>
          <p:cNvSpPr txBox="1">
            <a:spLocks noChangeArrowheads="1"/>
          </p:cNvSpPr>
          <p:nvPr/>
        </p:nvSpPr>
        <p:spPr bwMode="auto">
          <a:xfrm>
            <a:off x="6354764" y="3897868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/>
          <a:p>
            <a:r>
              <a:rPr lang="en-US" i="1">
                <a:latin typeface="Times New Roman" panose="02020603050405020304" charset="0"/>
                <a:sym typeface="Symbol" panose="05050102010706020507" pitchFamily="18" charset="2"/>
              </a:rPr>
              <a:t></a:t>
            </a:r>
            <a:r>
              <a:rPr lang="en-US" i="1">
                <a:latin typeface="Times New Roman" panose="02020603050405020304" charset="0"/>
              </a:rPr>
              <a:t>B</a:t>
            </a:r>
            <a:r>
              <a:rPr lang="en-US">
                <a:latin typeface="Times New Roman" panose="02020603050405020304" charset="0"/>
              </a:rPr>
              <a:t>:</a:t>
            </a:r>
            <a:endParaRPr lang="en-US">
              <a:latin typeface="Times New Roman" panose="02020603050405020304" charset="0"/>
            </a:endParaRPr>
          </a:p>
        </p:txBody>
      </p:sp>
      <p:pic>
        <p:nvPicPr>
          <p:cNvPr id="226314" name="Picture 10" descr="BComplem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200401"/>
            <a:ext cx="2732088" cy="175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6315" name="Picture 11" descr="UnionCompleme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953001"/>
            <a:ext cx="2743200" cy="176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6316" name="Object 12"/>
          <p:cNvGraphicFramePr>
            <a:graphicFrameLocks noChangeAspect="1"/>
          </p:cNvGraphicFramePr>
          <p:nvPr/>
        </p:nvGraphicFramePr>
        <p:xfrm>
          <a:off x="3048000" y="5410201"/>
          <a:ext cx="1665288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Equation" r:id="rId6" imgW="469900" imgH="215900" progId="Equation.3">
                  <p:embed/>
                </p:oleObj>
              </mc:Choice>
              <mc:Fallback>
                <p:oleObj name="Equation" r:id="rId6" imgW="469900" imgH="21590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10201"/>
                        <a:ext cx="1665288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kern="0" dirty="0" smtClean="0">
                <a:solidFill>
                  <a:schemeClr val="bg1"/>
                </a:solidFill>
                <a:latin typeface="Rockwell" panose="02060603020205020403" pitchFamily="18" charset="0"/>
              </a:rPr>
              <a:t> </a:t>
            </a:r>
            <a:r>
              <a:rPr lang="en-US" sz="4800" b="1" kern="0" dirty="0" err="1">
                <a:solidFill>
                  <a:schemeClr val="bg1"/>
                </a:solidFill>
                <a:latin typeface="Rockwell" panose="02060603020205020403" pitchFamily="18" charset="0"/>
              </a:rPr>
              <a:t>DeMorgan</a:t>
            </a:r>
            <a:endParaRPr lang="en-US" sz="4800" b="1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L5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0F89F-E596-4D6F-81CB-C8B6CB35777D}" type="slidenum">
              <a:rPr lang="en-US"/>
            </a:fld>
            <a:endParaRPr lang="en-US"/>
          </a:p>
        </p:txBody>
      </p:sp>
      <p:sp>
        <p:nvSpPr>
          <p:cNvPr id="2273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dirty="0"/>
              <a:t>			  		 </a:t>
            </a:r>
            <a:r>
              <a:rPr lang="en-US" sz="8800" dirty="0"/>
              <a:t>=</a:t>
            </a:r>
            <a:endParaRPr lang="en-US" sz="8800" dirty="0"/>
          </a:p>
        </p:txBody>
      </p:sp>
      <p:pic>
        <p:nvPicPr>
          <p:cNvPr id="227332" name="Picture 4" descr="UnionComplemen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60888"/>
            <a:ext cx="2743200" cy="176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7333" name="Object 5"/>
          <p:cNvGraphicFramePr>
            <a:graphicFrameLocks noChangeAspect="1"/>
          </p:cNvGraphicFramePr>
          <p:nvPr/>
        </p:nvGraphicFramePr>
        <p:xfrm>
          <a:off x="3063876" y="5040313"/>
          <a:ext cx="188912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Equation" r:id="rId2" imgW="533400" imgH="203200" progId="Equation.3">
                  <p:embed/>
                </p:oleObj>
              </mc:Choice>
              <mc:Fallback>
                <p:oleObj name="Equation" r:id="rId2" imgW="533400" imgH="203200" progId="Equation.3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76" y="5040313"/>
                        <a:ext cx="1889125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7334" name="Picture 6" descr="UnionComplemen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828800"/>
            <a:ext cx="2819400" cy="181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7335" name="Object 7"/>
          <p:cNvGraphicFramePr>
            <a:graphicFrameLocks noChangeAspect="1"/>
          </p:cNvGraphicFramePr>
          <p:nvPr/>
        </p:nvGraphicFramePr>
        <p:xfrm>
          <a:off x="2971801" y="2235201"/>
          <a:ext cx="202247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Equation" r:id="rId4" imgW="533400" imgH="203200" progId="Equation.3">
                  <p:embed/>
                </p:oleObj>
              </mc:Choice>
              <mc:Fallback>
                <p:oleObj name="Equation" r:id="rId4" imgW="533400" imgH="203200" progId="Equation.3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2235201"/>
                        <a:ext cx="2022475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 txBox="1"/>
          <p:nvPr/>
        </p:nvSpPr>
        <p:spPr bwMode="auto">
          <a:xfrm>
            <a:off x="0" y="3"/>
            <a:ext cx="12192000" cy="1228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charset="0"/>
              </a:defRPr>
            </a:lvl9pPr>
          </a:lstStyle>
          <a:p>
            <a:r>
              <a:rPr lang="en-US" sz="4800" b="1" kern="0" dirty="0" smtClean="0">
                <a:solidFill>
                  <a:schemeClr val="bg1"/>
                </a:solidFill>
                <a:latin typeface="Rockwell" panose="02060603020205020403" pitchFamily="18" charset="0"/>
              </a:rPr>
              <a:t> </a:t>
            </a:r>
            <a:r>
              <a:rPr lang="en-US" sz="4800" b="1" kern="0" dirty="0" err="1">
                <a:solidFill>
                  <a:schemeClr val="bg1"/>
                </a:solidFill>
                <a:latin typeface="Rockwell" panose="02060603020205020403" pitchFamily="18" charset="0"/>
              </a:rPr>
              <a:t>DeMorgan</a:t>
            </a:r>
            <a:endParaRPr lang="en-US" sz="4800" b="1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Bit String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995350" y="1537097"/>
            <a:ext cx="10653296" cy="188497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bit string for the set {1</a:t>
            </a:r>
            <a:r>
              <a:rPr lang="en-US" i="1" dirty="0"/>
              <a:t>, </a:t>
            </a:r>
            <a:r>
              <a:rPr lang="en-US" dirty="0"/>
              <a:t>3</a:t>
            </a:r>
            <a:r>
              <a:rPr lang="en-US" i="1" dirty="0"/>
              <a:t>, </a:t>
            </a:r>
            <a:r>
              <a:rPr lang="en-US" dirty="0"/>
              <a:t>5</a:t>
            </a:r>
            <a:r>
              <a:rPr lang="en-US" i="1" dirty="0"/>
              <a:t>, </a:t>
            </a:r>
            <a:r>
              <a:rPr lang="en-US" dirty="0"/>
              <a:t>7</a:t>
            </a:r>
            <a:r>
              <a:rPr lang="en-US" i="1" dirty="0"/>
              <a:t>, </a:t>
            </a:r>
            <a:r>
              <a:rPr lang="en-US" dirty="0"/>
              <a:t>9} (with universal set {1</a:t>
            </a:r>
            <a:r>
              <a:rPr lang="en-US" i="1" dirty="0"/>
              <a:t>, </a:t>
            </a:r>
            <a:r>
              <a:rPr lang="en-US" dirty="0"/>
              <a:t>2</a:t>
            </a:r>
            <a:r>
              <a:rPr lang="en-US" i="1" dirty="0"/>
              <a:t>, </a:t>
            </a:r>
            <a:r>
              <a:rPr lang="en-US" dirty="0"/>
              <a:t>3</a:t>
            </a:r>
            <a:r>
              <a:rPr lang="en-US" i="1" dirty="0"/>
              <a:t>, </a:t>
            </a:r>
            <a:r>
              <a:rPr lang="en-US" dirty="0" smtClean="0"/>
              <a:t>4</a:t>
            </a:r>
            <a:r>
              <a:rPr lang="en-US" i="1" dirty="0" smtClean="0"/>
              <a:t>,</a:t>
            </a:r>
            <a:r>
              <a:rPr lang="nl-NL" dirty="0" smtClean="0"/>
              <a:t>5</a:t>
            </a:r>
            <a:r>
              <a:rPr lang="nl-NL" i="1" dirty="0"/>
              <a:t>, </a:t>
            </a:r>
            <a:r>
              <a:rPr lang="nl-NL" dirty="0"/>
              <a:t>6</a:t>
            </a:r>
            <a:r>
              <a:rPr lang="nl-NL" i="1" dirty="0"/>
              <a:t>, </a:t>
            </a:r>
            <a:r>
              <a:rPr lang="nl-NL" dirty="0"/>
              <a:t>7</a:t>
            </a:r>
            <a:r>
              <a:rPr lang="nl-NL" i="1" dirty="0"/>
              <a:t>, </a:t>
            </a:r>
            <a:r>
              <a:rPr lang="nl-NL" dirty="0"/>
              <a:t>8</a:t>
            </a:r>
            <a:r>
              <a:rPr lang="nl-NL" i="1" dirty="0"/>
              <a:t>, </a:t>
            </a:r>
            <a:r>
              <a:rPr lang="nl-NL" dirty="0"/>
              <a:t>9</a:t>
            </a:r>
            <a:r>
              <a:rPr lang="nl-NL" i="1" dirty="0"/>
              <a:t>, </a:t>
            </a:r>
            <a:r>
              <a:rPr lang="nl-NL" dirty="0"/>
              <a:t>10}) </a:t>
            </a:r>
            <a:r>
              <a:rPr lang="nl-NL" dirty="0" smtClean="0"/>
              <a:t>is</a:t>
            </a:r>
            <a:endParaRPr lang="nl-NL" dirty="0" smtClean="0"/>
          </a:p>
          <a:p>
            <a:pPr marL="0" indent="0">
              <a:buNone/>
            </a:pPr>
            <a:r>
              <a:rPr lang="en-US" dirty="0" smtClean="0"/>
              <a:t>10 </a:t>
            </a:r>
            <a:r>
              <a:rPr lang="en-US" dirty="0"/>
              <a:t>1010 1010</a:t>
            </a:r>
            <a:r>
              <a:rPr lang="en-US" i="1" dirty="0"/>
              <a:t>.</a:t>
            </a:r>
            <a:endParaRPr lang="en-US" i="1" dirty="0"/>
          </a:p>
          <a:p>
            <a:pPr marL="0" indent="0">
              <a:buNone/>
            </a:pPr>
            <a:r>
              <a:rPr lang="en-US" dirty="0"/>
              <a:t>What is the bit string for the complement of this set?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95350" y="3686422"/>
            <a:ext cx="10663250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/>
              <a:t>Solution: </a:t>
            </a:r>
            <a:r>
              <a:rPr lang="en-US" sz="2400" dirty="0"/>
              <a:t>The bit string for the complement of this set is obtained by replacing 0s with 1s </a:t>
            </a:r>
            <a:r>
              <a:rPr lang="en-US" sz="2400" dirty="0" smtClean="0"/>
              <a:t>and vice </a:t>
            </a:r>
            <a:r>
              <a:rPr lang="en-US" sz="2400" dirty="0"/>
              <a:t>versa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/>
              <a:t>01 0101 0101</a:t>
            </a:r>
            <a:r>
              <a:rPr lang="en-US" sz="2400" i="1" dirty="0"/>
              <a:t>,</a:t>
            </a:r>
            <a:endParaRPr lang="en-US" sz="2400" i="1" dirty="0"/>
          </a:p>
          <a:p>
            <a:r>
              <a:rPr lang="en-US" sz="2400" dirty="0"/>
              <a:t>which corresponds to the set {2</a:t>
            </a:r>
            <a:r>
              <a:rPr lang="en-US" sz="2400" i="1" dirty="0"/>
              <a:t>, </a:t>
            </a:r>
            <a:r>
              <a:rPr lang="en-US" sz="2400" dirty="0"/>
              <a:t>4</a:t>
            </a:r>
            <a:r>
              <a:rPr lang="en-US" sz="2400" i="1" dirty="0"/>
              <a:t>, </a:t>
            </a:r>
            <a:r>
              <a:rPr lang="en-US" sz="2400" dirty="0"/>
              <a:t>6</a:t>
            </a:r>
            <a:r>
              <a:rPr lang="en-US" sz="2400" i="1" dirty="0"/>
              <a:t>, </a:t>
            </a:r>
            <a:r>
              <a:rPr lang="en-US" sz="2400" dirty="0"/>
              <a:t>8</a:t>
            </a:r>
            <a:r>
              <a:rPr lang="en-US" sz="2400" i="1" dirty="0"/>
              <a:t>, </a:t>
            </a:r>
            <a:r>
              <a:rPr lang="en-US" sz="2400" dirty="0"/>
              <a:t>10}.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6EC2F-45E2-4DFE-9A99-6E53152C8E6E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122872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Rockwell" panose="02060603020205020403" pitchFamily="18" charset="0"/>
              </a:rPr>
              <a:t>Exercise </a:t>
            </a:r>
            <a:endParaRPr lang="en-US" sz="48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00813"/>
            <a:ext cx="12192000" cy="3571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880159" y="1329279"/>
            <a:ext cx="10653296" cy="115068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Let </a:t>
            </a:r>
            <a:r>
              <a:rPr lang="en-US" i="1" dirty="0"/>
              <a:t>A </a:t>
            </a:r>
            <a:r>
              <a:rPr lang="en-US" dirty="0"/>
              <a:t>= {</a:t>
            </a:r>
            <a:r>
              <a:rPr lang="en-US" i="1" dirty="0"/>
              <a:t>a, b, c, d, e</a:t>
            </a:r>
            <a:r>
              <a:rPr lang="en-US" dirty="0"/>
              <a:t>} and </a:t>
            </a:r>
            <a:r>
              <a:rPr lang="en-US" i="1" dirty="0"/>
              <a:t>B </a:t>
            </a:r>
            <a:r>
              <a:rPr lang="en-US" dirty="0"/>
              <a:t>= {</a:t>
            </a:r>
            <a:r>
              <a:rPr lang="en-US" i="1" dirty="0"/>
              <a:t>a, b, c, d, e, f, g, h</a:t>
            </a:r>
            <a:r>
              <a:rPr lang="en-US" dirty="0" smtClean="0"/>
              <a:t>}. Find</a:t>
            </a:r>
            <a:endParaRPr lang="en-US" dirty="0"/>
          </a:p>
          <a:p>
            <a:pPr marL="0" indent="0">
              <a:buNone/>
            </a:pPr>
            <a:r>
              <a:rPr lang="pt-BR" b="1" dirty="0"/>
              <a:t>a) </a:t>
            </a:r>
            <a:r>
              <a:rPr lang="pt-BR" i="1" dirty="0"/>
              <a:t>A </a:t>
            </a:r>
            <a:r>
              <a:rPr lang="pt-BR" dirty="0"/>
              <a:t>∪ </a:t>
            </a:r>
            <a:r>
              <a:rPr lang="pt-BR" i="1" dirty="0"/>
              <a:t>B</a:t>
            </a:r>
            <a:r>
              <a:rPr lang="pt-BR" dirty="0"/>
              <a:t>. </a:t>
            </a:r>
            <a:r>
              <a:rPr lang="pt-BR" dirty="0" smtClean="0"/>
              <a:t>          </a:t>
            </a:r>
            <a:r>
              <a:rPr lang="pt-BR" b="1" dirty="0" smtClean="0"/>
              <a:t>b</a:t>
            </a:r>
            <a:r>
              <a:rPr lang="pt-BR" b="1" dirty="0"/>
              <a:t>) </a:t>
            </a:r>
            <a:r>
              <a:rPr lang="pt-BR" i="1" dirty="0"/>
              <a:t>A </a:t>
            </a:r>
            <a:r>
              <a:rPr lang="pt-BR" dirty="0"/>
              <a:t>∩ </a:t>
            </a:r>
            <a:r>
              <a:rPr lang="pt-BR" i="1" dirty="0" smtClean="0"/>
              <a:t>B</a:t>
            </a:r>
            <a:r>
              <a:rPr lang="pt-BR" dirty="0" smtClean="0"/>
              <a:t>.                 </a:t>
            </a:r>
            <a:r>
              <a:rPr lang="pt-BR" b="1" dirty="0" smtClean="0"/>
              <a:t>c</a:t>
            </a:r>
            <a:r>
              <a:rPr lang="pt-BR" b="1" dirty="0"/>
              <a:t>) </a:t>
            </a:r>
            <a:r>
              <a:rPr lang="pt-BR" i="1" dirty="0"/>
              <a:t>A </a:t>
            </a:r>
            <a:r>
              <a:rPr lang="pt-BR" dirty="0"/>
              <a:t>− </a:t>
            </a:r>
            <a:r>
              <a:rPr lang="pt-BR" i="1" dirty="0"/>
              <a:t>B</a:t>
            </a:r>
            <a:r>
              <a:rPr lang="pt-BR" dirty="0"/>
              <a:t>. </a:t>
            </a:r>
            <a:r>
              <a:rPr lang="pt-BR" dirty="0" smtClean="0"/>
              <a:t>                </a:t>
            </a:r>
            <a:r>
              <a:rPr lang="pt-BR" b="1" dirty="0" smtClean="0"/>
              <a:t>d</a:t>
            </a:r>
            <a:r>
              <a:rPr lang="pt-BR" b="1" dirty="0"/>
              <a:t>) </a:t>
            </a:r>
            <a:r>
              <a:rPr lang="pt-BR" i="1" dirty="0"/>
              <a:t>B </a:t>
            </a:r>
            <a:r>
              <a:rPr lang="pt-BR" dirty="0"/>
              <a:t>− </a:t>
            </a:r>
            <a:r>
              <a:rPr lang="pt-BR" i="1" dirty="0"/>
              <a:t>A</a:t>
            </a:r>
            <a:r>
              <a:rPr lang="pt-BR" dirty="0"/>
              <a:t>.</a:t>
            </a:r>
            <a:endParaRPr lang="en-US" b="1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0159" y="2633476"/>
            <a:ext cx="10663250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Let </a:t>
            </a:r>
            <a:r>
              <a:rPr lang="en-US" sz="2400" i="1" dirty="0"/>
              <a:t>A </a:t>
            </a:r>
            <a:r>
              <a:rPr lang="en-US" sz="2400" dirty="0"/>
              <a:t>= {0</a:t>
            </a:r>
            <a:r>
              <a:rPr lang="en-US" sz="2400" i="1" dirty="0"/>
              <a:t>, </a:t>
            </a:r>
            <a:r>
              <a:rPr lang="en-US" sz="2400" dirty="0"/>
              <a:t>2</a:t>
            </a:r>
            <a:r>
              <a:rPr lang="en-US" sz="2400" i="1" dirty="0"/>
              <a:t>, </a:t>
            </a:r>
            <a:r>
              <a:rPr lang="en-US" sz="2400" dirty="0"/>
              <a:t>4</a:t>
            </a:r>
            <a:r>
              <a:rPr lang="en-US" sz="2400" i="1" dirty="0"/>
              <a:t>, </a:t>
            </a:r>
            <a:r>
              <a:rPr lang="en-US" sz="2400" dirty="0"/>
              <a:t>6</a:t>
            </a:r>
            <a:r>
              <a:rPr lang="en-US" sz="2400" i="1" dirty="0"/>
              <a:t>, </a:t>
            </a:r>
            <a:r>
              <a:rPr lang="en-US" sz="2400" dirty="0"/>
              <a:t>8</a:t>
            </a:r>
            <a:r>
              <a:rPr lang="en-US" sz="2400" i="1" dirty="0"/>
              <a:t>, </a:t>
            </a:r>
            <a:r>
              <a:rPr lang="en-US" sz="2400" dirty="0"/>
              <a:t>10}, </a:t>
            </a:r>
            <a:r>
              <a:rPr lang="en-US" sz="2400" i="1" dirty="0"/>
              <a:t>B </a:t>
            </a:r>
            <a:r>
              <a:rPr lang="en-US" sz="2400" dirty="0"/>
              <a:t>= {0</a:t>
            </a:r>
            <a:r>
              <a:rPr lang="en-US" sz="2400" i="1" dirty="0"/>
              <a:t>, </a:t>
            </a:r>
            <a:r>
              <a:rPr lang="en-US" sz="2400" dirty="0"/>
              <a:t>1</a:t>
            </a:r>
            <a:r>
              <a:rPr lang="en-US" sz="2400" i="1" dirty="0"/>
              <a:t>, </a:t>
            </a:r>
            <a:r>
              <a:rPr lang="en-US" sz="2400" dirty="0"/>
              <a:t>2</a:t>
            </a:r>
            <a:r>
              <a:rPr lang="en-US" sz="2400" i="1" dirty="0"/>
              <a:t>, </a:t>
            </a:r>
            <a:r>
              <a:rPr lang="en-US" sz="2400" dirty="0"/>
              <a:t>3</a:t>
            </a:r>
            <a:r>
              <a:rPr lang="en-US" sz="2400" i="1" dirty="0"/>
              <a:t>, </a:t>
            </a:r>
            <a:r>
              <a:rPr lang="en-US" sz="2400" dirty="0"/>
              <a:t>4</a:t>
            </a:r>
            <a:r>
              <a:rPr lang="en-US" sz="2400" i="1" dirty="0"/>
              <a:t>, </a:t>
            </a:r>
            <a:r>
              <a:rPr lang="en-US" sz="2400" dirty="0"/>
              <a:t>5</a:t>
            </a:r>
            <a:r>
              <a:rPr lang="en-US" sz="2400" i="1" dirty="0"/>
              <a:t>, </a:t>
            </a:r>
            <a:r>
              <a:rPr lang="en-US" sz="2400" dirty="0"/>
              <a:t>6}, </a:t>
            </a:r>
            <a:r>
              <a:rPr lang="en-US" sz="2400" dirty="0" smtClean="0"/>
              <a:t>and </a:t>
            </a:r>
            <a:r>
              <a:rPr lang="en-US" sz="2400" i="1" dirty="0" smtClean="0"/>
              <a:t>C </a:t>
            </a:r>
            <a:r>
              <a:rPr lang="en-US" sz="2400" dirty="0"/>
              <a:t>= {4</a:t>
            </a:r>
            <a:r>
              <a:rPr lang="en-US" sz="2400" i="1" dirty="0"/>
              <a:t>, </a:t>
            </a:r>
            <a:r>
              <a:rPr lang="en-US" sz="2400" dirty="0"/>
              <a:t>5</a:t>
            </a:r>
            <a:r>
              <a:rPr lang="en-US" sz="2400" i="1" dirty="0"/>
              <a:t>, </a:t>
            </a:r>
            <a:r>
              <a:rPr lang="en-US" sz="2400" dirty="0"/>
              <a:t>6</a:t>
            </a:r>
            <a:r>
              <a:rPr lang="en-US" sz="2400" i="1" dirty="0"/>
              <a:t>, </a:t>
            </a:r>
            <a:r>
              <a:rPr lang="en-US" sz="2400" dirty="0"/>
              <a:t>7</a:t>
            </a:r>
            <a:r>
              <a:rPr lang="en-US" sz="2400" i="1" dirty="0"/>
              <a:t>, </a:t>
            </a:r>
            <a:r>
              <a:rPr lang="en-US" sz="2400" dirty="0"/>
              <a:t>8</a:t>
            </a:r>
            <a:r>
              <a:rPr lang="en-US" sz="2400" i="1" dirty="0"/>
              <a:t>, </a:t>
            </a:r>
            <a:r>
              <a:rPr lang="en-US" sz="2400" dirty="0"/>
              <a:t>9</a:t>
            </a:r>
            <a:r>
              <a:rPr lang="en-US" sz="2400" i="1" dirty="0"/>
              <a:t>, </a:t>
            </a:r>
            <a:r>
              <a:rPr lang="en-US" sz="2400" dirty="0"/>
              <a:t>10}. Find</a:t>
            </a:r>
            <a:endParaRPr lang="en-US" sz="2400" dirty="0"/>
          </a:p>
          <a:p>
            <a:r>
              <a:rPr lang="pt-BR" sz="2400" b="1" dirty="0"/>
              <a:t>a) </a:t>
            </a:r>
            <a:r>
              <a:rPr lang="pt-BR" sz="2400" i="1" dirty="0"/>
              <a:t>A </a:t>
            </a:r>
            <a:r>
              <a:rPr lang="pt-BR" sz="2400" dirty="0"/>
              <a:t>∩ </a:t>
            </a:r>
            <a:r>
              <a:rPr lang="pt-BR" sz="2400" i="1" dirty="0"/>
              <a:t>B </a:t>
            </a:r>
            <a:r>
              <a:rPr lang="pt-BR" sz="2400" dirty="0"/>
              <a:t>∩ </a:t>
            </a:r>
            <a:r>
              <a:rPr lang="pt-BR" sz="2400" i="1" dirty="0"/>
              <a:t>C</a:t>
            </a:r>
            <a:r>
              <a:rPr lang="pt-BR" sz="2400" dirty="0"/>
              <a:t>. </a:t>
            </a:r>
            <a:r>
              <a:rPr lang="pt-BR" sz="2400" dirty="0" smtClean="0"/>
              <a:t>                                 </a:t>
            </a:r>
            <a:r>
              <a:rPr lang="pt-BR" sz="2400" b="1" dirty="0" smtClean="0"/>
              <a:t>b</a:t>
            </a:r>
            <a:r>
              <a:rPr lang="pt-BR" sz="2400" b="1" dirty="0"/>
              <a:t>) </a:t>
            </a:r>
            <a:r>
              <a:rPr lang="pt-BR" sz="2400" i="1" dirty="0"/>
              <a:t>A </a:t>
            </a:r>
            <a:r>
              <a:rPr lang="pt-BR" sz="2400" dirty="0"/>
              <a:t>∪ </a:t>
            </a:r>
            <a:r>
              <a:rPr lang="pt-BR" sz="2400" i="1" dirty="0"/>
              <a:t>B </a:t>
            </a:r>
            <a:r>
              <a:rPr lang="pt-BR" sz="2400" dirty="0"/>
              <a:t>∪ </a:t>
            </a:r>
            <a:r>
              <a:rPr lang="pt-BR" sz="2400" i="1" dirty="0"/>
              <a:t>C</a:t>
            </a:r>
            <a:r>
              <a:rPr lang="pt-BR" sz="2400" dirty="0"/>
              <a:t>.</a:t>
            </a:r>
            <a:endParaRPr lang="pt-BR" sz="2400" dirty="0"/>
          </a:p>
          <a:p>
            <a:r>
              <a:rPr lang="pt-BR" sz="2400" b="1" dirty="0"/>
              <a:t>c) </a:t>
            </a:r>
            <a:r>
              <a:rPr lang="pt-BR" sz="2400" i="1" dirty="0"/>
              <a:t>(A </a:t>
            </a:r>
            <a:r>
              <a:rPr lang="pt-BR" sz="2400" dirty="0"/>
              <a:t>∪ </a:t>
            </a:r>
            <a:r>
              <a:rPr lang="pt-BR" sz="2400" i="1" dirty="0"/>
              <a:t>B) </a:t>
            </a:r>
            <a:r>
              <a:rPr lang="pt-BR" sz="2400" dirty="0"/>
              <a:t>∩ </a:t>
            </a:r>
            <a:r>
              <a:rPr lang="pt-BR" sz="2400" i="1" dirty="0"/>
              <a:t>C</a:t>
            </a:r>
            <a:r>
              <a:rPr lang="pt-BR" sz="2400" dirty="0"/>
              <a:t>. </a:t>
            </a:r>
            <a:r>
              <a:rPr lang="pt-BR" sz="2400" dirty="0" smtClean="0"/>
              <a:t>                                </a:t>
            </a:r>
            <a:r>
              <a:rPr lang="pt-BR" sz="2400" b="1" dirty="0" smtClean="0"/>
              <a:t>d</a:t>
            </a:r>
            <a:r>
              <a:rPr lang="pt-BR" sz="2400" b="1" dirty="0"/>
              <a:t>) </a:t>
            </a:r>
            <a:r>
              <a:rPr lang="pt-BR" sz="2400" i="1" dirty="0"/>
              <a:t>(A </a:t>
            </a:r>
            <a:r>
              <a:rPr lang="pt-BR" sz="2400" dirty="0"/>
              <a:t>∩ </a:t>
            </a:r>
            <a:r>
              <a:rPr lang="pt-BR" sz="2400" i="1" dirty="0"/>
              <a:t>B) </a:t>
            </a:r>
            <a:r>
              <a:rPr lang="pt-BR" sz="2400" dirty="0"/>
              <a:t>∪ </a:t>
            </a:r>
            <a:r>
              <a:rPr lang="pt-BR" sz="2400" i="1" dirty="0"/>
              <a:t>C</a:t>
            </a:r>
            <a:r>
              <a:rPr lang="pt-BR" sz="2400" dirty="0"/>
              <a:t>.</a:t>
            </a:r>
            <a:endParaRPr lang="en-US" sz="2400" b="1" dirty="0">
              <a:sym typeface="Symbol" panose="05050102010706020507" pitchFamily="18" charset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4287" y="4005217"/>
            <a:ext cx="10663250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Draw the Venn diagrams for each of these </a:t>
            </a:r>
            <a:r>
              <a:rPr lang="en-US" sz="2400" dirty="0" smtClean="0"/>
              <a:t>combinations of </a:t>
            </a:r>
            <a:r>
              <a:rPr lang="en-US" sz="2400" dirty="0"/>
              <a:t>the sets </a:t>
            </a:r>
            <a:r>
              <a:rPr lang="en-US" sz="2400" i="1" dirty="0"/>
              <a:t>A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dirty="0"/>
              <a:t>, and </a:t>
            </a:r>
            <a:r>
              <a:rPr lang="en-US" sz="2400" i="1" dirty="0"/>
              <a:t>C</a:t>
            </a:r>
            <a:r>
              <a:rPr lang="en-US" sz="2400" dirty="0"/>
              <a:t>.</a:t>
            </a:r>
            <a:endParaRPr lang="en-US" sz="2400" dirty="0"/>
          </a:p>
          <a:p>
            <a:r>
              <a:rPr lang="pt-BR" sz="2400" b="1" dirty="0"/>
              <a:t>a) </a:t>
            </a:r>
            <a:r>
              <a:rPr lang="pt-BR" sz="2400" i="1" dirty="0"/>
              <a:t>A </a:t>
            </a:r>
            <a:r>
              <a:rPr lang="pt-BR" sz="2400" dirty="0"/>
              <a:t>∩ </a:t>
            </a:r>
            <a:r>
              <a:rPr lang="pt-BR" sz="2400" i="1" dirty="0"/>
              <a:t>(B </a:t>
            </a:r>
            <a:r>
              <a:rPr lang="pt-BR" sz="2400" dirty="0"/>
              <a:t>− </a:t>
            </a:r>
            <a:r>
              <a:rPr lang="pt-BR" sz="2400" i="1" dirty="0"/>
              <a:t>C) </a:t>
            </a:r>
            <a:r>
              <a:rPr lang="pt-BR" sz="2400" i="1" dirty="0" smtClean="0"/>
              <a:t>                           </a:t>
            </a:r>
            <a:r>
              <a:rPr lang="pt-BR" sz="2400" b="1" dirty="0" smtClean="0"/>
              <a:t>b</a:t>
            </a:r>
            <a:r>
              <a:rPr lang="pt-BR" sz="2400" b="1" dirty="0"/>
              <a:t>) </a:t>
            </a:r>
            <a:r>
              <a:rPr lang="pt-BR" sz="2400" i="1" dirty="0"/>
              <a:t>(A </a:t>
            </a:r>
            <a:r>
              <a:rPr lang="pt-BR" sz="2400" dirty="0"/>
              <a:t>∩ </a:t>
            </a:r>
            <a:r>
              <a:rPr lang="pt-BR" sz="2400" i="1" dirty="0"/>
              <a:t>B) </a:t>
            </a:r>
            <a:r>
              <a:rPr lang="pt-BR" sz="2400" dirty="0"/>
              <a:t>∪ </a:t>
            </a:r>
            <a:r>
              <a:rPr lang="pt-BR" sz="2400" i="1" dirty="0"/>
              <a:t>(A </a:t>
            </a:r>
            <a:r>
              <a:rPr lang="pt-BR" sz="2400" dirty="0"/>
              <a:t>∩ </a:t>
            </a:r>
            <a:r>
              <a:rPr lang="pt-BR" sz="2400" i="1" dirty="0"/>
              <a:t>C)</a:t>
            </a:r>
            <a:endParaRPr lang="pt-BR" sz="2400" i="1" dirty="0"/>
          </a:p>
          <a:p>
            <a:r>
              <a:rPr lang="pt-BR" sz="2400" b="1" dirty="0"/>
              <a:t>c) </a:t>
            </a:r>
            <a:r>
              <a:rPr lang="pt-BR" sz="2400" i="1" dirty="0"/>
              <a:t>(A </a:t>
            </a:r>
            <a:r>
              <a:rPr lang="pt-BR" sz="2400" dirty="0"/>
              <a:t>∩ </a:t>
            </a:r>
            <a:r>
              <a:rPr lang="pt-BR" sz="2400" i="1" dirty="0"/>
              <a:t>B</a:t>
            </a:r>
            <a:r>
              <a:rPr lang="pt-BR" sz="2400" i="1" dirty="0" smtClean="0"/>
              <a:t>) </a:t>
            </a:r>
            <a:r>
              <a:rPr lang="pt-BR" sz="2400" dirty="0" smtClean="0"/>
              <a:t>∩ </a:t>
            </a:r>
            <a:r>
              <a:rPr lang="pt-BR" sz="2400" i="1" dirty="0"/>
              <a:t>(A </a:t>
            </a:r>
            <a:r>
              <a:rPr lang="pt-BR" sz="2400" dirty="0"/>
              <a:t>∩ </a:t>
            </a:r>
            <a:r>
              <a:rPr lang="pt-BR" sz="2400" i="1" dirty="0"/>
              <a:t>C)</a:t>
            </a:r>
            <a:endParaRPr lang="en-US" sz="2400" kern="0" dirty="0" smtClean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9041" y="5406043"/>
            <a:ext cx="10912632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Suppose that the universal set is </a:t>
            </a:r>
            <a:r>
              <a:rPr lang="en-US" sz="2400" i="1" dirty="0"/>
              <a:t>U </a:t>
            </a:r>
            <a:r>
              <a:rPr lang="en-US" sz="2400" dirty="0"/>
              <a:t>= {1</a:t>
            </a:r>
            <a:r>
              <a:rPr lang="en-US" sz="2400" i="1" dirty="0"/>
              <a:t>, </a:t>
            </a:r>
            <a:r>
              <a:rPr lang="en-US" sz="2400" dirty="0"/>
              <a:t>2</a:t>
            </a:r>
            <a:r>
              <a:rPr lang="en-US" sz="2400" i="1" dirty="0"/>
              <a:t>, </a:t>
            </a:r>
            <a:r>
              <a:rPr lang="en-US" sz="2400" dirty="0"/>
              <a:t>3</a:t>
            </a:r>
            <a:r>
              <a:rPr lang="en-US" sz="2400" i="1" dirty="0"/>
              <a:t>, </a:t>
            </a:r>
            <a:r>
              <a:rPr lang="en-US" sz="2400" dirty="0" smtClean="0"/>
              <a:t>4</a:t>
            </a:r>
            <a:r>
              <a:rPr lang="en-US" sz="2400" i="1" dirty="0" smtClean="0"/>
              <a:t>,</a:t>
            </a:r>
            <a:r>
              <a:rPr lang="en-US" sz="2400" dirty="0" smtClean="0"/>
              <a:t>5</a:t>
            </a:r>
            <a:r>
              <a:rPr lang="en-US" sz="2400" i="1" dirty="0"/>
              <a:t>, </a:t>
            </a:r>
            <a:r>
              <a:rPr lang="en-US" sz="2400" dirty="0"/>
              <a:t>6</a:t>
            </a:r>
            <a:r>
              <a:rPr lang="en-US" sz="2400" i="1" dirty="0"/>
              <a:t>, </a:t>
            </a:r>
            <a:r>
              <a:rPr lang="en-US" sz="2400" dirty="0"/>
              <a:t>7</a:t>
            </a:r>
            <a:r>
              <a:rPr lang="en-US" sz="2400" i="1" dirty="0"/>
              <a:t>, </a:t>
            </a:r>
            <a:r>
              <a:rPr lang="en-US" sz="2400" dirty="0"/>
              <a:t>8</a:t>
            </a:r>
            <a:r>
              <a:rPr lang="en-US" sz="2400" i="1" dirty="0"/>
              <a:t>, </a:t>
            </a:r>
            <a:r>
              <a:rPr lang="en-US" sz="2400" dirty="0"/>
              <a:t>9</a:t>
            </a:r>
            <a:r>
              <a:rPr lang="en-US" sz="2400" i="1" dirty="0"/>
              <a:t>, </a:t>
            </a:r>
            <a:r>
              <a:rPr lang="en-US" sz="2400" dirty="0"/>
              <a:t>10}. Express each of these sets with </a:t>
            </a:r>
            <a:r>
              <a:rPr lang="en-US" sz="2400" dirty="0" smtClean="0"/>
              <a:t>bit string.</a:t>
            </a:r>
            <a:endParaRPr lang="en-US" sz="2400" dirty="0"/>
          </a:p>
          <a:p>
            <a:r>
              <a:rPr lang="en-US" sz="2400" b="1" dirty="0"/>
              <a:t>a) </a:t>
            </a:r>
            <a:r>
              <a:rPr lang="en-US" sz="2400" dirty="0"/>
              <a:t>{3</a:t>
            </a:r>
            <a:r>
              <a:rPr lang="en-US" sz="2400" i="1" dirty="0"/>
              <a:t>, </a:t>
            </a:r>
            <a:r>
              <a:rPr lang="en-US" sz="2400" dirty="0"/>
              <a:t>4</a:t>
            </a:r>
            <a:r>
              <a:rPr lang="en-US" sz="2400" i="1" dirty="0"/>
              <a:t>, </a:t>
            </a:r>
            <a:r>
              <a:rPr lang="en-US" sz="2400" dirty="0" smtClean="0"/>
              <a:t>5}                                  </a:t>
            </a:r>
            <a:r>
              <a:rPr lang="pl-PL" sz="2400" b="1" dirty="0" smtClean="0"/>
              <a:t>b</a:t>
            </a:r>
            <a:r>
              <a:rPr lang="pl-PL" sz="2400" b="1" dirty="0"/>
              <a:t>) </a:t>
            </a:r>
            <a:r>
              <a:rPr lang="pl-PL" sz="2400" dirty="0"/>
              <a:t>{1</a:t>
            </a:r>
            <a:r>
              <a:rPr lang="pl-PL" sz="2400" i="1" dirty="0"/>
              <a:t>, </a:t>
            </a:r>
            <a:r>
              <a:rPr lang="pl-PL" sz="2400" dirty="0"/>
              <a:t>3</a:t>
            </a:r>
            <a:r>
              <a:rPr lang="pl-PL" sz="2400" i="1" dirty="0"/>
              <a:t>, </a:t>
            </a:r>
            <a:r>
              <a:rPr lang="pl-PL" sz="2400" dirty="0"/>
              <a:t>6</a:t>
            </a:r>
            <a:r>
              <a:rPr lang="pl-PL" sz="2400" i="1" dirty="0"/>
              <a:t>, </a:t>
            </a:r>
            <a:r>
              <a:rPr lang="pl-PL" sz="2400" dirty="0" smtClean="0"/>
              <a:t>10}</a:t>
            </a:r>
            <a:r>
              <a:rPr lang="en-US" sz="2400" dirty="0" smtClean="0"/>
              <a:t>                     </a:t>
            </a:r>
            <a:r>
              <a:rPr lang="en-US" sz="2400" b="1" dirty="0" smtClean="0"/>
              <a:t>c</a:t>
            </a:r>
            <a:r>
              <a:rPr lang="en-US" sz="2400" b="1" dirty="0"/>
              <a:t>) </a:t>
            </a:r>
            <a:r>
              <a:rPr lang="en-US" sz="2400" dirty="0"/>
              <a:t>{2</a:t>
            </a:r>
            <a:r>
              <a:rPr lang="en-US" sz="2400" i="1" dirty="0"/>
              <a:t>, </a:t>
            </a:r>
            <a:r>
              <a:rPr lang="en-US" sz="2400" dirty="0" smtClean="0"/>
              <a:t>3</a:t>
            </a:r>
            <a:r>
              <a:rPr lang="en-US" sz="2400" i="1" dirty="0" smtClean="0"/>
              <a:t>, </a:t>
            </a:r>
            <a:r>
              <a:rPr lang="en-US" sz="2400" dirty="0" smtClean="0"/>
              <a:t>4</a:t>
            </a:r>
            <a:r>
              <a:rPr lang="en-US" sz="2400" i="1" dirty="0" smtClean="0"/>
              <a:t>, </a:t>
            </a:r>
            <a:r>
              <a:rPr lang="en-US" sz="2400" dirty="0" smtClean="0"/>
              <a:t>7</a:t>
            </a:r>
            <a:r>
              <a:rPr lang="en-US" sz="2400" i="1" dirty="0" smtClean="0"/>
              <a:t>, </a:t>
            </a:r>
            <a:r>
              <a:rPr lang="en-US" sz="2400" dirty="0" smtClean="0"/>
              <a:t>8</a:t>
            </a:r>
            <a:r>
              <a:rPr lang="en-US" sz="2400" i="1" dirty="0" smtClean="0"/>
              <a:t>, </a:t>
            </a:r>
            <a:r>
              <a:rPr lang="en-US" sz="2400" dirty="0" smtClean="0"/>
              <a:t>9</a:t>
            </a:r>
            <a:r>
              <a:rPr lang="en-US" sz="2400" dirty="0"/>
              <a:t>}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10673</Words>
  <Application>WPS Presentation</Application>
  <PresentationFormat>Custom</PresentationFormat>
  <Paragraphs>713</Paragraphs>
  <Slides>50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50</vt:i4>
      </vt:variant>
    </vt:vector>
  </HeadingPairs>
  <TitlesOfParts>
    <vt:vector size="79" baseType="lpstr">
      <vt:lpstr>Arial</vt:lpstr>
      <vt:lpstr>SimSun</vt:lpstr>
      <vt:lpstr>Wingdings</vt:lpstr>
      <vt:lpstr>Times New Roman</vt:lpstr>
      <vt:lpstr>Rockwell</vt:lpstr>
      <vt:lpstr>Eras Demi ITC</vt:lpstr>
      <vt:lpstr>Yu Gothic UI Semibold</vt:lpstr>
      <vt:lpstr>Webdings</vt:lpstr>
      <vt:lpstr>Verdana</vt:lpstr>
      <vt:lpstr>Cambria Math</vt:lpstr>
      <vt:lpstr>Courier New</vt:lpstr>
      <vt:lpstr>Cambria Math</vt:lpstr>
      <vt:lpstr>Symbol</vt:lpstr>
      <vt:lpstr>Microsoft YaHei</vt:lpstr>
      <vt:lpstr>Arial Unicode MS</vt:lpstr>
      <vt:lpstr>Calibri</vt:lpstr>
      <vt:lpstr>Osaka</vt:lpstr>
      <vt:lpstr>Yu Gothic</vt:lpstr>
      <vt:lpstr>Garamond</vt:lpstr>
      <vt:lpstr>ヒラギノ角ゴ Pro W3</vt:lpstr>
      <vt:lpstr>Monotype Sorts</vt:lpstr>
      <vt:lpstr>Wingdings</vt:lpstr>
      <vt:lpstr>Verdana</vt:lpstr>
      <vt:lpstr>PMingLiU-ExtB</vt:lpstr>
      <vt:lpstr>Default Design</vt:lpstr>
      <vt:lpstr>Equation.3</vt:lpstr>
      <vt:lpstr>Equation.3</vt:lpstr>
      <vt:lpstr>Equation.3</vt:lpstr>
      <vt:lpstr>Equation.3</vt:lpstr>
      <vt:lpstr>Set Theory</vt:lpstr>
      <vt:lpstr>Set Basics</vt:lpstr>
      <vt:lpstr>Set Basics</vt:lpstr>
      <vt:lpstr>Set and Elements</vt:lpstr>
      <vt:lpstr>How to describe a Set?</vt:lpstr>
      <vt:lpstr>How to describe a Set?</vt:lpstr>
      <vt:lpstr>How to describe a Set?</vt:lpstr>
      <vt:lpstr>How to describe a Set?</vt:lpstr>
      <vt:lpstr>Specifying Sets (cont.)</vt:lpstr>
      <vt:lpstr>Specifying Sets (cont.)</vt:lpstr>
      <vt:lpstr>PowerPoint 演示文稿</vt:lpstr>
      <vt:lpstr>Set Terminology : The universal set</vt:lpstr>
      <vt:lpstr>Set Terminology : The Empty Set</vt:lpstr>
      <vt:lpstr>PowerPoint 演示文稿</vt:lpstr>
      <vt:lpstr>Set Terminology : Subset</vt:lpstr>
      <vt:lpstr>Set Terminology : Subset</vt:lpstr>
      <vt:lpstr>Set Terminology : Proper Subset</vt:lpstr>
      <vt:lpstr>Set Terminology : Proper Subset</vt:lpstr>
      <vt:lpstr>Set Terminology : Set Equality </vt:lpstr>
      <vt:lpstr>Set Terminology : Set Equality </vt:lpstr>
      <vt:lpstr>Set Terminology : Set Cardinality </vt:lpstr>
      <vt:lpstr>Set Terminology : Set Cardinality </vt:lpstr>
      <vt:lpstr>Set Terminology : Finite Set and Infinite Set </vt:lpstr>
      <vt:lpstr>Set Terminology : Power Set </vt:lpstr>
      <vt:lpstr>Set Terminology : Cartesian Product</vt:lpstr>
      <vt:lpstr>Set Operations</vt:lpstr>
      <vt:lpstr>Set Operation</vt:lpstr>
      <vt:lpstr>Set Operation : Union </vt:lpstr>
      <vt:lpstr>Set Operation : Intersection </vt:lpstr>
      <vt:lpstr>Union and Intersection in VD</vt:lpstr>
      <vt:lpstr>Set Operation : Union </vt:lpstr>
      <vt:lpstr>Disjoint Sets</vt:lpstr>
      <vt:lpstr>Set Operation : Difference </vt:lpstr>
      <vt:lpstr>Set Operation : Difference </vt:lpstr>
      <vt:lpstr>Set Operation : Complement </vt:lpstr>
      <vt:lpstr>Set Operation : Symmetric Difference </vt:lpstr>
      <vt:lpstr>How to Prove a Set identities</vt:lpstr>
      <vt:lpstr>PowerPoint 演示文稿</vt:lpstr>
      <vt:lpstr>Set identities</vt:lpstr>
      <vt:lpstr>Set identities =∪</vt:lpstr>
      <vt:lpstr>Set identities : A∩(B∪C)=(A∩B)∪(A∩C)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Bit String </vt:lpstr>
      <vt:lpstr>Exercise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Discrete Mathematics?</dc:title>
  <dc:creator>T-T</dc:creator>
  <cp:lastModifiedBy>Shabab Rahman</cp:lastModifiedBy>
  <cp:revision>129</cp:revision>
  <dcterms:created xsi:type="dcterms:W3CDTF">2014-01-14T15:12:00Z</dcterms:created>
  <dcterms:modified xsi:type="dcterms:W3CDTF">2025-01-29T03:52:00Z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E1EDC6C3B58F4F999AA6C065667C918D_12</vt:lpwstr>
  </property>
  <property fmtid="{D5CDD505-2E9C-101B-9397-08002B2CF9AE}" pid="3" name="KSOProductBuildVer">
    <vt:lpwstr>1033-12.2.0.19805</vt:lpwstr>
  </property>
</Properties>
</file>