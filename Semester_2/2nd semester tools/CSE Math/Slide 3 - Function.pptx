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Default Extension="wdp" ContentType="image/vnd.ms-photo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87" r:id="rId2"/>
    <p:sldId id="288" r:id="rId3"/>
    <p:sldId id="289" r:id="rId4"/>
    <p:sldId id="259" r:id="rId5"/>
    <p:sldId id="260" r:id="rId6"/>
    <p:sldId id="261" r:id="rId7"/>
    <p:sldId id="290" r:id="rId8"/>
    <p:sldId id="291" r:id="rId9"/>
    <p:sldId id="268" r:id="rId10"/>
    <p:sldId id="269" r:id="rId11"/>
    <p:sldId id="264" r:id="rId12"/>
    <p:sldId id="297" r:id="rId13"/>
    <p:sldId id="270" r:id="rId14"/>
    <p:sldId id="271" r:id="rId15"/>
    <p:sldId id="278" r:id="rId16"/>
    <p:sldId id="272" r:id="rId17"/>
    <p:sldId id="292" r:id="rId18"/>
    <p:sldId id="298" r:id="rId19"/>
    <p:sldId id="274" r:id="rId20"/>
    <p:sldId id="275" r:id="rId21"/>
    <p:sldId id="295" r:id="rId22"/>
    <p:sldId id="276" r:id="rId23"/>
    <p:sldId id="280" r:id="rId24"/>
    <p:sldId id="293" r:id="rId25"/>
    <p:sldId id="281" r:id="rId26"/>
    <p:sldId id="282" r:id="rId27"/>
    <p:sldId id="299" r:id="rId28"/>
    <p:sldId id="301" r:id="rId29"/>
    <p:sldId id="302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3483" autoAdjust="0"/>
  </p:normalViewPr>
  <p:slideViewPr>
    <p:cSldViewPr snapToGrid="0">
      <p:cViewPr varScale="1">
        <p:scale>
          <a:sx n="60" d="100"/>
          <a:sy n="60" d="100"/>
        </p:scale>
        <p:origin x="-1062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AA144D-E4DB-48EA-BF67-C5ECF2C21F02}" type="datetimeFigureOut">
              <a:rPr lang="en-US" smtClean="0"/>
              <a:pPr/>
              <a:t>4/7/2016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2EF98-7029-4112-B632-B7FA32CC20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74221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fld id="{97E12B3F-4EEF-4054-93DF-69D3D9B8BEAE}" type="slidenum">
              <a:rPr lang="en-US"/>
              <a:pPr eaLnBrk="1" hangingPunct="1"/>
              <a:t>4</a:t>
            </a:fld>
            <a:endParaRPr lang="en-US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583725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fld id="{5451F23F-E132-43FE-9A03-C4930037AEDF}" type="slidenum">
              <a:rPr lang="en-US"/>
              <a:pPr eaLnBrk="1" hangingPunct="1"/>
              <a:t>5</a:t>
            </a:fld>
            <a:endParaRPr lang="en-US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203564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fld id="{C6BE824F-73EC-492F-A943-97EE82CBECFE}" type="slidenum">
              <a:rPr lang="en-US"/>
              <a:pPr eaLnBrk="1" hangingPunct="1"/>
              <a:t>6</a:t>
            </a:fld>
            <a:endParaRPr lang="en-US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80040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fld id="{1797A5D0-99B3-4A81-8C9D-CF5B43DAE039}" type="slidenum">
              <a:rPr lang="en-US"/>
              <a:pPr eaLnBrk="1" hangingPunct="1"/>
              <a:t>9</a:t>
            </a:fld>
            <a:endParaRPr lang="en-US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04922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fld id="{E3091577-886F-4D4F-AC23-EE6F3753DA07}" type="slidenum">
              <a:rPr lang="en-US"/>
              <a:pPr eaLnBrk="1" hangingPunct="1"/>
              <a:t>10</a:t>
            </a:fld>
            <a:endParaRPr lang="en-US"/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775870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fld id="{AB787348-A36E-4C1B-AD48-8CA85274393E}" type="slidenum">
              <a:rPr lang="en-US"/>
              <a:pPr eaLnBrk="1" hangingPunct="1"/>
              <a:t>13</a:t>
            </a:fld>
            <a:endParaRPr lang="en-US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417369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fld id="{8A76D33B-C5F3-4AD0-8E6C-BFD2F8DA7359}" type="slidenum">
              <a:rPr lang="en-US"/>
              <a:pPr eaLnBrk="1" hangingPunct="1"/>
              <a:t>14</a:t>
            </a:fld>
            <a:endParaRPr lang="en-US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792728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fld id="{E1B247A0-6580-48A7-A8D4-0983B9C5488E}" type="slidenum">
              <a:rPr lang="en-US"/>
              <a:pPr eaLnBrk="1" hangingPunct="1"/>
              <a:t>16</a:t>
            </a:fld>
            <a:endParaRPr lang="en-US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91266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fld id="{D9B09FD8-264C-4342-8D8C-657039F1B5A3}" type="slidenum">
              <a:rPr lang="en-US"/>
              <a:pPr eaLnBrk="1" hangingPunct="1"/>
              <a:t>18</a:t>
            </a:fld>
            <a:endParaRPr lang="en-US"/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964453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fld id="{D4D8664F-13E2-452A-AB40-DC8C9965E1AF}" type="slidenum">
              <a:rPr lang="en-US"/>
              <a:pPr eaLnBrk="1" hangingPunct="1"/>
              <a:t>19</a:t>
            </a:fld>
            <a:endParaRPr lang="en-US"/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833549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fld id="{5A7EB303-47CA-4A7E-9925-2CC063ABF2FA}" type="slidenum">
              <a:rPr lang="en-US"/>
              <a:pPr eaLnBrk="1" hangingPunct="1"/>
              <a:t>20</a:t>
            </a:fld>
            <a:endParaRPr lang="en-US"/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6893372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fld id="{1BE7202C-DF2F-43F5-A350-D748834BF9CC}" type="slidenum">
              <a:rPr lang="en-US"/>
              <a:pPr eaLnBrk="1" hangingPunct="1"/>
              <a:t>22</a:t>
            </a:fld>
            <a:endParaRPr lang="en-US"/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371146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fld id="{924DE7BF-65F0-4560-A536-8FF45EE84440}" type="slidenum">
              <a:rPr lang="en-US"/>
              <a:pPr eaLnBrk="1" hangingPunct="1"/>
              <a:t>23</a:t>
            </a:fld>
            <a:endParaRPr lang="en-US"/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067314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fld id="{BA655F8F-B4A6-4F56-881A-310B443ACBA6}" type="slidenum">
              <a:rPr lang="en-US"/>
              <a:pPr eaLnBrk="1" hangingPunct="1"/>
              <a:t>25</a:t>
            </a:fld>
            <a:endParaRPr lang="en-US"/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273465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fld id="{30F32C0C-0810-4BA0-B09B-39D5EE0D777C}" type="slidenum">
              <a:rPr lang="en-US"/>
              <a:pPr eaLnBrk="1" hangingPunct="1"/>
              <a:t>26</a:t>
            </a:fld>
            <a:endParaRPr lang="en-US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807436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9pPr>
          </a:lstStyle>
          <a:p>
            <a:pPr eaLnBrk="1" hangingPunct="1"/>
            <a:fld id="{163D4FCD-4118-4192-957F-0DA02FA5BA0D}" type="slidenum">
              <a:rPr lang="en-US" smtClean="0"/>
              <a:pPr eaLnBrk="1" hangingPunct="1"/>
              <a:t>27</a:t>
            </a:fld>
            <a:endParaRPr lang="en-US" smtClean="0"/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smtClean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591013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9pPr>
          </a:lstStyle>
          <a:p>
            <a:pPr eaLnBrk="1" hangingPunct="1"/>
            <a:fld id="{2B6D5CCE-03EC-45A7-9F97-D9F431DE9A95}" type="slidenum">
              <a:rPr lang="en-US" smtClean="0"/>
              <a:pPr eaLnBrk="1" hangingPunct="1"/>
              <a:t>28</a:t>
            </a:fld>
            <a:endParaRPr lang="en-US" smtClean="0"/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smtClean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533330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9pPr>
          </a:lstStyle>
          <a:p>
            <a:pPr eaLnBrk="1" hangingPunct="1"/>
            <a:fld id="{E0548D67-2E6A-461D-8F22-98C0065BA843}" type="slidenum">
              <a:rPr lang="en-US" smtClean="0"/>
              <a:pPr eaLnBrk="1" hangingPunct="1"/>
              <a:t>29</a:t>
            </a:fld>
            <a:endParaRPr lang="en-US" smtClean="0"/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smtClean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654726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45995-F6B7-405D-9291-0E587B0D6E33}" type="datetimeFigureOut">
              <a:rPr lang="en-US" smtClean="0"/>
              <a:pPr/>
              <a:t>4/7/2016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BAB6-C294-4B2B-BBC2-DA497AE0F1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84337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45995-F6B7-405D-9291-0E587B0D6E33}" type="datetimeFigureOut">
              <a:rPr lang="en-US" smtClean="0"/>
              <a:pPr/>
              <a:t>4/7/2016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BAB6-C294-4B2B-BBC2-DA497AE0F1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08430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45995-F6B7-405D-9291-0E587B0D6E33}" type="datetimeFigureOut">
              <a:rPr lang="en-US" smtClean="0"/>
              <a:pPr/>
              <a:t>4/7/2016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BAB6-C294-4B2B-BBC2-DA497AE0F1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3973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45995-F6B7-405D-9291-0E587B0D6E33}" type="datetimeFigureOut">
              <a:rPr lang="en-US" smtClean="0"/>
              <a:pPr/>
              <a:t>4/7/2016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BAB6-C294-4B2B-BBC2-DA497AE0F1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96807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45995-F6B7-405D-9291-0E587B0D6E33}" type="datetimeFigureOut">
              <a:rPr lang="en-US" smtClean="0"/>
              <a:pPr/>
              <a:t>4/7/2016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BAB6-C294-4B2B-BBC2-DA497AE0F1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737900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45995-F6B7-405D-9291-0E587B0D6E33}" type="datetimeFigureOut">
              <a:rPr lang="en-US" smtClean="0"/>
              <a:pPr/>
              <a:t>4/7/2016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BAB6-C294-4B2B-BBC2-DA497AE0F1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68023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45995-F6B7-405D-9291-0E587B0D6E33}" type="datetimeFigureOut">
              <a:rPr lang="en-US" smtClean="0"/>
              <a:pPr/>
              <a:t>4/7/2016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BAB6-C294-4B2B-BBC2-DA497AE0F1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03082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45995-F6B7-405D-9291-0E587B0D6E33}" type="datetimeFigureOut">
              <a:rPr lang="en-US" smtClean="0"/>
              <a:pPr/>
              <a:t>4/7/2016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BAB6-C294-4B2B-BBC2-DA497AE0F1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17170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45995-F6B7-405D-9291-0E587B0D6E33}" type="datetimeFigureOut">
              <a:rPr lang="en-US" smtClean="0"/>
              <a:pPr/>
              <a:t>4/7/2016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BAB6-C294-4B2B-BBC2-DA497AE0F1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18303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45995-F6B7-405D-9291-0E587B0D6E33}" type="datetimeFigureOut">
              <a:rPr lang="en-US" smtClean="0"/>
              <a:pPr/>
              <a:t>4/7/2016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BAB6-C294-4B2B-BBC2-DA497AE0F1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6889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45995-F6B7-405D-9291-0E587B0D6E33}" type="datetimeFigureOut">
              <a:rPr lang="en-US" smtClean="0"/>
              <a:pPr/>
              <a:t>4/7/2016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BAB6-C294-4B2B-BBC2-DA497AE0F1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07913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45995-F6B7-405D-9291-0E587B0D6E33}" type="datetimeFigureOut">
              <a:rPr lang="en-US" smtClean="0"/>
              <a:pPr/>
              <a:t>4/7/2016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61BAB6-C294-4B2B-BBC2-DA497AE0F1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64378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443164"/>
            <a:ext cx="9144000" cy="1806588"/>
          </a:xfrm>
          <a:solidFill>
            <a:schemeClr val="accent1">
              <a:lumMod val="50000"/>
            </a:schemeClr>
          </a:solidFill>
          <a:ln>
            <a:solidFill>
              <a:schemeClr val="accent1"/>
            </a:solidFill>
          </a:ln>
        </p:spPr>
        <p:txBody>
          <a:bodyPr vert="horz" lIns="121920" tIns="45720" rIns="121920" bIns="60960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8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" panose="02060603020205020403" pitchFamily="18" charset="0"/>
              </a:rPr>
              <a:t>Function</a:t>
            </a:r>
            <a:endParaRPr lang="en-US" sz="8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ckwell" panose="02060603020205020403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057" y="6500813"/>
            <a:ext cx="12193057" cy="35718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=""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057" y="0"/>
            <a:ext cx="12193057" cy="19224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06B5-6058-41AF-9CC7-A36880636D59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539766" y="3602038"/>
            <a:ext cx="9144000" cy="165576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904490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Function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966774" y="1479945"/>
            <a:ext cx="10653296" cy="587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dirty="0" smtClean="0">
                <a:latin typeface="+mj-lt"/>
              </a:rPr>
              <a:t>Definition		</a:t>
            </a:r>
            <a:endParaRPr lang="en-US" b="1" dirty="0">
              <a:latin typeface="+mj-lt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976728" y="2143942"/>
            <a:ext cx="10653296" cy="127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/>
              <a:t>Let A and B be sets. A  function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 b="1" i="1">
                <a:solidFill>
                  <a:srgbClr val="FF0000"/>
                </a:solidFill>
              </a:rPr>
              <a:t>f </a:t>
            </a:r>
            <a:r>
              <a:rPr lang="en-US"/>
              <a:t>from A to B is an assignment of exactly one element of B to each element of A.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728577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Function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114426" y="2064277"/>
                <a:ext cx="10487025" cy="2508379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spcBef>
                    <a:spcPts val="6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800" dirty="0" smtClean="0"/>
                  <a:t>If </a:t>
                </a:r>
                <a:r>
                  <a:rPr lang="en-US" sz="2800" i="1" dirty="0"/>
                  <a:t>f </a:t>
                </a:r>
                <a:r>
                  <a:rPr lang="en-US" sz="2800" dirty="0"/>
                  <a:t>is a function from A to B, we write </a:t>
                </a:r>
                <a:r>
                  <a:rPr lang="en-US" sz="2800" i="1" dirty="0"/>
                  <a:t>f : </a:t>
                </a:r>
                <a:r>
                  <a:rPr lang="en-US" sz="2800" dirty="0"/>
                  <a:t>A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800" dirty="0" smtClean="0"/>
                  <a:t/>
                </a:r>
                <a:r>
                  <a:rPr lang="en-US" sz="2800" dirty="0"/>
                  <a:t>B.</a:t>
                </a:r>
              </a:p>
              <a:p>
                <a:pPr marL="457200" indent="-457200" algn="just">
                  <a:spcBef>
                    <a:spcPts val="6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800" dirty="0"/>
                  <a:t>Set A is called the </a:t>
                </a:r>
                <a:r>
                  <a:rPr lang="en-US" sz="2800" dirty="0">
                    <a:solidFill>
                      <a:srgbClr val="FF0000"/>
                    </a:solidFill>
                  </a:rPr>
                  <a:t>domain</a:t>
                </a:r>
                <a:r>
                  <a:rPr lang="en-US" sz="2800" dirty="0"/>
                  <a:t> of the function.</a:t>
                </a:r>
              </a:p>
              <a:p>
                <a:pPr marL="457200" indent="-457200" algn="just">
                  <a:spcBef>
                    <a:spcPts val="6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800" dirty="0"/>
                  <a:t>Set B is called the </a:t>
                </a:r>
                <a:r>
                  <a:rPr lang="en-US" sz="2800" dirty="0">
                    <a:solidFill>
                      <a:srgbClr val="FF0000"/>
                    </a:solidFill>
                  </a:rPr>
                  <a:t>codomain</a:t>
                </a:r>
                <a:r>
                  <a:rPr lang="en-US" sz="2800" dirty="0"/>
                  <a:t> of the function.</a:t>
                </a:r>
              </a:p>
              <a:p>
                <a:pPr marL="457200" indent="-45720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800" dirty="0"/>
                  <a:t>If</a:t>
                </a:r>
                <a:r>
                  <a:rPr lang="en-US" sz="2800" i="1" dirty="0"/>
                  <a:t> f(a) = b, </a:t>
                </a:r>
                <a:r>
                  <a:rPr lang="en-US" sz="2800" dirty="0"/>
                  <a:t>then </a:t>
                </a:r>
                <a:r>
                  <a:rPr lang="en-US" sz="2800" i="1" dirty="0"/>
                  <a:t>b</a:t>
                </a:r>
                <a:r>
                  <a:rPr lang="en-US" sz="2800" dirty="0"/>
                  <a:t> is the image of </a:t>
                </a:r>
                <a:r>
                  <a:rPr lang="en-US" sz="2800" i="1" dirty="0"/>
                  <a:t>a</a:t>
                </a:r>
                <a:r>
                  <a:rPr lang="en-US" sz="2800" dirty="0"/>
                  <a:t> and </a:t>
                </a:r>
                <a:r>
                  <a:rPr lang="en-US" sz="2800" i="1" dirty="0"/>
                  <a:t>a</a:t>
                </a:r>
                <a:r>
                  <a:rPr lang="en-US" sz="2800" dirty="0"/>
                  <a:t> is the pre-image of </a:t>
                </a:r>
                <a:r>
                  <a:rPr lang="en-US" sz="2800" i="1" dirty="0"/>
                  <a:t>b</a:t>
                </a:r>
                <a:r>
                  <a:rPr lang="en-US" sz="2800" dirty="0"/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426" y="2064277"/>
                <a:ext cx="10487025" cy="2508379"/>
              </a:xfrm>
              <a:prstGeom prst="rect">
                <a:avLst/>
              </a:prstGeom>
              <a:blipFill rotWithShape="0">
                <a:blip r:embed="rId2"/>
                <a:stretch>
                  <a:fillRect l="-987" t="-2179" b="-5811"/>
                </a:stretch>
              </a:blip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="" xmlns:p14="http://schemas.microsoft.com/office/powerpoint/2010/main" val="1515287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796925"/>
          </a:xfrm>
        </p:spPr>
        <p:txBody>
          <a:bodyPr/>
          <a:lstStyle/>
          <a:p>
            <a:pPr algn="ctr" eaLnBrk="1" hangingPunct="1"/>
            <a:r>
              <a:rPr lang="en-US" b="1" dirty="0" smtClean="0"/>
              <a:t>Definition of a function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314450"/>
            <a:ext cx="10515600" cy="4862513"/>
          </a:xfrm>
        </p:spPr>
        <p:txBody>
          <a:bodyPr/>
          <a:lstStyle/>
          <a:p>
            <a:pPr marL="0" indent="0" algn="ctr">
              <a:buNone/>
            </a:pPr>
            <a:r>
              <a:rPr lang="en-US" i="1" dirty="0" smtClean="0"/>
              <a:t>f : </a:t>
            </a:r>
            <a:r>
              <a:rPr lang="en-US" dirty="0" smtClean="0"/>
              <a:t>R       Z</a:t>
            </a:r>
          </a:p>
          <a:p>
            <a:pPr algn="ctr" eaLnBrk="1" hangingPunct="1"/>
            <a:endParaRPr lang="en-US" b="1" dirty="0" smtClean="0"/>
          </a:p>
        </p:txBody>
      </p:sp>
      <p:sp>
        <p:nvSpPr>
          <p:cNvPr id="39940" name="Oval 4"/>
          <p:cNvSpPr>
            <a:spLocks noChangeArrowheads="1"/>
          </p:cNvSpPr>
          <p:nvPr/>
        </p:nvSpPr>
        <p:spPr bwMode="auto">
          <a:xfrm>
            <a:off x="2667001" y="2986088"/>
            <a:ext cx="2970213" cy="29718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9941" name="Oval 5"/>
          <p:cNvSpPr>
            <a:spLocks noChangeArrowheads="1"/>
          </p:cNvSpPr>
          <p:nvPr/>
        </p:nvSpPr>
        <p:spPr bwMode="auto">
          <a:xfrm>
            <a:off x="6858001" y="2986088"/>
            <a:ext cx="2970213" cy="29718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9942" name="Text Box 6"/>
          <p:cNvSpPr txBox="1">
            <a:spLocks noChangeArrowheads="1"/>
          </p:cNvSpPr>
          <p:nvPr/>
        </p:nvSpPr>
        <p:spPr bwMode="auto">
          <a:xfrm>
            <a:off x="3962400" y="2605088"/>
            <a:ext cx="349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r>
              <a:rPr lang="en-US" b="1"/>
              <a:t>R</a:t>
            </a:r>
          </a:p>
        </p:txBody>
      </p:sp>
      <p:sp>
        <p:nvSpPr>
          <p:cNvPr id="39943" name="Text Box 7"/>
          <p:cNvSpPr txBox="1">
            <a:spLocks noChangeArrowheads="1"/>
          </p:cNvSpPr>
          <p:nvPr/>
        </p:nvSpPr>
        <p:spPr bwMode="auto">
          <a:xfrm>
            <a:off x="8153400" y="2605088"/>
            <a:ext cx="349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r>
              <a:rPr lang="en-US" b="1"/>
              <a:t>Z</a:t>
            </a:r>
          </a:p>
        </p:txBody>
      </p:sp>
      <p:sp>
        <p:nvSpPr>
          <p:cNvPr id="1230856" name="Freeform 8"/>
          <p:cNvSpPr>
            <a:spLocks/>
          </p:cNvSpPr>
          <p:nvPr/>
        </p:nvSpPr>
        <p:spPr bwMode="auto">
          <a:xfrm>
            <a:off x="5029200" y="2973388"/>
            <a:ext cx="2286000" cy="393700"/>
          </a:xfrm>
          <a:custGeom>
            <a:avLst/>
            <a:gdLst>
              <a:gd name="T0" fmla="*/ 0 w 1440"/>
              <a:gd name="T1" fmla="*/ 2147483647 h 248"/>
              <a:gd name="T2" fmla="*/ 2147483647 w 1440"/>
              <a:gd name="T3" fmla="*/ 2147483647 h 248"/>
              <a:gd name="T4" fmla="*/ 2147483647 w 1440"/>
              <a:gd name="T5" fmla="*/ 2147483647 h 248"/>
              <a:gd name="T6" fmla="*/ 0 60000 65536"/>
              <a:gd name="T7" fmla="*/ 0 60000 65536"/>
              <a:gd name="T8" fmla="*/ 0 60000 65536"/>
              <a:gd name="T9" fmla="*/ 0 w 1440"/>
              <a:gd name="T10" fmla="*/ 0 h 248"/>
              <a:gd name="T11" fmla="*/ 1440 w 1440"/>
              <a:gd name="T12" fmla="*/ 248 h 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248">
                <a:moveTo>
                  <a:pt x="0" y="200"/>
                </a:moveTo>
                <a:cubicBezTo>
                  <a:pt x="216" y="100"/>
                  <a:pt x="432" y="0"/>
                  <a:pt x="672" y="8"/>
                </a:cubicBezTo>
                <a:cubicBezTo>
                  <a:pt x="912" y="16"/>
                  <a:pt x="1192" y="160"/>
                  <a:pt x="1440" y="248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30857" name="Text Box 9"/>
          <p:cNvSpPr txBox="1">
            <a:spLocks noChangeArrowheads="1"/>
          </p:cNvSpPr>
          <p:nvPr/>
        </p:nvSpPr>
        <p:spPr bwMode="auto">
          <a:xfrm>
            <a:off x="5886450" y="2971800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 sz="240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1230858" name="Line 10"/>
          <p:cNvSpPr>
            <a:spLocks noChangeShapeType="1"/>
          </p:cNvSpPr>
          <p:nvPr/>
        </p:nvSpPr>
        <p:spPr bwMode="auto">
          <a:xfrm>
            <a:off x="4191000" y="5119688"/>
            <a:ext cx="40386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859" name="Oval 11"/>
          <p:cNvSpPr>
            <a:spLocks noChangeArrowheads="1"/>
          </p:cNvSpPr>
          <p:nvPr/>
        </p:nvSpPr>
        <p:spPr bwMode="auto">
          <a:xfrm>
            <a:off x="4038600" y="5043488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30860" name="Oval 12"/>
          <p:cNvSpPr>
            <a:spLocks noChangeArrowheads="1"/>
          </p:cNvSpPr>
          <p:nvPr/>
        </p:nvSpPr>
        <p:spPr bwMode="auto">
          <a:xfrm>
            <a:off x="8229600" y="5043488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30861" name="Text Box 13"/>
          <p:cNvSpPr txBox="1">
            <a:spLocks noChangeArrowheads="1"/>
          </p:cNvSpPr>
          <p:nvPr/>
        </p:nvSpPr>
        <p:spPr bwMode="auto">
          <a:xfrm>
            <a:off x="3810000" y="5195888"/>
            <a:ext cx="501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/>
              <a:t>4.3</a:t>
            </a:r>
          </a:p>
        </p:txBody>
      </p:sp>
      <p:sp>
        <p:nvSpPr>
          <p:cNvPr id="1230862" name="Text Box 14"/>
          <p:cNvSpPr txBox="1">
            <a:spLocks noChangeArrowheads="1"/>
          </p:cNvSpPr>
          <p:nvPr/>
        </p:nvSpPr>
        <p:spPr bwMode="auto">
          <a:xfrm>
            <a:off x="8150225" y="515620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/>
              <a:t>4</a:t>
            </a:r>
          </a:p>
        </p:txBody>
      </p:sp>
      <p:sp>
        <p:nvSpPr>
          <p:cNvPr id="1230863" name="Line 15"/>
          <p:cNvSpPr>
            <a:spLocks noChangeShapeType="1"/>
          </p:cNvSpPr>
          <p:nvPr/>
        </p:nvSpPr>
        <p:spPr bwMode="auto">
          <a:xfrm>
            <a:off x="2667000" y="3062288"/>
            <a:ext cx="381000" cy="3810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864" name="Text Box 16"/>
          <p:cNvSpPr txBox="1">
            <a:spLocks noChangeArrowheads="1"/>
          </p:cNvSpPr>
          <p:nvPr/>
        </p:nvSpPr>
        <p:spPr bwMode="auto">
          <a:xfrm>
            <a:off x="1876425" y="2717801"/>
            <a:ext cx="971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>
                <a:solidFill>
                  <a:srgbClr val="0000FF"/>
                </a:solidFill>
              </a:rPr>
              <a:t>Domain</a:t>
            </a:r>
          </a:p>
        </p:txBody>
      </p:sp>
      <p:sp>
        <p:nvSpPr>
          <p:cNvPr id="1230865" name="Text Box 17"/>
          <p:cNvSpPr txBox="1">
            <a:spLocks noChangeArrowheads="1"/>
          </p:cNvSpPr>
          <p:nvPr/>
        </p:nvSpPr>
        <p:spPr bwMode="auto">
          <a:xfrm>
            <a:off x="9067800" y="2681288"/>
            <a:ext cx="1301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>
                <a:solidFill>
                  <a:srgbClr val="0000FF"/>
                </a:solidFill>
              </a:rPr>
              <a:t>Co-domain</a:t>
            </a:r>
          </a:p>
        </p:txBody>
      </p:sp>
      <p:sp>
        <p:nvSpPr>
          <p:cNvPr id="1230866" name="Line 18"/>
          <p:cNvSpPr>
            <a:spLocks noChangeShapeType="1"/>
          </p:cNvSpPr>
          <p:nvPr/>
        </p:nvSpPr>
        <p:spPr bwMode="auto">
          <a:xfrm flipH="1">
            <a:off x="9372600" y="3062288"/>
            <a:ext cx="381000" cy="3048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867" name="Line 19"/>
          <p:cNvSpPr>
            <a:spLocks noChangeShapeType="1"/>
          </p:cNvSpPr>
          <p:nvPr/>
        </p:nvSpPr>
        <p:spPr bwMode="auto">
          <a:xfrm flipV="1">
            <a:off x="2438400" y="5119688"/>
            <a:ext cx="1600200" cy="10668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868" name="Text Box 20"/>
          <p:cNvSpPr txBox="1">
            <a:spLocks noChangeArrowheads="1"/>
          </p:cNvSpPr>
          <p:nvPr/>
        </p:nvSpPr>
        <p:spPr bwMode="auto">
          <a:xfrm>
            <a:off x="1828800" y="6110288"/>
            <a:ext cx="168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>
                <a:solidFill>
                  <a:srgbClr val="0000FF"/>
                </a:solidFill>
              </a:rPr>
              <a:t>Pre-image of 4</a:t>
            </a:r>
          </a:p>
        </p:txBody>
      </p:sp>
      <p:sp>
        <p:nvSpPr>
          <p:cNvPr id="1230869" name="Line 21"/>
          <p:cNvSpPr>
            <a:spLocks noChangeShapeType="1"/>
          </p:cNvSpPr>
          <p:nvPr/>
        </p:nvSpPr>
        <p:spPr bwMode="auto">
          <a:xfrm flipV="1">
            <a:off x="6629400" y="5195888"/>
            <a:ext cx="1600200" cy="10668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870" name="Text Box 22"/>
          <p:cNvSpPr txBox="1">
            <a:spLocks noChangeArrowheads="1"/>
          </p:cNvSpPr>
          <p:nvPr/>
        </p:nvSpPr>
        <p:spPr bwMode="auto">
          <a:xfrm>
            <a:off x="6134100" y="6186488"/>
            <a:ext cx="14557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>
                <a:solidFill>
                  <a:srgbClr val="0000FF"/>
                </a:solidFill>
              </a:rPr>
              <a:t>Image of 4.3</a:t>
            </a:r>
          </a:p>
        </p:txBody>
      </p:sp>
      <p:sp>
        <p:nvSpPr>
          <p:cNvPr id="1230871" name="Text Box 23"/>
          <p:cNvSpPr txBox="1">
            <a:spLocks noChangeArrowheads="1"/>
          </p:cNvSpPr>
          <p:nvPr/>
        </p:nvSpPr>
        <p:spPr bwMode="auto">
          <a:xfrm>
            <a:off x="5073650" y="2286000"/>
            <a:ext cx="201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 sz="2400">
                <a:solidFill>
                  <a:srgbClr val="0000FF"/>
                </a:solidFill>
              </a:rPr>
              <a:t>f maps </a:t>
            </a:r>
            <a:r>
              <a:rPr lang="en-US" sz="2400" b="1">
                <a:solidFill>
                  <a:srgbClr val="0000FF"/>
                </a:solidFill>
              </a:rPr>
              <a:t>R</a:t>
            </a:r>
            <a:r>
              <a:rPr lang="en-US" sz="2400">
                <a:solidFill>
                  <a:srgbClr val="0000FF"/>
                </a:solidFill>
              </a:rPr>
              <a:t> to </a:t>
            </a:r>
            <a:r>
              <a:rPr lang="en-US" sz="2400" b="1">
                <a:solidFill>
                  <a:srgbClr val="0000FF"/>
                </a:solidFill>
              </a:rPr>
              <a:t>Z</a:t>
            </a:r>
          </a:p>
        </p:txBody>
      </p:sp>
      <p:sp>
        <p:nvSpPr>
          <p:cNvPr id="1230872" name="Text Box 24"/>
          <p:cNvSpPr txBox="1">
            <a:spLocks noChangeArrowheads="1"/>
          </p:cNvSpPr>
          <p:nvPr/>
        </p:nvSpPr>
        <p:spPr bwMode="auto">
          <a:xfrm>
            <a:off x="5703888" y="4667250"/>
            <a:ext cx="895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 sz="2400">
                <a:solidFill>
                  <a:srgbClr val="FF0000"/>
                </a:solidFill>
              </a:rPr>
              <a:t>f(4.3)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6091236" y="1528762"/>
            <a:ext cx="40005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itle 1"/>
          <p:cNvSpPr txBox="1">
            <a:spLocks/>
          </p:cNvSpPr>
          <p:nvPr/>
        </p:nvSpPr>
        <p:spPr>
          <a:xfrm>
            <a:off x="0" y="180214"/>
            <a:ext cx="12192000" cy="104851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smtClean="0">
                <a:solidFill>
                  <a:schemeClr val="bg1"/>
                </a:solidFill>
                <a:latin typeface="Rockwell" panose="02060603020205020403" pitchFamily="18" charset="0"/>
              </a:rPr>
              <a:t>Function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6553199"/>
            <a:ext cx="12192000" cy="30480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09162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0856" grpId="0" animBg="1"/>
      <p:bldP spid="1230857" grpId="0"/>
      <p:bldP spid="1230858" grpId="0" animBg="1"/>
      <p:bldP spid="1230859" grpId="0" animBg="1"/>
      <p:bldP spid="1230860" grpId="0" animBg="1"/>
      <p:bldP spid="1230861" grpId="0"/>
      <p:bldP spid="1230862" grpId="0"/>
      <p:bldP spid="1230863" grpId="0" animBg="1"/>
      <p:bldP spid="1230864" grpId="0"/>
      <p:bldP spid="1230865" grpId="0"/>
      <p:bldP spid="1230866" grpId="0" animBg="1"/>
      <p:bldP spid="1230867" grpId="0" animBg="1"/>
      <p:bldP spid="1230868" grpId="0"/>
      <p:bldP spid="1230869" grpId="0" animBg="1"/>
      <p:bldP spid="1230870" grpId="0"/>
      <p:bldP spid="1230871" grpId="0"/>
      <p:bldP spid="123087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More functions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858000" y="2514601"/>
            <a:ext cx="2636838" cy="2576513"/>
            <a:chOff x="2896" y="1632"/>
            <a:chExt cx="1661" cy="1623"/>
          </a:xfrm>
        </p:grpSpPr>
        <p:grpSp>
          <p:nvGrpSpPr>
            <p:cNvPr id="40993" name="Group 4"/>
            <p:cNvGrpSpPr>
              <a:grpSpLocks/>
            </p:cNvGrpSpPr>
            <p:nvPr/>
          </p:nvGrpSpPr>
          <p:grpSpPr bwMode="auto">
            <a:xfrm>
              <a:off x="3456" y="1776"/>
              <a:ext cx="96" cy="1056"/>
              <a:chOff x="1344" y="1728"/>
              <a:chExt cx="96" cy="1056"/>
            </a:xfrm>
          </p:grpSpPr>
          <p:sp>
            <p:nvSpPr>
              <p:cNvPr id="41008" name="Oval 5"/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1009" name="Oval 6"/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1010" name="Oval 7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1011" name="Oval 8"/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1012" name="Oval 9"/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</p:grpSp>
        <p:grpSp>
          <p:nvGrpSpPr>
            <p:cNvPr id="40994" name="Group 10"/>
            <p:cNvGrpSpPr>
              <a:grpSpLocks/>
            </p:cNvGrpSpPr>
            <p:nvPr/>
          </p:nvGrpSpPr>
          <p:grpSpPr bwMode="auto">
            <a:xfrm>
              <a:off x="4224" y="1776"/>
              <a:ext cx="96" cy="1056"/>
              <a:chOff x="1344" y="1728"/>
              <a:chExt cx="96" cy="1056"/>
            </a:xfrm>
          </p:grpSpPr>
          <p:sp>
            <p:nvSpPr>
              <p:cNvPr id="41003" name="Oval 11"/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1004" name="Oval 12"/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1005" name="Oval 13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1006" name="Oval 14"/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1007" name="Oval 15"/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</p:grpSp>
        <p:sp>
          <p:nvSpPr>
            <p:cNvPr id="40995" name="Line 16"/>
            <p:cNvSpPr>
              <a:spLocks noChangeShapeType="1"/>
            </p:cNvSpPr>
            <p:nvPr/>
          </p:nvSpPr>
          <p:spPr bwMode="auto">
            <a:xfrm>
              <a:off x="3504" y="1824"/>
              <a:ext cx="72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96" name="Line 17"/>
            <p:cNvSpPr>
              <a:spLocks noChangeShapeType="1"/>
            </p:cNvSpPr>
            <p:nvPr/>
          </p:nvSpPr>
          <p:spPr bwMode="auto">
            <a:xfrm>
              <a:off x="3552" y="2064"/>
              <a:ext cx="67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97" name="Text Box 18"/>
            <p:cNvSpPr txBox="1">
              <a:spLocks noChangeArrowheads="1"/>
            </p:cNvSpPr>
            <p:nvPr/>
          </p:nvSpPr>
          <p:spPr bwMode="auto">
            <a:xfrm>
              <a:off x="4332" y="1632"/>
              <a:ext cx="196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1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2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3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4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5</a:t>
              </a:r>
            </a:p>
          </p:txBody>
        </p:sp>
        <p:sp>
          <p:nvSpPr>
            <p:cNvPr id="40998" name="Text Box 19"/>
            <p:cNvSpPr txBox="1">
              <a:spLocks noChangeArrowheads="1"/>
            </p:cNvSpPr>
            <p:nvPr/>
          </p:nvSpPr>
          <p:spPr bwMode="auto">
            <a:xfrm>
              <a:off x="2896" y="1632"/>
              <a:ext cx="500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“a”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“bb“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“cccc”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“dd”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“e”</a:t>
              </a:r>
            </a:p>
          </p:txBody>
        </p:sp>
        <p:sp>
          <p:nvSpPr>
            <p:cNvPr id="40999" name="Line 20"/>
            <p:cNvSpPr>
              <a:spLocks noChangeShapeType="1"/>
            </p:cNvSpPr>
            <p:nvPr/>
          </p:nvSpPr>
          <p:spPr bwMode="auto">
            <a:xfrm flipV="1">
              <a:off x="3552" y="2064"/>
              <a:ext cx="672" cy="4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00" name="Line 21"/>
            <p:cNvSpPr>
              <a:spLocks noChangeShapeType="1"/>
            </p:cNvSpPr>
            <p:nvPr/>
          </p:nvSpPr>
          <p:spPr bwMode="auto">
            <a:xfrm>
              <a:off x="3552" y="2304"/>
              <a:ext cx="672" cy="19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01" name="Line 22"/>
            <p:cNvSpPr>
              <a:spLocks noChangeShapeType="1"/>
            </p:cNvSpPr>
            <p:nvPr/>
          </p:nvSpPr>
          <p:spPr bwMode="auto">
            <a:xfrm flipV="1">
              <a:off x="3552" y="1824"/>
              <a:ext cx="624" cy="96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02" name="Text Box 23"/>
            <p:cNvSpPr txBox="1">
              <a:spLocks noChangeArrowheads="1"/>
            </p:cNvSpPr>
            <p:nvPr/>
          </p:nvSpPr>
          <p:spPr bwMode="auto">
            <a:xfrm>
              <a:off x="2976" y="3024"/>
              <a:ext cx="158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r>
                <a:rPr lang="en-US"/>
                <a:t>A string length function</a:t>
              </a:r>
            </a:p>
          </p:txBody>
        </p:sp>
      </p:grpSp>
      <p:grpSp>
        <p:nvGrpSpPr>
          <p:cNvPr id="40964" name="Group 24"/>
          <p:cNvGrpSpPr>
            <a:grpSpLocks/>
          </p:cNvGrpSpPr>
          <p:nvPr/>
        </p:nvGrpSpPr>
        <p:grpSpPr bwMode="auto">
          <a:xfrm>
            <a:off x="2505075" y="2514601"/>
            <a:ext cx="2644775" cy="2576513"/>
            <a:chOff x="378" y="1680"/>
            <a:chExt cx="1666" cy="1623"/>
          </a:xfrm>
        </p:grpSpPr>
        <p:grpSp>
          <p:nvGrpSpPr>
            <p:cNvPr id="40973" name="Group 25"/>
            <p:cNvGrpSpPr>
              <a:grpSpLocks/>
            </p:cNvGrpSpPr>
            <p:nvPr/>
          </p:nvGrpSpPr>
          <p:grpSpPr bwMode="auto">
            <a:xfrm>
              <a:off x="960" y="1824"/>
              <a:ext cx="96" cy="1056"/>
              <a:chOff x="1344" y="1728"/>
              <a:chExt cx="96" cy="1056"/>
            </a:xfrm>
          </p:grpSpPr>
          <p:sp>
            <p:nvSpPr>
              <p:cNvPr id="40988" name="Oval 26"/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0989" name="Oval 27"/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0990" name="Oval 28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0991" name="Oval 29"/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0992" name="Oval 30"/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</p:grpSp>
        <p:grpSp>
          <p:nvGrpSpPr>
            <p:cNvPr id="40974" name="Group 31"/>
            <p:cNvGrpSpPr>
              <a:grpSpLocks/>
            </p:cNvGrpSpPr>
            <p:nvPr/>
          </p:nvGrpSpPr>
          <p:grpSpPr bwMode="auto">
            <a:xfrm>
              <a:off x="1728" y="1824"/>
              <a:ext cx="96" cy="1056"/>
              <a:chOff x="1344" y="1728"/>
              <a:chExt cx="96" cy="1056"/>
            </a:xfrm>
          </p:grpSpPr>
          <p:sp>
            <p:nvSpPr>
              <p:cNvPr id="40983" name="Oval 32"/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0984" name="Oval 33"/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0985" name="Oval 34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0986" name="Oval 35"/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0987" name="Oval 36"/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</p:grpSp>
        <p:sp>
          <p:nvSpPr>
            <p:cNvPr id="40975" name="Line 37"/>
            <p:cNvSpPr>
              <a:spLocks noChangeShapeType="1"/>
            </p:cNvSpPr>
            <p:nvPr/>
          </p:nvSpPr>
          <p:spPr bwMode="auto">
            <a:xfrm>
              <a:off x="1008" y="1872"/>
              <a:ext cx="72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76" name="Line 38"/>
            <p:cNvSpPr>
              <a:spLocks noChangeShapeType="1"/>
            </p:cNvSpPr>
            <p:nvPr/>
          </p:nvSpPr>
          <p:spPr bwMode="auto">
            <a:xfrm>
              <a:off x="1056" y="2112"/>
              <a:ext cx="672" cy="24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77" name="Text Box 39"/>
            <p:cNvSpPr txBox="1">
              <a:spLocks noChangeArrowheads="1"/>
            </p:cNvSpPr>
            <p:nvPr/>
          </p:nvSpPr>
          <p:spPr bwMode="auto">
            <a:xfrm>
              <a:off x="1824" y="1680"/>
              <a:ext cx="220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en-US" dirty="0"/>
                <a:t>A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 dirty="0"/>
                <a:t>B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 dirty="0"/>
                <a:t>C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 dirty="0"/>
                <a:t>D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 dirty="0"/>
                <a:t>F</a:t>
              </a:r>
            </a:p>
          </p:txBody>
        </p:sp>
        <p:sp>
          <p:nvSpPr>
            <p:cNvPr id="40978" name="Text Box 40"/>
            <p:cNvSpPr txBox="1">
              <a:spLocks noChangeArrowheads="1"/>
            </p:cNvSpPr>
            <p:nvPr/>
          </p:nvSpPr>
          <p:spPr bwMode="auto">
            <a:xfrm>
              <a:off x="378" y="1680"/>
              <a:ext cx="585" cy="1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en-US" dirty="0" err="1" smtClean="0"/>
                <a:t>Heya</a:t>
              </a:r>
              <a:endParaRPr lang="en-US" dirty="0"/>
            </a:p>
            <a:p>
              <a:pPr algn="ctr" eaLnBrk="1" hangingPunct="1">
                <a:lnSpc>
                  <a:spcPct val="140000"/>
                </a:lnSpc>
              </a:pPr>
              <a:r>
                <a:rPr lang="en-US" dirty="0" err="1" smtClean="0"/>
                <a:t>Jafrin</a:t>
              </a:r>
              <a:endParaRPr lang="en-US" dirty="0"/>
            </a:p>
            <a:p>
              <a:pPr algn="ctr" eaLnBrk="1" hangingPunct="1">
                <a:lnSpc>
                  <a:spcPct val="140000"/>
                </a:lnSpc>
              </a:pPr>
              <a:r>
                <a:rPr lang="en-US" dirty="0" err="1" smtClean="0"/>
                <a:t>Faiza</a:t>
              </a:r>
              <a:endParaRPr lang="en-US" dirty="0"/>
            </a:p>
            <a:p>
              <a:pPr algn="ctr" eaLnBrk="1" hangingPunct="1">
                <a:lnSpc>
                  <a:spcPct val="140000"/>
                </a:lnSpc>
              </a:pPr>
              <a:r>
                <a:rPr lang="en-US" dirty="0" err="1" smtClean="0"/>
                <a:t>Naim</a:t>
              </a:r>
              <a:endParaRPr lang="en-US" dirty="0" smtClean="0"/>
            </a:p>
            <a:p>
              <a:pPr algn="ctr" eaLnBrk="1" hangingPunct="1">
                <a:lnSpc>
                  <a:spcPct val="140000"/>
                </a:lnSpc>
              </a:pPr>
              <a:r>
                <a:rPr lang="en-US" dirty="0" err="1" smtClean="0"/>
                <a:t>Maisha</a:t>
              </a:r>
              <a:endParaRPr lang="en-US" dirty="0" smtClean="0"/>
            </a:p>
            <a:p>
              <a:pPr algn="ctr" eaLnBrk="1" hangingPunct="1">
                <a:lnSpc>
                  <a:spcPct val="140000"/>
                </a:lnSpc>
              </a:pPr>
              <a:endParaRPr lang="en-US" dirty="0"/>
            </a:p>
          </p:txBody>
        </p:sp>
        <p:sp>
          <p:nvSpPr>
            <p:cNvPr id="40979" name="Line 41"/>
            <p:cNvSpPr>
              <a:spLocks noChangeShapeType="1"/>
            </p:cNvSpPr>
            <p:nvPr/>
          </p:nvSpPr>
          <p:spPr bwMode="auto">
            <a:xfrm>
              <a:off x="1056" y="2592"/>
              <a:ext cx="672" cy="24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80" name="Line 42"/>
            <p:cNvSpPr>
              <a:spLocks noChangeShapeType="1"/>
            </p:cNvSpPr>
            <p:nvPr/>
          </p:nvSpPr>
          <p:spPr bwMode="auto">
            <a:xfrm flipV="1">
              <a:off x="1056" y="1872"/>
              <a:ext cx="672" cy="4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81" name="Line 43"/>
            <p:cNvSpPr>
              <a:spLocks noChangeShapeType="1"/>
            </p:cNvSpPr>
            <p:nvPr/>
          </p:nvSpPr>
          <p:spPr bwMode="auto">
            <a:xfrm flipV="1">
              <a:off x="1056" y="2592"/>
              <a:ext cx="672" cy="24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82" name="Text Box 44"/>
            <p:cNvSpPr txBox="1">
              <a:spLocks noChangeArrowheads="1"/>
            </p:cNvSpPr>
            <p:nvPr/>
          </p:nvSpPr>
          <p:spPr bwMode="auto">
            <a:xfrm>
              <a:off x="480" y="3072"/>
              <a:ext cx="153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r>
                <a:rPr lang="en-US"/>
                <a:t>A class grade function</a:t>
              </a:r>
            </a:p>
          </p:txBody>
        </p:sp>
      </p:grpSp>
      <p:sp>
        <p:nvSpPr>
          <p:cNvPr id="1232941" name="Rectangle 45"/>
          <p:cNvSpPr>
            <a:spLocks noChangeArrowheads="1"/>
          </p:cNvSpPr>
          <p:nvPr/>
        </p:nvSpPr>
        <p:spPr bwMode="auto">
          <a:xfrm>
            <a:off x="2438400" y="2514600"/>
            <a:ext cx="914400" cy="20574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 dirty="0"/>
          </a:p>
        </p:txBody>
      </p:sp>
      <p:sp>
        <p:nvSpPr>
          <p:cNvPr id="1232942" name="Text Box 46"/>
          <p:cNvSpPr txBox="1">
            <a:spLocks noChangeArrowheads="1"/>
          </p:cNvSpPr>
          <p:nvPr/>
        </p:nvSpPr>
        <p:spPr bwMode="auto">
          <a:xfrm>
            <a:off x="2438400" y="2057401"/>
            <a:ext cx="971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Domain</a:t>
            </a:r>
          </a:p>
        </p:txBody>
      </p:sp>
      <p:sp>
        <p:nvSpPr>
          <p:cNvPr id="1232943" name="Rectangle 47"/>
          <p:cNvSpPr>
            <a:spLocks noChangeArrowheads="1"/>
          </p:cNvSpPr>
          <p:nvPr/>
        </p:nvSpPr>
        <p:spPr bwMode="auto">
          <a:xfrm>
            <a:off x="4800600" y="2514600"/>
            <a:ext cx="381000" cy="20574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32944" name="Text Box 48"/>
          <p:cNvSpPr txBox="1">
            <a:spLocks noChangeArrowheads="1"/>
          </p:cNvSpPr>
          <p:nvPr/>
        </p:nvSpPr>
        <p:spPr bwMode="auto">
          <a:xfrm>
            <a:off x="4343400" y="2057401"/>
            <a:ext cx="1301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Co-domain</a:t>
            </a:r>
          </a:p>
        </p:txBody>
      </p:sp>
      <p:sp>
        <p:nvSpPr>
          <p:cNvPr id="1232945" name="Line 49"/>
          <p:cNvSpPr>
            <a:spLocks noChangeShapeType="1"/>
          </p:cNvSpPr>
          <p:nvPr/>
        </p:nvSpPr>
        <p:spPr bwMode="auto">
          <a:xfrm>
            <a:off x="7772400" y="2133600"/>
            <a:ext cx="0" cy="609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2946" name="Line 50"/>
          <p:cNvSpPr>
            <a:spLocks noChangeShapeType="1"/>
          </p:cNvSpPr>
          <p:nvPr/>
        </p:nvSpPr>
        <p:spPr bwMode="auto">
          <a:xfrm>
            <a:off x="8991600" y="2133600"/>
            <a:ext cx="0" cy="609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2947" name="Text Box 51"/>
          <p:cNvSpPr txBox="1">
            <a:spLocks noChangeArrowheads="1"/>
          </p:cNvSpPr>
          <p:nvPr/>
        </p:nvSpPr>
        <p:spPr bwMode="auto">
          <a:xfrm>
            <a:off x="6705600" y="1752600"/>
            <a:ext cx="1428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A pre-image</a:t>
            </a:r>
          </a:p>
          <a:p>
            <a:pPr algn="ctr" eaLnBrk="1" hangingPunct="1"/>
            <a:r>
              <a:rPr lang="en-US">
                <a:solidFill>
                  <a:srgbClr val="FF0000"/>
                </a:solidFill>
              </a:rPr>
              <a:t>of 1</a:t>
            </a:r>
          </a:p>
        </p:txBody>
      </p:sp>
      <p:sp>
        <p:nvSpPr>
          <p:cNvPr id="1232948" name="Text Box 52"/>
          <p:cNvSpPr txBox="1">
            <a:spLocks noChangeArrowheads="1"/>
          </p:cNvSpPr>
          <p:nvPr/>
        </p:nvSpPr>
        <p:spPr bwMode="auto">
          <a:xfrm>
            <a:off x="8686800" y="1676400"/>
            <a:ext cx="1263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The image</a:t>
            </a:r>
          </a:p>
          <a:p>
            <a:pPr algn="ctr" eaLnBrk="1" hangingPunct="1"/>
            <a:r>
              <a:rPr lang="en-US">
                <a:solidFill>
                  <a:srgbClr val="FF0000"/>
                </a:solidFill>
              </a:rPr>
              <a:t>of “a”</a:t>
            </a:r>
          </a:p>
        </p:txBody>
      </p:sp>
      <p:sp>
        <p:nvSpPr>
          <p:cNvPr id="53" name="Title 1"/>
          <p:cNvSpPr txBox="1">
            <a:spLocks/>
          </p:cNvSpPr>
          <p:nvPr/>
        </p:nvSpPr>
        <p:spPr>
          <a:xfrm>
            <a:off x="0" y="3"/>
            <a:ext cx="12192000" cy="122872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smtClean="0">
                <a:solidFill>
                  <a:schemeClr val="bg1"/>
                </a:solidFill>
                <a:latin typeface="Rockwell" panose="02060603020205020403" pitchFamily="18" charset="0"/>
              </a:rPr>
              <a:t>Function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04131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2941" grpId="0" animBg="1"/>
      <p:bldP spid="1232942" grpId="0"/>
      <p:bldP spid="1232943" grpId="0" animBg="1"/>
      <p:bldP spid="1232943" grpId="1" animBg="1"/>
      <p:bldP spid="1232944" grpId="0"/>
      <p:bldP spid="1232944" grpId="1"/>
      <p:bldP spid="1232945" grpId="0" animBg="1"/>
      <p:bldP spid="1232946" grpId="0" animBg="1"/>
      <p:bldP spid="1232947" grpId="0"/>
      <p:bldP spid="123294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dirty="0" smtClean="0"/>
              <a:t>Even more functions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858000" y="2514600"/>
            <a:ext cx="2590800" cy="2012950"/>
            <a:chOff x="3360" y="1584"/>
            <a:chExt cx="1632" cy="1268"/>
          </a:xfrm>
        </p:grpSpPr>
        <p:grpSp>
          <p:nvGrpSpPr>
            <p:cNvPr id="42014" name="Group 4"/>
            <p:cNvGrpSpPr>
              <a:grpSpLocks/>
            </p:cNvGrpSpPr>
            <p:nvPr/>
          </p:nvGrpSpPr>
          <p:grpSpPr bwMode="auto">
            <a:xfrm>
              <a:off x="3920" y="1728"/>
              <a:ext cx="96" cy="1056"/>
              <a:chOff x="1344" y="1728"/>
              <a:chExt cx="96" cy="1056"/>
            </a:xfrm>
          </p:grpSpPr>
          <p:sp>
            <p:nvSpPr>
              <p:cNvPr id="42028" name="Oval 5"/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029" name="Oval 6"/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030" name="Oval 7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031" name="Oval 8"/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032" name="Oval 9"/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</p:grpSp>
        <p:grpSp>
          <p:nvGrpSpPr>
            <p:cNvPr id="42015" name="Group 10"/>
            <p:cNvGrpSpPr>
              <a:grpSpLocks/>
            </p:cNvGrpSpPr>
            <p:nvPr/>
          </p:nvGrpSpPr>
          <p:grpSpPr bwMode="auto">
            <a:xfrm>
              <a:off x="4688" y="1728"/>
              <a:ext cx="96" cy="1056"/>
              <a:chOff x="1344" y="1728"/>
              <a:chExt cx="96" cy="1056"/>
            </a:xfrm>
          </p:grpSpPr>
          <p:sp>
            <p:nvSpPr>
              <p:cNvPr id="42023" name="Oval 11"/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024" name="Oval 12"/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025" name="Oval 13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026" name="Oval 14"/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027" name="Oval 15"/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</p:grpSp>
        <p:sp>
          <p:nvSpPr>
            <p:cNvPr id="42016" name="Line 16"/>
            <p:cNvSpPr>
              <a:spLocks noChangeShapeType="1"/>
            </p:cNvSpPr>
            <p:nvPr/>
          </p:nvSpPr>
          <p:spPr bwMode="auto">
            <a:xfrm>
              <a:off x="3968" y="1776"/>
              <a:ext cx="72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17" name="Line 17"/>
            <p:cNvSpPr>
              <a:spLocks noChangeShapeType="1"/>
            </p:cNvSpPr>
            <p:nvPr/>
          </p:nvSpPr>
          <p:spPr bwMode="auto">
            <a:xfrm>
              <a:off x="4016" y="2016"/>
              <a:ext cx="67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18" name="Text Box 18"/>
            <p:cNvSpPr txBox="1">
              <a:spLocks noChangeArrowheads="1"/>
            </p:cNvSpPr>
            <p:nvPr/>
          </p:nvSpPr>
          <p:spPr bwMode="auto">
            <a:xfrm>
              <a:off x="4796" y="1584"/>
              <a:ext cx="196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1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2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3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4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5</a:t>
              </a:r>
            </a:p>
          </p:txBody>
        </p:sp>
        <p:sp>
          <p:nvSpPr>
            <p:cNvPr id="42019" name="Text Box 19"/>
            <p:cNvSpPr txBox="1">
              <a:spLocks noChangeArrowheads="1"/>
            </p:cNvSpPr>
            <p:nvPr/>
          </p:nvSpPr>
          <p:spPr bwMode="auto">
            <a:xfrm>
              <a:off x="3360" y="1584"/>
              <a:ext cx="500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en-US" dirty="0"/>
                <a:t>“a”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 dirty="0"/>
                <a:t>“bb“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 dirty="0"/>
                <a:t>“</a:t>
              </a:r>
              <a:r>
                <a:rPr lang="en-US" dirty="0" err="1"/>
                <a:t>cccc</a:t>
              </a:r>
              <a:r>
                <a:rPr lang="en-US" dirty="0"/>
                <a:t>”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 dirty="0"/>
                <a:t>“</a:t>
              </a:r>
              <a:r>
                <a:rPr lang="en-US" dirty="0" err="1"/>
                <a:t>dd</a:t>
              </a:r>
              <a:r>
                <a:rPr lang="en-US" dirty="0"/>
                <a:t>”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 dirty="0"/>
                <a:t>“e”</a:t>
              </a:r>
            </a:p>
          </p:txBody>
        </p:sp>
        <p:sp>
          <p:nvSpPr>
            <p:cNvPr id="42020" name="Line 20"/>
            <p:cNvSpPr>
              <a:spLocks noChangeShapeType="1"/>
            </p:cNvSpPr>
            <p:nvPr/>
          </p:nvSpPr>
          <p:spPr bwMode="auto">
            <a:xfrm flipV="1">
              <a:off x="4016" y="2016"/>
              <a:ext cx="672" cy="4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21" name="Line 21"/>
            <p:cNvSpPr>
              <a:spLocks noChangeShapeType="1"/>
            </p:cNvSpPr>
            <p:nvPr/>
          </p:nvSpPr>
          <p:spPr bwMode="auto">
            <a:xfrm flipV="1">
              <a:off x="4016" y="1776"/>
              <a:ext cx="640" cy="4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22" name="Line 22"/>
            <p:cNvSpPr>
              <a:spLocks noChangeShapeType="1"/>
            </p:cNvSpPr>
            <p:nvPr/>
          </p:nvSpPr>
          <p:spPr bwMode="auto">
            <a:xfrm>
              <a:off x="4032" y="2496"/>
              <a:ext cx="672" cy="24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34967" name="Text Box 23"/>
          <p:cNvSpPr txBox="1">
            <a:spLocks noChangeArrowheads="1"/>
          </p:cNvSpPr>
          <p:nvPr/>
        </p:nvSpPr>
        <p:spPr bwMode="auto">
          <a:xfrm>
            <a:off x="6908800" y="4724400"/>
            <a:ext cx="2662238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/>
              <a:t>Not a valid function!</a:t>
            </a:r>
          </a:p>
          <a:p>
            <a:pPr algn="ctr" eaLnBrk="1" hangingPunct="1"/>
            <a:r>
              <a:rPr lang="en-US"/>
              <a:t>Also not a valid function!</a:t>
            </a:r>
          </a:p>
          <a:p>
            <a:pPr algn="ctr" eaLnBrk="1" hangingPunct="1"/>
            <a:endParaRPr lang="en-US"/>
          </a:p>
        </p:txBody>
      </p:sp>
      <p:grpSp>
        <p:nvGrpSpPr>
          <p:cNvPr id="41989" name="Group 24"/>
          <p:cNvGrpSpPr>
            <a:grpSpLocks/>
          </p:cNvGrpSpPr>
          <p:nvPr/>
        </p:nvGrpSpPr>
        <p:grpSpPr bwMode="auto">
          <a:xfrm>
            <a:off x="2781300" y="2514601"/>
            <a:ext cx="2349500" cy="2576513"/>
            <a:chOff x="792" y="1584"/>
            <a:chExt cx="1480" cy="1623"/>
          </a:xfrm>
        </p:grpSpPr>
        <p:grpSp>
          <p:nvGrpSpPr>
            <p:cNvPr id="41994" name="Group 25"/>
            <p:cNvGrpSpPr>
              <a:grpSpLocks/>
            </p:cNvGrpSpPr>
            <p:nvPr/>
          </p:nvGrpSpPr>
          <p:grpSpPr bwMode="auto">
            <a:xfrm>
              <a:off x="1200" y="1728"/>
              <a:ext cx="96" cy="1056"/>
              <a:chOff x="1344" y="1728"/>
              <a:chExt cx="96" cy="1056"/>
            </a:xfrm>
          </p:grpSpPr>
          <p:sp>
            <p:nvSpPr>
              <p:cNvPr id="42009" name="Oval 26"/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010" name="Oval 27"/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011" name="Oval 28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012" name="Oval 29"/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013" name="Oval 30"/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</p:grpSp>
        <p:grpSp>
          <p:nvGrpSpPr>
            <p:cNvPr id="41995" name="Group 31"/>
            <p:cNvGrpSpPr>
              <a:grpSpLocks/>
            </p:cNvGrpSpPr>
            <p:nvPr/>
          </p:nvGrpSpPr>
          <p:grpSpPr bwMode="auto">
            <a:xfrm>
              <a:off x="1968" y="1728"/>
              <a:ext cx="96" cy="1056"/>
              <a:chOff x="1344" y="1728"/>
              <a:chExt cx="96" cy="1056"/>
            </a:xfrm>
          </p:grpSpPr>
          <p:sp>
            <p:nvSpPr>
              <p:cNvPr id="42004" name="Oval 32"/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005" name="Oval 33"/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006" name="Oval 34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007" name="Oval 35"/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008" name="Oval 36"/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</p:grpSp>
        <p:sp>
          <p:nvSpPr>
            <p:cNvPr id="41996" name="Line 37"/>
            <p:cNvSpPr>
              <a:spLocks noChangeShapeType="1"/>
            </p:cNvSpPr>
            <p:nvPr/>
          </p:nvSpPr>
          <p:spPr bwMode="auto">
            <a:xfrm>
              <a:off x="1248" y="1776"/>
              <a:ext cx="72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7" name="Line 38"/>
            <p:cNvSpPr>
              <a:spLocks noChangeShapeType="1"/>
            </p:cNvSpPr>
            <p:nvPr/>
          </p:nvSpPr>
          <p:spPr bwMode="auto">
            <a:xfrm>
              <a:off x="1296" y="2016"/>
              <a:ext cx="672" cy="24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8" name="Text Box 39"/>
            <p:cNvSpPr txBox="1">
              <a:spLocks noChangeArrowheads="1"/>
            </p:cNvSpPr>
            <p:nvPr/>
          </p:nvSpPr>
          <p:spPr bwMode="auto">
            <a:xfrm>
              <a:off x="2076" y="1584"/>
              <a:ext cx="196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1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2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3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4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5</a:t>
              </a:r>
            </a:p>
          </p:txBody>
        </p:sp>
        <p:sp>
          <p:nvSpPr>
            <p:cNvPr id="41999" name="Text Box 40"/>
            <p:cNvSpPr txBox="1">
              <a:spLocks noChangeArrowheads="1"/>
            </p:cNvSpPr>
            <p:nvPr/>
          </p:nvSpPr>
          <p:spPr bwMode="auto">
            <a:xfrm>
              <a:off x="792" y="1584"/>
              <a:ext cx="196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a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e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i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o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u</a:t>
              </a:r>
            </a:p>
          </p:txBody>
        </p:sp>
        <p:sp>
          <p:nvSpPr>
            <p:cNvPr id="42000" name="Line 41"/>
            <p:cNvSpPr>
              <a:spLocks noChangeShapeType="1"/>
            </p:cNvSpPr>
            <p:nvPr/>
          </p:nvSpPr>
          <p:spPr bwMode="auto">
            <a:xfrm flipV="1">
              <a:off x="1296" y="2016"/>
              <a:ext cx="672" cy="4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1" name="Line 42"/>
            <p:cNvSpPr>
              <a:spLocks noChangeShapeType="1"/>
            </p:cNvSpPr>
            <p:nvPr/>
          </p:nvSpPr>
          <p:spPr bwMode="auto">
            <a:xfrm flipV="1">
              <a:off x="1296" y="1776"/>
              <a:ext cx="672" cy="4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2" name="Line 43"/>
            <p:cNvSpPr>
              <a:spLocks noChangeShapeType="1"/>
            </p:cNvSpPr>
            <p:nvPr/>
          </p:nvSpPr>
          <p:spPr bwMode="auto">
            <a:xfrm flipV="1">
              <a:off x="1296" y="2256"/>
              <a:ext cx="672" cy="4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3" name="Text Box 44"/>
            <p:cNvSpPr txBox="1">
              <a:spLocks noChangeArrowheads="1"/>
            </p:cNvSpPr>
            <p:nvPr/>
          </p:nvSpPr>
          <p:spPr bwMode="auto">
            <a:xfrm>
              <a:off x="896" y="2976"/>
              <a:ext cx="118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r>
                <a:rPr lang="en-US"/>
                <a:t>Some function…</a:t>
              </a:r>
            </a:p>
          </p:txBody>
        </p:sp>
      </p:grpSp>
      <p:sp>
        <p:nvSpPr>
          <p:cNvPr id="1234989" name="Rectangle 45"/>
          <p:cNvSpPr>
            <a:spLocks noChangeArrowheads="1"/>
          </p:cNvSpPr>
          <p:nvPr/>
        </p:nvSpPr>
        <p:spPr bwMode="auto">
          <a:xfrm>
            <a:off x="4806950" y="2563587"/>
            <a:ext cx="381000" cy="12192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34990" name="Text Box 46"/>
          <p:cNvSpPr txBox="1">
            <a:spLocks noChangeArrowheads="1"/>
          </p:cNvSpPr>
          <p:nvPr/>
        </p:nvSpPr>
        <p:spPr bwMode="auto">
          <a:xfrm>
            <a:off x="4572000" y="2057401"/>
            <a:ext cx="857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Range</a:t>
            </a:r>
          </a:p>
        </p:txBody>
      </p:sp>
      <p:sp>
        <p:nvSpPr>
          <p:cNvPr id="1234991" name="Oval 47"/>
          <p:cNvSpPr>
            <a:spLocks noChangeArrowheads="1"/>
          </p:cNvSpPr>
          <p:nvPr/>
        </p:nvSpPr>
        <p:spPr bwMode="auto">
          <a:xfrm>
            <a:off x="7620000" y="3733800"/>
            <a:ext cx="457200" cy="4572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34992" name="Oval 48"/>
          <p:cNvSpPr>
            <a:spLocks noChangeArrowheads="1"/>
          </p:cNvSpPr>
          <p:nvPr/>
        </p:nvSpPr>
        <p:spPr bwMode="auto">
          <a:xfrm>
            <a:off x="7620000" y="4114800"/>
            <a:ext cx="457200" cy="4572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50" name="Title 1"/>
          <p:cNvSpPr txBox="1">
            <a:spLocks/>
          </p:cNvSpPr>
          <p:nvPr/>
        </p:nvSpPr>
        <p:spPr>
          <a:xfrm>
            <a:off x="0" y="3"/>
            <a:ext cx="12192000" cy="122872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smtClean="0">
                <a:solidFill>
                  <a:schemeClr val="bg1"/>
                </a:solidFill>
                <a:latin typeface="Rockwell" panose="02060603020205020403" pitchFamily="18" charset="0"/>
              </a:rPr>
              <a:t>Function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04292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9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9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4989" grpId="0" animBg="1"/>
      <p:bldP spid="1234990" grpId="0"/>
      <p:bldP spid="1234991" grpId="0" animBg="1"/>
      <p:bldP spid="123499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Function arithmetic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966774" y="1479945"/>
            <a:ext cx="10653296" cy="587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dirty="0" smtClean="0">
                <a:latin typeface="+mj-lt"/>
              </a:rPr>
              <a:t>Definition		</a:t>
            </a:r>
            <a:endParaRPr lang="en-US" b="1" dirty="0">
              <a:latin typeface="+mj-lt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976728" y="2143941"/>
            <a:ext cx="10653296" cy="251378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/>
              <a:t>Let </a:t>
            </a:r>
            <a:r>
              <a:rPr lang="en-US" i="1" dirty="0"/>
              <a:t>f</a:t>
            </a:r>
            <a:r>
              <a:rPr lang="en-US" i="1" baseline="-25000" dirty="0"/>
              <a:t>1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i="1" dirty="0"/>
              <a:t>f</a:t>
            </a:r>
            <a:r>
              <a:rPr lang="en-US" i="1" baseline="-25000" dirty="0"/>
              <a:t>2</a:t>
            </a:r>
            <a:r>
              <a:rPr lang="en-US" dirty="0"/>
              <a:t> be function from A to B. Then </a:t>
            </a:r>
            <a:r>
              <a:rPr lang="en-US" i="1" dirty="0"/>
              <a:t>f</a:t>
            </a:r>
            <a:r>
              <a:rPr lang="en-US" i="1" baseline="-25000" dirty="0"/>
              <a:t>1</a:t>
            </a:r>
            <a:r>
              <a:rPr lang="en-US" i="1" dirty="0"/>
              <a:t> + f</a:t>
            </a:r>
            <a:r>
              <a:rPr lang="en-US" i="1" baseline="-25000" dirty="0"/>
              <a:t>2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i="1" dirty="0"/>
              <a:t>f</a:t>
            </a:r>
            <a:r>
              <a:rPr lang="en-US" i="1" baseline="-25000" dirty="0"/>
              <a:t>1</a:t>
            </a:r>
            <a:r>
              <a:rPr lang="en-US" i="1" dirty="0"/>
              <a:t> f</a:t>
            </a:r>
            <a:r>
              <a:rPr lang="en-US" i="1" baseline="-25000" dirty="0"/>
              <a:t>2</a:t>
            </a:r>
            <a:r>
              <a:rPr lang="en-US" i="1" dirty="0"/>
              <a:t> </a:t>
            </a:r>
            <a:r>
              <a:rPr lang="en-US" dirty="0"/>
              <a:t>are also functions from A </a:t>
            </a:r>
            <a:r>
              <a:rPr lang="en-US"/>
              <a:t>to </a:t>
            </a:r>
            <a:r>
              <a:rPr lang="en-US" smtClean="0"/>
              <a:t>B </a:t>
            </a:r>
            <a:r>
              <a:rPr lang="en-US" dirty="0"/>
              <a:t>defined by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2800" i="1" dirty="0"/>
              <a:t>(f</a:t>
            </a:r>
            <a:r>
              <a:rPr lang="en-US" sz="2800" i="1" baseline="-25000" dirty="0"/>
              <a:t>1</a:t>
            </a:r>
            <a:r>
              <a:rPr lang="en-US" sz="2800" i="1" dirty="0"/>
              <a:t> + f</a:t>
            </a:r>
            <a:r>
              <a:rPr lang="en-US" sz="2800" i="1" baseline="-25000" dirty="0"/>
              <a:t>2</a:t>
            </a:r>
            <a:r>
              <a:rPr lang="en-US" sz="2800" i="1" dirty="0"/>
              <a:t>)(x)  = f</a:t>
            </a:r>
            <a:r>
              <a:rPr lang="en-US" sz="2800" i="1" baseline="-25000" dirty="0"/>
              <a:t>1</a:t>
            </a:r>
            <a:r>
              <a:rPr lang="en-US" sz="2800" i="1" dirty="0"/>
              <a:t>(x) + f</a:t>
            </a:r>
            <a:r>
              <a:rPr lang="en-US" sz="2800" i="1" baseline="-25000" dirty="0"/>
              <a:t>2</a:t>
            </a:r>
            <a:r>
              <a:rPr lang="en-US" sz="2800" i="1" dirty="0"/>
              <a:t>(x)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2800" i="1" dirty="0"/>
              <a:t>(f</a:t>
            </a:r>
            <a:r>
              <a:rPr lang="en-US" sz="2800" i="1" baseline="-25000" dirty="0"/>
              <a:t>1</a:t>
            </a:r>
            <a:r>
              <a:rPr lang="en-US" sz="2800" i="1" dirty="0"/>
              <a:t> f</a:t>
            </a:r>
            <a:r>
              <a:rPr lang="en-US" sz="2800" i="1" baseline="-25000" dirty="0"/>
              <a:t>2</a:t>
            </a:r>
            <a:r>
              <a:rPr lang="en-US" sz="2800" i="1" dirty="0"/>
              <a:t>)(x)  = f</a:t>
            </a:r>
            <a:r>
              <a:rPr lang="en-US" sz="2800" i="1" baseline="-25000" dirty="0"/>
              <a:t>1</a:t>
            </a:r>
            <a:r>
              <a:rPr lang="en-US" sz="2800" i="1" dirty="0"/>
              <a:t>(x) f</a:t>
            </a:r>
            <a:r>
              <a:rPr lang="en-US" sz="2800" i="1" baseline="-25000" dirty="0"/>
              <a:t>2</a:t>
            </a:r>
            <a:r>
              <a:rPr lang="en-US" sz="2800" i="1" dirty="0"/>
              <a:t>(x) </a:t>
            </a:r>
            <a:endParaRPr lang="en-US" sz="2800" dirty="0"/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976728" y="5572937"/>
                <a:ext cx="10506089" cy="461665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sz="2400" dirty="0"/>
                  <a:t>If </a:t>
                </a:r>
                <a:r>
                  <a:rPr lang="en-US" sz="2400" i="1" dirty="0"/>
                  <a:t>f</a:t>
                </a:r>
                <a:r>
                  <a:rPr lang="en-US" sz="2400" i="1" baseline="-25000" dirty="0"/>
                  <a:t>1</a:t>
                </a:r>
                <a:r>
                  <a:rPr lang="en-US" sz="2400" i="1" dirty="0"/>
                  <a:t>(x)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i="1" dirty="0"/>
                  <a:t> and  f</a:t>
                </a:r>
                <a:r>
                  <a:rPr lang="en-US" sz="2400" i="1" baseline="-25000" dirty="0"/>
                  <a:t>2</a:t>
                </a:r>
                <a:r>
                  <a:rPr lang="en-US" sz="2400" i="1" dirty="0"/>
                  <a:t>(x) = x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. What are the functions </a:t>
                </a:r>
                <a:r>
                  <a:rPr lang="en-US" sz="2400" i="1" dirty="0"/>
                  <a:t>(f</a:t>
                </a:r>
                <a:r>
                  <a:rPr lang="en-US" sz="2400" i="1" baseline="-25000" dirty="0"/>
                  <a:t>1</a:t>
                </a:r>
                <a:r>
                  <a:rPr lang="en-US" sz="2400" i="1" dirty="0"/>
                  <a:t> + f</a:t>
                </a:r>
                <a:r>
                  <a:rPr lang="en-US" sz="2400" i="1" baseline="-25000" dirty="0"/>
                  <a:t>2</a:t>
                </a:r>
                <a:r>
                  <a:rPr lang="en-US" sz="2400" i="1" dirty="0"/>
                  <a:t>)(x) and (f</a:t>
                </a:r>
                <a:r>
                  <a:rPr lang="en-US" sz="2400" i="1" baseline="-25000" dirty="0"/>
                  <a:t>1</a:t>
                </a:r>
                <a:r>
                  <a:rPr lang="en-US" sz="2400" i="1" dirty="0"/>
                  <a:t> f</a:t>
                </a:r>
                <a:r>
                  <a:rPr lang="en-US" sz="2400" i="1" baseline="-25000" dirty="0"/>
                  <a:t>2</a:t>
                </a:r>
                <a:r>
                  <a:rPr lang="en-US" sz="2400" i="1" dirty="0"/>
                  <a:t>)(x) ?</a:t>
                </a:r>
                <a:endParaRPr lang="en-US" sz="24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728" y="5572937"/>
                <a:ext cx="10506089" cy="461665"/>
              </a:xfrm>
              <a:prstGeom prst="rect">
                <a:avLst/>
              </a:prstGeom>
              <a:blipFill rotWithShape="0">
                <a:blip r:embed="rId2"/>
                <a:stretch>
                  <a:fillRect l="-811" t="-8974" b="-26923"/>
                </a:stretch>
              </a:blip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="" xmlns:p14="http://schemas.microsoft.com/office/powerpoint/2010/main" val="1274448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Function : Loss </a:t>
            </a:r>
            <a:r>
              <a:rPr lang="en-US" sz="4800" b="1" dirty="0" err="1" smtClean="0">
                <a:solidFill>
                  <a:schemeClr val="bg1"/>
                </a:solidFill>
                <a:latin typeface="Rockwell" panose="02060603020205020403" pitchFamily="18" charset="0"/>
              </a:rPr>
              <a:t>vs</a:t>
            </a:r>
            <a:r>
              <a:rPr lang="en-US" sz="48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 NO Loss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9651" y="2061412"/>
            <a:ext cx="4376750" cy="8679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sym typeface="Symbol" panose="05050102010706020507" pitchFamily="18" charset="2"/>
              </a:rPr>
              <a:t>f(x) = x</a:t>
            </a:r>
            <a:r>
              <a:rPr lang="en-US" sz="2800" baseline="30000" dirty="0" smtClean="0">
                <a:sym typeface="Symbol" panose="05050102010706020507" pitchFamily="18" charset="2"/>
              </a:rPr>
              <a:t>2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sym typeface="Symbol" panose="05050102010706020507" pitchFamily="18" charset="2"/>
              </a:rPr>
              <a:t>f grading system </a:t>
            </a:r>
            <a:endParaRPr lang="en-US" sz="2800" dirty="0">
              <a:sym typeface="Symbol" panose="05050102010706020507" pitchFamily="18" charset="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9650" y="4056899"/>
            <a:ext cx="4376752" cy="4801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sym typeface="Symbol" panose="05050102010706020507" pitchFamily="18" charset="2"/>
              </a:rPr>
              <a:t>f(x) = 0.1x</a:t>
            </a:r>
            <a:endParaRPr lang="en-US" sz="2800" baseline="30000" dirty="0" smtClean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24284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dirty="0" smtClean="0"/>
              <a:t>One-to-one functions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849812" y="3462340"/>
            <a:ext cx="2432050" cy="2576513"/>
            <a:chOff x="736" y="2064"/>
            <a:chExt cx="1532" cy="1623"/>
          </a:xfrm>
        </p:grpSpPr>
        <p:sp>
          <p:nvSpPr>
            <p:cNvPr id="44056" name="Oval 4"/>
            <p:cNvSpPr>
              <a:spLocks noChangeArrowheads="1"/>
            </p:cNvSpPr>
            <p:nvPr/>
          </p:nvSpPr>
          <p:spPr bwMode="auto">
            <a:xfrm>
              <a:off x="1196" y="220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4057" name="Oval 5"/>
            <p:cNvSpPr>
              <a:spLocks noChangeArrowheads="1"/>
            </p:cNvSpPr>
            <p:nvPr/>
          </p:nvSpPr>
          <p:spPr bwMode="auto">
            <a:xfrm>
              <a:off x="1196" y="244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4058" name="Oval 6"/>
            <p:cNvSpPr>
              <a:spLocks noChangeArrowheads="1"/>
            </p:cNvSpPr>
            <p:nvPr/>
          </p:nvSpPr>
          <p:spPr bwMode="auto">
            <a:xfrm>
              <a:off x="1196" y="268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4059" name="Oval 7"/>
            <p:cNvSpPr>
              <a:spLocks noChangeArrowheads="1"/>
            </p:cNvSpPr>
            <p:nvPr/>
          </p:nvSpPr>
          <p:spPr bwMode="auto">
            <a:xfrm>
              <a:off x="1196" y="292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eaLnBrk="1" hangingPunct="1"/>
              <a:endParaRPr lang="en-US"/>
            </a:p>
          </p:txBody>
        </p:sp>
        <p:grpSp>
          <p:nvGrpSpPr>
            <p:cNvPr id="44060" name="Group 8"/>
            <p:cNvGrpSpPr>
              <a:grpSpLocks/>
            </p:cNvGrpSpPr>
            <p:nvPr/>
          </p:nvGrpSpPr>
          <p:grpSpPr bwMode="auto">
            <a:xfrm>
              <a:off x="1964" y="2208"/>
              <a:ext cx="96" cy="1056"/>
              <a:chOff x="1344" y="1728"/>
              <a:chExt cx="96" cy="1056"/>
            </a:xfrm>
          </p:grpSpPr>
          <p:sp>
            <p:nvSpPr>
              <p:cNvPr id="44068" name="Oval 9"/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069" name="Oval 10"/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070" name="Oval 11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071" name="Oval 12"/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072" name="Oval 13"/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</p:grpSp>
        <p:sp>
          <p:nvSpPr>
            <p:cNvPr id="44061" name="Line 14"/>
            <p:cNvSpPr>
              <a:spLocks noChangeShapeType="1"/>
            </p:cNvSpPr>
            <p:nvPr/>
          </p:nvSpPr>
          <p:spPr bwMode="auto">
            <a:xfrm>
              <a:off x="1244" y="2256"/>
              <a:ext cx="72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62" name="Line 15"/>
            <p:cNvSpPr>
              <a:spLocks noChangeShapeType="1"/>
            </p:cNvSpPr>
            <p:nvPr/>
          </p:nvSpPr>
          <p:spPr bwMode="auto">
            <a:xfrm>
              <a:off x="1292" y="2496"/>
              <a:ext cx="672" cy="4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63" name="Text Box 16"/>
            <p:cNvSpPr txBox="1">
              <a:spLocks noChangeArrowheads="1"/>
            </p:cNvSpPr>
            <p:nvPr/>
          </p:nvSpPr>
          <p:spPr bwMode="auto">
            <a:xfrm>
              <a:off x="2072" y="2064"/>
              <a:ext cx="196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en-US" dirty="0"/>
                <a:t>1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 dirty="0"/>
                <a:t>2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 dirty="0"/>
                <a:t>3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 dirty="0"/>
                <a:t>4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 dirty="0"/>
                <a:t>5</a:t>
              </a:r>
            </a:p>
          </p:txBody>
        </p:sp>
        <p:sp>
          <p:nvSpPr>
            <p:cNvPr id="44064" name="Text Box 17"/>
            <p:cNvSpPr txBox="1">
              <a:spLocks noChangeArrowheads="1"/>
            </p:cNvSpPr>
            <p:nvPr/>
          </p:nvSpPr>
          <p:spPr bwMode="auto">
            <a:xfrm>
              <a:off x="960" y="2064"/>
              <a:ext cx="196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a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e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i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o</a:t>
              </a:r>
            </a:p>
            <a:p>
              <a:pPr algn="ctr" eaLnBrk="1" hangingPunct="1">
                <a:lnSpc>
                  <a:spcPct val="140000"/>
                </a:lnSpc>
              </a:pPr>
              <a:endParaRPr lang="en-US"/>
            </a:p>
          </p:txBody>
        </p:sp>
        <p:sp>
          <p:nvSpPr>
            <p:cNvPr id="44065" name="Line 18"/>
            <p:cNvSpPr>
              <a:spLocks noChangeShapeType="1"/>
            </p:cNvSpPr>
            <p:nvPr/>
          </p:nvSpPr>
          <p:spPr bwMode="auto">
            <a:xfrm flipV="1">
              <a:off x="1292" y="2496"/>
              <a:ext cx="672" cy="4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66" name="Line 19"/>
            <p:cNvSpPr>
              <a:spLocks noChangeShapeType="1"/>
            </p:cNvSpPr>
            <p:nvPr/>
          </p:nvSpPr>
          <p:spPr bwMode="auto">
            <a:xfrm>
              <a:off x="1292" y="2736"/>
              <a:ext cx="672" cy="4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67" name="Text Box 20"/>
            <p:cNvSpPr txBox="1">
              <a:spLocks noChangeArrowheads="1"/>
            </p:cNvSpPr>
            <p:nvPr/>
          </p:nvSpPr>
          <p:spPr bwMode="auto">
            <a:xfrm>
              <a:off x="736" y="3456"/>
              <a:ext cx="149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r>
                <a:rPr lang="en-US" dirty="0"/>
                <a:t>A one-to-one function</a:t>
              </a:r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9301162" y="3462339"/>
            <a:ext cx="2216150" cy="2851150"/>
            <a:chOff x="3540" y="2064"/>
            <a:chExt cx="1396" cy="1796"/>
          </a:xfrm>
        </p:grpSpPr>
        <p:sp>
          <p:nvSpPr>
            <p:cNvPr id="44039" name="Oval 22"/>
            <p:cNvSpPr>
              <a:spLocks noChangeArrowheads="1"/>
            </p:cNvSpPr>
            <p:nvPr/>
          </p:nvSpPr>
          <p:spPr bwMode="auto">
            <a:xfrm>
              <a:off x="3864" y="220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4040" name="Oval 23"/>
            <p:cNvSpPr>
              <a:spLocks noChangeArrowheads="1"/>
            </p:cNvSpPr>
            <p:nvPr/>
          </p:nvSpPr>
          <p:spPr bwMode="auto">
            <a:xfrm>
              <a:off x="3864" y="244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4041" name="Oval 24"/>
            <p:cNvSpPr>
              <a:spLocks noChangeArrowheads="1"/>
            </p:cNvSpPr>
            <p:nvPr/>
          </p:nvSpPr>
          <p:spPr bwMode="auto">
            <a:xfrm>
              <a:off x="3864" y="268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4042" name="Oval 25"/>
            <p:cNvSpPr>
              <a:spLocks noChangeArrowheads="1"/>
            </p:cNvSpPr>
            <p:nvPr/>
          </p:nvSpPr>
          <p:spPr bwMode="auto">
            <a:xfrm>
              <a:off x="3864" y="292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eaLnBrk="1" hangingPunct="1"/>
              <a:endParaRPr lang="en-US"/>
            </a:p>
          </p:txBody>
        </p:sp>
        <p:grpSp>
          <p:nvGrpSpPr>
            <p:cNvPr id="44043" name="Group 26"/>
            <p:cNvGrpSpPr>
              <a:grpSpLocks/>
            </p:cNvGrpSpPr>
            <p:nvPr/>
          </p:nvGrpSpPr>
          <p:grpSpPr bwMode="auto">
            <a:xfrm>
              <a:off x="4632" y="2208"/>
              <a:ext cx="96" cy="1056"/>
              <a:chOff x="1344" y="1728"/>
              <a:chExt cx="96" cy="1056"/>
            </a:xfrm>
          </p:grpSpPr>
          <p:sp>
            <p:nvSpPr>
              <p:cNvPr id="44051" name="Oval 27"/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052" name="Oval 28"/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053" name="Oval 29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054" name="Oval 30"/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055" name="Oval 31"/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</p:grpSp>
        <p:sp>
          <p:nvSpPr>
            <p:cNvPr id="44044" name="Line 32"/>
            <p:cNvSpPr>
              <a:spLocks noChangeShapeType="1"/>
            </p:cNvSpPr>
            <p:nvPr/>
          </p:nvSpPr>
          <p:spPr bwMode="auto">
            <a:xfrm>
              <a:off x="3912" y="2256"/>
              <a:ext cx="72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45" name="Line 33"/>
            <p:cNvSpPr>
              <a:spLocks noChangeShapeType="1"/>
            </p:cNvSpPr>
            <p:nvPr/>
          </p:nvSpPr>
          <p:spPr bwMode="auto">
            <a:xfrm>
              <a:off x="3960" y="2496"/>
              <a:ext cx="696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46" name="Text Box 34"/>
            <p:cNvSpPr txBox="1">
              <a:spLocks noChangeArrowheads="1"/>
            </p:cNvSpPr>
            <p:nvPr/>
          </p:nvSpPr>
          <p:spPr bwMode="auto">
            <a:xfrm>
              <a:off x="4740" y="2064"/>
              <a:ext cx="196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1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2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3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4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5</a:t>
              </a:r>
            </a:p>
          </p:txBody>
        </p:sp>
        <p:sp>
          <p:nvSpPr>
            <p:cNvPr id="44047" name="Text Box 35"/>
            <p:cNvSpPr txBox="1">
              <a:spLocks noChangeArrowheads="1"/>
            </p:cNvSpPr>
            <p:nvPr/>
          </p:nvSpPr>
          <p:spPr bwMode="auto">
            <a:xfrm>
              <a:off x="3648" y="2064"/>
              <a:ext cx="196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a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e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i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o</a:t>
              </a:r>
            </a:p>
            <a:p>
              <a:pPr algn="ctr" eaLnBrk="1" hangingPunct="1">
                <a:lnSpc>
                  <a:spcPct val="140000"/>
                </a:lnSpc>
              </a:pPr>
              <a:endParaRPr lang="en-US"/>
            </a:p>
          </p:txBody>
        </p:sp>
        <p:sp>
          <p:nvSpPr>
            <p:cNvPr id="44048" name="Line 36"/>
            <p:cNvSpPr>
              <a:spLocks noChangeShapeType="1"/>
            </p:cNvSpPr>
            <p:nvPr/>
          </p:nvSpPr>
          <p:spPr bwMode="auto">
            <a:xfrm flipV="1">
              <a:off x="3960" y="2496"/>
              <a:ext cx="672" cy="4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49" name="Line 37"/>
            <p:cNvSpPr>
              <a:spLocks noChangeShapeType="1"/>
            </p:cNvSpPr>
            <p:nvPr/>
          </p:nvSpPr>
          <p:spPr bwMode="auto">
            <a:xfrm>
              <a:off x="3960" y="2736"/>
              <a:ext cx="672" cy="4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50" name="Text Box 38"/>
            <p:cNvSpPr txBox="1">
              <a:spLocks noChangeArrowheads="1"/>
            </p:cNvSpPr>
            <p:nvPr/>
          </p:nvSpPr>
          <p:spPr bwMode="auto">
            <a:xfrm>
              <a:off x="3540" y="3456"/>
              <a:ext cx="1221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r>
                <a:rPr lang="en-US"/>
                <a:t>A function that is </a:t>
              </a:r>
            </a:p>
            <a:p>
              <a:pPr algn="ctr" eaLnBrk="1" hangingPunct="1"/>
              <a:r>
                <a:rPr lang="en-US"/>
                <a:t>not one-to-one</a:t>
              </a:r>
            </a:p>
          </p:txBody>
        </p:sp>
      </p:grpSp>
      <p:sp>
        <p:nvSpPr>
          <p:cNvPr id="1239080" name="Oval 40"/>
          <p:cNvSpPr>
            <a:spLocks noChangeArrowheads="1"/>
          </p:cNvSpPr>
          <p:nvPr/>
        </p:nvSpPr>
        <p:spPr bwMode="auto">
          <a:xfrm>
            <a:off x="10920412" y="3919539"/>
            <a:ext cx="457200" cy="4572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1" name="Title 1"/>
          <p:cNvSpPr txBox="1">
            <a:spLocks/>
          </p:cNvSpPr>
          <p:nvPr/>
        </p:nvSpPr>
        <p:spPr>
          <a:xfrm>
            <a:off x="0" y="3"/>
            <a:ext cx="12192000" cy="122872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One to One Function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Content Placeholder 2"/>
          <p:cNvSpPr txBox="1">
            <a:spLocks/>
          </p:cNvSpPr>
          <p:nvPr/>
        </p:nvSpPr>
        <p:spPr>
          <a:xfrm>
            <a:off x="966774" y="1479945"/>
            <a:ext cx="10653296" cy="587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dirty="0" smtClean="0">
                <a:latin typeface="+mj-lt"/>
              </a:rPr>
              <a:t>Definition		</a:t>
            </a:r>
            <a:endParaRPr lang="en-US" b="1" dirty="0">
              <a:latin typeface="+mj-lt"/>
            </a:endParaRPr>
          </a:p>
        </p:txBody>
      </p:sp>
      <p:sp>
        <p:nvSpPr>
          <p:cNvPr id="44" name="Content Placeholder 2"/>
          <p:cNvSpPr txBox="1">
            <a:spLocks/>
          </p:cNvSpPr>
          <p:nvPr/>
        </p:nvSpPr>
        <p:spPr>
          <a:xfrm>
            <a:off x="976728" y="2143942"/>
            <a:ext cx="10653296" cy="9993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 function is one-to-one if </a:t>
            </a:r>
            <a:r>
              <a:rPr lang="en-US" dirty="0" smtClean="0"/>
              <a:t>each elements </a:t>
            </a:r>
            <a:r>
              <a:rPr lang="en-US" dirty="0"/>
              <a:t>in the </a:t>
            </a:r>
            <a:r>
              <a:rPr lang="en-US" dirty="0" smtClean="0"/>
              <a:t>domain </a:t>
            </a:r>
            <a:r>
              <a:rPr lang="en-US" dirty="0"/>
              <a:t>has a unique </a:t>
            </a:r>
            <a:r>
              <a:rPr lang="en-US" dirty="0" smtClean="0"/>
              <a:t>image of co-domain.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071283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80" grpId="0" animBg="1"/>
      <p:bldP spid="43" grpId="0" animBg="1"/>
      <p:bldP spid="4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dirty="0" smtClean="0"/>
              <a:t>More on one-to-one</a:t>
            </a:r>
          </a:p>
        </p:txBody>
      </p:sp>
      <p:sp>
        <p:nvSpPr>
          <p:cNvPr id="1241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825" y="1920081"/>
            <a:ext cx="7248525" cy="4351338"/>
          </a:xfrm>
        </p:spPr>
        <p:txBody>
          <a:bodyPr/>
          <a:lstStyle/>
          <a:p>
            <a:pPr eaLnBrk="1" hangingPunct="1"/>
            <a:r>
              <a:rPr lang="en-US" dirty="0" smtClean="0"/>
              <a:t>Injective is synonymous with one-to-one</a:t>
            </a:r>
          </a:p>
          <a:p>
            <a:pPr lvl="1" eaLnBrk="1" hangingPunct="1"/>
            <a:r>
              <a:rPr lang="en-US" dirty="0" smtClean="0"/>
              <a:t>“A function is injective”</a:t>
            </a:r>
          </a:p>
          <a:p>
            <a:pPr eaLnBrk="1" hangingPunct="1"/>
            <a:r>
              <a:rPr lang="en-US" dirty="0" smtClean="0"/>
              <a:t>A function is an injection if it is one-to-one</a:t>
            </a: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Note that there can be un-used elements </a:t>
            </a:r>
            <a:b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in the co-domain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858000" y="3124201"/>
            <a:ext cx="2432050" cy="2576513"/>
            <a:chOff x="3360" y="2256"/>
            <a:chExt cx="1532" cy="1623"/>
          </a:xfrm>
        </p:grpSpPr>
        <p:sp>
          <p:nvSpPr>
            <p:cNvPr id="45062" name="Oval 5"/>
            <p:cNvSpPr>
              <a:spLocks noChangeArrowheads="1"/>
            </p:cNvSpPr>
            <p:nvPr/>
          </p:nvSpPr>
          <p:spPr bwMode="auto">
            <a:xfrm>
              <a:off x="3820" y="2400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5063" name="Oval 6"/>
            <p:cNvSpPr>
              <a:spLocks noChangeArrowheads="1"/>
            </p:cNvSpPr>
            <p:nvPr/>
          </p:nvSpPr>
          <p:spPr bwMode="auto">
            <a:xfrm>
              <a:off x="3820" y="2640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5064" name="Oval 7"/>
            <p:cNvSpPr>
              <a:spLocks noChangeArrowheads="1"/>
            </p:cNvSpPr>
            <p:nvPr/>
          </p:nvSpPr>
          <p:spPr bwMode="auto">
            <a:xfrm>
              <a:off x="3820" y="2880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5065" name="Oval 8"/>
            <p:cNvSpPr>
              <a:spLocks noChangeArrowheads="1"/>
            </p:cNvSpPr>
            <p:nvPr/>
          </p:nvSpPr>
          <p:spPr bwMode="auto">
            <a:xfrm>
              <a:off x="3820" y="3120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eaLnBrk="1" hangingPunct="1"/>
              <a:endParaRPr lang="en-US"/>
            </a:p>
          </p:txBody>
        </p:sp>
        <p:grpSp>
          <p:nvGrpSpPr>
            <p:cNvPr id="45066" name="Group 9"/>
            <p:cNvGrpSpPr>
              <a:grpSpLocks/>
            </p:cNvGrpSpPr>
            <p:nvPr/>
          </p:nvGrpSpPr>
          <p:grpSpPr bwMode="auto">
            <a:xfrm>
              <a:off x="4588" y="2400"/>
              <a:ext cx="96" cy="1056"/>
              <a:chOff x="1344" y="1728"/>
              <a:chExt cx="96" cy="1056"/>
            </a:xfrm>
          </p:grpSpPr>
          <p:sp>
            <p:nvSpPr>
              <p:cNvPr id="45074" name="Oval 10"/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075" name="Oval 11"/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076" name="Oval 12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077" name="Oval 13"/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078" name="Oval 14"/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</p:grpSp>
        <p:sp>
          <p:nvSpPr>
            <p:cNvPr id="45067" name="Line 15"/>
            <p:cNvSpPr>
              <a:spLocks noChangeShapeType="1"/>
            </p:cNvSpPr>
            <p:nvPr/>
          </p:nvSpPr>
          <p:spPr bwMode="auto">
            <a:xfrm>
              <a:off x="3868" y="2448"/>
              <a:ext cx="72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068" name="Line 16"/>
            <p:cNvSpPr>
              <a:spLocks noChangeShapeType="1"/>
            </p:cNvSpPr>
            <p:nvPr/>
          </p:nvSpPr>
          <p:spPr bwMode="auto">
            <a:xfrm>
              <a:off x="3916" y="2688"/>
              <a:ext cx="672" cy="4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069" name="Text Box 17"/>
            <p:cNvSpPr txBox="1">
              <a:spLocks noChangeArrowheads="1"/>
            </p:cNvSpPr>
            <p:nvPr/>
          </p:nvSpPr>
          <p:spPr bwMode="auto">
            <a:xfrm>
              <a:off x="4696" y="2256"/>
              <a:ext cx="196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1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2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3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4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5</a:t>
              </a:r>
            </a:p>
          </p:txBody>
        </p:sp>
        <p:sp>
          <p:nvSpPr>
            <p:cNvPr id="45070" name="Text Box 18"/>
            <p:cNvSpPr txBox="1">
              <a:spLocks noChangeArrowheads="1"/>
            </p:cNvSpPr>
            <p:nvPr/>
          </p:nvSpPr>
          <p:spPr bwMode="auto">
            <a:xfrm>
              <a:off x="3600" y="2256"/>
              <a:ext cx="196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a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e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i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o</a:t>
              </a:r>
            </a:p>
            <a:p>
              <a:pPr algn="ctr" eaLnBrk="1" hangingPunct="1">
                <a:lnSpc>
                  <a:spcPct val="140000"/>
                </a:lnSpc>
              </a:pPr>
              <a:endParaRPr lang="en-US"/>
            </a:p>
          </p:txBody>
        </p:sp>
        <p:sp>
          <p:nvSpPr>
            <p:cNvPr id="45071" name="Line 19"/>
            <p:cNvSpPr>
              <a:spLocks noChangeShapeType="1"/>
            </p:cNvSpPr>
            <p:nvPr/>
          </p:nvSpPr>
          <p:spPr bwMode="auto">
            <a:xfrm flipV="1">
              <a:off x="3916" y="2688"/>
              <a:ext cx="672" cy="4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072" name="Line 20"/>
            <p:cNvSpPr>
              <a:spLocks noChangeShapeType="1"/>
            </p:cNvSpPr>
            <p:nvPr/>
          </p:nvSpPr>
          <p:spPr bwMode="auto">
            <a:xfrm>
              <a:off x="3916" y="2928"/>
              <a:ext cx="672" cy="4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073" name="Text Box 21"/>
            <p:cNvSpPr txBox="1">
              <a:spLocks noChangeArrowheads="1"/>
            </p:cNvSpPr>
            <p:nvPr/>
          </p:nvSpPr>
          <p:spPr bwMode="auto">
            <a:xfrm>
              <a:off x="3360" y="3648"/>
              <a:ext cx="149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r>
                <a:rPr lang="en-US"/>
                <a:t>A one-to-one function</a:t>
              </a:r>
            </a:p>
          </p:txBody>
        </p:sp>
      </p:grpSp>
      <p:sp>
        <p:nvSpPr>
          <p:cNvPr id="1241110" name="Oval 22"/>
          <p:cNvSpPr>
            <a:spLocks noChangeArrowheads="1"/>
          </p:cNvSpPr>
          <p:nvPr/>
        </p:nvSpPr>
        <p:spPr bwMode="auto">
          <a:xfrm>
            <a:off x="8610600" y="3962400"/>
            <a:ext cx="457200" cy="4572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23" name="Title 1"/>
          <p:cNvSpPr txBox="1">
            <a:spLocks/>
          </p:cNvSpPr>
          <p:nvPr/>
        </p:nvSpPr>
        <p:spPr>
          <a:xfrm>
            <a:off x="0" y="3"/>
            <a:ext cx="12192000" cy="122872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One to One Function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951037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11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3600"/>
          </a:xfrm>
        </p:spPr>
        <p:txBody>
          <a:bodyPr/>
          <a:lstStyle/>
          <a:p>
            <a:pPr algn="ctr"/>
            <a:r>
              <a:rPr lang="en-US" b="1" dirty="0"/>
              <a:t>More on one-to-one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4463"/>
            <a:ext cx="10515600" cy="5143500"/>
          </a:xfrm>
        </p:spPr>
        <p:txBody>
          <a:bodyPr/>
          <a:lstStyle/>
          <a:p>
            <a:endParaRPr lang="en-US" dirty="0"/>
          </a:p>
          <a:p>
            <a:r>
              <a:rPr lang="en-US" dirty="0" smtClean="0">
                <a:solidFill>
                  <a:srgbClr val="0070C0"/>
                </a:solidFill>
              </a:rPr>
              <a:t>Determine whether the function </a:t>
            </a:r>
            <a:r>
              <a:rPr lang="en-US" i="1" dirty="0" smtClean="0">
                <a:solidFill>
                  <a:srgbClr val="0070C0"/>
                </a:solidFill>
              </a:rPr>
              <a:t>f </a:t>
            </a:r>
            <a:r>
              <a:rPr lang="en-US" dirty="0" smtClean="0">
                <a:solidFill>
                  <a:srgbClr val="0070C0"/>
                </a:solidFill>
              </a:rPr>
              <a:t>form {a, b, c, d} to {1, 2, 3, 4, 5} with </a:t>
            </a:r>
            <a:r>
              <a:rPr lang="en-US" i="1" dirty="0" smtClean="0">
                <a:solidFill>
                  <a:srgbClr val="0070C0"/>
                </a:solidFill>
              </a:rPr>
              <a:t>f(a)= 4, f(b)= 5, f(c)= 1, f(d)= 3 </a:t>
            </a:r>
            <a:r>
              <a:rPr lang="en-US" dirty="0" smtClean="0">
                <a:solidFill>
                  <a:srgbClr val="0070C0"/>
                </a:solidFill>
              </a:rPr>
              <a:t>is one-to-one or not.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 smtClean="0">
                <a:solidFill>
                  <a:srgbClr val="0070C0"/>
                </a:solidFill>
              </a:rPr>
              <a:t>Determine whether the function </a:t>
            </a:r>
            <a:r>
              <a:rPr lang="en-US" i="1" dirty="0" smtClean="0">
                <a:solidFill>
                  <a:srgbClr val="0070C0"/>
                </a:solidFill>
              </a:rPr>
              <a:t>f(x) = x</a:t>
            </a:r>
            <a:r>
              <a:rPr lang="en-US" i="1" baseline="30000" dirty="0" smtClean="0">
                <a:solidFill>
                  <a:srgbClr val="0070C0"/>
                </a:solidFill>
              </a:rPr>
              <a:t>2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dirty="0" smtClean="0">
                <a:solidFill>
                  <a:srgbClr val="0070C0"/>
                </a:solidFill>
              </a:rPr>
              <a:t>from the set of integers to the set of integers is one-to-one?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Determine whether the function </a:t>
            </a:r>
            <a:r>
              <a:rPr lang="en-US" i="1" dirty="0">
                <a:solidFill>
                  <a:srgbClr val="0070C0"/>
                </a:solidFill>
              </a:rPr>
              <a:t>f(x) = </a:t>
            </a:r>
            <a:r>
              <a:rPr lang="en-US" i="1" dirty="0" smtClean="0">
                <a:solidFill>
                  <a:srgbClr val="0070C0"/>
                </a:solidFill>
              </a:rPr>
              <a:t>x+1 </a:t>
            </a:r>
            <a:r>
              <a:rPr lang="en-US" dirty="0">
                <a:solidFill>
                  <a:srgbClr val="0070C0"/>
                </a:solidFill>
              </a:rPr>
              <a:t>from the set of integers to the set of integers is one-to-one?</a:t>
            </a:r>
          </a:p>
          <a:p>
            <a:endParaRPr lang="en-US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3"/>
            <a:ext cx="12192000" cy="122872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One to One Function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81049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Onto functions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966774" y="1479945"/>
            <a:ext cx="10653296" cy="587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dirty="0" smtClean="0">
                <a:latin typeface="+mj-lt"/>
              </a:rPr>
              <a:t>Definition		</a:t>
            </a:r>
            <a:endParaRPr lang="en-US" b="1" dirty="0">
              <a:latin typeface="+mj-lt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976728" y="2143942"/>
            <a:ext cx="10653296" cy="127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 function is onto if each element in the </a:t>
            </a:r>
            <a:r>
              <a:rPr lang="en-US" dirty="0" smtClean="0"/>
              <a:t>domain has unique or some images </a:t>
            </a:r>
            <a:r>
              <a:rPr lang="en-US" dirty="0"/>
              <a:t>of </a:t>
            </a:r>
            <a:r>
              <a:rPr lang="en-US" dirty="0" smtClean="0"/>
              <a:t>co-domain.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274562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7315200" y="3454419"/>
            <a:ext cx="2044700" cy="2851150"/>
            <a:chOff x="3648" y="2064"/>
            <a:chExt cx="1288" cy="1796"/>
          </a:xfrm>
        </p:grpSpPr>
        <p:sp>
          <p:nvSpPr>
            <p:cNvPr id="46105" name="Oval 4"/>
            <p:cNvSpPr>
              <a:spLocks noChangeArrowheads="1"/>
            </p:cNvSpPr>
            <p:nvPr/>
          </p:nvSpPr>
          <p:spPr bwMode="auto">
            <a:xfrm>
              <a:off x="3864" y="220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6106" name="Oval 5"/>
            <p:cNvSpPr>
              <a:spLocks noChangeArrowheads="1"/>
            </p:cNvSpPr>
            <p:nvPr/>
          </p:nvSpPr>
          <p:spPr bwMode="auto">
            <a:xfrm>
              <a:off x="3864" y="244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6107" name="Oval 6"/>
            <p:cNvSpPr>
              <a:spLocks noChangeArrowheads="1"/>
            </p:cNvSpPr>
            <p:nvPr/>
          </p:nvSpPr>
          <p:spPr bwMode="auto">
            <a:xfrm>
              <a:off x="3864" y="268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6108" name="Oval 7"/>
            <p:cNvSpPr>
              <a:spLocks noChangeArrowheads="1"/>
            </p:cNvSpPr>
            <p:nvPr/>
          </p:nvSpPr>
          <p:spPr bwMode="auto">
            <a:xfrm>
              <a:off x="3864" y="292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eaLnBrk="1" hangingPunct="1"/>
              <a:endParaRPr lang="en-US"/>
            </a:p>
          </p:txBody>
        </p:sp>
        <p:grpSp>
          <p:nvGrpSpPr>
            <p:cNvPr id="46109" name="Group 8"/>
            <p:cNvGrpSpPr>
              <a:grpSpLocks/>
            </p:cNvGrpSpPr>
            <p:nvPr/>
          </p:nvGrpSpPr>
          <p:grpSpPr bwMode="auto">
            <a:xfrm>
              <a:off x="4632" y="2208"/>
              <a:ext cx="96" cy="1056"/>
              <a:chOff x="1344" y="1728"/>
              <a:chExt cx="96" cy="1056"/>
            </a:xfrm>
          </p:grpSpPr>
          <p:sp>
            <p:nvSpPr>
              <p:cNvPr id="46117" name="Oval 9"/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118" name="Oval 10"/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119" name="Oval 11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120" name="Oval 12"/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121" name="Oval 13"/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</p:grpSp>
        <p:sp>
          <p:nvSpPr>
            <p:cNvPr id="46110" name="Line 14"/>
            <p:cNvSpPr>
              <a:spLocks noChangeShapeType="1"/>
            </p:cNvSpPr>
            <p:nvPr/>
          </p:nvSpPr>
          <p:spPr bwMode="auto">
            <a:xfrm>
              <a:off x="3912" y="2256"/>
              <a:ext cx="72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11" name="Line 15"/>
            <p:cNvSpPr>
              <a:spLocks noChangeShapeType="1"/>
            </p:cNvSpPr>
            <p:nvPr/>
          </p:nvSpPr>
          <p:spPr bwMode="auto">
            <a:xfrm>
              <a:off x="3960" y="2496"/>
              <a:ext cx="696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12" name="Text Box 16"/>
            <p:cNvSpPr txBox="1">
              <a:spLocks noChangeArrowheads="1"/>
            </p:cNvSpPr>
            <p:nvPr/>
          </p:nvSpPr>
          <p:spPr bwMode="auto">
            <a:xfrm>
              <a:off x="4740" y="2064"/>
              <a:ext cx="196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1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2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3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4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5</a:t>
              </a:r>
            </a:p>
          </p:txBody>
        </p:sp>
        <p:sp>
          <p:nvSpPr>
            <p:cNvPr id="46113" name="Text Box 17"/>
            <p:cNvSpPr txBox="1">
              <a:spLocks noChangeArrowheads="1"/>
            </p:cNvSpPr>
            <p:nvPr/>
          </p:nvSpPr>
          <p:spPr bwMode="auto">
            <a:xfrm>
              <a:off x="3648" y="2064"/>
              <a:ext cx="196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a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e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i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o</a:t>
              </a:r>
            </a:p>
            <a:p>
              <a:pPr algn="ctr" eaLnBrk="1" hangingPunct="1">
                <a:lnSpc>
                  <a:spcPct val="140000"/>
                </a:lnSpc>
              </a:pPr>
              <a:endParaRPr lang="en-US"/>
            </a:p>
          </p:txBody>
        </p:sp>
        <p:sp>
          <p:nvSpPr>
            <p:cNvPr id="46114" name="Line 18"/>
            <p:cNvSpPr>
              <a:spLocks noChangeShapeType="1"/>
            </p:cNvSpPr>
            <p:nvPr/>
          </p:nvSpPr>
          <p:spPr bwMode="auto">
            <a:xfrm flipV="1">
              <a:off x="3960" y="2496"/>
              <a:ext cx="672" cy="4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15" name="Line 19"/>
            <p:cNvSpPr>
              <a:spLocks noChangeShapeType="1"/>
            </p:cNvSpPr>
            <p:nvPr/>
          </p:nvSpPr>
          <p:spPr bwMode="auto">
            <a:xfrm>
              <a:off x="3960" y="2736"/>
              <a:ext cx="672" cy="4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16" name="Text Box 20"/>
            <p:cNvSpPr txBox="1">
              <a:spLocks noChangeArrowheads="1"/>
            </p:cNvSpPr>
            <p:nvPr/>
          </p:nvSpPr>
          <p:spPr bwMode="auto">
            <a:xfrm>
              <a:off x="3696" y="3456"/>
              <a:ext cx="110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r>
                <a:rPr lang="en-US"/>
                <a:t>A function that is not onto</a:t>
              </a:r>
            </a:p>
          </p:txBody>
        </p:sp>
      </p:grp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3048000" y="3454420"/>
            <a:ext cx="2076450" cy="2576513"/>
            <a:chOff x="960" y="2064"/>
            <a:chExt cx="1308" cy="1623"/>
          </a:xfrm>
        </p:grpSpPr>
        <p:sp>
          <p:nvSpPr>
            <p:cNvPr id="46087" name="Oval 23"/>
            <p:cNvSpPr>
              <a:spLocks noChangeArrowheads="1"/>
            </p:cNvSpPr>
            <p:nvPr/>
          </p:nvSpPr>
          <p:spPr bwMode="auto">
            <a:xfrm>
              <a:off x="1964" y="220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6088" name="Oval 24"/>
            <p:cNvSpPr>
              <a:spLocks noChangeArrowheads="1"/>
            </p:cNvSpPr>
            <p:nvPr/>
          </p:nvSpPr>
          <p:spPr bwMode="auto">
            <a:xfrm>
              <a:off x="1964" y="244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6089" name="Oval 25"/>
            <p:cNvSpPr>
              <a:spLocks noChangeArrowheads="1"/>
            </p:cNvSpPr>
            <p:nvPr/>
          </p:nvSpPr>
          <p:spPr bwMode="auto">
            <a:xfrm>
              <a:off x="1964" y="268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6090" name="Oval 26"/>
            <p:cNvSpPr>
              <a:spLocks noChangeArrowheads="1"/>
            </p:cNvSpPr>
            <p:nvPr/>
          </p:nvSpPr>
          <p:spPr bwMode="auto">
            <a:xfrm>
              <a:off x="1964" y="292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6091" name="Line 27"/>
            <p:cNvSpPr>
              <a:spLocks noChangeShapeType="1"/>
            </p:cNvSpPr>
            <p:nvPr/>
          </p:nvSpPr>
          <p:spPr bwMode="auto">
            <a:xfrm>
              <a:off x="1244" y="2256"/>
              <a:ext cx="72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2" name="Line 28"/>
            <p:cNvSpPr>
              <a:spLocks noChangeShapeType="1"/>
            </p:cNvSpPr>
            <p:nvPr/>
          </p:nvSpPr>
          <p:spPr bwMode="auto">
            <a:xfrm>
              <a:off x="1292" y="2496"/>
              <a:ext cx="672" cy="4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3" name="Text Box 29"/>
            <p:cNvSpPr txBox="1">
              <a:spLocks noChangeArrowheads="1"/>
            </p:cNvSpPr>
            <p:nvPr/>
          </p:nvSpPr>
          <p:spPr bwMode="auto">
            <a:xfrm>
              <a:off x="2072" y="2064"/>
              <a:ext cx="196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1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2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3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4</a:t>
              </a:r>
            </a:p>
            <a:p>
              <a:pPr algn="ctr" eaLnBrk="1" hangingPunct="1">
                <a:lnSpc>
                  <a:spcPct val="140000"/>
                </a:lnSpc>
              </a:pPr>
              <a:endParaRPr lang="en-US"/>
            </a:p>
          </p:txBody>
        </p:sp>
        <p:sp>
          <p:nvSpPr>
            <p:cNvPr id="46094" name="Text Box 30"/>
            <p:cNvSpPr txBox="1">
              <a:spLocks noChangeArrowheads="1"/>
            </p:cNvSpPr>
            <p:nvPr/>
          </p:nvSpPr>
          <p:spPr bwMode="auto">
            <a:xfrm>
              <a:off x="960" y="2064"/>
              <a:ext cx="196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a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e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i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o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u</a:t>
              </a:r>
            </a:p>
          </p:txBody>
        </p:sp>
        <p:sp>
          <p:nvSpPr>
            <p:cNvPr id="46095" name="Line 31"/>
            <p:cNvSpPr>
              <a:spLocks noChangeShapeType="1"/>
            </p:cNvSpPr>
            <p:nvPr/>
          </p:nvSpPr>
          <p:spPr bwMode="auto">
            <a:xfrm flipV="1">
              <a:off x="1292" y="2496"/>
              <a:ext cx="672" cy="4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6" name="Line 32"/>
            <p:cNvSpPr>
              <a:spLocks noChangeShapeType="1"/>
            </p:cNvSpPr>
            <p:nvPr/>
          </p:nvSpPr>
          <p:spPr bwMode="auto">
            <a:xfrm flipV="1">
              <a:off x="1292" y="2496"/>
              <a:ext cx="676" cy="24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7" name="Text Box 33"/>
            <p:cNvSpPr txBox="1">
              <a:spLocks noChangeArrowheads="1"/>
            </p:cNvSpPr>
            <p:nvPr/>
          </p:nvSpPr>
          <p:spPr bwMode="auto">
            <a:xfrm>
              <a:off x="1008" y="3456"/>
              <a:ext cx="115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r>
                <a:rPr lang="en-US"/>
                <a:t>An onto function</a:t>
              </a:r>
            </a:p>
          </p:txBody>
        </p:sp>
        <p:grpSp>
          <p:nvGrpSpPr>
            <p:cNvPr id="46098" name="Group 34"/>
            <p:cNvGrpSpPr>
              <a:grpSpLocks/>
            </p:cNvGrpSpPr>
            <p:nvPr/>
          </p:nvGrpSpPr>
          <p:grpSpPr bwMode="auto">
            <a:xfrm>
              <a:off x="1200" y="2208"/>
              <a:ext cx="96" cy="1056"/>
              <a:chOff x="1344" y="1728"/>
              <a:chExt cx="96" cy="1056"/>
            </a:xfrm>
          </p:grpSpPr>
          <p:sp>
            <p:nvSpPr>
              <p:cNvPr id="46100" name="Oval 35"/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101" name="Oval 36"/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102" name="Oval 37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103" name="Oval 38"/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104" name="Oval 39"/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</p:grpSp>
        <p:sp>
          <p:nvSpPr>
            <p:cNvPr id="46099" name="Line 40"/>
            <p:cNvSpPr>
              <a:spLocks noChangeShapeType="1"/>
            </p:cNvSpPr>
            <p:nvPr/>
          </p:nvSpPr>
          <p:spPr bwMode="auto">
            <a:xfrm flipV="1">
              <a:off x="1296" y="2736"/>
              <a:ext cx="672" cy="4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43177" name="Oval 41"/>
          <p:cNvSpPr>
            <a:spLocks noChangeArrowheads="1"/>
          </p:cNvSpPr>
          <p:nvPr/>
        </p:nvSpPr>
        <p:spPr bwMode="auto">
          <a:xfrm>
            <a:off x="8686800" y="4292619"/>
            <a:ext cx="457200" cy="8382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3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Onto functions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Content Placeholder 2"/>
          <p:cNvSpPr txBox="1">
            <a:spLocks/>
          </p:cNvSpPr>
          <p:nvPr/>
        </p:nvSpPr>
        <p:spPr>
          <a:xfrm>
            <a:off x="966774" y="1479945"/>
            <a:ext cx="10653296" cy="587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dirty="0" smtClean="0">
                <a:latin typeface="+mj-lt"/>
              </a:rPr>
              <a:t>Definition		</a:t>
            </a:r>
            <a:endParaRPr lang="en-US" b="1" dirty="0">
              <a:latin typeface="+mj-lt"/>
            </a:endParaRPr>
          </a:p>
        </p:txBody>
      </p:sp>
      <p:sp>
        <p:nvSpPr>
          <p:cNvPr id="46" name="Content Placeholder 2"/>
          <p:cNvSpPr txBox="1">
            <a:spLocks/>
          </p:cNvSpPr>
          <p:nvPr/>
        </p:nvSpPr>
        <p:spPr>
          <a:xfrm>
            <a:off x="976728" y="2143942"/>
            <a:ext cx="10653296" cy="97392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189995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3177" grpId="0" animBg="1"/>
      <p:bldP spid="45" grpId="0" animBg="1"/>
      <p:bldP spid="4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8143875" y="3207543"/>
            <a:ext cx="2076450" cy="2576513"/>
            <a:chOff x="960" y="2064"/>
            <a:chExt cx="1308" cy="1623"/>
          </a:xfrm>
        </p:grpSpPr>
        <p:sp>
          <p:nvSpPr>
            <p:cNvPr id="47110" name="Oval 3"/>
            <p:cNvSpPr>
              <a:spLocks noChangeArrowheads="1"/>
            </p:cNvSpPr>
            <p:nvPr/>
          </p:nvSpPr>
          <p:spPr bwMode="auto">
            <a:xfrm>
              <a:off x="1964" y="220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7111" name="Oval 4"/>
            <p:cNvSpPr>
              <a:spLocks noChangeArrowheads="1"/>
            </p:cNvSpPr>
            <p:nvPr/>
          </p:nvSpPr>
          <p:spPr bwMode="auto">
            <a:xfrm>
              <a:off x="1964" y="244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7112" name="Oval 5"/>
            <p:cNvSpPr>
              <a:spLocks noChangeArrowheads="1"/>
            </p:cNvSpPr>
            <p:nvPr/>
          </p:nvSpPr>
          <p:spPr bwMode="auto">
            <a:xfrm>
              <a:off x="1964" y="268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7113" name="Oval 6"/>
            <p:cNvSpPr>
              <a:spLocks noChangeArrowheads="1"/>
            </p:cNvSpPr>
            <p:nvPr/>
          </p:nvSpPr>
          <p:spPr bwMode="auto">
            <a:xfrm>
              <a:off x="1964" y="292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7114" name="Line 7"/>
            <p:cNvSpPr>
              <a:spLocks noChangeShapeType="1"/>
            </p:cNvSpPr>
            <p:nvPr/>
          </p:nvSpPr>
          <p:spPr bwMode="auto">
            <a:xfrm>
              <a:off x="1244" y="2256"/>
              <a:ext cx="72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15" name="Line 8"/>
            <p:cNvSpPr>
              <a:spLocks noChangeShapeType="1"/>
            </p:cNvSpPr>
            <p:nvPr/>
          </p:nvSpPr>
          <p:spPr bwMode="auto">
            <a:xfrm>
              <a:off x="1292" y="2496"/>
              <a:ext cx="672" cy="4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16" name="Text Box 9"/>
            <p:cNvSpPr txBox="1">
              <a:spLocks noChangeArrowheads="1"/>
            </p:cNvSpPr>
            <p:nvPr/>
          </p:nvSpPr>
          <p:spPr bwMode="auto">
            <a:xfrm>
              <a:off x="2072" y="2064"/>
              <a:ext cx="196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1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2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3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4</a:t>
              </a:r>
            </a:p>
            <a:p>
              <a:pPr algn="ctr" eaLnBrk="1" hangingPunct="1">
                <a:lnSpc>
                  <a:spcPct val="140000"/>
                </a:lnSpc>
              </a:pPr>
              <a:endParaRPr lang="en-US"/>
            </a:p>
          </p:txBody>
        </p:sp>
        <p:sp>
          <p:nvSpPr>
            <p:cNvPr id="47117" name="Text Box 10"/>
            <p:cNvSpPr txBox="1">
              <a:spLocks noChangeArrowheads="1"/>
            </p:cNvSpPr>
            <p:nvPr/>
          </p:nvSpPr>
          <p:spPr bwMode="auto">
            <a:xfrm>
              <a:off x="960" y="2064"/>
              <a:ext cx="196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a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e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i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o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u</a:t>
              </a:r>
            </a:p>
          </p:txBody>
        </p:sp>
        <p:sp>
          <p:nvSpPr>
            <p:cNvPr id="47118" name="Line 11"/>
            <p:cNvSpPr>
              <a:spLocks noChangeShapeType="1"/>
            </p:cNvSpPr>
            <p:nvPr/>
          </p:nvSpPr>
          <p:spPr bwMode="auto">
            <a:xfrm flipV="1">
              <a:off x="1292" y="2496"/>
              <a:ext cx="672" cy="4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19" name="Line 12"/>
            <p:cNvSpPr>
              <a:spLocks noChangeShapeType="1"/>
            </p:cNvSpPr>
            <p:nvPr/>
          </p:nvSpPr>
          <p:spPr bwMode="auto">
            <a:xfrm flipV="1">
              <a:off x="1292" y="2496"/>
              <a:ext cx="676" cy="24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20" name="Text Box 13"/>
            <p:cNvSpPr txBox="1">
              <a:spLocks noChangeArrowheads="1"/>
            </p:cNvSpPr>
            <p:nvPr/>
          </p:nvSpPr>
          <p:spPr bwMode="auto">
            <a:xfrm>
              <a:off x="1008" y="3456"/>
              <a:ext cx="115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r>
                <a:rPr lang="en-US"/>
                <a:t>An onto function</a:t>
              </a:r>
            </a:p>
          </p:txBody>
        </p:sp>
        <p:grpSp>
          <p:nvGrpSpPr>
            <p:cNvPr id="47121" name="Group 14"/>
            <p:cNvGrpSpPr>
              <a:grpSpLocks/>
            </p:cNvGrpSpPr>
            <p:nvPr/>
          </p:nvGrpSpPr>
          <p:grpSpPr bwMode="auto">
            <a:xfrm>
              <a:off x="1200" y="2208"/>
              <a:ext cx="96" cy="1056"/>
              <a:chOff x="1344" y="1728"/>
              <a:chExt cx="96" cy="1056"/>
            </a:xfrm>
          </p:grpSpPr>
          <p:sp>
            <p:nvSpPr>
              <p:cNvPr id="47123" name="Oval 15"/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7124" name="Oval 16"/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7125" name="Oval 17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7126" name="Oval 18"/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7127" name="Oval 19"/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</p:grpSp>
        <p:sp>
          <p:nvSpPr>
            <p:cNvPr id="47122" name="Line 20"/>
            <p:cNvSpPr>
              <a:spLocks noChangeShapeType="1"/>
            </p:cNvSpPr>
            <p:nvPr/>
          </p:nvSpPr>
          <p:spPr bwMode="auto">
            <a:xfrm flipV="1">
              <a:off x="1296" y="2736"/>
              <a:ext cx="672" cy="4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7107" name="Rectangle 2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dirty="0" smtClean="0"/>
              <a:t>More on onto</a:t>
            </a:r>
          </a:p>
        </p:txBody>
      </p:sp>
      <p:sp>
        <p:nvSpPr>
          <p:cNvPr id="1245206" name="Rectangle 2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Surjective</a:t>
            </a:r>
            <a:r>
              <a:rPr lang="en-US" dirty="0" smtClean="0"/>
              <a:t> is synonymous with onto</a:t>
            </a:r>
          </a:p>
          <a:p>
            <a:pPr lvl="1" eaLnBrk="1" hangingPunct="1"/>
            <a:r>
              <a:rPr lang="en-US" dirty="0" smtClean="0"/>
              <a:t>“A function is </a:t>
            </a:r>
            <a:r>
              <a:rPr lang="en-US" dirty="0" err="1" smtClean="0"/>
              <a:t>surjective</a:t>
            </a:r>
            <a:r>
              <a:rPr lang="en-US" dirty="0" smtClean="0"/>
              <a:t>”</a:t>
            </a:r>
          </a:p>
          <a:p>
            <a:pPr eaLnBrk="1" hangingPunct="1"/>
            <a:r>
              <a:rPr lang="en-US" dirty="0" smtClean="0"/>
              <a:t>A function is an surjection if it is onto</a:t>
            </a: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Note that there can be multiply used </a:t>
            </a:r>
            <a:b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elements in the co-domain</a:t>
            </a:r>
          </a:p>
        </p:txBody>
      </p:sp>
      <p:sp>
        <p:nvSpPr>
          <p:cNvPr id="1245207" name="Oval 23"/>
          <p:cNvSpPr>
            <a:spLocks noChangeArrowheads="1"/>
          </p:cNvSpPr>
          <p:nvPr/>
        </p:nvSpPr>
        <p:spPr bwMode="auto">
          <a:xfrm>
            <a:off x="9534525" y="3683793"/>
            <a:ext cx="457200" cy="4572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0" y="3"/>
            <a:ext cx="12192000" cy="122872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smtClean="0">
                <a:solidFill>
                  <a:schemeClr val="bg1"/>
                </a:solidFill>
                <a:latin typeface="Rockwell" panose="02060603020205020403" pitchFamily="18" charset="0"/>
              </a:rPr>
              <a:t>Onto functions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86415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2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520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3600"/>
          </a:xfrm>
        </p:spPr>
        <p:txBody>
          <a:bodyPr/>
          <a:lstStyle/>
          <a:p>
            <a:pPr algn="ctr"/>
            <a:r>
              <a:rPr lang="en-US" b="1" dirty="0"/>
              <a:t>More </a:t>
            </a:r>
            <a:r>
              <a:rPr lang="en-US" b="1" dirty="0" smtClean="0"/>
              <a:t>onto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4463"/>
            <a:ext cx="10515600" cy="5143500"/>
          </a:xfrm>
        </p:spPr>
        <p:txBody>
          <a:bodyPr/>
          <a:lstStyle/>
          <a:p>
            <a:endParaRPr lang="en-US" dirty="0"/>
          </a:p>
          <a:p>
            <a:r>
              <a:rPr lang="en-US" dirty="0" smtClean="0">
                <a:solidFill>
                  <a:srgbClr val="0070C0"/>
                </a:solidFill>
              </a:rPr>
              <a:t>Determine whether the function </a:t>
            </a:r>
            <a:r>
              <a:rPr lang="en-US" i="1" dirty="0" smtClean="0">
                <a:solidFill>
                  <a:srgbClr val="0070C0"/>
                </a:solidFill>
              </a:rPr>
              <a:t>f </a:t>
            </a:r>
            <a:r>
              <a:rPr lang="en-US" dirty="0" smtClean="0">
                <a:solidFill>
                  <a:srgbClr val="0070C0"/>
                </a:solidFill>
              </a:rPr>
              <a:t>form {a, b, c, d} to {1, 2, 3} with </a:t>
            </a:r>
            <a:r>
              <a:rPr lang="en-US" i="1" dirty="0" smtClean="0">
                <a:solidFill>
                  <a:srgbClr val="0070C0"/>
                </a:solidFill>
              </a:rPr>
              <a:t>f(a)= 3, f(b)= 2, f(c)= 1, f(d)= 3 </a:t>
            </a:r>
            <a:r>
              <a:rPr lang="en-US" dirty="0" smtClean="0">
                <a:solidFill>
                  <a:srgbClr val="0070C0"/>
                </a:solidFill>
              </a:rPr>
              <a:t>is onto or not.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 smtClean="0">
                <a:solidFill>
                  <a:srgbClr val="0070C0"/>
                </a:solidFill>
              </a:rPr>
              <a:t>Determine whether the function </a:t>
            </a:r>
            <a:r>
              <a:rPr lang="en-US" i="1" dirty="0" smtClean="0">
                <a:solidFill>
                  <a:srgbClr val="0070C0"/>
                </a:solidFill>
              </a:rPr>
              <a:t>f(x) = x</a:t>
            </a:r>
            <a:r>
              <a:rPr lang="en-US" i="1" baseline="30000" dirty="0" smtClean="0">
                <a:solidFill>
                  <a:srgbClr val="0070C0"/>
                </a:solidFill>
              </a:rPr>
              <a:t>2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dirty="0" smtClean="0">
                <a:solidFill>
                  <a:srgbClr val="0070C0"/>
                </a:solidFill>
              </a:rPr>
              <a:t>from the set of integers to the set of integers is </a:t>
            </a:r>
            <a:r>
              <a:rPr lang="en-US" dirty="0">
                <a:solidFill>
                  <a:srgbClr val="0070C0"/>
                </a:solidFill>
              </a:rPr>
              <a:t>onto</a:t>
            </a:r>
            <a:r>
              <a:rPr lang="en-US" dirty="0" smtClean="0">
                <a:solidFill>
                  <a:srgbClr val="0070C0"/>
                </a:solidFill>
              </a:rPr>
              <a:t>?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Determine whether the function </a:t>
            </a:r>
            <a:r>
              <a:rPr lang="en-US" i="1" dirty="0">
                <a:solidFill>
                  <a:srgbClr val="0070C0"/>
                </a:solidFill>
              </a:rPr>
              <a:t>f(x) = </a:t>
            </a:r>
            <a:r>
              <a:rPr lang="en-US" i="1" dirty="0" smtClean="0">
                <a:solidFill>
                  <a:srgbClr val="0070C0"/>
                </a:solidFill>
              </a:rPr>
              <a:t>x+1 </a:t>
            </a:r>
            <a:r>
              <a:rPr lang="en-US" dirty="0">
                <a:solidFill>
                  <a:srgbClr val="0070C0"/>
                </a:solidFill>
              </a:rPr>
              <a:t>from the set of integers to the set of integers is onto</a:t>
            </a:r>
            <a:r>
              <a:rPr lang="en-US" dirty="0" smtClean="0">
                <a:solidFill>
                  <a:srgbClr val="0070C0"/>
                </a:solidFill>
              </a:rPr>
              <a:t>?</a:t>
            </a:r>
            <a:endParaRPr lang="en-US" dirty="0">
              <a:solidFill>
                <a:srgbClr val="0070C0"/>
              </a:solidFill>
            </a:endParaRPr>
          </a:p>
          <a:p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3"/>
            <a:ext cx="12192000" cy="122872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smtClean="0">
                <a:solidFill>
                  <a:schemeClr val="bg1"/>
                </a:solidFill>
                <a:latin typeface="Rockwell" panose="02060603020205020403" pitchFamily="18" charset="0"/>
              </a:rPr>
              <a:t>Onto functions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78949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06286" y="1395415"/>
            <a:ext cx="9568543" cy="985836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dirty="0" smtClean="0"/>
              <a:t>Are the following functions onto, one-to-one, both, or neither?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752600" y="2133595"/>
            <a:ext cx="2044700" cy="1628775"/>
            <a:chOff x="864" y="1776"/>
            <a:chExt cx="1288" cy="1026"/>
          </a:xfrm>
        </p:grpSpPr>
        <p:grpSp>
          <p:nvGrpSpPr>
            <p:cNvPr id="48203" name="Group 5"/>
            <p:cNvGrpSpPr>
              <a:grpSpLocks/>
            </p:cNvGrpSpPr>
            <p:nvPr/>
          </p:nvGrpSpPr>
          <p:grpSpPr bwMode="auto">
            <a:xfrm>
              <a:off x="1848" y="1920"/>
              <a:ext cx="96" cy="816"/>
              <a:chOff x="1848" y="1920"/>
              <a:chExt cx="96" cy="816"/>
            </a:xfrm>
          </p:grpSpPr>
          <p:sp>
            <p:nvSpPr>
              <p:cNvPr id="48213" name="Oval 6"/>
              <p:cNvSpPr>
                <a:spLocks noChangeArrowheads="1"/>
              </p:cNvSpPr>
              <p:nvPr/>
            </p:nvSpPr>
            <p:spPr bwMode="auto">
              <a:xfrm>
                <a:off x="1848" y="19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8214" name="Oval 7"/>
              <p:cNvSpPr>
                <a:spLocks noChangeArrowheads="1"/>
              </p:cNvSpPr>
              <p:nvPr/>
            </p:nvSpPr>
            <p:spPr bwMode="auto">
              <a:xfrm>
                <a:off x="1848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8215" name="Oval 8"/>
              <p:cNvSpPr>
                <a:spLocks noChangeArrowheads="1"/>
              </p:cNvSpPr>
              <p:nvPr/>
            </p:nvSpPr>
            <p:spPr bwMode="auto">
              <a:xfrm>
                <a:off x="1848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8216" name="Oval 9"/>
              <p:cNvSpPr>
                <a:spLocks noChangeArrowheads="1"/>
              </p:cNvSpPr>
              <p:nvPr/>
            </p:nvSpPr>
            <p:spPr bwMode="auto">
              <a:xfrm>
                <a:off x="1848" y="264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</p:grpSp>
        <p:sp>
          <p:nvSpPr>
            <p:cNvPr id="48204" name="Text Box 10"/>
            <p:cNvSpPr txBox="1">
              <a:spLocks noChangeArrowheads="1"/>
            </p:cNvSpPr>
            <p:nvPr/>
          </p:nvSpPr>
          <p:spPr bwMode="auto">
            <a:xfrm>
              <a:off x="1956" y="1776"/>
              <a:ext cx="196" cy="1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1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2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3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4</a:t>
              </a:r>
            </a:p>
          </p:txBody>
        </p:sp>
        <p:sp>
          <p:nvSpPr>
            <p:cNvPr id="48205" name="Text Box 11"/>
            <p:cNvSpPr txBox="1">
              <a:spLocks noChangeArrowheads="1"/>
            </p:cNvSpPr>
            <p:nvPr/>
          </p:nvSpPr>
          <p:spPr bwMode="auto">
            <a:xfrm>
              <a:off x="864" y="1776"/>
              <a:ext cx="196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a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b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c</a:t>
              </a:r>
            </a:p>
          </p:txBody>
        </p:sp>
        <p:sp>
          <p:nvSpPr>
            <p:cNvPr id="48206" name="Line 12"/>
            <p:cNvSpPr>
              <a:spLocks noChangeShapeType="1"/>
            </p:cNvSpPr>
            <p:nvPr/>
          </p:nvSpPr>
          <p:spPr bwMode="auto">
            <a:xfrm>
              <a:off x="1152" y="2208"/>
              <a:ext cx="696" cy="4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207" name="Line 13"/>
            <p:cNvSpPr>
              <a:spLocks noChangeShapeType="1"/>
            </p:cNvSpPr>
            <p:nvPr/>
          </p:nvSpPr>
          <p:spPr bwMode="auto">
            <a:xfrm>
              <a:off x="1152" y="1968"/>
              <a:ext cx="696" cy="4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208" name="Line 14"/>
            <p:cNvSpPr>
              <a:spLocks noChangeShapeType="1"/>
            </p:cNvSpPr>
            <p:nvPr/>
          </p:nvSpPr>
          <p:spPr bwMode="auto">
            <a:xfrm flipV="1">
              <a:off x="1152" y="1968"/>
              <a:ext cx="672" cy="4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8209" name="Group 15"/>
            <p:cNvGrpSpPr>
              <a:grpSpLocks/>
            </p:cNvGrpSpPr>
            <p:nvPr/>
          </p:nvGrpSpPr>
          <p:grpSpPr bwMode="auto">
            <a:xfrm>
              <a:off x="1084" y="1920"/>
              <a:ext cx="96" cy="576"/>
              <a:chOff x="1084" y="1920"/>
              <a:chExt cx="96" cy="576"/>
            </a:xfrm>
          </p:grpSpPr>
          <p:sp>
            <p:nvSpPr>
              <p:cNvPr id="48210" name="Oval 16"/>
              <p:cNvSpPr>
                <a:spLocks noChangeArrowheads="1"/>
              </p:cNvSpPr>
              <p:nvPr/>
            </p:nvSpPr>
            <p:spPr bwMode="auto">
              <a:xfrm>
                <a:off x="1084" y="19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8211" name="Oval 17"/>
              <p:cNvSpPr>
                <a:spLocks noChangeArrowheads="1"/>
              </p:cNvSpPr>
              <p:nvPr/>
            </p:nvSpPr>
            <p:spPr bwMode="auto">
              <a:xfrm>
                <a:off x="1084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8212" name="Oval 18"/>
              <p:cNvSpPr>
                <a:spLocks noChangeArrowheads="1"/>
              </p:cNvSpPr>
              <p:nvPr/>
            </p:nvSpPr>
            <p:spPr bwMode="auto">
              <a:xfrm>
                <a:off x="1084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</p:grpSp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1752600" y="4419595"/>
            <a:ext cx="2044700" cy="1628775"/>
            <a:chOff x="1680" y="1872"/>
            <a:chExt cx="1288" cy="1026"/>
          </a:xfrm>
        </p:grpSpPr>
        <p:sp>
          <p:nvSpPr>
            <p:cNvPr id="48189" name="Oval 20"/>
            <p:cNvSpPr>
              <a:spLocks noChangeArrowheads="1"/>
            </p:cNvSpPr>
            <p:nvPr/>
          </p:nvSpPr>
          <p:spPr bwMode="auto">
            <a:xfrm>
              <a:off x="2664" y="2016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8190" name="Oval 21"/>
            <p:cNvSpPr>
              <a:spLocks noChangeArrowheads="1"/>
            </p:cNvSpPr>
            <p:nvPr/>
          </p:nvSpPr>
          <p:spPr bwMode="auto">
            <a:xfrm>
              <a:off x="2664" y="2256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8191" name="Oval 22"/>
            <p:cNvSpPr>
              <a:spLocks noChangeArrowheads="1"/>
            </p:cNvSpPr>
            <p:nvPr/>
          </p:nvSpPr>
          <p:spPr bwMode="auto">
            <a:xfrm>
              <a:off x="2664" y="2496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8192" name="Text Box 23"/>
            <p:cNvSpPr txBox="1">
              <a:spLocks noChangeArrowheads="1"/>
            </p:cNvSpPr>
            <p:nvPr/>
          </p:nvSpPr>
          <p:spPr bwMode="auto">
            <a:xfrm>
              <a:off x="2772" y="1872"/>
              <a:ext cx="196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1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2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3</a:t>
              </a:r>
            </a:p>
          </p:txBody>
        </p:sp>
        <p:sp>
          <p:nvSpPr>
            <p:cNvPr id="48193" name="Text Box 24"/>
            <p:cNvSpPr txBox="1">
              <a:spLocks noChangeArrowheads="1"/>
            </p:cNvSpPr>
            <p:nvPr/>
          </p:nvSpPr>
          <p:spPr bwMode="auto">
            <a:xfrm>
              <a:off x="1680" y="1872"/>
              <a:ext cx="196" cy="1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en-US" dirty="0"/>
                <a:t>a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 dirty="0"/>
                <a:t>b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 dirty="0"/>
                <a:t>c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 dirty="0"/>
                <a:t>d</a:t>
              </a:r>
            </a:p>
          </p:txBody>
        </p:sp>
        <p:sp>
          <p:nvSpPr>
            <p:cNvPr id="48194" name="Line 25"/>
            <p:cNvSpPr>
              <a:spLocks noChangeShapeType="1"/>
            </p:cNvSpPr>
            <p:nvPr/>
          </p:nvSpPr>
          <p:spPr bwMode="auto">
            <a:xfrm flipV="1">
              <a:off x="1968" y="2064"/>
              <a:ext cx="672" cy="24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95" name="Line 26"/>
            <p:cNvSpPr>
              <a:spLocks noChangeShapeType="1"/>
            </p:cNvSpPr>
            <p:nvPr/>
          </p:nvSpPr>
          <p:spPr bwMode="auto">
            <a:xfrm>
              <a:off x="1968" y="2064"/>
              <a:ext cx="720" cy="24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96" name="Line 27"/>
            <p:cNvSpPr>
              <a:spLocks noChangeShapeType="1"/>
            </p:cNvSpPr>
            <p:nvPr/>
          </p:nvSpPr>
          <p:spPr bwMode="auto">
            <a:xfrm flipV="1">
              <a:off x="1968" y="2544"/>
              <a:ext cx="67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97" name="Line 28"/>
            <p:cNvSpPr>
              <a:spLocks noChangeShapeType="1"/>
            </p:cNvSpPr>
            <p:nvPr/>
          </p:nvSpPr>
          <p:spPr bwMode="auto">
            <a:xfrm flipV="1">
              <a:off x="1968" y="2304"/>
              <a:ext cx="720" cy="4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8198" name="Group 29"/>
            <p:cNvGrpSpPr>
              <a:grpSpLocks/>
            </p:cNvGrpSpPr>
            <p:nvPr/>
          </p:nvGrpSpPr>
          <p:grpSpPr bwMode="auto">
            <a:xfrm>
              <a:off x="1920" y="2016"/>
              <a:ext cx="96" cy="816"/>
              <a:chOff x="1848" y="1920"/>
              <a:chExt cx="96" cy="816"/>
            </a:xfrm>
          </p:grpSpPr>
          <p:sp>
            <p:nvSpPr>
              <p:cNvPr id="48199" name="Oval 30"/>
              <p:cNvSpPr>
                <a:spLocks noChangeArrowheads="1"/>
              </p:cNvSpPr>
              <p:nvPr/>
            </p:nvSpPr>
            <p:spPr bwMode="auto">
              <a:xfrm>
                <a:off x="1848" y="19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8200" name="Oval 31"/>
              <p:cNvSpPr>
                <a:spLocks noChangeArrowheads="1"/>
              </p:cNvSpPr>
              <p:nvPr/>
            </p:nvSpPr>
            <p:spPr bwMode="auto">
              <a:xfrm>
                <a:off x="1848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8201" name="Oval 32"/>
              <p:cNvSpPr>
                <a:spLocks noChangeArrowheads="1"/>
              </p:cNvSpPr>
              <p:nvPr/>
            </p:nvSpPr>
            <p:spPr bwMode="auto">
              <a:xfrm>
                <a:off x="1848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8202" name="Oval 33"/>
              <p:cNvSpPr>
                <a:spLocks noChangeArrowheads="1"/>
              </p:cNvSpPr>
              <p:nvPr/>
            </p:nvSpPr>
            <p:spPr bwMode="auto">
              <a:xfrm>
                <a:off x="1848" y="264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</p:grpSp>
      </p:grpSp>
      <p:grpSp>
        <p:nvGrpSpPr>
          <p:cNvPr id="7" name="Group 34"/>
          <p:cNvGrpSpPr>
            <a:grpSpLocks/>
          </p:cNvGrpSpPr>
          <p:nvPr/>
        </p:nvGrpSpPr>
        <p:grpSpPr bwMode="auto">
          <a:xfrm>
            <a:off x="5105400" y="2209795"/>
            <a:ext cx="1987550" cy="1628775"/>
            <a:chOff x="3216" y="1920"/>
            <a:chExt cx="1252" cy="1026"/>
          </a:xfrm>
        </p:grpSpPr>
        <p:sp>
          <p:nvSpPr>
            <p:cNvPr id="48173" name="Text Box 35"/>
            <p:cNvSpPr txBox="1">
              <a:spLocks noChangeArrowheads="1"/>
            </p:cNvSpPr>
            <p:nvPr/>
          </p:nvSpPr>
          <p:spPr bwMode="auto">
            <a:xfrm>
              <a:off x="4272" y="1920"/>
              <a:ext cx="196" cy="1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1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2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3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4</a:t>
              </a:r>
            </a:p>
          </p:txBody>
        </p:sp>
        <p:sp>
          <p:nvSpPr>
            <p:cNvPr id="48174" name="Text Box 36"/>
            <p:cNvSpPr txBox="1">
              <a:spLocks noChangeArrowheads="1"/>
            </p:cNvSpPr>
            <p:nvPr/>
          </p:nvSpPr>
          <p:spPr bwMode="auto">
            <a:xfrm>
              <a:off x="3216" y="1920"/>
              <a:ext cx="196" cy="1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a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b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c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d</a:t>
              </a:r>
            </a:p>
          </p:txBody>
        </p:sp>
        <p:sp>
          <p:nvSpPr>
            <p:cNvPr id="48175" name="Line 37"/>
            <p:cNvSpPr>
              <a:spLocks noChangeShapeType="1"/>
            </p:cNvSpPr>
            <p:nvPr/>
          </p:nvSpPr>
          <p:spPr bwMode="auto">
            <a:xfrm flipV="1">
              <a:off x="3552" y="2592"/>
              <a:ext cx="624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76" name="Line 38"/>
            <p:cNvSpPr>
              <a:spLocks noChangeShapeType="1"/>
            </p:cNvSpPr>
            <p:nvPr/>
          </p:nvSpPr>
          <p:spPr bwMode="auto">
            <a:xfrm>
              <a:off x="3504" y="2112"/>
              <a:ext cx="672" cy="67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77" name="Line 39"/>
            <p:cNvSpPr>
              <a:spLocks noChangeShapeType="1"/>
            </p:cNvSpPr>
            <p:nvPr/>
          </p:nvSpPr>
          <p:spPr bwMode="auto">
            <a:xfrm flipV="1">
              <a:off x="3552" y="2352"/>
              <a:ext cx="624" cy="4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78" name="Line 40"/>
            <p:cNvSpPr>
              <a:spLocks noChangeShapeType="1"/>
            </p:cNvSpPr>
            <p:nvPr/>
          </p:nvSpPr>
          <p:spPr bwMode="auto">
            <a:xfrm flipV="1">
              <a:off x="3552" y="2112"/>
              <a:ext cx="624" cy="24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8179" name="Group 41"/>
            <p:cNvGrpSpPr>
              <a:grpSpLocks/>
            </p:cNvGrpSpPr>
            <p:nvPr/>
          </p:nvGrpSpPr>
          <p:grpSpPr bwMode="auto">
            <a:xfrm>
              <a:off x="3456" y="2064"/>
              <a:ext cx="96" cy="816"/>
              <a:chOff x="1848" y="1920"/>
              <a:chExt cx="96" cy="816"/>
            </a:xfrm>
          </p:grpSpPr>
          <p:sp>
            <p:nvSpPr>
              <p:cNvPr id="48185" name="Oval 42"/>
              <p:cNvSpPr>
                <a:spLocks noChangeArrowheads="1"/>
              </p:cNvSpPr>
              <p:nvPr/>
            </p:nvSpPr>
            <p:spPr bwMode="auto">
              <a:xfrm>
                <a:off x="1848" y="19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8186" name="Oval 43"/>
              <p:cNvSpPr>
                <a:spLocks noChangeArrowheads="1"/>
              </p:cNvSpPr>
              <p:nvPr/>
            </p:nvSpPr>
            <p:spPr bwMode="auto">
              <a:xfrm>
                <a:off x="1848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8187" name="Oval 44"/>
              <p:cNvSpPr>
                <a:spLocks noChangeArrowheads="1"/>
              </p:cNvSpPr>
              <p:nvPr/>
            </p:nvSpPr>
            <p:spPr bwMode="auto">
              <a:xfrm>
                <a:off x="1848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8188" name="Oval 45"/>
              <p:cNvSpPr>
                <a:spLocks noChangeArrowheads="1"/>
              </p:cNvSpPr>
              <p:nvPr/>
            </p:nvSpPr>
            <p:spPr bwMode="auto">
              <a:xfrm>
                <a:off x="1848" y="264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</p:grpSp>
        <p:grpSp>
          <p:nvGrpSpPr>
            <p:cNvPr id="48180" name="Group 46"/>
            <p:cNvGrpSpPr>
              <a:grpSpLocks/>
            </p:cNvGrpSpPr>
            <p:nvPr/>
          </p:nvGrpSpPr>
          <p:grpSpPr bwMode="auto">
            <a:xfrm>
              <a:off x="4176" y="2064"/>
              <a:ext cx="96" cy="816"/>
              <a:chOff x="1848" y="1920"/>
              <a:chExt cx="96" cy="816"/>
            </a:xfrm>
          </p:grpSpPr>
          <p:sp>
            <p:nvSpPr>
              <p:cNvPr id="48181" name="Oval 47"/>
              <p:cNvSpPr>
                <a:spLocks noChangeArrowheads="1"/>
              </p:cNvSpPr>
              <p:nvPr/>
            </p:nvSpPr>
            <p:spPr bwMode="auto">
              <a:xfrm>
                <a:off x="1848" y="19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8182" name="Oval 48"/>
              <p:cNvSpPr>
                <a:spLocks noChangeArrowheads="1"/>
              </p:cNvSpPr>
              <p:nvPr/>
            </p:nvSpPr>
            <p:spPr bwMode="auto">
              <a:xfrm>
                <a:off x="1848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8183" name="Oval 49"/>
              <p:cNvSpPr>
                <a:spLocks noChangeArrowheads="1"/>
              </p:cNvSpPr>
              <p:nvPr/>
            </p:nvSpPr>
            <p:spPr bwMode="auto">
              <a:xfrm>
                <a:off x="1848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8184" name="Oval 50"/>
              <p:cNvSpPr>
                <a:spLocks noChangeArrowheads="1"/>
              </p:cNvSpPr>
              <p:nvPr/>
            </p:nvSpPr>
            <p:spPr bwMode="auto">
              <a:xfrm>
                <a:off x="1848" y="264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</p:grpSp>
      </p:grpSp>
      <p:grpSp>
        <p:nvGrpSpPr>
          <p:cNvPr id="10" name="Group 51"/>
          <p:cNvGrpSpPr>
            <a:grpSpLocks/>
          </p:cNvGrpSpPr>
          <p:nvPr/>
        </p:nvGrpSpPr>
        <p:grpSpPr bwMode="auto">
          <a:xfrm>
            <a:off x="5181600" y="4419595"/>
            <a:ext cx="1987550" cy="1628775"/>
            <a:chOff x="3840" y="1920"/>
            <a:chExt cx="1252" cy="1026"/>
          </a:xfrm>
        </p:grpSpPr>
        <p:sp>
          <p:nvSpPr>
            <p:cNvPr id="48157" name="Text Box 52"/>
            <p:cNvSpPr txBox="1">
              <a:spLocks noChangeArrowheads="1"/>
            </p:cNvSpPr>
            <p:nvPr/>
          </p:nvSpPr>
          <p:spPr bwMode="auto">
            <a:xfrm>
              <a:off x="4896" y="1920"/>
              <a:ext cx="196" cy="1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1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2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3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4</a:t>
              </a:r>
            </a:p>
          </p:txBody>
        </p:sp>
        <p:sp>
          <p:nvSpPr>
            <p:cNvPr id="48158" name="Text Box 53"/>
            <p:cNvSpPr txBox="1">
              <a:spLocks noChangeArrowheads="1"/>
            </p:cNvSpPr>
            <p:nvPr/>
          </p:nvSpPr>
          <p:spPr bwMode="auto">
            <a:xfrm>
              <a:off x="3840" y="1920"/>
              <a:ext cx="196" cy="1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a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b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c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d</a:t>
              </a:r>
            </a:p>
          </p:txBody>
        </p:sp>
        <p:sp>
          <p:nvSpPr>
            <p:cNvPr id="48159" name="Line 54"/>
            <p:cNvSpPr>
              <a:spLocks noChangeShapeType="1"/>
            </p:cNvSpPr>
            <p:nvPr/>
          </p:nvSpPr>
          <p:spPr bwMode="auto">
            <a:xfrm flipV="1">
              <a:off x="4176" y="2352"/>
              <a:ext cx="624" cy="24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60" name="Line 55"/>
            <p:cNvSpPr>
              <a:spLocks noChangeShapeType="1"/>
            </p:cNvSpPr>
            <p:nvPr/>
          </p:nvSpPr>
          <p:spPr bwMode="auto">
            <a:xfrm>
              <a:off x="4128" y="2112"/>
              <a:ext cx="672" cy="24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61" name="Line 56"/>
            <p:cNvSpPr>
              <a:spLocks noChangeShapeType="1"/>
            </p:cNvSpPr>
            <p:nvPr/>
          </p:nvSpPr>
          <p:spPr bwMode="auto">
            <a:xfrm flipV="1">
              <a:off x="4176" y="2592"/>
              <a:ext cx="624" cy="24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62" name="Line 57"/>
            <p:cNvSpPr>
              <a:spLocks noChangeShapeType="1"/>
            </p:cNvSpPr>
            <p:nvPr/>
          </p:nvSpPr>
          <p:spPr bwMode="auto">
            <a:xfrm flipV="1">
              <a:off x="4176" y="2112"/>
              <a:ext cx="624" cy="24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8163" name="Group 58"/>
            <p:cNvGrpSpPr>
              <a:grpSpLocks/>
            </p:cNvGrpSpPr>
            <p:nvPr/>
          </p:nvGrpSpPr>
          <p:grpSpPr bwMode="auto">
            <a:xfrm>
              <a:off x="4080" y="2064"/>
              <a:ext cx="96" cy="816"/>
              <a:chOff x="1848" y="1920"/>
              <a:chExt cx="96" cy="816"/>
            </a:xfrm>
          </p:grpSpPr>
          <p:sp>
            <p:nvSpPr>
              <p:cNvPr id="48169" name="Oval 59"/>
              <p:cNvSpPr>
                <a:spLocks noChangeArrowheads="1"/>
              </p:cNvSpPr>
              <p:nvPr/>
            </p:nvSpPr>
            <p:spPr bwMode="auto">
              <a:xfrm>
                <a:off x="1848" y="19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8170" name="Oval 60"/>
              <p:cNvSpPr>
                <a:spLocks noChangeArrowheads="1"/>
              </p:cNvSpPr>
              <p:nvPr/>
            </p:nvSpPr>
            <p:spPr bwMode="auto">
              <a:xfrm>
                <a:off x="1848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8171" name="Oval 61"/>
              <p:cNvSpPr>
                <a:spLocks noChangeArrowheads="1"/>
              </p:cNvSpPr>
              <p:nvPr/>
            </p:nvSpPr>
            <p:spPr bwMode="auto">
              <a:xfrm>
                <a:off x="1848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8172" name="Oval 62"/>
              <p:cNvSpPr>
                <a:spLocks noChangeArrowheads="1"/>
              </p:cNvSpPr>
              <p:nvPr/>
            </p:nvSpPr>
            <p:spPr bwMode="auto">
              <a:xfrm>
                <a:off x="1848" y="264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</p:grpSp>
        <p:grpSp>
          <p:nvGrpSpPr>
            <p:cNvPr id="48164" name="Group 63"/>
            <p:cNvGrpSpPr>
              <a:grpSpLocks/>
            </p:cNvGrpSpPr>
            <p:nvPr/>
          </p:nvGrpSpPr>
          <p:grpSpPr bwMode="auto">
            <a:xfrm>
              <a:off x="4800" y="2064"/>
              <a:ext cx="96" cy="816"/>
              <a:chOff x="1848" y="1920"/>
              <a:chExt cx="96" cy="816"/>
            </a:xfrm>
          </p:grpSpPr>
          <p:sp>
            <p:nvSpPr>
              <p:cNvPr id="48165" name="Oval 64"/>
              <p:cNvSpPr>
                <a:spLocks noChangeArrowheads="1"/>
              </p:cNvSpPr>
              <p:nvPr/>
            </p:nvSpPr>
            <p:spPr bwMode="auto">
              <a:xfrm>
                <a:off x="1848" y="19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8166" name="Oval 65"/>
              <p:cNvSpPr>
                <a:spLocks noChangeArrowheads="1"/>
              </p:cNvSpPr>
              <p:nvPr/>
            </p:nvSpPr>
            <p:spPr bwMode="auto">
              <a:xfrm>
                <a:off x="1848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8167" name="Oval 66"/>
              <p:cNvSpPr>
                <a:spLocks noChangeArrowheads="1"/>
              </p:cNvSpPr>
              <p:nvPr/>
            </p:nvSpPr>
            <p:spPr bwMode="auto">
              <a:xfrm>
                <a:off x="1848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8168" name="Oval 67"/>
              <p:cNvSpPr>
                <a:spLocks noChangeArrowheads="1"/>
              </p:cNvSpPr>
              <p:nvPr/>
            </p:nvSpPr>
            <p:spPr bwMode="auto">
              <a:xfrm>
                <a:off x="1848" y="264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</p:grpSp>
      </p:grpSp>
      <p:grpSp>
        <p:nvGrpSpPr>
          <p:cNvPr id="13" name="Group 68"/>
          <p:cNvGrpSpPr>
            <a:grpSpLocks/>
          </p:cNvGrpSpPr>
          <p:nvPr/>
        </p:nvGrpSpPr>
        <p:grpSpPr bwMode="auto">
          <a:xfrm>
            <a:off x="8153400" y="2362195"/>
            <a:ext cx="2044700" cy="1628775"/>
            <a:chOff x="2256" y="3024"/>
            <a:chExt cx="1288" cy="1026"/>
          </a:xfrm>
        </p:grpSpPr>
        <p:grpSp>
          <p:nvGrpSpPr>
            <p:cNvPr id="48142" name="Group 69"/>
            <p:cNvGrpSpPr>
              <a:grpSpLocks/>
            </p:cNvGrpSpPr>
            <p:nvPr/>
          </p:nvGrpSpPr>
          <p:grpSpPr bwMode="auto">
            <a:xfrm>
              <a:off x="3240" y="3168"/>
              <a:ext cx="96" cy="816"/>
              <a:chOff x="1848" y="1920"/>
              <a:chExt cx="96" cy="816"/>
            </a:xfrm>
          </p:grpSpPr>
          <p:sp>
            <p:nvSpPr>
              <p:cNvPr id="48153" name="Oval 70"/>
              <p:cNvSpPr>
                <a:spLocks noChangeArrowheads="1"/>
              </p:cNvSpPr>
              <p:nvPr/>
            </p:nvSpPr>
            <p:spPr bwMode="auto">
              <a:xfrm>
                <a:off x="1848" y="19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8154" name="Oval 71"/>
              <p:cNvSpPr>
                <a:spLocks noChangeArrowheads="1"/>
              </p:cNvSpPr>
              <p:nvPr/>
            </p:nvSpPr>
            <p:spPr bwMode="auto">
              <a:xfrm>
                <a:off x="1848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8155" name="Oval 72"/>
              <p:cNvSpPr>
                <a:spLocks noChangeArrowheads="1"/>
              </p:cNvSpPr>
              <p:nvPr/>
            </p:nvSpPr>
            <p:spPr bwMode="auto">
              <a:xfrm>
                <a:off x="1848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8156" name="Oval 73"/>
              <p:cNvSpPr>
                <a:spLocks noChangeArrowheads="1"/>
              </p:cNvSpPr>
              <p:nvPr/>
            </p:nvSpPr>
            <p:spPr bwMode="auto">
              <a:xfrm>
                <a:off x="1848" y="264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</p:grpSp>
        <p:sp>
          <p:nvSpPr>
            <p:cNvPr id="48143" name="Text Box 74"/>
            <p:cNvSpPr txBox="1">
              <a:spLocks noChangeArrowheads="1"/>
            </p:cNvSpPr>
            <p:nvPr/>
          </p:nvSpPr>
          <p:spPr bwMode="auto">
            <a:xfrm>
              <a:off x="3348" y="3024"/>
              <a:ext cx="196" cy="1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1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2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3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4</a:t>
              </a:r>
            </a:p>
          </p:txBody>
        </p:sp>
        <p:sp>
          <p:nvSpPr>
            <p:cNvPr id="48144" name="Text Box 75"/>
            <p:cNvSpPr txBox="1">
              <a:spLocks noChangeArrowheads="1"/>
            </p:cNvSpPr>
            <p:nvPr/>
          </p:nvSpPr>
          <p:spPr bwMode="auto">
            <a:xfrm>
              <a:off x="2256" y="3024"/>
              <a:ext cx="196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a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b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c</a:t>
              </a:r>
            </a:p>
          </p:txBody>
        </p:sp>
        <p:sp>
          <p:nvSpPr>
            <p:cNvPr id="48145" name="Line 76"/>
            <p:cNvSpPr>
              <a:spLocks noChangeShapeType="1"/>
            </p:cNvSpPr>
            <p:nvPr/>
          </p:nvSpPr>
          <p:spPr bwMode="auto">
            <a:xfrm flipV="1">
              <a:off x="2544" y="3216"/>
              <a:ext cx="720" cy="24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46" name="Line 77"/>
            <p:cNvSpPr>
              <a:spLocks noChangeShapeType="1"/>
            </p:cNvSpPr>
            <p:nvPr/>
          </p:nvSpPr>
          <p:spPr bwMode="auto">
            <a:xfrm>
              <a:off x="2544" y="3216"/>
              <a:ext cx="720" cy="24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47" name="Line 78"/>
            <p:cNvSpPr>
              <a:spLocks noChangeShapeType="1"/>
            </p:cNvSpPr>
            <p:nvPr/>
          </p:nvSpPr>
          <p:spPr bwMode="auto">
            <a:xfrm flipV="1">
              <a:off x="2544" y="3696"/>
              <a:ext cx="67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8148" name="Group 79"/>
            <p:cNvGrpSpPr>
              <a:grpSpLocks/>
            </p:cNvGrpSpPr>
            <p:nvPr/>
          </p:nvGrpSpPr>
          <p:grpSpPr bwMode="auto">
            <a:xfrm>
              <a:off x="2476" y="3168"/>
              <a:ext cx="96" cy="576"/>
              <a:chOff x="1084" y="1920"/>
              <a:chExt cx="96" cy="576"/>
            </a:xfrm>
          </p:grpSpPr>
          <p:sp>
            <p:nvSpPr>
              <p:cNvPr id="48150" name="Oval 80"/>
              <p:cNvSpPr>
                <a:spLocks noChangeArrowheads="1"/>
              </p:cNvSpPr>
              <p:nvPr/>
            </p:nvSpPr>
            <p:spPr bwMode="auto">
              <a:xfrm>
                <a:off x="1084" y="19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8151" name="Oval 81"/>
              <p:cNvSpPr>
                <a:spLocks noChangeArrowheads="1"/>
              </p:cNvSpPr>
              <p:nvPr/>
            </p:nvSpPr>
            <p:spPr bwMode="auto">
              <a:xfrm>
                <a:off x="1084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8152" name="Oval 82"/>
              <p:cNvSpPr>
                <a:spLocks noChangeArrowheads="1"/>
              </p:cNvSpPr>
              <p:nvPr/>
            </p:nvSpPr>
            <p:spPr bwMode="auto">
              <a:xfrm>
                <a:off x="1084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</p:grpSp>
        <p:sp>
          <p:nvSpPr>
            <p:cNvPr id="48149" name="Line 83"/>
            <p:cNvSpPr>
              <a:spLocks noChangeShapeType="1"/>
            </p:cNvSpPr>
            <p:nvPr/>
          </p:nvSpPr>
          <p:spPr bwMode="auto">
            <a:xfrm>
              <a:off x="2544" y="3216"/>
              <a:ext cx="672" cy="72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47316" name="Text Box 84"/>
          <p:cNvSpPr txBox="1">
            <a:spLocks noChangeArrowheads="1"/>
          </p:cNvSpPr>
          <p:nvPr/>
        </p:nvSpPr>
        <p:spPr bwMode="auto">
          <a:xfrm>
            <a:off x="1905000" y="3809995"/>
            <a:ext cx="1735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/>
              <a:t>1-to-1, not onto</a:t>
            </a:r>
          </a:p>
        </p:txBody>
      </p:sp>
      <p:sp>
        <p:nvSpPr>
          <p:cNvPr id="1247317" name="Text Box 85"/>
          <p:cNvSpPr txBox="1">
            <a:spLocks noChangeArrowheads="1"/>
          </p:cNvSpPr>
          <p:nvPr/>
        </p:nvSpPr>
        <p:spPr bwMode="auto">
          <a:xfrm>
            <a:off x="1905000" y="6019795"/>
            <a:ext cx="17859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 dirty="0"/>
              <a:t>Onto, not 1-to-1</a:t>
            </a:r>
          </a:p>
        </p:txBody>
      </p:sp>
      <p:sp>
        <p:nvSpPr>
          <p:cNvPr id="1247318" name="Text Box 86"/>
          <p:cNvSpPr txBox="1">
            <a:spLocks noChangeArrowheads="1"/>
          </p:cNvSpPr>
          <p:nvPr/>
        </p:nvSpPr>
        <p:spPr bwMode="auto">
          <a:xfrm>
            <a:off x="4953000" y="3886195"/>
            <a:ext cx="22685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/>
              <a:t>Both 1-to-1 and onto</a:t>
            </a:r>
          </a:p>
        </p:txBody>
      </p:sp>
      <p:sp>
        <p:nvSpPr>
          <p:cNvPr id="1247319" name="Text Box 87"/>
          <p:cNvSpPr txBox="1">
            <a:spLocks noChangeArrowheads="1"/>
          </p:cNvSpPr>
          <p:nvPr/>
        </p:nvSpPr>
        <p:spPr bwMode="auto">
          <a:xfrm>
            <a:off x="8223250" y="3886195"/>
            <a:ext cx="21288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/>
              <a:t>Not a valid function</a:t>
            </a:r>
          </a:p>
        </p:txBody>
      </p:sp>
      <p:sp>
        <p:nvSpPr>
          <p:cNvPr id="1247320" name="Text Box 88"/>
          <p:cNvSpPr txBox="1">
            <a:spLocks noChangeArrowheads="1"/>
          </p:cNvSpPr>
          <p:nvPr/>
        </p:nvSpPr>
        <p:spPr bwMode="auto">
          <a:xfrm>
            <a:off x="4978400" y="6019795"/>
            <a:ext cx="24844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/>
              <a:t>Neither 1-to-1 nor onto</a:t>
            </a:r>
          </a:p>
        </p:txBody>
      </p:sp>
      <p:sp>
        <p:nvSpPr>
          <p:cNvPr id="89" name="Title 1"/>
          <p:cNvSpPr txBox="1">
            <a:spLocks/>
          </p:cNvSpPr>
          <p:nvPr/>
        </p:nvSpPr>
        <p:spPr>
          <a:xfrm>
            <a:off x="0" y="3"/>
            <a:ext cx="12192000" cy="122872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smtClean="0">
                <a:solidFill>
                  <a:schemeClr val="bg1"/>
                </a:solidFill>
                <a:latin typeface="Rockwell" panose="02060603020205020403" pitchFamily="18" charset="0"/>
              </a:rPr>
              <a:t>Onto vs. one-to-one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24326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7316" grpId="0"/>
      <p:bldP spid="1247317" grpId="0"/>
      <p:bldP spid="1247318" grpId="0"/>
      <p:bldP spid="1247319" grpId="0"/>
      <p:bldP spid="12473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 err="1">
                <a:solidFill>
                  <a:schemeClr val="bg1"/>
                </a:solidFill>
                <a:latin typeface="Rockwell" panose="02060603020205020403" pitchFamily="18" charset="0"/>
              </a:rPr>
              <a:t>Bijections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966774" y="1479945"/>
            <a:ext cx="10653296" cy="587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dirty="0" smtClean="0">
                <a:latin typeface="+mj-lt"/>
              </a:rPr>
              <a:t>Definition		</a:t>
            </a:r>
            <a:endParaRPr lang="en-US" b="1" dirty="0">
              <a:latin typeface="+mj-lt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976728" y="2143942"/>
            <a:ext cx="10653296" cy="9993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A function </a:t>
            </a:r>
            <a:r>
              <a:rPr lang="en-US" dirty="0"/>
              <a:t>that </a:t>
            </a:r>
            <a:r>
              <a:rPr lang="en-US" dirty="0" smtClean="0"/>
              <a:t>is both </a:t>
            </a:r>
            <a:r>
              <a:rPr lang="en-US" dirty="0"/>
              <a:t>one-to-one and </a:t>
            </a:r>
            <a:r>
              <a:rPr lang="en-US" dirty="0" smtClean="0"/>
              <a:t>onto Such </a:t>
            </a:r>
            <a:r>
              <a:rPr lang="en-US" dirty="0"/>
              <a:t>a function is a one-to-one correspondence, or a </a:t>
            </a:r>
            <a:r>
              <a:rPr lang="en-US" dirty="0" err="1" smtClean="0"/>
              <a:t>bijection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76728" y="4135835"/>
            <a:ext cx="7767222" cy="7571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ym typeface="Symbol" panose="05050102010706020507" pitchFamily="18" charset="2"/>
              </a:rPr>
              <a:t>We only can find the inverse of a function if it is a </a:t>
            </a:r>
            <a:r>
              <a:rPr lang="en-US" sz="2400" dirty="0" err="1" smtClean="0">
                <a:sym typeface="Symbol" panose="05050102010706020507" pitchFamily="18" charset="2"/>
              </a:rPr>
              <a:t>bijection</a:t>
            </a:r>
            <a:r>
              <a:rPr lang="en-US" sz="2400" dirty="0" smtClean="0">
                <a:sym typeface="Symbol" panose="05050102010706020507" pitchFamily="18" charset="2"/>
              </a:rPr>
              <a:t> function.</a:t>
            </a:r>
            <a:endParaRPr lang="en-US" sz="2400" dirty="0">
              <a:sym typeface="Symbol" panose="05050102010706020507" pitchFamily="18" charset="2"/>
            </a:endParaRPr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9632520" y="3681863"/>
            <a:ext cx="1987550" cy="1628775"/>
            <a:chOff x="3216" y="1920"/>
            <a:chExt cx="1252" cy="1026"/>
          </a:xfrm>
        </p:grpSpPr>
        <p:sp>
          <p:nvSpPr>
            <p:cNvPr id="10" name="Text Box 5"/>
            <p:cNvSpPr txBox="1">
              <a:spLocks noChangeArrowheads="1"/>
            </p:cNvSpPr>
            <p:nvPr/>
          </p:nvSpPr>
          <p:spPr bwMode="auto">
            <a:xfrm>
              <a:off x="4272" y="1920"/>
              <a:ext cx="196" cy="1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1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2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3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4</a:t>
              </a:r>
            </a:p>
          </p:txBody>
        </p:sp>
        <p:sp>
          <p:nvSpPr>
            <p:cNvPr id="12" name="Text Box 6"/>
            <p:cNvSpPr txBox="1">
              <a:spLocks noChangeArrowheads="1"/>
            </p:cNvSpPr>
            <p:nvPr/>
          </p:nvSpPr>
          <p:spPr bwMode="auto">
            <a:xfrm>
              <a:off x="3216" y="1920"/>
              <a:ext cx="196" cy="1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en-US" dirty="0"/>
                <a:t>a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 dirty="0"/>
                <a:t>b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 dirty="0"/>
                <a:t>c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 dirty="0"/>
                <a:t>d</a:t>
              </a:r>
            </a:p>
          </p:txBody>
        </p:sp>
        <p:sp>
          <p:nvSpPr>
            <p:cNvPr id="13" name="Line 7"/>
            <p:cNvSpPr>
              <a:spLocks noChangeShapeType="1"/>
            </p:cNvSpPr>
            <p:nvPr/>
          </p:nvSpPr>
          <p:spPr bwMode="auto">
            <a:xfrm flipV="1">
              <a:off x="3552" y="2592"/>
              <a:ext cx="624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8"/>
            <p:cNvSpPr>
              <a:spLocks noChangeShapeType="1"/>
            </p:cNvSpPr>
            <p:nvPr/>
          </p:nvSpPr>
          <p:spPr bwMode="auto">
            <a:xfrm>
              <a:off x="3504" y="2112"/>
              <a:ext cx="672" cy="67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9"/>
            <p:cNvSpPr>
              <a:spLocks noChangeShapeType="1"/>
            </p:cNvSpPr>
            <p:nvPr/>
          </p:nvSpPr>
          <p:spPr bwMode="auto">
            <a:xfrm flipV="1">
              <a:off x="3552" y="2352"/>
              <a:ext cx="624" cy="4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10"/>
            <p:cNvSpPr>
              <a:spLocks noChangeShapeType="1"/>
            </p:cNvSpPr>
            <p:nvPr/>
          </p:nvSpPr>
          <p:spPr bwMode="auto">
            <a:xfrm flipV="1">
              <a:off x="3552" y="2112"/>
              <a:ext cx="624" cy="24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7" name="Group 11"/>
            <p:cNvGrpSpPr>
              <a:grpSpLocks/>
            </p:cNvGrpSpPr>
            <p:nvPr/>
          </p:nvGrpSpPr>
          <p:grpSpPr bwMode="auto">
            <a:xfrm>
              <a:off x="3456" y="2064"/>
              <a:ext cx="96" cy="816"/>
              <a:chOff x="1848" y="1920"/>
              <a:chExt cx="96" cy="816"/>
            </a:xfrm>
          </p:grpSpPr>
          <p:sp>
            <p:nvSpPr>
              <p:cNvPr id="23" name="Oval 12"/>
              <p:cNvSpPr>
                <a:spLocks noChangeArrowheads="1"/>
              </p:cNvSpPr>
              <p:nvPr/>
            </p:nvSpPr>
            <p:spPr bwMode="auto">
              <a:xfrm>
                <a:off x="1848" y="19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24" name="Oval 13"/>
              <p:cNvSpPr>
                <a:spLocks noChangeArrowheads="1"/>
              </p:cNvSpPr>
              <p:nvPr/>
            </p:nvSpPr>
            <p:spPr bwMode="auto">
              <a:xfrm>
                <a:off x="1848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25" name="Oval 14"/>
              <p:cNvSpPr>
                <a:spLocks noChangeArrowheads="1"/>
              </p:cNvSpPr>
              <p:nvPr/>
            </p:nvSpPr>
            <p:spPr bwMode="auto">
              <a:xfrm>
                <a:off x="1848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26" name="Oval 15"/>
              <p:cNvSpPr>
                <a:spLocks noChangeArrowheads="1"/>
              </p:cNvSpPr>
              <p:nvPr/>
            </p:nvSpPr>
            <p:spPr bwMode="auto">
              <a:xfrm>
                <a:off x="1848" y="264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</p:grpSp>
        <p:grpSp>
          <p:nvGrpSpPr>
            <p:cNvPr id="18" name="Group 16"/>
            <p:cNvGrpSpPr>
              <a:grpSpLocks/>
            </p:cNvGrpSpPr>
            <p:nvPr/>
          </p:nvGrpSpPr>
          <p:grpSpPr bwMode="auto">
            <a:xfrm>
              <a:off x="4176" y="2064"/>
              <a:ext cx="96" cy="816"/>
              <a:chOff x="1848" y="1920"/>
              <a:chExt cx="96" cy="816"/>
            </a:xfrm>
          </p:grpSpPr>
          <p:sp>
            <p:nvSpPr>
              <p:cNvPr id="19" name="Oval 17"/>
              <p:cNvSpPr>
                <a:spLocks noChangeArrowheads="1"/>
              </p:cNvSpPr>
              <p:nvPr/>
            </p:nvSpPr>
            <p:spPr bwMode="auto">
              <a:xfrm>
                <a:off x="1848" y="19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20" name="Oval 18"/>
              <p:cNvSpPr>
                <a:spLocks noChangeArrowheads="1"/>
              </p:cNvSpPr>
              <p:nvPr/>
            </p:nvSpPr>
            <p:spPr bwMode="auto">
              <a:xfrm>
                <a:off x="1848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21" name="Oval 19"/>
              <p:cNvSpPr>
                <a:spLocks noChangeArrowheads="1"/>
              </p:cNvSpPr>
              <p:nvPr/>
            </p:nvSpPr>
            <p:spPr bwMode="auto">
              <a:xfrm>
                <a:off x="1848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22" name="Oval 20"/>
              <p:cNvSpPr>
                <a:spLocks noChangeArrowheads="1"/>
              </p:cNvSpPr>
              <p:nvPr/>
            </p:nvSpPr>
            <p:spPr bwMode="auto">
              <a:xfrm>
                <a:off x="1848" y="264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</p:grpSp>
      </p:grpSp>
    </p:spTree>
    <p:extLst>
      <p:ext uri="{BB962C8B-B14F-4D97-AF65-F5344CB8AC3E}">
        <p14:creationId xmlns="" xmlns:p14="http://schemas.microsoft.com/office/powerpoint/2010/main" val="3959756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i="1" dirty="0" smtClean="0"/>
              <a:t>f </a:t>
            </a:r>
            <a:r>
              <a:rPr lang="en-US" dirty="0" smtClean="0"/>
              <a:t>be the function from </a:t>
            </a:r>
            <a:r>
              <a:rPr lang="en-US" i="1" dirty="0" smtClean="0"/>
              <a:t>{</a:t>
            </a:r>
            <a:r>
              <a:rPr lang="en-US" i="1" dirty="0" err="1" smtClean="0"/>
              <a:t>a,b,c,d</a:t>
            </a:r>
            <a:r>
              <a:rPr lang="en-US" i="1" dirty="0" smtClean="0"/>
              <a:t>} </a:t>
            </a:r>
            <a:r>
              <a:rPr lang="en-US" dirty="0" smtClean="0"/>
              <a:t>to </a:t>
            </a:r>
            <a:r>
              <a:rPr lang="en-US" i="1" dirty="0" smtClean="0"/>
              <a:t>{1,2,3,4} </a:t>
            </a:r>
            <a:r>
              <a:rPr lang="en-US" dirty="0" smtClean="0"/>
              <a:t>with </a:t>
            </a:r>
            <a:r>
              <a:rPr lang="en-US" i="1" dirty="0" smtClean="0"/>
              <a:t>f(a)=4, f(b)=</a:t>
            </a:r>
            <a:r>
              <a:rPr lang="en-US" i="1" dirty="0"/>
              <a:t>2</a:t>
            </a:r>
            <a:r>
              <a:rPr lang="en-US" i="1" dirty="0" smtClean="0"/>
              <a:t>, f(c)=1 and f(d)=3. </a:t>
            </a:r>
            <a:r>
              <a:rPr lang="en-US" dirty="0" smtClean="0"/>
              <a:t>Is </a:t>
            </a:r>
            <a:r>
              <a:rPr lang="en-US" i="1" dirty="0" smtClean="0"/>
              <a:t>f </a:t>
            </a:r>
            <a:r>
              <a:rPr lang="en-US" dirty="0" err="1" smtClean="0"/>
              <a:t>bijection</a:t>
            </a:r>
            <a:r>
              <a:rPr lang="en-US" dirty="0" smtClean="0"/>
              <a:t>?</a:t>
            </a:r>
            <a:endParaRPr lang="en-US" i="1" dirty="0" smtClean="0"/>
          </a:p>
          <a:p>
            <a:pPr eaLnBrk="1" hangingPunct="1"/>
            <a:endParaRPr lang="en-US" i="1" dirty="0" smtClean="0"/>
          </a:p>
        </p:txBody>
      </p:sp>
      <p:sp>
        <p:nvSpPr>
          <p:cNvPr id="21" name="Title 1"/>
          <p:cNvSpPr txBox="1">
            <a:spLocks/>
          </p:cNvSpPr>
          <p:nvPr/>
        </p:nvSpPr>
        <p:spPr>
          <a:xfrm>
            <a:off x="0" y="3"/>
            <a:ext cx="12192000" cy="122872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smtClean="0">
                <a:solidFill>
                  <a:schemeClr val="bg1"/>
                </a:solidFill>
                <a:latin typeface="Rockwell" panose="02060603020205020403" pitchFamily="18" charset="0"/>
              </a:rPr>
              <a:t>Bijections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15187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endParaRPr lang="en-US" b="1" dirty="0" smtClean="0"/>
          </a:p>
        </p:txBody>
      </p:sp>
      <p:sp>
        <p:nvSpPr>
          <p:cNvPr id="1251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6728" y="3108753"/>
            <a:ext cx="10515600" cy="3194823"/>
          </a:xfrm>
        </p:spPr>
        <p:txBody>
          <a:bodyPr/>
          <a:lstStyle/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f(x) = 1*x</a:t>
            </a:r>
          </a:p>
          <a:p>
            <a:pPr eaLnBrk="1" hangingPunct="1"/>
            <a:r>
              <a:rPr lang="en-US" dirty="0" smtClean="0"/>
              <a:t>f(x) = x + 0</a:t>
            </a: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The domain and the co-domain must be the same set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3"/>
            <a:ext cx="12192000" cy="122872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smtClean="0">
                <a:solidFill>
                  <a:schemeClr val="bg1"/>
                </a:solidFill>
                <a:latin typeface="Rockwell" panose="02060603020205020403" pitchFamily="18" charset="0"/>
              </a:rPr>
              <a:t>Identity functions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66774" y="1479945"/>
            <a:ext cx="10653296" cy="587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dirty="0" smtClean="0">
                <a:latin typeface="+mj-lt"/>
              </a:rPr>
              <a:t>Definition		</a:t>
            </a:r>
            <a:endParaRPr lang="en-US" b="1" dirty="0">
              <a:latin typeface="+mj-lt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976728" y="2143942"/>
            <a:ext cx="10653296" cy="72784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 function such that the image and the pre-image are ALWAYS equal</a:t>
            </a:r>
          </a:p>
        </p:txBody>
      </p:sp>
    </p:spTree>
    <p:extLst>
      <p:ext uri="{BB962C8B-B14F-4D97-AF65-F5344CB8AC3E}">
        <p14:creationId xmlns="" xmlns:p14="http://schemas.microsoft.com/office/powerpoint/2010/main" val="251891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dirty="0" smtClean="0"/>
              <a:t>Inverse functions</a:t>
            </a:r>
          </a:p>
        </p:txBody>
      </p:sp>
      <p:sp>
        <p:nvSpPr>
          <p:cNvPr id="51203" name="Oval 3"/>
          <p:cNvSpPr>
            <a:spLocks noChangeArrowheads="1"/>
          </p:cNvSpPr>
          <p:nvPr/>
        </p:nvSpPr>
        <p:spPr bwMode="auto">
          <a:xfrm>
            <a:off x="2667001" y="2590800"/>
            <a:ext cx="2970213" cy="29718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51204" name="Oval 4"/>
          <p:cNvSpPr>
            <a:spLocks noChangeArrowheads="1"/>
          </p:cNvSpPr>
          <p:nvPr/>
        </p:nvSpPr>
        <p:spPr bwMode="auto">
          <a:xfrm>
            <a:off x="6858001" y="2590800"/>
            <a:ext cx="2970213" cy="29718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51205" name="Text Box 5"/>
          <p:cNvSpPr txBox="1">
            <a:spLocks noChangeArrowheads="1"/>
          </p:cNvSpPr>
          <p:nvPr/>
        </p:nvSpPr>
        <p:spPr bwMode="auto">
          <a:xfrm>
            <a:off x="3962400" y="2209801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r>
              <a:rPr lang="en-US" b="1"/>
              <a:t>R</a:t>
            </a:r>
          </a:p>
        </p:txBody>
      </p:sp>
      <p:sp>
        <p:nvSpPr>
          <p:cNvPr id="51206" name="Text Box 6"/>
          <p:cNvSpPr txBox="1">
            <a:spLocks noChangeArrowheads="1"/>
          </p:cNvSpPr>
          <p:nvPr/>
        </p:nvSpPr>
        <p:spPr bwMode="auto">
          <a:xfrm>
            <a:off x="8153400" y="2209801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r>
              <a:rPr lang="en-US" b="1"/>
              <a:t>R</a:t>
            </a:r>
          </a:p>
        </p:txBody>
      </p:sp>
      <p:sp>
        <p:nvSpPr>
          <p:cNvPr id="1253383" name="Freeform 7"/>
          <p:cNvSpPr>
            <a:spLocks/>
          </p:cNvSpPr>
          <p:nvPr/>
        </p:nvSpPr>
        <p:spPr bwMode="auto">
          <a:xfrm>
            <a:off x="5181600" y="2578100"/>
            <a:ext cx="2133600" cy="393700"/>
          </a:xfrm>
          <a:custGeom>
            <a:avLst/>
            <a:gdLst>
              <a:gd name="T0" fmla="*/ 0 w 1440"/>
              <a:gd name="T1" fmla="*/ 2147483647 h 248"/>
              <a:gd name="T2" fmla="*/ 2147483647 w 1440"/>
              <a:gd name="T3" fmla="*/ 2147483647 h 248"/>
              <a:gd name="T4" fmla="*/ 2147483647 w 1440"/>
              <a:gd name="T5" fmla="*/ 2147483647 h 248"/>
              <a:gd name="T6" fmla="*/ 0 60000 65536"/>
              <a:gd name="T7" fmla="*/ 0 60000 65536"/>
              <a:gd name="T8" fmla="*/ 0 60000 65536"/>
              <a:gd name="T9" fmla="*/ 0 w 1440"/>
              <a:gd name="T10" fmla="*/ 0 h 248"/>
              <a:gd name="T11" fmla="*/ 1440 w 1440"/>
              <a:gd name="T12" fmla="*/ 248 h 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248">
                <a:moveTo>
                  <a:pt x="0" y="200"/>
                </a:moveTo>
                <a:cubicBezTo>
                  <a:pt x="216" y="100"/>
                  <a:pt x="432" y="0"/>
                  <a:pt x="672" y="8"/>
                </a:cubicBezTo>
                <a:cubicBezTo>
                  <a:pt x="912" y="16"/>
                  <a:pt x="1192" y="160"/>
                  <a:pt x="1440" y="248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53384" name="Text Box 8"/>
          <p:cNvSpPr txBox="1">
            <a:spLocks noChangeArrowheads="1"/>
          </p:cNvSpPr>
          <p:nvPr/>
        </p:nvSpPr>
        <p:spPr bwMode="auto">
          <a:xfrm>
            <a:off x="5895975" y="2170113"/>
            <a:ext cx="247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1253385" name="Oval 9"/>
          <p:cNvSpPr>
            <a:spLocks noChangeArrowheads="1"/>
          </p:cNvSpPr>
          <p:nvPr/>
        </p:nvSpPr>
        <p:spPr bwMode="auto">
          <a:xfrm>
            <a:off x="3962400" y="41910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53386" name="Oval 10"/>
          <p:cNvSpPr>
            <a:spLocks noChangeArrowheads="1"/>
          </p:cNvSpPr>
          <p:nvPr/>
        </p:nvSpPr>
        <p:spPr bwMode="auto">
          <a:xfrm>
            <a:off x="8153400" y="41910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53387" name="Text Box 11"/>
          <p:cNvSpPr txBox="1">
            <a:spLocks noChangeArrowheads="1"/>
          </p:cNvSpPr>
          <p:nvPr/>
        </p:nvSpPr>
        <p:spPr bwMode="auto">
          <a:xfrm>
            <a:off x="3733800" y="4343401"/>
            <a:ext cx="501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/>
              <a:t>4.3</a:t>
            </a:r>
          </a:p>
        </p:txBody>
      </p:sp>
      <p:sp>
        <p:nvSpPr>
          <p:cNvPr id="1253388" name="Text Box 12"/>
          <p:cNvSpPr txBox="1">
            <a:spLocks noChangeArrowheads="1"/>
          </p:cNvSpPr>
          <p:nvPr/>
        </p:nvSpPr>
        <p:spPr bwMode="auto">
          <a:xfrm>
            <a:off x="7978775" y="4303713"/>
            <a:ext cx="501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/>
              <a:t>8.6</a:t>
            </a:r>
          </a:p>
        </p:txBody>
      </p:sp>
      <p:sp>
        <p:nvSpPr>
          <p:cNvPr id="51213" name="Text Box 13"/>
          <p:cNvSpPr txBox="1">
            <a:spLocks noChangeArrowheads="1"/>
          </p:cNvSpPr>
          <p:nvPr/>
        </p:nvSpPr>
        <p:spPr bwMode="auto">
          <a:xfrm>
            <a:off x="5216525" y="1676401"/>
            <a:ext cx="1485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/>
              <a:t>Let f(x) = 2*x</a:t>
            </a:r>
            <a:endParaRPr lang="en-US" b="1"/>
          </a:p>
        </p:txBody>
      </p:sp>
      <p:sp>
        <p:nvSpPr>
          <p:cNvPr id="1253390" name="Freeform 14"/>
          <p:cNvSpPr>
            <a:spLocks/>
          </p:cNvSpPr>
          <p:nvPr/>
        </p:nvSpPr>
        <p:spPr bwMode="auto">
          <a:xfrm>
            <a:off x="4114800" y="3886200"/>
            <a:ext cx="4038600" cy="393700"/>
          </a:xfrm>
          <a:custGeom>
            <a:avLst/>
            <a:gdLst>
              <a:gd name="T0" fmla="*/ 0 w 1440"/>
              <a:gd name="T1" fmla="*/ 2147483647 h 248"/>
              <a:gd name="T2" fmla="*/ 2147483647 w 1440"/>
              <a:gd name="T3" fmla="*/ 2147483647 h 248"/>
              <a:gd name="T4" fmla="*/ 2147483647 w 1440"/>
              <a:gd name="T5" fmla="*/ 2147483647 h 248"/>
              <a:gd name="T6" fmla="*/ 0 60000 65536"/>
              <a:gd name="T7" fmla="*/ 0 60000 65536"/>
              <a:gd name="T8" fmla="*/ 0 60000 65536"/>
              <a:gd name="T9" fmla="*/ 0 w 1440"/>
              <a:gd name="T10" fmla="*/ 0 h 248"/>
              <a:gd name="T11" fmla="*/ 1440 w 1440"/>
              <a:gd name="T12" fmla="*/ 248 h 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248">
                <a:moveTo>
                  <a:pt x="0" y="200"/>
                </a:moveTo>
                <a:cubicBezTo>
                  <a:pt x="216" y="100"/>
                  <a:pt x="432" y="0"/>
                  <a:pt x="672" y="8"/>
                </a:cubicBezTo>
                <a:cubicBezTo>
                  <a:pt x="912" y="16"/>
                  <a:pt x="1192" y="160"/>
                  <a:pt x="1440" y="248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53391" name="Freeform 15"/>
          <p:cNvSpPr>
            <a:spLocks/>
          </p:cNvSpPr>
          <p:nvPr/>
        </p:nvSpPr>
        <p:spPr bwMode="auto">
          <a:xfrm rot="10632437">
            <a:off x="5181600" y="2971800"/>
            <a:ext cx="2057400" cy="393700"/>
          </a:xfrm>
          <a:custGeom>
            <a:avLst/>
            <a:gdLst>
              <a:gd name="T0" fmla="*/ 0 w 1440"/>
              <a:gd name="T1" fmla="*/ 2147483647 h 248"/>
              <a:gd name="T2" fmla="*/ 2147483647 w 1440"/>
              <a:gd name="T3" fmla="*/ 2147483647 h 248"/>
              <a:gd name="T4" fmla="*/ 2147483647 w 1440"/>
              <a:gd name="T5" fmla="*/ 2147483647 h 248"/>
              <a:gd name="T6" fmla="*/ 0 60000 65536"/>
              <a:gd name="T7" fmla="*/ 0 60000 65536"/>
              <a:gd name="T8" fmla="*/ 0 60000 65536"/>
              <a:gd name="T9" fmla="*/ 0 w 1440"/>
              <a:gd name="T10" fmla="*/ 0 h 248"/>
              <a:gd name="T11" fmla="*/ 1440 w 1440"/>
              <a:gd name="T12" fmla="*/ 248 h 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248">
                <a:moveTo>
                  <a:pt x="0" y="200"/>
                </a:moveTo>
                <a:cubicBezTo>
                  <a:pt x="216" y="100"/>
                  <a:pt x="432" y="0"/>
                  <a:pt x="672" y="8"/>
                </a:cubicBezTo>
                <a:cubicBezTo>
                  <a:pt x="912" y="16"/>
                  <a:pt x="1192" y="160"/>
                  <a:pt x="1440" y="248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53392" name="Text Box 16"/>
          <p:cNvSpPr txBox="1">
            <a:spLocks noChangeArrowheads="1"/>
          </p:cNvSpPr>
          <p:nvPr/>
        </p:nvSpPr>
        <p:spPr bwMode="auto">
          <a:xfrm>
            <a:off x="6027739" y="3352801"/>
            <a:ext cx="3825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f</a:t>
            </a:r>
            <a:r>
              <a:rPr lang="en-US" baseline="30000">
                <a:solidFill>
                  <a:srgbClr val="FF0000"/>
                </a:solidFill>
              </a:rPr>
              <a:t>-1</a:t>
            </a:r>
          </a:p>
        </p:txBody>
      </p:sp>
      <p:sp>
        <p:nvSpPr>
          <p:cNvPr id="1253393" name="Text Box 17"/>
          <p:cNvSpPr txBox="1">
            <a:spLocks noChangeArrowheads="1"/>
          </p:cNvSpPr>
          <p:nvPr/>
        </p:nvSpPr>
        <p:spPr bwMode="auto">
          <a:xfrm>
            <a:off x="5791200" y="3962401"/>
            <a:ext cx="717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f(4.3)</a:t>
            </a:r>
          </a:p>
        </p:txBody>
      </p:sp>
      <p:sp>
        <p:nvSpPr>
          <p:cNvPr id="1253394" name="Freeform 18"/>
          <p:cNvSpPr>
            <a:spLocks/>
          </p:cNvSpPr>
          <p:nvPr/>
        </p:nvSpPr>
        <p:spPr bwMode="auto">
          <a:xfrm rot="10660331">
            <a:off x="4114800" y="4267200"/>
            <a:ext cx="4038600" cy="393700"/>
          </a:xfrm>
          <a:custGeom>
            <a:avLst/>
            <a:gdLst>
              <a:gd name="T0" fmla="*/ 0 w 1440"/>
              <a:gd name="T1" fmla="*/ 2147483647 h 248"/>
              <a:gd name="T2" fmla="*/ 2147483647 w 1440"/>
              <a:gd name="T3" fmla="*/ 2147483647 h 248"/>
              <a:gd name="T4" fmla="*/ 2147483647 w 1440"/>
              <a:gd name="T5" fmla="*/ 2147483647 h 248"/>
              <a:gd name="T6" fmla="*/ 0 60000 65536"/>
              <a:gd name="T7" fmla="*/ 0 60000 65536"/>
              <a:gd name="T8" fmla="*/ 0 60000 65536"/>
              <a:gd name="T9" fmla="*/ 0 w 1440"/>
              <a:gd name="T10" fmla="*/ 0 h 248"/>
              <a:gd name="T11" fmla="*/ 1440 w 1440"/>
              <a:gd name="T12" fmla="*/ 248 h 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248">
                <a:moveTo>
                  <a:pt x="0" y="200"/>
                </a:moveTo>
                <a:cubicBezTo>
                  <a:pt x="216" y="100"/>
                  <a:pt x="432" y="0"/>
                  <a:pt x="672" y="8"/>
                </a:cubicBezTo>
                <a:cubicBezTo>
                  <a:pt x="912" y="16"/>
                  <a:pt x="1192" y="160"/>
                  <a:pt x="1440" y="248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53395" name="Text Box 19"/>
          <p:cNvSpPr txBox="1">
            <a:spLocks noChangeArrowheads="1"/>
          </p:cNvSpPr>
          <p:nvPr/>
        </p:nvSpPr>
        <p:spPr bwMode="auto">
          <a:xfrm>
            <a:off x="5799139" y="4648201"/>
            <a:ext cx="8524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f</a:t>
            </a:r>
            <a:r>
              <a:rPr lang="en-US" baseline="30000">
                <a:solidFill>
                  <a:srgbClr val="FF0000"/>
                </a:solidFill>
              </a:rPr>
              <a:t>-1</a:t>
            </a:r>
            <a:r>
              <a:rPr lang="en-US">
                <a:solidFill>
                  <a:srgbClr val="FF0000"/>
                </a:solidFill>
              </a:rPr>
              <a:t>(8.6)</a:t>
            </a:r>
          </a:p>
        </p:txBody>
      </p:sp>
      <p:sp>
        <p:nvSpPr>
          <p:cNvPr id="21" name="Title 1"/>
          <p:cNvSpPr txBox="1">
            <a:spLocks/>
          </p:cNvSpPr>
          <p:nvPr/>
        </p:nvSpPr>
        <p:spPr>
          <a:xfrm>
            <a:off x="0" y="3"/>
            <a:ext cx="12192000" cy="122872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smtClean="0">
                <a:solidFill>
                  <a:schemeClr val="bg1"/>
                </a:solidFill>
                <a:latin typeface="Rockwell" panose="02060603020205020403" pitchFamily="18" charset="0"/>
              </a:rPr>
              <a:t>Inverse functions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41833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3383" grpId="0" animBg="1"/>
      <p:bldP spid="1253384" grpId="0"/>
      <p:bldP spid="1253385" grpId="0" animBg="1"/>
      <p:bldP spid="1253386" grpId="0" animBg="1"/>
      <p:bldP spid="1253387" grpId="0"/>
      <p:bldP spid="1253388" grpId="0"/>
      <p:bldP spid="1253390" grpId="0" animBg="1"/>
      <p:bldP spid="1253391" grpId="0" animBg="1"/>
      <p:bldP spid="1253392" grpId="0"/>
      <p:bldP spid="1253393" grpId="0"/>
      <p:bldP spid="1253394" grpId="0" animBg="1"/>
      <p:bldP spid="125339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Inverse functions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966774" y="1479945"/>
            <a:ext cx="10653296" cy="587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dirty="0" smtClean="0">
                <a:latin typeface="+mj-lt"/>
              </a:rPr>
              <a:t>Definition		</a:t>
            </a:r>
            <a:endParaRPr lang="en-US" b="1" dirty="0">
              <a:latin typeface="+mj-lt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976728" y="2143942"/>
            <a:ext cx="10653296" cy="18653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r>
              <a:rPr lang="en-US" dirty="0"/>
              <a:t>Let </a:t>
            </a:r>
            <a:r>
              <a:rPr lang="en-US" i="1" dirty="0"/>
              <a:t>f </a:t>
            </a:r>
            <a:r>
              <a:rPr lang="en-US" dirty="0"/>
              <a:t>be a </a:t>
            </a:r>
            <a:r>
              <a:rPr lang="en-US" b="1" dirty="0"/>
              <a:t>one-to-one correspondence</a:t>
            </a:r>
            <a:r>
              <a:rPr lang="en-US" dirty="0"/>
              <a:t> from the set A to the set B. The inverse function of </a:t>
            </a:r>
            <a:r>
              <a:rPr lang="en-US" i="1" dirty="0"/>
              <a:t>f </a:t>
            </a:r>
            <a:r>
              <a:rPr lang="en-US" dirty="0"/>
              <a:t>is the function that assigns to an element b belonging to B the unique element a in A such that </a:t>
            </a:r>
            <a:r>
              <a:rPr lang="en-US" i="1" dirty="0"/>
              <a:t>f(a) = 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6728" y="4847475"/>
            <a:ext cx="8577275" cy="10156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inverse function of </a:t>
            </a:r>
            <a:r>
              <a:rPr lang="en-US" sz="2400" i="1" dirty="0"/>
              <a:t>f </a:t>
            </a:r>
            <a:r>
              <a:rPr lang="en-US" sz="2400" dirty="0"/>
              <a:t>is denoted </a:t>
            </a:r>
            <a:r>
              <a:rPr lang="en-US" sz="2400" i="1" dirty="0"/>
              <a:t>f</a:t>
            </a:r>
            <a:r>
              <a:rPr lang="en-US" sz="2400" i="1" baseline="30000" dirty="0"/>
              <a:t>-1</a:t>
            </a:r>
            <a:r>
              <a:rPr lang="en-US" sz="2400" i="1" dirty="0"/>
              <a:t> . 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Hence, </a:t>
            </a:r>
            <a:r>
              <a:rPr lang="en-US" sz="2400" i="1" dirty="0"/>
              <a:t>f</a:t>
            </a:r>
            <a:r>
              <a:rPr lang="en-US" sz="2400" i="1" baseline="30000" dirty="0"/>
              <a:t>-1</a:t>
            </a:r>
            <a:r>
              <a:rPr lang="en-US" sz="2400" i="1" dirty="0"/>
              <a:t> (b) = a when f(a) = b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458635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03187"/>
            <a:ext cx="10515600" cy="854076"/>
          </a:xfrm>
        </p:spPr>
        <p:txBody>
          <a:bodyPr/>
          <a:lstStyle/>
          <a:p>
            <a:pPr algn="ctr" eaLnBrk="1" hangingPunct="1"/>
            <a:r>
              <a:rPr lang="en-US" b="1" dirty="0" smtClean="0"/>
              <a:t>More on inverse functions</a:t>
            </a:r>
          </a:p>
        </p:txBody>
      </p:sp>
      <p:sp>
        <p:nvSpPr>
          <p:cNvPr id="1255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317626"/>
            <a:ext cx="8686800" cy="50942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Can we define the inverse of the following functions?</a:t>
            </a:r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An inverse function can ONLY be done defined on a </a:t>
            </a:r>
            <a:r>
              <a:rPr lang="en-US" sz="2400" dirty="0" err="1" smtClean="0"/>
              <a:t>bijection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514600" y="1676401"/>
            <a:ext cx="2044700" cy="1628775"/>
            <a:chOff x="864" y="1776"/>
            <a:chExt cx="1288" cy="1026"/>
          </a:xfrm>
        </p:grpSpPr>
        <p:grpSp>
          <p:nvGrpSpPr>
            <p:cNvPr id="52246" name="Group 5"/>
            <p:cNvGrpSpPr>
              <a:grpSpLocks/>
            </p:cNvGrpSpPr>
            <p:nvPr/>
          </p:nvGrpSpPr>
          <p:grpSpPr bwMode="auto">
            <a:xfrm>
              <a:off x="1848" y="1920"/>
              <a:ext cx="96" cy="816"/>
              <a:chOff x="1848" y="1920"/>
              <a:chExt cx="96" cy="816"/>
            </a:xfrm>
          </p:grpSpPr>
          <p:sp>
            <p:nvSpPr>
              <p:cNvPr id="52256" name="Oval 6"/>
              <p:cNvSpPr>
                <a:spLocks noChangeArrowheads="1"/>
              </p:cNvSpPr>
              <p:nvPr/>
            </p:nvSpPr>
            <p:spPr bwMode="auto">
              <a:xfrm>
                <a:off x="1848" y="19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52257" name="Oval 7"/>
              <p:cNvSpPr>
                <a:spLocks noChangeArrowheads="1"/>
              </p:cNvSpPr>
              <p:nvPr/>
            </p:nvSpPr>
            <p:spPr bwMode="auto">
              <a:xfrm>
                <a:off x="1848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52258" name="Oval 8"/>
              <p:cNvSpPr>
                <a:spLocks noChangeArrowheads="1"/>
              </p:cNvSpPr>
              <p:nvPr/>
            </p:nvSpPr>
            <p:spPr bwMode="auto">
              <a:xfrm>
                <a:off x="1848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52259" name="Oval 9"/>
              <p:cNvSpPr>
                <a:spLocks noChangeArrowheads="1"/>
              </p:cNvSpPr>
              <p:nvPr/>
            </p:nvSpPr>
            <p:spPr bwMode="auto">
              <a:xfrm>
                <a:off x="1848" y="264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</p:grpSp>
        <p:sp>
          <p:nvSpPr>
            <p:cNvPr id="52247" name="Text Box 10"/>
            <p:cNvSpPr txBox="1">
              <a:spLocks noChangeArrowheads="1"/>
            </p:cNvSpPr>
            <p:nvPr/>
          </p:nvSpPr>
          <p:spPr bwMode="auto">
            <a:xfrm>
              <a:off x="1956" y="1776"/>
              <a:ext cx="196" cy="1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1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2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3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4</a:t>
              </a:r>
            </a:p>
          </p:txBody>
        </p:sp>
        <p:sp>
          <p:nvSpPr>
            <p:cNvPr id="52248" name="Text Box 11"/>
            <p:cNvSpPr txBox="1">
              <a:spLocks noChangeArrowheads="1"/>
            </p:cNvSpPr>
            <p:nvPr/>
          </p:nvSpPr>
          <p:spPr bwMode="auto">
            <a:xfrm>
              <a:off x="864" y="1776"/>
              <a:ext cx="196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a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b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c</a:t>
              </a:r>
            </a:p>
          </p:txBody>
        </p:sp>
        <p:sp>
          <p:nvSpPr>
            <p:cNvPr id="52249" name="Line 12"/>
            <p:cNvSpPr>
              <a:spLocks noChangeShapeType="1"/>
            </p:cNvSpPr>
            <p:nvPr/>
          </p:nvSpPr>
          <p:spPr bwMode="auto">
            <a:xfrm>
              <a:off x="1152" y="2208"/>
              <a:ext cx="696" cy="4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50" name="Line 13"/>
            <p:cNvSpPr>
              <a:spLocks noChangeShapeType="1"/>
            </p:cNvSpPr>
            <p:nvPr/>
          </p:nvSpPr>
          <p:spPr bwMode="auto">
            <a:xfrm>
              <a:off x="1152" y="1968"/>
              <a:ext cx="696" cy="4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51" name="Line 14"/>
            <p:cNvSpPr>
              <a:spLocks noChangeShapeType="1"/>
            </p:cNvSpPr>
            <p:nvPr/>
          </p:nvSpPr>
          <p:spPr bwMode="auto">
            <a:xfrm flipV="1">
              <a:off x="1152" y="1968"/>
              <a:ext cx="672" cy="4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2252" name="Group 15"/>
            <p:cNvGrpSpPr>
              <a:grpSpLocks/>
            </p:cNvGrpSpPr>
            <p:nvPr/>
          </p:nvGrpSpPr>
          <p:grpSpPr bwMode="auto">
            <a:xfrm>
              <a:off x="1084" y="1920"/>
              <a:ext cx="96" cy="576"/>
              <a:chOff x="1084" y="1920"/>
              <a:chExt cx="96" cy="576"/>
            </a:xfrm>
          </p:grpSpPr>
          <p:sp>
            <p:nvSpPr>
              <p:cNvPr id="52253" name="Oval 16"/>
              <p:cNvSpPr>
                <a:spLocks noChangeArrowheads="1"/>
              </p:cNvSpPr>
              <p:nvPr/>
            </p:nvSpPr>
            <p:spPr bwMode="auto">
              <a:xfrm>
                <a:off x="1084" y="19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52254" name="Oval 17"/>
              <p:cNvSpPr>
                <a:spLocks noChangeArrowheads="1"/>
              </p:cNvSpPr>
              <p:nvPr/>
            </p:nvSpPr>
            <p:spPr bwMode="auto">
              <a:xfrm>
                <a:off x="1084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52255" name="Oval 18"/>
              <p:cNvSpPr>
                <a:spLocks noChangeArrowheads="1"/>
              </p:cNvSpPr>
              <p:nvPr/>
            </p:nvSpPr>
            <p:spPr bwMode="auto">
              <a:xfrm>
                <a:off x="1084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</p:grpSp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7162800" y="1676401"/>
            <a:ext cx="2044700" cy="1628775"/>
            <a:chOff x="1680" y="1872"/>
            <a:chExt cx="1288" cy="1026"/>
          </a:xfrm>
        </p:grpSpPr>
        <p:sp>
          <p:nvSpPr>
            <p:cNvPr id="52232" name="Oval 20"/>
            <p:cNvSpPr>
              <a:spLocks noChangeArrowheads="1"/>
            </p:cNvSpPr>
            <p:nvPr/>
          </p:nvSpPr>
          <p:spPr bwMode="auto">
            <a:xfrm>
              <a:off x="2664" y="2016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52233" name="Oval 21"/>
            <p:cNvSpPr>
              <a:spLocks noChangeArrowheads="1"/>
            </p:cNvSpPr>
            <p:nvPr/>
          </p:nvSpPr>
          <p:spPr bwMode="auto">
            <a:xfrm>
              <a:off x="2664" y="2256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52234" name="Oval 22"/>
            <p:cNvSpPr>
              <a:spLocks noChangeArrowheads="1"/>
            </p:cNvSpPr>
            <p:nvPr/>
          </p:nvSpPr>
          <p:spPr bwMode="auto">
            <a:xfrm>
              <a:off x="2664" y="2496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52235" name="Text Box 23"/>
            <p:cNvSpPr txBox="1">
              <a:spLocks noChangeArrowheads="1"/>
            </p:cNvSpPr>
            <p:nvPr/>
          </p:nvSpPr>
          <p:spPr bwMode="auto">
            <a:xfrm>
              <a:off x="2772" y="1872"/>
              <a:ext cx="196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1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2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3</a:t>
              </a:r>
            </a:p>
          </p:txBody>
        </p:sp>
        <p:sp>
          <p:nvSpPr>
            <p:cNvPr id="52236" name="Text Box 24"/>
            <p:cNvSpPr txBox="1">
              <a:spLocks noChangeArrowheads="1"/>
            </p:cNvSpPr>
            <p:nvPr/>
          </p:nvSpPr>
          <p:spPr bwMode="auto">
            <a:xfrm>
              <a:off x="1680" y="1872"/>
              <a:ext cx="196" cy="1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a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b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c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/>
                <a:t>d</a:t>
              </a:r>
            </a:p>
          </p:txBody>
        </p:sp>
        <p:sp>
          <p:nvSpPr>
            <p:cNvPr id="52237" name="Line 25"/>
            <p:cNvSpPr>
              <a:spLocks noChangeShapeType="1"/>
            </p:cNvSpPr>
            <p:nvPr/>
          </p:nvSpPr>
          <p:spPr bwMode="auto">
            <a:xfrm flipV="1">
              <a:off x="1968" y="2064"/>
              <a:ext cx="672" cy="24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38" name="Line 26"/>
            <p:cNvSpPr>
              <a:spLocks noChangeShapeType="1"/>
            </p:cNvSpPr>
            <p:nvPr/>
          </p:nvSpPr>
          <p:spPr bwMode="auto">
            <a:xfrm>
              <a:off x="1968" y="2064"/>
              <a:ext cx="720" cy="24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39" name="Line 27"/>
            <p:cNvSpPr>
              <a:spLocks noChangeShapeType="1"/>
            </p:cNvSpPr>
            <p:nvPr/>
          </p:nvSpPr>
          <p:spPr bwMode="auto">
            <a:xfrm flipV="1">
              <a:off x="1968" y="2544"/>
              <a:ext cx="67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40" name="Line 28"/>
            <p:cNvSpPr>
              <a:spLocks noChangeShapeType="1"/>
            </p:cNvSpPr>
            <p:nvPr/>
          </p:nvSpPr>
          <p:spPr bwMode="auto">
            <a:xfrm flipV="1">
              <a:off x="1968" y="2304"/>
              <a:ext cx="720" cy="4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2241" name="Group 29"/>
            <p:cNvGrpSpPr>
              <a:grpSpLocks/>
            </p:cNvGrpSpPr>
            <p:nvPr/>
          </p:nvGrpSpPr>
          <p:grpSpPr bwMode="auto">
            <a:xfrm>
              <a:off x="1920" y="2016"/>
              <a:ext cx="96" cy="816"/>
              <a:chOff x="1848" y="1920"/>
              <a:chExt cx="96" cy="816"/>
            </a:xfrm>
          </p:grpSpPr>
          <p:sp>
            <p:nvSpPr>
              <p:cNvPr id="52242" name="Oval 30"/>
              <p:cNvSpPr>
                <a:spLocks noChangeArrowheads="1"/>
              </p:cNvSpPr>
              <p:nvPr/>
            </p:nvSpPr>
            <p:spPr bwMode="auto">
              <a:xfrm>
                <a:off x="1848" y="19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52243" name="Oval 31"/>
              <p:cNvSpPr>
                <a:spLocks noChangeArrowheads="1"/>
              </p:cNvSpPr>
              <p:nvPr/>
            </p:nvSpPr>
            <p:spPr bwMode="auto">
              <a:xfrm>
                <a:off x="1848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52244" name="Oval 32"/>
              <p:cNvSpPr>
                <a:spLocks noChangeArrowheads="1"/>
              </p:cNvSpPr>
              <p:nvPr/>
            </p:nvSpPr>
            <p:spPr bwMode="auto">
              <a:xfrm>
                <a:off x="1848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52245" name="Oval 33"/>
              <p:cNvSpPr>
                <a:spLocks noChangeArrowheads="1"/>
              </p:cNvSpPr>
              <p:nvPr/>
            </p:nvSpPr>
            <p:spPr bwMode="auto">
              <a:xfrm>
                <a:off x="1848" y="264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Osaka" pitchFamily="-65" charset="-128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</p:grpSp>
      </p:grpSp>
      <p:sp>
        <p:nvSpPr>
          <p:cNvPr id="1255458" name="Text Box 34"/>
          <p:cNvSpPr txBox="1">
            <a:spLocks noChangeArrowheads="1"/>
          </p:cNvSpPr>
          <p:nvPr/>
        </p:nvSpPr>
        <p:spPr bwMode="auto">
          <a:xfrm>
            <a:off x="2590801" y="3429000"/>
            <a:ext cx="16160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/>
              <a:t>What is f</a:t>
            </a:r>
            <a:r>
              <a:rPr lang="en-US" baseline="30000"/>
              <a:t>-1</a:t>
            </a:r>
            <a:r>
              <a:rPr lang="en-US"/>
              <a:t>(2)?</a:t>
            </a:r>
          </a:p>
          <a:p>
            <a:pPr algn="ctr" eaLnBrk="1" hangingPunct="1"/>
            <a:r>
              <a:rPr lang="en-US"/>
              <a:t>Not onto!</a:t>
            </a:r>
          </a:p>
        </p:txBody>
      </p:sp>
      <p:sp>
        <p:nvSpPr>
          <p:cNvPr id="1255459" name="Text Box 35"/>
          <p:cNvSpPr txBox="1">
            <a:spLocks noChangeArrowheads="1"/>
          </p:cNvSpPr>
          <p:nvPr/>
        </p:nvSpPr>
        <p:spPr bwMode="auto">
          <a:xfrm>
            <a:off x="7391401" y="3429000"/>
            <a:ext cx="16160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/>
              <a:t>What is f</a:t>
            </a:r>
            <a:r>
              <a:rPr lang="en-US" baseline="30000"/>
              <a:t>-1</a:t>
            </a:r>
            <a:r>
              <a:rPr lang="en-US"/>
              <a:t>(2)?</a:t>
            </a:r>
          </a:p>
          <a:p>
            <a:pPr algn="ctr" eaLnBrk="1" hangingPunct="1"/>
            <a:r>
              <a:rPr lang="en-US"/>
              <a:t>Not 1-to-1!</a:t>
            </a:r>
          </a:p>
        </p:txBody>
      </p:sp>
      <p:sp>
        <p:nvSpPr>
          <p:cNvPr id="36" name="Title 1"/>
          <p:cNvSpPr txBox="1">
            <a:spLocks/>
          </p:cNvSpPr>
          <p:nvPr/>
        </p:nvSpPr>
        <p:spPr>
          <a:xfrm>
            <a:off x="0" y="3"/>
            <a:ext cx="12192000" cy="122872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smtClean="0">
                <a:solidFill>
                  <a:schemeClr val="bg1"/>
                </a:solidFill>
                <a:latin typeface="Rockwell" panose="02060603020205020403" pitchFamily="18" charset="0"/>
              </a:rPr>
              <a:t>Inverse functions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92391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5458" grpId="0"/>
      <p:bldP spid="125545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41300"/>
            <a:ext cx="10515600" cy="914402"/>
          </a:xfrm>
        </p:spPr>
        <p:txBody>
          <a:bodyPr/>
          <a:lstStyle/>
          <a:p>
            <a:pPr algn="ctr" eaLnBrk="1" hangingPunct="1"/>
            <a:endParaRPr lang="en-US" b="1" dirty="0" smtClean="0"/>
          </a:p>
        </p:txBody>
      </p:sp>
      <p:sp>
        <p:nvSpPr>
          <p:cNvPr id="55299" name="Oval 3"/>
          <p:cNvSpPr>
            <a:spLocks noChangeArrowheads="1"/>
          </p:cNvSpPr>
          <p:nvPr/>
        </p:nvSpPr>
        <p:spPr bwMode="auto">
          <a:xfrm>
            <a:off x="1752600" y="2590800"/>
            <a:ext cx="2286000" cy="2286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55300" name="Oval 4"/>
          <p:cNvSpPr>
            <a:spLocks noChangeArrowheads="1"/>
          </p:cNvSpPr>
          <p:nvPr/>
        </p:nvSpPr>
        <p:spPr bwMode="auto">
          <a:xfrm>
            <a:off x="8077200" y="2667000"/>
            <a:ext cx="2286000" cy="2286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81029" name="Freeform 5"/>
          <p:cNvSpPr>
            <a:spLocks/>
          </p:cNvSpPr>
          <p:nvPr/>
        </p:nvSpPr>
        <p:spPr bwMode="auto">
          <a:xfrm>
            <a:off x="3962400" y="3048000"/>
            <a:ext cx="1066800" cy="241300"/>
          </a:xfrm>
          <a:custGeom>
            <a:avLst/>
            <a:gdLst>
              <a:gd name="T0" fmla="*/ 0 w 1440"/>
              <a:gd name="T1" fmla="*/ 2147483647 h 248"/>
              <a:gd name="T2" fmla="*/ 2147483647 w 1440"/>
              <a:gd name="T3" fmla="*/ 2147483647 h 248"/>
              <a:gd name="T4" fmla="*/ 2147483647 w 1440"/>
              <a:gd name="T5" fmla="*/ 2147483647 h 248"/>
              <a:gd name="T6" fmla="*/ 0 60000 65536"/>
              <a:gd name="T7" fmla="*/ 0 60000 65536"/>
              <a:gd name="T8" fmla="*/ 0 60000 65536"/>
              <a:gd name="T9" fmla="*/ 0 w 1440"/>
              <a:gd name="T10" fmla="*/ 0 h 248"/>
              <a:gd name="T11" fmla="*/ 1440 w 1440"/>
              <a:gd name="T12" fmla="*/ 248 h 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248">
                <a:moveTo>
                  <a:pt x="0" y="200"/>
                </a:moveTo>
                <a:cubicBezTo>
                  <a:pt x="216" y="100"/>
                  <a:pt x="432" y="0"/>
                  <a:pt x="672" y="8"/>
                </a:cubicBezTo>
                <a:cubicBezTo>
                  <a:pt x="912" y="16"/>
                  <a:pt x="1192" y="160"/>
                  <a:pt x="1440" y="248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81030" name="Text Box 6"/>
          <p:cNvSpPr txBox="1">
            <a:spLocks noChangeArrowheads="1"/>
          </p:cNvSpPr>
          <p:nvPr/>
        </p:nvSpPr>
        <p:spPr bwMode="auto">
          <a:xfrm>
            <a:off x="4311650" y="266700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281031" name="Oval 7"/>
          <p:cNvSpPr>
            <a:spLocks noChangeArrowheads="1"/>
          </p:cNvSpPr>
          <p:nvPr/>
        </p:nvSpPr>
        <p:spPr bwMode="auto">
          <a:xfrm>
            <a:off x="6019800" y="41148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81032" name="Freeform 8"/>
          <p:cNvSpPr>
            <a:spLocks/>
          </p:cNvSpPr>
          <p:nvPr/>
        </p:nvSpPr>
        <p:spPr bwMode="auto">
          <a:xfrm>
            <a:off x="2895600" y="3733800"/>
            <a:ext cx="3200400" cy="393700"/>
          </a:xfrm>
          <a:custGeom>
            <a:avLst/>
            <a:gdLst>
              <a:gd name="T0" fmla="*/ 0 w 1440"/>
              <a:gd name="T1" fmla="*/ 2147483647 h 248"/>
              <a:gd name="T2" fmla="*/ 2147483647 w 1440"/>
              <a:gd name="T3" fmla="*/ 2147483647 h 248"/>
              <a:gd name="T4" fmla="*/ 2147483647 w 1440"/>
              <a:gd name="T5" fmla="*/ 2147483647 h 248"/>
              <a:gd name="T6" fmla="*/ 0 60000 65536"/>
              <a:gd name="T7" fmla="*/ 0 60000 65536"/>
              <a:gd name="T8" fmla="*/ 0 60000 65536"/>
              <a:gd name="T9" fmla="*/ 0 w 1440"/>
              <a:gd name="T10" fmla="*/ 0 h 248"/>
              <a:gd name="T11" fmla="*/ 1440 w 1440"/>
              <a:gd name="T12" fmla="*/ 248 h 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248">
                <a:moveTo>
                  <a:pt x="0" y="200"/>
                </a:moveTo>
                <a:cubicBezTo>
                  <a:pt x="216" y="100"/>
                  <a:pt x="432" y="0"/>
                  <a:pt x="672" y="8"/>
                </a:cubicBezTo>
                <a:cubicBezTo>
                  <a:pt x="912" y="16"/>
                  <a:pt x="1192" y="160"/>
                  <a:pt x="1440" y="248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55305" name="Oval 9"/>
          <p:cNvSpPr>
            <a:spLocks noChangeArrowheads="1"/>
          </p:cNvSpPr>
          <p:nvPr/>
        </p:nvSpPr>
        <p:spPr bwMode="auto">
          <a:xfrm>
            <a:off x="4953000" y="2667000"/>
            <a:ext cx="2286000" cy="2286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81034" name="Freeform 10"/>
          <p:cNvSpPr>
            <a:spLocks/>
          </p:cNvSpPr>
          <p:nvPr/>
        </p:nvSpPr>
        <p:spPr bwMode="auto">
          <a:xfrm>
            <a:off x="7162800" y="3048000"/>
            <a:ext cx="1066800" cy="241300"/>
          </a:xfrm>
          <a:custGeom>
            <a:avLst/>
            <a:gdLst>
              <a:gd name="T0" fmla="*/ 0 w 1440"/>
              <a:gd name="T1" fmla="*/ 2147483647 h 248"/>
              <a:gd name="T2" fmla="*/ 2147483647 w 1440"/>
              <a:gd name="T3" fmla="*/ 2147483647 h 248"/>
              <a:gd name="T4" fmla="*/ 2147483647 w 1440"/>
              <a:gd name="T5" fmla="*/ 2147483647 h 248"/>
              <a:gd name="T6" fmla="*/ 0 60000 65536"/>
              <a:gd name="T7" fmla="*/ 0 60000 65536"/>
              <a:gd name="T8" fmla="*/ 0 60000 65536"/>
              <a:gd name="T9" fmla="*/ 0 w 1440"/>
              <a:gd name="T10" fmla="*/ 0 h 248"/>
              <a:gd name="T11" fmla="*/ 1440 w 1440"/>
              <a:gd name="T12" fmla="*/ 248 h 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248">
                <a:moveTo>
                  <a:pt x="0" y="200"/>
                </a:moveTo>
                <a:cubicBezTo>
                  <a:pt x="216" y="100"/>
                  <a:pt x="432" y="0"/>
                  <a:pt x="672" y="8"/>
                </a:cubicBezTo>
                <a:cubicBezTo>
                  <a:pt x="912" y="16"/>
                  <a:pt x="1192" y="160"/>
                  <a:pt x="1440" y="248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81035" name="Text Box 11"/>
          <p:cNvSpPr txBox="1">
            <a:spLocks noChangeArrowheads="1"/>
          </p:cNvSpPr>
          <p:nvPr/>
        </p:nvSpPr>
        <p:spPr bwMode="auto">
          <a:xfrm>
            <a:off x="7543800" y="2667001"/>
            <a:ext cx="247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1281036" name="Oval 12"/>
          <p:cNvSpPr>
            <a:spLocks noChangeArrowheads="1"/>
          </p:cNvSpPr>
          <p:nvPr/>
        </p:nvSpPr>
        <p:spPr bwMode="auto">
          <a:xfrm>
            <a:off x="9296400" y="41910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81037" name="Freeform 13"/>
          <p:cNvSpPr>
            <a:spLocks/>
          </p:cNvSpPr>
          <p:nvPr/>
        </p:nvSpPr>
        <p:spPr bwMode="auto">
          <a:xfrm>
            <a:off x="6172200" y="3810000"/>
            <a:ext cx="3200400" cy="393700"/>
          </a:xfrm>
          <a:custGeom>
            <a:avLst/>
            <a:gdLst>
              <a:gd name="T0" fmla="*/ 0 w 1440"/>
              <a:gd name="T1" fmla="*/ 2147483647 h 248"/>
              <a:gd name="T2" fmla="*/ 2147483647 w 1440"/>
              <a:gd name="T3" fmla="*/ 2147483647 h 248"/>
              <a:gd name="T4" fmla="*/ 2147483647 w 1440"/>
              <a:gd name="T5" fmla="*/ 2147483647 h 248"/>
              <a:gd name="T6" fmla="*/ 0 60000 65536"/>
              <a:gd name="T7" fmla="*/ 0 60000 65536"/>
              <a:gd name="T8" fmla="*/ 0 60000 65536"/>
              <a:gd name="T9" fmla="*/ 0 w 1440"/>
              <a:gd name="T10" fmla="*/ 0 h 248"/>
              <a:gd name="T11" fmla="*/ 1440 w 1440"/>
              <a:gd name="T12" fmla="*/ 248 h 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248">
                <a:moveTo>
                  <a:pt x="0" y="200"/>
                </a:moveTo>
                <a:cubicBezTo>
                  <a:pt x="216" y="100"/>
                  <a:pt x="432" y="0"/>
                  <a:pt x="672" y="8"/>
                </a:cubicBezTo>
                <a:cubicBezTo>
                  <a:pt x="912" y="16"/>
                  <a:pt x="1192" y="160"/>
                  <a:pt x="1440" y="248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81038" name="Freeform 14"/>
          <p:cNvSpPr>
            <a:spLocks/>
          </p:cNvSpPr>
          <p:nvPr/>
        </p:nvSpPr>
        <p:spPr bwMode="auto">
          <a:xfrm>
            <a:off x="3276600" y="2133600"/>
            <a:ext cx="5638800" cy="546100"/>
          </a:xfrm>
          <a:custGeom>
            <a:avLst/>
            <a:gdLst>
              <a:gd name="T0" fmla="*/ 0 w 1440"/>
              <a:gd name="T1" fmla="*/ 2147483647 h 248"/>
              <a:gd name="T2" fmla="*/ 2147483647 w 1440"/>
              <a:gd name="T3" fmla="*/ 2147483647 h 248"/>
              <a:gd name="T4" fmla="*/ 2147483647 w 1440"/>
              <a:gd name="T5" fmla="*/ 2147483647 h 248"/>
              <a:gd name="T6" fmla="*/ 0 60000 65536"/>
              <a:gd name="T7" fmla="*/ 0 60000 65536"/>
              <a:gd name="T8" fmla="*/ 0 60000 65536"/>
              <a:gd name="T9" fmla="*/ 0 w 1440"/>
              <a:gd name="T10" fmla="*/ 0 h 248"/>
              <a:gd name="T11" fmla="*/ 1440 w 1440"/>
              <a:gd name="T12" fmla="*/ 248 h 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248">
                <a:moveTo>
                  <a:pt x="0" y="200"/>
                </a:moveTo>
                <a:cubicBezTo>
                  <a:pt x="216" y="100"/>
                  <a:pt x="432" y="0"/>
                  <a:pt x="672" y="8"/>
                </a:cubicBezTo>
                <a:cubicBezTo>
                  <a:pt x="912" y="16"/>
                  <a:pt x="1192" y="160"/>
                  <a:pt x="1440" y="248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81039" name="Text Box 15"/>
          <p:cNvSpPr txBox="1">
            <a:spLocks noChangeArrowheads="1"/>
          </p:cNvSpPr>
          <p:nvPr/>
        </p:nvSpPr>
        <p:spPr bwMode="auto">
          <a:xfrm>
            <a:off x="5514433" y="1752600"/>
            <a:ext cx="7360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f ○ g</a:t>
            </a:r>
          </a:p>
        </p:txBody>
      </p:sp>
      <p:sp>
        <p:nvSpPr>
          <p:cNvPr id="1281040" name="Freeform 16"/>
          <p:cNvSpPr>
            <a:spLocks/>
          </p:cNvSpPr>
          <p:nvPr/>
        </p:nvSpPr>
        <p:spPr bwMode="auto">
          <a:xfrm>
            <a:off x="2895600" y="4114800"/>
            <a:ext cx="6400800" cy="1143000"/>
          </a:xfrm>
          <a:custGeom>
            <a:avLst/>
            <a:gdLst>
              <a:gd name="T0" fmla="*/ 0 w 4032"/>
              <a:gd name="T1" fmla="*/ 0 h 400"/>
              <a:gd name="T2" fmla="*/ 2147483647 w 4032"/>
              <a:gd name="T3" fmla="*/ 2147483647 h 400"/>
              <a:gd name="T4" fmla="*/ 2147483647 w 4032"/>
              <a:gd name="T5" fmla="*/ 2147483647 h 400"/>
              <a:gd name="T6" fmla="*/ 0 60000 65536"/>
              <a:gd name="T7" fmla="*/ 0 60000 65536"/>
              <a:gd name="T8" fmla="*/ 0 60000 65536"/>
              <a:gd name="T9" fmla="*/ 0 w 4032"/>
              <a:gd name="T10" fmla="*/ 0 h 400"/>
              <a:gd name="T11" fmla="*/ 4032 w 4032"/>
              <a:gd name="T12" fmla="*/ 400 h 4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32" h="400">
                <a:moveTo>
                  <a:pt x="0" y="0"/>
                </a:moveTo>
                <a:cubicBezTo>
                  <a:pt x="672" y="184"/>
                  <a:pt x="1344" y="368"/>
                  <a:pt x="2016" y="384"/>
                </a:cubicBezTo>
                <a:cubicBezTo>
                  <a:pt x="2688" y="400"/>
                  <a:pt x="3568" y="184"/>
                  <a:pt x="4032" y="96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81041" name="Oval 17"/>
          <p:cNvSpPr>
            <a:spLocks noChangeArrowheads="1"/>
          </p:cNvSpPr>
          <p:nvPr/>
        </p:nvSpPr>
        <p:spPr bwMode="auto">
          <a:xfrm>
            <a:off x="2819400" y="40386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81042" name="Text Box 18"/>
          <p:cNvSpPr txBox="1">
            <a:spLocks noChangeArrowheads="1"/>
          </p:cNvSpPr>
          <p:nvPr/>
        </p:nvSpPr>
        <p:spPr bwMode="auto">
          <a:xfrm>
            <a:off x="4127500" y="3352801"/>
            <a:ext cx="590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g(a)</a:t>
            </a:r>
          </a:p>
        </p:txBody>
      </p:sp>
      <p:sp>
        <p:nvSpPr>
          <p:cNvPr id="1281043" name="Text Box 19"/>
          <p:cNvSpPr txBox="1">
            <a:spLocks noChangeArrowheads="1"/>
          </p:cNvSpPr>
          <p:nvPr/>
        </p:nvSpPr>
        <p:spPr bwMode="auto">
          <a:xfrm>
            <a:off x="7423150" y="3429001"/>
            <a:ext cx="527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f(b)</a:t>
            </a:r>
          </a:p>
        </p:txBody>
      </p:sp>
      <p:sp>
        <p:nvSpPr>
          <p:cNvPr id="1281044" name="Text Box 20"/>
          <p:cNvSpPr txBox="1">
            <a:spLocks noChangeArrowheads="1"/>
          </p:cNvSpPr>
          <p:nvPr/>
        </p:nvSpPr>
        <p:spPr bwMode="auto">
          <a:xfrm>
            <a:off x="5588524" y="5257800"/>
            <a:ext cx="11721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(f ○ g)(a)</a:t>
            </a:r>
          </a:p>
        </p:txBody>
      </p:sp>
      <p:sp>
        <p:nvSpPr>
          <p:cNvPr id="1281045" name="Text Box 21"/>
          <p:cNvSpPr txBox="1">
            <a:spLocks noChangeArrowheads="1"/>
          </p:cNvSpPr>
          <p:nvPr/>
        </p:nvSpPr>
        <p:spPr bwMode="auto">
          <a:xfrm>
            <a:off x="5597525" y="4267201"/>
            <a:ext cx="977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b = g(a)</a:t>
            </a:r>
          </a:p>
        </p:txBody>
      </p:sp>
      <p:sp>
        <p:nvSpPr>
          <p:cNvPr id="1281046" name="Text Box 22"/>
          <p:cNvSpPr txBox="1">
            <a:spLocks noChangeArrowheads="1"/>
          </p:cNvSpPr>
          <p:nvPr/>
        </p:nvSpPr>
        <p:spPr bwMode="auto">
          <a:xfrm>
            <a:off x="9417050" y="4038601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f(g(a))</a:t>
            </a:r>
          </a:p>
        </p:txBody>
      </p:sp>
      <p:sp>
        <p:nvSpPr>
          <p:cNvPr id="1281047" name="Text Box 23"/>
          <p:cNvSpPr txBox="1">
            <a:spLocks noChangeArrowheads="1"/>
          </p:cNvSpPr>
          <p:nvPr/>
        </p:nvSpPr>
        <p:spPr bwMode="auto">
          <a:xfrm>
            <a:off x="2514600" y="396240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55320" name="Text Box 24"/>
          <p:cNvSpPr txBox="1">
            <a:spLocks noChangeArrowheads="1"/>
          </p:cNvSpPr>
          <p:nvPr/>
        </p:nvSpPr>
        <p:spPr bwMode="auto">
          <a:xfrm>
            <a:off x="2743200" y="2209801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r>
              <a:rPr lang="en-US" b="1"/>
              <a:t>A</a:t>
            </a:r>
          </a:p>
        </p:txBody>
      </p:sp>
      <p:sp>
        <p:nvSpPr>
          <p:cNvPr id="55321" name="Text Box 25"/>
          <p:cNvSpPr txBox="1">
            <a:spLocks noChangeArrowheads="1"/>
          </p:cNvSpPr>
          <p:nvPr/>
        </p:nvSpPr>
        <p:spPr bwMode="auto">
          <a:xfrm>
            <a:off x="5867400" y="2286001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r>
              <a:rPr lang="en-US" b="1"/>
              <a:t>B</a:t>
            </a:r>
          </a:p>
        </p:txBody>
      </p:sp>
      <p:sp>
        <p:nvSpPr>
          <p:cNvPr id="55322" name="Text Box 26"/>
          <p:cNvSpPr txBox="1">
            <a:spLocks noChangeArrowheads="1"/>
          </p:cNvSpPr>
          <p:nvPr/>
        </p:nvSpPr>
        <p:spPr bwMode="auto">
          <a:xfrm>
            <a:off x="8991600" y="2286001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r>
              <a:rPr lang="en-US" b="1"/>
              <a:t>C</a:t>
            </a:r>
          </a:p>
        </p:txBody>
      </p:sp>
      <p:sp>
        <p:nvSpPr>
          <p:cNvPr id="1281051" name="Text Box 27"/>
          <p:cNvSpPr txBox="1">
            <a:spLocks noChangeArrowheads="1"/>
          </p:cNvSpPr>
          <p:nvPr/>
        </p:nvSpPr>
        <p:spPr bwMode="auto">
          <a:xfrm>
            <a:off x="4311650" y="1266222"/>
            <a:ext cx="30716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 sz="2800" dirty="0">
                <a:solidFill>
                  <a:srgbClr val="0000FF"/>
                </a:solidFill>
              </a:rPr>
              <a:t>(f ○ g)(x) = f(g(x))</a:t>
            </a:r>
          </a:p>
        </p:txBody>
      </p:sp>
      <p:sp>
        <p:nvSpPr>
          <p:cNvPr id="28" name="Title 1"/>
          <p:cNvSpPr txBox="1">
            <a:spLocks/>
          </p:cNvSpPr>
          <p:nvPr/>
        </p:nvSpPr>
        <p:spPr>
          <a:xfrm>
            <a:off x="0" y="3"/>
            <a:ext cx="12192000" cy="122872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smtClean="0">
                <a:solidFill>
                  <a:schemeClr val="bg1"/>
                </a:solidFill>
                <a:latin typeface="Rockwell" panose="02060603020205020403" pitchFamily="18" charset="0"/>
              </a:rPr>
              <a:t>Compositions of functions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1309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1029" grpId="0" animBg="1"/>
      <p:bldP spid="1281030" grpId="0"/>
      <p:bldP spid="1281031" grpId="0" animBg="1"/>
      <p:bldP spid="1281032" grpId="0" animBg="1"/>
      <p:bldP spid="1281034" grpId="0" animBg="1"/>
      <p:bldP spid="1281035" grpId="0"/>
      <p:bldP spid="1281036" grpId="0" animBg="1"/>
      <p:bldP spid="1281037" grpId="0" animBg="1"/>
      <p:bldP spid="1281038" grpId="0" animBg="1"/>
      <p:bldP spid="1281039" grpId="0"/>
      <p:bldP spid="1281040" grpId="0" animBg="1"/>
      <p:bldP spid="1281041" grpId="0" animBg="1"/>
      <p:bldP spid="1281042" grpId="0"/>
      <p:bldP spid="1281043" grpId="0"/>
      <p:bldP spid="1281044" grpId="0"/>
      <p:bldP spid="1281045" grpId="0"/>
      <p:bldP spid="1281046" grpId="0"/>
      <p:bldP spid="1281047" grpId="0"/>
      <p:bldP spid="128105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Compositions of functions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966774" y="1479945"/>
            <a:ext cx="10653296" cy="587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dirty="0" smtClean="0">
                <a:latin typeface="+mj-lt"/>
              </a:rPr>
              <a:t>Definition		</a:t>
            </a:r>
            <a:endParaRPr lang="en-US" b="1" dirty="0">
              <a:latin typeface="+mj-lt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976728" y="2143941"/>
            <a:ext cx="10653296" cy="28281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5000"/>
              </a:lnSpc>
              <a:spcAft>
                <a:spcPts val="600"/>
              </a:spcAft>
            </a:pPr>
            <a:r>
              <a:rPr lang="en-US"/>
              <a:t>Let </a:t>
            </a:r>
            <a:r>
              <a:rPr lang="en-US" i="1"/>
              <a:t>g </a:t>
            </a:r>
            <a:r>
              <a:rPr lang="en-US"/>
              <a:t>be a function from the set A to the set B and let </a:t>
            </a:r>
            <a:r>
              <a:rPr lang="en-US" i="1"/>
              <a:t>f </a:t>
            </a:r>
            <a:r>
              <a:rPr lang="en-US"/>
              <a:t>be a function from the set B to the set C. The composition of the functions </a:t>
            </a:r>
            <a:r>
              <a:rPr lang="en-US" i="1"/>
              <a:t>f </a:t>
            </a:r>
            <a:r>
              <a:rPr lang="en-US"/>
              <a:t>and </a:t>
            </a:r>
            <a:r>
              <a:rPr lang="en-US" i="1"/>
              <a:t>g, </a:t>
            </a:r>
            <a:r>
              <a:rPr lang="en-US"/>
              <a:t>denoted </a:t>
            </a:r>
            <a:r>
              <a:rPr lang="en-US" i="1"/>
              <a:t>f o g </a:t>
            </a:r>
            <a:r>
              <a:rPr lang="en-US"/>
              <a:t>is defined by</a:t>
            </a:r>
          </a:p>
          <a:p>
            <a:pPr marL="0" indent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/>
              <a:t>		(</a:t>
            </a:r>
            <a:r>
              <a:rPr lang="en-US" i="1"/>
              <a:t>f o g)(a) = f(g(a))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225999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52387"/>
            <a:ext cx="10515600" cy="1325563"/>
          </a:xfrm>
        </p:spPr>
        <p:txBody>
          <a:bodyPr/>
          <a:lstStyle/>
          <a:p>
            <a:pPr algn="ctr" eaLnBrk="1" hangingPunct="1"/>
            <a:r>
              <a:rPr lang="en-US" b="1" dirty="0" smtClean="0"/>
              <a:t>Compositions of functions</a:t>
            </a:r>
          </a:p>
        </p:txBody>
      </p:sp>
      <p:sp>
        <p:nvSpPr>
          <p:cNvPr id="56323" name="Oval 3"/>
          <p:cNvSpPr>
            <a:spLocks noChangeArrowheads="1"/>
          </p:cNvSpPr>
          <p:nvPr/>
        </p:nvSpPr>
        <p:spPr bwMode="auto">
          <a:xfrm>
            <a:off x="1752600" y="2590800"/>
            <a:ext cx="2286000" cy="2286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56324" name="Oval 4"/>
          <p:cNvSpPr>
            <a:spLocks noChangeArrowheads="1"/>
          </p:cNvSpPr>
          <p:nvPr/>
        </p:nvSpPr>
        <p:spPr bwMode="auto">
          <a:xfrm>
            <a:off x="8077200" y="2667000"/>
            <a:ext cx="2286000" cy="2286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83077" name="Freeform 5"/>
          <p:cNvSpPr>
            <a:spLocks/>
          </p:cNvSpPr>
          <p:nvPr/>
        </p:nvSpPr>
        <p:spPr bwMode="auto">
          <a:xfrm>
            <a:off x="3962400" y="3048000"/>
            <a:ext cx="1066800" cy="241300"/>
          </a:xfrm>
          <a:custGeom>
            <a:avLst/>
            <a:gdLst>
              <a:gd name="T0" fmla="*/ 0 w 1440"/>
              <a:gd name="T1" fmla="*/ 2147483647 h 248"/>
              <a:gd name="T2" fmla="*/ 2147483647 w 1440"/>
              <a:gd name="T3" fmla="*/ 2147483647 h 248"/>
              <a:gd name="T4" fmla="*/ 2147483647 w 1440"/>
              <a:gd name="T5" fmla="*/ 2147483647 h 248"/>
              <a:gd name="T6" fmla="*/ 0 60000 65536"/>
              <a:gd name="T7" fmla="*/ 0 60000 65536"/>
              <a:gd name="T8" fmla="*/ 0 60000 65536"/>
              <a:gd name="T9" fmla="*/ 0 w 1440"/>
              <a:gd name="T10" fmla="*/ 0 h 248"/>
              <a:gd name="T11" fmla="*/ 1440 w 1440"/>
              <a:gd name="T12" fmla="*/ 248 h 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248">
                <a:moveTo>
                  <a:pt x="0" y="200"/>
                </a:moveTo>
                <a:cubicBezTo>
                  <a:pt x="216" y="100"/>
                  <a:pt x="432" y="0"/>
                  <a:pt x="672" y="8"/>
                </a:cubicBezTo>
                <a:cubicBezTo>
                  <a:pt x="912" y="16"/>
                  <a:pt x="1192" y="160"/>
                  <a:pt x="1440" y="248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83078" name="Text Box 6"/>
          <p:cNvSpPr txBox="1">
            <a:spLocks noChangeArrowheads="1"/>
          </p:cNvSpPr>
          <p:nvPr/>
        </p:nvSpPr>
        <p:spPr bwMode="auto">
          <a:xfrm>
            <a:off x="4311650" y="266700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283079" name="Oval 7"/>
          <p:cNvSpPr>
            <a:spLocks noChangeArrowheads="1"/>
          </p:cNvSpPr>
          <p:nvPr/>
        </p:nvSpPr>
        <p:spPr bwMode="auto">
          <a:xfrm>
            <a:off x="6019800" y="41148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83080" name="Freeform 8"/>
          <p:cNvSpPr>
            <a:spLocks/>
          </p:cNvSpPr>
          <p:nvPr/>
        </p:nvSpPr>
        <p:spPr bwMode="auto">
          <a:xfrm>
            <a:off x="2895600" y="3733800"/>
            <a:ext cx="3200400" cy="393700"/>
          </a:xfrm>
          <a:custGeom>
            <a:avLst/>
            <a:gdLst>
              <a:gd name="T0" fmla="*/ 0 w 1440"/>
              <a:gd name="T1" fmla="*/ 2147483647 h 248"/>
              <a:gd name="T2" fmla="*/ 2147483647 w 1440"/>
              <a:gd name="T3" fmla="*/ 2147483647 h 248"/>
              <a:gd name="T4" fmla="*/ 2147483647 w 1440"/>
              <a:gd name="T5" fmla="*/ 2147483647 h 248"/>
              <a:gd name="T6" fmla="*/ 0 60000 65536"/>
              <a:gd name="T7" fmla="*/ 0 60000 65536"/>
              <a:gd name="T8" fmla="*/ 0 60000 65536"/>
              <a:gd name="T9" fmla="*/ 0 w 1440"/>
              <a:gd name="T10" fmla="*/ 0 h 248"/>
              <a:gd name="T11" fmla="*/ 1440 w 1440"/>
              <a:gd name="T12" fmla="*/ 248 h 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248">
                <a:moveTo>
                  <a:pt x="0" y="200"/>
                </a:moveTo>
                <a:cubicBezTo>
                  <a:pt x="216" y="100"/>
                  <a:pt x="432" y="0"/>
                  <a:pt x="672" y="8"/>
                </a:cubicBezTo>
                <a:cubicBezTo>
                  <a:pt x="912" y="16"/>
                  <a:pt x="1192" y="160"/>
                  <a:pt x="1440" y="248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56329" name="Oval 9"/>
          <p:cNvSpPr>
            <a:spLocks noChangeArrowheads="1"/>
          </p:cNvSpPr>
          <p:nvPr/>
        </p:nvSpPr>
        <p:spPr bwMode="auto">
          <a:xfrm>
            <a:off x="4953000" y="2667000"/>
            <a:ext cx="2286000" cy="2286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83082" name="Freeform 10"/>
          <p:cNvSpPr>
            <a:spLocks/>
          </p:cNvSpPr>
          <p:nvPr/>
        </p:nvSpPr>
        <p:spPr bwMode="auto">
          <a:xfrm>
            <a:off x="7162800" y="3048000"/>
            <a:ext cx="1066800" cy="241300"/>
          </a:xfrm>
          <a:custGeom>
            <a:avLst/>
            <a:gdLst>
              <a:gd name="T0" fmla="*/ 0 w 1440"/>
              <a:gd name="T1" fmla="*/ 2147483647 h 248"/>
              <a:gd name="T2" fmla="*/ 2147483647 w 1440"/>
              <a:gd name="T3" fmla="*/ 2147483647 h 248"/>
              <a:gd name="T4" fmla="*/ 2147483647 w 1440"/>
              <a:gd name="T5" fmla="*/ 2147483647 h 248"/>
              <a:gd name="T6" fmla="*/ 0 60000 65536"/>
              <a:gd name="T7" fmla="*/ 0 60000 65536"/>
              <a:gd name="T8" fmla="*/ 0 60000 65536"/>
              <a:gd name="T9" fmla="*/ 0 w 1440"/>
              <a:gd name="T10" fmla="*/ 0 h 248"/>
              <a:gd name="T11" fmla="*/ 1440 w 1440"/>
              <a:gd name="T12" fmla="*/ 248 h 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248">
                <a:moveTo>
                  <a:pt x="0" y="200"/>
                </a:moveTo>
                <a:cubicBezTo>
                  <a:pt x="216" y="100"/>
                  <a:pt x="432" y="0"/>
                  <a:pt x="672" y="8"/>
                </a:cubicBezTo>
                <a:cubicBezTo>
                  <a:pt x="912" y="16"/>
                  <a:pt x="1192" y="160"/>
                  <a:pt x="1440" y="248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83083" name="Text Box 11"/>
          <p:cNvSpPr txBox="1">
            <a:spLocks noChangeArrowheads="1"/>
          </p:cNvSpPr>
          <p:nvPr/>
        </p:nvSpPr>
        <p:spPr bwMode="auto">
          <a:xfrm>
            <a:off x="7543800" y="2667001"/>
            <a:ext cx="247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1283084" name="Oval 12"/>
          <p:cNvSpPr>
            <a:spLocks noChangeArrowheads="1"/>
          </p:cNvSpPr>
          <p:nvPr/>
        </p:nvSpPr>
        <p:spPr bwMode="auto">
          <a:xfrm>
            <a:off x="9296400" y="41910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83085" name="Freeform 13"/>
          <p:cNvSpPr>
            <a:spLocks/>
          </p:cNvSpPr>
          <p:nvPr/>
        </p:nvSpPr>
        <p:spPr bwMode="auto">
          <a:xfrm>
            <a:off x="6172200" y="3810000"/>
            <a:ext cx="3200400" cy="393700"/>
          </a:xfrm>
          <a:custGeom>
            <a:avLst/>
            <a:gdLst>
              <a:gd name="T0" fmla="*/ 0 w 1440"/>
              <a:gd name="T1" fmla="*/ 2147483647 h 248"/>
              <a:gd name="T2" fmla="*/ 2147483647 w 1440"/>
              <a:gd name="T3" fmla="*/ 2147483647 h 248"/>
              <a:gd name="T4" fmla="*/ 2147483647 w 1440"/>
              <a:gd name="T5" fmla="*/ 2147483647 h 248"/>
              <a:gd name="T6" fmla="*/ 0 60000 65536"/>
              <a:gd name="T7" fmla="*/ 0 60000 65536"/>
              <a:gd name="T8" fmla="*/ 0 60000 65536"/>
              <a:gd name="T9" fmla="*/ 0 w 1440"/>
              <a:gd name="T10" fmla="*/ 0 h 248"/>
              <a:gd name="T11" fmla="*/ 1440 w 1440"/>
              <a:gd name="T12" fmla="*/ 248 h 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248">
                <a:moveTo>
                  <a:pt x="0" y="200"/>
                </a:moveTo>
                <a:cubicBezTo>
                  <a:pt x="216" y="100"/>
                  <a:pt x="432" y="0"/>
                  <a:pt x="672" y="8"/>
                </a:cubicBezTo>
                <a:cubicBezTo>
                  <a:pt x="912" y="16"/>
                  <a:pt x="1192" y="160"/>
                  <a:pt x="1440" y="248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83086" name="Freeform 14"/>
          <p:cNvSpPr>
            <a:spLocks/>
          </p:cNvSpPr>
          <p:nvPr/>
        </p:nvSpPr>
        <p:spPr bwMode="auto">
          <a:xfrm>
            <a:off x="3276600" y="2133600"/>
            <a:ext cx="5638800" cy="546100"/>
          </a:xfrm>
          <a:custGeom>
            <a:avLst/>
            <a:gdLst>
              <a:gd name="T0" fmla="*/ 0 w 1440"/>
              <a:gd name="T1" fmla="*/ 2147483647 h 248"/>
              <a:gd name="T2" fmla="*/ 2147483647 w 1440"/>
              <a:gd name="T3" fmla="*/ 2147483647 h 248"/>
              <a:gd name="T4" fmla="*/ 2147483647 w 1440"/>
              <a:gd name="T5" fmla="*/ 2147483647 h 248"/>
              <a:gd name="T6" fmla="*/ 0 60000 65536"/>
              <a:gd name="T7" fmla="*/ 0 60000 65536"/>
              <a:gd name="T8" fmla="*/ 0 60000 65536"/>
              <a:gd name="T9" fmla="*/ 0 w 1440"/>
              <a:gd name="T10" fmla="*/ 0 h 248"/>
              <a:gd name="T11" fmla="*/ 1440 w 1440"/>
              <a:gd name="T12" fmla="*/ 248 h 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248">
                <a:moveTo>
                  <a:pt x="0" y="200"/>
                </a:moveTo>
                <a:cubicBezTo>
                  <a:pt x="216" y="100"/>
                  <a:pt x="432" y="0"/>
                  <a:pt x="672" y="8"/>
                </a:cubicBezTo>
                <a:cubicBezTo>
                  <a:pt x="912" y="16"/>
                  <a:pt x="1192" y="160"/>
                  <a:pt x="1440" y="248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83087" name="Text Box 15"/>
          <p:cNvSpPr txBox="1">
            <a:spLocks noChangeArrowheads="1"/>
          </p:cNvSpPr>
          <p:nvPr/>
        </p:nvSpPr>
        <p:spPr bwMode="auto">
          <a:xfrm>
            <a:off x="5514433" y="1752600"/>
            <a:ext cx="7360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f ○ g</a:t>
            </a:r>
          </a:p>
        </p:txBody>
      </p:sp>
      <p:sp>
        <p:nvSpPr>
          <p:cNvPr id="1283088" name="Freeform 16"/>
          <p:cNvSpPr>
            <a:spLocks/>
          </p:cNvSpPr>
          <p:nvPr/>
        </p:nvSpPr>
        <p:spPr bwMode="auto">
          <a:xfrm>
            <a:off x="2895600" y="4114800"/>
            <a:ext cx="6400800" cy="1143000"/>
          </a:xfrm>
          <a:custGeom>
            <a:avLst/>
            <a:gdLst>
              <a:gd name="T0" fmla="*/ 0 w 4032"/>
              <a:gd name="T1" fmla="*/ 0 h 400"/>
              <a:gd name="T2" fmla="*/ 2147483647 w 4032"/>
              <a:gd name="T3" fmla="*/ 2147483647 h 400"/>
              <a:gd name="T4" fmla="*/ 2147483647 w 4032"/>
              <a:gd name="T5" fmla="*/ 2147483647 h 400"/>
              <a:gd name="T6" fmla="*/ 0 60000 65536"/>
              <a:gd name="T7" fmla="*/ 0 60000 65536"/>
              <a:gd name="T8" fmla="*/ 0 60000 65536"/>
              <a:gd name="T9" fmla="*/ 0 w 4032"/>
              <a:gd name="T10" fmla="*/ 0 h 400"/>
              <a:gd name="T11" fmla="*/ 4032 w 4032"/>
              <a:gd name="T12" fmla="*/ 400 h 4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32" h="400">
                <a:moveTo>
                  <a:pt x="0" y="0"/>
                </a:moveTo>
                <a:cubicBezTo>
                  <a:pt x="672" y="184"/>
                  <a:pt x="1344" y="368"/>
                  <a:pt x="2016" y="384"/>
                </a:cubicBezTo>
                <a:cubicBezTo>
                  <a:pt x="2688" y="400"/>
                  <a:pt x="3568" y="184"/>
                  <a:pt x="4032" y="96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83089" name="Oval 17"/>
          <p:cNvSpPr>
            <a:spLocks noChangeArrowheads="1"/>
          </p:cNvSpPr>
          <p:nvPr/>
        </p:nvSpPr>
        <p:spPr bwMode="auto">
          <a:xfrm>
            <a:off x="2819400" y="40386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83090" name="Text Box 18"/>
          <p:cNvSpPr txBox="1">
            <a:spLocks noChangeArrowheads="1"/>
          </p:cNvSpPr>
          <p:nvPr/>
        </p:nvSpPr>
        <p:spPr bwMode="auto">
          <a:xfrm>
            <a:off x="4127500" y="3352801"/>
            <a:ext cx="590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g(1)</a:t>
            </a:r>
          </a:p>
        </p:txBody>
      </p:sp>
      <p:sp>
        <p:nvSpPr>
          <p:cNvPr id="1283091" name="Text Box 19"/>
          <p:cNvSpPr txBox="1">
            <a:spLocks noChangeArrowheads="1"/>
          </p:cNvSpPr>
          <p:nvPr/>
        </p:nvSpPr>
        <p:spPr bwMode="auto">
          <a:xfrm>
            <a:off x="7423150" y="3429001"/>
            <a:ext cx="527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f(5)</a:t>
            </a:r>
          </a:p>
        </p:txBody>
      </p:sp>
      <p:sp>
        <p:nvSpPr>
          <p:cNvPr id="1283092" name="Text Box 20"/>
          <p:cNvSpPr txBox="1">
            <a:spLocks noChangeArrowheads="1"/>
          </p:cNvSpPr>
          <p:nvPr/>
        </p:nvSpPr>
        <p:spPr bwMode="auto">
          <a:xfrm>
            <a:off x="5588524" y="5257800"/>
            <a:ext cx="11721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(f ○ g)(1)</a:t>
            </a:r>
          </a:p>
        </p:txBody>
      </p:sp>
      <p:sp>
        <p:nvSpPr>
          <p:cNvPr id="1283093" name="Text Box 21"/>
          <p:cNvSpPr txBox="1">
            <a:spLocks noChangeArrowheads="1"/>
          </p:cNvSpPr>
          <p:nvPr/>
        </p:nvSpPr>
        <p:spPr bwMode="auto">
          <a:xfrm>
            <a:off x="5661025" y="4267201"/>
            <a:ext cx="850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g(1)=5</a:t>
            </a:r>
          </a:p>
        </p:txBody>
      </p:sp>
      <p:sp>
        <p:nvSpPr>
          <p:cNvPr id="1283094" name="Text Box 22"/>
          <p:cNvSpPr txBox="1">
            <a:spLocks noChangeArrowheads="1"/>
          </p:cNvSpPr>
          <p:nvPr/>
        </p:nvSpPr>
        <p:spPr bwMode="auto">
          <a:xfrm>
            <a:off x="9144000" y="3733801"/>
            <a:ext cx="1193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f(g(1))=13</a:t>
            </a:r>
          </a:p>
        </p:txBody>
      </p:sp>
      <p:sp>
        <p:nvSpPr>
          <p:cNvPr id="1283095" name="Text Box 23"/>
          <p:cNvSpPr txBox="1">
            <a:spLocks noChangeArrowheads="1"/>
          </p:cNvSpPr>
          <p:nvPr/>
        </p:nvSpPr>
        <p:spPr bwMode="auto">
          <a:xfrm>
            <a:off x="2514600" y="396240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6344" name="Text Box 24"/>
          <p:cNvSpPr txBox="1">
            <a:spLocks noChangeArrowheads="1"/>
          </p:cNvSpPr>
          <p:nvPr/>
        </p:nvSpPr>
        <p:spPr bwMode="auto">
          <a:xfrm>
            <a:off x="2743200" y="2209801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r>
              <a:rPr lang="en-US" b="1"/>
              <a:t>R</a:t>
            </a:r>
          </a:p>
        </p:txBody>
      </p:sp>
      <p:sp>
        <p:nvSpPr>
          <p:cNvPr id="56345" name="Text Box 25"/>
          <p:cNvSpPr txBox="1">
            <a:spLocks noChangeArrowheads="1"/>
          </p:cNvSpPr>
          <p:nvPr/>
        </p:nvSpPr>
        <p:spPr bwMode="auto">
          <a:xfrm>
            <a:off x="5867400" y="2286001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r>
              <a:rPr lang="en-US" b="1"/>
              <a:t>R</a:t>
            </a:r>
          </a:p>
        </p:txBody>
      </p:sp>
      <p:sp>
        <p:nvSpPr>
          <p:cNvPr id="56346" name="Text Box 26"/>
          <p:cNvSpPr txBox="1">
            <a:spLocks noChangeArrowheads="1"/>
          </p:cNvSpPr>
          <p:nvPr/>
        </p:nvSpPr>
        <p:spPr bwMode="auto">
          <a:xfrm>
            <a:off x="8991600" y="2286001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r>
              <a:rPr lang="en-US" b="1"/>
              <a:t>R</a:t>
            </a:r>
          </a:p>
        </p:txBody>
      </p:sp>
      <p:sp>
        <p:nvSpPr>
          <p:cNvPr id="56347" name="Rectangle 27"/>
          <p:cNvSpPr>
            <a:spLocks noChangeArrowheads="1"/>
          </p:cNvSpPr>
          <p:nvPr/>
        </p:nvSpPr>
        <p:spPr bwMode="auto">
          <a:xfrm>
            <a:off x="3021013" y="1527175"/>
            <a:ext cx="5891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 sz="2400"/>
              <a:t>Let f(x) = 2x+3		Let g(x) = 3x+2</a:t>
            </a:r>
          </a:p>
        </p:txBody>
      </p:sp>
      <p:sp>
        <p:nvSpPr>
          <p:cNvPr id="1283100" name="Rectangle 28"/>
          <p:cNvSpPr>
            <a:spLocks noChangeArrowheads="1"/>
          </p:cNvSpPr>
          <p:nvPr/>
        </p:nvSpPr>
        <p:spPr bwMode="auto">
          <a:xfrm>
            <a:off x="2263776" y="5946775"/>
            <a:ext cx="3749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 sz="2400"/>
              <a:t>f(g(x)) = 2(3x+2)+3 = 6x+7</a:t>
            </a:r>
          </a:p>
        </p:txBody>
      </p:sp>
      <p:sp>
        <p:nvSpPr>
          <p:cNvPr id="29" name="Title 1"/>
          <p:cNvSpPr txBox="1">
            <a:spLocks/>
          </p:cNvSpPr>
          <p:nvPr/>
        </p:nvSpPr>
        <p:spPr>
          <a:xfrm>
            <a:off x="0" y="3"/>
            <a:ext cx="12192000" cy="122872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smtClean="0">
                <a:solidFill>
                  <a:schemeClr val="bg1"/>
                </a:solidFill>
                <a:latin typeface="Rockwell" panose="02060603020205020403" pitchFamily="18" charset="0"/>
              </a:rPr>
              <a:t>Compositions of functions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51995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3077" grpId="0" animBg="1"/>
      <p:bldP spid="1283078" grpId="0"/>
      <p:bldP spid="1283079" grpId="0" animBg="1"/>
      <p:bldP spid="1283080" grpId="0" animBg="1"/>
      <p:bldP spid="1283082" grpId="0" animBg="1"/>
      <p:bldP spid="1283083" grpId="0"/>
      <p:bldP spid="1283084" grpId="0" animBg="1"/>
      <p:bldP spid="1283085" grpId="0" animBg="1"/>
      <p:bldP spid="1283086" grpId="0" animBg="1"/>
      <p:bldP spid="1283087" grpId="0"/>
      <p:bldP spid="1283088" grpId="0" animBg="1"/>
      <p:bldP spid="1283089" grpId="0" animBg="1"/>
      <p:bldP spid="1283090" grpId="0"/>
      <p:bldP spid="1283091" grpId="0"/>
      <p:bldP spid="1283092" grpId="0"/>
      <p:bldP spid="1283093" grpId="0"/>
      <p:bldP spid="1283094" grpId="0"/>
      <p:bldP spid="1283095" grpId="0"/>
      <p:bldP spid="128310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1066800"/>
          </a:xfrm>
        </p:spPr>
        <p:txBody>
          <a:bodyPr/>
          <a:lstStyle/>
          <a:p>
            <a:pPr eaLnBrk="1" hangingPunct="1"/>
            <a:r>
              <a:rPr lang="en-US" b="1" dirty="0" smtClean="0"/>
              <a:t>Compositions of functions</a:t>
            </a:r>
          </a:p>
        </p:txBody>
      </p:sp>
      <p:sp>
        <p:nvSpPr>
          <p:cNvPr id="128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8175" y="1431925"/>
            <a:ext cx="8375650" cy="4483100"/>
          </a:xfrm>
        </p:spPr>
        <p:txBody>
          <a:bodyPr>
            <a:noAutofit/>
          </a:bodyPr>
          <a:lstStyle/>
          <a:p>
            <a:pPr eaLnBrk="1" hangingPunct="1">
              <a:buFont typeface="Monotype Sorts" pitchFamily="-65" charset="2"/>
              <a:buNone/>
            </a:pPr>
            <a:r>
              <a:rPr lang="en-US" dirty="0"/>
              <a:t>Does f(g(x)) = g(f(x))?</a:t>
            </a:r>
          </a:p>
          <a:p>
            <a:pPr eaLnBrk="1" hangingPunct="1">
              <a:buFont typeface="Monotype Sorts" pitchFamily="-65" charset="2"/>
              <a:buNone/>
            </a:pPr>
            <a:endParaRPr lang="en-US" dirty="0"/>
          </a:p>
          <a:p>
            <a:pPr eaLnBrk="1" hangingPunct="1">
              <a:buFont typeface="Monotype Sorts" pitchFamily="-65" charset="2"/>
              <a:buNone/>
            </a:pPr>
            <a:r>
              <a:rPr lang="en-US" dirty="0"/>
              <a:t>Let f(x) = 2x+3			Let g(x) = 3x+2</a:t>
            </a:r>
          </a:p>
          <a:p>
            <a:pPr eaLnBrk="1" hangingPunct="1">
              <a:buFont typeface="Monotype Sorts" pitchFamily="-65" charset="2"/>
              <a:buNone/>
            </a:pPr>
            <a:endParaRPr lang="en-US" dirty="0"/>
          </a:p>
          <a:p>
            <a:pPr eaLnBrk="1" hangingPunct="1">
              <a:buFont typeface="Monotype Sorts" pitchFamily="-65" charset="2"/>
              <a:buNone/>
            </a:pPr>
            <a:r>
              <a:rPr lang="en-US" dirty="0"/>
              <a:t>f(g(x)) = 2(3x+2)+3 = 6x+7</a:t>
            </a:r>
          </a:p>
          <a:p>
            <a:pPr eaLnBrk="1" hangingPunct="1">
              <a:buFont typeface="Monotype Sorts" pitchFamily="-65" charset="2"/>
              <a:buNone/>
            </a:pPr>
            <a:r>
              <a:rPr lang="en-US" dirty="0"/>
              <a:t>g(f(x)) = 3(2x+3)+2 = 6x+11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>
              <a:buFont typeface="Monotype Sorts" pitchFamily="-65" charset="2"/>
              <a:buNone/>
            </a:pPr>
            <a:r>
              <a:rPr lang="en-US" dirty="0"/>
              <a:t>Function composition is not commutative!</a:t>
            </a:r>
          </a:p>
        </p:txBody>
      </p:sp>
      <p:sp>
        <p:nvSpPr>
          <p:cNvPr id="1285124" name="Rectangle 4"/>
          <p:cNvSpPr>
            <a:spLocks noChangeArrowheads="1"/>
          </p:cNvSpPr>
          <p:nvPr/>
        </p:nvSpPr>
        <p:spPr bwMode="auto">
          <a:xfrm>
            <a:off x="4738688" y="3356769"/>
            <a:ext cx="1219199" cy="1186656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85125" name="Text Box 5"/>
          <p:cNvSpPr txBox="1">
            <a:spLocks noChangeArrowheads="1"/>
          </p:cNvSpPr>
          <p:nvPr/>
        </p:nvSpPr>
        <p:spPr bwMode="auto">
          <a:xfrm>
            <a:off x="6060820" y="3704759"/>
            <a:ext cx="19461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algn="ctr" eaLnBrk="1" hangingPunct="1"/>
            <a:r>
              <a:rPr lang="en-US" sz="2800" dirty="0">
                <a:solidFill>
                  <a:srgbClr val="FF0000"/>
                </a:solidFill>
              </a:rPr>
              <a:t>Not equal!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3"/>
            <a:ext cx="12192000" cy="122872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smtClean="0">
                <a:solidFill>
                  <a:schemeClr val="bg1"/>
                </a:solidFill>
                <a:latin typeface="Rockwell" panose="02060603020205020403" pitchFamily="18" charset="0"/>
              </a:rPr>
              <a:t>Compositions of functions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14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5124" grpId="0" animBg="1"/>
      <p:bldP spid="12851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Line 2"/>
          <p:cNvSpPr>
            <a:spLocks noChangeShapeType="1"/>
          </p:cNvSpPr>
          <p:nvPr/>
        </p:nvSpPr>
        <p:spPr bwMode="auto">
          <a:xfrm flipV="1">
            <a:off x="6934200" y="2493963"/>
            <a:ext cx="3048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71" name="Line 3"/>
          <p:cNvSpPr>
            <a:spLocks noChangeShapeType="1"/>
          </p:cNvSpPr>
          <p:nvPr/>
        </p:nvSpPr>
        <p:spPr bwMode="auto">
          <a:xfrm>
            <a:off x="7239000" y="2514600"/>
            <a:ext cx="0" cy="9906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73" name="Oval 5"/>
          <p:cNvSpPr>
            <a:spLocks noChangeArrowheads="1"/>
          </p:cNvSpPr>
          <p:nvPr/>
        </p:nvSpPr>
        <p:spPr bwMode="auto">
          <a:xfrm>
            <a:off x="5486400" y="2098675"/>
            <a:ext cx="114300" cy="115888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74" name="Oval 6"/>
          <p:cNvSpPr>
            <a:spLocks noChangeArrowheads="1"/>
          </p:cNvSpPr>
          <p:nvPr/>
        </p:nvSpPr>
        <p:spPr bwMode="auto">
          <a:xfrm>
            <a:off x="5486400" y="17557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75" name="Oval 7"/>
          <p:cNvSpPr>
            <a:spLocks noChangeArrowheads="1"/>
          </p:cNvSpPr>
          <p:nvPr/>
        </p:nvSpPr>
        <p:spPr bwMode="auto">
          <a:xfrm>
            <a:off x="5829300" y="2098675"/>
            <a:ext cx="114300" cy="115888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76" name="Oval 8"/>
          <p:cNvSpPr>
            <a:spLocks noChangeArrowheads="1"/>
          </p:cNvSpPr>
          <p:nvPr/>
        </p:nvSpPr>
        <p:spPr bwMode="auto">
          <a:xfrm>
            <a:off x="5829300" y="17557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77" name="Oval 9"/>
          <p:cNvSpPr>
            <a:spLocks noChangeArrowheads="1"/>
          </p:cNvSpPr>
          <p:nvPr/>
        </p:nvSpPr>
        <p:spPr bwMode="auto">
          <a:xfrm>
            <a:off x="6172200" y="2098675"/>
            <a:ext cx="114300" cy="115888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78" name="Oval 10"/>
          <p:cNvSpPr>
            <a:spLocks noChangeArrowheads="1"/>
          </p:cNvSpPr>
          <p:nvPr/>
        </p:nvSpPr>
        <p:spPr bwMode="auto">
          <a:xfrm>
            <a:off x="6172200" y="17557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79" name="Oval 11"/>
          <p:cNvSpPr>
            <a:spLocks noChangeArrowheads="1"/>
          </p:cNvSpPr>
          <p:nvPr/>
        </p:nvSpPr>
        <p:spPr bwMode="auto">
          <a:xfrm>
            <a:off x="6515100" y="2098675"/>
            <a:ext cx="114300" cy="115888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0" name="Oval 12"/>
          <p:cNvSpPr>
            <a:spLocks noChangeArrowheads="1"/>
          </p:cNvSpPr>
          <p:nvPr/>
        </p:nvSpPr>
        <p:spPr bwMode="auto">
          <a:xfrm>
            <a:off x="6515100" y="17557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1" name="Oval 13"/>
          <p:cNvSpPr>
            <a:spLocks noChangeArrowheads="1"/>
          </p:cNvSpPr>
          <p:nvPr/>
        </p:nvSpPr>
        <p:spPr bwMode="auto">
          <a:xfrm>
            <a:off x="5486400" y="14128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2" name="Oval 14"/>
          <p:cNvSpPr>
            <a:spLocks noChangeArrowheads="1"/>
          </p:cNvSpPr>
          <p:nvPr/>
        </p:nvSpPr>
        <p:spPr bwMode="auto">
          <a:xfrm>
            <a:off x="5486400" y="10699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3" name="Oval 15"/>
          <p:cNvSpPr>
            <a:spLocks noChangeArrowheads="1"/>
          </p:cNvSpPr>
          <p:nvPr/>
        </p:nvSpPr>
        <p:spPr bwMode="auto">
          <a:xfrm>
            <a:off x="5829300" y="14128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4" name="Oval 16"/>
          <p:cNvSpPr>
            <a:spLocks noChangeArrowheads="1"/>
          </p:cNvSpPr>
          <p:nvPr/>
        </p:nvSpPr>
        <p:spPr bwMode="auto">
          <a:xfrm>
            <a:off x="5829300" y="10699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5" name="Oval 17"/>
          <p:cNvSpPr>
            <a:spLocks noChangeArrowheads="1"/>
          </p:cNvSpPr>
          <p:nvPr/>
        </p:nvSpPr>
        <p:spPr bwMode="auto">
          <a:xfrm>
            <a:off x="6172200" y="14128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6" name="Oval 18"/>
          <p:cNvSpPr>
            <a:spLocks noChangeArrowheads="1"/>
          </p:cNvSpPr>
          <p:nvPr/>
        </p:nvSpPr>
        <p:spPr bwMode="auto">
          <a:xfrm>
            <a:off x="6172200" y="10699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7" name="Oval 19"/>
          <p:cNvSpPr>
            <a:spLocks noChangeArrowheads="1"/>
          </p:cNvSpPr>
          <p:nvPr/>
        </p:nvSpPr>
        <p:spPr bwMode="auto">
          <a:xfrm>
            <a:off x="6515100" y="14128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8" name="Oval 20"/>
          <p:cNvSpPr>
            <a:spLocks noChangeArrowheads="1"/>
          </p:cNvSpPr>
          <p:nvPr/>
        </p:nvSpPr>
        <p:spPr bwMode="auto">
          <a:xfrm>
            <a:off x="6515100" y="10699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9" name="Oval 21"/>
          <p:cNvSpPr>
            <a:spLocks noChangeArrowheads="1"/>
          </p:cNvSpPr>
          <p:nvPr/>
        </p:nvSpPr>
        <p:spPr bwMode="auto">
          <a:xfrm>
            <a:off x="5486400" y="34718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90" name="Oval 22"/>
          <p:cNvSpPr>
            <a:spLocks noChangeArrowheads="1"/>
          </p:cNvSpPr>
          <p:nvPr/>
        </p:nvSpPr>
        <p:spPr bwMode="auto">
          <a:xfrm>
            <a:off x="5486400" y="31289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91" name="Oval 23"/>
          <p:cNvSpPr>
            <a:spLocks noChangeArrowheads="1"/>
          </p:cNvSpPr>
          <p:nvPr/>
        </p:nvSpPr>
        <p:spPr bwMode="auto">
          <a:xfrm>
            <a:off x="5829300" y="34718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92" name="Oval 24"/>
          <p:cNvSpPr>
            <a:spLocks noChangeArrowheads="1"/>
          </p:cNvSpPr>
          <p:nvPr/>
        </p:nvSpPr>
        <p:spPr bwMode="auto">
          <a:xfrm>
            <a:off x="5829300" y="31289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93" name="Oval 25"/>
          <p:cNvSpPr>
            <a:spLocks noChangeArrowheads="1"/>
          </p:cNvSpPr>
          <p:nvPr/>
        </p:nvSpPr>
        <p:spPr bwMode="auto">
          <a:xfrm>
            <a:off x="6172200" y="34718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94" name="Oval 26"/>
          <p:cNvSpPr>
            <a:spLocks noChangeArrowheads="1"/>
          </p:cNvSpPr>
          <p:nvPr/>
        </p:nvSpPr>
        <p:spPr bwMode="auto">
          <a:xfrm>
            <a:off x="6172200" y="31289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95" name="Oval 27"/>
          <p:cNvSpPr>
            <a:spLocks noChangeArrowheads="1"/>
          </p:cNvSpPr>
          <p:nvPr/>
        </p:nvSpPr>
        <p:spPr bwMode="auto">
          <a:xfrm>
            <a:off x="6515100" y="34718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96" name="Oval 28"/>
          <p:cNvSpPr>
            <a:spLocks noChangeArrowheads="1"/>
          </p:cNvSpPr>
          <p:nvPr/>
        </p:nvSpPr>
        <p:spPr bwMode="auto">
          <a:xfrm>
            <a:off x="6515100" y="31289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97" name="Oval 29"/>
          <p:cNvSpPr>
            <a:spLocks noChangeArrowheads="1"/>
          </p:cNvSpPr>
          <p:nvPr/>
        </p:nvSpPr>
        <p:spPr bwMode="auto">
          <a:xfrm>
            <a:off x="5486400" y="27860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98" name="Oval 30"/>
          <p:cNvSpPr>
            <a:spLocks noChangeArrowheads="1"/>
          </p:cNvSpPr>
          <p:nvPr/>
        </p:nvSpPr>
        <p:spPr bwMode="auto">
          <a:xfrm>
            <a:off x="5486400" y="24431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99" name="Oval 31"/>
          <p:cNvSpPr>
            <a:spLocks noChangeArrowheads="1"/>
          </p:cNvSpPr>
          <p:nvPr/>
        </p:nvSpPr>
        <p:spPr bwMode="auto">
          <a:xfrm>
            <a:off x="5829300" y="27860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00" name="Oval 32"/>
          <p:cNvSpPr>
            <a:spLocks noChangeArrowheads="1"/>
          </p:cNvSpPr>
          <p:nvPr/>
        </p:nvSpPr>
        <p:spPr bwMode="auto">
          <a:xfrm>
            <a:off x="5829300" y="24431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01" name="Oval 33"/>
          <p:cNvSpPr>
            <a:spLocks noChangeArrowheads="1"/>
          </p:cNvSpPr>
          <p:nvPr/>
        </p:nvSpPr>
        <p:spPr bwMode="auto">
          <a:xfrm>
            <a:off x="6172200" y="27860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02" name="Oval 34"/>
          <p:cNvSpPr>
            <a:spLocks noChangeArrowheads="1"/>
          </p:cNvSpPr>
          <p:nvPr/>
        </p:nvSpPr>
        <p:spPr bwMode="auto">
          <a:xfrm>
            <a:off x="6172200" y="24431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03" name="Oval 35"/>
          <p:cNvSpPr>
            <a:spLocks noChangeArrowheads="1"/>
          </p:cNvSpPr>
          <p:nvPr/>
        </p:nvSpPr>
        <p:spPr bwMode="auto">
          <a:xfrm>
            <a:off x="6515100" y="27860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04" name="Oval 36"/>
          <p:cNvSpPr>
            <a:spLocks noChangeArrowheads="1"/>
          </p:cNvSpPr>
          <p:nvPr/>
        </p:nvSpPr>
        <p:spPr bwMode="auto">
          <a:xfrm>
            <a:off x="6515100" y="24431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05" name="Oval 37"/>
          <p:cNvSpPr>
            <a:spLocks noChangeArrowheads="1"/>
          </p:cNvSpPr>
          <p:nvPr/>
        </p:nvSpPr>
        <p:spPr bwMode="auto">
          <a:xfrm>
            <a:off x="4457700" y="2098675"/>
            <a:ext cx="114300" cy="115888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06" name="Oval 38"/>
          <p:cNvSpPr>
            <a:spLocks noChangeArrowheads="1"/>
          </p:cNvSpPr>
          <p:nvPr/>
        </p:nvSpPr>
        <p:spPr bwMode="auto">
          <a:xfrm>
            <a:off x="4457700" y="17557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07" name="Oval 39"/>
          <p:cNvSpPr>
            <a:spLocks noChangeArrowheads="1"/>
          </p:cNvSpPr>
          <p:nvPr/>
        </p:nvSpPr>
        <p:spPr bwMode="auto">
          <a:xfrm>
            <a:off x="4800600" y="2098675"/>
            <a:ext cx="114300" cy="115888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08" name="Oval 40"/>
          <p:cNvSpPr>
            <a:spLocks noChangeArrowheads="1"/>
          </p:cNvSpPr>
          <p:nvPr/>
        </p:nvSpPr>
        <p:spPr bwMode="auto">
          <a:xfrm>
            <a:off x="4800600" y="17557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09" name="Oval 41"/>
          <p:cNvSpPr>
            <a:spLocks noChangeArrowheads="1"/>
          </p:cNvSpPr>
          <p:nvPr/>
        </p:nvSpPr>
        <p:spPr bwMode="auto">
          <a:xfrm>
            <a:off x="5143500" y="2098675"/>
            <a:ext cx="114300" cy="115888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10" name="Oval 42"/>
          <p:cNvSpPr>
            <a:spLocks noChangeArrowheads="1"/>
          </p:cNvSpPr>
          <p:nvPr/>
        </p:nvSpPr>
        <p:spPr bwMode="auto">
          <a:xfrm>
            <a:off x="5143500" y="17557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11" name="Oval 43"/>
          <p:cNvSpPr>
            <a:spLocks noChangeArrowheads="1"/>
          </p:cNvSpPr>
          <p:nvPr/>
        </p:nvSpPr>
        <p:spPr bwMode="auto">
          <a:xfrm>
            <a:off x="4457700" y="14128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12" name="Oval 44"/>
          <p:cNvSpPr>
            <a:spLocks noChangeArrowheads="1"/>
          </p:cNvSpPr>
          <p:nvPr/>
        </p:nvSpPr>
        <p:spPr bwMode="auto">
          <a:xfrm>
            <a:off x="4457700" y="10699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13" name="Oval 45"/>
          <p:cNvSpPr>
            <a:spLocks noChangeArrowheads="1"/>
          </p:cNvSpPr>
          <p:nvPr/>
        </p:nvSpPr>
        <p:spPr bwMode="auto">
          <a:xfrm>
            <a:off x="4800600" y="14128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14" name="Oval 46"/>
          <p:cNvSpPr>
            <a:spLocks noChangeArrowheads="1"/>
          </p:cNvSpPr>
          <p:nvPr/>
        </p:nvSpPr>
        <p:spPr bwMode="auto">
          <a:xfrm>
            <a:off x="4800600" y="10699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15" name="Oval 47"/>
          <p:cNvSpPr>
            <a:spLocks noChangeArrowheads="1"/>
          </p:cNvSpPr>
          <p:nvPr/>
        </p:nvSpPr>
        <p:spPr bwMode="auto">
          <a:xfrm>
            <a:off x="5143500" y="14128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16" name="Oval 48"/>
          <p:cNvSpPr>
            <a:spLocks noChangeArrowheads="1"/>
          </p:cNvSpPr>
          <p:nvPr/>
        </p:nvSpPr>
        <p:spPr bwMode="auto">
          <a:xfrm>
            <a:off x="5143500" y="10699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17" name="Oval 49"/>
          <p:cNvSpPr>
            <a:spLocks noChangeArrowheads="1"/>
          </p:cNvSpPr>
          <p:nvPr/>
        </p:nvSpPr>
        <p:spPr bwMode="auto">
          <a:xfrm>
            <a:off x="4457700" y="34718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18" name="Oval 50"/>
          <p:cNvSpPr>
            <a:spLocks noChangeArrowheads="1"/>
          </p:cNvSpPr>
          <p:nvPr/>
        </p:nvSpPr>
        <p:spPr bwMode="auto">
          <a:xfrm>
            <a:off x="4457700" y="31289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19" name="Oval 51"/>
          <p:cNvSpPr>
            <a:spLocks noChangeArrowheads="1"/>
          </p:cNvSpPr>
          <p:nvPr/>
        </p:nvSpPr>
        <p:spPr bwMode="auto">
          <a:xfrm>
            <a:off x="4800600" y="34718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20" name="Oval 52"/>
          <p:cNvSpPr>
            <a:spLocks noChangeArrowheads="1"/>
          </p:cNvSpPr>
          <p:nvPr/>
        </p:nvSpPr>
        <p:spPr bwMode="auto">
          <a:xfrm>
            <a:off x="4800600" y="31289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21" name="Oval 53"/>
          <p:cNvSpPr>
            <a:spLocks noChangeArrowheads="1"/>
          </p:cNvSpPr>
          <p:nvPr/>
        </p:nvSpPr>
        <p:spPr bwMode="auto">
          <a:xfrm>
            <a:off x="5143500" y="34718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22" name="Oval 54"/>
          <p:cNvSpPr>
            <a:spLocks noChangeArrowheads="1"/>
          </p:cNvSpPr>
          <p:nvPr/>
        </p:nvSpPr>
        <p:spPr bwMode="auto">
          <a:xfrm>
            <a:off x="5143500" y="31289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23" name="Oval 55"/>
          <p:cNvSpPr>
            <a:spLocks noChangeArrowheads="1"/>
          </p:cNvSpPr>
          <p:nvPr/>
        </p:nvSpPr>
        <p:spPr bwMode="auto">
          <a:xfrm>
            <a:off x="4457700" y="27860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24" name="Oval 56"/>
          <p:cNvSpPr>
            <a:spLocks noChangeArrowheads="1"/>
          </p:cNvSpPr>
          <p:nvPr/>
        </p:nvSpPr>
        <p:spPr bwMode="auto">
          <a:xfrm>
            <a:off x="4457700" y="24431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25" name="Oval 57"/>
          <p:cNvSpPr>
            <a:spLocks noChangeArrowheads="1"/>
          </p:cNvSpPr>
          <p:nvPr/>
        </p:nvSpPr>
        <p:spPr bwMode="auto">
          <a:xfrm>
            <a:off x="4800600" y="27860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26" name="Oval 58"/>
          <p:cNvSpPr>
            <a:spLocks noChangeArrowheads="1"/>
          </p:cNvSpPr>
          <p:nvPr/>
        </p:nvSpPr>
        <p:spPr bwMode="auto">
          <a:xfrm>
            <a:off x="4800600" y="24431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27" name="Oval 59"/>
          <p:cNvSpPr>
            <a:spLocks noChangeArrowheads="1"/>
          </p:cNvSpPr>
          <p:nvPr/>
        </p:nvSpPr>
        <p:spPr bwMode="auto">
          <a:xfrm>
            <a:off x="5143500" y="27860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28" name="Oval 60"/>
          <p:cNvSpPr>
            <a:spLocks noChangeArrowheads="1"/>
          </p:cNvSpPr>
          <p:nvPr/>
        </p:nvSpPr>
        <p:spPr bwMode="auto">
          <a:xfrm>
            <a:off x="5143500" y="24431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29" name="Oval 61"/>
          <p:cNvSpPr>
            <a:spLocks noChangeArrowheads="1"/>
          </p:cNvSpPr>
          <p:nvPr/>
        </p:nvSpPr>
        <p:spPr bwMode="auto">
          <a:xfrm>
            <a:off x="8228013" y="2098675"/>
            <a:ext cx="114300" cy="115888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30" name="Oval 62"/>
          <p:cNvSpPr>
            <a:spLocks noChangeArrowheads="1"/>
          </p:cNvSpPr>
          <p:nvPr/>
        </p:nvSpPr>
        <p:spPr bwMode="auto">
          <a:xfrm>
            <a:off x="8228013" y="17557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31" name="Oval 63"/>
          <p:cNvSpPr>
            <a:spLocks noChangeArrowheads="1"/>
          </p:cNvSpPr>
          <p:nvPr/>
        </p:nvSpPr>
        <p:spPr bwMode="auto">
          <a:xfrm>
            <a:off x="8570913" y="2098675"/>
            <a:ext cx="114300" cy="115888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32" name="Oval 64"/>
          <p:cNvSpPr>
            <a:spLocks noChangeArrowheads="1"/>
          </p:cNvSpPr>
          <p:nvPr/>
        </p:nvSpPr>
        <p:spPr bwMode="auto">
          <a:xfrm>
            <a:off x="8570913" y="17557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33" name="Oval 65"/>
          <p:cNvSpPr>
            <a:spLocks noChangeArrowheads="1"/>
          </p:cNvSpPr>
          <p:nvPr/>
        </p:nvSpPr>
        <p:spPr bwMode="auto">
          <a:xfrm>
            <a:off x="8913813" y="2098675"/>
            <a:ext cx="114300" cy="115888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34" name="Oval 66"/>
          <p:cNvSpPr>
            <a:spLocks noChangeArrowheads="1"/>
          </p:cNvSpPr>
          <p:nvPr/>
        </p:nvSpPr>
        <p:spPr bwMode="auto">
          <a:xfrm>
            <a:off x="8913813" y="17557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35" name="Oval 67"/>
          <p:cNvSpPr>
            <a:spLocks noChangeArrowheads="1"/>
          </p:cNvSpPr>
          <p:nvPr/>
        </p:nvSpPr>
        <p:spPr bwMode="auto">
          <a:xfrm>
            <a:off x="9256713" y="2098675"/>
            <a:ext cx="114300" cy="115888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36" name="Oval 68"/>
          <p:cNvSpPr>
            <a:spLocks noChangeArrowheads="1"/>
          </p:cNvSpPr>
          <p:nvPr/>
        </p:nvSpPr>
        <p:spPr bwMode="auto">
          <a:xfrm>
            <a:off x="9256713" y="17557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37" name="Oval 69"/>
          <p:cNvSpPr>
            <a:spLocks noChangeArrowheads="1"/>
          </p:cNvSpPr>
          <p:nvPr/>
        </p:nvSpPr>
        <p:spPr bwMode="auto">
          <a:xfrm>
            <a:off x="8228013" y="14128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38" name="Oval 70"/>
          <p:cNvSpPr>
            <a:spLocks noChangeArrowheads="1"/>
          </p:cNvSpPr>
          <p:nvPr/>
        </p:nvSpPr>
        <p:spPr bwMode="auto">
          <a:xfrm>
            <a:off x="8228013" y="10699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39" name="Oval 71"/>
          <p:cNvSpPr>
            <a:spLocks noChangeArrowheads="1"/>
          </p:cNvSpPr>
          <p:nvPr/>
        </p:nvSpPr>
        <p:spPr bwMode="auto">
          <a:xfrm>
            <a:off x="8570913" y="14128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40" name="Oval 72"/>
          <p:cNvSpPr>
            <a:spLocks noChangeArrowheads="1"/>
          </p:cNvSpPr>
          <p:nvPr/>
        </p:nvSpPr>
        <p:spPr bwMode="auto">
          <a:xfrm>
            <a:off x="8570913" y="10699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41" name="Oval 73"/>
          <p:cNvSpPr>
            <a:spLocks noChangeArrowheads="1"/>
          </p:cNvSpPr>
          <p:nvPr/>
        </p:nvSpPr>
        <p:spPr bwMode="auto">
          <a:xfrm>
            <a:off x="8913813" y="14128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42" name="Oval 74"/>
          <p:cNvSpPr>
            <a:spLocks noChangeArrowheads="1"/>
          </p:cNvSpPr>
          <p:nvPr/>
        </p:nvSpPr>
        <p:spPr bwMode="auto">
          <a:xfrm>
            <a:off x="8913813" y="10699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43" name="Oval 75"/>
          <p:cNvSpPr>
            <a:spLocks noChangeArrowheads="1"/>
          </p:cNvSpPr>
          <p:nvPr/>
        </p:nvSpPr>
        <p:spPr bwMode="auto">
          <a:xfrm>
            <a:off x="9256713" y="14128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44" name="Oval 76"/>
          <p:cNvSpPr>
            <a:spLocks noChangeArrowheads="1"/>
          </p:cNvSpPr>
          <p:nvPr/>
        </p:nvSpPr>
        <p:spPr bwMode="auto">
          <a:xfrm>
            <a:off x="9256713" y="10699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45" name="Oval 77"/>
          <p:cNvSpPr>
            <a:spLocks noChangeArrowheads="1"/>
          </p:cNvSpPr>
          <p:nvPr/>
        </p:nvSpPr>
        <p:spPr bwMode="auto">
          <a:xfrm>
            <a:off x="8228013" y="34718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46" name="Oval 78"/>
          <p:cNvSpPr>
            <a:spLocks noChangeArrowheads="1"/>
          </p:cNvSpPr>
          <p:nvPr/>
        </p:nvSpPr>
        <p:spPr bwMode="auto">
          <a:xfrm>
            <a:off x="8228013" y="31289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47" name="Oval 79"/>
          <p:cNvSpPr>
            <a:spLocks noChangeArrowheads="1"/>
          </p:cNvSpPr>
          <p:nvPr/>
        </p:nvSpPr>
        <p:spPr bwMode="auto">
          <a:xfrm>
            <a:off x="8570913" y="34718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48" name="Oval 80"/>
          <p:cNvSpPr>
            <a:spLocks noChangeArrowheads="1"/>
          </p:cNvSpPr>
          <p:nvPr/>
        </p:nvSpPr>
        <p:spPr bwMode="auto">
          <a:xfrm>
            <a:off x="8570913" y="31289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49" name="Oval 81"/>
          <p:cNvSpPr>
            <a:spLocks noChangeArrowheads="1"/>
          </p:cNvSpPr>
          <p:nvPr/>
        </p:nvSpPr>
        <p:spPr bwMode="auto">
          <a:xfrm>
            <a:off x="8913813" y="34718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50" name="Oval 82"/>
          <p:cNvSpPr>
            <a:spLocks noChangeArrowheads="1"/>
          </p:cNvSpPr>
          <p:nvPr/>
        </p:nvSpPr>
        <p:spPr bwMode="auto">
          <a:xfrm>
            <a:off x="8913813" y="31289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51" name="Oval 83"/>
          <p:cNvSpPr>
            <a:spLocks noChangeArrowheads="1"/>
          </p:cNvSpPr>
          <p:nvPr/>
        </p:nvSpPr>
        <p:spPr bwMode="auto">
          <a:xfrm>
            <a:off x="9256713" y="34718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52" name="Oval 84"/>
          <p:cNvSpPr>
            <a:spLocks noChangeArrowheads="1"/>
          </p:cNvSpPr>
          <p:nvPr/>
        </p:nvSpPr>
        <p:spPr bwMode="auto">
          <a:xfrm>
            <a:off x="9256713" y="31289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53" name="Oval 85"/>
          <p:cNvSpPr>
            <a:spLocks noChangeArrowheads="1"/>
          </p:cNvSpPr>
          <p:nvPr/>
        </p:nvSpPr>
        <p:spPr bwMode="auto">
          <a:xfrm>
            <a:off x="8228013" y="27860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54" name="Oval 86"/>
          <p:cNvSpPr>
            <a:spLocks noChangeArrowheads="1"/>
          </p:cNvSpPr>
          <p:nvPr/>
        </p:nvSpPr>
        <p:spPr bwMode="auto">
          <a:xfrm>
            <a:off x="8228013" y="24431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55" name="Oval 87"/>
          <p:cNvSpPr>
            <a:spLocks noChangeArrowheads="1"/>
          </p:cNvSpPr>
          <p:nvPr/>
        </p:nvSpPr>
        <p:spPr bwMode="auto">
          <a:xfrm>
            <a:off x="8570913" y="27860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56" name="Oval 88"/>
          <p:cNvSpPr>
            <a:spLocks noChangeArrowheads="1"/>
          </p:cNvSpPr>
          <p:nvPr/>
        </p:nvSpPr>
        <p:spPr bwMode="auto">
          <a:xfrm>
            <a:off x="8570913" y="24431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57" name="Oval 89"/>
          <p:cNvSpPr>
            <a:spLocks noChangeArrowheads="1"/>
          </p:cNvSpPr>
          <p:nvPr/>
        </p:nvSpPr>
        <p:spPr bwMode="auto">
          <a:xfrm>
            <a:off x="8913813" y="27860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58" name="Oval 90"/>
          <p:cNvSpPr>
            <a:spLocks noChangeArrowheads="1"/>
          </p:cNvSpPr>
          <p:nvPr/>
        </p:nvSpPr>
        <p:spPr bwMode="auto">
          <a:xfrm>
            <a:off x="8913813" y="24431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59" name="Oval 91"/>
          <p:cNvSpPr>
            <a:spLocks noChangeArrowheads="1"/>
          </p:cNvSpPr>
          <p:nvPr/>
        </p:nvSpPr>
        <p:spPr bwMode="auto">
          <a:xfrm>
            <a:off x="9256713" y="27860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60" name="Oval 92"/>
          <p:cNvSpPr>
            <a:spLocks noChangeArrowheads="1"/>
          </p:cNvSpPr>
          <p:nvPr/>
        </p:nvSpPr>
        <p:spPr bwMode="auto">
          <a:xfrm>
            <a:off x="9256713" y="24431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61" name="Oval 93"/>
          <p:cNvSpPr>
            <a:spLocks noChangeArrowheads="1"/>
          </p:cNvSpPr>
          <p:nvPr/>
        </p:nvSpPr>
        <p:spPr bwMode="auto">
          <a:xfrm>
            <a:off x="6858000" y="2098675"/>
            <a:ext cx="114300" cy="115888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62" name="Oval 94"/>
          <p:cNvSpPr>
            <a:spLocks noChangeArrowheads="1"/>
          </p:cNvSpPr>
          <p:nvPr/>
        </p:nvSpPr>
        <p:spPr bwMode="auto">
          <a:xfrm>
            <a:off x="6858000" y="17557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63" name="Oval 95"/>
          <p:cNvSpPr>
            <a:spLocks noChangeArrowheads="1"/>
          </p:cNvSpPr>
          <p:nvPr/>
        </p:nvSpPr>
        <p:spPr bwMode="auto">
          <a:xfrm>
            <a:off x="7199313" y="2098675"/>
            <a:ext cx="114300" cy="115888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64" name="Oval 96"/>
          <p:cNvSpPr>
            <a:spLocks noChangeArrowheads="1"/>
          </p:cNvSpPr>
          <p:nvPr/>
        </p:nvSpPr>
        <p:spPr bwMode="auto">
          <a:xfrm>
            <a:off x="7199313" y="17557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65" name="Oval 97"/>
          <p:cNvSpPr>
            <a:spLocks noChangeArrowheads="1"/>
          </p:cNvSpPr>
          <p:nvPr/>
        </p:nvSpPr>
        <p:spPr bwMode="auto">
          <a:xfrm>
            <a:off x="7542213" y="2098675"/>
            <a:ext cx="114300" cy="115888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66" name="Oval 98"/>
          <p:cNvSpPr>
            <a:spLocks noChangeArrowheads="1"/>
          </p:cNvSpPr>
          <p:nvPr/>
        </p:nvSpPr>
        <p:spPr bwMode="auto">
          <a:xfrm>
            <a:off x="7542213" y="17557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67" name="Oval 99"/>
          <p:cNvSpPr>
            <a:spLocks noChangeArrowheads="1"/>
          </p:cNvSpPr>
          <p:nvPr/>
        </p:nvSpPr>
        <p:spPr bwMode="auto">
          <a:xfrm>
            <a:off x="7885113" y="2098675"/>
            <a:ext cx="114300" cy="115888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68" name="Oval 100"/>
          <p:cNvSpPr>
            <a:spLocks noChangeArrowheads="1"/>
          </p:cNvSpPr>
          <p:nvPr/>
        </p:nvSpPr>
        <p:spPr bwMode="auto">
          <a:xfrm>
            <a:off x="7885113" y="17557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69" name="Oval 101"/>
          <p:cNvSpPr>
            <a:spLocks noChangeArrowheads="1"/>
          </p:cNvSpPr>
          <p:nvPr/>
        </p:nvSpPr>
        <p:spPr bwMode="auto">
          <a:xfrm>
            <a:off x="6858000" y="14128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70" name="Oval 102"/>
          <p:cNvSpPr>
            <a:spLocks noChangeArrowheads="1"/>
          </p:cNvSpPr>
          <p:nvPr/>
        </p:nvSpPr>
        <p:spPr bwMode="auto">
          <a:xfrm>
            <a:off x="6858000" y="10699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71" name="Oval 103"/>
          <p:cNvSpPr>
            <a:spLocks noChangeArrowheads="1"/>
          </p:cNvSpPr>
          <p:nvPr/>
        </p:nvSpPr>
        <p:spPr bwMode="auto">
          <a:xfrm>
            <a:off x="7199313" y="14128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72" name="Oval 104"/>
          <p:cNvSpPr>
            <a:spLocks noChangeArrowheads="1"/>
          </p:cNvSpPr>
          <p:nvPr/>
        </p:nvSpPr>
        <p:spPr bwMode="auto">
          <a:xfrm>
            <a:off x="7199313" y="10699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73" name="Oval 105"/>
          <p:cNvSpPr>
            <a:spLocks noChangeArrowheads="1"/>
          </p:cNvSpPr>
          <p:nvPr/>
        </p:nvSpPr>
        <p:spPr bwMode="auto">
          <a:xfrm>
            <a:off x="7542213" y="14128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74" name="Oval 106"/>
          <p:cNvSpPr>
            <a:spLocks noChangeArrowheads="1"/>
          </p:cNvSpPr>
          <p:nvPr/>
        </p:nvSpPr>
        <p:spPr bwMode="auto">
          <a:xfrm>
            <a:off x="7542213" y="10699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75" name="Oval 107"/>
          <p:cNvSpPr>
            <a:spLocks noChangeArrowheads="1"/>
          </p:cNvSpPr>
          <p:nvPr/>
        </p:nvSpPr>
        <p:spPr bwMode="auto">
          <a:xfrm>
            <a:off x="7885113" y="14128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76" name="Oval 108"/>
          <p:cNvSpPr>
            <a:spLocks noChangeArrowheads="1"/>
          </p:cNvSpPr>
          <p:nvPr/>
        </p:nvSpPr>
        <p:spPr bwMode="auto">
          <a:xfrm>
            <a:off x="7885113" y="1069975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77" name="Oval 109"/>
          <p:cNvSpPr>
            <a:spLocks noChangeArrowheads="1"/>
          </p:cNvSpPr>
          <p:nvPr/>
        </p:nvSpPr>
        <p:spPr bwMode="auto">
          <a:xfrm>
            <a:off x="6858000" y="34718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78" name="Oval 110"/>
          <p:cNvSpPr>
            <a:spLocks noChangeArrowheads="1"/>
          </p:cNvSpPr>
          <p:nvPr/>
        </p:nvSpPr>
        <p:spPr bwMode="auto">
          <a:xfrm>
            <a:off x="6858000" y="31289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79" name="Oval 111"/>
          <p:cNvSpPr>
            <a:spLocks noChangeArrowheads="1"/>
          </p:cNvSpPr>
          <p:nvPr/>
        </p:nvSpPr>
        <p:spPr bwMode="auto">
          <a:xfrm>
            <a:off x="7199313" y="34718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80" name="Oval 112"/>
          <p:cNvSpPr>
            <a:spLocks noChangeArrowheads="1"/>
          </p:cNvSpPr>
          <p:nvPr/>
        </p:nvSpPr>
        <p:spPr bwMode="auto">
          <a:xfrm>
            <a:off x="7199313" y="31289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81" name="Oval 113"/>
          <p:cNvSpPr>
            <a:spLocks noChangeArrowheads="1"/>
          </p:cNvSpPr>
          <p:nvPr/>
        </p:nvSpPr>
        <p:spPr bwMode="auto">
          <a:xfrm>
            <a:off x="7542213" y="34718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82" name="Oval 114"/>
          <p:cNvSpPr>
            <a:spLocks noChangeArrowheads="1"/>
          </p:cNvSpPr>
          <p:nvPr/>
        </p:nvSpPr>
        <p:spPr bwMode="auto">
          <a:xfrm>
            <a:off x="7542213" y="31289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83" name="Oval 115"/>
          <p:cNvSpPr>
            <a:spLocks noChangeArrowheads="1"/>
          </p:cNvSpPr>
          <p:nvPr/>
        </p:nvSpPr>
        <p:spPr bwMode="auto">
          <a:xfrm>
            <a:off x="7885113" y="34718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84" name="Oval 116"/>
          <p:cNvSpPr>
            <a:spLocks noChangeArrowheads="1"/>
          </p:cNvSpPr>
          <p:nvPr/>
        </p:nvSpPr>
        <p:spPr bwMode="auto">
          <a:xfrm>
            <a:off x="7885113" y="31289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85" name="Oval 117"/>
          <p:cNvSpPr>
            <a:spLocks noChangeArrowheads="1"/>
          </p:cNvSpPr>
          <p:nvPr/>
        </p:nvSpPr>
        <p:spPr bwMode="auto">
          <a:xfrm>
            <a:off x="6858000" y="27860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86" name="Oval 118"/>
          <p:cNvSpPr>
            <a:spLocks noChangeArrowheads="1"/>
          </p:cNvSpPr>
          <p:nvPr/>
        </p:nvSpPr>
        <p:spPr bwMode="auto">
          <a:xfrm>
            <a:off x="6858000" y="24431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87" name="Oval 119"/>
          <p:cNvSpPr>
            <a:spLocks noChangeArrowheads="1"/>
          </p:cNvSpPr>
          <p:nvPr/>
        </p:nvSpPr>
        <p:spPr bwMode="auto">
          <a:xfrm>
            <a:off x="7199313" y="27860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88" name="Oval 120"/>
          <p:cNvSpPr>
            <a:spLocks noChangeArrowheads="1"/>
          </p:cNvSpPr>
          <p:nvPr/>
        </p:nvSpPr>
        <p:spPr bwMode="auto">
          <a:xfrm>
            <a:off x="7199313" y="24431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89" name="Oval 121"/>
          <p:cNvSpPr>
            <a:spLocks noChangeArrowheads="1"/>
          </p:cNvSpPr>
          <p:nvPr/>
        </p:nvSpPr>
        <p:spPr bwMode="auto">
          <a:xfrm>
            <a:off x="7542213" y="27860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90" name="Oval 122"/>
          <p:cNvSpPr>
            <a:spLocks noChangeArrowheads="1"/>
          </p:cNvSpPr>
          <p:nvPr/>
        </p:nvSpPr>
        <p:spPr bwMode="auto">
          <a:xfrm>
            <a:off x="7542213" y="24431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91" name="Oval 123"/>
          <p:cNvSpPr>
            <a:spLocks noChangeArrowheads="1"/>
          </p:cNvSpPr>
          <p:nvPr/>
        </p:nvSpPr>
        <p:spPr bwMode="auto">
          <a:xfrm>
            <a:off x="7885113" y="27860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92" name="Oval 124"/>
          <p:cNvSpPr>
            <a:spLocks noChangeArrowheads="1"/>
          </p:cNvSpPr>
          <p:nvPr/>
        </p:nvSpPr>
        <p:spPr bwMode="auto">
          <a:xfrm>
            <a:off x="7885113" y="24431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93" name="Oval 125"/>
          <p:cNvSpPr>
            <a:spLocks noChangeArrowheads="1"/>
          </p:cNvSpPr>
          <p:nvPr/>
        </p:nvSpPr>
        <p:spPr bwMode="auto">
          <a:xfrm>
            <a:off x="5486400" y="4843464"/>
            <a:ext cx="114300" cy="115887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94" name="Oval 126"/>
          <p:cNvSpPr>
            <a:spLocks noChangeArrowheads="1"/>
          </p:cNvSpPr>
          <p:nvPr/>
        </p:nvSpPr>
        <p:spPr bwMode="auto">
          <a:xfrm>
            <a:off x="5486400" y="45005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95" name="Oval 127"/>
          <p:cNvSpPr>
            <a:spLocks noChangeArrowheads="1"/>
          </p:cNvSpPr>
          <p:nvPr/>
        </p:nvSpPr>
        <p:spPr bwMode="auto">
          <a:xfrm>
            <a:off x="5829300" y="4843464"/>
            <a:ext cx="114300" cy="115887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96" name="Oval 128"/>
          <p:cNvSpPr>
            <a:spLocks noChangeArrowheads="1"/>
          </p:cNvSpPr>
          <p:nvPr/>
        </p:nvSpPr>
        <p:spPr bwMode="auto">
          <a:xfrm>
            <a:off x="5829300" y="45005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97" name="Oval 129"/>
          <p:cNvSpPr>
            <a:spLocks noChangeArrowheads="1"/>
          </p:cNvSpPr>
          <p:nvPr/>
        </p:nvSpPr>
        <p:spPr bwMode="auto">
          <a:xfrm>
            <a:off x="6172200" y="4843464"/>
            <a:ext cx="114300" cy="115887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98" name="Oval 130"/>
          <p:cNvSpPr>
            <a:spLocks noChangeArrowheads="1"/>
          </p:cNvSpPr>
          <p:nvPr/>
        </p:nvSpPr>
        <p:spPr bwMode="auto">
          <a:xfrm>
            <a:off x="6172200" y="45005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99" name="Oval 131"/>
          <p:cNvSpPr>
            <a:spLocks noChangeArrowheads="1"/>
          </p:cNvSpPr>
          <p:nvPr/>
        </p:nvSpPr>
        <p:spPr bwMode="auto">
          <a:xfrm>
            <a:off x="6515100" y="4843464"/>
            <a:ext cx="114300" cy="115887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00" name="Oval 132"/>
          <p:cNvSpPr>
            <a:spLocks noChangeArrowheads="1"/>
          </p:cNvSpPr>
          <p:nvPr/>
        </p:nvSpPr>
        <p:spPr bwMode="auto">
          <a:xfrm>
            <a:off x="6515100" y="45005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01" name="Oval 133"/>
          <p:cNvSpPr>
            <a:spLocks noChangeArrowheads="1"/>
          </p:cNvSpPr>
          <p:nvPr/>
        </p:nvSpPr>
        <p:spPr bwMode="auto">
          <a:xfrm>
            <a:off x="5486400" y="41576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02" name="Oval 134"/>
          <p:cNvSpPr>
            <a:spLocks noChangeArrowheads="1"/>
          </p:cNvSpPr>
          <p:nvPr/>
        </p:nvSpPr>
        <p:spPr bwMode="auto">
          <a:xfrm>
            <a:off x="5486400" y="38147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03" name="Oval 135"/>
          <p:cNvSpPr>
            <a:spLocks noChangeArrowheads="1"/>
          </p:cNvSpPr>
          <p:nvPr/>
        </p:nvSpPr>
        <p:spPr bwMode="auto">
          <a:xfrm>
            <a:off x="5829300" y="41576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04" name="Oval 136"/>
          <p:cNvSpPr>
            <a:spLocks noChangeArrowheads="1"/>
          </p:cNvSpPr>
          <p:nvPr/>
        </p:nvSpPr>
        <p:spPr bwMode="auto">
          <a:xfrm>
            <a:off x="5829300" y="38147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05" name="Oval 137"/>
          <p:cNvSpPr>
            <a:spLocks noChangeArrowheads="1"/>
          </p:cNvSpPr>
          <p:nvPr/>
        </p:nvSpPr>
        <p:spPr bwMode="auto">
          <a:xfrm>
            <a:off x="6172200" y="41576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06" name="Oval 138"/>
          <p:cNvSpPr>
            <a:spLocks noChangeArrowheads="1"/>
          </p:cNvSpPr>
          <p:nvPr/>
        </p:nvSpPr>
        <p:spPr bwMode="auto">
          <a:xfrm>
            <a:off x="6172200" y="38147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07" name="Oval 139"/>
          <p:cNvSpPr>
            <a:spLocks noChangeArrowheads="1"/>
          </p:cNvSpPr>
          <p:nvPr/>
        </p:nvSpPr>
        <p:spPr bwMode="auto">
          <a:xfrm>
            <a:off x="6515100" y="41576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08" name="Oval 140"/>
          <p:cNvSpPr>
            <a:spLocks noChangeArrowheads="1"/>
          </p:cNvSpPr>
          <p:nvPr/>
        </p:nvSpPr>
        <p:spPr bwMode="auto">
          <a:xfrm>
            <a:off x="6515100" y="38147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09" name="Oval 141"/>
          <p:cNvSpPr>
            <a:spLocks noChangeArrowheads="1"/>
          </p:cNvSpPr>
          <p:nvPr/>
        </p:nvSpPr>
        <p:spPr bwMode="auto">
          <a:xfrm>
            <a:off x="5486400" y="58737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10" name="Oval 142"/>
          <p:cNvSpPr>
            <a:spLocks noChangeArrowheads="1"/>
          </p:cNvSpPr>
          <p:nvPr/>
        </p:nvSpPr>
        <p:spPr bwMode="auto">
          <a:xfrm>
            <a:off x="5829300" y="58737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11" name="Oval 143"/>
          <p:cNvSpPr>
            <a:spLocks noChangeArrowheads="1"/>
          </p:cNvSpPr>
          <p:nvPr/>
        </p:nvSpPr>
        <p:spPr bwMode="auto">
          <a:xfrm>
            <a:off x="6172200" y="58737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12" name="Oval 144"/>
          <p:cNvSpPr>
            <a:spLocks noChangeArrowheads="1"/>
          </p:cNvSpPr>
          <p:nvPr/>
        </p:nvSpPr>
        <p:spPr bwMode="auto">
          <a:xfrm>
            <a:off x="6515100" y="58737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13" name="Oval 145"/>
          <p:cNvSpPr>
            <a:spLocks noChangeArrowheads="1"/>
          </p:cNvSpPr>
          <p:nvPr/>
        </p:nvSpPr>
        <p:spPr bwMode="auto">
          <a:xfrm>
            <a:off x="5486400" y="55308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14" name="Oval 146"/>
          <p:cNvSpPr>
            <a:spLocks noChangeArrowheads="1"/>
          </p:cNvSpPr>
          <p:nvPr/>
        </p:nvSpPr>
        <p:spPr bwMode="auto">
          <a:xfrm>
            <a:off x="5486400" y="51879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15" name="Oval 147"/>
          <p:cNvSpPr>
            <a:spLocks noChangeArrowheads="1"/>
          </p:cNvSpPr>
          <p:nvPr/>
        </p:nvSpPr>
        <p:spPr bwMode="auto">
          <a:xfrm>
            <a:off x="5829300" y="55308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16" name="Oval 148"/>
          <p:cNvSpPr>
            <a:spLocks noChangeArrowheads="1"/>
          </p:cNvSpPr>
          <p:nvPr/>
        </p:nvSpPr>
        <p:spPr bwMode="auto">
          <a:xfrm>
            <a:off x="5829300" y="51879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17" name="Oval 149"/>
          <p:cNvSpPr>
            <a:spLocks noChangeArrowheads="1"/>
          </p:cNvSpPr>
          <p:nvPr/>
        </p:nvSpPr>
        <p:spPr bwMode="auto">
          <a:xfrm>
            <a:off x="6172200" y="55308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18" name="Oval 150"/>
          <p:cNvSpPr>
            <a:spLocks noChangeArrowheads="1"/>
          </p:cNvSpPr>
          <p:nvPr/>
        </p:nvSpPr>
        <p:spPr bwMode="auto">
          <a:xfrm>
            <a:off x="6172200" y="51879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19" name="Oval 151"/>
          <p:cNvSpPr>
            <a:spLocks noChangeArrowheads="1"/>
          </p:cNvSpPr>
          <p:nvPr/>
        </p:nvSpPr>
        <p:spPr bwMode="auto">
          <a:xfrm>
            <a:off x="6515100" y="55308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20" name="Oval 152"/>
          <p:cNvSpPr>
            <a:spLocks noChangeArrowheads="1"/>
          </p:cNvSpPr>
          <p:nvPr/>
        </p:nvSpPr>
        <p:spPr bwMode="auto">
          <a:xfrm>
            <a:off x="6515100" y="51879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21" name="Oval 153"/>
          <p:cNvSpPr>
            <a:spLocks noChangeArrowheads="1"/>
          </p:cNvSpPr>
          <p:nvPr/>
        </p:nvSpPr>
        <p:spPr bwMode="auto">
          <a:xfrm>
            <a:off x="4457700" y="4843464"/>
            <a:ext cx="114300" cy="115887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22" name="Oval 154"/>
          <p:cNvSpPr>
            <a:spLocks noChangeArrowheads="1"/>
          </p:cNvSpPr>
          <p:nvPr/>
        </p:nvSpPr>
        <p:spPr bwMode="auto">
          <a:xfrm>
            <a:off x="4457700" y="45005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23" name="Oval 155"/>
          <p:cNvSpPr>
            <a:spLocks noChangeArrowheads="1"/>
          </p:cNvSpPr>
          <p:nvPr/>
        </p:nvSpPr>
        <p:spPr bwMode="auto">
          <a:xfrm>
            <a:off x="4800600" y="4843464"/>
            <a:ext cx="114300" cy="115887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24" name="Oval 156"/>
          <p:cNvSpPr>
            <a:spLocks noChangeArrowheads="1"/>
          </p:cNvSpPr>
          <p:nvPr/>
        </p:nvSpPr>
        <p:spPr bwMode="auto">
          <a:xfrm>
            <a:off x="4800600" y="45005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25" name="Oval 157"/>
          <p:cNvSpPr>
            <a:spLocks noChangeArrowheads="1"/>
          </p:cNvSpPr>
          <p:nvPr/>
        </p:nvSpPr>
        <p:spPr bwMode="auto">
          <a:xfrm>
            <a:off x="5143500" y="4843464"/>
            <a:ext cx="114300" cy="115887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26" name="Oval 158"/>
          <p:cNvSpPr>
            <a:spLocks noChangeArrowheads="1"/>
          </p:cNvSpPr>
          <p:nvPr/>
        </p:nvSpPr>
        <p:spPr bwMode="auto">
          <a:xfrm>
            <a:off x="5143500" y="45005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27" name="Oval 159"/>
          <p:cNvSpPr>
            <a:spLocks noChangeArrowheads="1"/>
          </p:cNvSpPr>
          <p:nvPr/>
        </p:nvSpPr>
        <p:spPr bwMode="auto">
          <a:xfrm>
            <a:off x="4457700" y="41576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28" name="Oval 160"/>
          <p:cNvSpPr>
            <a:spLocks noChangeArrowheads="1"/>
          </p:cNvSpPr>
          <p:nvPr/>
        </p:nvSpPr>
        <p:spPr bwMode="auto">
          <a:xfrm>
            <a:off x="4457700" y="38147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29" name="Oval 161"/>
          <p:cNvSpPr>
            <a:spLocks noChangeArrowheads="1"/>
          </p:cNvSpPr>
          <p:nvPr/>
        </p:nvSpPr>
        <p:spPr bwMode="auto">
          <a:xfrm>
            <a:off x="4800600" y="41576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30" name="Oval 162"/>
          <p:cNvSpPr>
            <a:spLocks noChangeArrowheads="1"/>
          </p:cNvSpPr>
          <p:nvPr/>
        </p:nvSpPr>
        <p:spPr bwMode="auto">
          <a:xfrm>
            <a:off x="4800600" y="38147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31" name="Oval 163"/>
          <p:cNvSpPr>
            <a:spLocks noChangeArrowheads="1"/>
          </p:cNvSpPr>
          <p:nvPr/>
        </p:nvSpPr>
        <p:spPr bwMode="auto">
          <a:xfrm>
            <a:off x="5143500" y="41576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32" name="Oval 164"/>
          <p:cNvSpPr>
            <a:spLocks noChangeArrowheads="1"/>
          </p:cNvSpPr>
          <p:nvPr/>
        </p:nvSpPr>
        <p:spPr bwMode="auto">
          <a:xfrm>
            <a:off x="5143500" y="38147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33" name="Oval 165"/>
          <p:cNvSpPr>
            <a:spLocks noChangeArrowheads="1"/>
          </p:cNvSpPr>
          <p:nvPr/>
        </p:nvSpPr>
        <p:spPr bwMode="auto">
          <a:xfrm>
            <a:off x="4457700" y="58737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34" name="Oval 166"/>
          <p:cNvSpPr>
            <a:spLocks noChangeArrowheads="1"/>
          </p:cNvSpPr>
          <p:nvPr/>
        </p:nvSpPr>
        <p:spPr bwMode="auto">
          <a:xfrm>
            <a:off x="4800600" y="58737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35" name="Oval 167"/>
          <p:cNvSpPr>
            <a:spLocks noChangeArrowheads="1"/>
          </p:cNvSpPr>
          <p:nvPr/>
        </p:nvSpPr>
        <p:spPr bwMode="auto">
          <a:xfrm>
            <a:off x="5143500" y="58737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36" name="Oval 168"/>
          <p:cNvSpPr>
            <a:spLocks noChangeArrowheads="1"/>
          </p:cNvSpPr>
          <p:nvPr/>
        </p:nvSpPr>
        <p:spPr bwMode="auto">
          <a:xfrm>
            <a:off x="4457700" y="55308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37" name="Oval 169"/>
          <p:cNvSpPr>
            <a:spLocks noChangeArrowheads="1"/>
          </p:cNvSpPr>
          <p:nvPr/>
        </p:nvSpPr>
        <p:spPr bwMode="auto">
          <a:xfrm>
            <a:off x="4457700" y="51879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38" name="Oval 170"/>
          <p:cNvSpPr>
            <a:spLocks noChangeArrowheads="1"/>
          </p:cNvSpPr>
          <p:nvPr/>
        </p:nvSpPr>
        <p:spPr bwMode="auto">
          <a:xfrm>
            <a:off x="4800600" y="55308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39" name="Oval 171"/>
          <p:cNvSpPr>
            <a:spLocks noChangeArrowheads="1"/>
          </p:cNvSpPr>
          <p:nvPr/>
        </p:nvSpPr>
        <p:spPr bwMode="auto">
          <a:xfrm>
            <a:off x="4800600" y="51879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40" name="Oval 172"/>
          <p:cNvSpPr>
            <a:spLocks noChangeArrowheads="1"/>
          </p:cNvSpPr>
          <p:nvPr/>
        </p:nvSpPr>
        <p:spPr bwMode="auto">
          <a:xfrm>
            <a:off x="5143500" y="55308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41" name="Oval 173"/>
          <p:cNvSpPr>
            <a:spLocks noChangeArrowheads="1"/>
          </p:cNvSpPr>
          <p:nvPr/>
        </p:nvSpPr>
        <p:spPr bwMode="auto">
          <a:xfrm>
            <a:off x="5143500" y="51879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42" name="Oval 174"/>
          <p:cNvSpPr>
            <a:spLocks noChangeArrowheads="1"/>
          </p:cNvSpPr>
          <p:nvPr/>
        </p:nvSpPr>
        <p:spPr bwMode="auto">
          <a:xfrm>
            <a:off x="8228013" y="4843464"/>
            <a:ext cx="114300" cy="115887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43" name="Oval 175"/>
          <p:cNvSpPr>
            <a:spLocks noChangeArrowheads="1"/>
          </p:cNvSpPr>
          <p:nvPr/>
        </p:nvSpPr>
        <p:spPr bwMode="auto">
          <a:xfrm>
            <a:off x="8228013" y="45005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44" name="Oval 176"/>
          <p:cNvSpPr>
            <a:spLocks noChangeArrowheads="1"/>
          </p:cNvSpPr>
          <p:nvPr/>
        </p:nvSpPr>
        <p:spPr bwMode="auto">
          <a:xfrm>
            <a:off x="8570913" y="4843464"/>
            <a:ext cx="114300" cy="115887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45" name="Oval 177"/>
          <p:cNvSpPr>
            <a:spLocks noChangeArrowheads="1"/>
          </p:cNvSpPr>
          <p:nvPr/>
        </p:nvSpPr>
        <p:spPr bwMode="auto">
          <a:xfrm>
            <a:off x="8570913" y="45005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46" name="Oval 178"/>
          <p:cNvSpPr>
            <a:spLocks noChangeArrowheads="1"/>
          </p:cNvSpPr>
          <p:nvPr/>
        </p:nvSpPr>
        <p:spPr bwMode="auto">
          <a:xfrm>
            <a:off x="8913813" y="4843464"/>
            <a:ext cx="114300" cy="115887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47" name="Oval 179"/>
          <p:cNvSpPr>
            <a:spLocks noChangeArrowheads="1"/>
          </p:cNvSpPr>
          <p:nvPr/>
        </p:nvSpPr>
        <p:spPr bwMode="auto">
          <a:xfrm>
            <a:off x="8913813" y="45005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48" name="Oval 180"/>
          <p:cNvSpPr>
            <a:spLocks noChangeArrowheads="1"/>
          </p:cNvSpPr>
          <p:nvPr/>
        </p:nvSpPr>
        <p:spPr bwMode="auto">
          <a:xfrm>
            <a:off x="9256713" y="4843464"/>
            <a:ext cx="114300" cy="115887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49" name="Oval 181"/>
          <p:cNvSpPr>
            <a:spLocks noChangeArrowheads="1"/>
          </p:cNvSpPr>
          <p:nvPr/>
        </p:nvSpPr>
        <p:spPr bwMode="auto">
          <a:xfrm>
            <a:off x="9256713" y="45005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50" name="Oval 182"/>
          <p:cNvSpPr>
            <a:spLocks noChangeArrowheads="1"/>
          </p:cNvSpPr>
          <p:nvPr/>
        </p:nvSpPr>
        <p:spPr bwMode="auto">
          <a:xfrm>
            <a:off x="8228013" y="41576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51" name="Oval 183"/>
          <p:cNvSpPr>
            <a:spLocks noChangeArrowheads="1"/>
          </p:cNvSpPr>
          <p:nvPr/>
        </p:nvSpPr>
        <p:spPr bwMode="auto">
          <a:xfrm>
            <a:off x="8228013" y="38147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52" name="Oval 184"/>
          <p:cNvSpPr>
            <a:spLocks noChangeArrowheads="1"/>
          </p:cNvSpPr>
          <p:nvPr/>
        </p:nvSpPr>
        <p:spPr bwMode="auto">
          <a:xfrm>
            <a:off x="8570913" y="41576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53" name="Oval 185"/>
          <p:cNvSpPr>
            <a:spLocks noChangeArrowheads="1"/>
          </p:cNvSpPr>
          <p:nvPr/>
        </p:nvSpPr>
        <p:spPr bwMode="auto">
          <a:xfrm>
            <a:off x="8570913" y="38147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54" name="Oval 186"/>
          <p:cNvSpPr>
            <a:spLocks noChangeArrowheads="1"/>
          </p:cNvSpPr>
          <p:nvPr/>
        </p:nvSpPr>
        <p:spPr bwMode="auto">
          <a:xfrm>
            <a:off x="8913813" y="41576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55" name="Oval 187"/>
          <p:cNvSpPr>
            <a:spLocks noChangeArrowheads="1"/>
          </p:cNvSpPr>
          <p:nvPr/>
        </p:nvSpPr>
        <p:spPr bwMode="auto">
          <a:xfrm>
            <a:off x="8913813" y="38147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56" name="Oval 188"/>
          <p:cNvSpPr>
            <a:spLocks noChangeArrowheads="1"/>
          </p:cNvSpPr>
          <p:nvPr/>
        </p:nvSpPr>
        <p:spPr bwMode="auto">
          <a:xfrm>
            <a:off x="9256713" y="41576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57" name="Oval 189"/>
          <p:cNvSpPr>
            <a:spLocks noChangeArrowheads="1"/>
          </p:cNvSpPr>
          <p:nvPr/>
        </p:nvSpPr>
        <p:spPr bwMode="auto">
          <a:xfrm>
            <a:off x="9256713" y="38147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58" name="Oval 190"/>
          <p:cNvSpPr>
            <a:spLocks noChangeArrowheads="1"/>
          </p:cNvSpPr>
          <p:nvPr/>
        </p:nvSpPr>
        <p:spPr bwMode="auto">
          <a:xfrm>
            <a:off x="8228013" y="58737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59" name="Oval 191"/>
          <p:cNvSpPr>
            <a:spLocks noChangeArrowheads="1"/>
          </p:cNvSpPr>
          <p:nvPr/>
        </p:nvSpPr>
        <p:spPr bwMode="auto">
          <a:xfrm>
            <a:off x="8570913" y="58737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60" name="Oval 192"/>
          <p:cNvSpPr>
            <a:spLocks noChangeArrowheads="1"/>
          </p:cNvSpPr>
          <p:nvPr/>
        </p:nvSpPr>
        <p:spPr bwMode="auto">
          <a:xfrm>
            <a:off x="8913813" y="58737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61" name="Oval 193"/>
          <p:cNvSpPr>
            <a:spLocks noChangeArrowheads="1"/>
          </p:cNvSpPr>
          <p:nvPr/>
        </p:nvSpPr>
        <p:spPr bwMode="auto">
          <a:xfrm>
            <a:off x="9256713" y="58737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62" name="Oval 194"/>
          <p:cNvSpPr>
            <a:spLocks noChangeArrowheads="1"/>
          </p:cNvSpPr>
          <p:nvPr/>
        </p:nvSpPr>
        <p:spPr bwMode="auto">
          <a:xfrm>
            <a:off x="8228013" y="55308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63" name="Oval 195"/>
          <p:cNvSpPr>
            <a:spLocks noChangeArrowheads="1"/>
          </p:cNvSpPr>
          <p:nvPr/>
        </p:nvSpPr>
        <p:spPr bwMode="auto">
          <a:xfrm>
            <a:off x="8228013" y="51879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64" name="Oval 196"/>
          <p:cNvSpPr>
            <a:spLocks noChangeArrowheads="1"/>
          </p:cNvSpPr>
          <p:nvPr/>
        </p:nvSpPr>
        <p:spPr bwMode="auto">
          <a:xfrm>
            <a:off x="8570913" y="55308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65" name="Oval 197"/>
          <p:cNvSpPr>
            <a:spLocks noChangeArrowheads="1"/>
          </p:cNvSpPr>
          <p:nvPr/>
        </p:nvSpPr>
        <p:spPr bwMode="auto">
          <a:xfrm>
            <a:off x="8570913" y="51879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66" name="Oval 198"/>
          <p:cNvSpPr>
            <a:spLocks noChangeArrowheads="1"/>
          </p:cNvSpPr>
          <p:nvPr/>
        </p:nvSpPr>
        <p:spPr bwMode="auto">
          <a:xfrm>
            <a:off x="8913813" y="55308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67" name="Oval 199"/>
          <p:cNvSpPr>
            <a:spLocks noChangeArrowheads="1"/>
          </p:cNvSpPr>
          <p:nvPr/>
        </p:nvSpPr>
        <p:spPr bwMode="auto">
          <a:xfrm>
            <a:off x="8913813" y="51879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68" name="Oval 200"/>
          <p:cNvSpPr>
            <a:spLocks noChangeArrowheads="1"/>
          </p:cNvSpPr>
          <p:nvPr/>
        </p:nvSpPr>
        <p:spPr bwMode="auto">
          <a:xfrm>
            <a:off x="9256713" y="55308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69" name="Oval 201"/>
          <p:cNvSpPr>
            <a:spLocks noChangeArrowheads="1"/>
          </p:cNvSpPr>
          <p:nvPr/>
        </p:nvSpPr>
        <p:spPr bwMode="auto">
          <a:xfrm>
            <a:off x="9256713" y="51879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70" name="Oval 202"/>
          <p:cNvSpPr>
            <a:spLocks noChangeArrowheads="1"/>
          </p:cNvSpPr>
          <p:nvPr/>
        </p:nvSpPr>
        <p:spPr bwMode="auto">
          <a:xfrm>
            <a:off x="6858000" y="4843464"/>
            <a:ext cx="114300" cy="115887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71" name="Oval 203"/>
          <p:cNvSpPr>
            <a:spLocks noChangeArrowheads="1"/>
          </p:cNvSpPr>
          <p:nvPr/>
        </p:nvSpPr>
        <p:spPr bwMode="auto">
          <a:xfrm>
            <a:off x="6858000" y="45005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72" name="Oval 204"/>
          <p:cNvSpPr>
            <a:spLocks noChangeArrowheads="1"/>
          </p:cNvSpPr>
          <p:nvPr/>
        </p:nvSpPr>
        <p:spPr bwMode="auto">
          <a:xfrm>
            <a:off x="7199313" y="4843464"/>
            <a:ext cx="114300" cy="115887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73" name="Oval 205"/>
          <p:cNvSpPr>
            <a:spLocks noChangeArrowheads="1"/>
          </p:cNvSpPr>
          <p:nvPr/>
        </p:nvSpPr>
        <p:spPr bwMode="auto">
          <a:xfrm>
            <a:off x="7199313" y="45005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74" name="Oval 206"/>
          <p:cNvSpPr>
            <a:spLocks noChangeArrowheads="1"/>
          </p:cNvSpPr>
          <p:nvPr/>
        </p:nvSpPr>
        <p:spPr bwMode="auto">
          <a:xfrm>
            <a:off x="7542213" y="4843464"/>
            <a:ext cx="114300" cy="115887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75" name="Oval 207"/>
          <p:cNvSpPr>
            <a:spLocks noChangeArrowheads="1"/>
          </p:cNvSpPr>
          <p:nvPr/>
        </p:nvSpPr>
        <p:spPr bwMode="auto">
          <a:xfrm>
            <a:off x="7542213" y="45005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76" name="Oval 208"/>
          <p:cNvSpPr>
            <a:spLocks noChangeArrowheads="1"/>
          </p:cNvSpPr>
          <p:nvPr/>
        </p:nvSpPr>
        <p:spPr bwMode="auto">
          <a:xfrm>
            <a:off x="7885113" y="4843464"/>
            <a:ext cx="114300" cy="115887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77" name="Oval 209"/>
          <p:cNvSpPr>
            <a:spLocks noChangeArrowheads="1"/>
          </p:cNvSpPr>
          <p:nvPr/>
        </p:nvSpPr>
        <p:spPr bwMode="auto">
          <a:xfrm>
            <a:off x="7885113" y="45005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78" name="Oval 210"/>
          <p:cNvSpPr>
            <a:spLocks noChangeArrowheads="1"/>
          </p:cNvSpPr>
          <p:nvPr/>
        </p:nvSpPr>
        <p:spPr bwMode="auto">
          <a:xfrm>
            <a:off x="6858000" y="41576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79" name="Oval 211"/>
          <p:cNvSpPr>
            <a:spLocks noChangeArrowheads="1"/>
          </p:cNvSpPr>
          <p:nvPr/>
        </p:nvSpPr>
        <p:spPr bwMode="auto">
          <a:xfrm>
            <a:off x="6858000" y="38147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80" name="Oval 212"/>
          <p:cNvSpPr>
            <a:spLocks noChangeArrowheads="1"/>
          </p:cNvSpPr>
          <p:nvPr/>
        </p:nvSpPr>
        <p:spPr bwMode="auto">
          <a:xfrm>
            <a:off x="7199313" y="41576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81" name="Oval 213"/>
          <p:cNvSpPr>
            <a:spLocks noChangeArrowheads="1"/>
          </p:cNvSpPr>
          <p:nvPr/>
        </p:nvSpPr>
        <p:spPr bwMode="auto">
          <a:xfrm>
            <a:off x="7199313" y="38147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82" name="Oval 214"/>
          <p:cNvSpPr>
            <a:spLocks noChangeArrowheads="1"/>
          </p:cNvSpPr>
          <p:nvPr/>
        </p:nvSpPr>
        <p:spPr bwMode="auto">
          <a:xfrm>
            <a:off x="7542213" y="41576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83" name="Oval 215"/>
          <p:cNvSpPr>
            <a:spLocks noChangeArrowheads="1"/>
          </p:cNvSpPr>
          <p:nvPr/>
        </p:nvSpPr>
        <p:spPr bwMode="auto">
          <a:xfrm>
            <a:off x="7542213" y="38147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84" name="Oval 216"/>
          <p:cNvSpPr>
            <a:spLocks noChangeArrowheads="1"/>
          </p:cNvSpPr>
          <p:nvPr/>
        </p:nvSpPr>
        <p:spPr bwMode="auto">
          <a:xfrm>
            <a:off x="7885113" y="41576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85" name="Oval 217"/>
          <p:cNvSpPr>
            <a:spLocks noChangeArrowheads="1"/>
          </p:cNvSpPr>
          <p:nvPr/>
        </p:nvSpPr>
        <p:spPr bwMode="auto">
          <a:xfrm>
            <a:off x="7885113" y="3814763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86" name="Oval 218"/>
          <p:cNvSpPr>
            <a:spLocks noChangeArrowheads="1"/>
          </p:cNvSpPr>
          <p:nvPr/>
        </p:nvSpPr>
        <p:spPr bwMode="auto">
          <a:xfrm>
            <a:off x="6858000" y="58737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87" name="Oval 219"/>
          <p:cNvSpPr>
            <a:spLocks noChangeArrowheads="1"/>
          </p:cNvSpPr>
          <p:nvPr/>
        </p:nvSpPr>
        <p:spPr bwMode="auto">
          <a:xfrm>
            <a:off x="7199313" y="58737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88" name="Oval 220"/>
          <p:cNvSpPr>
            <a:spLocks noChangeArrowheads="1"/>
          </p:cNvSpPr>
          <p:nvPr/>
        </p:nvSpPr>
        <p:spPr bwMode="auto">
          <a:xfrm>
            <a:off x="7542213" y="58737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89" name="Oval 221"/>
          <p:cNvSpPr>
            <a:spLocks noChangeArrowheads="1"/>
          </p:cNvSpPr>
          <p:nvPr/>
        </p:nvSpPr>
        <p:spPr bwMode="auto">
          <a:xfrm>
            <a:off x="7885113" y="58737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90" name="Oval 222"/>
          <p:cNvSpPr>
            <a:spLocks noChangeArrowheads="1"/>
          </p:cNvSpPr>
          <p:nvPr/>
        </p:nvSpPr>
        <p:spPr bwMode="auto">
          <a:xfrm>
            <a:off x="6858000" y="55308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91" name="Oval 223"/>
          <p:cNvSpPr>
            <a:spLocks noChangeArrowheads="1"/>
          </p:cNvSpPr>
          <p:nvPr/>
        </p:nvSpPr>
        <p:spPr bwMode="auto">
          <a:xfrm>
            <a:off x="6858000" y="51879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92" name="Oval 224"/>
          <p:cNvSpPr>
            <a:spLocks noChangeArrowheads="1"/>
          </p:cNvSpPr>
          <p:nvPr/>
        </p:nvSpPr>
        <p:spPr bwMode="auto">
          <a:xfrm>
            <a:off x="7199313" y="55308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93" name="Oval 225"/>
          <p:cNvSpPr>
            <a:spLocks noChangeArrowheads="1"/>
          </p:cNvSpPr>
          <p:nvPr/>
        </p:nvSpPr>
        <p:spPr bwMode="auto">
          <a:xfrm>
            <a:off x="7199313" y="51879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94" name="Oval 226"/>
          <p:cNvSpPr>
            <a:spLocks noChangeArrowheads="1"/>
          </p:cNvSpPr>
          <p:nvPr/>
        </p:nvSpPr>
        <p:spPr bwMode="auto">
          <a:xfrm>
            <a:off x="7542213" y="55308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95" name="Oval 227"/>
          <p:cNvSpPr>
            <a:spLocks noChangeArrowheads="1"/>
          </p:cNvSpPr>
          <p:nvPr/>
        </p:nvSpPr>
        <p:spPr bwMode="auto">
          <a:xfrm>
            <a:off x="7542213" y="51879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96" name="Oval 228"/>
          <p:cNvSpPr>
            <a:spLocks noChangeArrowheads="1"/>
          </p:cNvSpPr>
          <p:nvPr/>
        </p:nvSpPr>
        <p:spPr bwMode="auto">
          <a:xfrm>
            <a:off x="7885113" y="55308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97" name="Oval 229"/>
          <p:cNvSpPr>
            <a:spLocks noChangeArrowheads="1"/>
          </p:cNvSpPr>
          <p:nvPr/>
        </p:nvSpPr>
        <p:spPr bwMode="auto">
          <a:xfrm>
            <a:off x="7885113" y="5187950"/>
            <a:ext cx="114300" cy="1143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98" name="Line 230"/>
          <p:cNvSpPr>
            <a:spLocks noChangeShapeType="1"/>
          </p:cNvSpPr>
          <p:nvPr/>
        </p:nvSpPr>
        <p:spPr bwMode="auto">
          <a:xfrm>
            <a:off x="4114801" y="3532188"/>
            <a:ext cx="57134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599" name="Line 231"/>
          <p:cNvSpPr>
            <a:spLocks noChangeShapeType="1"/>
          </p:cNvSpPr>
          <p:nvPr/>
        </p:nvSpPr>
        <p:spPr bwMode="auto">
          <a:xfrm flipV="1">
            <a:off x="6915150" y="727076"/>
            <a:ext cx="0" cy="5603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87400" name="Text Box 232"/>
          <p:cNvSpPr txBox="1">
            <a:spLocks noChangeArrowheads="1"/>
          </p:cNvSpPr>
          <p:nvPr/>
        </p:nvSpPr>
        <p:spPr bwMode="auto">
          <a:xfrm>
            <a:off x="1905000" y="1657351"/>
            <a:ext cx="2303836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9pPr>
          </a:lstStyle>
          <a:p>
            <a:pPr eaLnBrk="1" hangingPunct="1"/>
            <a:r>
              <a:rPr lang="en-US" sz="2800" dirty="0"/>
              <a:t>Let f(x)=2x+1</a:t>
            </a:r>
          </a:p>
          <a:p>
            <a:pPr eaLnBrk="1" hangingPunct="1"/>
            <a:endParaRPr lang="en-US" sz="2800" dirty="0"/>
          </a:p>
          <a:p>
            <a:pPr eaLnBrk="1" hangingPunct="1"/>
            <a:r>
              <a:rPr lang="en-US" sz="2800" dirty="0"/>
              <a:t>Plot (x, f(x))</a:t>
            </a:r>
          </a:p>
          <a:p>
            <a:pPr eaLnBrk="1" hangingPunct="1"/>
            <a:endParaRPr lang="en-US" sz="2800" dirty="0"/>
          </a:p>
          <a:p>
            <a:pPr eaLnBrk="1" hangingPunct="1"/>
            <a:endParaRPr lang="en-US" sz="2800" dirty="0"/>
          </a:p>
          <a:p>
            <a:pPr eaLnBrk="1" hangingPunct="1"/>
            <a:endParaRPr lang="en-US" sz="2800" dirty="0"/>
          </a:p>
          <a:p>
            <a:pPr eaLnBrk="1" hangingPunct="1"/>
            <a:endParaRPr lang="en-US" sz="2800" dirty="0"/>
          </a:p>
          <a:p>
            <a:pPr eaLnBrk="1" hangingPunct="1"/>
            <a:endParaRPr lang="en-US" sz="2800" dirty="0"/>
          </a:p>
          <a:p>
            <a:pPr eaLnBrk="1" hangingPunct="1"/>
            <a:r>
              <a:rPr lang="en-US" sz="2800" dirty="0"/>
              <a:t>This is a plot</a:t>
            </a:r>
          </a:p>
          <a:p>
            <a:pPr eaLnBrk="1" hangingPunct="1"/>
            <a:r>
              <a:rPr lang="en-US" sz="2800" dirty="0"/>
              <a:t>of f(x)</a:t>
            </a:r>
          </a:p>
        </p:txBody>
      </p:sp>
      <p:sp>
        <p:nvSpPr>
          <p:cNvPr id="1287401" name="Oval 233"/>
          <p:cNvSpPr>
            <a:spLocks noChangeArrowheads="1"/>
          </p:cNvSpPr>
          <p:nvPr/>
        </p:nvSpPr>
        <p:spPr bwMode="auto">
          <a:xfrm>
            <a:off x="7202488" y="2444750"/>
            <a:ext cx="114300" cy="1143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87402" name="Oval 234"/>
          <p:cNvSpPr>
            <a:spLocks noChangeArrowheads="1"/>
          </p:cNvSpPr>
          <p:nvPr/>
        </p:nvSpPr>
        <p:spPr bwMode="auto">
          <a:xfrm>
            <a:off x="7543800" y="1751013"/>
            <a:ext cx="114300" cy="1143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87403" name="Oval 235"/>
          <p:cNvSpPr>
            <a:spLocks noChangeArrowheads="1"/>
          </p:cNvSpPr>
          <p:nvPr/>
        </p:nvSpPr>
        <p:spPr bwMode="auto">
          <a:xfrm>
            <a:off x="7888288" y="1065213"/>
            <a:ext cx="114300" cy="1143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87404" name="Oval 236"/>
          <p:cNvSpPr>
            <a:spLocks noChangeArrowheads="1"/>
          </p:cNvSpPr>
          <p:nvPr/>
        </p:nvSpPr>
        <p:spPr bwMode="auto">
          <a:xfrm>
            <a:off x="6854825" y="3130550"/>
            <a:ext cx="114300" cy="1143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87405" name="Oval 237"/>
          <p:cNvSpPr>
            <a:spLocks noChangeArrowheads="1"/>
          </p:cNvSpPr>
          <p:nvPr/>
        </p:nvSpPr>
        <p:spPr bwMode="auto">
          <a:xfrm>
            <a:off x="6516688" y="3816350"/>
            <a:ext cx="114300" cy="1143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87406" name="Oval 238"/>
          <p:cNvSpPr>
            <a:spLocks noChangeArrowheads="1"/>
          </p:cNvSpPr>
          <p:nvPr/>
        </p:nvSpPr>
        <p:spPr bwMode="auto">
          <a:xfrm>
            <a:off x="6170613" y="4502150"/>
            <a:ext cx="114300" cy="1143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87407" name="Oval 239"/>
          <p:cNvSpPr>
            <a:spLocks noChangeArrowheads="1"/>
          </p:cNvSpPr>
          <p:nvPr/>
        </p:nvSpPr>
        <p:spPr bwMode="auto">
          <a:xfrm>
            <a:off x="5830888" y="5187950"/>
            <a:ext cx="114300" cy="1143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87408" name="Oval 240"/>
          <p:cNvSpPr>
            <a:spLocks noChangeArrowheads="1"/>
          </p:cNvSpPr>
          <p:nvPr/>
        </p:nvSpPr>
        <p:spPr bwMode="auto">
          <a:xfrm>
            <a:off x="5486400" y="5873750"/>
            <a:ext cx="114300" cy="1143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87409" name="Line 241"/>
          <p:cNvSpPr>
            <a:spLocks noChangeShapeType="1"/>
          </p:cNvSpPr>
          <p:nvPr/>
        </p:nvSpPr>
        <p:spPr bwMode="auto">
          <a:xfrm flipH="1">
            <a:off x="7315200" y="712788"/>
            <a:ext cx="1752600" cy="27432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87410" name="Line 242"/>
          <p:cNvSpPr>
            <a:spLocks noChangeShapeType="1"/>
          </p:cNvSpPr>
          <p:nvPr/>
        </p:nvSpPr>
        <p:spPr bwMode="auto">
          <a:xfrm flipH="1">
            <a:off x="6934200" y="331788"/>
            <a:ext cx="2057400" cy="21336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87411" name="Text Box 243"/>
          <p:cNvSpPr txBox="1">
            <a:spLocks noChangeArrowheads="1"/>
          </p:cNvSpPr>
          <p:nvPr/>
        </p:nvSpPr>
        <p:spPr bwMode="auto">
          <a:xfrm>
            <a:off x="9051926" y="533401"/>
            <a:ext cx="5492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9pPr>
          </a:lstStyle>
          <a:p>
            <a:pPr eaLnBrk="1" hangingPunct="1"/>
            <a:r>
              <a:rPr lang="en-US">
                <a:solidFill>
                  <a:srgbClr val="0000FF"/>
                </a:solidFill>
                <a:latin typeface="Garamond" pitchFamily="-65" charset="0"/>
              </a:rPr>
              <a:t>x=1</a:t>
            </a:r>
          </a:p>
        </p:txBody>
      </p:sp>
      <p:sp>
        <p:nvSpPr>
          <p:cNvPr id="1287412" name="Text Box 244"/>
          <p:cNvSpPr txBox="1">
            <a:spLocks noChangeArrowheads="1"/>
          </p:cNvSpPr>
          <p:nvPr/>
        </p:nvSpPr>
        <p:spPr bwMode="auto">
          <a:xfrm>
            <a:off x="8975725" y="152401"/>
            <a:ext cx="755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9pPr>
          </a:lstStyle>
          <a:p>
            <a:pPr eaLnBrk="1" hangingPunct="1"/>
            <a:r>
              <a:rPr lang="en-US">
                <a:solidFill>
                  <a:srgbClr val="0000FF"/>
                </a:solidFill>
                <a:latin typeface="Garamond" pitchFamily="-65" charset="0"/>
              </a:rPr>
              <a:t>f(x)=3</a:t>
            </a:r>
          </a:p>
        </p:txBody>
      </p:sp>
      <p:sp>
        <p:nvSpPr>
          <p:cNvPr id="1287413" name="Line 245"/>
          <p:cNvSpPr>
            <a:spLocks noChangeShapeType="1"/>
          </p:cNvSpPr>
          <p:nvPr/>
        </p:nvSpPr>
        <p:spPr bwMode="auto">
          <a:xfrm flipH="1">
            <a:off x="7620000" y="2693988"/>
            <a:ext cx="1981200" cy="7620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87414" name="Line 246"/>
          <p:cNvSpPr>
            <a:spLocks noChangeShapeType="1"/>
          </p:cNvSpPr>
          <p:nvPr/>
        </p:nvSpPr>
        <p:spPr bwMode="auto">
          <a:xfrm flipH="1" flipV="1">
            <a:off x="6934200" y="1855788"/>
            <a:ext cx="2667000" cy="3810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87415" name="Text Box 247"/>
          <p:cNvSpPr txBox="1">
            <a:spLocks noChangeArrowheads="1"/>
          </p:cNvSpPr>
          <p:nvPr/>
        </p:nvSpPr>
        <p:spPr bwMode="auto">
          <a:xfrm>
            <a:off x="9677401" y="2465388"/>
            <a:ext cx="5492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9pPr>
          </a:lstStyle>
          <a:p>
            <a:pPr eaLnBrk="1" hangingPunct="1"/>
            <a:r>
              <a:rPr lang="en-US">
                <a:solidFill>
                  <a:srgbClr val="0000FF"/>
                </a:solidFill>
                <a:latin typeface="Garamond" pitchFamily="-65" charset="0"/>
              </a:rPr>
              <a:t>x=2</a:t>
            </a:r>
          </a:p>
        </p:txBody>
      </p:sp>
      <p:sp>
        <p:nvSpPr>
          <p:cNvPr id="1287416" name="Text Box 248"/>
          <p:cNvSpPr txBox="1">
            <a:spLocks noChangeArrowheads="1"/>
          </p:cNvSpPr>
          <p:nvPr/>
        </p:nvSpPr>
        <p:spPr bwMode="auto">
          <a:xfrm>
            <a:off x="9601200" y="2084388"/>
            <a:ext cx="755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Osaka" pitchFamily="-65" charset="-128"/>
              </a:defRPr>
            </a:lvl9pPr>
          </a:lstStyle>
          <a:p>
            <a:pPr eaLnBrk="1" hangingPunct="1"/>
            <a:r>
              <a:rPr lang="en-US">
                <a:solidFill>
                  <a:srgbClr val="0000FF"/>
                </a:solidFill>
                <a:latin typeface="Garamond" pitchFamily="-65" charset="0"/>
              </a:rPr>
              <a:t>f(x)=5</a:t>
            </a:r>
          </a:p>
        </p:txBody>
      </p:sp>
      <p:sp>
        <p:nvSpPr>
          <p:cNvPr id="1287417" name="Line 249"/>
          <p:cNvSpPr>
            <a:spLocks noChangeShapeType="1"/>
          </p:cNvSpPr>
          <p:nvPr/>
        </p:nvSpPr>
        <p:spPr bwMode="auto">
          <a:xfrm flipV="1">
            <a:off x="5257800" y="560388"/>
            <a:ext cx="2971800" cy="5943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58618" name="AutoShape 250"/>
          <p:cNvCxnSpPr>
            <a:cxnSpLocks noChangeShapeType="1"/>
            <a:stCxn id="1287417" idx="1"/>
            <a:endCxn id="1287417" idx="1"/>
          </p:cNvCxnSpPr>
          <p:nvPr/>
        </p:nvCxnSpPr>
        <p:spPr bwMode="auto">
          <a:xfrm>
            <a:off x="8228013" y="547688"/>
            <a:ext cx="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58619" name="AutoShape 251"/>
          <p:cNvCxnSpPr>
            <a:cxnSpLocks noChangeShapeType="1"/>
            <a:stCxn id="1287417" idx="1"/>
            <a:endCxn id="1287417" idx="1"/>
          </p:cNvCxnSpPr>
          <p:nvPr/>
        </p:nvCxnSpPr>
        <p:spPr bwMode="auto">
          <a:xfrm>
            <a:off x="8228013" y="547688"/>
            <a:ext cx="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52" name="Title 1"/>
          <p:cNvSpPr txBox="1">
            <a:spLocks/>
          </p:cNvSpPr>
          <p:nvPr/>
        </p:nvSpPr>
        <p:spPr>
          <a:xfrm>
            <a:off x="8732" y="-1585"/>
            <a:ext cx="5848349" cy="90169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Graphs of functions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583568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4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4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7401" grpId="0" animBg="1"/>
      <p:bldP spid="1287402" grpId="0" animBg="1"/>
      <p:bldP spid="1287403" grpId="0" animBg="1"/>
      <p:bldP spid="1287404" grpId="0" animBg="1"/>
      <p:bldP spid="1287405" grpId="0" animBg="1"/>
      <p:bldP spid="1287406" grpId="0" animBg="1"/>
      <p:bldP spid="1287407" grpId="0" animBg="1"/>
      <p:bldP spid="1287408" grpId="0" animBg="1"/>
      <p:bldP spid="1287409" grpId="0" animBg="1"/>
      <p:bldP spid="1287409" grpId="1" animBg="1"/>
      <p:bldP spid="1287410" grpId="0" animBg="1"/>
      <p:bldP spid="1287410" grpId="1" animBg="1"/>
      <p:bldP spid="1287411" grpId="0"/>
      <p:bldP spid="1287411" grpId="1"/>
      <p:bldP spid="1287412" grpId="0"/>
      <p:bldP spid="1287412" grpId="1"/>
      <p:bldP spid="1287413" grpId="0" animBg="1"/>
      <p:bldP spid="1287413" grpId="1" animBg="1"/>
      <p:bldP spid="1287414" grpId="0" animBg="1"/>
      <p:bldP spid="1287414" grpId="1" animBg="1"/>
      <p:bldP spid="1287415" grpId="0"/>
      <p:bldP spid="1287415" grpId="1"/>
      <p:bldP spid="1287416" grpId="0"/>
      <p:bldP spid="1287416" grpId="1"/>
      <p:bldP spid="128741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Floor: </a:t>
            </a:r>
            <a:r>
              <a:rPr lang="en-US" dirty="0" smtClean="0">
                <a:sym typeface="Symbol" pitchFamily="18" charset="2"/>
              </a:rPr>
              <a:t>x means </a:t>
            </a:r>
            <a:r>
              <a:rPr lang="en-US" dirty="0" smtClean="0"/>
              <a:t>take the greatest integer less than or equal to the number</a:t>
            </a:r>
          </a:p>
          <a:p>
            <a:pPr lvl="1" eaLnBrk="1" hangingPunct="1"/>
            <a:endParaRPr lang="en-US" dirty="0" smtClean="0"/>
          </a:p>
          <a:p>
            <a:pPr lvl="1" eaLnBrk="1" hangingPunct="1"/>
            <a:endParaRPr lang="en-US" dirty="0" smtClean="0"/>
          </a:p>
          <a:p>
            <a:pPr eaLnBrk="1" hangingPunct="1"/>
            <a:r>
              <a:rPr lang="en-US" dirty="0" smtClean="0"/>
              <a:t>Ceiling: </a:t>
            </a:r>
            <a:r>
              <a:rPr lang="en-US" dirty="0" smtClean="0">
                <a:sym typeface="Symbol" pitchFamily="18" charset="2"/>
              </a:rPr>
              <a:t>x means </a:t>
            </a:r>
            <a:r>
              <a:rPr lang="en-US" dirty="0" smtClean="0"/>
              <a:t>take the lowest integer </a:t>
            </a:r>
            <a:br>
              <a:rPr lang="en-US" dirty="0" smtClean="0"/>
            </a:br>
            <a:r>
              <a:rPr lang="en-US" dirty="0" smtClean="0"/>
              <a:t>greater than or equal to the number</a:t>
            </a: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round(x) = </a:t>
            </a:r>
            <a:r>
              <a:rPr lang="en-US" dirty="0" smtClean="0">
                <a:latin typeface="Symbol" pitchFamily="18" charset="2"/>
                <a:sym typeface="Symbol" pitchFamily="18" charset="2"/>
              </a:rPr>
              <a:t></a:t>
            </a:r>
            <a:r>
              <a:rPr lang="en-US" dirty="0" smtClean="0"/>
              <a:t> x+0.5 </a:t>
            </a:r>
            <a:r>
              <a:rPr lang="en-US" dirty="0" smtClean="0">
                <a:latin typeface="Symbol" pitchFamily="18" charset="2"/>
                <a:sym typeface="Symbol" pitchFamily="18" charset="2"/>
              </a:rPr>
              <a:t></a:t>
            </a:r>
            <a:endParaRPr lang="en-US" dirty="0" smtClean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3"/>
            <a:ext cx="12192000" cy="122872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Useful functions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994492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4116" y="1738312"/>
            <a:ext cx="2812868" cy="348683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Find these values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sym typeface="Symbol" pitchFamily="18" charset="2"/>
              </a:rPr>
              <a:t>1.1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sym typeface="Symbol" pitchFamily="18" charset="2"/>
              </a:rPr>
              <a:t>1.1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sym typeface="Symbol" pitchFamily="18" charset="2"/>
              </a:rPr>
              <a:t>-0.1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sym typeface="Symbol" pitchFamily="18" charset="2"/>
              </a:rPr>
              <a:t>-0.1</a:t>
            </a:r>
          </a:p>
        </p:txBody>
      </p:sp>
      <p:sp>
        <p:nvSpPr>
          <p:cNvPr id="1291268" name="Rectangle 4"/>
          <p:cNvSpPr>
            <a:spLocks noChangeArrowheads="1"/>
          </p:cNvSpPr>
          <p:nvPr/>
        </p:nvSpPr>
        <p:spPr bwMode="auto">
          <a:xfrm>
            <a:off x="4049483" y="2304370"/>
            <a:ext cx="3135085" cy="3335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FF0000"/>
              </a:buClr>
            </a:pPr>
            <a:endParaRPr lang="en-US" sz="2400" dirty="0">
              <a:latin typeface="Verdana" pitchFamily="-65" charset="0"/>
              <a:sym typeface="Symbol" pitchFamily="18" charset="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FF0000"/>
              </a:buClr>
            </a:pPr>
            <a:r>
              <a:rPr lang="en-US" sz="2400" dirty="0">
                <a:latin typeface="Verdana" pitchFamily="-65" charset="0"/>
                <a:sym typeface="Symbol" pitchFamily="18" charset="2"/>
              </a:rPr>
              <a:t>1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FF0000"/>
              </a:buClr>
            </a:pPr>
            <a:r>
              <a:rPr lang="en-US" sz="2400" dirty="0">
                <a:latin typeface="Verdana" pitchFamily="-65" charset="0"/>
                <a:sym typeface="Symbol" pitchFamily="18" charset="2"/>
              </a:rPr>
              <a:t>2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FF0000"/>
              </a:buClr>
            </a:pPr>
            <a:r>
              <a:rPr lang="en-US" sz="2400" dirty="0">
                <a:latin typeface="Verdana" pitchFamily="-65" charset="0"/>
                <a:sym typeface="Symbol" pitchFamily="18" charset="2"/>
              </a:rPr>
              <a:t>-1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FF0000"/>
              </a:buClr>
            </a:pPr>
            <a:r>
              <a:rPr lang="en-US" sz="2400" dirty="0">
                <a:latin typeface="Verdana" pitchFamily="-65" charset="0"/>
                <a:sym typeface="Symbol" pitchFamily="18" charset="2"/>
              </a:rPr>
              <a:t>0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0" y="3"/>
            <a:ext cx="12192000" cy="122872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Floor, Ceiling Examples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2975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2165</TotalTime>
  <Words>1203</Words>
  <Application>Microsoft Office PowerPoint</Application>
  <PresentationFormat>Custom</PresentationFormat>
  <Paragraphs>396</Paragraphs>
  <Slides>29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Function</vt:lpstr>
      <vt:lpstr>Function</vt:lpstr>
      <vt:lpstr>Function</vt:lpstr>
      <vt:lpstr>Definition of a function</vt:lpstr>
      <vt:lpstr>More functions</vt:lpstr>
      <vt:lpstr>Even more functions</vt:lpstr>
      <vt:lpstr>Function arithmetic</vt:lpstr>
      <vt:lpstr>Function : Loss vs NO Loss</vt:lpstr>
      <vt:lpstr>One-to-one functions</vt:lpstr>
      <vt:lpstr>More on one-to-one</vt:lpstr>
      <vt:lpstr>More on one-to-one</vt:lpstr>
      <vt:lpstr>Onto functions</vt:lpstr>
      <vt:lpstr>Onto functions</vt:lpstr>
      <vt:lpstr>More on onto</vt:lpstr>
      <vt:lpstr>More onto</vt:lpstr>
      <vt:lpstr>Slide 16</vt:lpstr>
      <vt:lpstr>Bijections</vt:lpstr>
      <vt:lpstr>Slide 18</vt:lpstr>
      <vt:lpstr>Slide 19</vt:lpstr>
      <vt:lpstr>Inverse functions</vt:lpstr>
      <vt:lpstr>Inverse functions</vt:lpstr>
      <vt:lpstr>More on inverse functions</vt:lpstr>
      <vt:lpstr>Slide 23</vt:lpstr>
      <vt:lpstr>Compositions of functions</vt:lpstr>
      <vt:lpstr>Compositions of functions</vt:lpstr>
      <vt:lpstr>Compositions of functions</vt:lpstr>
      <vt:lpstr>Slide 27</vt:lpstr>
      <vt:lpstr>Slide 28</vt:lpstr>
      <vt:lpstr>Slide 29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</dc:title>
  <dc:creator>T-T</dc:creator>
  <cp:lastModifiedBy>Ananna Sharker</cp:lastModifiedBy>
  <cp:revision>69</cp:revision>
  <dcterms:created xsi:type="dcterms:W3CDTF">2014-01-21T18:47:42Z</dcterms:created>
  <dcterms:modified xsi:type="dcterms:W3CDTF">2016-04-07T03:20:56Z</dcterms:modified>
</cp:coreProperties>
</file>