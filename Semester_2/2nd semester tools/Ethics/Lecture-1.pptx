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20"/>
  </p:notesMasterIdLst>
  <p:handoutMasterIdLst>
    <p:handoutMasterId r:id="rId21"/>
  </p:handoutMasterIdLst>
  <p:sldIdLst>
    <p:sldId id="256" r:id="rId5"/>
    <p:sldId id="285" r:id="rId6"/>
    <p:sldId id="286" r:id="rId7"/>
    <p:sldId id="287" r:id="rId8"/>
    <p:sldId id="292" r:id="rId9"/>
    <p:sldId id="301" r:id="rId10"/>
    <p:sldId id="302" r:id="rId11"/>
    <p:sldId id="303" r:id="rId12"/>
    <p:sldId id="291" r:id="rId13"/>
    <p:sldId id="296" r:id="rId14"/>
    <p:sldId id="297" r:id="rId15"/>
    <p:sldId id="298" r:id="rId16"/>
    <p:sldId id="293" r:id="rId17"/>
    <p:sldId id="299" r:id="rId18"/>
    <p:sldId id="30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5" d="100"/>
          <a:sy n="85" d="100"/>
        </p:scale>
        <p:origin x="590" y="34"/>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1/26/2025</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1/26/2025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7" name="Rectangle 6"/>
          <p:cNvSpPr/>
          <p:nvPr/>
        </p:nvSpPr>
        <p:spPr>
          <a:xfrm>
            <a:off x="2911751" y="4220307"/>
            <a:ext cx="9280249" cy="209608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0000"/>
              </a:lnSpc>
            </a:pPr>
            <a:r>
              <a:rPr lang="en-US" sz="2400" b="1" dirty="0">
                <a:solidFill>
                  <a:schemeClr val="accent3">
                    <a:lumMod val="40000"/>
                    <a:lumOff val="60000"/>
                  </a:schemeClr>
                </a:solidFill>
                <a:latin typeface="Times New Roman" panose="02020603050405020304" pitchFamily="18" charset="0"/>
                <a:cs typeface="Times New Roman" panose="02020603050405020304" pitchFamily="18" charset="0"/>
              </a:rPr>
              <a:t>Course Instructor:</a:t>
            </a:r>
          </a:p>
          <a:p>
            <a:pPr>
              <a:lnSpc>
                <a:spcPct val="100000"/>
              </a:lnSpc>
            </a:pPr>
            <a:r>
              <a:rPr lang="en-US" sz="2400" b="1" dirty="0">
                <a:solidFill>
                  <a:srgbClr val="00B0F0"/>
                </a:solidFill>
                <a:latin typeface="Times New Roman" panose="02020603050405020304" pitchFamily="18" charset="0"/>
                <a:cs typeface="Times New Roman" panose="02020603050405020304" pitchFamily="18" charset="0"/>
              </a:rPr>
              <a:t>Mohammed Golam Sarwar Bhuyan </a:t>
            </a:r>
          </a:p>
          <a:p>
            <a:pPr>
              <a:lnSpc>
                <a:spcPct val="100000"/>
              </a:lnSpc>
            </a:pPr>
            <a:r>
              <a:rPr lang="en-US" sz="2400" dirty="0">
                <a:latin typeface="Times New Roman" panose="02020603050405020304" pitchFamily="18" charset="0"/>
                <a:cs typeface="Times New Roman" panose="02020603050405020304" pitchFamily="18" charset="0"/>
              </a:rPr>
              <a:t>Professor, Dept. Of CSE</a:t>
            </a:r>
          </a:p>
          <a:p>
            <a:pPr>
              <a:lnSpc>
                <a:spcPct val="100000"/>
              </a:lnSpc>
            </a:pPr>
            <a:r>
              <a:rPr lang="en-US" sz="2400" dirty="0">
                <a:latin typeface="Times New Roman" panose="02020603050405020304" pitchFamily="18" charset="0"/>
                <a:cs typeface="Times New Roman" panose="02020603050405020304" pitchFamily="18" charset="0"/>
              </a:rPr>
              <a:t>Dean, Faculty of Electrical and Computer Engineering (ECE)</a:t>
            </a:r>
          </a:p>
          <a:p>
            <a:pPr>
              <a:lnSpc>
                <a:spcPct val="100000"/>
              </a:lnSpc>
            </a:pPr>
            <a:r>
              <a:rPr lang="en-US" sz="2400" dirty="0">
                <a:latin typeface="Times New Roman" panose="02020603050405020304" pitchFamily="18" charset="0"/>
                <a:cs typeface="Times New Roman" panose="02020603050405020304" pitchFamily="18" charset="0"/>
              </a:rPr>
              <a:t>Director, Institutional Quality Assurance Cell (IQAC)</a:t>
            </a:r>
            <a:endParaRPr lang="en-US" sz="2400" b="1" dirty="0">
              <a:latin typeface="Times New Roman" panose="02020603050405020304" pitchFamily="18" charset="0"/>
              <a:cs typeface="Times New Roman" panose="02020603050405020304" pitchFamily="18" charset="0"/>
            </a:endParaRPr>
          </a:p>
          <a:p>
            <a:pPr algn="ctr"/>
            <a:endParaRPr lang="en-US" dirty="0"/>
          </a:p>
        </p:txBody>
      </p:sp>
      <p:sp>
        <p:nvSpPr>
          <p:cNvPr id="8" name="Rectangle 7"/>
          <p:cNvSpPr/>
          <p:nvPr/>
        </p:nvSpPr>
        <p:spPr>
          <a:xfrm>
            <a:off x="3812344" y="1266248"/>
            <a:ext cx="7709096" cy="122373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HUM-3157</a:t>
            </a:r>
          </a:p>
          <a:p>
            <a:r>
              <a:rPr lang="en-US" sz="2400" b="1" dirty="0"/>
              <a:t>(Professional Ethics and Environmental Protection)</a:t>
            </a:r>
          </a:p>
          <a:p>
            <a:pPr algn="ctr"/>
            <a:endParaRPr lang="en-US" dirty="0"/>
          </a:p>
        </p:txBody>
      </p:sp>
      <p:sp>
        <p:nvSpPr>
          <p:cNvPr id="9" name="Rectangle 8"/>
          <p:cNvSpPr/>
          <p:nvPr/>
        </p:nvSpPr>
        <p:spPr>
          <a:xfrm>
            <a:off x="2686930" y="380141"/>
            <a:ext cx="9692640" cy="10829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accent6">
                    <a:lumMod val="40000"/>
                    <a:lumOff val="60000"/>
                  </a:schemeClr>
                </a:solidFill>
                <a:latin typeface="Times New Roman" panose="02020603050405020304" pitchFamily="18" charset="0"/>
                <a:cs typeface="Times New Roman" panose="02020603050405020304" pitchFamily="18" charset="0"/>
              </a:rPr>
              <a:t>Bangladesh Army University of Engineering &amp; Technology (BAUET)</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444500" y="542925"/>
            <a:ext cx="11214100" cy="535531"/>
          </a:xfrm>
        </p:spPr>
        <p:txBody>
          <a:bodyPr/>
          <a:lstStyle/>
          <a:p>
            <a:r>
              <a:rPr lang="en-US" dirty="0"/>
              <a:t>Week 1: Introduction to Ethics</a:t>
            </a:r>
          </a:p>
        </p:txBody>
      </p:sp>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
        <p:nvSpPr>
          <p:cNvPr id="3" name="Text Placeholder 2">
            <a:extLst>
              <a:ext uri="{FF2B5EF4-FFF2-40B4-BE49-F238E27FC236}">
                <a16:creationId xmlns:a16="http://schemas.microsoft.com/office/drawing/2014/main" id="{06554A61-D199-469B-AB0C-B68F82B5059F}"/>
              </a:ext>
            </a:extLst>
          </p:cNvPr>
          <p:cNvSpPr>
            <a:spLocks noGrp="1"/>
          </p:cNvSpPr>
          <p:nvPr>
            <p:ph type="body" sz="quarter" idx="13"/>
          </p:nvPr>
        </p:nvSpPr>
        <p:spPr>
          <a:xfrm>
            <a:off x="444499" y="1766046"/>
            <a:ext cx="11476567" cy="3342383"/>
          </a:xfrm>
        </p:spPr>
        <p:txBody>
          <a:bodyPr>
            <a:normAutofit/>
          </a:bodyPr>
          <a:lstStyle/>
          <a:p>
            <a:pPr algn="l"/>
            <a:endParaRPr lang="en-US" sz="3000" b="1" dirty="0">
              <a:solidFill>
                <a:srgbClr val="FFFF00"/>
              </a:solidFill>
              <a:latin typeface="Times New Roman" panose="02020603050405020304" pitchFamily="18" charset="0"/>
              <a:cs typeface="Times New Roman" panose="02020603050405020304" pitchFamily="18" charset="0"/>
            </a:endParaRPr>
          </a:p>
          <a:p>
            <a:pPr algn="l"/>
            <a:r>
              <a:rPr lang="en-US" sz="3000" b="1" dirty="0">
                <a:solidFill>
                  <a:srgbClr val="FFFF00"/>
                </a:solidFill>
                <a:latin typeface="Times New Roman" panose="02020603050405020304" pitchFamily="18" charset="0"/>
                <a:cs typeface="Times New Roman" panose="02020603050405020304" pitchFamily="18" charset="0"/>
              </a:rPr>
              <a:t>Learning Outcomes:</a:t>
            </a:r>
          </a:p>
          <a:p>
            <a:pPr algn="l"/>
            <a:r>
              <a:rPr lang="en-US" sz="2900" dirty="0">
                <a:latin typeface="Times New Roman" panose="02020603050405020304" pitchFamily="18" charset="0"/>
                <a:cs typeface="Times New Roman" panose="02020603050405020304" pitchFamily="18" charset="0"/>
              </a:rPr>
              <a:t>By the end of this week, students will be able to:</a:t>
            </a:r>
          </a:p>
          <a:p>
            <a:pPr marL="457200" indent="-457200" algn="l">
              <a:buFont typeface="Wingdings" panose="05000000000000000000" pitchFamily="2" charset="2"/>
              <a:buChar char="§"/>
            </a:pPr>
            <a:r>
              <a:rPr lang="en-US" sz="29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Understand the fundamental concepts of ethics.</a:t>
            </a:r>
          </a:p>
          <a:p>
            <a:pPr marL="457200" indent="-457200" algn="l">
              <a:buFont typeface="Wingdings" panose="05000000000000000000" pitchFamily="2" charset="2"/>
              <a:buChar char="§"/>
            </a:pPr>
            <a:r>
              <a:rPr lang="en-US" sz="29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Analyze the role of ethics in engineering practices. </a:t>
            </a:r>
          </a:p>
          <a:p>
            <a:pPr algn="l"/>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582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444500" y="542925"/>
            <a:ext cx="11214100" cy="535531"/>
          </a:xfrm>
        </p:spPr>
        <p:txBody>
          <a:bodyPr/>
          <a:lstStyle/>
          <a:p>
            <a:r>
              <a:rPr lang="en-US" dirty="0"/>
              <a:t>Week 1: Introduction to Ethics</a:t>
            </a:r>
          </a:p>
        </p:txBody>
      </p:sp>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
        <p:nvSpPr>
          <p:cNvPr id="3" name="Text Placeholder 2">
            <a:extLst>
              <a:ext uri="{FF2B5EF4-FFF2-40B4-BE49-F238E27FC236}">
                <a16:creationId xmlns:a16="http://schemas.microsoft.com/office/drawing/2014/main" id="{06554A61-D199-469B-AB0C-B68F82B5059F}"/>
              </a:ext>
            </a:extLst>
          </p:cNvPr>
          <p:cNvSpPr>
            <a:spLocks noGrp="1"/>
          </p:cNvSpPr>
          <p:nvPr>
            <p:ph type="body" sz="quarter" idx="13"/>
          </p:nvPr>
        </p:nvSpPr>
        <p:spPr>
          <a:xfrm>
            <a:off x="444500" y="1309303"/>
            <a:ext cx="11476567" cy="3358860"/>
          </a:xfrm>
        </p:spPr>
        <p:txBody>
          <a:bodyPr>
            <a:normAutofit/>
          </a:bodyPr>
          <a:lstStyle/>
          <a:p>
            <a:pPr algn="l"/>
            <a:r>
              <a:rPr lang="en-US" sz="2800" b="1" dirty="0">
                <a:latin typeface="Times New Roman" panose="02020603050405020304" pitchFamily="18" charset="0"/>
                <a:cs typeface="Times New Roman" panose="02020603050405020304" pitchFamily="18" charset="0"/>
              </a:rPr>
              <a:t>Definition of Ethics and Morality:</a:t>
            </a:r>
          </a:p>
          <a:p>
            <a:pPr algn="just"/>
            <a:r>
              <a:rPr lang="en-US" sz="3400" dirty="0">
                <a:solidFill>
                  <a:srgbClr val="FFFF00"/>
                </a:solidFill>
                <a:latin typeface="Times New Roman" panose="02020603050405020304" pitchFamily="18" charset="0"/>
                <a:cs typeface="Times New Roman" panose="02020603050405020304" pitchFamily="18" charset="0"/>
              </a:rPr>
              <a:t>Ethics: </a:t>
            </a:r>
          </a:p>
          <a:p>
            <a:pPr algn="just"/>
            <a:r>
              <a:rPr lang="en-US" sz="3400" dirty="0">
                <a:latin typeface="Times New Roman" panose="02020603050405020304" pitchFamily="18" charset="0"/>
                <a:cs typeface="Times New Roman" panose="02020603050405020304" pitchFamily="18" charset="0"/>
              </a:rPr>
              <a:t>The branch of philosophy that deals with questions of morality, encompassing concepts such as right and wrong, good and evil, virtue and vice, justice, and fairness. Ethics involves the systematization, defense, and recommendation of these concepts.</a:t>
            </a:r>
          </a:p>
        </p:txBody>
      </p:sp>
    </p:spTree>
    <p:extLst>
      <p:ext uri="{BB962C8B-B14F-4D97-AF65-F5344CB8AC3E}">
        <p14:creationId xmlns:p14="http://schemas.microsoft.com/office/powerpoint/2010/main" val="868634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444500" y="542925"/>
            <a:ext cx="11214100" cy="535531"/>
          </a:xfrm>
        </p:spPr>
        <p:txBody>
          <a:bodyPr/>
          <a:lstStyle/>
          <a:p>
            <a:r>
              <a:rPr lang="en-US" dirty="0"/>
              <a:t>Week 1: Introduction to Ethics</a:t>
            </a:r>
          </a:p>
        </p:txBody>
      </p:sp>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a:lstStyle/>
          <a:p>
            <a:fld id="{C263D6C4-4840-40CC-AC84-17E24B3B7BDE}" type="slidenum">
              <a:rPr lang="en-US" smtClean="0"/>
              <a:pPr/>
              <a:t>4</a:t>
            </a:fld>
            <a:endParaRPr lang="en-US" dirty="0"/>
          </a:p>
        </p:txBody>
      </p:sp>
      <p:sp>
        <p:nvSpPr>
          <p:cNvPr id="3" name="Text Placeholder 2">
            <a:extLst>
              <a:ext uri="{FF2B5EF4-FFF2-40B4-BE49-F238E27FC236}">
                <a16:creationId xmlns:a16="http://schemas.microsoft.com/office/drawing/2014/main" id="{06554A61-D199-469B-AB0C-B68F82B5059F}"/>
              </a:ext>
            </a:extLst>
          </p:cNvPr>
          <p:cNvSpPr>
            <a:spLocks noGrp="1"/>
          </p:cNvSpPr>
          <p:nvPr>
            <p:ph type="body" sz="quarter" idx="13"/>
          </p:nvPr>
        </p:nvSpPr>
        <p:spPr>
          <a:xfrm>
            <a:off x="444500" y="1309303"/>
            <a:ext cx="11476567" cy="3358860"/>
          </a:xfrm>
        </p:spPr>
        <p:txBody>
          <a:bodyPr>
            <a:normAutofit/>
          </a:bodyPr>
          <a:lstStyle/>
          <a:p>
            <a:pPr algn="l"/>
            <a:r>
              <a:rPr lang="en-US" sz="2800" b="1" dirty="0">
                <a:latin typeface="Times New Roman" panose="02020603050405020304" pitchFamily="18" charset="0"/>
                <a:cs typeface="Times New Roman" panose="02020603050405020304" pitchFamily="18" charset="0"/>
              </a:rPr>
              <a:t>Definition of Ethics and Morality:</a:t>
            </a:r>
          </a:p>
          <a:p>
            <a:pPr algn="just"/>
            <a:r>
              <a:rPr lang="en-US" sz="2400" dirty="0">
                <a:solidFill>
                  <a:srgbClr val="FFFF00"/>
                </a:solidFill>
                <a:latin typeface="Times New Roman" panose="02020603050405020304" pitchFamily="18" charset="0"/>
                <a:cs typeface="Times New Roman" panose="02020603050405020304" pitchFamily="18" charset="0"/>
              </a:rPr>
              <a:t>Morality: </a:t>
            </a:r>
          </a:p>
          <a:p>
            <a:pPr algn="just"/>
            <a:r>
              <a:rPr lang="en-US" sz="2400" dirty="0">
                <a:latin typeface="Times New Roman" panose="02020603050405020304" pitchFamily="18" charset="0"/>
                <a:cs typeface="Times New Roman" panose="02020603050405020304" pitchFamily="18" charset="0"/>
              </a:rPr>
              <a:t>The principles concerning the distinction between right and wrong or good and bad behavior. Morality often refers to personal or cultural values, codes of conduct, and social mores.</a:t>
            </a:r>
          </a:p>
        </p:txBody>
      </p:sp>
    </p:spTree>
    <p:extLst>
      <p:ext uri="{BB962C8B-B14F-4D97-AF65-F5344CB8AC3E}">
        <p14:creationId xmlns:p14="http://schemas.microsoft.com/office/powerpoint/2010/main" val="4202036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444500" y="542925"/>
            <a:ext cx="11214100" cy="535531"/>
          </a:xfrm>
        </p:spPr>
        <p:txBody>
          <a:bodyPr/>
          <a:lstStyle/>
          <a:p>
            <a:r>
              <a:rPr lang="en-US" dirty="0"/>
              <a:t>Week 1: Introduction to Ethics</a:t>
            </a:r>
          </a:p>
        </p:txBody>
      </p:sp>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a:lstStyle/>
          <a:p>
            <a:fld id="{C263D6C4-4840-40CC-AC84-17E24B3B7BDE}" type="slidenum">
              <a:rPr lang="en-US" smtClean="0"/>
              <a:pPr/>
              <a:t>5</a:t>
            </a:fld>
            <a:endParaRPr lang="en-US" dirty="0"/>
          </a:p>
        </p:txBody>
      </p:sp>
      <p:sp>
        <p:nvSpPr>
          <p:cNvPr id="3" name="Text Placeholder 2">
            <a:extLst>
              <a:ext uri="{FF2B5EF4-FFF2-40B4-BE49-F238E27FC236}">
                <a16:creationId xmlns:a16="http://schemas.microsoft.com/office/drawing/2014/main" id="{06554A61-D199-469B-AB0C-B68F82B5059F}"/>
              </a:ext>
            </a:extLst>
          </p:cNvPr>
          <p:cNvSpPr>
            <a:spLocks noGrp="1"/>
          </p:cNvSpPr>
          <p:nvPr>
            <p:ph type="body" sz="quarter" idx="13"/>
          </p:nvPr>
        </p:nvSpPr>
        <p:spPr>
          <a:xfrm>
            <a:off x="313266" y="1353670"/>
            <a:ext cx="11466358" cy="4840941"/>
          </a:xfrm>
        </p:spPr>
        <p:txBody>
          <a:bodyPr>
            <a:normAutofit fontScale="25000" lnSpcReduction="20000"/>
          </a:bodyPr>
          <a:lstStyle/>
          <a:p>
            <a:pPr algn="l"/>
            <a:endParaRPr lang="en-US" sz="8000" dirty="0">
              <a:solidFill>
                <a:srgbClr val="FFFF00"/>
              </a:solidFill>
              <a:latin typeface="Times New Roman" panose="02020603050405020304" pitchFamily="18" charset="0"/>
              <a:cs typeface="Times New Roman" panose="02020603050405020304" pitchFamily="18" charset="0"/>
            </a:endParaRPr>
          </a:p>
          <a:p>
            <a:pPr algn="l"/>
            <a:endParaRPr lang="en-US" sz="8000" dirty="0">
              <a:solidFill>
                <a:srgbClr val="FFFF00"/>
              </a:solidFill>
              <a:latin typeface="Times New Roman" panose="02020603050405020304" pitchFamily="18" charset="0"/>
              <a:cs typeface="Times New Roman" panose="02020603050405020304" pitchFamily="18" charset="0"/>
            </a:endParaRPr>
          </a:p>
          <a:p>
            <a:pPr algn="l"/>
            <a:endParaRPr lang="en-US" sz="8000" dirty="0">
              <a:solidFill>
                <a:srgbClr val="FFFF00"/>
              </a:solidFill>
              <a:latin typeface="Times New Roman" panose="02020603050405020304" pitchFamily="18" charset="0"/>
              <a:cs typeface="Times New Roman" panose="02020603050405020304" pitchFamily="18" charset="0"/>
            </a:endParaRPr>
          </a:p>
          <a:p>
            <a:pPr algn="l"/>
            <a:endParaRPr lang="en-US" sz="8000" dirty="0">
              <a:solidFill>
                <a:srgbClr val="FFFF00"/>
              </a:solidFill>
              <a:latin typeface="Times New Roman" panose="02020603050405020304" pitchFamily="18" charset="0"/>
              <a:cs typeface="Times New Roman" panose="02020603050405020304" pitchFamily="18" charset="0"/>
            </a:endParaRPr>
          </a:p>
          <a:p>
            <a:pPr algn="l"/>
            <a:endParaRPr lang="en-US" sz="8000" dirty="0">
              <a:solidFill>
                <a:srgbClr val="FFFF00"/>
              </a:solidFill>
              <a:latin typeface="Times New Roman" panose="02020603050405020304" pitchFamily="18" charset="0"/>
              <a:cs typeface="Times New Roman" panose="02020603050405020304" pitchFamily="18" charset="0"/>
            </a:endParaRPr>
          </a:p>
          <a:p>
            <a:pPr algn="l"/>
            <a:endParaRPr lang="en-US" sz="8000" dirty="0">
              <a:solidFill>
                <a:srgbClr val="FFFF00"/>
              </a:solidFill>
              <a:latin typeface="Times New Roman" panose="02020603050405020304" pitchFamily="18" charset="0"/>
              <a:cs typeface="Times New Roman" panose="02020603050405020304" pitchFamily="18" charset="0"/>
            </a:endParaRPr>
          </a:p>
          <a:p>
            <a:pPr algn="l"/>
            <a:r>
              <a:rPr lang="en-US" sz="9600" b="1" dirty="0">
                <a:solidFill>
                  <a:srgbClr val="FFFF00"/>
                </a:solidFill>
                <a:latin typeface="Times New Roman" panose="02020603050405020304" pitchFamily="18" charset="0"/>
                <a:cs typeface="Times New Roman" panose="02020603050405020304" pitchFamily="18" charset="0"/>
              </a:rPr>
              <a:t>Ethical theories: Deontology, Utilitarianism, Virtue Ethics</a:t>
            </a:r>
          </a:p>
          <a:p>
            <a:pPr algn="l"/>
            <a:r>
              <a:rPr lang="en-US" sz="9600" b="1" dirty="0">
                <a:latin typeface="Times New Roman" panose="02020603050405020304" pitchFamily="18" charset="0"/>
                <a:cs typeface="Times New Roman" panose="02020603050405020304" pitchFamily="18" charset="0"/>
              </a:rPr>
              <a:t>1. Deontology</a:t>
            </a:r>
          </a:p>
          <a:p>
            <a:pPr algn="l"/>
            <a:r>
              <a:rPr lang="en-US" sz="9600" b="1" dirty="0">
                <a:solidFill>
                  <a:schemeClr val="accent6">
                    <a:lumMod val="40000"/>
                    <a:lumOff val="60000"/>
                  </a:schemeClr>
                </a:solidFill>
                <a:latin typeface="Times New Roman" panose="02020603050405020304" pitchFamily="18" charset="0"/>
                <a:cs typeface="Times New Roman" panose="02020603050405020304" pitchFamily="18" charset="0"/>
              </a:rPr>
              <a:t>Core Principle</a:t>
            </a:r>
            <a:r>
              <a:rPr lang="en-US" sz="9600" dirty="0">
                <a:solidFill>
                  <a:schemeClr val="accent6">
                    <a:lumMod val="40000"/>
                    <a:lumOff val="60000"/>
                  </a:schemeClr>
                </a:solidFill>
                <a:latin typeface="Times New Roman" panose="02020603050405020304" pitchFamily="18" charset="0"/>
                <a:cs typeface="Times New Roman" panose="02020603050405020304" pitchFamily="18" charset="0"/>
              </a:rPr>
              <a:t>:</a:t>
            </a:r>
            <a:br>
              <a:rPr lang="en-US" sz="9600" dirty="0">
                <a:latin typeface="Times New Roman" panose="02020603050405020304" pitchFamily="18" charset="0"/>
                <a:cs typeface="Times New Roman" panose="02020603050405020304" pitchFamily="18" charset="0"/>
              </a:rPr>
            </a:br>
            <a:r>
              <a:rPr lang="en-US" sz="9600" dirty="0">
                <a:latin typeface="Times New Roman" panose="02020603050405020304" pitchFamily="18" charset="0"/>
                <a:cs typeface="Times New Roman" panose="02020603050405020304" pitchFamily="18" charset="0"/>
              </a:rPr>
              <a:t>Focuses on the </a:t>
            </a:r>
            <a:r>
              <a:rPr lang="en-US" sz="9600" b="1" dirty="0">
                <a:latin typeface="Times New Roman" panose="02020603050405020304" pitchFamily="18" charset="0"/>
                <a:cs typeface="Times New Roman" panose="02020603050405020304" pitchFamily="18" charset="0"/>
              </a:rPr>
              <a:t>duty</a:t>
            </a:r>
            <a:r>
              <a:rPr lang="en-US" sz="9600" dirty="0">
                <a:latin typeface="Times New Roman" panose="02020603050405020304" pitchFamily="18" charset="0"/>
                <a:cs typeface="Times New Roman" panose="02020603050405020304" pitchFamily="18" charset="0"/>
              </a:rPr>
              <a:t> and </a:t>
            </a:r>
            <a:r>
              <a:rPr lang="en-US" sz="9600" b="1" dirty="0">
                <a:latin typeface="Times New Roman" panose="02020603050405020304" pitchFamily="18" charset="0"/>
                <a:cs typeface="Times New Roman" panose="02020603050405020304" pitchFamily="18" charset="0"/>
              </a:rPr>
              <a:t>moral rules</a:t>
            </a:r>
            <a:r>
              <a:rPr lang="en-US" sz="9600" dirty="0">
                <a:latin typeface="Times New Roman" panose="02020603050405020304" pitchFamily="18" charset="0"/>
                <a:cs typeface="Times New Roman" panose="02020603050405020304" pitchFamily="18" charset="0"/>
              </a:rPr>
              <a:t> guiding actions. The rightness or wrongness of an action depends on its adherence to a set of rules or obligations, not on the consequences.</a:t>
            </a:r>
          </a:p>
          <a:p>
            <a:pPr algn="l"/>
            <a:r>
              <a:rPr lang="en-US" sz="9600" b="1" dirty="0">
                <a:latin typeface="Times New Roman" panose="02020603050405020304" pitchFamily="18" charset="0"/>
                <a:cs typeface="Times New Roman" panose="02020603050405020304" pitchFamily="18" charset="0"/>
              </a:rPr>
              <a:t>Philosophers</a:t>
            </a:r>
            <a:r>
              <a:rPr lang="en-US" sz="9600" dirty="0">
                <a:latin typeface="Times New Roman" panose="02020603050405020304" pitchFamily="18" charset="0"/>
                <a:cs typeface="Times New Roman" panose="02020603050405020304" pitchFamily="18" charset="0"/>
              </a:rPr>
              <a:t>:</a:t>
            </a:r>
            <a:br>
              <a:rPr lang="en-US" sz="9600" dirty="0">
                <a:latin typeface="Times New Roman" panose="02020603050405020304" pitchFamily="18" charset="0"/>
                <a:cs typeface="Times New Roman" panose="02020603050405020304" pitchFamily="18" charset="0"/>
              </a:rPr>
            </a:br>
            <a:r>
              <a:rPr lang="en-US" sz="9600" dirty="0">
                <a:latin typeface="Times New Roman" panose="02020603050405020304" pitchFamily="18" charset="0"/>
                <a:cs typeface="Times New Roman" panose="02020603050405020304" pitchFamily="18" charset="0"/>
              </a:rPr>
              <a:t>Immanuel Kant is a key figure. He emphasized acting in accordance with the </a:t>
            </a:r>
            <a:r>
              <a:rPr lang="en-US" sz="9600" b="1" dirty="0">
                <a:latin typeface="Times New Roman" panose="02020603050405020304" pitchFamily="18" charset="0"/>
                <a:cs typeface="Times New Roman" panose="02020603050405020304" pitchFamily="18" charset="0"/>
              </a:rPr>
              <a:t>Categorical Imperative</a:t>
            </a:r>
            <a:r>
              <a:rPr lang="en-US" sz="9600" dirty="0">
                <a:latin typeface="Times New Roman" panose="02020603050405020304" pitchFamily="18" charset="0"/>
                <a:cs typeface="Times New Roman" panose="02020603050405020304" pitchFamily="18" charset="0"/>
              </a:rPr>
              <a:t> (universal moral laws).</a:t>
            </a:r>
          </a:p>
          <a:p>
            <a:pPr algn="l"/>
            <a:r>
              <a:rPr lang="en-US" sz="9600" b="1" dirty="0">
                <a:solidFill>
                  <a:schemeClr val="accent6">
                    <a:lumMod val="40000"/>
                    <a:lumOff val="60000"/>
                  </a:schemeClr>
                </a:solidFill>
                <a:latin typeface="Times New Roman" panose="02020603050405020304" pitchFamily="18" charset="0"/>
                <a:cs typeface="Times New Roman" panose="02020603050405020304" pitchFamily="18" charset="0"/>
              </a:rPr>
              <a:t>Key Ideas</a:t>
            </a:r>
            <a:r>
              <a:rPr lang="en-US" sz="9600" dirty="0">
                <a:solidFill>
                  <a:schemeClr val="accent6">
                    <a:lumMod val="40000"/>
                    <a:lumOff val="60000"/>
                  </a:schemeClr>
                </a:solidFill>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9600" dirty="0">
                <a:solidFill>
                  <a:srgbClr val="92D050"/>
                </a:solidFill>
                <a:latin typeface="Times New Roman" panose="02020603050405020304" pitchFamily="18" charset="0"/>
                <a:cs typeface="Times New Roman" panose="02020603050405020304" pitchFamily="18" charset="0"/>
              </a:rPr>
              <a:t>Actions are morally right if they respect others' rights and dignity.</a:t>
            </a:r>
          </a:p>
          <a:p>
            <a:pPr marL="742950" lvl="1" indent="-285750">
              <a:buFont typeface="Arial" panose="020B0604020202020204" pitchFamily="34" charset="0"/>
              <a:buChar char="•"/>
            </a:pPr>
            <a:r>
              <a:rPr lang="en-US" sz="9600" dirty="0">
                <a:solidFill>
                  <a:srgbClr val="92D050"/>
                </a:solidFill>
                <a:latin typeface="Times New Roman" panose="02020603050405020304" pitchFamily="18" charset="0"/>
                <a:cs typeface="Times New Roman" panose="02020603050405020304" pitchFamily="18" charset="0"/>
              </a:rPr>
              <a:t>People should never be treated as a means to an end but as ends themselves.</a:t>
            </a:r>
          </a:p>
          <a:p>
            <a:pPr algn="l"/>
            <a:r>
              <a:rPr lang="en-US" sz="9600" b="1" dirty="0">
                <a:solidFill>
                  <a:schemeClr val="accent6">
                    <a:lumMod val="40000"/>
                    <a:lumOff val="60000"/>
                  </a:schemeClr>
                </a:solidFill>
                <a:latin typeface="Times New Roman" panose="02020603050405020304" pitchFamily="18" charset="0"/>
                <a:cs typeface="Times New Roman" panose="02020603050405020304" pitchFamily="18" charset="0"/>
              </a:rPr>
              <a:t>Example</a:t>
            </a:r>
            <a:r>
              <a:rPr lang="en-US" sz="9600" dirty="0">
                <a:solidFill>
                  <a:schemeClr val="accent6">
                    <a:lumMod val="40000"/>
                    <a:lumOff val="60000"/>
                  </a:schemeClr>
                </a:solidFill>
                <a:latin typeface="Times New Roman" panose="02020603050405020304" pitchFamily="18" charset="0"/>
                <a:cs typeface="Times New Roman" panose="02020603050405020304" pitchFamily="18" charset="0"/>
              </a:rPr>
              <a:t>:</a:t>
            </a:r>
            <a:br>
              <a:rPr lang="en-US" sz="9600" dirty="0">
                <a:latin typeface="Times New Roman" panose="02020603050405020304" pitchFamily="18" charset="0"/>
                <a:cs typeface="Times New Roman" panose="02020603050405020304" pitchFamily="18" charset="0"/>
              </a:rPr>
            </a:br>
            <a:r>
              <a:rPr lang="en-US" sz="9600" dirty="0">
                <a:latin typeface="Times New Roman" panose="02020603050405020304" pitchFamily="18" charset="0"/>
                <a:cs typeface="Times New Roman" panose="02020603050405020304" pitchFamily="18" charset="0"/>
              </a:rPr>
              <a:t>A doctor refuses to lie to a patient about their prognosis because honesty is a moral duty, even if the truth may cause distress.</a:t>
            </a:r>
          </a:p>
          <a:p>
            <a:pPr algn="l"/>
            <a:endParaRPr lang="en-US" sz="8000" b="1" dirty="0">
              <a:latin typeface="Times New Roman" panose="02020603050405020304" pitchFamily="18" charset="0"/>
              <a:cs typeface="Times New Roman" panose="02020603050405020304" pitchFamily="18" charset="0"/>
            </a:endParaRPr>
          </a:p>
          <a:p>
            <a:pPr algn="l"/>
            <a:endParaRPr lang="en-US" sz="2400" b="1" dirty="0">
              <a:latin typeface="Times New Roman" panose="02020603050405020304" pitchFamily="18" charset="0"/>
              <a:cs typeface="Times New Roman" panose="02020603050405020304" pitchFamily="18" charset="0"/>
            </a:endParaRPr>
          </a:p>
          <a:p>
            <a:pPr algn="l"/>
            <a:endParaRPr lang="en-US" sz="2400" b="1" dirty="0">
              <a:latin typeface="Times New Roman" panose="02020603050405020304" pitchFamily="18" charset="0"/>
              <a:cs typeface="Times New Roman" panose="02020603050405020304" pitchFamily="18" charset="0"/>
            </a:endParaRPr>
          </a:p>
          <a:p>
            <a:pPr algn="l"/>
            <a:endParaRPr lang="en-US" sz="2400" b="1" dirty="0">
              <a:latin typeface="Times New Roman" panose="02020603050405020304" pitchFamily="18" charset="0"/>
              <a:cs typeface="Times New Roman" panose="02020603050405020304" pitchFamily="18" charset="0"/>
            </a:endParaRPr>
          </a:p>
          <a:p>
            <a:pPr algn="l"/>
            <a:endParaRPr lang="en-US" sz="2400" b="1" dirty="0">
              <a:latin typeface="Times New Roman" panose="02020603050405020304" pitchFamily="18" charset="0"/>
              <a:cs typeface="Times New Roman" panose="02020603050405020304" pitchFamily="18" charset="0"/>
            </a:endParaRPr>
          </a:p>
          <a:p>
            <a:pPr algn="l"/>
            <a:endParaRPr lang="en-US" sz="2400" b="1" dirty="0">
              <a:latin typeface="Times New Roman" panose="02020603050405020304" pitchFamily="18" charset="0"/>
              <a:cs typeface="Times New Roman" panose="02020603050405020304" pitchFamily="18" charset="0"/>
            </a:endParaRPr>
          </a:p>
          <a:p>
            <a:pPr algn="l"/>
            <a:endParaRPr lang="en-US" sz="5100" b="1" dirty="0">
              <a:latin typeface="Times New Roman" panose="02020603050405020304" pitchFamily="18" charset="0"/>
              <a:cs typeface="Times New Roman" panose="02020603050405020304" pitchFamily="18" charset="0"/>
            </a:endParaRPr>
          </a:p>
          <a:p>
            <a:pPr algn="l"/>
            <a:r>
              <a:rPr lang="en-US" sz="4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181818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444500" y="542925"/>
            <a:ext cx="11214100" cy="535531"/>
          </a:xfrm>
        </p:spPr>
        <p:txBody>
          <a:bodyPr/>
          <a:lstStyle/>
          <a:p>
            <a:r>
              <a:rPr lang="en-US" dirty="0"/>
              <a:t>Week 1: Introduction to Ethics</a:t>
            </a:r>
          </a:p>
        </p:txBody>
      </p:sp>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a:lstStyle/>
          <a:p>
            <a:fld id="{C263D6C4-4840-40CC-AC84-17E24B3B7BDE}" type="slidenum">
              <a:rPr lang="en-US" smtClean="0"/>
              <a:pPr/>
              <a:t>6</a:t>
            </a:fld>
            <a:endParaRPr lang="en-US" dirty="0"/>
          </a:p>
        </p:txBody>
      </p:sp>
      <p:sp>
        <p:nvSpPr>
          <p:cNvPr id="3" name="Text Placeholder 2">
            <a:extLst>
              <a:ext uri="{FF2B5EF4-FFF2-40B4-BE49-F238E27FC236}">
                <a16:creationId xmlns:a16="http://schemas.microsoft.com/office/drawing/2014/main" id="{06554A61-D199-469B-AB0C-B68F82B5059F}"/>
              </a:ext>
            </a:extLst>
          </p:cNvPr>
          <p:cNvSpPr>
            <a:spLocks noGrp="1"/>
          </p:cNvSpPr>
          <p:nvPr>
            <p:ph type="body" sz="quarter" idx="13"/>
          </p:nvPr>
        </p:nvSpPr>
        <p:spPr>
          <a:xfrm>
            <a:off x="313266" y="1353670"/>
            <a:ext cx="11466358" cy="5262283"/>
          </a:xfrm>
        </p:spPr>
        <p:txBody>
          <a:bodyPr>
            <a:normAutofit fontScale="25000" lnSpcReduction="20000"/>
          </a:bodyPr>
          <a:lstStyle/>
          <a:p>
            <a:pPr algn="l"/>
            <a:endParaRPr lang="en-US" sz="8000" dirty="0">
              <a:solidFill>
                <a:srgbClr val="FFFF00"/>
              </a:solidFill>
              <a:latin typeface="Times New Roman" panose="02020603050405020304" pitchFamily="18" charset="0"/>
              <a:cs typeface="Times New Roman" panose="02020603050405020304" pitchFamily="18" charset="0"/>
            </a:endParaRPr>
          </a:p>
          <a:p>
            <a:pPr algn="l"/>
            <a:endParaRPr lang="en-US" sz="8000" dirty="0">
              <a:solidFill>
                <a:srgbClr val="FFFF00"/>
              </a:solidFill>
              <a:latin typeface="Times New Roman" panose="02020603050405020304" pitchFamily="18" charset="0"/>
              <a:cs typeface="Times New Roman" panose="02020603050405020304" pitchFamily="18" charset="0"/>
            </a:endParaRPr>
          </a:p>
          <a:p>
            <a:pPr algn="l"/>
            <a:endParaRPr lang="en-US" sz="8000" dirty="0">
              <a:solidFill>
                <a:srgbClr val="FFFF00"/>
              </a:solidFill>
              <a:latin typeface="Times New Roman" panose="02020603050405020304" pitchFamily="18" charset="0"/>
              <a:cs typeface="Times New Roman" panose="02020603050405020304" pitchFamily="18" charset="0"/>
            </a:endParaRPr>
          </a:p>
          <a:p>
            <a:pPr algn="l"/>
            <a:endParaRPr lang="en-US" sz="8000" dirty="0">
              <a:solidFill>
                <a:srgbClr val="FFFF00"/>
              </a:solidFill>
              <a:latin typeface="Times New Roman" panose="02020603050405020304" pitchFamily="18" charset="0"/>
              <a:cs typeface="Times New Roman" panose="02020603050405020304" pitchFamily="18" charset="0"/>
            </a:endParaRPr>
          </a:p>
          <a:p>
            <a:pPr algn="l"/>
            <a:r>
              <a:rPr lang="en-US" sz="9600" b="1" dirty="0">
                <a:solidFill>
                  <a:srgbClr val="FFFF00"/>
                </a:solidFill>
                <a:latin typeface="Times New Roman" panose="02020603050405020304" pitchFamily="18" charset="0"/>
                <a:cs typeface="Times New Roman" panose="02020603050405020304" pitchFamily="18" charset="0"/>
              </a:rPr>
              <a:t>Ethical theories: Deontology, Utilitarianism, Virtue Ethics</a:t>
            </a:r>
          </a:p>
          <a:p>
            <a:pPr algn="l"/>
            <a:r>
              <a:rPr lang="en-US" sz="9600" b="1" dirty="0">
                <a:latin typeface="Times New Roman" panose="02020603050405020304" pitchFamily="18" charset="0"/>
                <a:cs typeface="Times New Roman" panose="02020603050405020304" pitchFamily="18" charset="0"/>
              </a:rPr>
              <a:t>2. Utilitarianism</a:t>
            </a:r>
          </a:p>
          <a:p>
            <a:pPr algn="l"/>
            <a:r>
              <a:rPr lang="en-US" sz="9600" b="1" dirty="0">
                <a:solidFill>
                  <a:schemeClr val="accent3">
                    <a:lumMod val="20000"/>
                    <a:lumOff val="80000"/>
                  </a:schemeClr>
                </a:solidFill>
                <a:latin typeface="Times New Roman" panose="02020603050405020304" pitchFamily="18" charset="0"/>
                <a:cs typeface="Times New Roman" panose="02020603050405020304" pitchFamily="18" charset="0"/>
              </a:rPr>
              <a:t>Core Principle</a:t>
            </a:r>
            <a:r>
              <a:rPr lang="en-US" sz="9600" dirty="0">
                <a:solidFill>
                  <a:schemeClr val="accent3">
                    <a:lumMod val="20000"/>
                    <a:lumOff val="80000"/>
                  </a:schemeClr>
                </a:solidFill>
                <a:latin typeface="Times New Roman" panose="02020603050405020304" pitchFamily="18" charset="0"/>
                <a:cs typeface="Times New Roman" panose="02020603050405020304" pitchFamily="18" charset="0"/>
              </a:rPr>
              <a:t>:</a:t>
            </a:r>
            <a:br>
              <a:rPr lang="en-US" sz="9600" dirty="0">
                <a:latin typeface="Times New Roman" panose="02020603050405020304" pitchFamily="18" charset="0"/>
                <a:cs typeface="Times New Roman" panose="02020603050405020304" pitchFamily="18" charset="0"/>
              </a:rPr>
            </a:br>
            <a:r>
              <a:rPr lang="en-US" sz="9600" dirty="0">
                <a:latin typeface="Times New Roman" panose="02020603050405020304" pitchFamily="18" charset="0"/>
                <a:cs typeface="Times New Roman" panose="02020603050405020304" pitchFamily="18" charset="0"/>
              </a:rPr>
              <a:t>Actions are judged by their </a:t>
            </a:r>
            <a:r>
              <a:rPr lang="en-US" sz="9600" b="1" dirty="0">
                <a:latin typeface="Times New Roman" panose="02020603050405020304" pitchFamily="18" charset="0"/>
                <a:cs typeface="Times New Roman" panose="02020603050405020304" pitchFamily="18" charset="0"/>
              </a:rPr>
              <a:t>consequences</a:t>
            </a:r>
            <a:r>
              <a:rPr lang="en-US" sz="9600" dirty="0">
                <a:latin typeface="Times New Roman" panose="02020603050405020304" pitchFamily="18" charset="0"/>
                <a:cs typeface="Times New Roman" panose="02020603050405020304" pitchFamily="18" charset="0"/>
              </a:rPr>
              <a:t>, with the goal of maximizing </a:t>
            </a:r>
            <a:r>
              <a:rPr lang="en-US" sz="9600" b="1" dirty="0">
                <a:latin typeface="Times New Roman" panose="02020603050405020304" pitchFamily="18" charset="0"/>
                <a:cs typeface="Times New Roman" panose="02020603050405020304" pitchFamily="18" charset="0"/>
              </a:rPr>
              <a:t>overall happiness</a:t>
            </a:r>
            <a:r>
              <a:rPr lang="en-US" sz="9600" dirty="0">
                <a:latin typeface="Times New Roman" panose="02020603050405020304" pitchFamily="18" charset="0"/>
                <a:cs typeface="Times New Roman" panose="02020603050405020304" pitchFamily="18" charset="0"/>
              </a:rPr>
              <a:t> or reducing suffering for the greatest number of people.</a:t>
            </a:r>
          </a:p>
          <a:p>
            <a:pPr algn="l"/>
            <a:r>
              <a:rPr lang="en-US" sz="9600" b="1" dirty="0">
                <a:solidFill>
                  <a:schemeClr val="accent3">
                    <a:lumMod val="20000"/>
                    <a:lumOff val="80000"/>
                  </a:schemeClr>
                </a:solidFill>
                <a:latin typeface="Times New Roman" panose="02020603050405020304" pitchFamily="18" charset="0"/>
                <a:cs typeface="Times New Roman" panose="02020603050405020304" pitchFamily="18" charset="0"/>
              </a:rPr>
              <a:t>Philosophers</a:t>
            </a:r>
            <a:r>
              <a:rPr lang="en-US" sz="9600" dirty="0">
                <a:solidFill>
                  <a:schemeClr val="accent3">
                    <a:lumMod val="20000"/>
                    <a:lumOff val="80000"/>
                  </a:schemeClr>
                </a:solidFill>
                <a:latin typeface="Times New Roman" panose="02020603050405020304" pitchFamily="18" charset="0"/>
                <a:cs typeface="Times New Roman" panose="02020603050405020304" pitchFamily="18" charset="0"/>
              </a:rPr>
              <a:t>:</a:t>
            </a:r>
            <a:br>
              <a:rPr lang="en-US" sz="9600" dirty="0">
                <a:latin typeface="Times New Roman" panose="02020603050405020304" pitchFamily="18" charset="0"/>
                <a:cs typeface="Times New Roman" panose="02020603050405020304" pitchFamily="18" charset="0"/>
              </a:rPr>
            </a:br>
            <a:r>
              <a:rPr lang="en-US" sz="9600" dirty="0">
                <a:latin typeface="Times New Roman" panose="02020603050405020304" pitchFamily="18" charset="0"/>
                <a:cs typeface="Times New Roman" panose="02020603050405020304" pitchFamily="18" charset="0"/>
              </a:rPr>
              <a:t>Jeremy Bentham and John Stuart Mill are prominent proponents.</a:t>
            </a:r>
          </a:p>
          <a:p>
            <a:pPr algn="l"/>
            <a:r>
              <a:rPr lang="en-US" sz="9600" b="1" dirty="0">
                <a:solidFill>
                  <a:schemeClr val="accent3">
                    <a:lumMod val="20000"/>
                    <a:lumOff val="80000"/>
                  </a:schemeClr>
                </a:solidFill>
                <a:latin typeface="Times New Roman" panose="02020603050405020304" pitchFamily="18" charset="0"/>
                <a:cs typeface="Times New Roman" panose="02020603050405020304" pitchFamily="18" charset="0"/>
              </a:rPr>
              <a:t>Key Ideas</a:t>
            </a:r>
            <a:r>
              <a:rPr lang="en-US" sz="9600" dirty="0">
                <a:solidFill>
                  <a:schemeClr val="accent3">
                    <a:lumMod val="20000"/>
                    <a:lumOff val="80000"/>
                  </a:schemeClr>
                </a:solidFill>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9600" dirty="0">
                <a:solidFill>
                  <a:srgbClr val="92D050"/>
                </a:solidFill>
                <a:latin typeface="Times New Roman" panose="02020603050405020304" pitchFamily="18" charset="0"/>
                <a:cs typeface="Times New Roman" panose="02020603050405020304" pitchFamily="18" charset="0"/>
              </a:rPr>
              <a:t>The </a:t>
            </a:r>
            <a:r>
              <a:rPr lang="en-US" sz="9600" b="1" dirty="0">
                <a:solidFill>
                  <a:srgbClr val="92D050"/>
                </a:solidFill>
                <a:latin typeface="Times New Roman" panose="02020603050405020304" pitchFamily="18" charset="0"/>
                <a:cs typeface="Times New Roman" panose="02020603050405020304" pitchFamily="18" charset="0"/>
              </a:rPr>
              <a:t>Greatest Happiness Principle</a:t>
            </a:r>
            <a:r>
              <a:rPr lang="en-US" sz="9600" dirty="0">
                <a:solidFill>
                  <a:srgbClr val="92D050"/>
                </a:solidFill>
                <a:latin typeface="Times New Roman" panose="02020603050405020304" pitchFamily="18" charset="0"/>
                <a:cs typeface="Times New Roman" panose="02020603050405020304" pitchFamily="18" charset="0"/>
              </a:rPr>
              <a:t>: The morally right action is the one that produces the most pleasure or the least pain.</a:t>
            </a:r>
          </a:p>
          <a:p>
            <a:pPr marL="742950" lvl="1" indent="-285750">
              <a:buFont typeface="Arial" panose="020B0604020202020204" pitchFamily="34" charset="0"/>
              <a:buChar char="•"/>
            </a:pPr>
            <a:r>
              <a:rPr lang="en-US" sz="9600" dirty="0">
                <a:solidFill>
                  <a:srgbClr val="92D050"/>
                </a:solidFill>
                <a:latin typeface="Times New Roman" panose="02020603050405020304" pitchFamily="18" charset="0"/>
                <a:cs typeface="Times New Roman" panose="02020603050405020304" pitchFamily="18" charset="0"/>
              </a:rPr>
              <a:t>Consequences, not intentions, determine morality.</a:t>
            </a:r>
          </a:p>
          <a:p>
            <a:pPr algn="l"/>
            <a:r>
              <a:rPr lang="en-US" sz="9600" b="1" dirty="0">
                <a:solidFill>
                  <a:schemeClr val="accent3">
                    <a:lumMod val="20000"/>
                    <a:lumOff val="80000"/>
                  </a:schemeClr>
                </a:solidFill>
                <a:latin typeface="Times New Roman" panose="02020603050405020304" pitchFamily="18" charset="0"/>
                <a:cs typeface="Times New Roman" panose="02020603050405020304" pitchFamily="18" charset="0"/>
              </a:rPr>
              <a:t>Example</a:t>
            </a:r>
            <a:r>
              <a:rPr lang="en-US" sz="9600" dirty="0">
                <a:solidFill>
                  <a:schemeClr val="accent3">
                    <a:lumMod val="20000"/>
                    <a:lumOff val="80000"/>
                  </a:schemeClr>
                </a:solidFill>
                <a:latin typeface="Times New Roman" panose="02020603050405020304" pitchFamily="18" charset="0"/>
                <a:cs typeface="Times New Roman" panose="02020603050405020304" pitchFamily="18" charset="0"/>
              </a:rPr>
              <a:t>:</a:t>
            </a:r>
            <a:br>
              <a:rPr lang="en-US" sz="9600" dirty="0">
                <a:latin typeface="Times New Roman" panose="02020603050405020304" pitchFamily="18" charset="0"/>
                <a:cs typeface="Times New Roman" panose="02020603050405020304" pitchFamily="18" charset="0"/>
              </a:rPr>
            </a:br>
            <a:r>
              <a:rPr lang="en-US" sz="9600" dirty="0">
                <a:latin typeface="Times New Roman" panose="02020603050405020304" pitchFamily="18" charset="0"/>
                <a:cs typeface="Times New Roman" panose="02020603050405020304" pitchFamily="18" charset="0"/>
              </a:rPr>
              <a:t>A company decides to relocate a factory to a low-income area, creating jobs for many people, even if it inconveniences a few nearby residents.</a:t>
            </a:r>
          </a:p>
          <a:p>
            <a:pPr algn="l"/>
            <a:endParaRPr lang="en-US" sz="8000" b="1" dirty="0">
              <a:latin typeface="Times New Roman" panose="02020603050405020304" pitchFamily="18" charset="0"/>
              <a:cs typeface="Times New Roman" panose="02020603050405020304" pitchFamily="18" charset="0"/>
            </a:endParaRPr>
          </a:p>
          <a:p>
            <a:pPr algn="l"/>
            <a:endParaRPr lang="en-US" sz="2400" b="1" dirty="0">
              <a:latin typeface="Times New Roman" panose="02020603050405020304" pitchFamily="18" charset="0"/>
              <a:cs typeface="Times New Roman" panose="02020603050405020304" pitchFamily="18" charset="0"/>
            </a:endParaRPr>
          </a:p>
          <a:p>
            <a:pPr algn="l"/>
            <a:endParaRPr lang="en-US" sz="2400" b="1" dirty="0">
              <a:latin typeface="Times New Roman" panose="02020603050405020304" pitchFamily="18" charset="0"/>
              <a:cs typeface="Times New Roman" panose="02020603050405020304" pitchFamily="18" charset="0"/>
            </a:endParaRPr>
          </a:p>
          <a:p>
            <a:pPr algn="l"/>
            <a:endParaRPr lang="en-US" sz="2400" b="1" dirty="0">
              <a:latin typeface="Times New Roman" panose="02020603050405020304" pitchFamily="18" charset="0"/>
              <a:cs typeface="Times New Roman" panose="02020603050405020304" pitchFamily="18" charset="0"/>
            </a:endParaRPr>
          </a:p>
          <a:p>
            <a:pPr algn="l"/>
            <a:endParaRPr lang="en-US" sz="2400" b="1" dirty="0">
              <a:latin typeface="Times New Roman" panose="02020603050405020304" pitchFamily="18" charset="0"/>
              <a:cs typeface="Times New Roman" panose="02020603050405020304" pitchFamily="18" charset="0"/>
            </a:endParaRPr>
          </a:p>
          <a:p>
            <a:pPr algn="l"/>
            <a:endParaRPr lang="en-US" sz="2400" b="1" dirty="0">
              <a:latin typeface="Times New Roman" panose="02020603050405020304" pitchFamily="18" charset="0"/>
              <a:cs typeface="Times New Roman" panose="02020603050405020304" pitchFamily="18" charset="0"/>
            </a:endParaRPr>
          </a:p>
          <a:p>
            <a:pPr algn="l"/>
            <a:endParaRPr lang="en-US" sz="5100" b="1" dirty="0">
              <a:latin typeface="Times New Roman" panose="02020603050405020304" pitchFamily="18" charset="0"/>
              <a:cs typeface="Times New Roman" panose="02020603050405020304" pitchFamily="18" charset="0"/>
            </a:endParaRPr>
          </a:p>
          <a:p>
            <a:pPr algn="l"/>
            <a:r>
              <a:rPr lang="en-US" sz="4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02704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444500" y="542925"/>
            <a:ext cx="11214100" cy="535531"/>
          </a:xfrm>
        </p:spPr>
        <p:txBody>
          <a:bodyPr/>
          <a:lstStyle/>
          <a:p>
            <a:r>
              <a:rPr lang="en-US" dirty="0"/>
              <a:t>Week 1: Introduction to Ethics</a:t>
            </a:r>
          </a:p>
        </p:txBody>
      </p:sp>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a:lstStyle/>
          <a:p>
            <a:fld id="{C263D6C4-4840-40CC-AC84-17E24B3B7BDE}" type="slidenum">
              <a:rPr lang="en-US" smtClean="0"/>
              <a:pPr/>
              <a:t>7</a:t>
            </a:fld>
            <a:endParaRPr lang="en-US" dirty="0"/>
          </a:p>
        </p:txBody>
      </p:sp>
      <p:sp>
        <p:nvSpPr>
          <p:cNvPr id="3" name="Text Placeholder 2">
            <a:extLst>
              <a:ext uri="{FF2B5EF4-FFF2-40B4-BE49-F238E27FC236}">
                <a16:creationId xmlns:a16="http://schemas.microsoft.com/office/drawing/2014/main" id="{06554A61-D199-469B-AB0C-B68F82B5059F}"/>
              </a:ext>
            </a:extLst>
          </p:cNvPr>
          <p:cNvSpPr>
            <a:spLocks noGrp="1"/>
          </p:cNvSpPr>
          <p:nvPr>
            <p:ph type="body" sz="quarter" idx="13"/>
          </p:nvPr>
        </p:nvSpPr>
        <p:spPr>
          <a:xfrm>
            <a:off x="313266" y="1353670"/>
            <a:ext cx="11466358" cy="5262283"/>
          </a:xfrm>
        </p:spPr>
        <p:txBody>
          <a:bodyPr>
            <a:normAutofit fontScale="25000" lnSpcReduction="20000"/>
          </a:bodyPr>
          <a:lstStyle/>
          <a:p>
            <a:pPr algn="l"/>
            <a:endParaRPr lang="en-US" sz="8000" dirty="0">
              <a:solidFill>
                <a:srgbClr val="FFFF00"/>
              </a:solidFill>
              <a:latin typeface="Times New Roman" panose="02020603050405020304" pitchFamily="18" charset="0"/>
              <a:cs typeface="Times New Roman" panose="02020603050405020304" pitchFamily="18" charset="0"/>
            </a:endParaRPr>
          </a:p>
          <a:p>
            <a:pPr algn="l"/>
            <a:endParaRPr lang="en-US" sz="8000" dirty="0">
              <a:solidFill>
                <a:srgbClr val="FFFF00"/>
              </a:solidFill>
              <a:latin typeface="Times New Roman" panose="02020603050405020304" pitchFamily="18" charset="0"/>
              <a:cs typeface="Times New Roman" panose="02020603050405020304" pitchFamily="18" charset="0"/>
            </a:endParaRPr>
          </a:p>
          <a:p>
            <a:pPr algn="l"/>
            <a:endParaRPr lang="en-US" sz="8000" dirty="0">
              <a:solidFill>
                <a:srgbClr val="FFFF00"/>
              </a:solidFill>
              <a:latin typeface="Times New Roman" panose="02020603050405020304" pitchFamily="18" charset="0"/>
              <a:cs typeface="Times New Roman" panose="02020603050405020304" pitchFamily="18" charset="0"/>
            </a:endParaRPr>
          </a:p>
          <a:p>
            <a:pPr algn="l"/>
            <a:endParaRPr lang="en-US" sz="8000" dirty="0">
              <a:solidFill>
                <a:srgbClr val="FFFF00"/>
              </a:solidFill>
              <a:latin typeface="Times New Roman" panose="02020603050405020304" pitchFamily="18" charset="0"/>
              <a:cs typeface="Times New Roman" panose="02020603050405020304" pitchFamily="18" charset="0"/>
            </a:endParaRPr>
          </a:p>
          <a:p>
            <a:pPr algn="l"/>
            <a:endParaRPr lang="en-US" sz="9600" b="1" dirty="0">
              <a:solidFill>
                <a:srgbClr val="FFFF00"/>
              </a:solidFill>
              <a:latin typeface="Times New Roman" panose="02020603050405020304" pitchFamily="18" charset="0"/>
              <a:cs typeface="Times New Roman" panose="02020603050405020304" pitchFamily="18" charset="0"/>
            </a:endParaRPr>
          </a:p>
          <a:p>
            <a:pPr algn="l"/>
            <a:r>
              <a:rPr lang="en-US" sz="9600" b="1" dirty="0">
                <a:solidFill>
                  <a:srgbClr val="FFFF00"/>
                </a:solidFill>
                <a:latin typeface="Times New Roman" panose="02020603050405020304" pitchFamily="18" charset="0"/>
                <a:cs typeface="Times New Roman" panose="02020603050405020304" pitchFamily="18" charset="0"/>
              </a:rPr>
              <a:t>Ethical theories: Deontology, Utilitarianism, Virtue Ethics</a:t>
            </a:r>
          </a:p>
          <a:p>
            <a:pPr algn="l"/>
            <a:r>
              <a:rPr lang="en-US" sz="9600" b="1" dirty="0">
                <a:latin typeface="Times New Roman" panose="02020603050405020304" pitchFamily="18" charset="0"/>
                <a:cs typeface="Times New Roman" panose="02020603050405020304" pitchFamily="18" charset="0"/>
              </a:rPr>
              <a:t>3. Virtue Ethics</a:t>
            </a:r>
          </a:p>
          <a:p>
            <a:pPr algn="l"/>
            <a:r>
              <a:rPr lang="en-US" sz="9600" b="1" dirty="0">
                <a:solidFill>
                  <a:schemeClr val="accent3">
                    <a:lumMod val="20000"/>
                    <a:lumOff val="80000"/>
                  </a:schemeClr>
                </a:solidFill>
                <a:latin typeface="Times New Roman" panose="02020603050405020304" pitchFamily="18" charset="0"/>
                <a:cs typeface="Times New Roman" panose="02020603050405020304" pitchFamily="18" charset="0"/>
              </a:rPr>
              <a:t>Core Principle</a:t>
            </a:r>
            <a:r>
              <a:rPr lang="en-US" sz="9600" dirty="0">
                <a:solidFill>
                  <a:schemeClr val="accent3">
                    <a:lumMod val="20000"/>
                    <a:lumOff val="80000"/>
                  </a:schemeClr>
                </a:solidFill>
                <a:latin typeface="Times New Roman" panose="02020603050405020304" pitchFamily="18" charset="0"/>
                <a:cs typeface="Times New Roman" panose="02020603050405020304" pitchFamily="18" charset="0"/>
              </a:rPr>
              <a:t>:</a:t>
            </a:r>
            <a:br>
              <a:rPr lang="en-US" sz="9600" dirty="0">
                <a:latin typeface="Times New Roman" panose="02020603050405020304" pitchFamily="18" charset="0"/>
                <a:cs typeface="Times New Roman" panose="02020603050405020304" pitchFamily="18" charset="0"/>
              </a:rPr>
            </a:br>
            <a:r>
              <a:rPr lang="en-US" sz="9600" dirty="0">
                <a:latin typeface="Times New Roman" panose="02020603050405020304" pitchFamily="18" charset="0"/>
                <a:cs typeface="Times New Roman" panose="02020603050405020304" pitchFamily="18" charset="0"/>
              </a:rPr>
              <a:t>Emphasizes </a:t>
            </a:r>
            <a:r>
              <a:rPr lang="en-US" sz="9600" b="1" dirty="0">
                <a:latin typeface="Times New Roman" panose="02020603050405020304" pitchFamily="18" charset="0"/>
                <a:cs typeface="Times New Roman" panose="02020603050405020304" pitchFamily="18" charset="0"/>
              </a:rPr>
              <a:t>character</a:t>
            </a:r>
            <a:r>
              <a:rPr lang="en-US" sz="9600" dirty="0">
                <a:latin typeface="Times New Roman" panose="02020603050405020304" pitchFamily="18" charset="0"/>
                <a:cs typeface="Times New Roman" panose="02020603050405020304" pitchFamily="18" charset="0"/>
              </a:rPr>
              <a:t> and the development of virtues (e.g., honesty, courage, compassion) rather than rules or consequences. The focus is on being a good person and living a life of moral excellence.</a:t>
            </a:r>
          </a:p>
          <a:p>
            <a:pPr algn="l"/>
            <a:r>
              <a:rPr lang="en-US" sz="9600" b="1" dirty="0">
                <a:solidFill>
                  <a:schemeClr val="accent3">
                    <a:lumMod val="20000"/>
                    <a:lumOff val="80000"/>
                  </a:schemeClr>
                </a:solidFill>
                <a:latin typeface="Times New Roman" panose="02020603050405020304" pitchFamily="18" charset="0"/>
                <a:cs typeface="Times New Roman" panose="02020603050405020304" pitchFamily="18" charset="0"/>
              </a:rPr>
              <a:t>Philosophers</a:t>
            </a:r>
            <a:r>
              <a:rPr lang="en-US" sz="9600" dirty="0">
                <a:solidFill>
                  <a:schemeClr val="accent3">
                    <a:lumMod val="20000"/>
                    <a:lumOff val="80000"/>
                  </a:schemeClr>
                </a:solidFill>
                <a:latin typeface="Times New Roman" panose="02020603050405020304" pitchFamily="18" charset="0"/>
                <a:cs typeface="Times New Roman" panose="02020603050405020304" pitchFamily="18" charset="0"/>
              </a:rPr>
              <a:t>:</a:t>
            </a:r>
            <a:br>
              <a:rPr lang="en-US" sz="9600" dirty="0">
                <a:latin typeface="Times New Roman" panose="02020603050405020304" pitchFamily="18" charset="0"/>
                <a:cs typeface="Times New Roman" panose="02020603050405020304" pitchFamily="18" charset="0"/>
              </a:rPr>
            </a:br>
            <a:r>
              <a:rPr lang="en-US" sz="9600" dirty="0">
                <a:latin typeface="Times New Roman" panose="02020603050405020304" pitchFamily="18" charset="0"/>
                <a:cs typeface="Times New Roman" panose="02020603050405020304" pitchFamily="18" charset="0"/>
              </a:rPr>
              <a:t>Aristotle is a central figure. He argued that virtues are habits cultivated through practice and that a virtuous person acts in accordance with </a:t>
            </a:r>
            <a:r>
              <a:rPr lang="en-US" sz="9600" b="1" dirty="0">
                <a:latin typeface="Times New Roman" panose="02020603050405020304" pitchFamily="18" charset="0"/>
                <a:cs typeface="Times New Roman" panose="02020603050405020304" pitchFamily="18" charset="0"/>
              </a:rPr>
              <a:t>practical wisdom</a:t>
            </a:r>
            <a:r>
              <a:rPr lang="en-US" sz="9600" dirty="0">
                <a:latin typeface="Times New Roman" panose="02020603050405020304" pitchFamily="18" charset="0"/>
                <a:cs typeface="Times New Roman" panose="02020603050405020304" pitchFamily="18" charset="0"/>
              </a:rPr>
              <a:t> (phronesis).</a:t>
            </a:r>
          </a:p>
          <a:p>
            <a:pPr algn="l"/>
            <a:r>
              <a:rPr lang="en-US" sz="9600" b="1" dirty="0">
                <a:solidFill>
                  <a:schemeClr val="accent3">
                    <a:lumMod val="20000"/>
                    <a:lumOff val="80000"/>
                  </a:schemeClr>
                </a:solidFill>
                <a:latin typeface="Times New Roman" panose="02020603050405020304" pitchFamily="18" charset="0"/>
                <a:cs typeface="Times New Roman" panose="02020603050405020304" pitchFamily="18" charset="0"/>
              </a:rPr>
              <a:t>Key Ideas</a:t>
            </a:r>
            <a:r>
              <a:rPr lang="en-US" sz="9600" dirty="0">
                <a:solidFill>
                  <a:schemeClr val="accent3">
                    <a:lumMod val="20000"/>
                    <a:lumOff val="80000"/>
                  </a:schemeClr>
                </a:solidFill>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9600" dirty="0">
                <a:solidFill>
                  <a:srgbClr val="92D050"/>
                </a:solidFill>
                <a:latin typeface="Times New Roman" panose="02020603050405020304" pitchFamily="18" charset="0"/>
                <a:cs typeface="Times New Roman" panose="02020603050405020304" pitchFamily="18" charset="0"/>
              </a:rPr>
              <a:t>Ethical behavior is about cultivating virtues and living in harmony with one’s purpose (telos).</a:t>
            </a:r>
          </a:p>
          <a:p>
            <a:pPr marL="742950" lvl="1" indent="-285750">
              <a:buFont typeface="Arial" panose="020B0604020202020204" pitchFamily="34" charset="0"/>
              <a:buChar char="•"/>
            </a:pPr>
            <a:r>
              <a:rPr lang="en-US" sz="9600" dirty="0">
                <a:solidFill>
                  <a:srgbClr val="92D050"/>
                </a:solidFill>
                <a:latin typeface="Times New Roman" panose="02020603050405020304" pitchFamily="18" charset="0"/>
                <a:cs typeface="Times New Roman" panose="02020603050405020304" pitchFamily="18" charset="0"/>
              </a:rPr>
              <a:t>Strive for the </a:t>
            </a:r>
            <a:r>
              <a:rPr lang="en-US" sz="9600" b="1" dirty="0">
                <a:solidFill>
                  <a:srgbClr val="92D050"/>
                </a:solidFill>
                <a:latin typeface="Times New Roman" panose="02020603050405020304" pitchFamily="18" charset="0"/>
                <a:cs typeface="Times New Roman" panose="02020603050405020304" pitchFamily="18" charset="0"/>
              </a:rPr>
              <a:t>Golden Mean</a:t>
            </a:r>
            <a:r>
              <a:rPr lang="en-US" sz="9600" dirty="0">
                <a:solidFill>
                  <a:srgbClr val="92D050"/>
                </a:solidFill>
                <a:latin typeface="Times New Roman" panose="02020603050405020304" pitchFamily="18" charset="0"/>
                <a:cs typeface="Times New Roman" panose="02020603050405020304" pitchFamily="18" charset="0"/>
              </a:rPr>
              <a:t>, avoiding extremes of deficiency or excess in traits.</a:t>
            </a:r>
          </a:p>
          <a:p>
            <a:pPr algn="l"/>
            <a:r>
              <a:rPr lang="en-US" sz="9600" b="1" dirty="0">
                <a:solidFill>
                  <a:schemeClr val="accent3">
                    <a:lumMod val="20000"/>
                    <a:lumOff val="80000"/>
                  </a:schemeClr>
                </a:solidFill>
                <a:latin typeface="Times New Roman" panose="02020603050405020304" pitchFamily="18" charset="0"/>
                <a:cs typeface="Times New Roman" panose="02020603050405020304" pitchFamily="18" charset="0"/>
              </a:rPr>
              <a:t>Example</a:t>
            </a:r>
            <a:r>
              <a:rPr lang="en-US" sz="9600" dirty="0">
                <a:solidFill>
                  <a:schemeClr val="accent3">
                    <a:lumMod val="20000"/>
                    <a:lumOff val="80000"/>
                  </a:schemeClr>
                </a:solidFill>
                <a:latin typeface="Times New Roman" panose="02020603050405020304" pitchFamily="18" charset="0"/>
                <a:cs typeface="Times New Roman" panose="02020603050405020304" pitchFamily="18" charset="0"/>
              </a:rPr>
              <a:t>:</a:t>
            </a:r>
            <a:br>
              <a:rPr lang="en-US" sz="9600" dirty="0">
                <a:latin typeface="Times New Roman" panose="02020603050405020304" pitchFamily="18" charset="0"/>
                <a:cs typeface="Times New Roman" panose="02020603050405020304" pitchFamily="18" charset="0"/>
              </a:rPr>
            </a:br>
            <a:r>
              <a:rPr lang="en-US" sz="9600" dirty="0">
                <a:latin typeface="Times New Roman" panose="02020603050405020304" pitchFamily="18" charset="0"/>
                <a:cs typeface="Times New Roman" panose="02020603050405020304" pitchFamily="18" charset="0"/>
              </a:rPr>
              <a:t>A teacher goes beyond duty to mentor struggling students because they value compassion and generosity as part of their character.</a:t>
            </a:r>
          </a:p>
          <a:p>
            <a:pPr algn="l"/>
            <a:endParaRPr lang="en-US" sz="8000" b="1" dirty="0">
              <a:latin typeface="Times New Roman" panose="02020603050405020304" pitchFamily="18" charset="0"/>
              <a:cs typeface="Times New Roman" panose="02020603050405020304" pitchFamily="18" charset="0"/>
            </a:endParaRPr>
          </a:p>
          <a:p>
            <a:pPr algn="l"/>
            <a:endParaRPr lang="en-US" sz="2400" b="1" dirty="0">
              <a:latin typeface="Times New Roman" panose="02020603050405020304" pitchFamily="18" charset="0"/>
              <a:cs typeface="Times New Roman" panose="02020603050405020304" pitchFamily="18" charset="0"/>
            </a:endParaRPr>
          </a:p>
          <a:p>
            <a:pPr algn="l"/>
            <a:endParaRPr lang="en-US" sz="2400" b="1" dirty="0">
              <a:latin typeface="Times New Roman" panose="02020603050405020304" pitchFamily="18" charset="0"/>
              <a:cs typeface="Times New Roman" panose="02020603050405020304" pitchFamily="18" charset="0"/>
            </a:endParaRPr>
          </a:p>
          <a:p>
            <a:pPr algn="l"/>
            <a:endParaRPr lang="en-US" sz="2400" b="1" dirty="0">
              <a:latin typeface="Times New Roman" panose="02020603050405020304" pitchFamily="18" charset="0"/>
              <a:cs typeface="Times New Roman" panose="02020603050405020304" pitchFamily="18" charset="0"/>
            </a:endParaRPr>
          </a:p>
          <a:p>
            <a:pPr algn="l"/>
            <a:endParaRPr lang="en-US" sz="2400" b="1" dirty="0">
              <a:latin typeface="Times New Roman" panose="02020603050405020304" pitchFamily="18" charset="0"/>
              <a:cs typeface="Times New Roman" panose="02020603050405020304" pitchFamily="18" charset="0"/>
            </a:endParaRPr>
          </a:p>
          <a:p>
            <a:pPr algn="l"/>
            <a:endParaRPr lang="en-US" sz="2400" b="1" dirty="0">
              <a:latin typeface="Times New Roman" panose="02020603050405020304" pitchFamily="18" charset="0"/>
              <a:cs typeface="Times New Roman" panose="02020603050405020304" pitchFamily="18" charset="0"/>
            </a:endParaRPr>
          </a:p>
          <a:p>
            <a:pPr algn="l"/>
            <a:endParaRPr lang="en-US" sz="5100" b="1" dirty="0">
              <a:latin typeface="Times New Roman" panose="02020603050405020304" pitchFamily="18" charset="0"/>
              <a:cs typeface="Times New Roman" panose="02020603050405020304" pitchFamily="18" charset="0"/>
            </a:endParaRPr>
          </a:p>
          <a:p>
            <a:pPr algn="l"/>
            <a:r>
              <a:rPr lang="en-US" sz="4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77411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444500" y="542925"/>
            <a:ext cx="11214100" cy="535531"/>
          </a:xfrm>
        </p:spPr>
        <p:txBody>
          <a:bodyPr/>
          <a:lstStyle/>
          <a:p>
            <a:r>
              <a:rPr lang="en-US" dirty="0"/>
              <a:t>Week 1: Introduction to Ethics</a:t>
            </a:r>
          </a:p>
        </p:txBody>
      </p:sp>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a:lstStyle/>
          <a:p>
            <a:fld id="{C263D6C4-4840-40CC-AC84-17E24B3B7BDE}" type="slidenum">
              <a:rPr lang="en-US" smtClean="0"/>
              <a:pPr/>
              <a:t>8</a:t>
            </a:fld>
            <a:endParaRPr lang="en-US" dirty="0"/>
          </a:p>
        </p:txBody>
      </p:sp>
      <p:sp>
        <p:nvSpPr>
          <p:cNvPr id="3" name="Text Placeholder 2">
            <a:extLst>
              <a:ext uri="{FF2B5EF4-FFF2-40B4-BE49-F238E27FC236}">
                <a16:creationId xmlns:a16="http://schemas.microsoft.com/office/drawing/2014/main" id="{06554A61-D199-469B-AB0C-B68F82B5059F}"/>
              </a:ext>
            </a:extLst>
          </p:cNvPr>
          <p:cNvSpPr>
            <a:spLocks noGrp="1"/>
          </p:cNvSpPr>
          <p:nvPr>
            <p:ph type="body" sz="quarter" idx="13"/>
          </p:nvPr>
        </p:nvSpPr>
        <p:spPr>
          <a:xfrm>
            <a:off x="313266" y="1353670"/>
            <a:ext cx="11466358" cy="5262283"/>
          </a:xfrm>
        </p:spPr>
        <p:txBody>
          <a:bodyPr>
            <a:normAutofit fontScale="25000" lnSpcReduction="20000"/>
          </a:bodyPr>
          <a:lstStyle/>
          <a:p>
            <a:pPr algn="l"/>
            <a:endParaRPr lang="en-US" sz="8000" dirty="0">
              <a:solidFill>
                <a:srgbClr val="FFFF00"/>
              </a:solidFill>
              <a:latin typeface="Times New Roman" panose="02020603050405020304" pitchFamily="18" charset="0"/>
              <a:cs typeface="Times New Roman" panose="02020603050405020304" pitchFamily="18" charset="0"/>
            </a:endParaRPr>
          </a:p>
          <a:p>
            <a:pPr algn="l"/>
            <a:endParaRPr lang="en-US" sz="8000" dirty="0">
              <a:solidFill>
                <a:srgbClr val="FFFF00"/>
              </a:solidFill>
              <a:latin typeface="Times New Roman" panose="02020603050405020304" pitchFamily="18" charset="0"/>
              <a:cs typeface="Times New Roman" panose="02020603050405020304" pitchFamily="18" charset="0"/>
            </a:endParaRPr>
          </a:p>
          <a:p>
            <a:pPr algn="l"/>
            <a:endParaRPr lang="en-US" sz="8000" dirty="0">
              <a:solidFill>
                <a:srgbClr val="FFFF00"/>
              </a:solidFill>
              <a:latin typeface="Times New Roman" panose="02020603050405020304" pitchFamily="18" charset="0"/>
              <a:cs typeface="Times New Roman" panose="02020603050405020304" pitchFamily="18" charset="0"/>
            </a:endParaRPr>
          </a:p>
          <a:p>
            <a:pPr algn="l"/>
            <a:endParaRPr lang="en-US" sz="8000" dirty="0">
              <a:solidFill>
                <a:srgbClr val="FFFF00"/>
              </a:solidFill>
              <a:latin typeface="Times New Roman" panose="02020603050405020304" pitchFamily="18" charset="0"/>
              <a:cs typeface="Times New Roman" panose="02020603050405020304" pitchFamily="18" charset="0"/>
            </a:endParaRPr>
          </a:p>
          <a:p>
            <a:pPr algn="l"/>
            <a:endParaRPr lang="en-US" sz="9600" b="1" dirty="0">
              <a:solidFill>
                <a:srgbClr val="FFFF00"/>
              </a:solidFill>
              <a:latin typeface="Times New Roman" panose="02020603050405020304" pitchFamily="18" charset="0"/>
              <a:cs typeface="Times New Roman" panose="02020603050405020304" pitchFamily="18" charset="0"/>
            </a:endParaRPr>
          </a:p>
          <a:p>
            <a:pPr algn="l"/>
            <a:r>
              <a:rPr lang="en-US" sz="9600" b="1" dirty="0">
                <a:solidFill>
                  <a:srgbClr val="FFFF00"/>
                </a:solidFill>
                <a:latin typeface="Times New Roman" panose="02020603050405020304" pitchFamily="18" charset="0"/>
                <a:cs typeface="Times New Roman" panose="02020603050405020304" pitchFamily="18" charset="0"/>
              </a:rPr>
              <a:t>Comparison of Ethical theories:</a:t>
            </a:r>
          </a:p>
          <a:p>
            <a:pPr algn="l"/>
            <a:endParaRPr lang="en-US" sz="9600" b="1" dirty="0">
              <a:solidFill>
                <a:srgbClr val="FFFF00"/>
              </a:solidFill>
              <a:latin typeface="Times New Roman" panose="02020603050405020304" pitchFamily="18" charset="0"/>
              <a:cs typeface="Times New Roman" panose="02020603050405020304" pitchFamily="18" charset="0"/>
            </a:endParaRPr>
          </a:p>
          <a:p>
            <a:pPr algn="l"/>
            <a:endParaRPr lang="en-US" sz="9600" b="1" dirty="0">
              <a:solidFill>
                <a:srgbClr val="FFFF00"/>
              </a:solidFill>
              <a:latin typeface="Times New Roman" panose="02020603050405020304" pitchFamily="18" charset="0"/>
              <a:cs typeface="Times New Roman" panose="02020603050405020304" pitchFamily="18" charset="0"/>
            </a:endParaRPr>
          </a:p>
          <a:p>
            <a:pPr algn="l"/>
            <a:endParaRPr lang="en-US" sz="9600" b="1" dirty="0">
              <a:solidFill>
                <a:srgbClr val="FFFF00"/>
              </a:solidFill>
              <a:latin typeface="Times New Roman" panose="02020603050405020304" pitchFamily="18" charset="0"/>
              <a:cs typeface="Times New Roman" panose="02020603050405020304" pitchFamily="18" charset="0"/>
            </a:endParaRPr>
          </a:p>
          <a:p>
            <a:pPr algn="l"/>
            <a:endParaRPr lang="en-US" sz="9600" b="1" dirty="0">
              <a:solidFill>
                <a:srgbClr val="FFFF00"/>
              </a:solidFill>
              <a:latin typeface="Times New Roman" panose="02020603050405020304" pitchFamily="18" charset="0"/>
              <a:cs typeface="Times New Roman" panose="02020603050405020304" pitchFamily="18" charset="0"/>
            </a:endParaRPr>
          </a:p>
          <a:p>
            <a:pPr algn="l"/>
            <a:endParaRPr lang="en-US" sz="9600" b="1" dirty="0">
              <a:solidFill>
                <a:srgbClr val="FFFF00"/>
              </a:solidFill>
              <a:latin typeface="Times New Roman" panose="02020603050405020304" pitchFamily="18" charset="0"/>
              <a:cs typeface="Times New Roman" panose="02020603050405020304" pitchFamily="18" charset="0"/>
            </a:endParaRPr>
          </a:p>
          <a:p>
            <a:pPr algn="l"/>
            <a:endParaRPr lang="en-US" sz="9600" b="1" dirty="0">
              <a:solidFill>
                <a:srgbClr val="FFFF00"/>
              </a:solidFill>
              <a:latin typeface="Times New Roman" panose="02020603050405020304" pitchFamily="18" charset="0"/>
              <a:cs typeface="Times New Roman" panose="02020603050405020304" pitchFamily="18" charset="0"/>
            </a:endParaRPr>
          </a:p>
          <a:p>
            <a:pPr algn="l"/>
            <a:endParaRPr lang="en-US" sz="9600" b="1" dirty="0">
              <a:solidFill>
                <a:srgbClr val="FFFF00"/>
              </a:solidFill>
              <a:latin typeface="Times New Roman" panose="02020603050405020304" pitchFamily="18" charset="0"/>
              <a:cs typeface="Times New Roman" panose="02020603050405020304" pitchFamily="18" charset="0"/>
            </a:endParaRPr>
          </a:p>
          <a:p>
            <a:pPr algn="l"/>
            <a:endParaRPr lang="en-US" sz="9600" b="1" dirty="0">
              <a:solidFill>
                <a:srgbClr val="FFFF00"/>
              </a:solidFill>
              <a:latin typeface="Times New Roman" panose="02020603050405020304" pitchFamily="18" charset="0"/>
              <a:cs typeface="Times New Roman" panose="02020603050405020304" pitchFamily="18" charset="0"/>
            </a:endParaRPr>
          </a:p>
          <a:p>
            <a:pPr algn="l"/>
            <a:endParaRPr lang="en-US" sz="9600" b="1" dirty="0">
              <a:solidFill>
                <a:srgbClr val="FFFF00"/>
              </a:solidFill>
              <a:latin typeface="Times New Roman" panose="02020603050405020304" pitchFamily="18" charset="0"/>
              <a:cs typeface="Times New Roman" panose="02020603050405020304" pitchFamily="18" charset="0"/>
            </a:endParaRPr>
          </a:p>
          <a:p>
            <a:pPr algn="l"/>
            <a:endParaRPr lang="en-US" sz="9600" b="1" dirty="0">
              <a:solidFill>
                <a:srgbClr val="FFFF00"/>
              </a:solidFill>
              <a:latin typeface="Times New Roman" panose="02020603050405020304" pitchFamily="18" charset="0"/>
              <a:cs typeface="Times New Roman" panose="02020603050405020304" pitchFamily="18" charset="0"/>
            </a:endParaRPr>
          </a:p>
          <a:p>
            <a:pPr algn="l"/>
            <a:endParaRPr lang="en-US" sz="9600" b="1" dirty="0">
              <a:solidFill>
                <a:srgbClr val="FFFF00"/>
              </a:solidFill>
              <a:latin typeface="Times New Roman" panose="02020603050405020304" pitchFamily="18" charset="0"/>
              <a:cs typeface="Times New Roman" panose="02020603050405020304" pitchFamily="18" charset="0"/>
            </a:endParaRPr>
          </a:p>
          <a:p>
            <a:pPr algn="l"/>
            <a:endParaRPr lang="en-US" sz="9600" b="1" dirty="0">
              <a:solidFill>
                <a:srgbClr val="FFFF00"/>
              </a:solidFill>
              <a:latin typeface="Times New Roman" panose="02020603050405020304" pitchFamily="18" charset="0"/>
              <a:cs typeface="Times New Roman" panose="02020603050405020304" pitchFamily="18" charset="0"/>
            </a:endParaRPr>
          </a:p>
          <a:p>
            <a:pPr algn="l"/>
            <a:endParaRPr lang="en-US" sz="8000" b="1" dirty="0">
              <a:latin typeface="Times New Roman" panose="02020603050405020304" pitchFamily="18" charset="0"/>
              <a:cs typeface="Times New Roman" panose="02020603050405020304" pitchFamily="18" charset="0"/>
            </a:endParaRPr>
          </a:p>
          <a:p>
            <a:pPr algn="l"/>
            <a:endParaRPr lang="en-US" sz="2400" b="1" dirty="0">
              <a:latin typeface="Times New Roman" panose="02020603050405020304" pitchFamily="18" charset="0"/>
              <a:cs typeface="Times New Roman" panose="02020603050405020304" pitchFamily="18" charset="0"/>
            </a:endParaRPr>
          </a:p>
          <a:p>
            <a:pPr algn="l"/>
            <a:endParaRPr lang="en-US" sz="2400" b="1" dirty="0">
              <a:latin typeface="Times New Roman" panose="02020603050405020304" pitchFamily="18" charset="0"/>
              <a:cs typeface="Times New Roman" panose="02020603050405020304" pitchFamily="18" charset="0"/>
            </a:endParaRPr>
          </a:p>
          <a:p>
            <a:pPr algn="l"/>
            <a:endParaRPr lang="en-US" sz="2400" b="1" dirty="0">
              <a:latin typeface="Times New Roman" panose="02020603050405020304" pitchFamily="18" charset="0"/>
              <a:cs typeface="Times New Roman" panose="02020603050405020304" pitchFamily="18" charset="0"/>
            </a:endParaRPr>
          </a:p>
          <a:p>
            <a:pPr algn="l"/>
            <a:endParaRPr lang="en-US" sz="2400" b="1" dirty="0">
              <a:latin typeface="Times New Roman" panose="02020603050405020304" pitchFamily="18" charset="0"/>
              <a:cs typeface="Times New Roman" panose="02020603050405020304" pitchFamily="18" charset="0"/>
            </a:endParaRPr>
          </a:p>
          <a:p>
            <a:pPr algn="l"/>
            <a:endParaRPr lang="en-US" sz="2400" b="1" dirty="0">
              <a:latin typeface="Times New Roman" panose="02020603050405020304" pitchFamily="18" charset="0"/>
              <a:cs typeface="Times New Roman" panose="02020603050405020304" pitchFamily="18" charset="0"/>
            </a:endParaRPr>
          </a:p>
          <a:p>
            <a:pPr algn="l"/>
            <a:endParaRPr lang="en-US" sz="5100" b="1" dirty="0">
              <a:latin typeface="Times New Roman" panose="02020603050405020304" pitchFamily="18" charset="0"/>
              <a:cs typeface="Times New Roman" panose="02020603050405020304" pitchFamily="18" charset="0"/>
            </a:endParaRPr>
          </a:p>
          <a:p>
            <a:pPr algn="l"/>
            <a:r>
              <a:rPr lang="en-US" sz="4800" dirty="0">
                <a:latin typeface="Times New Roman" panose="02020603050405020304" pitchFamily="18" charset="0"/>
                <a:cs typeface="Times New Roman" panose="02020603050405020304" pitchFamily="18" charset="0"/>
              </a:rPr>
              <a:t>.</a:t>
            </a:r>
          </a:p>
        </p:txBody>
      </p:sp>
      <p:pic>
        <p:nvPicPr>
          <p:cNvPr id="6" name="Picture 5">
            <a:extLst>
              <a:ext uri="{FF2B5EF4-FFF2-40B4-BE49-F238E27FC236}">
                <a16:creationId xmlns:a16="http://schemas.microsoft.com/office/drawing/2014/main" id="{A066226A-AC7A-42EA-AFEA-B6DC822E7F00}"/>
              </a:ext>
            </a:extLst>
          </p:cNvPr>
          <p:cNvPicPr>
            <a:picLocks noChangeAspect="1"/>
          </p:cNvPicPr>
          <p:nvPr/>
        </p:nvPicPr>
        <p:blipFill>
          <a:blip r:embed="rId2"/>
          <a:stretch>
            <a:fillRect/>
          </a:stretch>
        </p:blipFill>
        <p:spPr>
          <a:xfrm>
            <a:off x="412375" y="1792942"/>
            <a:ext cx="11053483" cy="4320988"/>
          </a:xfrm>
          <a:prstGeom prst="rect">
            <a:avLst/>
          </a:prstGeom>
        </p:spPr>
      </p:pic>
    </p:spTree>
    <p:extLst>
      <p:ext uri="{BB962C8B-B14F-4D97-AF65-F5344CB8AC3E}">
        <p14:creationId xmlns:p14="http://schemas.microsoft.com/office/powerpoint/2010/main" val="685600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444500" y="542925"/>
            <a:ext cx="11214100" cy="535531"/>
          </a:xfrm>
        </p:spPr>
        <p:txBody>
          <a:bodyPr/>
          <a:lstStyle/>
          <a:p>
            <a:r>
              <a:rPr lang="en-US" dirty="0"/>
              <a:t>Week 1: Introduction to Ethics</a:t>
            </a:r>
          </a:p>
        </p:txBody>
      </p:sp>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a:lstStyle/>
          <a:p>
            <a:fld id="{C263D6C4-4840-40CC-AC84-17E24B3B7BDE}" type="slidenum">
              <a:rPr lang="en-US" smtClean="0"/>
              <a:pPr/>
              <a:t>9</a:t>
            </a:fld>
            <a:endParaRPr lang="en-US" dirty="0"/>
          </a:p>
        </p:txBody>
      </p:sp>
      <p:sp>
        <p:nvSpPr>
          <p:cNvPr id="3" name="Text Placeholder 2">
            <a:extLst>
              <a:ext uri="{FF2B5EF4-FFF2-40B4-BE49-F238E27FC236}">
                <a16:creationId xmlns:a16="http://schemas.microsoft.com/office/drawing/2014/main" id="{06554A61-D199-469B-AB0C-B68F82B5059F}"/>
              </a:ext>
            </a:extLst>
          </p:cNvPr>
          <p:cNvSpPr>
            <a:spLocks noGrp="1"/>
          </p:cNvSpPr>
          <p:nvPr>
            <p:ph type="body" sz="quarter" idx="13"/>
          </p:nvPr>
        </p:nvSpPr>
        <p:spPr>
          <a:xfrm>
            <a:off x="444500" y="1309303"/>
            <a:ext cx="11476567" cy="3940030"/>
          </a:xfrm>
        </p:spPr>
        <p:txBody>
          <a:bodyPr>
            <a:normAutofit/>
          </a:bodyPr>
          <a:lstStyle/>
          <a:p>
            <a:pPr algn="l"/>
            <a:endParaRPr lang="en-US" sz="2400" b="1" dirty="0">
              <a:solidFill>
                <a:srgbClr val="FFFF00"/>
              </a:solidFill>
              <a:latin typeface="Times New Roman" panose="02020603050405020304" pitchFamily="18" charset="0"/>
              <a:cs typeface="Times New Roman" panose="02020603050405020304" pitchFamily="18" charset="0"/>
            </a:endParaRPr>
          </a:p>
          <a:p>
            <a:pPr algn="l"/>
            <a:r>
              <a:rPr lang="en-US" sz="2400" b="1" dirty="0">
                <a:solidFill>
                  <a:srgbClr val="FFFF00"/>
                </a:solidFill>
                <a:latin typeface="Times New Roman" panose="02020603050405020304" pitchFamily="18" charset="0"/>
                <a:cs typeface="Times New Roman" panose="02020603050405020304" pitchFamily="18" charset="0"/>
              </a:rPr>
              <a:t>Importance of Ethics in Engineering:</a:t>
            </a:r>
          </a:p>
          <a:p>
            <a:pPr algn="l"/>
            <a:r>
              <a:rPr lang="en-US" sz="2400" dirty="0"/>
              <a:t>1. </a:t>
            </a:r>
            <a:r>
              <a:rPr lang="en-US" sz="2400" b="1" dirty="0"/>
              <a:t>Responsibility to Society:</a:t>
            </a:r>
          </a:p>
          <a:p>
            <a:pPr algn="l"/>
            <a:r>
              <a:rPr lang="en-US" sz="2400" dirty="0"/>
              <a:t>- Engineers have a duty to prioritize public welfare, safety, and health.</a:t>
            </a:r>
          </a:p>
          <a:p>
            <a:pPr algn="l"/>
            <a:r>
              <a:rPr lang="en-US" sz="2400" dirty="0"/>
              <a:t>- Examples of ethical responsibilities include:</a:t>
            </a:r>
          </a:p>
          <a:p>
            <a:pPr algn="l"/>
            <a:r>
              <a:rPr lang="en-US" sz="2400" dirty="0"/>
              <a:t>- Ensuring the safety and reliability of software systems.</a:t>
            </a:r>
          </a:p>
          <a:p>
            <a:pPr algn="l"/>
            <a:r>
              <a:rPr lang="en-US" sz="2400" dirty="0"/>
              <a:t>- Protecting user data and privacy.</a:t>
            </a:r>
          </a:p>
          <a:p>
            <a:pPr algn="l"/>
            <a:r>
              <a:rPr lang="en-US" sz="2400" dirty="0"/>
              <a:t>- Avoiding harm through responsible AI and machine learning practices.</a:t>
            </a:r>
          </a:p>
          <a:p>
            <a:pPr algn="l"/>
            <a:endParaRPr lang="en-US" sz="2400" dirty="0">
              <a:solidFill>
                <a:srgbClr val="FFFF00"/>
              </a:solidFill>
              <a:latin typeface="Times New Roman" panose="02020603050405020304" pitchFamily="18" charset="0"/>
              <a:cs typeface="Times New Roman" panose="02020603050405020304" pitchFamily="18" charset="0"/>
            </a:endParaRPr>
          </a:p>
          <a:p>
            <a:pPr algn="l"/>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426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444500" y="542925"/>
            <a:ext cx="11214100" cy="535531"/>
          </a:xfrm>
        </p:spPr>
        <p:txBody>
          <a:bodyPr/>
          <a:lstStyle/>
          <a:p>
            <a:r>
              <a:rPr lang="en-US" dirty="0"/>
              <a:t>Week 1: Introduction to Ethics</a:t>
            </a:r>
          </a:p>
        </p:txBody>
      </p:sp>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a:lstStyle/>
          <a:p>
            <a:fld id="{C263D6C4-4840-40CC-AC84-17E24B3B7BDE}" type="slidenum">
              <a:rPr lang="en-US" smtClean="0"/>
              <a:pPr/>
              <a:t>10</a:t>
            </a:fld>
            <a:endParaRPr lang="en-US" dirty="0"/>
          </a:p>
        </p:txBody>
      </p:sp>
      <p:sp>
        <p:nvSpPr>
          <p:cNvPr id="3" name="Text Placeholder 2">
            <a:extLst>
              <a:ext uri="{FF2B5EF4-FFF2-40B4-BE49-F238E27FC236}">
                <a16:creationId xmlns:a16="http://schemas.microsoft.com/office/drawing/2014/main" id="{06554A61-D199-469B-AB0C-B68F82B5059F}"/>
              </a:ext>
            </a:extLst>
          </p:cNvPr>
          <p:cNvSpPr>
            <a:spLocks noGrp="1"/>
          </p:cNvSpPr>
          <p:nvPr>
            <p:ph type="body" sz="quarter" idx="13"/>
          </p:nvPr>
        </p:nvSpPr>
        <p:spPr>
          <a:xfrm>
            <a:off x="444500" y="1309303"/>
            <a:ext cx="11476567" cy="4702030"/>
          </a:xfrm>
        </p:spPr>
        <p:txBody>
          <a:bodyPr>
            <a:normAutofit/>
          </a:bodyPr>
          <a:lstStyle/>
          <a:p>
            <a:pPr algn="l"/>
            <a:r>
              <a:rPr lang="en-US" sz="2400" b="1" dirty="0">
                <a:solidFill>
                  <a:srgbClr val="FFFF00"/>
                </a:solidFill>
                <a:latin typeface="Times New Roman" panose="02020603050405020304" pitchFamily="18" charset="0"/>
                <a:cs typeface="Times New Roman" panose="02020603050405020304" pitchFamily="18" charset="0"/>
              </a:rPr>
              <a:t>Importance of Ethics in Engineering:</a:t>
            </a:r>
          </a:p>
          <a:p>
            <a:pPr algn="l"/>
            <a:r>
              <a:rPr lang="en-US" sz="2400" dirty="0">
                <a:latin typeface="Times New Roman" panose="02020603050405020304" pitchFamily="18" charset="0"/>
                <a:cs typeface="Times New Roman" panose="02020603050405020304" pitchFamily="18" charset="0"/>
              </a:rPr>
              <a:t>2. </a:t>
            </a:r>
            <a:r>
              <a:rPr lang="en-US" sz="2400" b="1" dirty="0">
                <a:latin typeface="Times New Roman" panose="02020603050405020304" pitchFamily="18" charset="0"/>
                <a:cs typeface="Times New Roman" panose="02020603050405020304" pitchFamily="18" charset="0"/>
              </a:rPr>
              <a:t>Professional Integrity:</a:t>
            </a:r>
          </a:p>
          <a:p>
            <a:pPr algn="l"/>
            <a:r>
              <a:rPr lang="en-US" sz="2400" dirty="0">
                <a:latin typeface="Times New Roman" panose="02020603050405020304" pitchFamily="18" charset="0"/>
                <a:cs typeface="Times New Roman" panose="02020603050405020304" pitchFamily="18" charset="0"/>
              </a:rPr>
              <a:t>- Maintaining honesty, transparency, and trustworthiness in professional work.</a:t>
            </a:r>
          </a:p>
          <a:p>
            <a:pPr algn="l"/>
            <a:r>
              <a:rPr lang="en-US" sz="2400" dirty="0">
                <a:latin typeface="Times New Roman" panose="02020603050405020304" pitchFamily="18" charset="0"/>
                <a:cs typeface="Times New Roman" panose="02020603050405020304" pitchFamily="18" charset="0"/>
              </a:rPr>
              <a:t>- Importance of avoiding conflicts of interest, plagiarism, and intellectual property theft.</a:t>
            </a:r>
          </a:p>
          <a:p>
            <a:pPr algn="l"/>
            <a:r>
              <a:rPr lang="en-US" sz="3400" dirty="0">
                <a:latin typeface="Times New Roman" panose="02020603050405020304" pitchFamily="18" charset="0"/>
                <a:cs typeface="Times New Roman" panose="02020603050405020304" pitchFamily="18" charset="0"/>
              </a:rPr>
              <a:t>3. </a:t>
            </a:r>
            <a:r>
              <a:rPr lang="en-US" sz="2400" b="1" dirty="0">
                <a:latin typeface="Times New Roman" panose="02020603050405020304" pitchFamily="18" charset="0"/>
                <a:cs typeface="Times New Roman" panose="02020603050405020304" pitchFamily="18" charset="0"/>
              </a:rPr>
              <a:t>Legal and Regulatory Compliance:</a:t>
            </a:r>
          </a:p>
          <a:p>
            <a:pPr algn="l"/>
            <a:r>
              <a:rPr lang="en-US" sz="2400" dirty="0">
                <a:latin typeface="Times New Roman" panose="02020603050405020304" pitchFamily="18" charset="0"/>
                <a:cs typeface="Times New Roman" panose="02020603050405020304" pitchFamily="18" charset="0"/>
              </a:rPr>
              <a:t>- Adhering to laws, regulations, and industry standards that govern engineering practices.</a:t>
            </a:r>
          </a:p>
          <a:p>
            <a:pPr algn="l"/>
            <a:r>
              <a:rPr lang="en-US" sz="2400" dirty="0">
                <a:latin typeface="Times New Roman" panose="02020603050405020304" pitchFamily="18" charset="0"/>
                <a:cs typeface="Times New Roman" panose="02020603050405020304" pitchFamily="18" charset="0"/>
              </a:rPr>
              <a:t>- Understanding the legal implications of ethical decisions, such as data protection laws (e.g., GDPR).</a:t>
            </a:r>
          </a:p>
          <a:p>
            <a:pPr algn="l"/>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4551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444500" y="542925"/>
            <a:ext cx="11214100" cy="535531"/>
          </a:xfrm>
        </p:spPr>
        <p:txBody>
          <a:bodyPr/>
          <a:lstStyle/>
          <a:p>
            <a:r>
              <a:rPr lang="en-US" dirty="0"/>
              <a:t>Week 1: Introduction to Ethics</a:t>
            </a:r>
          </a:p>
        </p:txBody>
      </p:sp>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a:lstStyle/>
          <a:p>
            <a:fld id="{C263D6C4-4840-40CC-AC84-17E24B3B7BDE}" type="slidenum">
              <a:rPr lang="en-US" smtClean="0"/>
              <a:pPr/>
              <a:t>11</a:t>
            </a:fld>
            <a:endParaRPr lang="en-US" dirty="0"/>
          </a:p>
        </p:txBody>
      </p:sp>
      <p:sp>
        <p:nvSpPr>
          <p:cNvPr id="3" name="Text Placeholder 2">
            <a:extLst>
              <a:ext uri="{FF2B5EF4-FFF2-40B4-BE49-F238E27FC236}">
                <a16:creationId xmlns:a16="http://schemas.microsoft.com/office/drawing/2014/main" id="{06554A61-D199-469B-AB0C-B68F82B5059F}"/>
              </a:ext>
            </a:extLst>
          </p:cNvPr>
          <p:cNvSpPr>
            <a:spLocks noGrp="1"/>
          </p:cNvSpPr>
          <p:nvPr>
            <p:ph type="body" sz="quarter" idx="13"/>
          </p:nvPr>
        </p:nvSpPr>
        <p:spPr>
          <a:xfrm>
            <a:off x="444500" y="1309303"/>
            <a:ext cx="11476567" cy="3190979"/>
          </a:xfrm>
        </p:spPr>
        <p:txBody>
          <a:bodyPr>
            <a:normAutofit/>
          </a:bodyPr>
          <a:lstStyle/>
          <a:p>
            <a:pPr algn="l"/>
            <a:r>
              <a:rPr lang="en-US" sz="2400" b="1" dirty="0">
                <a:solidFill>
                  <a:srgbClr val="FFFF00"/>
                </a:solidFill>
                <a:latin typeface="Times New Roman" panose="02020603050405020304" pitchFamily="18" charset="0"/>
                <a:cs typeface="Times New Roman" panose="02020603050405020304" pitchFamily="18" charset="0"/>
              </a:rPr>
              <a:t>Importance of Ethics in Engineering:</a:t>
            </a:r>
          </a:p>
          <a:p>
            <a:pPr algn="l"/>
            <a:r>
              <a:rPr lang="en-US" sz="2400" dirty="0">
                <a:latin typeface="Times New Roman" panose="02020603050405020304" pitchFamily="18" charset="0"/>
                <a:cs typeface="Times New Roman" panose="02020603050405020304" pitchFamily="18" charset="0"/>
              </a:rPr>
              <a:t>4. Impact on Innovation and Progress:</a:t>
            </a:r>
          </a:p>
          <a:p>
            <a:pPr algn="l"/>
            <a:r>
              <a:rPr lang="en-US" sz="2400" dirty="0">
                <a:latin typeface="Times New Roman" panose="02020603050405020304" pitchFamily="18" charset="0"/>
                <a:cs typeface="Times New Roman" panose="02020603050405020304" pitchFamily="18" charset="0"/>
              </a:rPr>
              <a:t>- Ethical practices foster trust and credibility, which are essential for technological advancement and public acceptance.</a:t>
            </a:r>
          </a:p>
          <a:p>
            <a:pPr algn="l"/>
            <a:r>
              <a:rPr lang="en-US" sz="2400" dirty="0">
                <a:latin typeface="Times New Roman" panose="02020603050405020304" pitchFamily="18" charset="0"/>
                <a:cs typeface="Times New Roman" panose="02020603050405020304" pitchFamily="18" charset="0"/>
              </a:rPr>
              <a:t>- Case studies where ethical considerations led to innovative solutions and societal benefits.</a:t>
            </a:r>
          </a:p>
          <a:p>
            <a:pPr algn="l"/>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5127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444500" y="542925"/>
            <a:ext cx="11214100" cy="535531"/>
          </a:xfrm>
        </p:spPr>
        <p:txBody>
          <a:bodyPr/>
          <a:lstStyle/>
          <a:p>
            <a:r>
              <a:rPr lang="en-US" dirty="0"/>
              <a:t>Week 1: Introduction to Ethics</a:t>
            </a:r>
          </a:p>
        </p:txBody>
      </p:sp>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a:lstStyle/>
          <a:p>
            <a:fld id="{C263D6C4-4840-40CC-AC84-17E24B3B7BDE}" type="slidenum">
              <a:rPr lang="en-US" smtClean="0"/>
              <a:pPr/>
              <a:t>12</a:t>
            </a:fld>
            <a:endParaRPr lang="en-US" dirty="0"/>
          </a:p>
        </p:txBody>
      </p:sp>
      <p:sp>
        <p:nvSpPr>
          <p:cNvPr id="3" name="Text Placeholder 2">
            <a:extLst>
              <a:ext uri="{FF2B5EF4-FFF2-40B4-BE49-F238E27FC236}">
                <a16:creationId xmlns:a16="http://schemas.microsoft.com/office/drawing/2014/main" id="{06554A61-D199-469B-AB0C-B68F82B5059F}"/>
              </a:ext>
            </a:extLst>
          </p:cNvPr>
          <p:cNvSpPr>
            <a:spLocks noGrp="1"/>
          </p:cNvSpPr>
          <p:nvPr>
            <p:ph type="body" sz="quarter" idx="13"/>
          </p:nvPr>
        </p:nvSpPr>
        <p:spPr>
          <a:xfrm>
            <a:off x="444500" y="1309303"/>
            <a:ext cx="11476567" cy="4702030"/>
          </a:xfrm>
        </p:spPr>
        <p:txBody>
          <a:bodyPr>
            <a:normAutofit/>
          </a:bodyPr>
          <a:lstStyle/>
          <a:p>
            <a:pPr algn="l"/>
            <a:r>
              <a:rPr lang="en-US" sz="2400" b="1" dirty="0">
                <a:solidFill>
                  <a:srgbClr val="FFFF00"/>
                </a:solidFill>
                <a:latin typeface="Times New Roman" panose="02020603050405020304" pitchFamily="18" charset="0"/>
                <a:cs typeface="Times New Roman" panose="02020603050405020304" pitchFamily="18" charset="0"/>
              </a:rPr>
              <a:t>Importance of Ethics in Engineering:</a:t>
            </a:r>
          </a:p>
          <a:p>
            <a:pPr algn="l"/>
            <a:r>
              <a:rPr lang="en-US" sz="2400" b="1" dirty="0">
                <a:latin typeface="Times New Roman" panose="02020603050405020304" pitchFamily="18" charset="0"/>
                <a:cs typeface="Times New Roman" panose="02020603050405020304" pitchFamily="18" charset="0"/>
              </a:rPr>
              <a:t>5. Ethical Dilemmas and Decision-Making:</a:t>
            </a:r>
          </a:p>
          <a:p>
            <a:pPr algn="l"/>
            <a:r>
              <a:rPr lang="en-US" sz="2400" dirty="0">
                <a:latin typeface="Times New Roman" panose="02020603050405020304" pitchFamily="18" charset="0"/>
                <a:cs typeface="Times New Roman" panose="02020603050405020304" pitchFamily="18" charset="0"/>
              </a:rPr>
              <a:t>- Engineers often face complex ethical dilemmas where they must balance competing interests and make difficult decisions.</a:t>
            </a:r>
          </a:p>
          <a:p>
            <a:pPr algn="l"/>
            <a:r>
              <a:rPr lang="en-US" sz="2400" dirty="0">
                <a:latin typeface="Times New Roman" panose="02020603050405020304" pitchFamily="18" charset="0"/>
                <a:cs typeface="Times New Roman" panose="02020603050405020304" pitchFamily="18" charset="0"/>
              </a:rPr>
              <a:t>- Frameworks for ethical decision-making:</a:t>
            </a:r>
          </a:p>
          <a:p>
            <a:pPr algn="l"/>
            <a:r>
              <a:rPr lang="en-US" sz="2400" dirty="0">
                <a:latin typeface="Times New Roman" panose="02020603050405020304" pitchFamily="18" charset="0"/>
                <a:cs typeface="Times New Roman" panose="02020603050405020304" pitchFamily="18" charset="0"/>
              </a:rPr>
              <a:t>-Identifying stakeholders and their interests.</a:t>
            </a:r>
          </a:p>
          <a:p>
            <a:pPr algn="l"/>
            <a:r>
              <a:rPr lang="en-US" sz="2400" dirty="0">
                <a:latin typeface="Times New Roman" panose="02020603050405020304" pitchFamily="18" charset="0"/>
                <a:cs typeface="Times New Roman" panose="02020603050405020304" pitchFamily="18" charset="0"/>
              </a:rPr>
              <a:t>- Analyzing the potential consequences of different actions.</a:t>
            </a:r>
          </a:p>
          <a:p>
            <a:pPr algn="l"/>
            <a:r>
              <a:rPr lang="en-US" sz="2400" dirty="0">
                <a:latin typeface="Times New Roman" panose="02020603050405020304" pitchFamily="18" charset="0"/>
                <a:cs typeface="Times New Roman" panose="02020603050405020304" pitchFamily="18" charset="0"/>
              </a:rPr>
              <a:t>- Applying ethical principles to determine the best course of action.</a:t>
            </a:r>
          </a:p>
          <a:p>
            <a:pPr algn="l"/>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14277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444500" y="542925"/>
            <a:ext cx="11214100" cy="535531"/>
          </a:xfrm>
        </p:spPr>
        <p:txBody>
          <a:bodyPr/>
          <a:lstStyle/>
          <a:p>
            <a:r>
              <a:rPr lang="en-US" dirty="0"/>
              <a:t>Week 1: Introduction to Ethics</a:t>
            </a:r>
          </a:p>
        </p:txBody>
      </p:sp>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a:lstStyle/>
          <a:p>
            <a:fld id="{C263D6C4-4840-40CC-AC84-17E24B3B7BDE}" type="slidenum">
              <a:rPr lang="en-US" smtClean="0"/>
              <a:pPr/>
              <a:t>13</a:t>
            </a:fld>
            <a:endParaRPr lang="en-US" dirty="0"/>
          </a:p>
        </p:txBody>
      </p:sp>
      <p:sp>
        <p:nvSpPr>
          <p:cNvPr id="3" name="Text Placeholder 2">
            <a:extLst>
              <a:ext uri="{FF2B5EF4-FFF2-40B4-BE49-F238E27FC236}">
                <a16:creationId xmlns:a16="http://schemas.microsoft.com/office/drawing/2014/main" id="{06554A61-D199-469B-AB0C-B68F82B5059F}"/>
              </a:ext>
            </a:extLst>
          </p:cNvPr>
          <p:cNvSpPr>
            <a:spLocks noGrp="1"/>
          </p:cNvSpPr>
          <p:nvPr>
            <p:ph type="body" sz="quarter" idx="13"/>
          </p:nvPr>
        </p:nvSpPr>
        <p:spPr>
          <a:xfrm>
            <a:off x="444500" y="1309303"/>
            <a:ext cx="11476567" cy="3940030"/>
          </a:xfrm>
        </p:spPr>
        <p:txBody>
          <a:bodyPr>
            <a:normAutofit fontScale="92500" lnSpcReduction="20000"/>
          </a:bodyPr>
          <a:lstStyle/>
          <a:p>
            <a:pPr algn="l"/>
            <a:endParaRPr lang="en-US" sz="2400" b="1" dirty="0">
              <a:solidFill>
                <a:srgbClr val="FFFF00"/>
              </a:solidFill>
              <a:latin typeface="Times New Roman" panose="02020603050405020304" pitchFamily="18" charset="0"/>
              <a:cs typeface="Times New Roman" panose="02020603050405020304" pitchFamily="18" charset="0"/>
            </a:endParaRPr>
          </a:p>
          <a:p>
            <a:pPr algn="l"/>
            <a:r>
              <a:rPr lang="en-US" sz="2400" b="1" dirty="0">
                <a:solidFill>
                  <a:srgbClr val="FFFF00"/>
                </a:solidFill>
                <a:latin typeface="Times New Roman" panose="02020603050405020304" pitchFamily="18" charset="0"/>
                <a:cs typeface="Times New Roman" panose="02020603050405020304" pitchFamily="18" charset="0"/>
              </a:rPr>
              <a:t>Application to Engineering:</a:t>
            </a:r>
            <a:endParaRPr lang="en-US" sz="2400" dirty="0"/>
          </a:p>
          <a:p>
            <a:pPr algn="l"/>
            <a:r>
              <a:rPr lang="en-US" sz="2400" dirty="0">
                <a:latin typeface="Times New Roman" panose="02020603050405020304" pitchFamily="18" charset="0"/>
                <a:cs typeface="Times New Roman" panose="02020603050405020304" pitchFamily="18" charset="0"/>
              </a:rPr>
              <a:t>The above concepts apply specifically to the field of Computer Science and Engineering. Examples include:</a:t>
            </a:r>
          </a:p>
          <a:p>
            <a:pPr algn="l"/>
            <a:r>
              <a:rPr lang="en-US" sz="2400" dirty="0">
                <a:latin typeface="Times New Roman" panose="02020603050405020304" pitchFamily="18" charset="0"/>
                <a:cs typeface="Times New Roman" panose="02020603050405020304" pitchFamily="18" charset="0"/>
              </a:rPr>
              <a:t>  - Ethical programming practices.</a:t>
            </a:r>
          </a:p>
          <a:p>
            <a:pPr algn="l"/>
            <a:r>
              <a:rPr lang="en-US" sz="2400" dirty="0">
                <a:latin typeface="Times New Roman" panose="02020603050405020304" pitchFamily="18" charset="0"/>
                <a:cs typeface="Times New Roman" panose="02020603050405020304" pitchFamily="18" charset="0"/>
              </a:rPr>
              <a:t>  - Data privacy and security.</a:t>
            </a:r>
          </a:p>
          <a:p>
            <a:pPr algn="l"/>
            <a:r>
              <a:rPr lang="en-US" sz="2400" dirty="0">
                <a:latin typeface="Times New Roman" panose="02020603050405020304" pitchFamily="18" charset="0"/>
                <a:cs typeface="Times New Roman" panose="02020603050405020304" pitchFamily="18" charset="0"/>
              </a:rPr>
              <a:t>  - Intellectual property and plagiarism.</a:t>
            </a:r>
          </a:p>
          <a:p>
            <a:pPr algn="l"/>
            <a:endParaRPr lang="en-US" sz="2400" dirty="0">
              <a:solidFill>
                <a:srgbClr val="FFFF00"/>
              </a:solidFill>
              <a:latin typeface="Times New Roman" panose="02020603050405020304" pitchFamily="18" charset="0"/>
              <a:cs typeface="Times New Roman" panose="02020603050405020304" pitchFamily="18" charset="0"/>
            </a:endParaRPr>
          </a:p>
          <a:p>
            <a:pPr algn="l"/>
            <a:r>
              <a:rPr lang="en-US" sz="2600" dirty="0">
                <a:solidFill>
                  <a:srgbClr val="FFFF00"/>
                </a:solidFill>
                <a:latin typeface="Times New Roman" panose="02020603050405020304" pitchFamily="18" charset="0"/>
                <a:cs typeface="Times New Roman" panose="02020603050405020304" pitchFamily="18" charset="0"/>
              </a:rPr>
              <a:t>Case Studies:</a:t>
            </a:r>
          </a:p>
          <a:p>
            <a:pPr algn="l"/>
            <a:r>
              <a:rPr lang="en-US" sz="2600" dirty="0">
                <a:latin typeface="Times New Roman" panose="02020603050405020304" pitchFamily="18" charset="0"/>
                <a:cs typeface="Times New Roman" panose="02020603050405020304" pitchFamily="18" charset="0"/>
              </a:rPr>
              <a:t>Examine real-world scenarios where ethical principles were challenged, such as data breaches or software malfunctions that had significant consequences.</a:t>
            </a:r>
          </a:p>
          <a:p>
            <a:pPr algn="l"/>
            <a:endParaRPr lang="en-US" sz="2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4134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444500" y="542925"/>
            <a:ext cx="11214100" cy="535531"/>
          </a:xfrm>
        </p:spPr>
        <p:txBody>
          <a:bodyPr/>
          <a:lstStyle/>
          <a:p>
            <a:r>
              <a:rPr lang="en-US" dirty="0"/>
              <a:t>Week 1: Introduction to Ethics</a:t>
            </a:r>
          </a:p>
        </p:txBody>
      </p:sp>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a:lstStyle/>
          <a:p>
            <a:fld id="{C263D6C4-4840-40CC-AC84-17E24B3B7BDE}" type="slidenum">
              <a:rPr lang="en-US" smtClean="0"/>
              <a:pPr/>
              <a:t>14</a:t>
            </a:fld>
            <a:endParaRPr lang="en-US" dirty="0"/>
          </a:p>
        </p:txBody>
      </p:sp>
      <p:sp>
        <p:nvSpPr>
          <p:cNvPr id="3" name="Text Placeholder 2">
            <a:extLst>
              <a:ext uri="{FF2B5EF4-FFF2-40B4-BE49-F238E27FC236}">
                <a16:creationId xmlns:a16="http://schemas.microsoft.com/office/drawing/2014/main" id="{06554A61-D199-469B-AB0C-B68F82B5059F}"/>
              </a:ext>
            </a:extLst>
          </p:cNvPr>
          <p:cNvSpPr>
            <a:spLocks noGrp="1"/>
          </p:cNvSpPr>
          <p:nvPr>
            <p:ph type="body" sz="quarter" idx="13"/>
          </p:nvPr>
        </p:nvSpPr>
        <p:spPr>
          <a:xfrm>
            <a:off x="444500" y="1309303"/>
            <a:ext cx="11476567" cy="3737826"/>
          </a:xfrm>
        </p:spPr>
        <p:txBody>
          <a:bodyPr>
            <a:normAutofit fontScale="92500" lnSpcReduction="20000"/>
          </a:bodyPr>
          <a:lstStyle/>
          <a:p>
            <a:pPr algn="l"/>
            <a:endParaRPr lang="en-US" sz="2400" b="1" dirty="0">
              <a:solidFill>
                <a:srgbClr val="FFFF00"/>
              </a:solidFill>
              <a:latin typeface="Times New Roman" panose="02020603050405020304" pitchFamily="18" charset="0"/>
              <a:cs typeface="Times New Roman" panose="02020603050405020304" pitchFamily="18" charset="0"/>
            </a:endParaRPr>
          </a:p>
          <a:p>
            <a:pPr algn="l"/>
            <a:r>
              <a:rPr lang="en-US" sz="2400" b="1" dirty="0">
                <a:solidFill>
                  <a:srgbClr val="FFFF00"/>
                </a:solidFill>
                <a:latin typeface="Times New Roman" panose="02020603050405020304" pitchFamily="18" charset="0"/>
                <a:cs typeface="Times New Roman" panose="02020603050405020304" pitchFamily="18" charset="0"/>
              </a:rPr>
              <a:t>Review Questions and Answers:</a:t>
            </a:r>
          </a:p>
          <a:p>
            <a:pPr algn="l"/>
            <a:r>
              <a:rPr lang="en-US" sz="2400" b="1" dirty="0">
                <a:latin typeface="Times New Roman" panose="02020603050405020304" pitchFamily="18" charset="0"/>
                <a:cs typeface="Times New Roman" panose="02020603050405020304" pitchFamily="18" charset="0"/>
              </a:rPr>
              <a:t>Question (Value):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How do you personally value ethics in your professional decision-making process, and can you share an example where adhering to ethical principles guided your actions?</a:t>
            </a:r>
          </a:p>
          <a:p>
            <a:pPr algn="l"/>
            <a:r>
              <a:rPr lang="en-US" sz="2400" b="1" dirty="0">
                <a:latin typeface="Times New Roman" panose="02020603050405020304" pitchFamily="18" charset="0"/>
                <a:cs typeface="Times New Roman" panose="02020603050405020304" pitchFamily="18" charset="0"/>
              </a:rPr>
              <a:t>Question (Respond):</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How do you feel about the role of ethics in shaping trust and accountability within your professional field or society?</a:t>
            </a:r>
          </a:p>
          <a:p>
            <a:pPr algn="l"/>
            <a:r>
              <a:rPr lang="en-US" sz="2400" b="1" dirty="0">
                <a:latin typeface="Times New Roman" panose="02020603050405020304" pitchFamily="18" charset="0"/>
                <a:cs typeface="Times New Roman" panose="02020603050405020304" pitchFamily="18" charset="0"/>
              </a:rPr>
              <a:t>Question (Organize):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How would you prioritize the application of Deontology, Utilitarianism, and Virtue Ethics in resolving an ethical dilemma in your profession? Can you suggest a structured approach to balance these theories in practice?</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00664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444500" y="542925"/>
            <a:ext cx="11214100" cy="535531"/>
          </a:xfrm>
        </p:spPr>
        <p:txBody>
          <a:bodyPr/>
          <a:lstStyle/>
          <a:p>
            <a:r>
              <a:rPr lang="en-US" dirty="0"/>
              <a:t>Week 1: Introduction to Ethics</a:t>
            </a:r>
          </a:p>
        </p:txBody>
      </p:sp>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a:lstStyle/>
          <a:p>
            <a:fld id="{C263D6C4-4840-40CC-AC84-17E24B3B7BDE}" type="slidenum">
              <a:rPr lang="en-US" smtClean="0"/>
              <a:pPr/>
              <a:t>15</a:t>
            </a:fld>
            <a:endParaRPr lang="en-US" dirty="0"/>
          </a:p>
        </p:txBody>
      </p:sp>
      <p:sp>
        <p:nvSpPr>
          <p:cNvPr id="3" name="Text Placeholder 2">
            <a:extLst>
              <a:ext uri="{FF2B5EF4-FFF2-40B4-BE49-F238E27FC236}">
                <a16:creationId xmlns:a16="http://schemas.microsoft.com/office/drawing/2014/main" id="{06554A61-D199-469B-AB0C-B68F82B5059F}"/>
              </a:ext>
            </a:extLst>
          </p:cNvPr>
          <p:cNvSpPr>
            <a:spLocks noGrp="1"/>
          </p:cNvSpPr>
          <p:nvPr>
            <p:ph type="body" sz="quarter" idx="13"/>
          </p:nvPr>
        </p:nvSpPr>
        <p:spPr>
          <a:xfrm>
            <a:off x="3335866" y="3442903"/>
            <a:ext cx="5431367" cy="1230697"/>
          </a:xfrm>
        </p:spPr>
        <p:txBody>
          <a:bodyPr>
            <a:normAutofit/>
          </a:bodyPr>
          <a:lstStyle/>
          <a:p>
            <a:pPr algn="l"/>
            <a:endParaRPr lang="en-US" sz="2400" b="1" dirty="0">
              <a:solidFill>
                <a:srgbClr val="FFFF00"/>
              </a:solidFill>
              <a:latin typeface="Times New Roman" panose="02020603050405020304" pitchFamily="18" charset="0"/>
              <a:cs typeface="Times New Roman" panose="02020603050405020304" pitchFamily="18" charset="0"/>
            </a:endParaRPr>
          </a:p>
          <a:p>
            <a:r>
              <a:rPr lang="en-US" sz="2400" b="1" dirty="0">
                <a:solidFill>
                  <a:srgbClr val="FFFF00"/>
                </a:solidFill>
                <a:latin typeface="Times New Roman" panose="02020603050405020304" pitchFamily="18" charset="0"/>
                <a:cs typeface="Times New Roman" panose="02020603050405020304" pitchFamily="18" charset="0"/>
              </a:rPr>
              <a:t>Thank You all</a:t>
            </a:r>
            <a:endParaRPr lang="en-US" sz="2400" dirty="0"/>
          </a:p>
          <a:p>
            <a:pPr algn="l"/>
            <a:endParaRPr lang="en-US" sz="2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7093978"/>
      </p:ext>
    </p:extLst>
  </p:cSld>
  <p:clrMapOvr>
    <a:masterClrMapping/>
  </p:clrMapOvr>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2.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0</TotalTime>
  <Words>1107</Words>
  <Application>Microsoft Office PowerPoint</Application>
  <PresentationFormat>Widescreen</PresentationFormat>
  <Paragraphs>178</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Times New Roman</vt:lpstr>
      <vt:lpstr>Trade Gothic LT Pro</vt:lpstr>
      <vt:lpstr>Trebuchet MS</vt:lpstr>
      <vt:lpstr>Wingdings</vt:lpstr>
      <vt:lpstr>Office Theme</vt:lpstr>
      <vt:lpstr>PowerPoint Presentation</vt:lpstr>
      <vt:lpstr>Week 1: Introduction to Ethics</vt:lpstr>
      <vt:lpstr>Week 1: Introduction to Ethics</vt:lpstr>
      <vt:lpstr>Week 1: Introduction to Ethics</vt:lpstr>
      <vt:lpstr>Week 1: Introduction to Ethics</vt:lpstr>
      <vt:lpstr>Week 1: Introduction to Ethics</vt:lpstr>
      <vt:lpstr>Week 1: Introduction to Ethics</vt:lpstr>
      <vt:lpstr>Week 1: Introduction to Ethics</vt:lpstr>
      <vt:lpstr>Week 1: Introduction to Ethics</vt:lpstr>
      <vt:lpstr>Week 1: Introduction to Ethics</vt:lpstr>
      <vt:lpstr>Week 1: Introduction to Ethics</vt:lpstr>
      <vt:lpstr>Week 1: Introduction to Ethics</vt:lpstr>
      <vt:lpstr>Week 1: Introduction to Ethics</vt:lpstr>
      <vt:lpstr>Week 1: Introduction to Ethics</vt:lpstr>
      <vt:lpstr>Week 1: Introduction to Ethics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2024-06-22T17:38:37Z</dcterms:created>
  <dcterms:modified xsi:type="dcterms:W3CDTF">2025-01-26T15:46:55Z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