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6" r:id="rId3"/>
    <p:sldId id="257" r:id="rId4"/>
    <p:sldId id="269" r:id="rId5"/>
    <p:sldId id="261" r:id="rId6"/>
    <p:sldId id="256" r:id="rId7"/>
    <p:sldId id="258" r:id="rId8"/>
    <p:sldId id="259" r:id="rId9"/>
    <p:sldId id="260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9D00"/>
    <a:srgbClr val="0C830A"/>
    <a:srgbClr val="E6C542"/>
    <a:srgbClr val="FDE11C"/>
    <a:srgbClr val="FFDF9F"/>
    <a:srgbClr val="B05214"/>
    <a:srgbClr val="70E0FF"/>
    <a:srgbClr val="55ED32"/>
    <a:srgbClr val="FF1B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99">
        <p:fade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99">
        <p:fade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99">
        <p:fade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99">
        <p:fade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99">
        <p:fade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99">
        <p:fade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99">
        <p:fade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99">
        <p:fade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99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99">
        <p:fade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99">
        <p:fade/>
      </p:transition>
    </mc:Choice>
    <mc:Fallback>
      <p:transition spd="slow">
        <p:fade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699">
        <p:fade/>
      </p:transition>
    </mc:Choice>
    <mc:Fallback>
      <p:transition spd="slow">
        <p:fade/>
      </p:transition>
    </mc:Fallback>
  </mc:AlternateConten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260" y="1364615"/>
            <a:ext cx="4221480" cy="412813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2162175" y="2272665"/>
            <a:ext cx="786765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32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BANGLADESH ARMY UNIVERSITY </a:t>
            </a:r>
            <a:br>
              <a:rPr lang="en-US" sz="32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sz="32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OF</a:t>
            </a:r>
            <a:br>
              <a:rPr lang="en-US" sz="32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sz="32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 ENGINEERING AND TECHNOLOGY</a:t>
            </a:r>
            <a:endParaRPr lang="en-US" sz="3200" b="1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2596515" y="5265420"/>
            <a:ext cx="6998335" cy="977900"/>
          </a:xfrm>
        </p:spPr>
        <p:txBody>
          <a:bodyPr anchor="ctr">
            <a:normAutofit/>
          </a:bodyPr>
          <a:p>
            <a:r>
              <a:rPr lang="en-US" sz="225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COURSE Tittle : Bangladesh studies: History and Culture</a:t>
            </a:r>
            <a:endParaRPr lang="en-US" sz="2250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sz="225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charset="0"/>
                <a:cs typeface="Calibri" panose="020F0502020204030204" charset="0"/>
              </a:rPr>
              <a:t>COURSE code :1151</a:t>
            </a:r>
            <a:endParaRPr lang="en-US" sz="2250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99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bengalpartition1905-map_7d37018a63a04228937247825bbb99da_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295650" y="2914650"/>
            <a:ext cx="5575300" cy="1028700"/>
          </a:xfrm>
          <a:prstGeom prst="rect">
            <a:avLst/>
          </a:prstGeom>
          <a:noFill/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wrap="square" rtlCol="0">
            <a:noAutofit/>
          </a:bodyPr>
          <a:p>
            <a:r>
              <a:rPr lang="en-US" sz="60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Bengal</a:t>
            </a:r>
            <a:r>
              <a:rPr lang="en-US" sz="6000" b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6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Partition</a:t>
            </a:r>
            <a:endParaRPr lang="en-US" sz="60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bengalpartition1905-map_7d37018a63a04228937247825bbb99da_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92000" cy="684720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610485" y="2250440"/>
            <a:ext cx="6988810" cy="1178560"/>
          </a:xfrm>
          <a:prstGeom prst="rect">
            <a:avLst/>
          </a:prstGeom>
          <a:noFill/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wrap="square" rtlCol="0">
            <a:noAutofit/>
          </a:bodyPr>
          <a:p>
            <a:pPr algn="ctr"/>
            <a:r>
              <a:rPr lang="en-US" sz="6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PRESENTED BY</a:t>
            </a:r>
            <a:endParaRPr lang="en-US" sz="60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787650" y="3180080"/>
            <a:ext cx="6988810" cy="1178560"/>
          </a:xfrm>
          <a:prstGeom prst="rect">
            <a:avLst/>
          </a:prstGeom>
          <a:noFill/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wrap="square" rtlCol="0">
            <a:noAutofit/>
          </a:bodyPr>
          <a:p>
            <a:pPr algn="ctr"/>
            <a:r>
              <a:rPr lang="en-US" sz="6000" b="1">
                <a:ln w="12700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Tawfik Rahman Shabab</a:t>
            </a:r>
            <a:endParaRPr lang="en-US" sz="60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6000" b="1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20th-July-800x6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0" y="4919345"/>
            <a:ext cx="6096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360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Lord George Nathaniel Curzon</a:t>
            </a:r>
            <a:endParaRPr lang="en-US" sz="360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algn="ctr"/>
            <a:r>
              <a:rPr lang="en-US" sz="360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(1859-1925)</a:t>
            </a:r>
            <a:endParaRPr lang="en-US" sz="360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99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partition-of-beng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8985" cy="6858000"/>
          </a:xfrm>
          <a:prstGeom prst="rect">
            <a:avLst/>
          </a:prstGeom>
        </p:spPr>
      </p:pic>
      <p:sp>
        <p:nvSpPr>
          <p:cNvPr id="6" name="Rectangles 5"/>
          <p:cNvSpPr/>
          <p:nvPr/>
        </p:nvSpPr>
        <p:spPr>
          <a:xfrm>
            <a:off x="825500" y="694690"/>
            <a:ext cx="215265" cy="231775"/>
          </a:xfrm>
          <a:prstGeom prst="rect">
            <a:avLst/>
          </a:prstGeom>
          <a:solidFill>
            <a:srgbClr val="0C830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noFill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040765" y="549910"/>
            <a:ext cx="41325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solidFill>
                  <a:srgbClr val="0C830A"/>
                </a:solidFill>
              </a:rPr>
              <a:t>East Bengal and Assam</a:t>
            </a:r>
            <a:endParaRPr lang="en-US" sz="2800">
              <a:solidFill>
                <a:srgbClr val="0C830A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085215" y="982980"/>
            <a:ext cx="4087495" cy="521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txBody>
          <a:bodyPr wrap="square" rtlCol="0">
            <a:spAutoFit/>
          </a:bodyPr>
          <a:p>
            <a:r>
              <a:rPr lang="en-US" sz="2800">
                <a:solidFill>
                  <a:srgbClr val="FB9D00"/>
                </a:solidFill>
              </a:rPr>
              <a:t>West Bengal and Bihar</a:t>
            </a:r>
            <a:endParaRPr lang="en-US" sz="2800">
              <a:solidFill>
                <a:srgbClr val="FB9D00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1130" y="0"/>
            <a:ext cx="1887220" cy="1800225"/>
          </a:xfrm>
          <a:prstGeom prst="rect">
            <a:avLst/>
          </a:prstGeom>
        </p:spPr>
      </p:pic>
      <p:sp>
        <p:nvSpPr>
          <p:cNvPr id="13" name="Rectangles 12"/>
          <p:cNvSpPr/>
          <p:nvPr/>
        </p:nvSpPr>
        <p:spPr>
          <a:xfrm>
            <a:off x="825500" y="1141730"/>
            <a:ext cx="215265" cy="231775"/>
          </a:xfrm>
          <a:prstGeom prst="rect">
            <a:avLst/>
          </a:prstGeom>
          <a:solidFill>
            <a:srgbClr val="FB9D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7118985" y="6099175"/>
            <a:ext cx="2343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   16 OCT      12 SEP</a:t>
            </a:r>
            <a:endParaRPr lang="en-US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99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13" grpId="0" bldLvl="0" animBg="1"/>
      <p:bldP spid="10" grpId="0"/>
      <p:bldP spid="7" grpId="0"/>
      <p:bldP spid="6" grpId="1" animBg="1"/>
      <p:bldP spid="13" grpId="1" animBg="1"/>
      <p:bldP spid="10" grpId="1"/>
      <p:bldP spid="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TELEMMGLPICT000172752771_trans_NvBQzQNjv4BqrpfQw2hJyG_yckwxPAr0go9KzD8cVu9iguqnaKUswZ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92100" y="228600"/>
            <a:ext cx="4272915" cy="808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5400">
                <a:ln>
                  <a:noFill/>
                </a:ln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Theory:</a:t>
            </a:r>
            <a:endParaRPr lang="en-US" sz="5400">
              <a:ln>
                <a:noFill/>
              </a:ln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92100" y="1109980"/>
            <a:ext cx="3721100" cy="1485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>
                <a:ln w="12700" cmpd="sng">
                  <a:solidFill>
                    <a:schemeClr val="accent1">
                      <a:lumMod val="7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sym typeface="+mn-ea"/>
              </a:rPr>
              <a:t>Administritive</a:t>
            </a:r>
            <a:endParaRPr lang="en-US" sz="3600">
              <a:ln w="12700" cmpd="sng">
                <a:solidFill>
                  <a:schemeClr val="accent1">
                    <a:lumMod val="75000"/>
                  </a:schemeClr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>
                <a:ln w="12700" cmpd="sng">
                  <a:solidFill>
                    <a:srgbClr val="0C830A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sym typeface="+mn-ea"/>
              </a:rPr>
              <a:t>Economical</a:t>
            </a:r>
            <a:endParaRPr lang="en-US" sz="3600">
              <a:ln w="12700" cmpd="sng">
                <a:solidFill>
                  <a:schemeClr val="accent6">
                    <a:lumMod val="75000"/>
                  </a:schemeClr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>
                <a:ln w="12700" cmpd="sng">
                  <a:solidFill>
                    <a:srgbClr val="FF0000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sym typeface="+mn-ea"/>
              </a:rPr>
              <a:t>Political</a:t>
            </a:r>
            <a:endParaRPr lang="en-US" sz="3600">
              <a:ln w="12700" cmpd="sng">
                <a:solidFill>
                  <a:srgbClr val="FF0000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3600">
              <a:ln w="12700">
                <a:solidFill>
                  <a:schemeClr val="accent1">
                    <a:lumMod val="75000"/>
                  </a:schemeClr>
                </a:solidFill>
              </a:ln>
              <a:solidFill>
                <a:srgbClr val="0070C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>
              <a:ln w="12700">
                <a:solidFill>
                  <a:schemeClr val="accent1">
                    <a:lumMod val="75000"/>
                  </a:schemeClr>
                </a:solidFill>
              </a:ln>
              <a:solidFill>
                <a:srgbClr val="0070C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99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Bangladeshi.refuge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94335" y="456565"/>
            <a:ext cx="757682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000" b="1">
                <a:ln/>
                <a:gradFill>
                  <a:gsLst>
                    <a:gs pos="56000">
                      <a:srgbClr val="FE4444"/>
                    </a:gs>
                    <a:gs pos="100000">
                      <a:srgbClr val="832B2B"/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</a:rPr>
              <a:t>Reason/Cause:</a:t>
            </a:r>
            <a:endParaRPr lang="en-US" sz="4000" b="1">
              <a:ln/>
              <a:gradFill>
                <a:gsLst>
                  <a:gs pos="5600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sym typeface="+mn-ea"/>
              </a:rPr>
              <a:t>Huge area</a:t>
            </a:r>
            <a:endParaRPr lang="en-US" sz="280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sym typeface="+mn-ea"/>
              </a:rPr>
              <a:t>Cultural and religious diversity</a:t>
            </a:r>
            <a:endParaRPr lang="en-US" sz="280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sym typeface="+mn-ea"/>
              </a:rPr>
              <a:t>Communication issues</a:t>
            </a:r>
            <a:endParaRPr lang="en-US" sz="280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>
                <a:ln w="9525" cmpd="sng">
                  <a:solidFill>
                    <a:srgbClr val="0C830A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Economic consideration</a:t>
            </a:r>
            <a:endParaRPr lang="en-US" sz="280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>
                <a:ln w="9525" cmpd="sng">
                  <a:solidFill>
                    <a:srgbClr val="FF0000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sym typeface="+mn-ea"/>
              </a:rPr>
              <a:t>Nationalism</a:t>
            </a:r>
            <a:endParaRPr lang="en-US" sz="2800">
              <a:ln w="9525" cmpd="sng">
                <a:solidFill>
                  <a:srgbClr val="FF0000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99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426085" y="444500"/>
            <a:ext cx="5580380" cy="24301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000" b="1">
                <a:ln/>
                <a:gradFill>
                  <a:gsLst>
                    <a:gs pos="65000">
                      <a:srgbClr val="FBFB11"/>
                    </a:gs>
                    <a:gs pos="100000">
                      <a:srgbClr val="838309"/>
                    </a:gs>
                  </a:gsLst>
                  <a:lin ang="5400000" scaled="0"/>
                </a:gra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</a:rPr>
              <a:t>Consequences:</a:t>
            </a:r>
            <a:endParaRPr lang="en-US" sz="4000" b="1">
              <a:ln/>
              <a:gradFill>
                <a:gsLst>
                  <a:gs pos="65000">
                    <a:srgbClr val="FBFB11"/>
                  </a:gs>
                  <a:gs pos="100000">
                    <a:srgbClr val="838309"/>
                  </a:gs>
                </a:gsLst>
                <a:lin ang="5400000" scaled="0"/>
              </a:gra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>
                <a:ln w="12700" cmpd="sng">
                  <a:solidFill>
                    <a:srgbClr val="00B050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Rise of Nationalsim</a:t>
            </a:r>
            <a:endParaRPr lang="en-US" sz="2800" b="1">
              <a:ln w="12700" cmpd="sng">
                <a:solidFill>
                  <a:srgbClr val="00B050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>
                <a:ln w="12700" cmpd="sng">
                  <a:solidFill>
                    <a:srgbClr val="00B050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Unity of Muslims</a:t>
            </a:r>
            <a:endParaRPr lang="en-US" sz="2800" b="1">
              <a:ln w="12700" cmpd="sng">
                <a:solidFill>
                  <a:srgbClr val="00B050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>
                <a:ln w="12700" cmpd="sng">
                  <a:solidFill>
                    <a:srgbClr val="00B050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Reversal of partition</a:t>
            </a:r>
            <a:endParaRPr lang="en-US" sz="2800" b="1">
              <a:ln w="12700" cmpd="sng">
                <a:solidFill>
                  <a:srgbClr val="00B050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>
                <a:ln w="12700" cmpd="sng">
                  <a:solidFill>
                    <a:srgbClr val="00B050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Impact on British policey</a:t>
            </a:r>
            <a:endParaRPr lang="en-US" sz="2800" b="1">
              <a:ln w="12700" cmpd="sng">
                <a:solidFill>
                  <a:srgbClr val="00B050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99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bengalpartition1905-map_7d37018a63a04228937247825bbb99da_g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123815" y="2633980"/>
            <a:ext cx="1944370" cy="1590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960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MV Boli" panose="02000500030200090000" charset="0"/>
                <a:cs typeface="MV Boli" panose="02000500030200090000" charset="0"/>
              </a:rPr>
              <a:t>Fin</a:t>
            </a:r>
            <a:endParaRPr lang="en-US" sz="960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latin typeface="MV Boli" panose="02000500030200090000" charset="0"/>
              <a:cs typeface="MV Boli" panose="02000500030200090000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524</Words>
  <Application>WPS Presentation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33" baseType="lpstr">
      <vt:lpstr>Arial</vt:lpstr>
      <vt:lpstr>SimSun</vt:lpstr>
      <vt:lpstr>Wingdings</vt:lpstr>
      <vt:lpstr>Times New Roman</vt:lpstr>
      <vt:lpstr>Microsoft YaHei</vt:lpstr>
      <vt:lpstr>Arial Unicode MS</vt:lpstr>
      <vt:lpstr>Calibri Light</vt:lpstr>
      <vt:lpstr>Calibri</vt:lpstr>
      <vt:lpstr>Bahnschrift Light Condensed</vt:lpstr>
      <vt:lpstr>Bahnschrift Light SemiCondensed</vt:lpstr>
      <vt:lpstr>Bahnschrift SemiCondensed</vt:lpstr>
      <vt:lpstr>Candara Light</vt:lpstr>
      <vt:lpstr>Consolas</vt:lpstr>
      <vt:lpstr>Comic Sans MS</vt:lpstr>
      <vt:lpstr>Courier New</vt:lpstr>
      <vt:lpstr>HoloLens MDL2 Assets</vt:lpstr>
      <vt:lpstr>Impact</vt:lpstr>
      <vt:lpstr>Ink Free</vt:lpstr>
      <vt:lpstr>Lucida Console</vt:lpstr>
      <vt:lpstr>Microsoft JhengHei UI</vt:lpstr>
      <vt:lpstr>MingLiU_HKSCS-ExtB</vt:lpstr>
      <vt:lpstr>Myanmar Text</vt:lpstr>
      <vt:lpstr>MV Boli</vt:lpstr>
      <vt:lpstr>Default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shaba</dc:creator>
  <cp:lastModifiedBy>Shabab Rahman</cp:lastModifiedBy>
  <cp:revision>14</cp:revision>
  <dcterms:created xsi:type="dcterms:W3CDTF">2024-07-11T00:07:00Z</dcterms:created>
  <dcterms:modified xsi:type="dcterms:W3CDTF">2024-07-14T00:14:32Z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C00274712E8C44339786F655E057B4E4_11</vt:lpwstr>
  </property>
  <property fmtid="{D5CDD505-2E9C-101B-9397-08002B2CF9AE}" pid="3" name="KSOProductBuildVer">
    <vt:lpwstr>1033-12.2.0.17153</vt:lpwstr>
  </property>
</Properties>
</file>