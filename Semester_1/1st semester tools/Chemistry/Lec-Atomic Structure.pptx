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46"/>
  </p:notesMasterIdLst>
  <p:sldIdLst>
    <p:sldId id="263" r:id="rId2"/>
    <p:sldId id="256" r:id="rId3"/>
    <p:sldId id="264" r:id="rId4"/>
    <p:sldId id="262" r:id="rId5"/>
    <p:sldId id="265" r:id="rId6"/>
    <p:sldId id="258"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80" r:id="rId20"/>
    <p:sldId id="281" r:id="rId21"/>
    <p:sldId id="278" r:id="rId22"/>
    <p:sldId id="279" r:id="rId23"/>
    <p:sldId id="282" r:id="rId24"/>
    <p:sldId id="283" r:id="rId25"/>
    <p:sldId id="284" r:id="rId26"/>
    <p:sldId id="285" r:id="rId27"/>
    <p:sldId id="286" r:id="rId28"/>
    <p:sldId id="287" r:id="rId29"/>
    <p:sldId id="288" r:id="rId30"/>
    <p:sldId id="289" r:id="rId31"/>
    <p:sldId id="292" r:id="rId32"/>
    <p:sldId id="293" r:id="rId33"/>
    <p:sldId id="294" r:id="rId34"/>
    <p:sldId id="290" r:id="rId35"/>
    <p:sldId id="295" r:id="rId36"/>
    <p:sldId id="296" r:id="rId37"/>
    <p:sldId id="297" r:id="rId38"/>
    <p:sldId id="291" r:id="rId39"/>
    <p:sldId id="298" r:id="rId40"/>
    <p:sldId id="299" r:id="rId41"/>
    <p:sldId id="300" r:id="rId42"/>
    <p:sldId id="302" r:id="rId43"/>
    <p:sldId id="303" r:id="rId44"/>
    <p:sldId id="301" r:id="rId45"/>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4143375" y="0"/>
            <a:ext cx="3170238" cy="479425"/>
          </a:xfrm>
          <a:prstGeom prst="rect">
            <a:avLst/>
          </a:prstGeom>
        </p:spPr>
        <p:txBody>
          <a:bodyPr vert="horz" lIns="91440" tIns="45720" rIns="91440" bIns="45720" rtlCol="0"/>
          <a:lstStyle>
            <a:lvl1pPr algn="r">
              <a:defRPr sz="1200"/>
            </a:lvl1pPr>
          </a:lstStyle>
          <a:p>
            <a:fld id="{705F541B-B591-49D7-A054-C0A687A01DA6}" type="datetimeFigureOut">
              <a:rPr lang="en-US" smtClean="0"/>
              <a:pPr/>
              <a:t>6/27/2022</a:t>
            </a:fld>
            <a:endParaRPr lang="en-US"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31838" y="4560888"/>
            <a:ext cx="5851525" cy="431958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188"/>
            <a:ext cx="3170238" cy="479425"/>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lIns="91440" tIns="45720" rIns="91440" bIns="45720" rtlCol="0" anchor="b"/>
          <a:lstStyle>
            <a:lvl1pPr algn="r">
              <a:defRPr sz="1200"/>
            </a:lvl1pPr>
          </a:lstStyle>
          <a:p>
            <a:fld id="{79DB6DBD-1CB2-40BE-B5A7-6B66CEC4F6E5}"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9DB6DBD-1CB2-40BE-B5A7-6B66CEC4F6E5}" type="slidenum">
              <a:rPr lang="en-US" smtClean="0"/>
              <a:pPr/>
              <a:t>19</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9DB6DBD-1CB2-40BE-B5A7-6B66CEC4F6E5}" type="slidenum">
              <a:rPr lang="en-US" smtClean="0"/>
              <a:pPr/>
              <a:t>26</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9DB6DBD-1CB2-40BE-B5A7-6B66CEC4F6E5}" type="slidenum">
              <a:rPr lang="en-US" smtClean="0"/>
              <a:pPr/>
              <a:t>27</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wave-length</a:t>
            </a:r>
          </a:p>
        </p:txBody>
      </p:sp>
      <p:sp>
        <p:nvSpPr>
          <p:cNvPr id="4" name="Slide Number Placeholder 3"/>
          <p:cNvSpPr>
            <a:spLocks noGrp="1"/>
          </p:cNvSpPr>
          <p:nvPr>
            <p:ph type="sldNum" sz="quarter" idx="10"/>
          </p:nvPr>
        </p:nvSpPr>
        <p:spPr/>
        <p:txBody>
          <a:bodyPr/>
          <a:lstStyle/>
          <a:p>
            <a:fld id="{79DB6DBD-1CB2-40BE-B5A7-6B66CEC4F6E5}" type="slidenum">
              <a:rPr lang="en-US" smtClean="0"/>
              <a:pPr/>
              <a:t>29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5349904"/>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Title 28"/>
          <p:cNvSpPr>
            <a:spLocks noGrp="1"/>
          </p:cNvSpPr>
          <p:nvPr>
            <p:ph type="ctrTitle"/>
          </p:nvPr>
        </p:nvSpPr>
        <p:spPr>
          <a:xfrm>
            <a:off x="381000" y="4853413"/>
            <a:ext cx="8458200" cy="1222375"/>
          </a:xfrm>
        </p:spPr>
        <p:txBody>
          <a:bodyPr anchor="t"/>
          <a:lstStyle/>
          <a:p>
            <a:r>
              <a:rPr kumimoji="0" lang="en-US"/>
              <a:t>Click to edit Master title style</a:t>
            </a:r>
          </a:p>
        </p:txBody>
      </p:sp>
      <p:sp>
        <p:nvSpPr>
          <p:cNvPr id="9" name="Subtitle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16" name="Date Placeholder 15"/>
          <p:cNvSpPr>
            <a:spLocks noGrp="1"/>
          </p:cNvSpPr>
          <p:nvPr>
            <p:ph type="dt" sz="half" idx="10"/>
          </p:nvPr>
        </p:nvSpPr>
        <p:spPr/>
        <p:txBody>
          <a:bodyPr/>
          <a:lstStyle/>
          <a:p>
            <a:fld id="{0B9831CE-7937-47DB-A9C8-AD7D085D0399}" type="datetimeFigureOut">
              <a:rPr lang="en-US" smtClean="0"/>
              <a:pPr/>
              <a:t>6/27/2022</a:t>
            </a:fld>
            <a:endParaRPr lang="en-US" dirty="0"/>
          </a:p>
        </p:txBody>
      </p:sp>
      <p:sp>
        <p:nvSpPr>
          <p:cNvPr id="2" name="Footer Placeholder 1"/>
          <p:cNvSpPr>
            <a:spLocks noGrp="1"/>
          </p:cNvSpPr>
          <p:nvPr>
            <p:ph type="ftr" sz="quarter" idx="11"/>
          </p:nvPr>
        </p:nvSpPr>
        <p:spPr/>
        <p:txBody>
          <a:bodyPr/>
          <a:lstStyle/>
          <a:p>
            <a:endParaRPr lang="en-US" dirty="0"/>
          </a:p>
        </p:txBody>
      </p:sp>
      <p:sp>
        <p:nvSpPr>
          <p:cNvPr id="15" name="Slide Number Placeholder 14"/>
          <p:cNvSpPr>
            <a:spLocks noGrp="1"/>
          </p:cNvSpPr>
          <p:nvPr>
            <p:ph type="sldNum" sz="quarter" idx="12"/>
          </p:nvPr>
        </p:nvSpPr>
        <p:spPr>
          <a:xfrm>
            <a:off x="8229600" y="6473952"/>
            <a:ext cx="758952" cy="246888"/>
          </a:xfrm>
        </p:spPr>
        <p:txBody>
          <a:bodyPr/>
          <a:lstStyle/>
          <a:p>
            <a:fld id="{79FD432A-6915-44BC-A509-A382FE7A5003}"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2" name="Title 21"/>
          <p:cNvSpPr>
            <a:spLocks noGrp="1"/>
          </p:cNvSpPr>
          <p:nvPr>
            <p:ph type="title"/>
          </p:nvPr>
        </p:nvSpPr>
        <p:spPr/>
        <p:txBody>
          <a:bodyPr/>
          <a:lstStyle/>
          <a:p>
            <a:r>
              <a:rPr kumimoji="0" lang="en-US"/>
              <a:t>Click to edit Master title style</a:t>
            </a:r>
          </a:p>
        </p:txBody>
      </p:sp>
      <p:sp>
        <p:nvSpPr>
          <p:cNvPr id="27" name="Content Placeholder 26"/>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Date Placeholder 24"/>
          <p:cNvSpPr>
            <a:spLocks noGrp="1"/>
          </p:cNvSpPr>
          <p:nvPr>
            <p:ph type="dt" sz="half" idx="10"/>
          </p:nvPr>
        </p:nvSpPr>
        <p:spPr/>
        <p:txBody>
          <a:bodyPr/>
          <a:lstStyle/>
          <a:p>
            <a:fld id="{0B9831CE-7937-47DB-A9C8-AD7D085D0399}" type="datetimeFigureOut">
              <a:rPr lang="en-US" smtClean="0"/>
              <a:pPr/>
              <a:t>6/27/2022</a:t>
            </a:fld>
            <a:endParaRPr lang="en-US" dirty="0"/>
          </a:p>
        </p:txBody>
      </p:sp>
      <p:sp>
        <p:nvSpPr>
          <p:cNvPr id="19" name="Footer Placeholder 18"/>
          <p:cNvSpPr>
            <a:spLocks noGrp="1"/>
          </p:cNvSpPr>
          <p:nvPr>
            <p:ph type="ftr" sz="quarter" idx="11"/>
          </p:nvPr>
        </p:nvSpPr>
        <p:spPr>
          <a:xfrm>
            <a:off x="3581400" y="76202"/>
            <a:ext cx="2895600" cy="288925"/>
          </a:xfrm>
        </p:spPr>
        <p:txBody>
          <a:bodyPr/>
          <a:lstStyle/>
          <a:p>
            <a:endParaRPr lang="en-US" dirty="0"/>
          </a:p>
        </p:txBody>
      </p:sp>
      <p:sp>
        <p:nvSpPr>
          <p:cNvPr id="16" name="Slide Number Placeholder 15"/>
          <p:cNvSpPr>
            <a:spLocks noGrp="1"/>
          </p:cNvSpPr>
          <p:nvPr>
            <p:ph type="sldNum" sz="quarter" idx="12"/>
          </p:nvPr>
        </p:nvSpPr>
        <p:spPr>
          <a:xfrm>
            <a:off x="8229600" y="6473952"/>
            <a:ext cx="758952" cy="246888"/>
          </a:xfrm>
        </p:spPr>
        <p:txBody>
          <a:bodyPr/>
          <a:lstStyle/>
          <a:p>
            <a:fld id="{79FD432A-6915-44BC-A509-A382FE7A5003}"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3444904"/>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6" name="Text Placeholder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9" name="Date Placeholder 18"/>
          <p:cNvSpPr>
            <a:spLocks noGrp="1"/>
          </p:cNvSpPr>
          <p:nvPr>
            <p:ph type="dt" sz="half" idx="10"/>
          </p:nvPr>
        </p:nvSpPr>
        <p:spPr/>
        <p:txBody>
          <a:bodyPr/>
          <a:lstStyle/>
          <a:p>
            <a:fld id="{0B9831CE-7937-47DB-A9C8-AD7D085D0399}" type="datetimeFigureOut">
              <a:rPr lang="en-US" smtClean="0"/>
              <a:pPr/>
              <a:t>6/27/2022</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6" name="Slide Number Placeholder 15"/>
          <p:cNvSpPr>
            <a:spLocks noGrp="1"/>
          </p:cNvSpPr>
          <p:nvPr>
            <p:ph type="sldNum" sz="quarter" idx="12"/>
          </p:nvPr>
        </p:nvSpPr>
        <p:spPr/>
        <p:txBody>
          <a:bodyPr/>
          <a:lstStyle/>
          <a:p>
            <a:fld id="{79FD432A-6915-44BC-A509-A382FE7A5003}" type="slidenum">
              <a:rPr lang="en-US" smtClean="0"/>
              <a:pPr/>
              <a:t>‹#›</a:t>
            </a:fld>
            <a:endParaRPr lang="en-US" dirty="0"/>
          </a:p>
        </p:txBody>
      </p:sp>
      <p:sp>
        <p:nvSpPr>
          <p:cNvPr id="8" name="Title 7"/>
          <p:cNvSpPr>
            <a:spLocks noGrp="1"/>
          </p:cNvSpPr>
          <p:nvPr>
            <p:ph type="title"/>
          </p:nvPr>
        </p:nvSpPr>
        <p:spPr>
          <a:xfrm>
            <a:off x="180475" y="2947087"/>
            <a:ext cx="8686800" cy="1184825"/>
          </a:xfrm>
        </p:spPr>
        <p:txBody>
          <a:bodyPr rtlCol="0" anchor="t"/>
          <a:lstStyle>
            <a:lvl1pPr algn="r">
              <a:defRPr/>
            </a:lvl1pPr>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0" name="Title 19"/>
          <p:cNvSpPr>
            <a:spLocks noGrp="1"/>
          </p:cNvSpPr>
          <p:nvPr>
            <p:ph type="title"/>
          </p:nvPr>
        </p:nvSpPr>
        <p:spPr>
          <a:xfrm>
            <a:off x="301752" y="457200"/>
            <a:ext cx="8686800" cy="841248"/>
          </a:xfrm>
        </p:spPr>
        <p:txBody>
          <a:bodyPr/>
          <a:lstStyle/>
          <a:p>
            <a:r>
              <a:rPr kumimoji="0" lang="en-US"/>
              <a:t>Click to edit Master title style</a:t>
            </a:r>
          </a:p>
        </p:txBody>
      </p:sp>
      <p:sp>
        <p:nvSpPr>
          <p:cNvPr id="14" name="Content Placeholder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0"/>
          </p:nvPr>
        </p:nvSpPr>
        <p:spPr/>
        <p:txBody>
          <a:bodyPr/>
          <a:lstStyle/>
          <a:p>
            <a:fld id="{0B9831CE-7937-47DB-A9C8-AD7D085D0399}" type="datetimeFigureOut">
              <a:rPr lang="en-US" smtClean="0"/>
              <a:pPr/>
              <a:t>6/27/2022</a:t>
            </a:fld>
            <a:endParaRPr lang="en-US" dirty="0"/>
          </a:p>
        </p:txBody>
      </p:sp>
      <p:sp>
        <p:nvSpPr>
          <p:cNvPr id="10" name="Footer Placeholder 9"/>
          <p:cNvSpPr>
            <a:spLocks noGrp="1"/>
          </p:cNvSpPr>
          <p:nvPr>
            <p:ph type="ftr" sz="quarter" idx="11"/>
          </p:nvPr>
        </p:nvSpPr>
        <p:spPr/>
        <p:txBody>
          <a:bodyPr/>
          <a:lstStyle/>
          <a:p>
            <a:endParaRPr lang="en-US" dirty="0"/>
          </a:p>
        </p:txBody>
      </p:sp>
      <p:sp>
        <p:nvSpPr>
          <p:cNvPr id="31" name="Slide Number Placeholder 30"/>
          <p:cNvSpPr>
            <a:spLocks noGrp="1"/>
          </p:cNvSpPr>
          <p:nvPr>
            <p:ph type="sldNum" sz="quarter" idx="12"/>
          </p:nvPr>
        </p:nvSpPr>
        <p:spPr/>
        <p:txBody>
          <a:bodyPr/>
          <a:lstStyle/>
          <a:p>
            <a:fld id="{79FD432A-6915-44BC-A509-A382FE7A5003}"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9" name="Title 28"/>
          <p:cNvSpPr>
            <a:spLocks noGrp="1"/>
          </p:cNvSpPr>
          <p:nvPr>
            <p:ph type="title"/>
          </p:nvPr>
        </p:nvSpPr>
        <p:spPr>
          <a:xfrm>
            <a:off x="304800" y="5410200"/>
            <a:ext cx="8610600" cy="882650"/>
          </a:xfrm>
        </p:spPr>
        <p:txBody>
          <a:bodyPr anchor="ctr"/>
          <a:lstStyle>
            <a:lvl1pPr>
              <a:defRPr/>
            </a:lvl1pPr>
          </a:lstStyle>
          <a:p>
            <a:r>
              <a:rPr kumimoji="0" lang="en-US"/>
              <a:t>Click to edit Master title style</a:t>
            </a:r>
          </a:p>
        </p:txBody>
      </p:sp>
      <p:sp>
        <p:nvSpPr>
          <p:cNvPr id="13" name="Text Placeholder 12"/>
          <p:cNvSpPr>
            <a:spLocks noGrp="1"/>
          </p:cNvSpPr>
          <p:nvPr>
            <p:ph type="body" idx="1"/>
          </p:nvPr>
        </p:nvSpPr>
        <p:spPr>
          <a:xfrm>
            <a:off x="281445"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25" name="Text Placeholder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Content Placeholder 3"/>
          <p:cNvSpPr>
            <a:spLocks noGrp="1"/>
          </p:cNvSpPr>
          <p:nvPr>
            <p:ph sz="quarter" idx="2"/>
          </p:nvPr>
        </p:nvSpPr>
        <p:spPr>
          <a:xfrm>
            <a:off x="281445" y="1316039"/>
            <a:ext cx="429055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8" name="Content Placeholder 27"/>
          <p:cNvSpPr>
            <a:spLocks noGrp="1"/>
          </p:cNvSpPr>
          <p:nvPr>
            <p:ph sz="quarter" idx="4"/>
          </p:nvPr>
        </p:nvSpPr>
        <p:spPr>
          <a:xfrm>
            <a:off x="4648730" y="1316039"/>
            <a:ext cx="428853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0"/>
          </p:nvPr>
        </p:nvSpPr>
        <p:spPr/>
        <p:txBody>
          <a:bodyPr/>
          <a:lstStyle/>
          <a:p>
            <a:fld id="{0B9831CE-7937-47DB-A9C8-AD7D085D0399}" type="datetimeFigureOut">
              <a:rPr lang="en-US" smtClean="0"/>
              <a:pPr/>
              <a:t>6/27/2022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229600" y="6477000"/>
            <a:ext cx="762000" cy="246888"/>
          </a:xfrm>
        </p:spPr>
        <p:txBody>
          <a:bodyPr/>
          <a:lstStyle/>
          <a:p>
            <a:fld id="{79FD432A-6915-44BC-A509-A382FE7A5003}" type="slidenum">
              <a:rPr lang="en-US" smtClean="0"/>
              <a:pPr/>
              <a:t>‹#›</a:t>
            </a:fld>
            <a:endParaRPr lang="en-US" dirty="0"/>
          </a:p>
        </p:txBody>
      </p:sp>
      <p:sp>
        <p:nvSpPr>
          <p:cNvPr id="11" name="Straight Connector 10"/>
          <p:cNvSpPr>
            <a:spLocks noChangeShapeType="1"/>
          </p:cNvSpPr>
          <p:nvPr/>
        </p:nvSpPr>
        <p:spPr bwMode="auto">
          <a:xfrm>
            <a:off x="514350" y="60198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0" name="Title 29"/>
          <p:cNvSpPr>
            <a:spLocks noGrp="1"/>
          </p:cNvSpPr>
          <p:nvPr>
            <p:ph type="title"/>
          </p:nvPr>
        </p:nvSpPr>
        <p:spPr>
          <a:xfrm>
            <a:off x="301752" y="457200"/>
            <a:ext cx="8686800" cy="841248"/>
          </a:xfrm>
        </p:spPr>
        <p:txBody>
          <a:bodyPr/>
          <a:lstStyle/>
          <a:p>
            <a:r>
              <a:rPr kumimoji="0" lang="en-US"/>
              <a:t>Click to edit Master title style</a:t>
            </a:r>
          </a:p>
        </p:txBody>
      </p:sp>
      <p:sp>
        <p:nvSpPr>
          <p:cNvPr id="12" name="Date Placeholder 11"/>
          <p:cNvSpPr>
            <a:spLocks noGrp="1"/>
          </p:cNvSpPr>
          <p:nvPr>
            <p:ph type="dt" sz="half" idx="10"/>
          </p:nvPr>
        </p:nvSpPr>
        <p:spPr/>
        <p:txBody>
          <a:bodyPr/>
          <a:lstStyle/>
          <a:p>
            <a:fld id="{0B9831CE-7937-47DB-A9C8-AD7D085D0399}" type="datetimeFigureOut">
              <a:rPr lang="en-US" smtClean="0"/>
              <a:pPr/>
              <a:t>6/27/2022</a:t>
            </a:fld>
            <a:endParaRPr lang="en-US" dirty="0"/>
          </a:p>
        </p:txBody>
      </p:sp>
      <p:sp>
        <p:nvSpPr>
          <p:cNvPr id="21" name="Footer Placeholder 20"/>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9FD432A-6915-44BC-A509-A382FE7A5003}"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B9831CE-7937-47DB-A9C8-AD7D085D0399}" type="datetimeFigureOut">
              <a:rPr lang="en-US" smtClean="0"/>
              <a:pPr/>
              <a:t>6/27/2022</a:t>
            </a:fld>
            <a:endParaRPr lang="en-US" dirty="0"/>
          </a:p>
        </p:txBody>
      </p:sp>
      <p:sp>
        <p:nvSpPr>
          <p:cNvPr id="24" name="Footer Placeholder 23"/>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9FD432A-6915-44BC-A509-A382FE7A5003}"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Straight Connector 7"/>
          <p:cNvSpPr>
            <a:spLocks noChangeShapeType="1"/>
          </p:cNvSpPr>
          <p:nvPr/>
        </p:nvSpPr>
        <p:spPr bwMode="auto">
          <a:xfrm>
            <a:off x="514350" y="5849119"/>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Title 11"/>
          <p:cNvSpPr>
            <a:spLocks noGrp="1"/>
          </p:cNvSpPr>
          <p:nvPr>
            <p:ph type="title"/>
          </p:nvPr>
        </p:nvSpPr>
        <p:spPr>
          <a:xfrm>
            <a:off x="457200" y="5486400"/>
            <a:ext cx="8458200" cy="520700"/>
          </a:xfrm>
        </p:spPr>
        <p:txBody>
          <a:bodyPr anchor="ctr"/>
          <a:lstStyle>
            <a:lvl1pPr algn="l">
              <a:buNone/>
              <a:defRPr sz="2000" b="1"/>
            </a:lvl1pPr>
          </a:lstStyle>
          <a:p>
            <a:r>
              <a:rPr kumimoji="0" lang="en-US"/>
              <a:t>Click to edit Master title style</a:t>
            </a:r>
          </a:p>
        </p:txBody>
      </p:sp>
      <p:sp>
        <p:nvSpPr>
          <p:cNvPr id="26" name="Text Placeholder 25"/>
          <p:cNvSpPr>
            <a:spLocks noGrp="1"/>
          </p:cNvSpPr>
          <p:nvPr>
            <p:ph type="body" idx="2"/>
          </p:nvPr>
        </p:nvSpPr>
        <p:spPr>
          <a:xfrm>
            <a:off x="457201"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14" name="Content Placeholder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Date Placeholder 24"/>
          <p:cNvSpPr>
            <a:spLocks noGrp="1"/>
          </p:cNvSpPr>
          <p:nvPr>
            <p:ph type="dt" sz="half" idx="10"/>
          </p:nvPr>
        </p:nvSpPr>
        <p:spPr/>
        <p:txBody>
          <a:bodyPr/>
          <a:lstStyle/>
          <a:p>
            <a:fld id="{0B9831CE-7937-47DB-A9C8-AD7D085D0399}" type="datetimeFigureOut">
              <a:rPr lang="en-US" smtClean="0"/>
              <a:pPr/>
              <a:t>6/27/2022</a:t>
            </a:fld>
            <a:endParaRPr lang="en-US" dirty="0"/>
          </a:p>
        </p:txBody>
      </p:sp>
      <p:sp>
        <p:nvSpPr>
          <p:cNvPr id="29" name="Footer Placeholder 28"/>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9FD432A-6915-44BC-A509-A382FE7A5003}"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3" name="Picture Placeholder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en-US" dirty="0"/>
              <a:t>Click icon to add picture</a:t>
            </a:r>
          </a:p>
        </p:txBody>
      </p:sp>
      <p:sp>
        <p:nvSpPr>
          <p:cNvPr id="7" name="Date Placeholder 6"/>
          <p:cNvSpPr>
            <a:spLocks noGrp="1"/>
          </p:cNvSpPr>
          <p:nvPr>
            <p:ph type="dt" sz="half" idx="10"/>
          </p:nvPr>
        </p:nvSpPr>
        <p:spPr/>
        <p:txBody>
          <a:bodyPr/>
          <a:lstStyle/>
          <a:p>
            <a:fld id="{0B9831CE-7937-47DB-A9C8-AD7D085D0399}" type="datetimeFigureOut">
              <a:rPr lang="en-US" smtClean="0"/>
              <a:pPr/>
              <a:t>6/27/2022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31" name="Slide Number Placeholder 30"/>
          <p:cNvSpPr>
            <a:spLocks noGrp="1"/>
          </p:cNvSpPr>
          <p:nvPr>
            <p:ph type="sldNum" sz="quarter" idx="12"/>
          </p:nvPr>
        </p:nvSpPr>
        <p:spPr/>
        <p:txBody>
          <a:bodyPr/>
          <a:lstStyle/>
          <a:p>
            <a:fld id="{79FD432A-6915-44BC-A509-A382FE7A5003}" type="slidenum">
              <a:rPr lang="en-US" smtClean="0"/>
              <a:pPr/>
              <a:t>‹#›</a:t>
            </a:fld>
            <a:endParaRPr lang="en-US" dirty="0"/>
          </a:p>
        </p:txBody>
      </p:sp>
      <p:sp>
        <p:nvSpPr>
          <p:cNvPr id="17" name="Title 16"/>
          <p:cNvSpPr>
            <a:spLocks noGrp="1"/>
          </p:cNvSpPr>
          <p:nvPr>
            <p:ph type="title"/>
          </p:nvPr>
        </p:nvSpPr>
        <p:spPr>
          <a:xfrm>
            <a:off x="381000" y="4993760"/>
            <a:ext cx="5867400" cy="522288"/>
          </a:xfrm>
        </p:spPr>
        <p:txBody>
          <a:bodyPr anchor="ctr"/>
          <a:lstStyle>
            <a:lvl1pPr algn="l">
              <a:buNone/>
              <a:defRPr sz="2000" b="1"/>
            </a:lvl1pPr>
          </a:lstStyle>
          <a:p>
            <a:r>
              <a:rPr kumimoji="0" lang="en-US"/>
              <a:t>Click to edit Master title style</a:t>
            </a:r>
          </a:p>
        </p:txBody>
      </p:sp>
      <p:sp>
        <p:nvSpPr>
          <p:cNvPr id="26" name="Text Placeholder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B9831CE-7937-47DB-A9C8-AD7D085D0399}" type="datetimeFigureOut">
              <a:rPr lang="en-US" smtClean="0"/>
              <a:pPr/>
              <a:t>6/27/2022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9FD432A-6915-44BC-A509-A382FE7A5003}"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549278"/>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549278"/>
            <a:ext cx="6248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B9831CE-7937-47DB-A9C8-AD7D085D0399}" type="datetimeFigureOut">
              <a:rPr lang="en-US" smtClean="0"/>
              <a:pPr/>
              <a:t>6/27/2022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9FD432A-6915-44BC-A509-A382FE7A5003}"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10509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8" name="Text Placeholder 7"/>
          <p:cNvSpPr>
            <a:spLocks noGrp="1"/>
          </p:cNvSpPr>
          <p:nvPr>
            <p:ph type="body" idx="1"/>
          </p:nvPr>
        </p:nvSpPr>
        <p:spPr>
          <a:xfrm>
            <a:off x="304800" y="1554164"/>
            <a:ext cx="86868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1" name="Date Placeholder 10"/>
          <p:cNvSpPr>
            <a:spLocks noGrp="1"/>
          </p:cNvSpPr>
          <p:nvPr>
            <p:ph type="dt" sz="half" idx="2"/>
          </p:nvPr>
        </p:nvSpPr>
        <p:spPr>
          <a:xfrm>
            <a:off x="6477000" y="76202"/>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fld id="{0B9831CE-7937-47DB-A9C8-AD7D085D0399}" type="datetimeFigureOut">
              <a:rPr lang="en-US" smtClean="0"/>
              <a:pPr/>
              <a:t>6/27/2022</a:t>
            </a:fld>
            <a:endParaRPr lang="en-US" dirty="0"/>
          </a:p>
        </p:txBody>
      </p:sp>
      <p:sp>
        <p:nvSpPr>
          <p:cNvPr id="28" name="Footer Placeholder 27"/>
          <p:cNvSpPr>
            <a:spLocks noGrp="1"/>
          </p:cNvSpPr>
          <p:nvPr>
            <p:ph type="ftr" sz="quarter" idx="3"/>
          </p:nvPr>
        </p:nvSpPr>
        <p:spPr>
          <a:xfrm>
            <a:off x="3124200" y="76202"/>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endParaRPr lang="en-US" dirty="0"/>
          </a:p>
        </p:txBody>
      </p:sp>
      <p:sp>
        <p:nvSpPr>
          <p:cNvPr id="5" name="Slide Number Placeholder 4"/>
          <p:cNvSpPr>
            <a:spLocks noGrp="1"/>
          </p:cNvSpPr>
          <p:nvPr>
            <p:ph type="sldNum" sz="quarter" idx="4"/>
          </p:nvPr>
        </p:nvSpPr>
        <p:spPr>
          <a:xfrm>
            <a:off x="8229600" y="6477002"/>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fld id="{79FD432A-6915-44BC-A509-A382FE7A5003}" type="slidenum">
              <a:rPr lang="en-US" smtClean="0"/>
              <a:pPr/>
              <a:t>‹#›</a:t>
            </a:fld>
            <a:endParaRPr lang="en-US" dirty="0"/>
          </a:p>
        </p:txBody>
      </p:sp>
      <p:sp>
        <p:nvSpPr>
          <p:cNvPr id="10" name="Title Placeholder 9"/>
          <p:cNvSpPr>
            <a:spLocks noGrp="1"/>
          </p:cNvSpPr>
          <p:nvPr>
            <p:ph type="title"/>
          </p:nvPr>
        </p:nvSpPr>
        <p:spPr>
          <a:xfrm>
            <a:off x="304800" y="457200"/>
            <a:ext cx="8686800" cy="838200"/>
          </a:xfrm>
          <a:prstGeom prst="rect">
            <a:avLst/>
          </a:prstGeom>
        </p:spPr>
        <p:txBody>
          <a:bodyPr vert="horz" anchor="ctr">
            <a:normAutofit/>
          </a:bodyPr>
          <a:lstStyle/>
          <a:p>
            <a:r>
              <a:rPr kumimoji="0" lang="en-US"/>
              <a:t>Click to edit Master title style</a:t>
            </a:r>
          </a:p>
        </p:txBody>
      </p:sp>
      <p:sp>
        <p:nvSpPr>
          <p:cNvPr id="9" name="Straight Connector 8"/>
          <p:cNvSpPr>
            <a:spLocks noChangeShapeType="1"/>
          </p:cNvSpPr>
          <p:nvPr/>
        </p:nvSpPr>
        <p:spPr bwMode="auto">
          <a:xfrm>
            <a:off x="514350" y="10509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Straight Connector 11"/>
          <p:cNvSpPr>
            <a:spLocks noChangeShapeType="1"/>
          </p:cNvSpPr>
          <p:nvPr/>
        </p:nvSpPr>
        <p:spPr bwMode="auto">
          <a:xfrm>
            <a:off x="514350" y="105798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video" Target="file:///D:\BAUET\Class-Lecture\1st%20Part-Lecture\10.1.1a%20Rutherford's%20Atomic%20model.mp4"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 y="0"/>
            <a:ext cx="9143999" cy="2421228"/>
          </a:xfrm>
          <a:prstGeom prst="curvedLeftArrow">
            <a:avLst/>
          </a:prstGeom>
        </p:spPr>
        <p:style>
          <a:lnRef idx="1">
            <a:schemeClr val="accent2"/>
          </a:lnRef>
          <a:fillRef idx="2">
            <a:schemeClr val="accent2"/>
          </a:fillRef>
          <a:effectRef idx="1">
            <a:schemeClr val="accent2"/>
          </a:effectRef>
          <a:fontRef idx="minor">
            <a:schemeClr val="dk1"/>
          </a:fontRef>
        </p:style>
        <p:txBody>
          <a:bodyPr>
            <a:normAutofit fontScale="90000"/>
            <a:scene3d>
              <a:camera prst="orthographicFront"/>
              <a:lightRig rig="soft" dir="t">
                <a:rot lat="0" lon="0" rev="15600000"/>
              </a:lightRig>
            </a:scene3d>
            <a:sp3d extrusionH="57150" prstMaterial="softEdge">
              <a:bevelT w="25400" h="38100"/>
            </a:sp3d>
          </a:bodyPr>
          <a:lstStyle/>
          <a:p>
            <a:r>
              <a:rPr lang="en-US" sz="5300" b="1" cap="none">
                <a:ln w="6600">
                  <a:solidFill>
                    <a:schemeClr val="accent2"/>
                  </a:solidFill>
                  <a:prstDash val="solid"/>
                </a:ln>
                <a:solidFill>
                  <a:srgbClr val="FFFFFF"/>
                </a:solidFill>
                <a:effectLst>
                  <a:outerShdw dist="38100" dir="2700000" algn="tl" rotWithShape="0">
                    <a:schemeClr val="accent2"/>
                  </a:outerShdw>
                </a:effectLst>
              </a:rPr>
              <a:t>                   </a:t>
            </a:r>
            <a:r>
              <a:rPr lang="en-US" sz="5300" b="1" cap="none">
                <a:ln w="6600">
                  <a:solidFill>
                    <a:schemeClr val="accent2"/>
                  </a:solidFill>
                  <a:prstDash val="solid"/>
                </a:ln>
                <a:solidFill>
                  <a:srgbClr val="FFFFFF"/>
                </a:solidFill>
                <a:effectLst>
                  <a:outerShdw dist="38100" dir="2700000" algn="tl" rotWithShape="0">
                    <a:schemeClr val="accent2"/>
                  </a:outerShdw>
                </a:effectLst>
                <a:latin typeface="Times New Roman" panose="02020603050405020304" pitchFamily="18" charset="0"/>
                <a:cs typeface="Times New Roman" panose="02020603050405020304" pitchFamily="18" charset="0"/>
              </a:rPr>
              <a:t>W</a:t>
            </a:r>
            <a:r>
              <a:rPr lang="en-US" b="1" cap="none">
                <a:ln w="6600">
                  <a:solidFill>
                    <a:schemeClr val="accent2"/>
                  </a:solidFill>
                  <a:prstDash val="solid"/>
                </a:ln>
                <a:solidFill>
                  <a:srgbClr val="FFFFFF"/>
                </a:solidFill>
                <a:effectLst>
                  <a:outerShdw dist="38100" dir="2700000" algn="tl" rotWithShape="0">
                    <a:schemeClr val="accent2"/>
                  </a:outerShdw>
                </a:effectLst>
                <a:latin typeface="Times New Roman" panose="02020603050405020304" pitchFamily="18" charset="0"/>
                <a:cs typeface="Times New Roman" panose="02020603050405020304" pitchFamily="18" charset="0"/>
              </a:rPr>
              <a:t>elcome </a:t>
            </a:r>
            <a:r>
              <a:rPr lang="en-US" b="1" cap="none" dirty="0">
                <a:ln w="6600">
                  <a:solidFill>
                    <a:schemeClr val="accent2"/>
                  </a:solidFill>
                  <a:prstDash val="solid"/>
                </a:ln>
                <a:solidFill>
                  <a:srgbClr val="FFFFFF"/>
                </a:solidFill>
                <a:effectLst>
                  <a:outerShdw dist="38100" dir="2700000" algn="tl" rotWithShape="0">
                    <a:schemeClr val="accent2"/>
                  </a:outerShdw>
                </a:effectLst>
                <a:latin typeface="Times New Roman" panose="02020603050405020304" pitchFamily="18" charset="0"/>
                <a:cs typeface="Times New Roman" panose="02020603050405020304" pitchFamily="18" charset="0"/>
              </a:rPr>
              <a:t>to BAUET</a:t>
            </a:r>
            <a:br>
              <a:rPr lang="en-US" b="1" cap="none" dirty="0">
                <a:ln/>
                <a:solidFill>
                  <a:schemeClr val="accent4"/>
                </a:solidFill>
              </a:rPr>
            </a:br>
            <a:r>
              <a:rPr lang="en-US" b="1" cap="none" dirty="0">
                <a:ln/>
                <a:solidFill>
                  <a:schemeClr val="accent4"/>
                </a:solidFill>
              </a:rPr>
              <a:t>	  			                      </a:t>
            </a:r>
            <a:r>
              <a:rPr lang="en-US" b="1" cap="none" dirty="0">
                <a:ln w="6600">
                  <a:solidFill>
                    <a:schemeClr val="accent2"/>
                  </a:solidFill>
                  <a:prstDash val="solid"/>
                </a:ln>
                <a:solidFill>
                  <a:srgbClr val="FFFFFF"/>
                </a:solidFill>
                <a:effectLst>
                  <a:outerShdw dist="38100" dir="2700000" algn="tl" rotWithShape="0">
                    <a:schemeClr val="accent2"/>
                  </a:outerShdw>
                </a:effectLst>
              </a:rPr>
              <a:t>&amp;</a:t>
            </a:r>
            <a:br>
              <a:rPr lang="en-US" b="1" cap="none">
                <a:ln/>
                <a:solidFill>
                  <a:schemeClr val="accent4"/>
                </a:solidFill>
              </a:rPr>
            </a:br>
            <a:r>
              <a:rPr lang="en-US" b="1" cap="none">
                <a:ln/>
                <a:solidFill>
                  <a:schemeClr val="accent4"/>
                </a:solidFill>
              </a:rPr>
              <a:t>                                              </a:t>
            </a:r>
            <a:r>
              <a:rPr lang="en-US" sz="3200" b="1" cap="none"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Times New Roman" panose="02020603050405020304" pitchFamily="18" charset="0"/>
                <a:cs typeface="Times New Roman" panose="02020603050405020304" pitchFamily="18" charset="0"/>
              </a:rPr>
              <a:t>Welcome to my class</a:t>
            </a:r>
            <a:br>
              <a:rPr lang="en-US" sz="3200" b="1" cap="none" dirty="0">
                <a:ln/>
                <a:solidFill>
                  <a:schemeClr val="accent4"/>
                </a:solidFill>
              </a:rPr>
            </a:br>
            <a:r>
              <a:rPr lang="en-US" sz="3200" b="1" cap="none" dirty="0">
                <a:ln/>
                <a:solidFill>
                  <a:schemeClr val="accent4"/>
                </a:solidFill>
              </a:rPr>
              <a:t> </a:t>
            </a:r>
          </a:p>
        </p:txBody>
      </p:sp>
      <p:sp>
        <p:nvSpPr>
          <p:cNvPr id="3" name="Subtitle 2"/>
          <p:cNvSpPr>
            <a:spLocks noGrp="1"/>
          </p:cNvSpPr>
          <p:nvPr>
            <p:ph type="subTitle" idx="1"/>
          </p:nvPr>
        </p:nvSpPr>
        <p:spPr>
          <a:xfrm>
            <a:off x="2667000" y="1981200"/>
            <a:ext cx="6477003" cy="4419600"/>
          </a:xfrm>
        </p:spPr>
        <p:txBody>
          <a:bodyPr>
            <a:normAutofit fontScale="92500" lnSpcReduction="10000"/>
            <a:scene3d>
              <a:camera prst="orthographicFront"/>
              <a:lightRig rig="soft" dir="t">
                <a:rot lat="0" lon="0" rev="15600000"/>
              </a:lightRig>
            </a:scene3d>
            <a:sp3d extrusionH="57150" prstMaterial="softEdge">
              <a:bevelT w="25400" h="38100"/>
            </a:sp3d>
          </a:bodyPr>
          <a:lstStyle/>
          <a:p>
            <a:r>
              <a:rPr lang="en-US" sz="4300" b="1" i="1"/>
              <a:t>Dr. Md</a:t>
            </a:r>
            <a:r>
              <a:rPr lang="en-US" sz="4300" b="1" i="1" dirty="0"/>
              <a:t>. </a:t>
            </a:r>
            <a:r>
              <a:rPr lang="en-US" sz="4300" b="1" i="1" dirty="0" err="1"/>
              <a:t>Moynul</a:t>
            </a:r>
            <a:r>
              <a:rPr lang="en-US" sz="4300" b="1" i="1" dirty="0"/>
              <a:t> Islam </a:t>
            </a:r>
            <a:endParaRPr lang="en-US" sz="4300" b="1" dirty="0"/>
          </a:p>
          <a:p>
            <a:r>
              <a:rPr lang="en-US" sz="3000" dirty="0" err="1"/>
              <a:t>B.Sc</a:t>
            </a:r>
            <a:r>
              <a:rPr lang="en-US" sz="3000" dirty="0"/>
              <a:t>(</a:t>
            </a:r>
            <a:r>
              <a:rPr lang="en-US" sz="3000" dirty="0" err="1"/>
              <a:t>Honours</a:t>
            </a:r>
            <a:r>
              <a:rPr lang="en-US" sz="3000" dirty="0"/>
              <a:t>); </a:t>
            </a:r>
            <a:r>
              <a:rPr lang="en-US" sz="3000" dirty="0" err="1"/>
              <a:t>M.Sc</a:t>
            </a:r>
            <a:r>
              <a:rPr lang="en-US" sz="3000" dirty="0"/>
              <a:t> ; </a:t>
            </a:r>
            <a:r>
              <a:rPr lang="en-US" sz="3000" dirty="0" err="1"/>
              <a:t>Ph.D</a:t>
            </a:r>
            <a:r>
              <a:rPr lang="en-US" sz="3000" dirty="0"/>
              <a:t> ,RU.</a:t>
            </a:r>
          </a:p>
          <a:p>
            <a:r>
              <a:rPr lang="en-US" sz="5200" b="1" baseline="30000" dirty="0"/>
              <a:t>Assistant Professor, Chemistry </a:t>
            </a:r>
            <a:endParaRPr lang="en-US" sz="5200" b="1" dirty="0"/>
          </a:p>
          <a:p>
            <a:r>
              <a:rPr lang="en-US" sz="4000" baseline="30000" dirty="0"/>
              <a:t>Bangladesh Army University of Engineering &amp; Technology (BAUET)</a:t>
            </a:r>
            <a:r>
              <a:rPr lang="en-US" sz="4000" dirty="0"/>
              <a:t> </a:t>
            </a:r>
          </a:p>
          <a:p>
            <a:r>
              <a:rPr lang="en-US" sz="4000" baseline="30000" dirty="0" err="1"/>
              <a:t>Qadirabad</a:t>
            </a:r>
            <a:r>
              <a:rPr lang="en-US" sz="4000" baseline="30000" dirty="0"/>
              <a:t> Cantonment,Natore-6431</a:t>
            </a:r>
            <a:endParaRPr lang="en-US" sz="4000" dirty="0"/>
          </a:p>
          <a:p>
            <a:r>
              <a:rPr lang="en-US" sz="4000" baseline="30000" dirty="0"/>
              <a:t>Mob.no: 01731412402, 01708 503583</a:t>
            </a:r>
            <a:r>
              <a:rPr lang="en-US" sz="4000" dirty="0"/>
              <a:t> </a:t>
            </a:r>
          </a:p>
        </p:txBody>
      </p:sp>
      <p:sp>
        <p:nvSpPr>
          <p:cNvPr id="4" name="Rectangle 3"/>
          <p:cNvSpPr/>
          <p:nvPr/>
        </p:nvSpPr>
        <p:spPr>
          <a:xfrm>
            <a:off x="709319" y="3594374"/>
            <a:ext cx="2640013" cy="1384995"/>
          </a:xfrm>
          <a:prstGeom prst="rect">
            <a:avLst/>
          </a:prstGeom>
        </p:spPr>
        <p:txBody>
          <a:bodyPr wrap="square">
            <a:spAutoFit/>
          </a:bodyPr>
          <a:lstStyle/>
          <a:p>
            <a:endParaRPr lang="en-US" sz="2800" dirty="0"/>
          </a:p>
          <a:p>
            <a:endParaRPr lang="en-US" sz="2800" dirty="0"/>
          </a:p>
          <a:p>
            <a:r>
              <a:rPr lang="en-US" sz="2800" i="1" dirty="0"/>
              <a:t> </a:t>
            </a:r>
            <a:endParaRPr lang="en-US" sz="2800"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 y="2667000"/>
            <a:ext cx="1763210" cy="2203024"/>
          </a:xfrm>
          <a:prstGeom prst="rect">
            <a:avLst/>
          </a:prstGeom>
        </p:spPr>
      </p:pic>
    </p:spTree>
    <p:extLst>
      <p:ext uri="{BB962C8B-B14F-4D97-AF65-F5344CB8AC3E}">
        <p14:creationId xmlns:p14="http://schemas.microsoft.com/office/powerpoint/2010/main" val="331027776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6" presetClass="emph" presetSubtype="0" fill="hold" grpId="1" nodeType="clickEffect">
                                  <p:stCondLst>
                                    <p:cond delay="0"/>
                                  </p:stCondLst>
                                  <p:childTnLst>
                                    <p:animEffect transition="out" filter="fade">
                                      <p:cBhvr>
                                        <p:cTn id="14" dur="500" tmFilter="0, 0; .2, .5; .8, .5; 1, 0"/>
                                        <p:tgtEl>
                                          <p:spTgt spid="2"/>
                                        </p:tgtEl>
                                      </p:cBhvr>
                                    </p:animEffect>
                                    <p:animScale>
                                      <p:cBhvr>
                                        <p:cTn id="15" dur="250" autoRev="1" fill="hold"/>
                                        <p:tgtEl>
                                          <p:spTgt spid="2"/>
                                        </p:tgtEl>
                                      </p:cBhvr>
                                      <p:by x="105000" y="105000"/>
                                    </p:animScale>
                                  </p:childTnLst>
                                </p:cTn>
                              </p:par>
                            </p:childTnLst>
                          </p:cTn>
                        </p:par>
                      </p:childTnLst>
                    </p:cTn>
                  </p:par>
                  <p:par>
                    <p:cTn id="16" fill="hold">
                      <p:stCondLst>
                        <p:cond delay="indefinite"/>
                      </p:stCondLst>
                      <p:childTnLst>
                        <p:par>
                          <p:cTn id="17" fill="hold">
                            <p:stCondLst>
                              <p:cond delay="0"/>
                            </p:stCondLst>
                            <p:childTnLst>
                              <p:par>
                                <p:cTn id="18" presetID="6" presetClass="entr" presetSubtype="32"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circle(out)">
                                      <p:cBhvr>
                                        <p:cTn id="20" dur="20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p:cTn id="25"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26"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27"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8" dur="1000"/>
                                        <p:tgtEl>
                                          <p:spTgt spid="3">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nodeType="clickEffect">
                                  <p:stCondLst>
                                    <p:cond delay="0"/>
                                  </p:stCondLst>
                                  <p:childTnLst>
                                    <p:set>
                                      <p:cBhvr>
                                        <p:cTn id="32" dur="1" fill="hold">
                                          <p:stCondLst>
                                            <p:cond delay="0"/>
                                          </p:stCondLst>
                                        </p:cTn>
                                        <p:tgtEl>
                                          <p:spTgt spid="3">
                                            <p:txEl>
                                              <p:pRg st="1" end="1"/>
                                            </p:txEl>
                                          </p:spTgt>
                                        </p:tgtEl>
                                        <p:attrNameLst>
                                          <p:attrName>style.visibility</p:attrName>
                                        </p:attrNameLst>
                                      </p:cBhvr>
                                      <p:to>
                                        <p:strVal val="visible"/>
                                      </p:to>
                                    </p:set>
                                    <p:anim calcmode="lin" valueType="num">
                                      <p:cBhvr>
                                        <p:cTn id="33"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34"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35"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6" dur="1000"/>
                                        <p:tgtEl>
                                          <p:spTgt spid="3">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nodeType="clickEffect">
                                  <p:stCondLst>
                                    <p:cond delay="0"/>
                                  </p:stCondLst>
                                  <p:childTnLst>
                                    <p:set>
                                      <p:cBhvr>
                                        <p:cTn id="40" dur="1" fill="hold">
                                          <p:stCondLst>
                                            <p:cond delay="0"/>
                                          </p:stCondLst>
                                        </p:cTn>
                                        <p:tgtEl>
                                          <p:spTgt spid="3">
                                            <p:txEl>
                                              <p:pRg st="2" end="2"/>
                                            </p:txEl>
                                          </p:spTgt>
                                        </p:tgtEl>
                                        <p:attrNameLst>
                                          <p:attrName>style.visibility</p:attrName>
                                        </p:attrNameLst>
                                      </p:cBhvr>
                                      <p:to>
                                        <p:strVal val="visible"/>
                                      </p:to>
                                    </p:set>
                                    <p:anim calcmode="lin" valueType="num">
                                      <p:cBhvr>
                                        <p:cTn id="41"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42"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43"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44" dur="1000"/>
                                        <p:tgtEl>
                                          <p:spTgt spid="3">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1" presetClass="entr" presetSubtype="0" fill="hold" nodeType="clickEffect">
                                  <p:stCondLst>
                                    <p:cond delay="0"/>
                                  </p:stCondLst>
                                  <p:childTnLst>
                                    <p:set>
                                      <p:cBhvr>
                                        <p:cTn id="48" dur="1" fill="hold">
                                          <p:stCondLst>
                                            <p:cond delay="0"/>
                                          </p:stCondLst>
                                        </p:cTn>
                                        <p:tgtEl>
                                          <p:spTgt spid="3">
                                            <p:txEl>
                                              <p:pRg st="3" end="3"/>
                                            </p:txEl>
                                          </p:spTgt>
                                        </p:tgtEl>
                                        <p:attrNameLst>
                                          <p:attrName>style.visibility</p:attrName>
                                        </p:attrNameLst>
                                      </p:cBhvr>
                                      <p:to>
                                        <p:strVal val="visible"/>
                                      </p:to>
                                    </p:set>
                                    <p:anim calcmode="lin" valueType="num">
                                      <p:cBhvr>
                                        <p:cTn id="49"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50"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51"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52" dur="1000"/>
                                        <p:tgtEl>
                                          <p:spTgt spid="3">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1" presetClass="entr" presetSubtype="0" fill="hold" nodeType="clickEffect">
                                  <p:stCondLst>
                                    <p:cond delay="0"/>
                                  </p:stCondLst>
                                  <p:childTnLst>
                                    <p:set>
                                      <p:cBhvr>
                                        <p:cTn id="56" dur="1" fill="hold">
                                          <p:stCondLst>
                                            <p:cond delay="0"/>
                                          </p:stCondLst>
                                        </p:cTn>
                                        <p:tgtEl>
                                          <p:spTgt spid="3">
                                            <p:txEl>
                                              <p:pRg st="4" end="4"/>
                                            </p:txEl>
                                          </p:spTgt>
                                        </p:tgtEl>
                                        <p:attrNameLst>
                                          <p:attrName>style.visibility</p:attrName>
                                        </p:attrNameLst>
                                      </p:cBhvr>
                                      <p:to>
                                        <p:strVal val="visible"/>
                                      </p:to>
                                    </p:set>
                                    <p:anim calcmode="lin" valueType="num">
                                      <p:cBhvr>
                                        <p:cTn id="57"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58"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59"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60" dur="1000"/>
                                        <p:tgtEl>
                                          <p:spTgt spid="3">
                                            <p:txEl>
                                              <p:pRg st="4" end="4"/>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1" presetClass="entr" presetSubtype="0" fill="hold" nodeType="clickEffect">
                                  <p:stCondLst>
                                    <p:cond delay="0"/>
                                  </p:stCondLst>
                                  <p:childTnLst>
                                    <p:set>
                                      <p:cBhvr>
                                        <p:cTn id="64" dur="1" fill="hold">
                                          <p:stCondLst>
                                            <p:cond delay="0"/>
                                          </p:stCondLst>
                                        </p:cTn>
                                        <p:tgtEl>
                                          <p:spTgt spid="3">
                                            <p:txEl>
                                              <p:pRg st="5" end="5"/>
                                            </p:txEl>
                                          </p:spTgt>
                                        </p:tgtEl>
                                        <p:attrNameLst>
                                          <p:attrName>style.visibility</p:attrName>
                                        </p:attrNameLst>
                                      </p:cBhvr>
                                      <p:to>
                                        <p:strVal val="visible"/>
                                      </p:to>
                                    </p:set>
                                    <p:anim calcmode="lin" valueType="num">
                                      <p:cBhvr>
                                        <p:cTn id="65" dur="1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66" dur="1000" fill="hold"/>
                                        <p:tgtEl>
                                          <p:spTgt spid="3">
                                            <p:txEl>
                                              <p:pRg st="5" end="5"/>
                                            </p:txEl>
                                          </p:spTgt>
                                        </p:tgtEl>
                                        <p:attrNameLst>
                                          <p:attrName>ppt_h</p:attrName>
                                        </p:attrNameLst>
                                      </p:cBhvr>
                                      <p:tavLst>
                                        <p:tav tm="0">
                                          <p:val>
                                            <p:fltVal val="0"/>
                                          </p:val>
                                        </p:tav>
                                        <p:tav tm="100000">
                                          <p:val>
                                            <p:strVal val="#ppt_h"/>
                                          </p:val>
                                        </p:tav>
                                      </p:tavLst>
                                    </p:anim>
                                    <p:anim calcmode="lin" valueType="num">
                                      <p:cBhvr>
                                        <p:cTn id="67" dur="1000" fill="hold"/>
                                        <p:tgtEl>
                                          <p:spTgt spid="3">
                                            <p:txEl>
                                              <p:pRg st="5" end="5"/>
                                            </p:txEl>
                                          </p:spTgt>
                                        </p:tgtEl>
                                        <p:attrNameLst>
                                          <p:attrName>style.rotation</p:attrName>
                                        </p:attrNameLst>
                                      </p:cBhvr>
                                      <p:tavLst>
                                        <p:tav tm="0">
                                          <p:val>
                                            <p:fltVal val="90"/>
                                          </p:val>
                                        </p:tav>
                                        <p:tav tm="100000">
                                          <p:val>
                                            <p:fltVal val="0"/>
                                          </p:val>
                                        </p:tav>
                                      </p:tavLst>
                                    </p:anim>
                                    <p:animEffect transition="in" filter="fade">
                                      <p:cBhvr>
                                        <p:cTn id="68"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71600" y="304800"/>
            <a:ext cx="5562600" cy="769441"/>
          </a:xfrm>
          <a:prstGeom prst="rect">
            <a:avLst/>
          </a:prstGeom>
          <a:noFill/>
        </p:spPr>
        <p:txBody>
          <a:bodyPr wrap="square" rtlCol="0">
            <a:spAutoFit/>
          </a:bodyPr>
          <a:lstStyle/>
          <a:p>
            <a:pPr algn="ctr"/>
            <a:r>
              <a:rPr lang="en-US" sz="4400" u="sng" dirty="0">
                <a:solidFill>
                  <a:srgbClr val="7030A0"/>
                </a:solidFill>
                <a:latin typeface="Times New Roman" pitchFamily="18" charset="0"/>
                <a:cs typeface="Times New Roman" pitchFamily="18" charset="0"/>
              </a:rPr>
              <a:t>History of Chemistry</a:t>
            </a:r>
          </a:p>
        </p:txBody>
      </p:sp>
      <p:sp>
        <p:nvSpPr>
          <p:cNvPr id="6" name="TextBox 5"/>
          <p:cNvSpPr txBox="1"/>
          <p:nvPr/>
        </p:nvSpPr>
        <p:spPr>
          <a:xfrm>
            <a:off x="304800" y="1524002"/>
            <a:ext cx="3276600" cy="1661993"/>
          </a:xfrm>
          <a:prstGeom prst="rect">
            <a:avLst/>
          </a:prstGeom>
          <a:noFill/>
          <a:ln w="12700">
            <a:solidFill>
              <a:schemeClr val="tx1"/>
            </a:solidFill>
          </a:ln>
        </p:spPr>
        <p:txBody>
          <a:bodyPr wrap="square" rtlCol="0">
            <a:spAutoFit/>
          </a:bodyPr>
          <a:lstStyle/>
          <a:p>
            <a:r>
              <a:rPr lang="en-US" sz="2800" dirty="0">
                <a:solidFill>
                  <a:srgbClr val="00B0F0"/>
                </a:solidFill>
                <a:latin typeface="Times New Roman" pitchFamily="18" charset="0"/>
                <a:cs typeface="Times New Roman" pitchFamily="18" charset="0"/>
              </a:rPr>
              <a:t>AL-</a:t>
            </a:r>
            <a:r>
              <a:rPr lang="en-US" sz="2800" dirty="0" err="1">
                <a:solidFill>
                  <a:srgbClr val="00B0F0"/>
                </a:solidFill>
                <a:latin typeface="Times New Roman" pitchFamily="18" charset="0"/>
                <a:cs typeface="Times New Roman" pitchFamily="18" charset="0"/>
              </a:rPr>
              <a:t>Hikma</a:t>
            </a:r>
            <a:r>
              <a:rPr lang="en-US" sz="2800" dirty="0">
                <a:solidFill>
                  <a:srgbClr val="00B0F0"/>
                </a:solidFill>
                <a:latin typeface="Times New Roman" pitchFamily="18" charset="0"/>
                <a:cs typeface="Times New Roman" pitchFamily="18" charset="0"/>
              </a:rPr>
              <a:t> (Bagdad)</a:t>
            </a:r>
          </a:p>
          <a:p>
            <a:r>
              <a:rPr lang="en-US" dirty="0">
                <a:latin typeface="Times New Roman" pitchFamily="18" charset="0"/>
                <a:cs typeface="Times New Roman" pitchFamily="18" charset="0"/>
              </a:rPr>
              <a:t>(was the centre of knowledge and science but was a remote area from the whole world </a:t>
            </a:r>
            <a:r>
              <a:rPr lang="en-US" sz="2000" dirty="0">
                <a:latin typeface="Times New Roman" pitchFamily="18" charset="0"/>
                <a:cs typeface="Times New Roman" pitchFamily="18" charset="0"/>
              </a:rPr>
              <a:t>)</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7" name="TextBox 6"/>
          <p:cNvSpPr txBox="1"/>
          <p:nvPr/>
        </p:nvSpPr>
        <p:spPr>
          <a:xfrm>
            <a:off x="4572000" y="1447800"/>
            <a:ext cx="2286000" cy="1785104"/>
          </a:xfrm>
          <a:prstGeom prst="rect">
            <a:avLst/>
          </a:prstGeom>
          <a:noFill/>
          <a:ln w="12700">
            <a:solidFill>
              <a:schemeClr val="tx1"/>
            </a:solidFill>
          </a:ln>
        </p:spPr>
        <p:txBody>
          <a:bodyPr wrap="square" rtlCol="0">
            <a:spAutoFit/>
          </a:bodyPr>
          <a:lstStyle/>
          <a:p>
            <a:r>
              <a:rPr lang="en-US" sz="2800" dirty="0">
                <a:solidFill>
                  <a:srgbClr val="00B0F0"/>
                </a:solidFill>
                <a:latin typeface="Times New Roman" pitchFamily="18" charset="0"/>
                <a:cs typeface="Times New Roman" pitchFamily="18" charset="0"/>
              </a:rPr>
              <a:t>Replace Spain</a:t>
            </a:r>
          </a:p>
          <a:p>
            <a:r>
              <a:rPr lang="en-US" sz="1600" dirty="0">
                <a:solidFill>
                  <a:schemeClr val="tx1">
                    <a:lumMod val="85000"/>
                    <a:lumOff val="15000"/>
                  </a:schemeClr>
                </a:solidFill>
                <a:latin typeface="Times New Roman" pitchFamily="18" charset="0"/>
                <a:cs typeface="Times New Roman" pitchFamily="18" charset="0"/>
              </a:rPr>
              <a:t>(</a:t>
            </a:r>
            <a:r>
              <a:rPr lang="en-US" dirty="0">
                <a:solidFill>
                  <a:schemeClr val="tx1">
                    <a:lumMod val="85000"/>
                    <a:lumOff val="15000"/>
                  </a:schemeClr>
                </a:solidFill>
                <a:latin typeface="Times New Roman" pitchFamily="18" charset="0"/>
                <a:cs typeface="Times New Roman" pitchFamily="18" charset="0"/>
              </a:rPr>
              <a:t>all the ship except 2 with books were sunk by gang of England)</a:t>
            </a:r>
            <a:endParaRPr lang="en-US" sz="1600" dirty="0">
              <a:solidFill>
                <a:schemeClr val="tx1">
                  <a:lumMod val="85000"/>
                  <a:lumOff val="15000"/>
                </a:schemeClr>
              </a:solidFill>
              <a:latin typeface="Times New Roman" pitchFamily="18" charset="0"/>
              <a:cs typeface="Times New Roman" pitchFamily="18" charset="0"/>
            </a:endParaRPr>
          </a:p>
          <a:p>
            <a:r>
              <a:rPr lang="en-US" sz="2800" dirty="0">
                <a:solidFill>
                  <a:srgbClr val="00B0F0"/>
                </a:solidFill>
                <a:latin typeface="Times New Roman" pitchFamily="18" charset="0"/>
                <a:cs typeface="Times New Roman" pitchFamily="18" charset="0"/>
              </a:rPr>
              <a:t>    </a:t>
            </a:r>
          </a:p>
        </p:txBody>
      </p:sp>
      <p:sp>
        <p:nvSpPr>
          <p:cNvPr id="8" name="TextBox 7"/>
          <p:cNvSpPr txBox="1"/>
          <p:nvPr/>
        </p:nvSpPr>
        <p:spPr>
          <a:xfrm>
            <a:off x="7315200" y="2819400"/>
            <a:ext cx="1600200" cy="2062103"/>
          </a:xfrm>
          <a:prstGeom prst="rect">
            <a:avLst/>
          </a:prstGeom>
          <a:noFill/>
          <a:ln w="12700">
            <a:solidFill>
              <a:schemeClr val="tx1"/>
            </a:solidFill>
          </a:ln>
        </p:spPr>
        <p:txBody>
          <a:bodyPr wrap="square" rtlCol="0">
            <a:spAutoFit/>
          </a:bodyPr>
          <a:lstStyle/>
          <a:p>
            <a:r>
              <a:rPr lang="en-US" sz="2800" dirty="0" err="1">
                <a:solidFill>
                  <a:srgbClr val="00B0F0"/>
                </a:solidFill>
                <a:latin typeface="Times New Roman" pitchFamily="18" charset="0"/>
                <a:cs typeface="Times New Roman" pitchFamily="18" charset="0"/>
              </a:rPr>
              <a:t>Cimia</a:t>
            </a:r>
            <a:r>
              <a:rPr lang="en-US" sz="2800" dirty="0">
                <a:solidFill>
                  <a:srgbClr val="00B0F0"/>
                </a:solidFill>
                <a:latin typeface="Times New Roman" pitchFamily="18" charset="0"/>
                <a:cs typeface="Times New Roman" pitchFamily="18" charset="0"/>
              </a:rPr>
              <a:t>(Kimia)</a:t>
            </a:r>
          </a:p>
          <a:p>
            <a:r>
              <a:rPr lang="en-US" dirty="0">
                <a:latin typeface="Times New Roman" pitchFamily="18" charset="0"/>
                <a:cs typeface="Times New Roman" pitchFamily="18" charset="0"/>
              </a:rPr>
              <a:t>(was first used by </a:t>
            </a:r>
            <a:r>
              <a:rPr lang="en-US" dirty="0" err="1">
                <a:latin typeface="Times New Roman" pitchFamily="18" charset="0"/>
                <a:cs typeface="Times New Roman" pitchFamily="18" charset="0"/>
              </a:rPr>
              <a:t>Egypts</a:t>
            </a:r>
            <a:r>
              <a:rPr lang="en-US" dirty="0">
                <a:latin typeface="Times New Roman" pitchFamily="18" charset="0"/>
                <a:cs typeface="Times New Roman" pitchFamily="18" charset="0"/>
              </a:rPr>
              <a:t> in the world(720-1100)</a:t>
            </a:r>
          </a:p>
        </p:txBody>
      </p:sp>
      <p:sp>
        <p:nvSpPr>
          <p:cNvPr id="9" name="TextBox 8"/>
          <p:cNvSpPr txBox="1"/>
          <p:nvPr/>
        </p:nvSpPr>
        <p:spPr>
          <a:xfrm>
            <a:off x="4953000" y="4876800"/>
            <a:ext cx="1828800" cy="1354217"/>
          </a:xfrm>
          <a:prstGeom prst="rect">
            <a:avLst/>
          </a:prstGeom>
          <a:noFill/>
          <a:ln w="12700">
            <a:solidFill>
              <a:schemeClr val="tx1"/>
            </a:solidFill>
          </a:ln>
        </p:spPr>
        <p:txBody>
          <a:bodyPr wrap="square" rtlCol="0">
            <a:spAutoFit/>
          </a:bodyPr>
          <a:lstStyle/>
          <a:p>
            <a:r>
              <a:rPr lang="en-US" sz="2800" dirty="0" err="1">
                <a:solidFill>
                  <a:srgbClr val="00B0F0"/>
                </a:solidFill>
                <a:latin typeface="Times New Roman" pitchFamily="18" charset="0"/>
                <a:cs typeface="Times New Roman" pitchFamily="18" charset="0"/>
              </a:rPr>
              <a:t>Alkemi</a:t>
            </a:r>
            <a:endParaRPr lang="en-US" sz="2800" dirty="0">
              <a:solidFill>
                <a:srgbClr val="00B0F0"/>
              </a:solidFill>
              <a:latin typeface="Times New Roman" pitchFamily="18" charset="0"/>
              <a:cs typeface="Times New Roman" pitchFamily="18" charset="0"/>
            </a:endParaRPr>
          </a:p>
          <a:p>
            <a:r>
              <a:rPr lang="en-US" dirty="0">
                <a:latin typeface="Times New Roman" pitchFamily="18" charset="0"/>
                <a:cs typeface="Times New Roman" pitchFamily="18" charset="0"/>
              </a:rPr>
              <a:t>(was given by the </a:t>
            </a:r>
            <a:r>
              <a:rPr lang="en-US" dirty="0" err="1">
                <a:latin typeface="Times New Roman" pitchFamily="18" charset="0"/>
                <a:cs typeface="Times New Roman" pitchFamily="18" charset="0"/>
              </a:rPr>
              <a:t>Musalman</a:t>
            </a:r>
            <a:r>
              <a:rPr lang="en-US" dirty="0">
                <a:latin typeface="Times New Roman" pitchFamily="18" charset="0"/>
                <a:cs typeface="Times New Roman" pitchFamily="18" charset="0"/>
              </a:rPr>
              <a:t> of Arab)</a:t>
            </a:r>
          </a:p>
        </p:txBody>
      </p:sp>
      <p:sp>
        <p:nvSpPr>
          <p:cNvPr id="10" name="TextBox 9"/>
          <p:cNvSpPr txBox="1"/>
          <p:nvPr/>
        </p:nvSpPr>
        <p:spPr>
          <a:xfrm>
            <a:off x="1981200" y="4724400"/>
            <a:ext cx="1828800" cy="1354217"/>
          </a:xfrm>
          <a:prstGeom prst="rect">
            <a:avLst/>
          </a:prstGeom>
          <a:noFill/>
          <a:ln w="12700">
            <a:solidFill>
              <a:schemeClr val="tx1"/>
            </a:solidFill>
          </a:ln>
        </p:spPr>
        <p:txBody>
          <a:bodyPr wrap="square" rtlCol="0">
            <a:spAutoFit/>
          </a:bodyPr>
          <a:lstStyle/>
          <a:p>
            <a:r>
              <a:rPr lang="en-US" sz="2800" dirty="0">
                <a:solidFill>
                  <a:srgbClr val="00B0F0"/>
                </a:solidFill>
                <a:latin typeface="Times New Roman" pitchFamily="18" charset="0"/>
                <a:cs typeface="Times New Roman" pitchFamily="18" charset="0"/>
              </a:rPr>
              <a:t>Chemistry </a:t>
            </a:r>
          </a:p>
          <a:p>
            <a:r>
              <a:rPr lang="en-US" dirty="0">
                <a:latin typeface="Times New Roman" pitchFamily="18" charset="0"/>
                <a:cs typeface="Times New Roman" pitchFamily="18" charset="0"/>
              </a:rPr>
              <a:t>(was given by Europeans after  the year 1400 )</a:t>
            </a:r>
          </a:p>
        </p:txBody>
      </p:sp>
      <p:sp>
        <p:nvSpPr>
          <p:cNvPr id="14" name="Right Arrow 13"/>
          <p:cNvSpPr/>
          <p:nvPr/>
        </p:nvSpPr>
        <p:spPr>
          <a:xfrm>
            <a:off x="3657600" y="1981200"/>
            <a:ext cx="990600" cy="457200"/>
          </a:xfrm>
          <a:prstGeom prst="rightArrow">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Bent Arrow 14"/>
          <p:cNvSpPr/>
          <p:nvPr/>
        </p:nvSpPr>
        <p:spPr>
          <a:xfrm rot="5400000">
            <a:off x="6629400" y="1676400"/>
            <a:ext cx="1371600" cy="914400"/>
          </a:xfrm>
          <a:prstGeom prst="bentArrow">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Bent Arrow 15"/>
          <p:cNvSpPr/>
          <p:nvPr/>
        </p:nvSpPr>
        <p:spPr>
          <a:xfrm rot="10800000">
            <a:off x="6781800" y="4953000"/>
            <a:ext cx="1429983" cy="838200"/>
          </a:xfrm>
          <a:prstGeom prst="bentArrow">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Left Arrow 16"/>
          <p:cNvSpPr/>
          <p:nvPr/>
        </p:nvSpPr>
        <p:spPr>
          <a:xfrm>
            <a:off x="3810000" y="5257800"/>
            <a:ext cx="1143000" cy="457200"/>
          </a:xfrm>
          <a:prstGeom prst="leftArrow">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900" decel="100000" fill="hold"/>
                                        <p:tgtEl>
                                          <p:spTgt spid="6"/>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1000"/>
                                        <p:tgtEl>
                                          <p:spTgt spid="14"/>
                                        </p:tgtEl>
                                      </p:cBhvr>
                                    </p:animEffect>
                                    <p:anim calcmode="lin" valueType="num">
                                      <p:cBhvr>
                                        <p:cTn id="16" dur="1000" fill="hold"/>
                                        <p:tgtEl>
                                          <p:spTgt spid="14"/>
                                        </p:tgtEl>
                                        <p:attrNameLst>
                                          <p:attrName>ppt_x</p:attrName>
                                        </p:attrNameLst>
                                      </p:cBhvr>
                                      <p:tavLst>
                                        <p:tav tm="0">
                                          <p:val>
                                            <p:strVal val="#ppt_x"/>
                                          </p:val>
                                        </p:tav>
                                        <p:tav tm="100000">
                                          <p:val>
                                            <p:strVal val="#ppt_x"/>
                                          </p:val>
                                        </p:tav>
                                      </p:tavLst>
                                    </p:anim>
                                    <p:anim calcmode="lin" valueType="num">
                                      <p:cBhvr>
                                        <p:cTn id="17" dur="900" decel="100000" fill="hold"/>
                                        <p:tgtEl>
                                          <p:spTgt spid="14"/>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14"/>
                                        </p:tgtEl>
                                        <p:attrNameLst>
                                          <p:attrName>ppt_y</p:attrName>
                                        </p:attrNameLst>
                                      </p:cBhvr>
                                      <p:tavLst>
                                        <p:tav tm="0">
                                          <p:val>
                                            <p:strVal val="#ppt_y-.03"/>
                                          </p:val>
                                        </p:tav>
                                        <p:tav tm="100000">
                                          <p:val>
                                            <p:strVal val="#ppt_y"/>
                                          </p:val>
                                        </p:tav>
                                      </p:tavLst>
                                    </p:anim>
                                  </p:childTnLst>
                                </p:cTn>
                              </p:par>
                              <p:par>
                                <p:cTn id="19" presetID="37"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900" decel="100000" fill="hold"/>
                                        <p:tgtEl>
                                          <p:spTgt spid="7"/>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7" presetClass="entr" presetSubtype="0" fill="hold" grpId="1"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1000"/>
                                        <p:tgtEl>
                                          <p:spTgt spid="15"/>
                                        </p:tgtEl>
                                      </p:cBhvr>
                                    </p:animEffect>
                                    <p:anim calcmode="lin" valueType="num">
                                      <p:cBhvr>
                                        <p:cTn id="30" dur="1000" fill="hold"/>
                                        <p:tgtEl>
                                          <p:spTgt spid="15"/>
                                        </p:tgtEl>
                                        <p:attrNameLst>
                                          <p:attrName>ppt_x</p:attrName>
                                        </p:attrNameLst>
                                      </p:cBhvr>
                                      <p:tavLst>
                                        <p:tav tm="0">
                                          <p:val>
                                            <p:strVal val="#ppt_x"/>
                                          </p:val>
                                        </p:tav>
                                        <p:tav tm="100000">
                                          <p:val>
                                            <p:strVal val="#ppt_x"/>
                                          </p:val>
                                        </p:tav>
                                      </p:tavLst>
                                    </p:anim>
                                    <p:anim calcmode="lin" valueType="num">
                                      <p:cBhvr>
                                        <p:cTn id="31" dur="900" decel="100000" fill="hold"/>
                                        <p:tgtEl>
                                          <p:spTgt spid="15"/>
                                        </p:tgtEl>
                                        <p:attrNameLst>
                                          <p:attrName>ppt_y</p:attrName>
                                        </p:attrNameLst>
                                      </p:cBhvr>
                                      <p:tavLst>
                                        <p:tav tm="0">
                                          <p:val>
                                            <p:strVal val="#ppt_y+1"/>
                                          </p:val>
                                        </p:tav>
                                        <p:tav tm="100000">
                                          <p:val>
                                            <p:strVal val="#ppt_y-.03"/>
                                          </p:val>
                                        </p:tav>
                                      </p:tavLst>
                                    </p:anim>
                                    <p:anim calcmode="lin" valueType="num">
                                      <p:cBhvr>
                                        <p:cTn id="32" dur="100" accel="100000" fill="hold">
                                          <p:stCondLst>
                                            <p:cond delay="900"/>
                                          </p:stCondLst>
                                        </p:cTn>
                                        <p:tgtEl>
                                          <p:spTgt spid="15"/>
                                        </p:tgtEl>
                                        <p:attrNameLst>
                                          <p:attrName>ppt_y</p:attrName>
                                        </p:attrNameLst>
                                      </p:cBhvr>
                                      <p:tavLst>
                                        <p:tav tm="0">
                                          <p:val>
                                            <p:strVal val="#ppt_y-.03"/>
                                          </p:val>
                                        </p:tav>
                                        <p:tav tm="100000">
                                          <p:val>
                                            <p:strVal val="#ppt_y"/>
                                          </p:val>
                                        </p:tav>
                                      </p:tavLst>
                                    </p:anim>
                                  </p:childTnLst>
                                </p:cTn>
                              </p:par>
                              <p:par>
                                <p:cTn id="33" presetID="37" presetClass="entr" presetSubtype="0" fill="hold" grpId="1" nodeType="with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900" decel="100000" fill="hold"/>
                                        <p:tgtEl>
                                          <p:spTgt spid="8"/>
                                        </p:tgtEl>
                                        <p:attrNameLst>
                                          <p:attrName>ppt_y</p:attrName>
                                        </p:attrNameLst>
                                      </p:cBhvr>
                                      <p:tavLst>
                                        <p:tav tm="0">
                                          <p:val>
                                            <p:strVal val="#ppt_y+1"/>
                                          </p:val>
                                        </p:tav>
                                        <p:tav tm="100000">
                                          <p:val>
                                            <p:strVal val="#ppt_y-.03"/>
                                          </p:val>
                                        </p:tav>
                                      </p:tavLst>
                                    </p:anim>
                                    <p:anim calcmode="lin" valueType="num">
                                      <p:cBhvr>
                                        <p:cTn id="38"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7"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1000"/>
                                        <p:tgtEl>
                                          <p:spTgt spid="16"/>
                                        </p:tgtEl>
                                      </p:cBhvr>
                                    </p:animEffect>
                                    <p:anim calcmode="lin" valueType="num">
                                      <p:cBhvr>
                                        <p:cTn id="44" dur="1000" fill="hold"/>
                                        <p:tgtEl>
                                          <p:spTgt spid="16"/>
                                        </p:tgtEl>
                                        <p:attrNameLst>
                                          <p:attrName>ppt_x</p:attrName>
                                        </p:attrNameLst>
                                      </p:cBhvr>
                                      <p:tavLst>
                                        <p:tav tm="0">
                                          <p:val>
                                            <p:strVal val="#ppt_x"/>
                                          </p:val>
                                        </p:tav>
                                        <p:tav tm="100000">
                                          <p:val>
                                            <p:strVal val="#ppt_x"/>
                                          </p:val>
                                        </p:tav>
                                      </p:tavLst>
                                    </p:anim>
                                    <p:anim calcmode="lin" valueType="num">
                                      <p:cBhvr>
                                        <p:cTn id="45" dur="900" decel="100000" fill="hold"/>
                                        <p:tgtEl>
                                          <p:spTgt spid="16"/>
                                        </p:tgtEl>
                                        <p:attrNameLst>
                                          <p:attrName>ppt_y</p:attrName>
                                        </p:attrNameLst>
                                      </p:cBhvr>
                                      <p:tavLst>
                                        <p:tav tm="0">
                                          <p:val>
                                            <p:strVal val="#ppt_y+1"/>
                                          </p:val>
                                        </p:tav>
                                        <p:tav tm="100000">
                                          <p:val>
                                            <p:strVal val="#ppt_y-.03"/>
                                          </p:val>
                                        </p:tav>
                                      </p:tavLst>
                                    </p:anim>
                                    <p:anim calcmode="lin" valueType="num">
                                      <p:cBhvr>
                                        <p:cTn id="46" dur="100" accel="100000" fill="hold">
                                          <p:stCondLst>
                                            <p:cond delay="900"/>
                                          </p:stCondLst>
                                        </p:cTn>
                                        <p:tgtEl>
                                          <p:spTgt spid="16"/>
                                        </p:tgtEl>
                                        <p:attrNameLst>
                                          <p:attrName>ppt_y</p:attrName>
                                        </p:attrNameLst>
                                      </p:cBhvr>
                                      <p:tavLst>
                                        <p:tav tm="0">
                                          <p:val>
                                            <p:strVal val="#ppt_y-.03"/>
                                          </p:val>
                                        </p:tav>
                                        <p:tav tm="100000">
                                          <p:val>
                                            <p:strVal val="#ppt_y"/>
                                          </p:val>
                                        </p:tav>
                                      </p:tavLst>
                                    </p:anim>
                                  </p:childTnLst>
                                </p:cTn>
                              </p:par>
                              <p:par>
                                <p:cTn id="47" presetID="37" presetClass="entr" presetSubtype="0"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1000"/>
                                        <p:tgtEl>
                                          <p:spTgt spid="9"/>
                                        </p:tgtEl>
                                      </p:cBhvr>
                                    </p:animEffect>
                                    <p:anim calcmode="lin" valueType="num">
                                      <p:cBhvr>
                                        <p:cTn id="50" dur="1000" fill="hold"/>
                                        <p:tgtEl>
                                          <p:spTgt spid="9"/>
                                        </p:tgtEl>
                                        <p:attrNameLst>
                                          <p:attrName>ppt_x</p:attrName>
                                        </p:attrNameLst>
                                      </p:cBhvr>
                                      <p:tavLst>
                                        <p:tav tm="0">
                                          <p:val>
                                            <p:strVal val="#ppt_x"/>
                                          </p:val>
                                        </p:tav>
                                        <p:tav tm="100000">
                                          <p:val>
                                            <p:strVal val="#ppt_x"/>
                                          </p:val>
                                        </p:tav>
                                      </p:tavLst>
                                    </p:anim>
                                    <p:anim calcmode="lin" valueType="num">
                                      <p:cBhvr>
                                        <p:cTn id="51" dur="900" decel="100000" fill="hold"/>
                                        <p:tgtEl>
                                          <p:spTgt spid="9"/>
                                        </p:tgtEl>
                                        <p:attrNameLst>
                                          <p:attrName>ppt_y</p:attrName>
                                        </p:attrNameLst>
                                      </p:cBhvr>
                                      <p:tavLst>
                                        <p:tav tm="0">
                                          <p:val>
                                            <p:strVal val="#ppt_y+1"/>
                                          </p:val>
                                        </p:tav>
                                        <p:tav tm="100000">
                                          <p:val>
                                            <p:strVal val="#ppt_y-.03"/>
                                          </p:val>
                                        </p:tav>
                                      </p:tavLst>
                                    </p:anim>
                                    <p:anim calcmode="lin" valueType="num">
                                      <p:cBhvr>
                                        <p:cTn id="52"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37" presetClass="entr" presetSubtype="0"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1000"/>
                                        <p:tgtEl>
                                          <p:spTgt spid="17"/>
                                        </p:tgtEl>
                                      </p:cBhvr>
                                    </p:animEffect>
                                    <p:anim calcmode="lin" valueType="num">
                                      <p:cBhvr>
                                        <p:cTn id="58" dur="1000" fill="hold"/>
                                        <p:tgtEl>
                                          <p:spTgt spid="17"/>
                                        </p:tgtEl>
                                        <p:attrNameLst>
                                          <p:attrName>ppt_x</p:attrName>
                                        </p:attrNameLst>
                                      </p:cBhvr>
                                      <p:tavLst>
                                        <p:tav tm="0">
                                          <p:val>
                                            <p:strVal val="#ppt_x"/>
                                          </p:val>
                                        </p:tav>
                                        <p:tav tm="100000">
                                          <p:val>
                                            <p:strVal val="#ppt_x"/>
                                          </p:val>
                                        </p:tav>
                                      </p:tavLst>
                                    </p:anim>
                                    <p:anim calcmode="lin" valueType="num">
                                      <p:cBhvr>
                                        <p:cTn id="59" dur="900" decel="100000" fill="hold"/>
                                        <p:tgtEl>
                                          <p:spTgt spid="17"/>
                                        </p:tgtEl>
                                        <p:attrNameLst>
                                          <p:attrName>ppt_y</p:attrName>
                                        </p:attrNameLst>
                                      </p:cBhvr>
                                      <p:tavLst>
                                        <p:tav tm="0">
                                          <p:val>
                                            <p:strVal val="#ppt_y+1"/>
                                          </p:val>
                                        </p:tav>
                                        <p:tav tm="100000">
                                          <p:val>
                                            <p:strVal val="#ppt_y-.03"/>
                                          </p:val>
                                        </p:tav>
                                      </p:tavLst>
                                    </p:anim>
                                    <p:anim calcmode="lin" valueType="num">
                                      <p:cBhvr>
                                        <p:cTn id="60" dur="100" accel="100000" fill="hold">
                                          <p:stCondLst>
                                            <p:cond delay="900"/>
                                          </p:stCondLst>
                                        </p:cTn>
                                        <p:tgtEl>
                                          <p:spTgt spid="17"/>
                                        </p:tgtEl>
                                        <p:attrNameLst>
                                          <p:attrName>ppt_y</p:attrName>
                                        </p:attrNameLst>
                                      </p:cBhvr>
                                      <p:tavLst>
                                        <p:tav tm="0">
                                          <p:val>
                                            <p:strVal val="#ppt_y-.03"/>
                                          </p:val>
                                        </p:tav>
                                        <p:tav tm="100000">
                                          <p:val>
                                            <p:strVal val="#ppt_y"/>
                                          </p:val>
                                        </p:tav>
                                      </p:tavLst>
                                    </p:anim>
                                  </p:childTnLst>
                                </p:cTn>
                              </p:par>
                              <p:par>
                                <p:cTn id="61" presetID="37" presetClass="entr" presetSubtype="0" fill="hold" grpId="0" nodeType="withEffect">
                                  <p:stCondLst>
                                    <p:cond delay="0"/>
                                  </p:stCondLst>
                                  <p:childTnLst>
                                    <p:set>
                                      <p:cBhvr>
                                        <p:cTn id="62" dur="1" fill="hold">
                                          <p:stCondLst>
                                            <p:cond delay="0"/>
                                          </p:stCondLst>
                                        </p:cTn>
                                        <p:tgtEl>
                                          <p:spTgt spid="10"/>
                                        </p:tgtEl>
                                        <p:attrNameLst>
                                          <p:attrName>style.visibility</p:attrName>
                                        </p:attrNameLst>
                                      </p:cBhvr>
                                      <p:to>
                                        <p:strVal val="visible"/>
                                      </p:to>
                                    </p:set>
                                    <p:animEffect transition="in" filter="fade">
                                      <p:cBhvr>
                                        <p:cTn id="63" dur="1000"/>
                                        <p:tgtEl>
                                          <p:spTgt spid="10"/>
                                        </p:tgtEl>
                                      </p:cBhvr>
                                    </p:animEffect>
                                    <p:anim calcmode="lin" valueType="num">
                                      <p:cBhvr>
                                        <p:cTn id="64" dur="1000" fill="hold"/>
                                        <p:tgtEl>
                                          <p:spTgt spid="10"/>
                                        </p:tgtEl>
                                        <p:attrNameLst>
                                          <p:attrName>ppt_x</p:attrName>
                                        </p:attrNameLst>
                                      </p:cBhvr>
                                      <p:tavLst>
                                        <p:tav tm="0">
                                          <p:val>
                                            <p:strVal val="#ppt_x"/>
                                          </p:val>
                                        </p:tav>
                                        <p:tav tm="100000">
                                          <p:val>
                                            <p:strVal val="#ppt_x"/>
                                          </p:val>
                                        </p:tav>
                                      </p:tavLst>
                                    </p:anim>
                                    <p:anim calcmode="lin" valueType="num">
                                      <p:cBhvr>
                                        <p:cTn id="65" dur="900" decel="100000" fill="hold"/>
                                        <p:tgtEl>
                                          <p:spTgt spid="10"/>
                                        </p:tgtEl>
                                        <p:attrNameLst>
                                          <p:attrName>ppt_y</p:attrName>
                                        </p:attrNameLst>
                                      </p:cBhvr>
                                      <p:tavLst>
                                        <p:tav tm="0">
                                          <p:val>
                                            <p:strVal val="#ppt_y+1"/>
                                          </p:val>
                                        </p:tav>
                                        <p:tav tm="100000">
                                          <p:val>
                                            <p:strVal val="#ppt_y-.03"/>
                                          </p:val>
                                        </p:tav>
                                      </p:tavLst>
                                    </p:anim>
                                    <p:anim calcmode="lin" valueType="num">
                                      <p:cBhvr>
                                        <p:cTn id="66" dur="100" accel="100000" fill="hold">
                                          <p:stCondLst>
                                            <p:cond delay="900"/>
                                          </p:stCondLst>
                                        </p:cTn>
                                        <p:tgtEl>
                                          <p:spTgt spid="10"/>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1" animBg="1"/>
      <p:bldP spid="9" grpId="0" animBg="1"/>
      <p:bldP spid="10" grpId="0" animBg="1"/>
      <p:bldP spid="14" grpId="0" animBg="1"/>
      <p:bldP spid="15" grpId="1" animBg="1"/>
      <p:bldP spid="16" grpId="0" animBg="1"/>
      <p:bldP spid="1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09600" y="533402"/>
            <a:ext cx="8001000" cy="923330"/>
          </a:xfrm>
          <a:prstGeom prst="rect">
            <a:avLst/>
          </a:prstGeom>
          <a:noFill/>
        </p:spPr>
        <p:txBody>
          <a:bodyPr wrap="square" rtlCol="0">
            <a:spAutoFit/>
          </a:bodyPr>
          <a:lstStyle/>
          <a:p>
            <a:pPr algn="ctr"/>
            <a:r>
              <a:rPr lang="en-US" sz="5400" b="1" dirty="0">
                <a:solidFill>
                  <a:srgbClr val="7030A0"/>
                </a:solidFill>
                <a:latin typeface="Times New Roman" pitchFamily="18" charset="0"/>
                <a:cs typeface="Times New Roman" pitchFamily="18" charset="0"/>
              </a:rPr>
              <a:t>Definition of </a:t>
            </a:r>
            <a:r>
              <a:rPr lang="en-US" sz="5400" b="1" u="sng" dirty="0">
                <a:solidFill>
                  <a:srgbClr val="7030A0"/>
                </a:solidFill>
                <a:latin typeface="Times New Roman" pitchFamily="18" charset="0"/>
                <a:cs typeface="Times New Roman" pitchFamily="18" charset="0"/>
              </a:rPr>
              <a:t>Chemistry</a:t>
            </a:r>
          </a:p>
        </p:txBody>
      </p:sp>
      <p:sp>
        <p:nvSpPr>
          <p:cNvPr id="24" name="TextBox 23"/>
          <p:cNvSpPr txBox="1"/>
          <p:nvPr/>
        </p:nvSpPr>
        <p:spPr>
          <a:xfrm>
            <a:off x="228600" y="1981200"/>
            <a:ext cx="8763000" cy="3477875"/>
          </a:xfrm>
          <a:prstGeom prst="rect">
            <a:avLst/>
          </a:prstGeom>
          <a:noFill/>
        </p:spPr>
        <p:txBody>
          <a:bodyPr wrap="square" rtlCol="0">
            <a:spAutoFit/>
          </a:bodyPr>
          <a:lstStyle/>
          <a:p>
            <a:r>
              <a:rPr lang="en-US" sz="4400" dirty="0"/>
              <a:t>The science of the composition, structure, properties and reactions of matter, specially of atomic and molecular systems is called chemistry.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28600" y="228600"/>
            <a:ext cx="8382000" cy="830997"/>
          </a:xfrm>
          <a:prstGeom prst="rect">
            <a:avLst/>
          </a:prstGeom>
          <a:noFill/>
        </p:spPr>
        <p:txBody>
          <a:bodyPr wrap="square" rtlCol="0">
            <a:spAutoFit/>
          </a:bodyPr>
          <a:lstStyle/>
          <a:p>
            <a:pPr algn="ctr"/>
            <a:r>
              <a:rPr lang="en-US" sz="4800" b="1" u="sng" dirty="0">
                <a:solidFill>
                  <a:srgbClr val="7030A0"/>
                </a:solidFill>
                <a:latin typeface="Times New Roman" pitchFamily="18" charset="0"/>
                <a:cs typeface="Times New Roman" pitchFamily="18" charset="0"/>
              </a:rPr>
              <a:t>Classification of Chemistry</a:t>
            </a:r>
          </a:p>
        </p:txBody>
      </p:sp>
      <p:sp>
        <p:nvSpPr>
          <p:cNvPr id="3" name="TextBox 2"/>
          <p:cNvSpPr txBox="1"/>
          <p:nvPr/>
        </p:nvSpPr>
        <p:spPr>
          <a:xfrm>
            <a:off x="2971800" y="1219200"/>
            <a:ext cx="2819400" cy="769441"/>
          </a:xfrm>
          <a:prstGeom prst="rect">
            <a:avLst/>
          </a:prstGeom>
          <a:noFill/>
        </p:spPr>
        <p:txBody>
          <a:bodyPr wrap="square" rtlCol="0">
            <a:spAutoFit/>
          </a:bodyPr>
          <a:lstStyle/>
          <a:p>
            <a:pPr algn="ctr"/>
            <a:r>
              <a:rPr lang="en-US" sz="4400" b="1" dirty="0">
                <a:solidFill>
                  <a:srgbClr val="00B0F0"/>
                </a:solidFill>
                <a:latin typeface="Times New Roman" pitchFamily="18" charset="0"/>
                <a:cs typeface="Times New Roman" pitchFamily="18" charset="0"/>
              </a:rPr>
              <a:t>Chemistry</a:t>
            </a:r>
          </a:p>
        </p:txBody>
      </p:sp>
      <p:cxnSp>
        <p:nvCxnSpPr>
          <p:cNvPr id="6" name="Straight Connector 5"/>
          <p:cNvCxnSpPr/>
          <p:nvPr/>
        </p:nvCxnSpPr>
        <p:spPr>
          <a:xfrm>
            <a:off x="1143000" y="2362200"/>
            <a:ext cx="7315200" cy="1588"/>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5400000">
            <a:off x="838200" y="2667001"/>
            <a:ext cx="609600" cy="1588"/>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5400000">
            <a:off x="8154194" y="2667001"/>
            <a:ext cx="608806" cy="794"/>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rot="5400000">
            <a:off x="4191000" y="2209801"/>
            <a:ext cx="304800"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0" y="2819400"/>
            <a:ext cx="4038600" cy="707886"/>
          </a:xfrm>
          <a:prstGeom prst="rect">
            <a:avLst/>
          </a:prstGeom>
          <a:noFill/>
        </p:spPr>
        <p:txBody>
          <a:bodyPr wrap="square" rtlCol="0">
            <a:spAutoFit/>
          </a:bodyPr>
          <a:lstStyle/>
          <a:p>
            <a:r>
              <a:rPr lang="en-US" sz="4000" dirty="0">
                <a:solidFill>
                  <a:srgbClr val="00B0F0"/>
                </a:solidFill>
                <a:latin typeface="Times New Roman" pitchFamily="18" charset="0"/>
                <a:cs typeface="Times New Roman" pitchFamily="18" charset="0"/>
              </a:rPr>
              <a:t>Basic Chemistry</a:t>
            </a:r>
          </a:p>
        </p:txBody>
      </p:sp>
      <p:cxnSp>
        <p:nvCxnSpPr>
          <p:cNvPr id="21" name="Straight Connector 20"/>
          <p:cNvCxnSpPr/>
          <p:nvPr/>
        </p:nvCxnSpPr>
        <p:spPr>
          <a:xfrm>
            <a:off x="609600" y="3733800"/>
            <a:ext cx="3505200" cy="1588"/>
          </a:xfrm>
          <a:prstGeom prst="line">
            <a:avLst/>
          </a:prstGeom>
          <a:ln w="381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a:off x="1447800" y="3581400"/>
            <a:ext cx="304800" cy="1588"/>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rot="5400000">
            <a:off x="457200" y="3886201"/>
            <a:ext cx="304800" cy="1588"/>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5400000">
            <a:off x="3963194" y="3886200"/>
            <a:ext cx="304006" cy="794"/>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5400000">
            <a:off x="2324100" y="3848101"/>
            <a:ext cx="228600" cy="1588"/>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0" y="3886200"/>
            <a:ext cx="1981200" cy="646331"/>
          </a:xfrm>
          <a:prstGeom prst="rect">
            <a:avLst/>
          </a:prstGeom>
          <a:noFill/>
        </p:spPr>
        <p:txBody>
          <a:bodyPr wrap="square" rtlCol="0">
            <a:spAutoFit/>
          </a:bodyPr>
          <a:lstStyle/>
          <a:p>
            <a:r>
              <a:rPr lang="en-US" sz="3600" dirty="0">
                <a:solidFill>
                  <a:srgbClr val="7030A0"/>
                </a:solidFill>
                <a:latin typeface="Times New Roman" pitchFamily="18" charset="0"/>
                <a:cs typeface="Times New Roman" pitchFamily="18" charset="0"/>
              </a:rPr>
              <a:t>Inorganic</a:t>
            </a:r>
            <a:endParaRPr lang="en-US" sz="3200" dirty="0">
              <a:solidFill>
                <a:srgbClr val="7030A0"/>
              </a:solidFill>
              <a:latin typeface="Times New Roman" pitchFamily="18" charset="0"/>
              <a:cs typeface="Times New Roman" pitchFamily="18" charset="0"/>
            </a:endParaRPr>
          </a:p>
        </p:txBody>
      </p:sp>
      <p:sp>
        <p:nvSpPr>
          <p:cNvPr id="32" name="TextBox 31"/>
          <p:cNvSpPr txBox="1"/>
          <p:nvPr/>
        </p:nvSpPr>
        <p:spPr>
          <a:xfrm>
            <a:off x="1828800" y="3962400"/>
            <a:ext cx="1524000" cy="584775"/>
          </a:xfrm>
          <a:prstGeom prst="rect">
            <a:avLst/>
          </a:prstGeom>
          <a:noFill/>
        </p:spPr>
        <p:txBody>
          <a:bodyPr wrap="square" rtlCol="0">
            <a:spAutoFit/>
          </a:bodyPr>
          <a:lstStyle/>
          <a:p>
            <a:r>
              <a:rPr lang="en-US" sz="3200" dirty="0">
                <a:solidFill>
                  <a:srgbClr val="00B0F0"/>
                </a:solidFill>
                <a:latin typeface="Times New Roman" pitchFamily="18" charset="0"/>
                <a:cs typeface="Times New Roman" pitchFamily="18" charset="0"/>
              </a:rPr>
              <a:t>Organic</a:t>
            </a:r>
            <a:endParaRPr lang="en-US" sz="2400" dirty="0">
              <a:solidFill>
                <a:srgbClr val="00B0F0"/>
              </a:solidFill>
              <a:latin typeface="Times New Roman" pitchFamily="18" charset="0"/>
              <a:cs typeface="Times New Roman" pitchFamily="18" charset="0"/>
            </a:endParaRPr>
          </a:p>
        </p:txBody>
      </p:sp>
      <p:sp>
        <p:nvSpPr>
          <p:cNvPr id="33" name="TextBox 32"/>
          <p:cNvSpPr txBox="1"/>
          <p:nvPr/>
        </p:nvSpPr>
        <p:spPr>
          <a:xfrm>
            <a:off x="3505200" y="4019490"/>
            <a:ext cx="1752600" cy="584775"/>
          </a:xfrm>
          <a:prstGeom prst="rect">
            <a:avLst/>
          </a:prstGeom>
          <a:noFill/>
        </p:spPr>
        <p:txBody>
          <a:bodyPr wrap="square" rtlCol="0">
            <a:spAutoFit/>
          </a:bodyPr>
          <a:lstStyle/>
          <a:p>
            <a:r>
              <a:rPr lang="en-US" sz="3200" dirty="0">
                <a:solidFill>
                  <a:srgbClr val="7030A0"/>
                </a:solidFill>
                <a:latin typeface="Times New Roman" pitchFamily="18" charset="0"/>
                <a:cs typeface="Times New Roman" pitchFamily="18" charset="0"/>
              </a:rPr>
              <a:t>Physical</a:t>
            </a:r>
            <a:endParaRPr lang="en-US" sz="2400" dirty="0">
              <a:solidFill>
                <a:srgbClr val="7030A0"/>
              </a:solidFill>
              <a:latin typeface="Times New Roman" pitchFamily="18" charset="0"/>
              <a:cs typeface="Times New Roman" pitchFamily="18" charset="0"/>
            </a:endParaRPr>
          </a:p>
        </p:txBody>
      </p:sp>
      <p:sp>
        <p:nvSpPr>
          <p:cNvPr id="34" name="TextBox 33"/>
          <p:cNvSpPr txBox="1"/>
          <p:nvPr/>
        </p:nvSpPr>
        <p:spPr>
          <a:xfrm>
            <a:off x="5334000" y="2819400"/>
            <a:ext cx="3810000" cy="646331"/>
          </a:xfrm>
          <a:prstGeom prst="rect">
            <a:avLst/>
          </a:prstGeom>
          <a:noFill/>
        </p:spPr>
        <p:txBody>
          <a:bodyPr wrap="square" rtlCol="0">
            <a:spAutoFit/>
          </a:bodyPr>
          <a:lstStyle/>
          <a:p>
            <a:r>
              <a:rPr lang="en-US" sz="3600" dirty="0">
                <a:solidFill>
                  <a:srgbClr val="00B0F0"/>
                </a:solidFill>
                <a:latin typeface="Times New Roman" pitchFamily="18" charset="0"/>
                <a:cs typeface="Times New Roman" pitchFamily="18" charset="0"/>
              </a:rPr>
              <a:t>Applied Chemistry </a:t>
            </a:r>
          </a:p>
        </p:txBody>
      </p:sp>
      <p:sp>
        <p:nvSpPr>
          <p:cNvPr id="37" name="TextBox 36"/>
          <p:cNvSpPr txBox="1"/>
          <p:nvPr/>
        </p:nvSpPr>
        <p:spPr>
          <a:xfrm>
            <a:off x="6477000" y="3581400"/>
            <a:ext cx="2667000" cy="2862322"/>
          </a:xfrm>
          <a:prstGeom prst="rect">
            <a:avLst/>
          </a:prstGeom>
          <a:noFill/>
        </p:spPr>
        <p:txBody>
          <a:bodyPr wrap="square" rtlCol="0">
            <a:spAutoFit/>
          </a:bodyPr>
          <a:lstStyle/>
          <a:p>
            <a:pPr>
              <a:buFont typeface="Wingdings" pitchFamily="2" charset="2"/>
              <a:buChar char="ü"/>
            </a:pPr>
            <a:r>
              <a:rPr lang="en-US" sz="2000" dirty="0">
                <a:solidFill>
                  <a:srgbClr val="7030A0"/>
                </a:solidFill>
                <a:latin typeface="Times New Roman" pitchFamily="18" charset="0"/>
                <a:cs typeface="Times New Roman" pitchFamily="18" charset="0"/>
              </a:rPr>
              <a:t>Petro Chemistry</a:t>
            </a:r>
          </a:p>
          <a:p>
            <a:pPr>
              <a:buFont typeface="Wingdings" pitchFamily="2" charset="2"/>
              <a:buChar char="ü"/>
            </a:pPr>
            <a:r>
              <a:rPr lang="en-US" sz="2000" dirty="0">
                <a:solidFill>
                  <a:srgbClr val="7030A0"/>
                </a:solidFill>
                <a:latin typeface="Times New Roman" pitchFamily="18" charset="0"/>
                <a:cs typeface="Times New Roman" pitchFamily="18" charset="0"/>
              </a:rPr>
              <a:t>Photo Chemistry</a:t>
            </a:r>
          </a:p>
          <a:p>
            <a:pPr>
              <a:buFont typeface="Wingdings" pitchFamily="2" charset="2"/>
              <a:buChar char="ü"/>
            </a:pPr>
            <a:r>
              <a:rPr lang="en-US" sz="2000" dirty="0">
                <a:solidFill>
                  <a:srgbClr val="7030A0"/>
                </a:solidFill>
                <a:latin typeface="Times New Roman" pitchFamily="18" charset="0"/>
                <a:cs typeface="Times New Roman" pitchFamily="18" charset="0"/>
              </a:rPr>
              <a:t>Radio Chemistry</a:t>
            </a:r>
          </a:p>
          <a:p>
            <a:pPr>
              <a:buFont typeface="Wingdings" pitchFamily="2" charset="2"/>
              <a:buChar char="ü"/>
            </a:pPr>
            <a:r>
              <a:rPr lang="en-US" sz="2000" dirty="0">
                <a:solidFill>
                  <a:srgbClr val="7030A0"/>
                </a:solidFill>
                <a:latin typeface="Times New Roman" pitchFamily="18" charset="0"/>
                <a:cs typeface="Times New Roman" pitchFamily="18" charset="0"/>
              </a:rPr>
              <a:t>Photo Chemistry</a:t>
            </a:r>
          </a:p>
          <a:p>
            <a:pPr>
              <a:buFont typeface="Wingdings" pitchFamily="2" charset="2"/>
              <a:buChar char="ü"/>
            </a:pPr>
            <a:r>
              <a:rPr lang="en-US" sz="2000" dirty="0">
                <a:solidFill>
                  <a:srgbClr val="7030A0"/>
                </a:solidFill>
                <a:latin typeface="Times New Roman" pitchFamily="18" charset="0"/>
                <a:cs typeface="Times New Roman" pitchFamily="18" charset="0"/>
              </a:rPr>
              <a:t>Thermo Chemistry</a:t>
            </a:r>
          </a:p>
          <a:p>
            <a:pPr>
              <a:buFont typeface="Wingdings" pitchFamily="2" charset="2"/>
              <a:buChar char="ü"/>
            </a:pPr>
            <a:r>
              <a:rPr lang="en-US" sz="2000" dirty="0" err="1">
                <a:solidFill>
                  <a:srgbClr val="7030A0"/>
                </a:solidFill>
                <a:latin typeface="Times New Roman" pitchFamily="18" charset="0"/>
                <a:cs typeface="Times New Roman" pitchFamily="18" charset="0"/>
              </a:rPr>
              <a:t>Astro</a:t>
            </a:r>
            <a:r>
              <a:rPr lang="en-US" sz="2000" dirty="0">
                <a:solidFill>
                  <a:srgbClr val="7030A0"/>
                </a:solidFill>
                <a:latin typeface="Times New Roman" pitchFamily="18" charset="0"/>
                <a:cs typeface="Times New Roman" pitchFamily="18" charset="0"/>
              </a:rPr>
              <a:t> Chemistry</a:t>
            </a:r>
          </a:p>
          <a:p>
            <a:pPr>
              <a:buFont typeface="Wingdings" pitchFamily="2" charset="2"/>
              <a:buChar char="ü"/>
            </a:pPr>
            <a:r>
              <a:rPr lang="en-US" sz="2000" dirty="0">
                <a:solidFill>
                  <a:srgbClr val="7030A0"/>
                </a:solidFill>
                <a:latin typeface="Times New Roman" pitchFamily="18" charset="0"/>
                <a:cs typeface="Times New Roman" pitchFamily="18" charset="0"/>
              </a:rPr>
              <a:t>Bio Chemistry</a:t>
            </a:r>
          </a:p>
          <a:p>
            <a:pPr>
              <a:buFont typeface="Wingdings" pitchFamily="2" charset="2"/>
              <a:buChar char="ü"/>
            </a:pPr>
            <a:r>
              <a:rPr lang="en-US" sz="2000" dirty="0">
                <a:solidFill>
                  <a:srgbClr val="7030A0"/>
                </a:solidFill>
                <a:latin typeface="Times New Roman" pitchFamily="18" charset="0"/>
                <a:cs typeface="Times New Roman" pitchFamily="18" charset="0"/>
              </a:rPr>
              <a:t>Geo Chemistry</a:t>
            </a:r>
          </a:p>
          <a:p>
            <a:pPr>
              <a:buFont typeface="Wingdings" pitchFamily="2" charset="2"/>
              <a:buChar char="ü"/>
            </a:pPr>
            <a:r>
              <a:rPr lang="en-US" sz="2000" dirty="0">
                <a:solidFill>
                  <a:srgbClr val="7030A0"/>
                </a:solidFill>
                <a:latin typeface="Times New Roman" pitchFamily="18" charset="0"/>
                <a:cs typeface="Times New Roman" pitchFamily="18" charset="0"/>
              </a:rPr>
              <a:t>Nuclear Chemistry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4"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from="(-#ppt_w/2)" to="(#ppt_x)" calcmode="lin" valueType="num">
                                      <p:cBhvr>
                                        <p:cTn id="13" dur="600" fill="hold">
                                          <p:stCondLst>
                                            <p:cond delay="0"/>
                                          </p:stCondLst>
                                        </p:cTn>
                                        <p:tgtEl>
                                          <p:spTgt spid="17"/>
                                        </p:tgtEl>
                                        <p:attrNameLst>
                                          <p:attrName>ppt_x</p:attrName>
                                        </p:attrNameLst>
                                      </p:cBhvr>
                                    </p:anim>
                                    <p:anim from="0" to="-1.0" calcmode="lin" valueType="num">
                                      <p:cBhvr>
                                        <p:cTn id="14" dur="200" decel="50000" autoRev="1" fill="hold">
                                          <p:stCondLst>
                                            <p:cond delay="600"/>
                                          </p:stCondLst>
                                        </p:cTn>
                                        <p:tgtEl>
                                          <p:spTgt spid="17"/>
                                        </p:tgtEl>
                                        <p:attrNameLst>
                                          <p:attrName>xshear</p:attrName>
                                        </p:attrNameLst>
                                      </p:cBhvr>
                                    </p:anim>
                                    <p:animScale>
                                      <p:cBhvr>
                                        <p:cTn id="15" dur="200" decel="100000" autoRev="1" fill="hold">
                                          <p:stCondLst>
                                            <p:cond delay="600"/>
                                          </p:stCondLst>
                                        </p:cTn>
                                        <p:tgtEl>
                                          <p:spTgt spid="17"/>
                                        </p:tgtEl>
                                      </p:cBhvr>
                                      <p:from x="100000" y="100000"/>
                                      <p:to x="80000" y="100000"/>
                                    </p:animScale>
                                    <p:anim by="(#ppt_h/3+#ppt_w*0.1)" calcmode="lin" valueType="num">
                                      <p:cBhvr additive="sum">
                                        <p:cTn id="16" dur="200" decel="100000" autoRev="1" fill="hold">
                                          <p:stCondLst>
                                            <p:cond delay="600"/>
                                          </p:stCondLst>
                                        </p:cTn>
                                        <p:tgtEl>
                                          <p:spTgt spid="17"/>
                                        </p:tgtEl>
                                        <p:attrNameLst>
                                          <p:attrName>ppt_x</p:attrName>
                                        </p:attrNameLst>
                                      </p:cBhvr>
                                    </p:anim>
                                  </p:childTnLst>
                                </p:cTn>
                              </p:par>
                              <p:par>
                                <p:cTn id="17" presetID="34"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 from="(-#ppt_w/2)" to="(#ppt_x)" calcmode="lin" valueType="num">
                                      <p:cBhvr>
                                        <p:cTn id="19" dur="600" fill="hold">
                                          <p:stCondLst>
                                            <p:cond delay="0"/>
                                          </p:stCondLst>
                                        </p:cTn>
                                        <p:tgtEl>
                                          <p:spTgt spid="6"/>
                                        </p:tgtEl>
                                        <p:attrNameLst>
                                          <p:attrName>ppt_x</p:attrName>
                                        </p:attrNameLst>
                                      </p:cBhvr>
                                    </p:anim>
                                    <p:anim from="0" to="-1.0" calcmode="lin" valueType="num">
                                      <p:cBhvr>
                                        <p:cTn id="20" dur="200" decel="50000" autoRev="1" fill="hold">
                                          <p:stCondLst>
                                            <p:cond delay="600"/>
                                          </p:stCondLst>
                                        </p:cTn>
                                        <p:tgtEl>
                                          <p:spTgt spid="6"/>
                                        </p:tgtEl>
                                        <p:attrNameLst>
                                          <p:attrName>xshear</p:attrName>
                                        </p:attrNameLst>
                                      </p:cBhvr>
                                    </p:anim>
                                    <p:animScale>
                                      <p:cBhvr>
                                        <p:cTn id="21" dur="200" decel="100000" autoRev="1" fill="hold">
                                          <p:stCondLst>
                                            <p:cond delay="600"/>
                                          </p:stCondLst>
                                        </p:cTn>
                                        <p:tgtEl>
                                          <p:spTgt spid="6"/>
                                        </p:tgtEl>
                                      </p:cBhvr>
                                      <p:from x="100000" y="100000"/>
                                      <p:to x="80000" y="100000"/>
                                    </p:animScale>
                                    <p:anim by="(#ppt_h/3+#ppt_w*0.1)" calcmode="lin" valueType="num">
                                      <p:cBhvr additive="sum">
                                        <p:cTn id="22" dur="200" decel="100000" autoRev="1" fill="hold">
                                          <p:stCondLst>
                                            <p:cond delay="600"/>
                                          </p:stCondLst>
                                        </p:cTn>
                                        <p:tgtEl>
                                          <p:spTgt spid="6"/>
                                        </p:tgtEl>
                                        <p:attrNameLst>
                                          <p:attrName>ppt_x</p:attrName>
                                        </p:attrNameLst>
                                      </p:cBhvr>
                                    </p:anim>
                                  </p:childTnLst>
                                </p:cTn>
                              </p:par>
                              <p:par>
                                <p:cTn id="23" presetID="34"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 from="(-#ppt_w/2)" to="(#ppt_x)" calcmode="lin" valueType="num">
                                      <p:cBhvr>
                                        <p:cTn id="25" dur="600" fill="hold">
                                          <p:stCondLst>
                                            <p:cond delay="0"/>
                                          </p:stCondLst>
                                        </p:cTn>
                                        <p:tgtEl>
                                          <p:spTgt spid="13"/>
                                        </p:tgtEl>
                                        <p:attrNameLst>
                                          <p:attrName>ppt_x</p:attrName>
                                        </p:attrNameLst>
                                      </p:cBhvr>
                                    </p:anim>
                                    <p:anim from="0" to="-1.0" calcmode="lin" valueType="num">
                                      <p:cBhvr>
                                        <p:cTn id="26" dur="200" decel="50000" autoRev="1" fill="hold">
                                          <p:stCondLst>
                                            <p:cond delay="600"/>
                                          </p:stCondLst>
                                        </p:cTn>
                                        <p:tgtEl>
                                          <p:spTgt spid="13"/>
                                        </p:tgtEl>
                                        <p:attrNameLst>
                                          <p:attrName>xshear</p:attrName>
                                        </p:attrNameLst>
                                      </p:cBhvr>
                                    </p:anim>
                                    <p:animScale>
                                      <p:cBhvr>
                                        <p:cTn id="27" dur="200" decel="100000" autoRev="1" fill="hold">
                                          <p:stCondLst>
                                            <p:cond delay="600"/>
                                          </p:stCondLst>
                                        </p:cTn>
                                        <p:tgtEl>
                                          <p:spTgt spid="13"/>
                                        </p:tgtEl>
                                      </p:cBhvr>
                                      <p:from x="100000" y="100000"/>
                                      <p:to x="80000" y="100000"/>
                                    </p:animScale>
                                    <p:anim by="(#ppt_h/3+#ppt_w*0.1)" calcmode="lin" valueType="num">
                                      <p:cBhvr additive="sum">
                                        <p:cTn id="28" dur="200" decel="100000" autoRev="1" fill="hold">
                                          <p:stCondLst>
                                            <p:cond delay="600"/>
                                          </p:stCondLst>
                                        </p:cTn>
                                        <p:tgtEl>
                                          <p:spTgt spid="13"/>
                                        </p:tgtEl>
                                        <p:attrNameLst>
                                          <p:attrName>ppt_x</p:attrName>
                                        </p:attrNameLst>
                                      </p:cBhvr>
                                    </p:anim>
                                  </p:childTnLst>
                                </p:cTn>
                              </p:par>
                              <p:par>
                                <p:cTn id="29" presetID="34"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 from="(-#ppt_w/2)" to="(#ppt_x)" calcmode="lin" valueType="num">
                                      <p:cBhvr>
                                        <p:cTn id="31" dur="600" fill="hold">
                                          <p:stCondLst>
                                            <p:cond delay="0"/>
                                          </p:stCondLst>
                                        </p:cTn>
                                        <p:tgtEl>
                                          <p:spTgt spid="11"/>
                                        </p:tgtEl>
                                        <p:attrNameLst>
                                          <p:attrName>ppt_x</p:attrName>
                                        </p:attrNameLst>
                                      </p:cBhvr>
                                    </p:anim>
                                    <p:anim from="0" to="-1.0" calcmode="lin" valueType="num">
                                      <p:cBhvr>
                                        <p:cTn id="32" dur="200" decel="50000" autoRev="1" fill="hold">
                                          <p:stCondLst>
                                            <p:cond delay="600"/>
                                          </p:stCondLst>
                                        </p:cTn>
                                        <p:tgtEl>
                                          <p:spTgt spid="11"/>
                                        </p:tgtEl>
                                        <p:attrNameLst>
                                          <p:attrName>xshear</p:attrName>
                                        </p:attrNameLst>
                                      </p:cBhvr>
                                    </p:anim>
                                    <p:animScale>
                                      <p:cBhvr>
                                        <p:cTn id="33" dur="200" decel="100000" autoRev="1" fill="hold">
                                          <p:stCondLst>
                                            <p:cond delay="600"/>
                                          </p:stCondLst>
                                        </p:cTn>
                                        <p:tgtEl>
                                          <p:spTgt spid="11"/>
                                        </p:tgtEl>
                                      </p:cBhvr>
                                      <p:from x="100000" y="100000"/>
                                      <p:to x="80000" y="100000"/>
                                    </p:animScale>
                                    <p:anim by="(#ppt_h/3+#ppt_w*0.1)" calcmode="lin" valueType="num">
                                      <p:cBhvr additive="sum">
                                        <p:cTn id="34" dur="200" decel="100000" autoRev="1" fill="hold">
                                          <p:stCondLst>
                                            <p:cond delay="600"/>
                                          </p:stCondLst>
                                        </p:cTn>
                                        <p:tgtEl>
                                          <p:spTgt spid="11"/>
                                        </p:tgtEl>
                                        <p:attrNameLst>
                                          <p:attrName>ppt_x</p:attrName>
                                        </p:attrNameLst>
                                      </p:cBhvr>
                                    </p:anim>
                                  </p:childTnLst>
                                </p:cTn>
                              </p:par>
                              <p:par>
                                <p:cTn id="35" presetID="34"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anim from="(-#ppt_w/2)" to="(#ppt_x)" calcmode="lin" valueType="num">
                                      <p:cBhvr>
                                        <p:cTn id="37" dur="600" fill="hold">
                                          <p:stCondLst>
                                            <p:cond delay="0"/>
                                          </p:stCondLst>
                                        </p:cTn>
                                        <p:tgtEl>
                                          <p:spTgt spid="34"/>
                                        </p:tgtEl>
                                        <p:attrNameLst>
                                          <p:attrName>ppt_x</p:attrName>
                                        </p:attrNameLst>
                                      </p:cBhvr>
                                    </p:anim>
                                    <p:anim from="0" to="-1.0" calcmode="lin" valueType="num">
                                      <p:cBhvr>
                                        <p:cTn id="38" dur="200" decel="50000" autoRev="1" fill="hold">
                                          <p:stCondLst>
                                            <p:cond delay="600"/>
                                          </p:stCondLst>
                                        </p:cTn>
                                        <p:tgtEl>
                                          <p:spTgt spid="34"/>
                                        </p:tgtEl>
                                        <p:attrNameLst>
                                          <p:attrName>xshear</p:attrName>
                                        </p:attrNameLst>
                                      </p:cBhvr>
                                    </p:anim>
                                    <p:animScale>
                                      <p:cBhvr>
                                        <p:cTn id="39" dur="200" decel="100000" autoRev="1" fill="hold">
                                          <p:stCondLst>
                                            <p:cond delay="600"/>
                                          </p:stCondLst>
                                        </p:cTn>
                                        <p:tgtEl>
                                          <p:spTgt spid="34"/>
                                        </p:tgtEl>
                                      </p:cBhvr>
                                      <p:from x="100000" y="100000"/>
                                      <p:to x="80000" y="100000"/>
                                    </p:animScale>
                                    <p:anim by="(#ppt_h/3+#ppt_w*0.1)" calcmode="lin" valueType="num">
                                      <p:cBhvr additive="sum">
                                        <p:cTn id="40" dur="200" decel="100000" autoRev="1" fill="hold">
                                          <p:stCondLst>
                                            <p:cond delay="600"/>
                                          </p:stCondLst>
                                        </p:cTn>
                                        <p:tgtEl>
                                          <p:spTgt spid="34"/>
                                        </p:tgtEl>
                                        <p:attrNameLst>
                                          <p:attrName>ppt_x</p:attrName>
                                        </p:attrNameLst>
                                      </p:cBhvr>
                                    </p:anim>
                                  </p:childTnLst>
                                </p:cTn>
                              </p:par>
                              <p:par>
                                <p:cTn id="41" presetID="34"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 from="(-#ppt_w/2)" to="(#ppt_x)" calcmode="lin" valueType="num">
                                      <p:cBhvr>
                                        <p:cTn id="43" dur="600" fill="hold">
                                          <p:stCondLst>
                                            <p:cond delay="0"/>
                                          </p:stCondLst>
                                        </p:cTn>
                                        <p:tgtEl>
                                          <p:spTgt spid="19"/>
                                        </p:tgtEl>
                                        <p:attrNameLst>
                                          <p:attrName>ppt_x</p:attrName>
                                        </p:attrNameLst>
                                      </p:cBhvr>
                                    </p:anim>
                                    <p:anim from="0" to="-1.0" calcmode="lin" valueType="num">
                                      <p:cBhvr>
                                        <p:cTn id="44" dur="200" decel="50000" autoRev="1" fill="hold">
                                          <p:stCondLst>
                                            <p:cond delay="600"/>
                                          </p:stCondLst>
                                        </p:cTn>
                                        <p:tgtEl>
                                          <p:spTgt spid="19"/>
                                        </p:tgtEl>
                                        <p:attrNameLst>
                                          <p:attrName>xshear</p:attrName>
                                        </p:attrNameLst>
                                      </p:cBhvr>
                                    </p:anim>
                                    <p:animScale>
                                      <p:cBhvr>
                                        <p:cTn id="45" dur="200" decel="100000" autoRev="1" fill="hold">
                                          <p:stCondLst>
                                            <p:cond delay="600"/>
                                          </p:stCondLst>
                                        </p:cTn>
                                        <p:tgtEl>
                                          <p:spTgt spid="19"/>
                                        </p:tgtEl>
                                      </p:cBhvr>
                                      <p:from x="100000" y="100000"/>
                                      <p:to x="80000" y="100000"/>
                                    </p:animScale>
                                    <p:anim by="(#ppt_h/3+#ppt_w*0.1)" calcmode="lin" valueType="num">
                                      <p:cBhvr additive="sum">
                                        <p:cTn id="46" dur="200" decel="100000" autoRev="1" fill="hold">
                                          <p:stCondLst>
                                            <p:cond delay="600"/>
                                          </p:stCondLst>
                                        </p:cTn>
                                        <p:tgtEl>
                                          <p:spTgt spid="19"/>
                                        </p:tgtEl>
                                        <p:attrNameLst>
                                          <p:attrName>ppt_x</p:attrName>
                                        </p:attrNameLst>
                                      </p:cBhvr>
                                    </p:anim>
                                  </p:childTnLst>
                                </p:cTn>
                              </p:par>
                            </p:childTnLst>
                          </p:cTn>
                        </p:par>
                      </p:childTnLst>
                    </p:cTn>
                  </p:par>
                  <p:par>
                    <p:cTn id="47" fill="hold">
                      <p:stCondLst>
                        <p:cond delay="indefinite"/>
                      </p:stCondLst>
                      <p:childTnLst>
                        <p:par>
                          <p:cTn id="48" fill="hold">
                            <p:stCondLst>
                              <p:cond delay="0"/>
                            </p:stCondLst>
                            <p:childTnLst>
                              <p:par>
                                <p:cTn id="49" presetID="8" presetClass="entr" presetSubtype="16"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diamond(in)">
                                      <p:cBhvr>
                                        <p:cTn id="51" dur="2000"/>
                                        <p:tgtEl>
                                          <p:spTgt spid="23"/>
                                        </p:tgtEl>
                                      </p:cBhvr>
                                    </p:animEffect>
                                  </p:childTnLst>
                                </p:cTn>
                              </p:par>
                              <p:par>
                                <p:cTn id="52" presetID="8" presetClass="entr" presetSubtype="16" fill="hold" nodeType="with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diamond(in)">
                                      <p:cBhvr>
                                        <p:cTn id="54" dur="2000"/>
                                        <p:tgtEl>
                                          <p:spTgt spid="25"/>
                                        </p:tgtEl>
                                      </p:cBhvr>
                                    </p:animEffect>
                                  </p:childTnLst>
                                </p:cTn>
                              </p:par>
                              <p:par>
                                <p:cTn id="55" presetID="8" presetClass="entr" presetSubtype="16" fill="hold"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diamond(in)">
                                      <p:cBhvr>
                                        <p:cTn id="57" dur="2000"/>
                                        <p:tgtEl>
                                          <p:spTgt spid="21"/>
                                        </p:tgtEl>
                                      </p:cBhvr>
                                    </p:animEffect>
                                  </p:childTnLst>
                                </p:cTn>
                              </p:par>
                              <p:par>
                                <p:cTn id="58" presetID="8" presetClass="entr" presetSubtype="16" fill="hold" nodeType="with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diamond(in)">
                                      <p:cBhvr>
                                        <p:cTn id="60" dur="2000"/>
                                        <p:tgtEl>
                                          <p:spTgt spid="27"/>
                                        </p:tgtEl>
                                      </p:cBhvr>
                                    </p:animEffect>
                                  </p:childTnLst>
                                </p:cTn>
                              </p:par>
                              <p:par>
                                <p:cTn id="61" presetID="8" presetClass="entr" presetSubtype="16" fill="hold" nodeType="with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diamond(in)">
                                      <p:cBhvr>
                                        <p:cTn id="63" dur="2000"/>
                                        <p:tgtEl>
                                          <p:spTgt spid="30"/>
                                        </p:tgtEl>
                                      </p:cBhvr>
                                    </p:animEffect>
                                  </p:childTnLst>
                                </p:cTn>
                              </p:par>
                              <p:par>
                                <p:cTn id="64" presetID="8" presetClass="entr" presetSubtype="16"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diamond(in)">
                                      <p:cBhvr>
                                        <p:cTn id="66" dur="2000"/>
                                        <p:tgtEl>
                                          <p:spTgt spid="31"/>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32"/>
                                        </p:tgtEl>
                                        <p:attrNameLst>
                                          <p:attrName>style.visibility</p:attrName>
                                        </p:attrNameLst>
                                      </p:cBhvr>
                                      <p:to>
                                        <p:strVal val="visible"/>
                                      </p:to>
                                    </p:set>
                                    <p:anim calcmode="lin" valueType="num">
                                      <p:cBhvr additive="base">
                                        <p:cTn id="71" dur="500" fill="hold"/>
                                        <p:tgtEl>
                                          <p:spTgt spid="32"/>
                                        </p:tgtEl>
                                        <p:attrNameLst>
                                          <p:attrName>ppt_x</p:attrName>
                                        </p:attrNameLst>
                                      </p:cBhvr>
                                      <p:tavLst>
                                        <p:tav tm="0">
                                          <p:val>
                                            <p:strVal val="#ppt_x"/>
                                          </p:val>
                                        </p:tav>
                                        <p:tav tm="100000">
                                          <p:val>
                                            <p:strVal val="#ppt_x"/>
                                          </p:val>
                                        </p:tav>
                                      </p:tavLst>
                                    </p:anim>
                                    <p:anim calcmode="lin" valueType="num">
                                      <p:cBhvr additive="base">
                                        <p:cTn id="72"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18" presetClass="entr" presetSubtype="12" fill="hold" grpId="0" nodeType="clickEffect">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strips(downLeft)">
                                      <p:cBhvr>
                                        <p:cTn id="77" dur="500"/>
                                        <p:tgtEl>
                                          <p:spTgt spid="33"/>
                                        </p:tgtEl>
                                      </p:cBhvr>
                                    </p:animEffect>
                                  </p:childTnLst>
                                </p:cTn>
                              </p:par>
                            </p:childTnLst>
                          </p:cTn>
                        </p:par>
                      </p:childTnLst>
                    </p:cTn>
                  </p:par>
                  <p:par>
                    <p:cTn id="78" fill="hold">
                      <p:stCondLst>
                        <p:cond delay="indefinite"/>
                      </p:stCondLst>
                      <p:childTnLst>
                        <p:par>
                          <p:cTn id="79" fill="hold">
                            <p:stCondLst>
                              <p:cond delay="0"/>
                            </p:stCondLst>
                            <p:childTnLst>
                              <p:par>
                                <p:cTn id="80" presetID="5" presetClass="entr" presetSubtype="10" fill="hold" nodeType="clickEffect">
                                  <p:stCondLst>
                                    <p:cond delay="0"/>
                                  </p:stCondLst>
                                  <p:childTnLst>
                                    <p:set>
                                      <p:cBhvr>
                                        <p:cTn id="81" dur="1" fill="hold">
                                          <p:stCondLst>
                                            <p:cond delay="0"/>
                                          </p:stCondLst>
                                        </p:cTn>
                                        <p:tgtEl>
                                          <p:spTgt spid="37">
                                            <p:txEl>
                                              <p:pRg st="0" end="0"/>
                                            </p:txEl>
                                          </p:spTgt>
                                        </p:tgtEl>
                                        <p:attrNameLst>
                                          <p:attrName>style.visibility</p:attrName>
                                        </p:attrNameLst>
                                      </p:cBhvr>
                                      <p:to>
                                        <p:strVal val="visible"/>
                                      </p:to>
                                    </p:set>
                                    <p:animEffect transition="in" filter="checkerboard(across)">
                                      <p:cBhvr>
                                        <p:cTn id="82" dur="500"/>
                                        <p:tgtEl>
                                          <p:spTgt spid="37">
                                            <p:txEl>
                                              <p:pRg st="0" end="0"/>
                                            </p:txEl>
                                          </p:spTgt>
                                        </p:tgtEl>
                                      </p:cBhvr>
                                    </p:animEffect>
                                  </p:childTnLst>
                                </p:cTn>
                              </p:par>
                            </p:childTnLst>
                          </p:cTn>
                        </p:par>
                        <p:par>
                          <p:cTn id="83" fill="hold">
                            <p:stCondLst>
                              <p:cond delay="500"/>
                            </p:stCondLst>
                            <p:childTnLst>
                              <p:par>
                                <p:cTn id="84" presetID="5" presetClass="entr" presetSubtype="10" fill="hold" nodeType="afterEffect">
                                  <p:stCondLst>
                                    <p:cond delay="0"/>
                                  </p:stCondLst>
                                  <p:childTnLst>
                                    <p:set>
                                      <p:cBhvr>
                                        <p:cTn id="85" dur="1" fill="hold">
                                          <p:stCondLst>
                                            <p:cond delay="0"/>
                                          </p:stCondLst>
                                        </p:cTn>
                                        <p:tgtEl>
                                          <p:spTgt spid="37">
                                            <p:txEl>
                                              <p:pRg st="1" end="1"/>
                                            </p:txEl>
                                          </p:spTgt>
                                        </p:tgtEl>
                                        <p:attrNameLst>
                                          <p:attrName>style.visibility</p:attrName>
                                        </p:attrNameLst>
                                      </p:cBhvr>
                                      <p:to>
                                        <p:strVal val="visible"/>
                                      </p:to>
                                    </p:set>
                                    <p:animEffect transition="in" filter="checkerboard(across)">
                                      <p:cBhvr>
                                        <p:cTn id="86" dur="500"/>
                                        <p:tgtEl>
                                          <p:spTgt spid="37">
                                            <p:txEl>
                                              <p:pRg st="1" end="1"/>
                                            </p:txEl>
                                          </p:spTgt>
                                        </p:tgtEl>
                                      </p:cBhvr>
                                    </p:animEffect>
                                  </p:childTnLst>
                                </p:cTn>
                              </p:par>
                            </p:childTnLst>
                          </p:cTn>
                        </p:par>
                        <p:par>
                          <p:cTn id="87" fill="hold">
                            <p:stCondLst>
                              <p:cond delay="1000"/>
                            </p:stCondLst>
                            <p:childTnLst>
                              <p:par>
                                <p:cTn id="88" presetID="5" presetClass="entr" presetSubtype="10" fill="hold" nodeType="afterEffect">
                                  <p:stCondLst>
                                    <p:cond delay="0"/>
                                  </p:stCondLst>
                                  <p:childTnLst>
                                    <p:set>
                                      <p:cBhvr>
                                        <p:cTn id="89" dur="1" fill="hold">
                                          <p:stCondLst>
                                            <p:cond delay="0"/>
                                          </p:stCondLst>
                                        </p:cTn>
                                        <p:tgtEl>
                                          <p:spTgt spid="37">
                                            <p:txEl>
                                              <p:pRg st="2" end="2"/>
                                            </p:txEl>
                                          </p:spTgt>
                                        </p:tgtEl>
                                        <p:attrNameLst>
                                          <p:attrName>style.visibility</p:attrName>
                                        </p:attrNameLst>
                                      </p:cBhvr>
                                      <p:to>
                                        <p:strVal val="visible"/>
                                      </p:to>
                                    </p:set>
                                    <p:animEffect transition="in" filter="checkerboard(across)">
                                      <p:cBhvr>
                                        <p:cTn id="90" dur="500"/>
                                        <p:tgtEl>
                                          <p:spTgt spid="37">
                                            <p:txEl>
                                              <p:pRg st="2" end="2"/>
                                            </p:txEl>
                                          </p:spTgt>
                                        </p:tgtEl>
                                      </p:cBhvr>
                                    </p:animEffect>
                                  </p:childTnLst>
                                </p:cTn>
                              </p:par>
                            </p:childTnLst>
                          </p:cTn>
                        </p:par>
                        <p:par>
                          <p:cTn id="91" fill="hold">
                            <p:stCondLst>
                              <p:cond delay="1500"/>
                            </p:stCondLst>
                            <p:childTnLst>
                              <p:par>
                                <p:cTn id="92" presetID="5" presetClass="entr" presetSubtype="10" fill="hold" nodeType="afterEffect">
                                  <p:stCondLst>
                                    <p:cond delay="0"/>
                                  </p:stCondLst>
                                  <p:childTnLst>
                                    <p:set>
                                      <p:cBhvr>
                                        <p:cTn id="93" dur="1" fill="hold">
                                          <p:stCondLst>
                                            <p:cond delay="0"/>
                                          </p:stCondLst>
                                        </p:cTn>
                                        <p:tgtEl>
                                          <p:spTgt spid="37">
                                            <p:txEl>
                                              <p:pRg st="3" end="3"/>
                                            </p:txEl>
                                          </p:spTgt>
                                        </p:tgtEl>
                                        <p:attrNameLst>
                                          <p:attrName>style.visibility</p:attrName>
                                        </p:attrNameLst>
                                      </p:cBhvr>
                                      <p:to>
                                        <p:strVal val="visible"/>
                                      </p:to>
                                    </p:set>
                                    <p:animEffect transition="in" filter="checkerboard(across)">
                                      <p:cBhvr>
                                        <p:cTn id="94" dur="500"/>
                                        <p:tgtEl>
                                          <p:spTgt spid="37">
                                            <p:txEl>
                                              <p:pRg st="3" end="3"/>
                                            </p:txEl>
                                          </p:spTgt>
                                        </p:tgtEl>
                                      </p:cBhvr>
                                    </p:animEffect>
                                  </p:childTnLst>
                                </p:cTn>
                              </p:par>
                            </p:childTnLst>
                          </p:cTn>
                        </p:par>
                        <p:par>
                          <p:cTn id="95" fill="hold">
                            <p:stCondLst>
                              <p:cond delay="2000"/>
                            </p:stCondLst>
                            <p:childTnLst>
                              <p:par>
                                <p:cTn id="96" presetID="5" presetClass="entr" presetSubtype="10" fill="hold" nodeType="afterEffect">
                                  <p:stCondLst>
                                    <p:cond delay="0"/>
                                  </p:stCondLst>
                                  <p:childTnLst>
                                    <p:set>
                                      <p:cBhvr>
                                        <p:cTn id="97" dur="1" fill="hold">
                                          <p:stCondLst>
                                            <p:cond delay="0"/>
                                          </p:stCondLst>
                                        </p:cTn>
                                        <p:tgtEl>
                                          <p:spTgt spid="37">
                                            <p:txEl>
                                              <p:pRg st="4" end="4"/>
                                            </p:txEl>
                                          </p:spTgt>
                                        </p:tgtEl>
                                        <p:attrNameLst>
                                          <p:attrName>style.visibility</p:attrName>
                                        </p:attrNameLst>
                                      </p:cBhvr>
                                      <p:to>
                                        <p:strVal val="visible"/>
                                      </p:to>
                                    </p:set>
                                    <p:animEffect transition="in" filter="checkerboard(across)">
                                      <p:cBhvr>
                                        <p:cTn id="98" dur="500"/>
                                        <p:tgtEl>
                                          <p:spTgt spid="37">
                                            <p:txEl>
                                              <p:pRg st="4" end="4"/>
                                            </p:txEl>
                                          </p:spTgt>
                                        </p:tgtEl>
                                      </p:cBhvr>
                                    </p:animEffect>
                                  </p:childTnLst>
                                </p:cTn>
                              </p:par>
                            </p:childTnLst>
                          </p:cTn>
                        </p:par>
                        <p:par>
                          <p:cTn id="99" fill="hold">
                            <p:stCondLst>
                              <p:cond delay="2500"/>
                            </p:stCondLst>
                            <p:childTnLst>
                              <p:par>
                                <p:cTn id="100" presetID="5" presetClass="entr" presetSubtype="10" fill="hold" nodeType="afterEffect">
                                  <p:stCondLst>
                                    <p:cond delay="0"/>
                                  </p:stCondLst>
                                  <p:childTnLst>
                                    <p:set>
                                      <p:cBhvr>
                                        <p:cTn id="101" dur="1" fill="hold">
                                          <p:stCondLst>
                                            <p:cond delay="0"/>
                                          </p:stCondLst>
                                        </p:cTn>
                                        <p:tgtEl>
                                          <p:spTgt spid="37">
                                            <p:txEl>
                                              <p:pRg st="5" end="5"/>
                                            </p:txEl>
                                          </p:spTgt>
                                        </p:tgtEl>
                                        <p:attrNameLst>
                                          <p:attrName>style.visibility</p:attrName>
                                        </p:attrNameLst>
                                      </p:cBhvr>
                                      <p:to>
                                        <p:strVal val="visible"/>
                                      </p:to>
                                    </p:set>
                                    <p:animEffect transition="in" filter="checkerboard(across)">
                                      <p:cBhvr>
                                        <p:cTn id="102" dur="500"/>
                                        <p:tgtEl>
                                          <p:spTgt spid="37">
                                            <p:txEl>
                                              <p:pRg st="5" end="5"/>
                                            </p:txEl>
                                          </p:spTgt>
                                        </p:tgtEl>
                                      </p:cBhvr>
                                    </p:animEffect>
                                  </p:childTnLst>
                                </p:cTn>
                              </p:par>
                            </p:childTnLst>
                          </p:cTn>
                        </p:par>
                        <p:par>
                          <p:cTn id="103" fill="hold">
                            <p:stCondLst>
                              <p:cond delay="3000"/>
                            </p:stCondLst>
                            <p:childTnLst>
                              <p:par>
                                <p:cTn id="104" presetID="5" presetClass="entr" presetSubtype="10" fill="hold" nodeType="afterEffect">
                                  <p:stCondLst>
                                    <p:cond delay="0"/>
                                  </p:stCondLst>
                                  <p:childTnLst>
                                    <p:set>
                                      <p:cBhvr>
                                        <p:cTn id="105" dur="1" fill="hold">
                                          <p:stCondLst>
                                            <p:cond delay="0"/>
                                          </p:stCondLst>
                                        </p:cTn>
                                        <p:tgtEl>
                                          <p:spTgt spid="37">
                                            <p:txEl>
                                              <p:pRg st="6" end="6"/>
                                            </p:txEl>
                                          </p:spTgt>
                                        </p:tgtEl>
                                        <p:attrNameLst>
                                          <p:attrName>style.visibility</p:attrName>
                                        </p:attrNameLst>
                                      </p:cBhvr>
                                      <p:to>
                                        <p:strVal val="visible"/>
                                      </p:to>
                                    </p:set>
                                    <p:animEffect transition="in" filter="checkerboard(across)">
                                      <p:cBhvr>
                                        <p:cTn id="106" dur="500"/>
                                        <p:tgtEl>
                                          <p:spTgt spid="37">
                                            <p:txEl>
                                              <p:pRg st="6" end="6"/>
                                            </p:txEl>
                                          </p:spTgt>
                                        </p:tgtEl>
                                      </p:cBhvr>
                                    </p:animEffect>
                                  </p:childTnLst>
                                </p:cTn>
                              </p:par>
                            </p:childTnLst>
                          </p:cTn>
                        </p:par>
                        <p:par>
                          <p:cTn id="107" fill="hold">
                            <p:stCondLst>
                              <p:cond delay="3500"/>
                            </p:stCondLst>
                            <p:childTnLst>
                              <p:par>
                                <p:cTn id="108" presetID="5" presetClass="entr" presetSubtype="10" fill="hold" nodeType="afterEffect">
                                  <p:stCondLst>
                                    <p:cond delay="0"/>
                                  </p:stCondLst>
                                  <p:childTnLst>
                                    <p:set>
                                      <p:cBhvr>
                                        <p:cTn id="109" dur="1" fill="hold">
                                          <p:stCondLst>
                                            <p:cond delay="0"/>
                                          </p:stCondLst>
                                        </p:cTn>
                                        <p:tgtEl>
                                          <p:spTgt spid="37">
                                            <p:txEl>
                                              <p:pRg st="7" end="7"/>
                                            </p:txEl>
                                          </p:spTgt>
                                        </p:tgtEl>
                                        <p:attrNameLst>
                                          <p:attrName>style.visibility</p:attrName>
                                        </p:attrNameLst>
                                      </p:cBhvr>
                                      <p:to>
                                        <p:strVal val="visible"/>
                                      </p:to>
                                    </p:set>
                                    <p:animEffect transition="in" filter="checkerboard(across)">
                                      <p:cBhvr>
                                        <p:cTn id="110" dur="500"/>
                                        <p:tgtEl>
                                          <p:spTgt spid="37">
                                            <p:txEl>
                                              <p:pRg st="7" end="7"/>
                                            </p:txEl>
                                          </p:spTgt>
                                        </p:tgtEl>
                                      </p:cBhvr>
                                    </p:animEffect>
                                  </p:childTnLst>
                                </p:cTn>
                              </p:par>
                            </p:childTnLst>
                          </p:cTn>
                        </p:par>
                        <p:par>
                          <p:cTn id="111" fill="hold">
                            <p:stCondLst>
                              <p:cond delay="4000"/>
                            </p:stCondLst>
                            <p:childTnLst>
                              <p:par>
                                <p:cTn id="112" presetID="5" presetClass="entr" presetSubtype="10" fill="hold" nodeType="afterEffect">
                                  <p:stCondLst>
                                    <p:cond delay="0"/>
                                  </p:stCondLst>
                                  <p:childTnLst>
                                    <p:set>
                                      <p:cBhvr>
                                        <p:cTn id="113" dur="1" fill="hold">
                                          <p:stCondLst>
                                            <p:cond delay="0"/>
                                          </p:stCondLst>
                                        </p:cTn>
                                        <p:tgtEl>
                                          <p:spTgt spid="37">
                                            <p:txEl>
                                              <p:pRg st="8" end="8"/>
                                            </p:txEl>
                                          </p:spTgt>
                                        </p:tgtEl>
                                        <p:attrNameLst>
                                          <p:attrName>style.visibility</p:attrName>
                                        </p:attrNameLst>
                                      </p:cBhvr>
                                      <p:to>
                                        <p:strVal val="visible"/>
                                      </p:to>
                                    </p:set>
                                    <p:animEffect transition="in" filter="checkerboard(across)">
                                      <p:cBhvr>
                                        <p:cTn id="114" dur="500"/>
                                        <p:tgtEl>
                                          <p:spTgt spid="3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9" grpId="0"/>
      <p:bldP spid="31" grpId="0"/>
      <p:bldP spid="32" grpId="0"/>
      <p:bldP spid="33" grpId="0"/>
      <p:bldP spid="3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600200" y="381000"/>
            <a:ext cx="6400800" cy="1200329"/>
          </a:xfrm>
          <a:prstGeom prst="rect">
            <a:avLst/>
          </a:prstGeom>
          <a:noFill/>
        </p:spPr>
        <p:txBody>
          <a:bodyPr wrap="square" rtlCol="0">
            <a:spAutoFit/>
          </a:bodyPr>
          <a:lstStyle/>
          <a:p>
            <a:r>
              <a:rPr lang="en-US" sz="7200" b="1" u="sng" dirty="0"/>
              <a:t>Must be known</a:t>
            </a:r>
          </a:p>
        </p:txBody>
      </p:sp>
      <p:sp>
        <p:nvSpPr>
          <p:cNvPr id="7" name="TextBox 6"/>
          <p:cNvSpPr txBox="1"/>
          <p:nvPr/>
        </p:nvSpPr>
        <p:spPr>
          <a:xfrm>
            <a:off x="0" y="2133600"/>
            <a:ext cx="9144000" cy="2677656"/>
          </a:xfrm>
          <a:prstGeom prst="rect">
            <a:avLst/>
          </a:prstGeom>
          <a:noFill/>
        </p:spPr>
        <p:txBody>
          <a:bodyPr wrap="square" rtlCol="0">
            <a:spAutoFit/>
          </a:bodyPr>
          <a:lstStyle/>
          <a:p>
            <a:r>
              <a:rPr lang="en-US" sz="3600" dirty="0"/>
              <a:t>  Architect</a:t>
            </a:r>
            <a:r>
              <a:rPr lang="en-US" sz="2400" dirty="0"/>
              <a:t> of chemistry= </a:t>
            </a:r>
            <a:r>
              <a:rPr lang="en-US" sz="3600" dirty="0"/>
              <a:t>John Dalton</a:t>
            </a:r>
            <a:endParaRPr lang="en-US" sz="2400" dirty="0"/>
          </a:p>
          <a:p>
            <a:r>
              <a:rPr lang="en-US" sz="2400" dirty="0"/>
              <a:t>  Father of </a:t>
            </a:r>
            <a:r>
              <a:rPr lang="en-US" sz="3600" dirty="0"/>
              <a:t>modern chemistry=</a:t>
            </a:r>
            <a:r>
              <a:rPr lang="en-US" sz="3600" dirty="0" err="1"/>
              <a:t>Lavoisiye</a:t>
            </a:r>
            <a:endParaRPr lang="en-US" sz="2400" dirty="0"/>
          </a:p>
          <a:p>
            <a:r>
              <a:rPr lang="en-US" sz="2400" dirty="0"/>
              <a:t>  Father of </a:t>
            </a:r>
            <a:r>
              <a:rPr lang="en-US" sz="3200" dirty="0"/>
              <a:t>chemistry</a:t>
            </a:r>
            <a:r>
              <a:rPr lang="en-US" sz="2800" dirty="0"/>
              <a:t>=</a:t>
            </a:r>
            <a:r>
              <a:rPr lang="en-US" sz="3200" dirty="0" err="1"/>
              <a:t>Jabar</a:t>
            </a:r>
            <a:r>
              <a:rPr lang="en-US" sz="3200" dirty="0"/>
              <a:t> Bin </a:t>
            </a:r>
            <a:r>
              <a:rPr lang="en-US" sz="3200" dirty="0" err="1"/>
              <a:t>Hayan</a:t>
            </a:r>
            <a:r>
              <a:rPr lang="en-US" sz="3200" dirty="0"/>
              <a:t>/</a:t>
            </a:r>
            <a:r>
              <a:rPr lang="en-US" sz="3200" dirty="0" err="1"/>
              <a:t>Ibn</a:t>
            </a:r>
            <a:r>
              <a:rPr lang="en-US" sz="3200" dirty="0"/>
              <a:t> </a:t>
            </a:r>
            <a:r>
              <a:rPr lang="en-US" sz="3200" dirty="0" err="1"/>
              <a:t>Sina</a:t>
            </a:r>
            <a:endParaRPr lang="en-US" sz="2400" dirty="0"/>
          </a:p>
          <a:p>
            <a:r>
              <a:rPr lang="en-US" sz="2400" dirty="0"/>
              <a:t>  Father of </a:t>
            </a:r>
            <a:r>
              <a:rPr lang="en-US" sz="3200" dirty="0" err="1"/>
              <a:t>Orgnic</a:t>
            </a:r>
            <a:r>
              <a:rPr lang="en-US" sz="3200" dirty="0"/>
              <a:t> chemistry= </a:t>
            </a:r>
            <a:r>
              <a:rPr lang="en-US" sz="3200" dirty="0" err="1"/>
              <a:t>Wohlar</a:t>
            </a:r>
            <a:r>
              <a:rPr lang="en-US" sz="3200" dirty="0"/>
              <a:t>/Robert </a:t>
            </a:r>
            <a:r>
              <a:rPr lang="en-US" sz="3200" dirty="0" err="1"/>
              <a:t>Kekule</a:t>
            </a:r>
            <a:endParaRPr lang="en-US" sz="2400" dirty="0"/>
          </a:p>
          <a:p>
            <a:r>
              <a:rPr lang="en-US" sz="2000" dirty="0"/>
              <a:t>  Father of </a:t>
            </a:r>
            <a:r>
              <a:rPr lang="en-US" sz="2800" dirty="0"/>
              <a:t>Stereo chemistry=</a:t>
            </a:r>
            <a:r>
              <a:rPr lang="en-US" sz="2800" dirty="0" err="1"/>
              <a:t>Vant</a:t>
            </a:r>
            <a:r>
              <a:rPr lang="en-US" sz="2800" dirty="0"/>
              <a:t> Hoff </a:t>
            </a:r>
            <a:r>
              <a:rPr lang="en-US" sz="2000" dirty="0"/>
              <a:t>(1</a:t>
            </a:r>
            <a:r>
              <a:rPr lang="en-US" sz="2000" baseline="30000" dirty="0"/>
              <a:t>st  </a:t>
            </a:r>
            <a:r>
              <a:rPr lang="en-US" sz="2000" dirty="0"/>
              <a:t>Nobel prize=1901</a:t>
            </a:r>
            <a:r>
              <a:rPr lang="en-US" sz="1600"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219200" y="1295400"/>
            <a:ext cx="7086600" cy="5724644"/>
          </a:xfrm>
          <a:prstGeom prst="rect">
            <a:avLst/>
          </a:prstGeom>
          <a:noFill/>
        </p:spPr>
        <p:txBody>
          <a:bodyPr wrap="square" rtlCol="0">
            <a:spAutoFit/>
          </a:bodyPr>
          <a:lstStyle/>
          <a:p>
            <a:pPr marL="457200" indent="-457200">
              <a:buFont typeface="+mj-lt"/>
              <a:buAutoNum type="arabicPeriod"/>
            </a:pPr>
            <a:r>
              <a:rPr lang="en-US" sz="2800" dirty="0">
                <a:solidFill>
                  <a:srgbClr val="7030A0"/>
                </a:solidFill>
                <a:latin typeface="Times New Roman" pitchFamily="18" charset="0"/>
                <a:cs typeface="Times New Roman" pitchFamily="18" charset="0"/>
              </a:rPr>
              <a:t>Atomic structure:</a:t>
            </a:r>
          </a:p>
          <a:p>
            <a:pPr marL="457200" indent="-457200">
              <a:buFont typeface="+mj-lt"/>
              <a:buAutoNum type="arabicPeriod"/>
            </a:pPr>
            <a:r>
              <a:rPr lang="en-US" sz="2000" dirty="0">
                <a:latin typeface="Times New Roman" pitchFamily="18" charset="0"/>
                <a:cs typeface="Times New Roman" pitchFamily="18" charset="0"/>
              </a:rPr>
              <a:t>Periodic classification of elements:</a:t>
            </a:r>
          </a:p>
          <a:p>
            <a:pPr marL="457200" indent="-457200">
              <a:buFont typeface="+mj-lt"/>
              <a:buAutoNum type="arabicPeriod"/>
            </a:pPr>
            <a:r>
              <a:rPr lang="en-US" sz="2400" dirty="0">
                <a:solidFill>
                  <a:srgbClr val="7030A0"/>
                </a:solidFill>
                <a:latin typeface="Times New Roman" pitchFamily="18" charset="0"/>
                <a:cs typeface="Times New Roman" pitchFamily="18" charset="0"/>
              </a:rPr>
              <a:t>Group chemistry of element</a:t>
            </a:r>
            <a:r>
              <a:rPr lang="en-US" sz="2000" dirty="0">
                <a:solidFill>
                  <a:srgbClr val="7030A0"/>
                </a:solidFill>
                <a:latin typeface="Times New Roman" pitchFamily="18" charset="0"/>
                <a:cs typeface="Times New Roman" pitchFamily="18" charset="0"/>
              </a:rPr>
              <a:t>s</a:t>
            </a:r>
            <a:r>
              <a:rPr lang="en-US" sz="2000" dirty="0">
                <a:latin typeface="Times New Roman" pitchFamily="18" charset="0"/>
                <a:cs typeface="Times New Roman" pitchFamily="18" charset="0"/>
              </a:rPr>
              <a:t>:</a:t>
            </a:r>
          </a:p>
          <a:p>
            <a:pPr marL="457200" indent="-457200">
              <a:buFont typeface="+mj-lt"/>
              <a:buAutoNum type="arabicPeriod"/>
            </a:pPr>
            <a:r>
              <a:rPr lang="en-US" sz="2400" dirty="0">
                <a:solidFill>
                  <a:srgbClr val="7030A0"/>
                </a:solidFill>
                <a:latin typeface="Times New Roman" pitchFamily="18" charset="0"/>
                <a:cs typeface="Times New Roman" pitchFamily="18" charset="0"/>
              </a:rPr>
              <a:t>Chemical bonds</a:t>
            </a:r>
            <a:r>
              <a:rPr lang="en-US" sz="2000" dirty="0">
                <a:solidFill>
                  <a:srgbClr val="7030A0"/>
                </a:solidFill>
                <a:latin typeface="Times New Roman" pitchFamily="18" charset="0"/>
                <a:cs typeface="Times New Roman" pitchFamily="18" charset="0"/>
              </a:rPr>
              <a:t>: </a:t>
            </a:r>
          </a:p>
          <a:p>
            <a:pPr marL="457200" indent="-457200">
              <a:buFont typeface="+mj-lt"/>
              <a:buAutoNum type="arabicPeriod"/>
            </a:pPr>
            <a:r>
              <a:rPr lang="en-US" sz="2400" dirty="0">
                <a:solidFill>
                  <a:srgbClr val="7030A0"/>
                </a:solidFill>
                <a:latin typeface="Times New Roman" pitchFamily="18" charset="0"/>
                <a:cs typeface="Times New Roman" pitchFamily="18" charset="0"/>
              </a:rPr>
              <a:t>Oxidation-Reduction reaction:</a:t>
            </a:r>
          </a:p>
          <a:p>
            <a:pPr marL="457200" indent="-457200">
              <a:buFont typeface="+mj-lt"/>
              <a:buAutoNum type="arabicPeriod"/>
            </a:pPr>
            <a:r>
              <a:rPr lang="en-US" sz="2000" dirty="0">
                <a:latin typeface="Times New Roman" pitchFamily="18" charset="0"/>
                <a:cs typeface="Times New Roman" pitchFamily="18" charset="0"/>
              </a:rPr>
              <a:t>Acids and Bases: </a:t>
            </a:r>
          </a:p>
          <a:p>
            <a:pPr marL="457200" indent="-457200">
              <a:buFont typeface="+mj-lt"/>
              <a:buAutoNum type="arabicPeriod"/>
            </a:pPr>
            <a:r>
              <a:rPr lang="en-US" sz="2000" dirty="0">
                <a:latin typeface="Times New Roman" pitchFamily="18" charset="0"/>
                <a:cs typeface="Times New Roman" pitchFamily="18" charset="0"/>
              </a:rPr>
              <a:t>Basic Concept of Organic Chemistry:</a:t>
            </a:r>
          </a:p>
          <a:p>
            <a:pPr marL="457200" indent="-457200">
              <a:buFont typeface="+mj-lt"/>
              <a:buAutoNum type="arabicPeriod"/>
            </a:pPr>
            <a:r>
              <a:rPr lang="en-US" sz="2400" dirty="0">
                <a:solidFill>
                  <a:srgbClr val="7030A0"/>
                </a:solidFill>
                <a:latin typeface="Times New Roman" pitchFamily="18" charset="0"/>
                <a:cs typeface="Times New Roman" pitchFamily="18" charset="0"/>
              </a:rPr>
              <a:t>Gaseous State</a:t>
            </a:r>
            <a:r>
              <a:rPr lang="en-US" sz="2400" dirty="0">
                <a:latin typeface="Times New Roman" pitchFamily="18" charset="0"/>
                <a:cs typeface="Times New Roman" pitchFamily="18" charset="0"/>
              </a:rPr>
              <a:t>:</a:t>
            </a:r>
          </a:p>
          <a:p>
            <a:pPr marL="457200" indent="-457200">
              <a:buFont typeface="+mj-lt"/>
              <a:buAutoNum type="arabicPeriod"/>
            </a:pPr>
            <a:r>
              <a:rPr lang="en-US" sz="2000" dirty="0">
                <a:latin typeface="Times New Roman" pitchFamily="18" charset="0"/>
                <a:cs typeface="Times New Roman" pitchFamily="18" charset="0"/>
              </a:rPr>
              <a:t>Liquid state: </a:t>
            </a:r>
          </a:p>
          <a:p>
            <a:pPr marL="457200" indent="-457200">
              <a:buFont typeface="+mj-lt"/>
              <a:buAutoNum type="arabicPeriod"/>
            </a:pPr>
            <a:r>
              <a:rPr lang="en-US" sz="2000" dirty="0">
                <a:latin typeface="Times New Roman" pitchFamily="18" charset="0"/>
                <a:cs typeface="Times New Roman" pitchFamily="18" charset="0"/>
              </a:rPr>
              <a:t>Thermodynamics and Thermo chemistry:</a:t>
            </a:r>
          </a:p>
          <a:p>
            <a:pPr marL="457200" indent="-457200">
              <a:buFont typeface="+mj-lt"/>
              <a:buAutoNum type="arabicPeriod"/>
            </a:pPr>
            <a:r>
              <a:rPr lang="en-US" sz="2000" dirty="0">
                <a:latin typeface="Times New Roman" pitchFamily="18" charset="0"/>
                <a:cs typeface="Times New Roman" pitchFamily="18" charset="0"/>
              </a:rPr>
              <a:t>Solutions:</a:t>
            </a:r>
          </a:p>
          <a:p>
            <a:pPr marL="457200" indent="-457200">
              <a:buFont typeface="+mj-lt"/>
              <a:buAutoNum type="arabicPeriod"/>
            </a:pPr>
            <a:r>
              <a:rPr lang="en-US" sz="2000" dirty="0" err="1">
                <a:latin typeface="Times New Roman" pitchFamily="18" charset="0"/>
                <a:cs typeface="Times New Roman" pitchFamily="18" charset="0"/>
              </a:rPr>
              <a:t>Colligative</a:t>
            </a:r>
            <a:r>
              <a:rPr lang="en-US" sz="2000" dirty="0">
                <a:latin typeface="Times New Roman" pitchFamily="18" charset="0"/>
                <a:cs typeface="Times New Roman" pitchFamily="18" charset="0"/>
              </a:rPr>
              <a:t> properties of solutions:</a:t>
            </a:r>
          </a:p>
          <a:p>
            <a:pPr marL="457200" indent="-457200">
              <a:buFont typeface="+mj-lt"/>
              <a:buAutoNum type="arabicPeriod"/>
            </a:pPr>
            <a:r>
              <a:rPr lang="en-US" sz="2400" dirty="0">
                <a:solidFill>
                  <a:srgbClr val="7030A0"/>
                </a:solidFill>
                <a:latin typeface="Times New Roman" pitchFamily="18" charset="0"/>
                <a:cs typeface="Times New Roman" pitchFamily="18" charset="0"/>
              </a:rPr>
              <a:t>Electrochemistry:</a:t>
            </a:r>
          </a:p>
          <a:p>
            <a:pPr marL="457200" indent="-457200">
              <a:buFont typeface="+mj-lt"/>
              <a:buAutoNum type="arabicPeriod"/>
            </a:pPr>
            <a:r>
              <a:rPr lang="en-US" sz="2400" dirty="0">
                <a:solidFill>
                  <a:srgbClr val="7030A0"/>
                </a:solidFill>
                <a:latin typeface="Times New Roman" pitchFamily="18" charset="0"/>
                <a:cs typeface="Times New Roman" pitchFamily="18" charset="0"/>
              </a:rPr>
              <a:t>Chemical Equilibrium</a:t>
            </a:r>
            <a:r>
              <a:rPr lang="en-US" sz="2000" dirty="0">
                <a:latin typeface="Times New Roman" pitchFamily="18" charset="0"/>
                <a:cs typeface="Times New Roman" pitchFamily="18" charset="0"/>
              </a:rPr>
              <a:t>: </a:t>
            </a:r>
          </a:p>
          <a:p>
            <a:r>
              <a:rPr lang="en-US" dirty="0"/>
              <a:t> </a:t>
            </a:r>
          </a:p>
          <a:p>
            <a:endParaRPr lang="en-US" b="1" dirty="0"/>
          </a:p>
          <a:p>
            <a:endParaRPr lang="en-US" dirty="0"/>
          </a:p>
        </p:txBody>
      </p:sp>
      <p:sp>
        <p:nvSpPr>
          <p:cNvPr id="7" name="TextBox 6"/>
          <p:cNvSpPr txBox="1"/>
          <p:nvPr/>
        </p:nvSpPr>
        <p:spPr>
          <a:xfrm>
            <a:off x="838200" y="0"/>
            <a:ext cx="7924800" cy="923330"/>
          </a:xfrm>
          <a:prstGeom prst="rect">
            <a:avLst/>
          </a:prstGeom>
          <a:noFill/>
        </p:spPr>
        <p:txBody>
          <a:bodyPr wrap="square" rtlCol="0">
            <a:spAutoFit/>
          </a:bodyPr>
          <a:lstStyle/>
          <a:p>
            <a:pPr algn="ctr"/>
            <a:r>
              <a:rPr lang="en-US" sz="5400" b="1" u="sng" dirty="0">
                <a:solidFill>
                  <a:srgbClr val="7030A0"/>
                </a:solidFill>
                <a:latin typeface="Times New Roman" pitchFamily="18" charset="0"/>
                <a:cs typeface="Times New Roman" pitchFamily="18" charset="0"/>
              </a:rPr>
              <a:t>Contents of Syllabus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amond(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47800" y="0"/>
            <a:ext cx="8001000" cy="1015663"/>
          </a:xfrm>
          <a:prstGeom prst="rect">
            <a:avLst/>
          </a:prstGeom>
          <a:noFill/>
        </p:spPr>
        <p:txBody>
          <a:bodyPr wrap="square" rtlCol="0">
            <a:spAutoFit/>
          </a:bodyPr>
          <a:lstStyle/>
          <a:p>
            <a:r>
              <a:rPr lang="en-US" sz="6000" b="1" u="sng" dirty="0">
                <a:ln>
                  <a:solidFill>
                    <a:schemeClr val="tx1"/>
                  </a:solidFill>
                </a:ln>
                <a:solidFill>
                  <a:srgbClr val="00B050"/>
                </a:solidFill>
              </a:rPr>
              <a:t>Atomic Structure</a:t>
            </a:r>
          </a:p>
        </p:txBody>
      </p:sp>
      <p:sp>
        <p:nvSpPr>
          <p:cNvPr id="6" name="TextBox 5"/>
          <p:cNvSpPr txBox="1"/>
          <p:nvPr/>
        </p:nvSpPr>
        <p:spPr>
          <a:xfrm>
            <a:off x="0" y="990600"/>
            <a:ext cx="4953000" cy="461665"/>
          </a:xfrm>
          <a:prstGeom prst="rect">
            <a:avLst/>
          </a:prstGeom>
          <a:noFill/>
        </p:spPr>
        <p:txBody>
          <a:bodyPr wrap="square" rtlCol="0">
            <a:spAutoFit/>
          </a:bodyPr>
          <a:lstStyle/>
          <a:p>
            <a:r>
              <a:rPr lang="en-US" sz="2400" dirty="0"/>
              <a:t>The  Atom (The atomic  theory) </a:t>
            </a:r>
          </a:p>
        </p:txBody>
      </p:sp>
      <p:sp>
        <p:nvSpPr>
          <p:cNvPr id="7" name="Flowchart: Process 6"/>
          <p:cNvSpPr/>
          <p:nvPr/>
        </p:nvSpPr>
        <p:spPr>
          <a:xfrm>
            <a:off x="1752600" y="1447800"/>
            <a:ext cx="6477000" cy="8382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Leucippus  + Democritus (2500 B.C )</a:t>
            </a:r>
          </a:p>
          <a:p>
            <a:pPr algn="ctr"/>
            <a:r>
              <a:rPr lang="en-US" dirty="0"/>
              <a:t>Matter is constructed of ultimately indivisible particles</a:t>
            </a:r>
          </a:p>
        </p:txBody>
      </p:sp>
      <p:sp>
        <p:nvSpPr>
          <p:cNvPr id="8" name="Down Arrow 7"/>
          <p:cNvSpPr/>
          <p:nvPr/>
        </p:nvSpPr>
        <p:spPr>
          <a:xfrm>
            <a:off x="5029200" y="2286000"/>
            <a:ext cx="484632" cy="5974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Process 8"/>
          <p:cNvSpPr/>
          <p:nvPr/>
        </p:nvSpPr>
        <p:spPr>
          <a:xfrm>
            <a:off x="990600" y="2895600"/>
            <a:ext cx="7924800" cy="53644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Democritus named it </a:t>
            </a:r>
            <a:r>
              <a:rPr lang="en-US" sz="2800" dirty="0" err="1"/>
              <a:t>atoma</a:t>
            </a:r>
            <a:r>
              <a:rPr lang="en-US" sz="2800" dirty="0"/>
              <a:t> (a=not +</a:t>
            </a:r>
            <a:r>
              <a:rPr lang="en-US" sz="2800" dirty="0" err="1"/>
              <a:t>toma</a:t>
            </a:r>
            <a:r>
              <a:rPr lang="en-US" sz="2800" dirty="0"/>
              <a:t>=to cut </a:t>
            </a:r>
            <a:r>
              <a:rPr lang="en-US" dirty="0"/>
              <a:t>)</a:t>
            </a:r>
          </a:p>
        </p:txBody>
      </p:sp>
      <p:sp>
        <p:nvSpPr>
          <p:cNvPr id="10" name="Flowchart: Process 9"/>
          <p:cNvSpPr/>
          <p:nvPr/>
        </p:nvSpPr>
        <p:spPr>
          <a:xfrm>
            <a:off x="990600" y="3886200"/>
            <a:ext cx="7543800" cy="7620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Aristotle</a:t>
            </a:r>
            <a:r>
              <a:rPr lang="en-US" dirty="0"/>
              <a:t> (opposed and dominated )</a:t>
            </a:r>
          </a:p>
          <a:p>
            <a:pPr algn="ctr"/>
            <a:r>
              <a:rPr lang="en-US" dirty="0"/>
              <a:t>Matter is continuous and that there is no limit of it’s subdivision</a:t>
            </a:r>
          </a:p>
        </p:txBody>
      </p:sp>
      <p:sp>
        <p:nvSpPr>
          <p:cNvPr id="11" name="Down Arrow 10"/>
          <p:cNvSpPr/>
          <p:nvPr/>
        </p:nvSpPr>
        <p:spPr>
          <a:xfrm>
            <a:off x="5029200" y="3429000"/>
            <a:ext cx="533400" cy="521208"/>
          </a:xfrm>
          <a:prstGeom prst="downArrow">
            <a:avLst>
              <a:gd name="adj1" fmla="val 37827"/>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p:cNvSpPr/>
          <p:nvPr/>
        </p:nvSpPr>
        <p:spPr>
          <a:xfrm>
            <a:off x="5029200" y="4648200"/>
            <a:ext cx="484632" cy="4450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Process 12"/>
          <p:cNvSpPr/>
          <p:nvPr/>
        </p:nvSpPr>
        <p:spPr>
          <a:xfrm>
            <a:off x="1066800" y="5105400"/>
            <a:ext cx="7543800" cy="91744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Completely discarded by John Dalton(1803)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57200" y="152400"/>
            <a:ext cx="8153400" cy="923330"/>
          </a:xfrm>
          <a:prstGeom prst="rect">
            <a:avLst/>
          </a:prstGeom>
          <a:noFill/>
        </p:spPr>
        <p:txBody>
          <a:bodyPr wrap="square" rtlCol="0">
            <a:spAutoFit/>
          </a:bodyPr>
          <a:lstStyle/>
          <a:p>
            <a:r>
              <a:rPr lang="en-US" sz="5400" b="1" u="sng" dirty="0"/>
              <a:t>Dalton’s Atomic Theory</a:t>
            </a:r>
          </a:p>
        </p:txBody>
      </p:sp>
      <p:sp>
        <p:nvSpPr>
          <p:cNvPr id="6" name="TextBox 5"/>
          <p:cNvSpPr txBox="1"/>
          <p:nvPr/>
        </p:nvSpPr>
        <p:spPr>
          <a:xfrm>
            <a:off x="1371600" y="1066800"/>
            <a:ext cx="6248400" cy="461665"/>
          </a:xfrm>
          <a:prstGeom prst="rect">
            <a:avLst/>
          </a:prstGeom>
          <a:noFill/>
        </p:spPr>
        <p:txBody>
          <a:bodyPr wrap="square" rtlCol="0">
            <a:spAutoFit/>
          </a:bodyPr>
          <a:lstStyle/>
          <a:p>
            <a:r>
              <a:rPr lang="en-US" sz="2400" dirty="0"/>
              <a:t>(Atom=can not be cut =indivisible)</a:t>
            </a:r>
          </a:p>
        </p:txBody>
      </p:sp>
      <p:sp>
        <p:nvSpPr>
          <p:cNvPr id="7" name="Right Arrow 6"/>
          <p:cNvSpPr/>
          <p:nvPr/>
        </p:nvSpPr>
        <p:spPr>
          <a:xfrm>
            <a:off x="838200" y="1676400"/>
            <a:ext cx="685800" cy="3322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524000" y="1524000"/>
            <a:ext cx="5638800" cy="584775"/>
          </a:xfrm>
          <a:prstGeom prst="rect">
            <a:avLst/>
          </a:prstGeom>
          <a:noFill/>
        </p:spPr>
        <p:txBody>
          <a:bodyPr wrap="square" rtlCol="0">
            <a:spAutoFit/>
          </a:bodyPr>
          <a:lstStyle/>
          <a:p>
            <a:r>
              <a:rPr lang="en-US" sz="2400" dirty="0"/>
              <a:t>Constructed </a:t>
            </a:r>
            <a:r>
              <a:rPr lang="en-US" sz="3200" dirty="0"/>
              <a:t>by</a:t>
            </a:r>
            <a:r>
              <a:rPr lang="en-US" sz="2400" dirty="0"/>
              <a:t> small particle =atom</a:t>
            </a:r>
          </a:p>
        </p:txBody>
      </p:sp>
      <p:sp>
        <p:nvSpPr>
          <p:cNvPr id="9" name="Left Arrow 8"/>
          <p:cNvSpPr/>
          <p:nvPr/>
        </p:nvSpPr>
        <p:spPr>
          <a:xfrm rot="10800000">
            <a:off x="838200" y="2286000"/>
            <a:ext cx="749808" cy="3322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828800" y="2819400"/>
            <a:ext cx="152400" cy="369332"/>
          </a:xfrm>
          <a:prstGeom prst="rect">
            <a:avLst/>
          </a:prstGeom>
          <a:noFill/>
        </p:spPr>
        <p:txBody>
          <a:bodyPr wrap="square" rtlCol="0">
            <a:spAutoFit/>
          </a:bodyPr>
          <a:lstStyle/>
          <a:p>
            <a:endParaRPr lang="en-US" dirty="0"/>
          </a:p>
        </p:txBody>
      </p:sp>
      <p:sp>
        <p:nvSpPr>
          <p:cNvPr id="11" name="TextBox 10"/>
          <p:cNvSpPr txBox="1"/>
          <p:nvPr/>
        </p:nvSpPr>
        <p:spPr>
          <a:xfrm>
            <a:off x="1600200" y="2133600"/>
            <a:ext cx="6248400" cy="584775"/>
          </a:xfrm>
          <a:prstGeom prst="rect">
            <a:avLst/>
          </a:prstGeom>
          <a:noFill/>
        </p:spPr>
        <p:txBody>
          <a:bodyPr wrap="square" rtlCol="0">
            <a:spAutoFit/>
          </a:bodyPr>
          <a:lstStyle/>
          <a:p>
            <a:r>
              <a:rPr lang="en-US" sz="3200" dirty="0"/>
              <a:t>Properties</a:t>
            </a:r>
            <a:r>
              <a:rPr lang="en-US" sz="2400" dirty="0"/>
              <a:t> +masses–same matter -similar</a:t>
            </a:r>
          </a:p>
        </p:txBody>
      </p:sp>
      <p:sp>
        <p:nvSpPr>
          <p:cNvPr id="14" name="Right Arrow 13"/>
          <p:cNvSpPr/>
          <p:nvPr/>
        </p:nvSpPr>
        <p:spPr>
          <a:xfrm>
            <a:off x="838200" y="2895600"/>
            <a:ext cx="838200" cy="3322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1676400" y="2819400"/>
            <a:ext cx="6858000" cy="461665"/>
          </a:xfrm>
          <a:prstGeom prst="rect">
            <a:avLst/>
          </a:prstGeom>
          <a:noFill/>
        </p:spPr>
        <p:txBody>
          <a:bodyPr wrap="square" rtlCol="0">
            <a:spAutoFit/>
          </a:bodyPr>
          <a:lstStyle/>
          <a:p>
            <a:r>
              <a:rPr lang="en-US" sz="2400" dirty="0"/>
              <a:t>Properties + masses-various particle - different</a:t>
            </a:r>
          </a:p>
        </p:txBody>
      </p:sp>
      <p:sp>
        <p:nvSpPr>
          <p:cNvPr id="16" name="Right Arrow 15"/>
          <p:cNvSpPr/>
          <p:nvPr/>
        </p:nvSpPr>
        <p:spPr>
          <a:xfrm>
            <a:off x="838200" y="3657600"/>
            <a:ext cx="749808"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1600200" y="3505200"/>
            <a:ext cx="6324600" cy="584775"/>
          </a:xfrm>
          <a:prstGeom prst="rect">
            <a:avLst/>
          </a:prstGeom>
          <a:noFill/>
        </p:spPr>
        <p:txBody>
          <a:bodyPr wrap="square" rtlCol="0">
            <a:spAutoFit/>
          </a:bodyPr>
          <a:lstStyle/>
          <a:p>
            <a:r>
              <a:rPr lang="en-US" sz="2400" dirty="0"/>
              <a:t>Indivisible + </a:t>
            </a:r>
            <a:r>
              <a:rPr lang="en-US" sz="3200" dirty="0"/>
              <a:t>no</a:t>
            </a:r>
            <a:r>
              <a:rPr lang="en-US" sz="2400" dirty="0"/>
              <a:t> losses </a:t>
            </a:r>
          </a:p>
        </p:txBody>
      </p:sp>
      <p:sp>
        <p:nvSpPr>
          <p:cNvPr id="19" name="Right Arrow 18"/>
          <p:cNvSpPr/>
          <p:nvPr/>
        </p:nvSpPr>
        <p:spPr>
          <a:xfrm>
            <a:off x="914400" y="4343400"/>
            <a:ext cx="749808"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1752600" y="4114800"/>
            <a:ext cx="6553200" cy="584775"/>
          </a:xfrm>
          <a:prstGeom prst="rect">
            <a:avLst/>
          </a:prstGeom>
          <a:noFill/>
        </p:spPr>
        <p:txBody>
          <a:bodyPr wrap="square" rtlCol="0">
            <a:spAutoFit/>
          </a:bodyPr>
          <a:lstStyle/>
          <a:p>
            <a:r>
              <a:rPr lang="en-US" sz="3200" dirty="0"/>
              <a:t>Combine-specific</a:t>
            </a:r>
            <a:r>
              <a:rPr lang="en-US" sz="2400" dirty="0"/>
              <a:t> ratios</a:t>
            </a:r>
          </a:p>
        </p:txBody>
      </p:sp>
      <p:sp>
        <p:nvSpPr>
          <p:cNvPr id="21" name="Right Arrow 20"/>
          <p:cNvSpPr/>
          <p:nvPr/>
        </p:nvSpPr>
        <p:spPr>
          <a:xfrm>
            <a:off x="914400" y="4953000"/>
            <a:ext cx="749808"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1905000" y="6172200"/>
            <a:ext cx="76200" cy="369332"/>
          </a:xfrm>
          <a:prstGeom prst="rect">
            <a:avLst/>
          </a:prstGeom>
          <a:noFill/>
        </p:spPr>
        <p:txBody>
          <a:bodyPr wrap="square" rtlCol="0">
            <a:spAutoFit/>
          </a:bodyPr>
          <a:lstStyle/>
          <a:p>
            <a:endParaRPr lang="en-US" dirty="0"/>
          </a:p>
        </p:txBody>
      </p:sp>
      <p:sp>
        <p:nvSpPr>
          <p:cNvPr id="23" name="TextBox 22"/>
          <p:cNvSpPr txBox="1"/>
          <p:nvPr/>
        </p:nvSpPr>
        <p:spPr>
          <a:xfrm>
            <a:off x="1676400" y="4800600"/>
            <a:ext cx="6172200" cy="523220"/>
          </a:xfrm>
          <a:prstGeom prst="rect">
            <a:avLst/>
          </a:prstGeom>
          <a:noFill/>
        </p:spPr>
        <p:txBody>
          <a:bodyPr wrap="square" rtlCol="0">
            <a:spAutoFit/>
          </a:bodyPr>
          <a:lstStyle/>
          <a:p>
            <a:r>
              <a:rPr lang="en-US" sz="2800" dirty="0"/>
              <a:t>Contribute – chemical reaction</a:t>
            </a:r>
          </a:p>
        </p:txBody>
      </p:sp>
      <p:sp>
        <p:nvSpPr>
          <p:cNvPr id="24" name="Right Arrow 23"/>
          <p:cNvSpPr/>
          <p:nvPr/>
        </p:nvSpPr>
        <p:spPr>
          <a:xfrm>
            <a:off x="914400" y="5486400"/>
            <a:ext cx="826008"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5" name="TextBox 24"/>
          <p:cNvSpPr txBox="1"/>
          <p:nvPr/>
        </p:nvSpPr>
        <p:spPr>
          <a:xfrm>
            <a:off x="1752600" y="5410200"/>
            <a:ext cx="6705600" cy="584775"/>
          </a:xfrm>
          <a:prstGeom prst="rect">
            <a:avLst/>
          </a:prstGeom>
          <a:noFill/>
        </p:spPr>
        <p:txBody>
          <a:bodyPr wrap="square" rtlCol="0">
            <a:spAutoFit/>
          </a:bodyPr>
          <a:lstStyle/>
          <a:p>
            <a:r>
              <a:rPr lang="en-US" sz="2400" dirty="0"/>
              <a:t>No </a:t>
            </a:r>
            <a:r>
              <a:rPr lang="en-US" sz="3200" dirty="0"/>
              <a:t>losses</a:t>
            </a:r>
            <a:r>
              <a:rPr lang="en-US" sz="2400" dirty="0"/>
              <a:t> / reproduce during reaction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304800"/>
            <a:ext cx="8763000" cy="461665"/>
          </a:xfrm>
          <a:prstGeom prst="rect">
            <a:avLst/>
          </a:prstGeom>
          <a:noFill/>
        </p:spPr>
        <p:txBody>
          <a:bodyPr wrap="square" rtlCol="0">
            <a:spAutoFit/>
          </a:bodyPr>
          <a:lstStyle/>
          <a:p>
            <a:r>
              <a:rPr lang="en-US" sz="2400" b="1" u="sng" dirty="0">
                <a:ln>
                  <a:solidFill>
                    <a:schemeClr val="accent6"/>
                  </a:solidFill>
                </a:ln>
              </a:rPr>
              <a:t>Limitations/Defects /Drawbacks </a:t>
            </a:r>
            <a:r>
              <a:rPr lang="en-US" b="1" u="sng" dirty="0"/>
              <a:t>of </a:t>
            </a:r>
            <a:r>
              <a:rPr lang="en-US" sz="2400" b="1" u="sng" dirty="0">
                <a:ln>
                  <a:solidFill>
                    <a:srgbClr val="C00000"/>
                  </a:solidFill>
                </a:ln>
              </a:rPr>
              <a:t>Dalton’s Atomic Theory</a:t>
            </a:r>
            <a:endParaRPr lang="en-US" b="1" u="sng" dirty="0">
              <a:ln>
                <a:solidFill>
                  <a:srgbClr val="C00000"/>
                </a:solidFill>
              </a:ln>
            </a:endParaRPr>
          </a:p>
        </p:txBody>
      </p:sp>
      <p:sp>
        <p:nvSpPr>
          <p:cNvPr id="5" name="Right Arrow 4"/>
          <p:cNvSpPr/>
          <p:nvPr/>
        </p:nvSpPr>
        <p:spPr>
          <a:xfrm>
            <a:off x="762000" y="12954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752600" y="1219200"/>
            <a:ext cx="6629400" cy="584775"/>
          </a:xfrm>
          <a:prstGeom prst="rect">
            <a:avLst/>
          </a:prstGeom>
          <a:noFill/>
        </p:spPr>
        <p:txBody>
          <a:bodyPr wrap="square" rtlCol="0">
            <a:spAutoFit/>
          </a:bodyPr>
          <a:lstStyle/>
          <a:p>
            <a:r>
              <a:rPr lang="en-US" sz="3200" dirty="0"/>
              <a:t>Divisible</a:t>
            </a:r>
            <a:endParaRPr lang="en-US" sz="2400" dirty="0"/>
          </a:p>
        </p:txBody>
      </p:sp>
      <p:sp>
        <p:nvSpPr>
          <p:cNvPr id="7" name="Right Arrow 6"/>
          <p:cNvSpPr/>
          <p:nvPr/>
        </p:nvSpPr>
        <p:spPr>
          <a:xfrm>
            <a:off x="762000" y="22098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752600" y="2133600"/>
            <a:ext cx="6629400" cy="584775"/>
          </a:xfrm>
          <a:prstGeom prst="rect">
            <a:avLst/>
          </a:prstGeom>
          <a:noFill/>
        </p:spPr>
        <p:txBody>
          <a:bodyPr wrap="square" rtlCol="0">
            <a:spAutoFit/>
          </a:bodyPr>
          <a:lstStyle/>
          <a:p>
            <a:r>
              <a:rPr lang="en-US" sz="2400" dirty="0"/>
              <a:t>Masses – same </a:t>
            </a:r>
            <a:r>
              <a:rPr lang="en-US" sz="3200" dirty="0"/>
              <a:t>matter</a:t>
            </a:r>
            <a:r>
              <a:rPr lang="en-US" sz="2400" dirty="0"/>
              <a:t> – may differ (</a:t>
            </a:r>
            <a:r>
              <a:rPr lang="en-US" sz="2400" dirty="0" err="1"/>
              <a:t>Isotop</a:t>
            </a:r>
            <a:r>
              <a:rPr lang="en-US" sz="2400" dirty="0"/>
              <a:t>)</a:t>
            </a:r>
          </a:p>
        </p:txBody>
      </p:sp>
      <p:sp>
        <p:nvSpPr>
          <p:cNvPr id="9" name="Right Arrow 8"/>
          <p:cNvSpPr/>
          <p:nvPr/>
        </p:nvSpPr>
        <p:spPr>
          <a:xfrm>
            <a:off x="762000" y="30480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752600" y="3048000"/>
            <a:ext cx="6705600" cy="584775"/>
          </a:xfrm>
          <a:prstGeom prst="rect">
            <a:avLst/>
          </a:prstGeom>
          <a:noFill/>
        </p:spPr>
        <p:txBody>
          <a:bodyPr wrap="square" rtlCol="0">
            <a:spAutoFit/>
          </a:bodyPr>
          <a:lstStyle/>
          <a:p>
            <a:r>
              <a:rPr lang="en-US" sz="3200" dirty="0"/>
              <a:t>Masses</a:t>
            </a:r>
            <a:r>
              <a:rPr lang="en-US" sz="2400" dirty="0"/>
              <a:t> – different matter – may same (Isobar)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0"/>
            <a:ext cx="7848600" cy="1015663"/>
          </a:xfrm>
          <a:prstGeom prst="rect">
            <a:avLst/>
          </a:prstGeom>
          <a:noFill/>
        </p:spPr>
        <p:txBody>
          <a:bodyPr wrap="square" rtlCol="0">
            <a:spAutoFit/>
          </a:bodyPr>
          <a:lstStyle/>
          <a:p>
            <a:pPr algn="ctr"/>
            <a:r>
              <a:rPr lang="en-US" sz="6000" b="1" u="sng" dirty="0" err="1"/>
              <a:t>Neuclear</a:t>
            </a:r>
            <a:r>
              <a:rPr lang="en-US" sz="6000" b="1" u="sng" dirty="0"/>
              <a:t> Charge</a:t>
            </a:r>
          </a:p>
        </p:txBody>
      </p:sp>
      <p:sp>
        <p:nvSpPr>
          <p:cNvPr id="5" name="TextBox 4"/>
          <p:cNvSpPr txBox="1"/>
          <p:nvPr/>
        </p:nvSpPr>
        <p:spPr>
          <a:xfrm>
            <a:off x="0" y="990600"/>
            <a:ext cx="9448800" cy="461665"/>
          </a:xfrm>
          <a:prstGeom prst="rect">
            <a:avLst/>
          </a:prstGeom>
          <a:noFill/>
        </p:spPr>
        <p:txBody>
          <a:bodyPr wrap="square" rtlCol="0">
            <a:spAutoFit/>
          </a:bodyPr>
          <a:lstStyle/>
          <a:p>
            <a:r>
              <a:rPr lang="en-US" sz="2000" dirty="0"/>
              <a:t>The nuclear charge is the total charge of all the </a:t>
            </a:r>
            <a:r>
              <a:rPr lang="en-US" sz="2400" dirty="0"/>
              <a:t>Protons </a:t>
            </a:r>
            <a:r>
              <a:rPr lang="en-US" sz="2000" dirty="0"/>
              <a:t>in the nucleus</a:t>
            </a:r>
            <a:r>
              <a:rPr lang="en-US" dirty="0"/>
              <a:t>.</a:t>
            </a:r>
          </a:p>
        </p:txBody>
      </p:sp>
      <p:sp>
        <p:nvSpPr>
          <p:cNvPr id="6" name="TextBox 5"/>
          <p:cNvSpPr txBox="1"/>
          <p:nvPr/>
        </p:nvSpPr>
        <p:spPr>
          <a:xfrm>
            <a:off x="304800" y="1524000"/>
            <a:ext cx="8153400" cy="584775"/>
          </a:xfrm>
          <a:prstGeom prst="rect">
            <a:avLst/>
          </a:prstGeom>
          <a:noFill/>
        </p:spPr>
        <p:txBody>
          <a:bodyPr wrap="square" rtlCol="0">
            <a:spAutoFit/>
          </a:bodyPr>
          <a:lstStyle/>
          <a:p>
            <a:r>
              <a:rPr lang="en-US" sz="3200" dirty="0"/>
              <a:t>It has the same value as the atomic number.</a:t>
            </a:r>
          </a:p>
        </p:txBody>
      </p:sp>
      <p:sp>
        <p:nvSpPr>
          <p:cNvPr id="7" name="TextBox 6"/>
          <p:cNvSpPr txBox="1"/>
          <p:nvPr/>
        </p:nvSpPr>
        <p:spPr>
          <a:xfrm>
            <a:off x="152400" y="2971800"/>
            <a:ext cx="8686800" cy="923330"/>
          </a:xfrm>
          <a:prstGeom prst="rect">
            <a:avLst/>
          </a:prstGeom>
          <a:noFill/>
          <a:ln>
            <a:solidFill>
              <a:srgbClr val="7030A0"/>
            </a:solidFill>
          </a:ln>
        </p:spPr>
        <p:txBody>
          <a:bodyPr wrap="square" rtlCol="0" anchor="ctr">
            <a:spAutoFit/>
          </a:bodyPr>
          <a:lstStyle/>
          <a:p>
            <a:pPr algn="ctr"/>
            <a:r>
              <a:rPr lang="en-US" sz="5400" b="1" u="sng" dirty="0"/>
              <a:t>Effective Nuclear Charge</a:t>
            </a:r>
          </a:p>
        </p:txBody>
      </p:sp>
      <p:sp>
        <p:nvSpPr>
          <p:cNvPr id="8" name="TextBox 7"/>
          <p:cNvSpPr txBox="1"/>
          <p:nvPr/>
        </p:nvSpPr>
        <p:spPr>
          <a:xfrm>
            <a:off x="381000" y="4191000"/>
            <a:ext cx="8153400" cy="2062103"/>
          </a:xfrm>
          <a:prstGeom prst="rect">
            <a:avLst/>
          </a:prstGeom>
          <a:noFill/>
        </p:spPr>
        <p:txBody>
          <a:bodyPr wrap="square" rtlCol="0">
            <a:spAutoFit/>
          </a:bodyPr>
          <a:lstStyle/>
          <a:p>
            <a:r>
              <a:rPr lang="en-US" sz="3200" dirty="0"/>
              <a:t>Effective nuclear charge is the charge felt by the valence electrons after we have taken into account the number of shielding electrons that surround the nucleus.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0"/>
            <a:ext cx="8229600" cy="1107996"/>
          </a:xfrm>
          <a:prstGeom prst="rect">
            <a:avLst/>
          </a:prstGeom>
          <a:noFill/>
        </p:spPr>
        <p:txBody>
          <a:bodyPr wrap="square" rtlCol="0">
            <a:spAutoFit/>
          </a:bodyPr>
          <a:lstStyle/>
          <a:p>
            <a:pPr algn="ctr"/>
            <a:r>
              <a:rPr lang="en-US" sz="6600" b="1" u="sng" dirty="0">
                <a:solidFill>
                  <a:srgbClr val="FF0000"/>
                </a:solidFill>
              </a:rPr>
              <a:t>Atomic Number</a:t>
            </a:r>
          </a:p>
        </p:txBody>
      </p:sp>
      <p:sp>
        <p:nvSpPr>
          <p:cNvPr id="5" name="TextBox 4"/>
          <p:cNvSpPr txBox="1"/>
          <p:nvPr/>
        </p:nvSpPr>
        <p:spPr>
          <a:xfrm>
            <a:off x="0" y="1447800"/>
            <a:ext cx="8915400" cy="1015663"/>
          </a:xfrm>
          <a:prstGeom prst="rect">
            <a:avLst/>
          </a:prstGeom>
          <a:noFill/>
        </p:spPr>
        <p:txBody>
          <a:bodyPr wrap="square" rtlCol="0">
            <a:spAutoFit/>
          </a:bodyPr>
          <a:lstStyle/>
          <a:p>
            <a:r>
              <a:rPr lang="en-US" sz="2000" b="1" dirty="0"/>
              <a:t>Atomic number(Z) =no. of unit positive charges in the nucleus(nuclear charge)</a:t>
            </a:r>
          </a:p>
          <a:p>
            <a:r>
              <a:rPr lang="en-US" sz="2000" b="1" dirty="0"/>
              <a:t>                                =no. of protons in the nucleus(P).</a:t>
            </a:r>
          </a:p>
          <a:p>
            <a:r>
              <a:rPr lang="en-US" sz="2000" b="1" dirty="0"/>
              <a:t>                                =no. of electrons revolving in orbits(e-)</a:t>
            </a:r>
          </a:p>
        </p:txBody>
      </p:sp>
      <p:sp>
        <p:nvSpPr>
          <p:cNvPr id="6" name="Flowchart: Process 5"/>
          <p:cNvSpPr/>
          <p:nvPr/>
        </p:nvSpPr>
        <p:spPr>
          <a:xfrm>
            <a:off x="1905000" y="2971800"/>
            <a:ext cx="4572000" cy="61264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t>Z = P = e</a:t>
            </a:r>
          </a:p>
        </p:txBody>
      </p:sp>
      <p:sp>
        <p:nvSpPr>
          <p:cNvPr id="7" name="TextBox 6"/>
          <p:cNvSpPr txBox="1"/>
          <p:nvPr/>
        </p:nvSpPr>
        <p:spPr>
          <a:xfrm>
            <a:off x="0" y="4267200"/>
            <a:ext cx="9144000" cy="1384995"/>
          </a:xfrm>
          <a:prstGeom prst="rect">
            <a:avLst/>
          </a:prstGeom>
          <a:noFill/>
        </p:spPr>
        <p:txBody>
          <a:bodyPr wrap="square" rtlCol="0">
            <a:spAutoFit/>
          </a:bodyPr>
          <a:lstStyle/>
          <a:p>
            <a:r>
              <a:rPr lang="en-US" sz="2800" dirty="0"/>
              <a:t>The serial number of elements of  it’s position in the periodic table starting from hydrogen(H) as the first element.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304800"/>
            <a:ext cx="9144000" cy="523220"/>
          </a:xfrm>
          <a:prstGeom prst="rect">
            <a:avLst/>
          </a:prstGeom>
          <a:noFill/>
        </p:spPr>
        <p:txBody>
          <a:bodyPr wrap="square" rtlCol="0">
            <a:spAutoFit/>
          </a:bodyPr>
          <a:lstStyle/>
          <a:p>
            <a:r>
              <a:rPr lang="en-US" sz="2800" u="sng" dirty="0">
                <a:ln>
                  <a:solidFill>
                    <a:schemeClr val="tx1"/>
                  </a:solidFill>
                </a:ln>
              </a:rPr>
              <a:t>Rutherford’s ∞-particle Scattering </a:t>
            </a:r>
            <a:r>
              <a:rPr lang="en-US" sz="2800" u="sng" dirty="0" err="1">
                <a:ln>
                  <a:solidFill>
                    <a:schemeClr val="tx1"/>
                  </a:solidFill>
                </a:ln>
              </a:rPr>
              <a:t>Experment</a:t>
            </a:r>
            <a:r>
              <a:rPr lang="en-US" dirty="0"/>
              <a:t>(Discovery of nucleus ) </a:t>
            </a:r>
          </a:p>
        </p:txBody>
      </p:sp>
      <p:pic>
        <p:nvPicPr>
          <p:cNvPr id="5" name="10.1.1a Rutherford's Atomic model.mp4">
            <a:hlinkClick r:id="" action="ppaction://media"/>
          </p:cNvPr>
          <p:cNvPicPr>
            <a:picLocks noRot="1" noChangeAspect="1"/>
          </p:cNvPicPr>
          <p:nvPr>
            <a:videoFile r:link="rId1"/>
          </p:nvPr>
        </p:nvPicPr>
        <p:blipFill>
          <a:blip r:embed="rId3"/>
          <a:stretch>
            <a:fillRect/>
          </a:stretch>
        </p:blipFill>
        <p:spPr>
          <a:xfrm>
            <a:off x="381000" y="1219200"/>
            <a:ext cx="8562976" cy="4724400"/>
          </a:xfrm>
          <a:prstGeom prst="rect">
            <a:avLst/>
          </a:prstGeom>
        </p:spPr>
      </p:pic>
    </p:spTree>
  </p:cSld>
  <p:clrMapOvr>
    <a:masterClrMapping/>
  </p:clrMapOvr>
  <p:transition>
    <p:wedge/>
  </p:transition>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p:cTn id="7" fill="hold" display="0">
                  <p:stCondLst>
                    <p:cond delay="indefinite"/>
                  </p:stCondLst>
                  <p:endCondLst>
                    <p:cond evt="onNext" delay="0">
                      <p:tgtEl>
                        <p:sldTgt/>
                      </p:tgtEl>
                    </p:cond>
                    <p:cond evt="onPrev" delay="0">
                      <p:tgtEl>
                        <p:sldTgt/>
                      </p:tgtEl>
                    </p:cond>
                  </p:endCondLst>
                </p:cTn>
                <p:tgtEl>
                  <p:spTgt spid="5"/>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152400"/>
            <a:ext cx="8382000" cy="707886"/>
          </a:xfrm>
          <a:prstGeom prst="rect">
            <a:avLst/>
          </a:prstGeom>
          <a:noFill/>
          <a:ln w="57150">
            <a:solidFill>
              <a:schemeClr val="accent6"/>
            </a:solidFill>
          </a:ln>
        </p:spPr>
        <p:txBody>
          <a:bodyPr wrap="square" rtlCol="0">
            <a:spAutoFit/>
          </a:bodyPr>
          <a:lstStyle/>
          <a:p>
            <a:pPr algn="ctr"/>
            <a:r>
              <a:rPr lang="en-US" sz="4000" b="1" dirty="0"/>
              <a:t>Rutherford’s Nuclear Model of Atoms</a:t>
            </a:r>
          </a:p>
        </p:txBody>
      </p:sp>
      <p:sp>
        <p:nvSpPr>
          <p:cNvPr id="6" name="Right Arrow 5"/>
          <p:cNvSpPr/>
          <p:nvPr/>
        </p:nvSpPr>
        <p:spPr>
          <a:xfrm>
            <a:off x="381000" y="15240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p:cNvSpPr/>
          <p:nvPr/>
        </p:nvSpPr>
        <p:spPr>
          <a:xfrm>
            <a:off x="457200" y="22098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p:cNvSpPr/>
          <p:nvPr/>
        </p:nvSpPr>
        <p:spPr>
          <a:xfrm>
            <a:off x="457200" y="28956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a:off x="457200" y="36576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1371600" y="1447800"/>
            <a:ext cx="7162800" cy="523220"/>
          </a:xfrm>
          <a:prstGeom prst="rect">
            <a:avLst/>
          </a:prstGeom>
          <a:noFill/>
          <a:ln w="28575">
            <a:noFill/>
          </a:ln>
        </p:spPr>
        <p:txBody>
          <a:bodyPr wrap="square" rtlCol="0">
            <a:spAutoFit/>
          </a:bodyPr>
          <a:lstStyle/>
          <a:p>
            <a:r>
              <a:rPr lang="en-US" sz="2000" dirty="0"/>
              <a:t>Massive (heavy)+positively charged         centre =</a:t>
            </a:r>
            <a:r>
              <a:rPr lang="en-US" sz="2400" dirty="0"/>
              <a:t> </a:t>
            </a:r>
            <a:r>
              <a:rPr lang="en-US" sz="2800" dirty="0"/>
              <a:t>nucleus</a:t>
            </a:r>
            <a:endParaRPr lang="en-US" sz="2000" dirty="0"/>
          </a:p>
        </p:txBody>
      </p:sp>
      <p:cxnSp>
        <p:nvCxnSpPr>
          <p:cNvPr id="15" name="Straight Arrow Connector 14"/>
          <p:cNvCxnSpPr/>
          <p:nvPr/>
        </p:nvCxnSpPr>
        <p:spPr>
          <a:xfrm>
            <a:off x="5257800" y="1752600"/>
            <a:ext cx="381000"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371600" y="2286000"/>
            <a:ext cx="7010400" cy="400110"/>
          </a:xfrm>
          <a:prstGeom prst="rect">
            <a:avLst/>
          </a:prstGeom>
          <a:noFill/>
        </p:spPr>
        <p:txBody>
          <a:bodyPr wrap="square" rtlCol="0">
            <a:spAutoFit/>
          </a:bodyPr>
          <a:lstStyle/>
          <a:p>
            <a:r>
              <a:rPr lang="en-US" sz="2000" dirty="0"/>
              <a:t>Volume of nucleus –minute fraction – total volume </a:t>
            </a:r>
          </a:p>
        </p:txBody>
      </p:sp>
      <p:sp>
        <p:nvSpPr>
          <p:cNvPr id="17" name="TextBox 16"/>
          <p:cNvSpPr txBox="1"/>
          <p:nvPr/>
        </p:nvSpPr>
        <p:spPr>
          <a:xfrm>
            <a:off x="1447800" y="2895600"/>
            <a:ext cx="7162800" cy="400110"/>
          </a:xfrm>
          <a:prstGeom prst="rect">
            <a:avLst/>
          </a:prstGeom>
          <a:noFill/>
        </p:spPr>
        <p:txBody>
          <a:bodyPr wrap="square" rtlCol="0">
            <a:spAutoFit/>
          </a:bodyPr>
          <a:lstStyle/>
          <a:p>
            <a:r>
              <a:rPr lang="en-US" sz="2000" dirty="0"/>
              <a:t>Hollow – empty space round the nucleus</a:t>
            </a:r>
          </a:p>
        </p:txBody>
      </p:sp>
      <p:sp>
        <p:nvSpPr>
          <p:cNvPr id="18" name="TextBox 17"/>
          <p:cNvSpPr txBox="1"/>
          <p:nvPr/>
        </p:nvSpPr>
        <p:spPr>
          <a:xfrm>
            <a:off x="1447800" y="3657600"/>
            <a:ext cx="7391400" cy="400110"/>
          </a:xfrm>
          <a:prstGeom prst="rect">
            <a:avLst/>
          </a:prstGeom>
          <a:noFill/>
        </p:spPr>
        <p:txBody>
          <a:bodyPr wrap="square" rtlCol="0">
            <a:spAutoFit/>
          </a:bodyPr>
          <a:lstStyle/>
          <a:p>
            <a:r>
              <a:rPr lang="en-US" sz="2000" dirty="0"/>
              <a:t>All space -  round nucleus – occupied by revolving electrons</a:t>
            </a:r>
          </a:p>
        </p:txBody>
      </p:sp>
      <p:sp>
        <p:nvSpPr>
          <p:cNvPr id="19" name="Flowchart: Process 18"/>
          <p:cNvSpPr/>
          <p:nvPr/>
        </p:nvSpPr>
        <p:spPr>
          <a:xfrm>
            <a:off x="1676400" y="4267200"/>
            <a:ext cx="6096000" cy="7620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dirty="0"/>
              <a:t>Success</a:t>
            </a:r>
          </a:p>
        </p:txBody>
      </p:sp>
      <p:sp>
        <p:nvSpPr>
          <p:cNvPr id="20" name="Right Arrow 19"/>
          <p:cNvSpPr/>
          <p:nvPr/>
        </p:nvSpPr>
        <p:spPr>
          <a:xfrm>
            <a:off x="381000" y="50292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Arrow 20"/>
          <p:cNvSpPr/>
          <p:nvPr/>
        </p:nvSpPr>
        <p:spPr>
          <a:xfrm>
            <a:off x="381000" y="57912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1295400" y="5029200"/>
            <a:ext cx="6629400" cy="523220"/>
          </a:xfrm>
          <a:prstGeom prst="rect">
            <a:avLst/>
          </a:prstGeom>
          <a:noFill/>
        </p:spPr>
        <p:txBody>
          <a:bodyPr wrap="square" rtlCol="0">
            <a:spAutoFit/>
          </a:bodyPr>
          <a:lstStyle/>
          <a:p>
            <a:r>
              <a:rPr lang="en-US" sz="2000" dirty="0"/>
              <a:t>Presence of </a:t>
            </a:r>
            <a:r>
              <a:rPr lang="en-US" sz="2800" dirty="0">
                <a:solidFill>
                  <a:srgbClr val="FF0000"/>
                </a:solidFill>
              </a:rPr>
              <a:t>nucleus</a:t>
            </a:r>
            <a:endParaRPr lang="en-US" sz="2000" dirty="0">
              <a:solidFill>
                <a:srgbClr val="FF0000"/>
              </a:solidFill>
            </a:endParaRPr>
          </a:p>
        </p:txBody>
      </p:sp>
      <p:sp>
        <p:nvSpPr>
          <p:cNvPr id="23" name="TextBox 22"/>
          <p:cNvSpPr txBox="1"/>
          <p:nvPr/>
        </p:nvSpPr>
        <p:spPr>
          <a:xfrm>
            <a:off x="1371600" y="5715000"/>
            <a:ext cx="7239000" cy="461665"/>
          </a:xfrm>
          <a:prstGeom prst="rect">
            <a:avLst/>
          </a:prstGeom>
          <a:noFill/>
        </p:spPr>
        <p:txBody>
          <a:bodyPr wrap="square" rtlCol="0">
            <a:spAutoFit/>
          </a:bodyPr>
          <a:lstStyle/>
          <a:p>
            <a:r>
              <a:rPr lang="en-US" sz="2400" dirty="0"/>
              <a:t>Neutral in charge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533400"/>
            <a:ext cx="8915400" cy="461665"/>
          </a:xfrm>
          <a:prstGeom prst="rect">
            <a:avLst/>
          </a:prstGeom>
          <a:noFill/>
          <a:ln w="38100">
            <a:solidFill>
              <a:schemeClr val="tx1"/>
            </a:solidFill>
          </a:ln>
        </p:spPr>
        <p:txBody>
          <a:bodyPr wrap="square" rtlCol="0">
            <a:spAutoFit/>
          </a:bodyPr>
          <a:lstStyle/>
          <a:p>
            <a:pPr algn="ctr"/>
            <a:r>
              <a:rPr lang="en-US" sz="2400" dirty="0"/>
              <a:t>Defects/Drawbacks/Limitations</a:t>
            </a:r>
            <a:r>
              <a:rPr lang="en-US" dirty="0"/>
              <a:t> 0f </a:t>
            </a:r>
            <a:r>
              <a:rPr lang="en-US" sz="2400" dirty="0"/>
              <a:t>Rutherford’s Atomic Model</a:t>
            </a:r>
            <a:endParaRPr lang="en-US" dirty="0"/>
          </a:p>
        </p:txBody>
      </p:sp>
      <p:sp>
        <p:nvSpPr>
          <p:cNvPr id="5" name="Right Arrow 4"/>
          <p:cNvSpPr/>
          <p:nvPr/>
        </p:nvSpPr>
        <p:spPr>
          <a:xfrm>
            <a:off x="228600" y="14478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Arrow 5"/>
          <p:cNvSpPr/>
          <p:nvPr/>
        </p:nvSpPr>
        <p:spPr>
          <a:xfrm>
            <a:off x="228600" y="23622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p:cNvSpPr/>
          <p:nvPr/>
        </p:nvSpPr>
        <p:spPr>
          <a:xfrm>
            <a:off x="228600" y="32004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p:cNvSpPr/>
          <p:nvPr/>
        </p:nvSpPr>
        <p:spPr>
          <a:xfrm>
            <a:off x="228600" y="42672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ight Arrow 8"/>
          <p:cNvSpPr/>
          <p:nvPr/>
        </p:nvSpPr>
        <p:spPr>
          <a:xfrm>
            <a:off x="228600" y="54102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143000" y="1295400"/>
            <a:ext cx="7239000" cy="584775"/>
          </a:xfrm>
          <a:prstGeom prst="rect">
            <a:avLst/>
          </a:prstGeom>
          <a:noFill/>
        </p:spPr>
        <p:txBody>
          <a:bodyPr wrap="square" rtlCol="0">
            <a:spAutoFit/>
          </a:bodyPr>
          <a:lstStyle/>
          <a:p>
            <a:r>
              <a:rPr lang="en-US" sz="2000" dirty="0"/>
              <a:t> Solar system – but – have attraction + </a:t>
            </a:r>
            <a:r>
              <a:rPr lang="en-US" sz="3200" dirty="0"/>
              <a:t>repulsion</a:t>
            </a:r>
            <a:endParaRPr lang="en-US" sz="2000" dirty="0"/>
          </a:p>
        </p:txBody>
      </p:sp>
      <p:sp>
        <p:nvSpPr>
          <p:cNvPr id="11" name="TextBox 10"/>
          <p:cNvSpPr txBox="1"/>
          <p:nvPr/>
        </p:nvSpPr>
        <p:spPr>
          <a:xfrm flipH="1">
            <a:off x="1219200" y="2286000"/>
            <a:ext cx="7467600" cy="584775"/>
          </a:xfrm>
          <a:prstGeom prst="rect">
            <a:avLst/>
          </a:prstGeom>
          <a:noFill/>
        </p:spPr>
        <p:txBody>
          <a:bodyPr wrap="square" rtlCol="0">
            <a:spAutoFit/>
          </a:bodyPr>
          <a:lstStyle/>
          <a:p>
            <a:r>
              <a:rPr lang="en-US" sz="2000" dirty="0"/>
              <a:t>Max-Plank’s </a:t>
            </a:r>
            <a:r>
              <a:rPr lang="en-US" sz="3200" dirty="0"/>
              <a:t>Quantum</a:t>
            </a:r>
            <a:r>
              <a:rPr lang="en-US" sz="2000" dirty="0"/>
              <a:t> Theory </a:t>
            </a:r>
            <a:r>
              <a:rPr lang="en-US" dirty="0"/>
              <a:t>- </a:t>
            </a:r>
          </a:p>
        </p:txBody>
      </p:sp>
      <p:sp>
        <p:nvSpPr>
          <p:cNvPr id="13" name="TextBox 12"/>
          <p:cNvSpPr txBox="1"/>
          <p:nvPr/>
        </p:nvSpPr>
        <p:spPr>
          <a:xfrm>
            <a:off x="1219200" y="3124200"/>
            <a:ext cx="7391400" cy="584775"/>
          </a:xfrm>
          <a:prstGeom prst="rect">
            <a:avLst/>
          </a:prstGeom>
          <a:noFill/>
        </p:spPr>
        <p:txBody>
          <a:bodyPr wrap="square" rtlCol="0">
            <a:spAutoFit/>
          </a:bodyPr>
          <a:lstStyle/>
          <a:p>
            <a:r>
              <a:rPr lang="en-US" sz="2000" dirty="0"/>
              <a:t>Not explain – </a:t>
            </a:r>
            <a:r>
              <a:rPr lang="en-US" sz="3200" dirty="0"/>
              <a:t>continuous</a:t>
            </a:r>
            <a:r>
              <a:rPr lang="en-US" sz="2000" dirty="0"/>
              <a:t> spectrum of</a:t>
            </a:r>
            <a:r>
              <a:rPr lang="en-US" sz="2400" dirty="0"/>
              <a:t> Radiation</a:t>
            </a:r>
            <a:endParaRPr lang="en-US" sz="2000" dirty="0"/>
          </a:p>
        </p:txBody>
      </p:sp>
      <p:sp>
        <p:nvSpPr>
          <p:cNvPr id="14" name="TextBox 13"/>
          <p:cNvSpPr txBox="1"/>
          <p:nvPr/>
        </p:nvSpPr>
        <p:spPr>
          <a:xfrm>
            <a:off x="1219200" y="4114800"/>
            <a:ext cx="7315200" cy="646331"/>
          </a:xfrm>
          <a:prstGeom prst="rect">
            <a:avLst/>
          </a:prstGeom>
          <a:noFill/>
        </p:spPr>
        <p:txBody>
          <a:bodyPr wrap="square" rtlCol="0">
            <a:spAutoFit/>
          </a:bodyPr>
          <a:lstStyle/>
          <a:p>
            <a:r>
              <a:rPr lang="en-US" sz="2800" dirty="0"/>
              <a:t>Not explain  - </a:t>
            </a:r>
            <a:r>
              <a:rPr lang="en-US" sz="3600" dirty="0"/>
              <a:t>shape</a:t>
            </a:r>
            <a:r>
              <a:rPr lang="en-US" sz="2800" dirty="0"/>
              <a:t> + size of </a:t>
            </a:r>
            <a:r>
              <a:rPr lang="en-US" sz="2800" dirty="0" err="1"/>
              <a:t>Orbials</a:t>
            </a:r>
            <a:endParaRPr lang="en-US" sz="2800" dirty="0"/>
          </a:p>
        </p:txBody>
      </p:sp>
      <p:sp>
        <p:nvSpPr>
          <p:cNvPr id="16" name="TextBox 15"/>
          <p:cNvSpPr txBox="1"/>
          <p:nvPr/>
        </p:nvSpPr>
        <p:spPr>
          <a:xfrm>
            <a:off x="1219200" y="5105400"/>
            <a:ext cx="7467600" cy="769441"/>
          </a:xfrm>
          <a:prstGeom prst="rect">
            <a:avLst/>
          </a:prstGeom>
          <a:noFill/>
        </p:spPr>
        <p:txBody>
          <a:bodyPr wrap="square" rtlCol="0">
            <a:spAutoFit/>
          </a:bodyPr>
          <a:lstStyle/>
          <a:p>
            <a:r>
              <a:rPr lang="en-US" sz="2000" dirty="0"/>
              <a:t>Not explain – </a:t>
            </a:r>
            <a:r>
              <a:rPr lang="en-US" sz="4400" dirty="0"/>
              <a:t>mode</a:t>
            </a:r>
            <a:r>
              <a:rPr lang="en-US" sz="2000" dirty="0"/>
              <a:t> of rotation – multi-electron </a:t>
            </a:r>
            <a:r>
              <a:rPr lang="en-US" sz="2000" dirty="0" err="1"/>
              <a:t>orbitals</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28600"/>
            <a:ext cx="8229600" cy="769441"/>
          </a:xfrm>
          <a:prstGeom prst="rect">
            <a:avLst/>
          </a:prstGeom>
          <a:noFill/>
        </p:spPr>
        <p:txBody>
          <a:bodyPr wrap="square" rtlCol="0">
            <a:spAutoFit/>
          </a:bodyPr>
          <a:lstStyle/>
          <a:p>
            <a:pPr algn="ctr"/>
            <a:r>
              <a:rPr lang="en-US" sz="4400" b="1" u="sng" dirty="0"/>
              <a:t>Bohr’s  Atomic Model (1913)</a:t>
            </a:r>
          </a:p>
        </p:txBody>
      </p:sp>
      <p:sp>
        <p:nvSpPr>
          <p:cNvPr id="5" name="Right Arrow 4"/>
          <p:cNvSpPr/>
          <p:nvPr/>
        </p:nvSpPr>
        <p:spPr>
          <a:xfrm>
            <a:off x="228600" y="10668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Arrow 5"/>
          <p:cNvSpPr/>
          <p:nvPr/>
        </p:nvSpPr>
        <p:spPr>
          <a:xfrm>
            <a:off x="304800" y="21336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p:cNvSpPr/>
          <p:nvPr/>
        </p:nvSpPr>
        <p:spPr>
          <a:xfrm>
            <a:off x="304800" y="30480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p:cNvSpPr/>
          <p:nvPr/>
        </p:nvSpPr>
        <p:spPr>
          <a:xfrm>
            <a:off x="304800" y="38862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a:off x="381000" y="48006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ight Arrow 9"/>
          <p:cNvSpPr/>
          <p:nvPr/>
        </p:nvSpPr>
        <p:spPr>
          <a:xfrm>
            <a:off x="457200" y="60198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1295400" y="990600"/>
            <a:ext cx="7162800" cy="954107"/>
          </a:xfrm>
          <a:prstGeom prst="rect">
            <a:avLst/>
          </a:prstGeom>
          <a:noFill/>
        </p:spPr>
        <p:txBody>
          <a:bodyPr wrap="square" rtlCol="0">
            <a:spAutoFit/>
          </a:bodyPr>
          <a:lstStyle/>
          <a:p>
            <a:r>
              <a:rPr lang="en-US" sz="2800" dirty="0"/>
              <a:t>2 parts :- (a) central (+) part=Nucleus</a:t>
            </a:r>
          </a:p>
          <a:p>
            <a:r>
              <a:rPr lang="en-US" sz="2800" dirty="0"/>
              <a:t>                (b) outer (─) part = Shell / Electrons </a:t>
            </a:r>
          </a:p>
        </p:txBody>
      </p:sp>
      <p:sp>
        <p:nvSpPr>
          <p:cNvPr id="12" name="TextBox 11"/>
          <p:cNvSpPr txBox="1"/>
          <p:nvPr/>
        </p:nvSpPr>
        <p:spPr>
          <a:xfrm>
            <a:off x="1295400" y="2057400"/>
            <a:ext cx="7162800" cy="523220"/>
          </a:xfrm>
          <a:prstGeom prst="rect">
            <a:avLst/>
          </a:prstGeom>
          <a:noFill/>
        </p:spPr>
        <p:txBody>
          <a:bodyPr wrap="square" rtlCol="0">
            <a:spAutoFit/>
          </a:bodyPr>
          <a:lstStyle/>
          <a:p>
            <a:r>
              <a:rPr lang="en-US" sz="2400" dirty="0"/>
              <a:t>Specific </a:t>
            </a:r>
            <a:r>
              <a:rPr lang="en-US" sz="2800" dirty="0" err="1"/>
              <a:t>orbitals</a:t>
            </a:r>
            <a:r>
              <a:rPr lang="en-US" sz="2400" dirty="0"/>
              <a:t> – specific distance</a:t>
            </a:r>
          </a:p>
        </p:txBody>
      </p:sp>
      <p:sp>
        <p:nvSpPr>
          <p:cNvPr id="13" name="TextBox 12"/>
          <p:cNvSpPr txBox="1"/>
          <p:nvPr/>
        </p:nvSpPr>
        <p:spPr>
          <a:xfrm>
            <a:off x="1295400" y="3048000"/>
            <a:ext cx="7239000" cy="523220"/>
          </a:xfrm>
          <a:prstGeom prst="rect">
            <a:avLst/>
          </a:prstGeom>
          <a:noFill/>
        </p:spPr>
        <p:txBody>
          <a:bodyPr wrap="square" rtlCol="0">
            <a:spAutoFit/>
          </a:bodyPr>
          <a:lstStyle/>
          <a:p>
            <a:r>
              <a:rPr lang="en-US" sz="2400" dirty="0"/>
              <a:t>Angular </a:t>
            </a:r>
            <a:r>
              <a:rPr lang="en-US" sz="2800" dirty="0"/>
              <a:t>momentum</a:t>
            </a:r>
            <a:r>
              <a:rPr lang="en-US" sz="2400" dirty="0"/>
              <a:t> (e) =n. h/2</a:t>
            </a:r>
          </a:p>
        </p:txBody>
      </p:sp>
      <p:sp>
        <p:nvSpPr>
          <p:cNvPr id="14" name="TextBox 13"/>
          <p:cNvSpPr txBox="1"/>
          <p:nvPr/>
        </p:nvSpPr>
        <p:spPr>
          <a:xfrm>
            <a:off x="1295400" y="3810000"/>
            <a:ext cx="7467600" cy="523220"/>
          </a:xfrm>
          <a:prstGeom prst="rect">
            <a:avLst/>
          </a:prstGeom>
          <a:noFill/>
        </p:spPr>
        <p:txBody>
          <a:bodyPr wrap="square" rtlCol="0">
            <a:spAutoFit/>
          </a:bodyPr>
          <a:lstStyle/>
          <a:p>
            <a:r>
              <a:rPr lang="en-US" sz="2800" dirty="0"/>
              <a:t>Particular</a:t>
            </a:r>
            <a:r>
              <a:rPr lang="en-US" sz="2400" dirty="0"/>
              <a:t> orbit   e       not emit / absorb energy</a:t>
            </a:r>
          </a:p>
        </p:txBody>
      </p:sp>
      <p:sp>
        <p:nvSpPr>
          <p:cNvPr id="15" name="TextBox 14"/>
          <p:cNvSpPr txBox="1"/>
          <p:nvPr/>
        </p:nvSpPr>
        <p:spPr>
          <a:xfrm>
            <a:off x="1295400" y="4800600"/>
            <a:ext cx="7239000" cy="830997"/>
          </a:xfrm>
          <a:prstGeom prst="rect">
            <a:avLst/>
          </a:prstGeom>
          <a:noFill/>
        </p:spPr>
        <p:txBody>
          <a:bodyPr wrap="square" rtlCol="0">
            <a:spAutoFit/>
          </a:bodyPr>
          <a:lstStyle/>
          <a:p>
            <a:r>
              <a:rPr lang="en-US" dirty="0"/>
              <a:t>(</a:t>
            </a:r>
            <a:r>
              <a:rPr lang="en-US" sz="2400" dirty="0"/>
              <a:t>a) </a:t>
            </a:r>
            <a:r>
              <a:rPr lang="en-US" sz="2400" dirty="0" err="1"/>
              <a:t>Emition</a:t>
            </a:r>
            <a:r>
              <a:rPr lang="en-US" sz="2400" dirty="0"/>
              <a:t> spectrum :- Higher             Lower</a:t>
            </a:r>
          </a:p>
          <a:p>
            <a:r>
              <a:rPr lang="en-US" sz="2400" dirty="0"/>
              <a:t>(b) Absorption spectrum ;- Lower          Higher</a:t>
            </a:r>
          </a:p>
        </p:txBody>
      </p:sp>
      <p:cxnSp>
        <p:nvCxnSpPr>
          <p:cNvPr id="17" name="Straight Arrow Connector 16"/>
          <p:cNvCxnSpPr/>
          <p:nvPr/>
        </p:nvCxnSpPr>
        <p:spPr>
          <a:xfrm>
            <a:off x="5410200" y="5029200"/>
            <a:ext cx="5334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5715000" y="5410200"/>
            <a:ext cx="5334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1600200" y="5943600"/>
            <a:ext cx="6781800" cy="584775"/>
          </a:xfrm>
          <a:prstGeom prst="rect">
            <a:avLst/>
          </a:prstGeom>
          <a:noFill/>
        </p:spPr>
        <p:txBody>
          <a:bodyPr wrap="square" rtlCol="0">
            <a:spAutoFit/>
          </a:bodyPr>
          <a:lstStyle/>
          <a:p>
            <a:r>
              <a:rPr lang="en-US" sz="2000" b="1" dirty="0"/>
              <a:t>Energy for </a:t>
            </a:r>
            <a:r>
              <a:rPr lang="en-US" sz="2800" b="1" dirty="0"/>
              <a:t>emission/absorption</a:t>
            </a:r>
            <a:r>
              <a:rPr lang="en-US" sz="2000" b="1" dirty="0"/>
              <a:t>, ∆E=E2─E1 =</a:t>
            </a:r>
            <a:r>
              <a:rPr lang="en-US" sz="3200" b="1" dirty="0" err="1"/>
              <a:t>hv</a:t>
            </a:r>
            <a:endParaRPr lang="en-US" sz="2000"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5800" y="228600"/>
            <a:ext cx="8001000" cy="769441"/>
          </a:xfrm>
          <a:prstGeom prst="rect">
            <a:avLst/>
          </a:prstGeom>
          <a:noFill/>
        </p:spPr>
        <p:txBody>
          <a:bodyPr wrap="square" rtlCol="0">
            <a:spAutoFit/>
          </a:bodyPr>
          <a:lstStyle/>
          <a:p>
            <a:pPr algn="ctr"/>
            <a:r>
              <a:rPr lang="en-US" sz="4400" dirty="0"/>
              <a:t>Success of Bohr’s Atomic Model:</a:t>
            </a:r>
          </a:p>
        </p:txBody>
      </p:sp>
      <p:sp>
        <p:nvSpPr>
          <p:cNvPr id="5" name="Right Arrow 4"/>
          <p:cNvSpPr/>
          <p:nvPr/>
        </p:nvSpPr>
        <p:spPr>
          <a:xfrm>
            <a:off x="304800" y="12954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Arrow 5"/>
          <p:cNvSpPr/>
          <p:nvPr/>
        </p:nvSpPr>
        <p:spPr>
          <a:xfrm>
            <a:off x="304800" y="21336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p:cNvSpPr/>
          <p:nvPr/>
        </p:nvSpPr>
        <p:spPr>
          <a:xfrm>
            <a:off x="304800" y="29718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295400" y="1219200"/>
            <a:ext cx="7543800" cy="646331"/>
          </a:xfrm>
          <a:prstGeom prst="rect">
            <a:avLst/>
          </a:prstGeom>
          <a:noFill/>
        </p:spPr>
        <p:txBody>
          <a:bodyPr wrap="square" rtlCol="0">
            <a:spAutoFit/>
          </a:bodyPr>
          <a:lstStyle/>
          <a:p>
            <a:r>
              <a:rPr lang="en-US" sz="2400" dirty="0"/>
              <a:t>Able to </a:t>
            </a:r>
            <a:r>
              <a:rPr lang="en-US" sz="2800" dirty="0"/>
              <a:t>explain</a:t>
            </a:r>
            <a:r>
              <a:rPr lang="en-US" sz="2400" dirty="0"/>
              <a:t> - </a:t>
            </a:r>
            <a:r>
              <a:rPr lang="en-US" sz="3600" dirty="0"/>
              <a:t>Stability</a:t>
            </a:r>
            <a:endParaRPr lang="en-US" sz="2400" dirty="0"/>
          </a:p>
        </p:txBody>
      </p:sp>
      <p:sp>
        <p:nvSpPr>
          <p:cNvPr id="11" name="TextBox 10"/>
          <p:cNvSpPr txBox="1"/>
          <p:nvPr/>
        </p:nvSpPr>
        <p:spPr>
          <a:xfrm>
            <a:off x="1295400" y="2057400"/>
            <a:ext cx="7162800" cy="584775"/>
          </a:xfrm>
          <a:prstGeom prst="rect">
            <a:avLst/>
          </a:prstGeom>
          <a:noFill/>
        </p:spPr>
        <p:txBody>
          <a:bodyPr wrap="square" rtlCol="0">
            <a:spAutoFit/>
          </a:bodyPr>
          <a:lstStyle/>
          <a:p>
            <a:r>
              <a:rPr lang="en-US" sz="2400" dirty="0"/>
              <a:t>Able to </a:t>
            </a:r>
            <a:r>
              <a:rPr lang="en-US" sz="2800" dirty="0"/>
              <a:t>explain</a:t>
            </a:r>
            <a:r>
              <a:rPr lang="en-US" sz="2400" dirty="0"/>
              <a:t> – </a:t>
            </a:r>
            <a:r>
              <a:rPr lang="en-US" sz="3200" dirty="0"/>
              <a:t>Hydrogen Spectrum</a:t>
            </a:r>
            <a:endParaRPr lang="en-US" sz="2400" dirty="0"/>
          </a:p>
        </p:txBody>
      </p:sp>
      <p:sp>
        <p:nvSpPr>
          <p:cNvPr id="12" name="TextBox 11"/>
          <p:cNvSpPr txBox="1"/>
          <p:nvPr/>
        </p:nvSpPr>
        <p:spPr>
          <a:xfrm>
            <a:off x="1371600" y="2895600"/>
            <a:ext cx="7162800" cy="584775"/>
          </a:xfrm>
          <a:prstGeom prst="rect">
            <a:avLst/>
          </a:prstGeom>
          <a:noFill/>
        </p:spPr>
        <p:txBody>
          <a:bodyPr wrap="square" rtlCol="0">
            <a:spAutoFit/>
          </a:bodyPr>
          <a:lstStyle/>
          <a:p>
            <a:r>
              <a:rPr lang="en-US" sz="2400" dirty="0"/>
              <a:t>Able to </a:t>
            </a:r>
            <a:r>
              <a:rPr lang="en-US" sz="2800" dirty="0"/>
              <a:t>calculate</a:t>
            </a:r>
            <a:r>
              <a:rPr lang="en-US" sz="2400" dirty="0"/>
              <a:t> – </a:t>
            </a:r>
            <a:r>
              <a:rPr lang="en-US" sz="3200" dirty="0"/>
              <a:t>Wave-length</a:t>
            </a:r>
            <a:endParaRPr lang="en-US" sz="2400" dirty="0"/>
          </a:p>
        </p:txBody>
      </p:sp>
      <p:sp>
        <p:nvSpPr>
          <p:cNvPr id="13" name="Right Arrow 12"/>
          <p:cNvSpPr/>
          <p:nvPr/>
        </p:nvSpPr>
        <p:spPr>
          <a:xfrm>
            <a:off x="381000" y="36576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p:cNvSpPr txBox="1"/>
          <p:nvPr/>
        </p:nvSpPr>
        <p:spPr>
          <a:xfrm>
            <a:off x="1447800" y="3581400"/>
            <a:ext cx="6934200" cy="584775"/>
          </a:xfrm>
          <a:prstGeom prst="rect">
            <a:avLst/>
          </a:prstGeom>
          <a:noFill/>
        </p:spPr>
        <p:txBody>
          <a:bodyPr wrap="square" rtlCol="0">
            <a:spAutoFit/>
          </a:bodyPr>
          <a:lstStyle/>
          <a:p>
            <a:r>
              <a:rPr lang="en-US" sz="2400" dirty="0"/>
              <a:t>Able to </a:t>
            </a:r>
            <a:r>
              <a:rPr lang="en-US" sz="2800" dirty="0"/>
              <a:t>calculate</a:t>
            </a:r>
            <a:r>
              <a:rPr lang="en-US" sz="2400" dirty="0"/>
              <a:t> –</a:t>
            </a:r>
            <a:r>
              <a:rPr lang="en-US" sz="3200" dirty="0"/>
              <a:t> Radius </a:t>
            </a:r>
            <a:r>
              <a:rPr lang="en-US" sz="2400" dirty="0"/>
              <a:t>of </a:t>
            </a:r>
            <a:r>
              <a:rPr lang="en-US" sz="2800" dirty="0"/>
              <a:t>orbit</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28600"/>
            <a:ext cx="9144000" cy="523220"/>
          </a:xfrm>
          <a:prstGeom prst="rect">
            <a:avLst/>
          </a:prstGeom>
          <a:noFill/>
        </p:spPr>
        <p:txBody>
          <a:bodyPr wrap="square" rtlCol="0">
            <a:spAutoFit/>
          </a:bodyPr>
          <a:lstStyle/>
          <a:p>
            <a:pPr algn="ctr"/>
            <a:r>
              <a:rPr lang="en-US" sz="2800" b="1" u="sng" dirty="0"/>
              <a:t>Defects/Drawbacks/Limitations</a:t>
            </a:r>
            <a:r>
              <a:rPr lang="en-US" sz="2400" b="1" u="sng" dirty="0"/>
              <a:t> of </a:t>
            </a:r>
            <a:r>
              <a:rPr lang="en-US" sz="2800" b="1" u="sng" dirty="0"/>
              <a:t>Bohr’s Atomic Model</a:t>
            </a:r>
            <a:endParaRPr lang="en-US" sz="2400" b="1" u="sng" dirty="0"/>
          </a:p>
        </p:txBody>
      </p:sp>
      <p:sp>
        <p:nvSpPr>
          <p:cNvPr id="5" name="Right Arrow 4"/>
          <p:cNvSpPr/>
          <p:nvPr/>
        </p:nvSpPr>
        <p:spPr>
          <a:xfrm>
            <a:off x="304800" y="12192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Arrow 5"/>
          <p:cNvSpPr/>
          <p:nvPr/>
        </p:nvSpPr>
        <p:spPr>
          <a:xfrm>
            <a:off x="304800" y="23622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p:cNvSpPr/>
          <p:nvPr/>
        </p:nvSpPr>
        <p:spPr>
          <a:xfrm>
            <a:off x="304800" y="32004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p:cNvSpPr/>
          <p:nvPr/>
        </p:nvSpPr>
        <p:spPr>
          <a:xfrm>
            <a:off x="304800" y="43434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1295400" y="1143000"/>
            <a:ext cx="7543800" cy="523220"/>
          </a:xfrm>
          <a:prstGeom prst="rect">
            <a:avLst/>
          </a:prstGeom>
          <a:noFill/>
        </p:spPr>
        <p:txBody>
          <a:bodyPr wrap="square" rtlCol="0">
            <a:spAutoFit/>
          </a:bodyPr>
          <a:lstStyle/>
          <a:p>
            <a:r>
              <a:rPr lang="en-US" sz="2400" dirty="0">
                <a:latin typeface="Times New Roman" pitchFamily="18" charset="0"/>
                <a:cs typeface="Times New Roman" pitchFamily="18" charset="0"/>
              </a:rPr>
              <a:t>Not explain </a:t>
            </a:r>
            <a:r>
              <a:rPr lang="en-US" sz="2800" dirty="0">
                <a:latin typeface="Times New Roman" pitchFamily="18" charset="0"/>
                <a:cs typeface="Times New Roman" pitchFamily="18" charset="0"/>
              </a:rPr>
              <a:t>mode of Rotation  </a:t>
            </a:r>
            <a:r>
              <a:rPr lang="en-US" sz="2400" dirty="0">
                <a:latin typeface="Times New Roman" pitchFamily="18" charset="0"/>
                <a:cs typeface="Times New Roman" pitchFamily="18" charset="0"/>
              </a:rPr>
              <a:t>- multi-electron </a:t>
            </a:r>
            <a:r>
              <a:rPr lang="en-US" sz="2400" dirty="0" err="1">
                <a:latin typeface="Times New Roman" pitchFamily="18" charset="0"/>
                <a:cs typeface="Times New Roman" pitchFamily="18" charset="0"/>
              </a:rPr>
              <a:t>orbitals</a:t>
            </a:r>
            <a:endParaRPr lang="en-US" sz="2400" dirty="0">
              <a:latin typeface="Times New Roman" pitchFamily="18" charset="0"/>
              <a:cs typeface="Times New Roman" pitchFamily="18" charset="0"/>
            </a:endParaRPr>
          </a:p>
        </p:txBody>
      </p:sp>
      <p:sp>
        <p:nvSpPr>
          <p:cNvPr id="10" name="TextBox 9"/>
          <p:cNvSpPr txBox="1"/>
          <p:nvPr/>
        </p:nvSpPr>
        <p:spPr>
          <a:xfrm>
            <a:off x="1295400" y="2286000"/>
            <a:ext cx="7696200" cy="461665"/>
          </a:xfrm>
          <a:prstGeom prst="rect">
            <a:avLst/>
          </a:prstGeom>
          <a:noFill/>
        </p:spPr>
        <p:txBody>
          <a:bodyPr wrap="square" rtlCol="0">
            <a:spAutoFit/>
          </a:bodyPr>
          <a:lstStyle/>
          <a:p>
            <a:r>
              <a:rPr lang="en-US" sz="2000" dirty="0">
                <a:latin typeface="Times New Roman" pitchFamily="18" charset="0"/>
                <a:cs typeface="Times New Roman" pitchFamily="18" charset="0"/>
              </a:rPr>
              <a:t>Not explain- </a:t>
            </a:r>
            <a:r>
              <a:rPr lang="en-US" sz="2400" dirty="0">
                <a:latin typeface="Times New Roman" pitchFamily="18" charset="0"/>
                <a:cs typeface="Times New Roman" pitchFamily="18" charset="0"/>
              </a:rPr>
              <a:t>discrete rays  </a:t>
            </a:r>
            <a:r>
              <a:rPr lang="en-US" sz="2000" dirty="0">
                <a:latin typeface="Times New Roman" pitchFamily="18" charset="0"/>
                <a:cs typeface="Times New Roman" pitchFamily="18" charset="0"/>
              </a:rPr>
              <a:t>instead of </a:t>
            </a:r>
            <a:r>
              <a:rPr lang="en-US" sz="2400" dirty="0">
                <a:latin typeface="Times New Roman" pitchFamily="18" charset="0"/>
                <a:cs typeface="Times New Roman" pitchFamily="18" charset="0"/>
              </a:rPr>
              <a:t>Continuous spectrum</a:t>
            </a:r>
            <a:endParaRPr lang="en-US" sz="2000" dirty="0">
              <a:latin typeface="Times New Roman" pitchFamily="18" charset="0"/>
              <a:cs typeface="Times New Roman" pitchFamily="18" charset="0"/>
            </a:endParaRPr>
          </a:p>
        </p:txBody>
      </p:sp>
      <p:sp>
        <p:nvSpPr>
          <p:cNvPr id="12" name="TextBox 11"/>
          <p:cNvSpPr txBox="1"/>
          <p:nvPr/>
        </p:nvSpPr>
        <p:spPr>
          <a:xfrm>
            <a:off x="1295400" y="3200400"/>
            <a:ext cx="7162800" cy="523220"/>
          </a:xfrm>
          <a:prstGeom prst="rect">
            <a:avLst/>
          </a:prstGeom>
          <a:noFill/>
        </p:spPr>
        <p:txBody>
          <a:bodyPr wrap="square" rtlCol="0">
            <a:spAutoFit/>
          </a:bodyPr>
          <a:lstStyle/>
          <a:p>
            <a:r>
              <a:rPr lang="en-US" sz="2400" dirty="0"/>
              <a:t>Not matches with </a:t>
            </a:r>
            <a:r>
              <a:rPr lang="en-US" sz="2800" dirty="0"/>
              <a:t>Theory of relativity</a:t>
            </a:r>
            <a:endParaRPr lang="en-US" sz="2400" dirty="0"/>
          </a:p>
        </p:txBody>
      </p:sp>
      <p:sp>
        <p:nvSpPr>
          <p:cNvPr id="11" name="TextBox 10"/>
          <p:cNvSpPr txBox="1"/>
          <p:nvPr/>
        </p:nvSpPr>
        <p:spPr>
          <a:xfrm>
            <a:off x="1295400" y="4267200"/>
            <a:ext cx="7543800" cy="584775"/>
          </a:xfrm>
          <a:prstGeom prst="rect">
            <a:avLst/>
          </a:prstGeom>
          <a:noFill/>
        </p:spPr>
        <p:txBody>
          <a:bodyPr wrap="square" rtlCol="0">
            <a:spAutoFit/>
          </a:bodyPr>
          <a:lstStyle/>
          <a:p>
            <a:r>
              <a:rPr lang="en-US" sz="2400" dirty="0"/>
              <a:t>Not explain -  wave nature of </a:t>
            </a:r>
            <a:r>
              <a:rPr lang="en-US" sz="3200" dirty="0" err="1"/>
              <a:t>emition</a:t>
            </a:r>
            <a:r>
              <a:rPr lang="en-US" sz="3200" dirty="0"/>
              <a:t> spectrum</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28600"/>
            <a:ext cx="8915400" cy="1446550"/>
          </a:xfrm>
          <a:prstGeom prst="rect">
            <a:avLst/>
          </a:prstGeom>
          <a:noFill/>
        </p:spPr>
        <p:txBody>
          <a:bodyPr wrap="square" rtlCol="0">
            <a:spAutoFit/>
          </a:bodyPr>
          <a:lstStyle/>
          <a:p>
            <a:pPr algn="ctr"/>
            <a:r>
              <a:rPr lang="en-US" sz="3600" b="1" u="sng" dirty="0"/>
              <a:t>Difference between </a:t>
            </a:r>
            <a:r>
              <a:rPr lang="en-US" sz="4400" b="1" u="sng" dirty="0"/>
              <a:t>Rutherford’s</a:t>
            </a:r>
            <a:r>
              <a:rPr lang="en-US" sz="3600" b="1" u="sng" dirty="0"/>
              <a:t> and </a:t>
            </a:r>
            <a:r>
              <a:rPr lang="en-US" sz="4400" b="1" u="sng" dirty="0"/>
              <a:t>Bohr’s Atomic Model</a:t>
            </a:r>
            <a:endParaRPr lang="en-US" sz="3600" b="1" u="sng" dirty="0"/>
          </a:p>
        </p:txBody>
      </p:sp>
      <p:graphicFrame>
        <p:nvGraphicFramePr>
          <p:cNvPr id="4" name="Table 3"/>
          <p:cNvGraphicFramePr>
            <a:graphicFrameLocks noGrp="1"/>
          </p:cNvGraphicFramePr>
          <p:nvPr/>
        </p:nvGraphicFramePr>
        <p:xfrm>
          <a:off x="228600" y="1676398"/>
          <a:ext cx="8610600" cy="5184832"/>
        </p:xfrm>
        <a:graphic>
          <a:graphicData uri="http://schemas.openxmlformats.org/drawingml/2006/table">
            <a:tbl>
              <a:tblPr firstRow="1" bandRow="1">
                <a:tableStyleId>{3C2FFA5D-87B4-456A-9821-1D502468CF0F}</a:tableStyleId>
              </a:tblPr>
              <a:tblGrid>
                <a:gridCol w="4305300">
                  <a:extLst>
                    <a:ext uri="{9D8B030D-6E8A-4147-A177-3AD203B41FA5}">
                      <a16:colId xmlns:a16="http://schemas.microsoft.com/office/drawing/2014/main" val="20000"/>
                    </a:ext>
                  </a:extLst>
                </a:gridCol>
                <a:gridCol w="4305300">
                  <a:extLst>
                    <a:ext uri="{9D8B030D-6E8A-4147-A177-3AD203B41FA5}">
                      <a16:colId xmlns:a16="http://schemas.microsoft.com/office/drawing/2014/main" val="20001"/>
                    </a:ext>
                  </a:extLst>
                </a:gridCol>
              </a:tblGrid>
              <a:tr h="649097">
                <a:tc>
                  <a:txBody>
                    <a:bodyPr/>
                    <a:lstStyle/>
                    <a:p>
                      <a:r>
                        <a:rPr lang="en-US" sz="2800" dirty="0"/>
                        <a:t>Rutherford’s Atomic</a:t>
                      </a:r>
                      <a:r>
                        <a:rPr lang="en-US" sz="2800" baseline="0" dirty="0"/>
                        <a:t> Model</a:t>
                      </a:r>
                      <a:endParaRPr lang="en-US" sz="2800" dirty="0"/>
                    </a:p>
                  </a:txBody>
                  <a:tcPr/>
                </a:tc>
                <a:tc>
                  <a:txBody>
                    <a:bodyPr/>
                    <a:lstStyle/>
                    <a:p>
                      <a:r>
                        <a:rPr lang="en-US" sz="3200" dirty="0"/>
                        <a:t>Bohr’s Atomic Model </a:t>
                      </a:r>
                    </a:p>
                  </a:txBody>
                  <a:tcPr/>
                </a:tc>
                <a:extLst>
                  <a:ext uri="{0D108BD9-81ED-4DB2-BD59-A6C34878D82A}">
                    <a16:rowId xmlns:a16="http://schemas.microsoft.com/office/drawing/2014/main" val="10000"/>
                  </a:ext>
                </a:extLst>
              </a:tr>
              <a:tr h="1120359">
                <a:tc>
                  <a:txBody>
                    <a:bodyPr/>
                    <a:lstStyle/>
                    <a:p>
                      <a:r>
                        <a:rPr lang="en-US" sz="2400" dirty="0"/>
                        <a:t>1.Based on Max-Well’s Electromagnetic theory.</a:t>
                      </a:r>
                    </a:p>
                  </a:txBody>
                  <a:tcPr/>
                </a:tc>
                <a:tc>
                  <a:txBody>
                    <a:bodyPr/>
                    <a:lstStyle/>
                    <a:p>
                      <a:r>
                        <a:rPr lang="en-US" sz="2400" dirty="0"/>
                        <a:t>1.Based on Max-Plank’s Quantum theory.</a:t>
                      </a:r>
                    </a:p>
                  </a:txBody>
                  <a:tcPr/>
                </a:tc>
                <a:extLst>
                  <a:ext uri="{0D108BD9-81ED-4DB2-BD59-A6C34878D82A}">
                    <a16:rowId xmlns:a16="http://schemas.microsoft.com/office/drawing/2014/main" val="10001"/>
                  </a:ext>
                </a:extLst>
              </a:tr>
              <a:tr h="821345">
                <a:tc>
                  <a:txBody>
                    <a:bodyPr/>
                    <a:lstStyle/>
                    <a:p>
                      <a:r>
                        <a:rPr lang="en-US" sz="2400" dirty="0"/>
                        <a:t>2.Unable to explain Emission/absorption .</a:t>
                      </a:r>
                    </a:p>
                  </a:txBody>
                  <a:tcPr/>
                </a:tc>
                <a:tc>
                  <a:txBody>
                    <a:bodyPr/>
                    <a:lstStyle/>
                    <a:p>
                      <a:r>
                        <a:rPr lang="en-US" sz="2400" dirty="0"/>
                        <a:t>2.Able.</a:t>
                      </a:r>
                    </a:p>
                  </a:txBody>
                  <a:tcPr/>
                </a:tc>
                <a:extLst>
                  <a:ext uri="{0D108BD9-81ED-4DB2-BD59-A6C34878D82A}">
                    <a16:rowId xmlns:a16="http://schemas.microsoft.com/office/drawing/2014/main" val="10002"/>
                  </a:ext>
                </a:extLst>
              </a:tr>
              <a:tr h="821345">
                <a:tc>
                  <a:txBody>
                    <a:bodyPr/>
                    <a:lstStyle/>
                    <a:p>
                      <a:r>
                        <a:rPr lang="en-US" sz="2400" dirty="0"/>
                        <a:t>3. Not express shape and size of </a:t>
                      </a:r>
                      <a:r>
                        <a:rPr lang="en-US" sz="2400" dirty="0" err="1"/>
                        <a:t>orbitals</a:t>
                      </a:r>
                      <a:r>
                        <a:rPr lang="en-US" sz="2400" dirty="0"/>
                        <a:t>.</a:t>
                      </a:r>
                    </a:p>
                  </a:txBody>
                  <a:tcPr/>
                </a:tc>
                <a:tc>
                  <a:txBody>
                    <a:bodyPr/>
                    <a:lstStyle/>
                    <a:p>
                      <a:r>
                        <a:rPr lang="en-US" sz="2400" dirty="0"/>
                        <a:t>3. Express</a:t>
                      </a:r>
                    </a:p>
                  </a:txBody>
                  <a:tcPr/>
                </a:tc>
                <a:extLst>
                  <a:ext uri="{0D108BD9-81ED-4DB2-BD59-A6C34878D82A}">
                    <a16:rowId xmlns:a16="http://schemas.microsoft.com/office/drawing/2014/main" val="10003"/>
                  </a:ext>
                </a:extLst>
              </a:tr>
              <a:tr h="1120359">
                <a:tc>
                  <a:txBody>
                    <a:bodyPr/>
                    <a:lstStyle/>
                    <a:p>
                      <a:r>
                        <a:rPr lang="en-US" sz="2400" dirty="0"/>
                        <a:t>4. Can not calculate hydrogen spectrum and wave-length.</a:t>
                      </a:r>
                    </a:p>
                  </a:txBody>
                  <a:tcPr/>
                </a:tc>
                <a:tc>
                  <a:txBody>
                    <a:bodyPr/>
                    <a:lstStyle/>
                    <a:p>
                      <a:r>
                        <a:rPr lang="en-US" sz="2400" dirty="0"/>
                        <a:t>4. Can be calculated.</a:t>
                      </a:r>
                    </a:p>
                  </a:txBody>
                  <a:tcPr/>
                </a:tc>
                <a:extLst>
                  <a:ext uri="{0D108BD9-81ED-4DB2-BD59-A6C34878D82A}">
                    <a16:rowId xmlns:a16="http://schemas.microsoft.com/office/drawing/2014/main" val="10004"/>
                  </a:ext>
                </a:extLst>
              </a:tr>
              <a:tr h="649097">
                <a:tc>
                  <a:txBody>
                    <a:bodyPr/>
                    <a:lstStyle/>
                    <a:p>
                      <a:r>
                        <a:rPr lang="en-US" sz="2400" dirty="0"/>
                        <a:t>5. Have no stability of atom.</a:t>
                      </a:r>
                    </a:p>
                  </a:txBody>
                  <a:tcPr/>
                </a:tc>
                <a:tc>
                  <a:txBody>
                    <a:bodyPr/>
                    <a:lstStyle/>
                    <a:p>
                      <a:r>
                        <a:rPr lang="en-US" sz="2400" dirty="0"/>
                        <a:t>5. Have stability</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71600" y="685800"/>
            <a:ext cx="6629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t>Fundamental Particles </a:t>
            </a:r>
            <a:r>
              <a:rPr lang="en-US" sz="3200" b="1" dirty="0"/>
              <a:t>of Atom</a:t>
            </a:r>
          </a:p>
        </p:txBody>
      </p:sp>
      <p:sp>
        <p:nvSpPr>
          <p:cNvPr id="6" name="Down Arrow 5"/>
          <p:cNvSpPr/>
          <p:nvPr/>
        </p:nvSpPr>
        <p:spPr>
          <a:xfrm>
            <a:off x="4419600" y="1600200"/>
            <a:ext cx="76200" cy="4450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28600" y="2286000"/>
            <a:ext cx="21336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1.Stable fundamental particles</a:t>
            </a:r>
          </a:p>
        </p:txBody>
      </p:sp>
      <p:sp>
        <p:nvSpPr>
          <p:cNvPr id="8" name="Rounded Rectangle 7"/>
          <p:cNvSpPr/>
          <p:nvPr/>
        </p:nvSpPr>
        <p:spPr>
          <a:xfrm>
            <a:off x="2667000" y="2438400"/>
            <a:ext cx="2819400"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2. Unstable fundamental particles</a:t>
            </a:r>
          </a:p>
        </p:txBody>
      </p:sp>
      <p:sp>
        <p:nvSpPr>
          <p:cNvPr id="9" name="Rectangle 8"/>
          <p:cNvSpPr/>
          <p:nvPr/>
        </p:nvSpPr>
        <p:spPr>
          <a:xfrm>
            <a:off x="5867400" y="2514600"/>
            <a:ext cx="2819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3. Composite particles</a:t>
            </a:r>
          </a:p>
        </p:txBody>
      </p:sp>
      <p:cxnSp>
        <p:nvCxnSpPr>
          <p:cNvPr id="11" name="Straight Connector 10"/>
          <p:cNvCxnSpPr/>
          <p:nvPr/>
        </p:nvCxnSpPr>
        <p:spPr>
          <a:xfrm>
            <a:off x="1371600" y="2057400"/>
            <a:ext cx="5867400" cy="1588"/>
          </a:xfrm>
          <a:prstGeom prst="line">
            <a:avLst/>
          </a:prstGeom>
          <a:ln w="57150">
            <a:solidFill>
              <a:srgbClr val="92D050"/>
            </a:solidFill>
          </a:ln>
        </p:spPr>
        <p:style>
          <a:lnRef idx="1">
            <a:schemeClr val="accent1"/>
          </a:lnRef>
          <a:fillRef idx="0">
            <a:schemeClr val="accent1"/>
          </a:fillRef>
          <a:effectRef idx="0">
            <a:schemeClr val="accent1"/>
          </a:effectRef>
          <a:fontRef idx="minor">
            <a:schemeClr val="tx1"/>
          </a:fontRef>
        </p:style>
      </p:cxnSp>
      <p:sp>
        <p:nvSpPr>
          <p:cNvPr id="13" name="Down Arrow 12"/>
          <p:cNvSpPr/>
          <p:nvPr/>
        </p:nvSpPr>
        <p:spPr>
          <a:xfrm>
            <a:off x="1295400" y="2057400"/>
            <a:ext cx="1524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p:cNvSpPr/>
          <p:nvPr/>
        </p:nvSpPr>
        <p:spPr>
          <a:xfrm>
            <a:off x="4267200" y="2057400"/>
            <a:ext cx="762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4"/>
          <p:cNvSpPr/>
          <p:nvPr/>
        </p:nvSpPr>
        <p:spPr>
          <a:xfrm>
            <a:off x="7208517" y="2133600"/>
            <a:ext cx="45719"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nip Single Corner Rectangle 15"/>
          <p:cNvSpPr/>
          <p:nvPr/>
        </p:nvSpPr>
        <p:spPr>
          <a:xfrm>
            <a:off x="0" y="4267200"/>
            <a:ext cx="1371600" cy="609600"/>
          </a:xfrm>
          <a:prstGeom prst="snip1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Electron(e-)</a:t>
            </a:r>
          </a:p>
        </p:txBody>
      </p:sp>
      <p:sp>
        <p:nvSpPr>
          <p:cNvPr id="18" name="Snip and Round Single Corner Rectangle 17"/>
          <p:cNvSpPr/>
          <p:nvPr/>
        </p:nvSpPr>
        <p:spPr>
          <a:xfrm>
            <a:off x="1447800" y="4343400"/>
            <a:ext cx="1447800" cy="609600"/>
          </a:xfrm>
          <a:prstGeom prst="snip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Proton(P)</a:t>
            </a:r>
          </a:p>
        </p:txBody>
      </p:sp>
      <p:sp>
        <p:nvSpPr>
          <p:cNvPr id="19" name="Snip and Round Single Corner Rectangle 18"/>
          <p:cNvSpPr/>
          <p:nvPr/>
        </p:nvSpPr>
        <p:spPr>
          <a:xfrm>
            <a:off x="2971800" y="4419600"/>
            <a:ext cx="1219200" cy="533400"/>
          </a:xfrm>
          <a:prstGeom prst="snip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a:t>Nutron</a:t>
            </a:r>
            <a:r>
              <a:rPr lang="en-US" b="1" dirty="0"/>
              <a:t>(n)</a:t>
            </a:r>
          </a:p>
        </p:txBody>
      </p:sp>
      <p:sp>
        <p:nvSpPr>
          <p:cNvPr id="20" name="Down Arrow 19"/>
          <p:cNvSpPr/>
          <p:nvPr/>
        </p:nvSpPr>
        <p:spPr>
          <a:xfrm>
            <a:off x="1219200" y="3352800"/>
            <a:ext cx="1524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p:nvPr/>
        </p:nvCxnSpPr>
        <p:spPr>
          <a:xfrm rot="5400000">
            <a:off x="1181100" y="4152900"/>
            <a:ext cx="53340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304800" y="3886200"/>
            <a:ext cx="281940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Down Arrow 25"/>
          <p:cNvSpPr/>
          <p:nvPr/>
        </p:nvSpPr>
        <p:spPr>
          <a:xfrm>
            <a:off x="228600" y="3810000"/>
            <a:ext cx="7620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Down Arrow 26"/>
          <p:cNvSpPr/>
          <p:nvPr/>
        </p:nvSpPr>
        <p:spPr>
          <a:xfrm>
            <a:off x="1828800" y="3810000"/>
            <a:ext cx="1524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Down Arrow 27"/>
          <p:cNvSpPr/>
          <p:nvPr/>
        </p:nvSpPr>
        <p:spPr>
          <a:xfrm>
            <a:off x="3124200" y="3886200"/>
            <a:ext cx="762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Down Arrow 28"/>
          <p:cNvSpPr/>
          <p:nvPr/>
        </p:nvSpPr>
        <p:spPr>
          <a:xfrm>
            <a:off x="5029200" y="3352800"/>
            <a:ext cx="2286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4648200" y="3810000"/>
            <a:ext cx="1447800" cy="461665"/>
          </a:xfrm>
          <a:prstGeom prst="rect">
            <a:avLst/>
          </a:prstGeom>
          <a:noFill/>
        </p:spPr>
        <p:txBody>
          <a:bodyPr wrap="square" rtlCol="0">
            <a:spAutoFit/>
          </a:bodyPr>
          <a:lstStyle/>
          <a:p>
            <a:r>
              <a:rPr lang="en-US" sz="2400" dirty="0"/>
              <a:t>Neutrino</a:t>
            </a:r>
            <a:endParaRPr lang="en-US" dirty="0"/>
          </a:p>
        </p:txBody>
      </p:sp>
      <p:sp>
        <p:nvSpPr>
          <p:cNvPr id="23" name="TextBox 22"/>
          <p:cNvSpPr txBox="1"/>
          <p:nvPr/>
        </p:nvSpPr>
        <p:spPr>
          <a:xfrm>
            <a:off x="4572000" y="4191000"/>
            <a:ext cx="2438400" cy="461665"/>
          </a:xfrm>
          <a:prstGeom prst="rect">
            <a:avLst/>
          </a:prstGeom>
          <a:noFill/>
        </p:spPr>
        <p:txBody>
          <a:bodyPr wrap="square" rtlCol="0">
            <a:spAutoFit/>
          </a:bodyPr>
          <a:lstStyle/>
          <a:p>
            <a:r>
              <a:rPr lang="en-US" sz="2400" dirty="0"/>
              <a:t>Anti-neutrino</a:t>
            </a:r>
            <a:endParaRPr lang="en-US" dirty="0"/>
          </a:p>
        </p:txBody>
      </p:sp>
      <p:sp>
        <p:nvSpPr>
          <p:cNvPr id="24" name="TextBox 23"/>
          <p:cNvSpPr txBox="1"/>
          <p:nvPr/>
        </p:nvSpPr>
        <p:spPr>
          <a:xfrm>
            <a:off x="4648200" y="4572000"/>
            <a:ext cx="1905000" cy="461665"/>
          </a:xfrm>
          <a:prstGeom prst="rect">
            <a:avLst/>
          </a:prstGeom>
          <a:noFill/>
        </p:spPr>
        <p:txBody>
          <a:bodyPr wrap="square" rtlCol="0">
            <a:spAutoFit/>
          </a:bodyPr>
          <a:lstStyle/>
          <a:p>
            <a:r>
              <a:rPr lang="en-US" sz="2400" dirty="0" err="1"/>
              <a:t>Gavitron</a:t>
            </a:r>
            <a:endParaRPr lang="en-US" dirty="0"/>
          </a:p>
        </p:txBody>
      </p:sp>
      <p:sp>
        <p:nvSpPr>
          <p:cNvPr id="31" name="TextBox 30"/>
          <p:cNvSpPr txBox="1"/>
          <p:nvPr/>
        </p:nvSpPr>
        <p:spPr>
          <a:xfrm>
            <a:off x="4572000" y="4953000"/>
            <a:ext cx="2057400" cy="523220"/>
          </a:xfrm>
          <a:prstGeom prst="rect">
            <a:avLst/>
          </a:prstGeom>
          <a:noFill/>
        </p:spPr>
        <p:txBody>
          <a:bodyPr wrap="square" rtlCol="0">
            <a:spAutoFit/>
          </a:bodyPr>
          <a:lstStyle/>
          <a:p>
            <a:r>
              <a:rPr lang="en-US" sz="2800" dirty="0"/>
              <a:t>Positron</a:t>
            </a:r>
            <a:endParaRPr lang="en-US" dirty="0"/>
          </a:p>
        </p:txBody>
      </p:sp>
      <p:sp>
        <p:nvSpPr>
          <p:cNvPr id="32" name="Down Arrow 31"/>
          <p:cNvSpPr/>
          <p:nvPr/>
        </p:nvSpPr>
        <p:spPr>
          <a:xfrm>
            <a:off x="7924800" y="3429000"/>
            <a:ext cx="484632" cy="9784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7620000" y="4495800"/>
            <a:ext cx="1524000" cy="461665"/>
          </a:xfrm>
          <a:prstGeom prst="rect">
            <a:avLst/>
          </a:prstGeom>
          <a:noFill/>
        </p:spPr>
        <p:txBody>
          <a:bodyPr wrap="square" rtlCol="0">
            <a:spAutoFit/>
          </a:bodyPr>
          <a:lstStyle/>
          <a:p>
            <a:r>
              <a:rPr lang="en-US" sz="2400" dirty="0"/>
              <a:t>Boson</a:t>
            </a:r>
            <a:endParaRPr lang="en-US" dirty="0"/>
          </a:p>
        </p:txBody>
      </p:sp>
      <p:sp>
        <p:nvSpPr>
          <p:cNvPr id="35" name="TextBox 34"/>
          <p:cNvSpPr txBox="1"/>
          <p:nvPr/>
        </p:nvSpPr>
        <p:spPr>
          <a:xfrm>
            <a:off x="7620000" y="4876800"/>
            <a:ext cx="1143000" cy="461665"/>
          </a:xfrm>
          <a:prstGeom prst="rect">
            <a:avLst/>
          </a:prstGeom>
          <a:noFill/>
        </p:spPr>
        <p:txBody>
          <a:bodyPr wrap="square" rtlCol="0">
            <a:spAutoFit/>
          </a:bodyPr>
          <a:lstStyle/>
          <a:p>
            <a:r>
              <a:rPr lang="en-US" sz="2400" dirty="0"/>
              <a:t>Meson</a:t>
            </a:r>
            <a:endParaRPr lang="en-US" dirty="0"/>
          </a:p>
        </p:txBody>
      </p:sp>
      <p:sp>
        <p:nvSpPr>
          <p:cNvPr id="36" name="TextBox 35"/>
          <p:cNvSpPr txBox="1"/>
          <p:nvPr/>
        </p:nvSpPr>
        <p:spPr>
          <a:xfrm>
            <a:off x="7620000" y="5257800"/>
            <a:ext cx="1066800" cy="523220"/>
          </a:xfrm>
          <a:prstGeom prst="rect">
            <a:avLst/>
          </a:prstGeom>
          <a:noFill/>
        </p:spPr>
        <p:txBody>
          <a:bodyPr wrap="square" rtlCol="0">
            <a:spAutoFit/>
          </a:bodyPr>
          <a:lstStyle/>
          <a:p>
            <a:r>
              <a:rPr lang="en-US" sz="2800" dirty="0" err="1"/>
              <a:t>Pion</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0" y="1397000"/>
          <a:ext cx="9144000" cy="3175001"/>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472047">
                <a:tc>
                  <a:txBody>
                    <a:bodyPr/>
                    <a:lstStyle/>
                    <a:p>
                      <a:endParaRPr lang="en-US" dirty="0"/>
                    </a:p>
                  </a:txBody>
                  <a:tcPr/>
                </a:tc>
                <a:tc>
                  <a:txBody>
                    <a:bodyPr/>
                    <a:lstStyle/>
                    <a:p>
                      <a:r>
                        <a:rPr lang="en-US" sz="2400" dirty="0"/>
                        <a:t>Electron (e-)</a:t>
                      </a:r>
                    </a:p>
                  </a:txBody>
                  <a:tcPr/>
                </a:tc>
                <a:tc>
                  <a:txBody>
                    <a:bodyPr/>
                    <a:lstStyle/>
                    <a:p>
                      <a:r>
                        <a:rPr lang="en-US" sz="2400" dirty="0"/>
                        <a:t>Proton (P)</a:t>
                      </a:r>
                    </a:p>
                  </a:txBody>
                  <a:tcPr/>
                </a:tc>
                <a:tc>
                  <a:txBody>
                    <a:bodyPr/>
                    <a:lstStyle/>
                    <a:p>
                      <a:r>
                        <a:rPr lang="en-US" sz="2400" dirty="0"/>
                        <a:t>Neutron (n)</a:t>
                      </a:r>
                    </a:p>
                  </a:txBody>
                  <a:tcPr/>
                </a:tc>
                <a:extLst>
                  <a:ext uri="{0D108BD9-81ED-4DB2-BD59-A6C34878D82A}">
                    <a16:rowId xmlns:a16="http://schemas.microsoft.com/office/drawing/2014/main" val="10000"/>
                  </a:ext>
                </a:extLst>
              </a:tr>
              <a:tr h="472047">
                <a:tc>
                  <a:txBody>
                    <a:bodyPr/>
                    <a:lstStyle/>
                    <a:p>
                      <a:pPr marL="342900" indent="-342900">
                        <a:buAutoNum type="arabicPeriod"/>
                      </a:pPr>
                      <a:r>
                        <a:rPr lang="en-US" sz="2400" b="1" dirty="0"/>
                        <a:t>Discoverer</a:t>
                      </a:r>
                    </a:p>
                  </a:txBody>
                  <a:tcPr/>
                </a:tc>
                <a:tc>
                  <a:txBody>
                    <a:bodyPr/>
                    <a:lstStyle/>
                    <a:p>
                      <a:r>
                        <a:rPr lang="en-US" sz="2000" dirty="0"/>
                        <a:t>J.J.</a:t>
                      </a:r>
                      <a:r>
                        <a:rPr lang="en-US" sz="2000" baseline="0" dirty="0"/>
                        <a:t> Thomson(1897)</a:t>
                      </a:r>
                      <a:endParaRPr lang="en-US" sz="2000" dirty="0"/>
                    </a:p>
                  </a:txBody>
                  <a:tcPr/>
                </a:tc>
                <a:tc>
                  <a:txBody>
                    <a:bodyPr/>
                    <a:lstStyle/>
                    <a:p>
                      <a:r>
                        <a:rPr lang="en-US" sz="2000" dirty="0"/>
                        <a:t>Rutherford (1919)</a:t>
                      </a:r>
                    </a:p>
                  </a:txBody>
                  <a:tcPr/>
                </a:tc>
                <a:tc>
                  <a:txBody>
                    <a:bodyPr/>
                    <a:lstStyle/>
                    <a:p>
                      <a:r>
                        <a:rPr lang="en-US" sz="2000" dirty="0"/>
                        <a:t>Chadwick (1932)</a:t>
                      </a:r>
                    </a:p>
                  </a:txBody>
                  <a:tcPr/>
                </a:tc>
                <a:extLst>
                  <a:ext uri="{0D108BD9-81ED-4DB2-BD59-A6C34878D82A}">
                    <a16:rowId xmlns:a16="http://schemas.microsoft.com/office/drawing/2014/main" val="10001"/>
                  </a:ext>
                </a:extLst>
              </a:tr>
              <a:tr h="472047">
                <a:tc>
                  <a:txBody>
                    <a:bodyPr/>
                    <a:lstStyle/>
                    <a:p>
                      <a:r>
                        <a:rPr lang="en-US" sz="2400" b="1" dirty="0"/>
                        <a:t>2. Symbol</a:t>
                      </a:r>
                    </a:p>
                  </a:txBody>
                  <a:tcPr/>
                </a:tc>
                <a:tc>
                  <a:txBody>
                    <a:bodyPr/>
                    <a:lstStyle/>
                    <a:p>
                      <a:r>
                        <a:rPr lang="en-US" sz="2000" dirty="0"/>
                        <a:t>         e-</a:t>
                      </a:r>
                    </a:p>
                  </a:txBody>
                  <a:tcPr/>
                </a:tc>
                <a:tc>
                  <a:txBody>
                    <a:bodyPr/>
                    <a:lstStyle/>
                    <a:p>
                      <a:r>
                        <a:rPr lang="en-US" sz="2000" dirty="0"/>
                        <a:t>       H+</a:t>
                      </a:r>
                      <a:r>
                        <a:rPr lang="en-US" sz="2000" baseline="0" dirty="0"/>
                        <a:t>  /  P</a:t>
                      </a:r>
                      <a:endParaRPr lang="en-US" sz="2000" dirty="0"/>
                    </a:p>
                  </a:txBody>
                  <a:tcPr/>
                </a:tc>
                <a:tc>
                  <a:txBody>
                    <a:bodyPr/>
                    <a:lstStyle/>
                    <a:p>
                      <a:r>
                        <a:rPr lang="en-US" sz="2000" dirty="0"/>
                        <a:t>        n</a:t>
                      </a:r>
                    </a:p>
                  </a:txBody>
                  <a:tcPr/>
                </a:tc>
                <a:extLst>
                  <a:ext uri="{0D108BD9-81ED-4DB2-BD59-A6C34878D82A}">
                    <a16:rowId xmlns:a16="http://schemas.microsoft.com/office/drawing/2014/main" val="10002"/>
                  </a:ext>
                </a:extLst>
              </a:tr>
              <a:tr h="814766">
                <a:tc>
                  <a:txBody>
                    <a:bodyPr/>
                    <a:lstStyle/>
                    <a:p>
                      <a:r>
                        <a:rPr lang="en-US" sz="2400" b="1" dirty="0"/>
                        <a:t>3. Position</a:t>
                      </a:r>
                    </a:p>
                  </a:txBody>
                  <a:tcPr/>
                </a:tc>
                <a:tc>
                  <a:txBody>
                    <a:bodyPr/>
                    <a:lstStyle/>
                    <a:p>
                      <a:r>
                        <a:rPr lang="en-US" sz="2000" dirty="0"/>
                        <a:t>Outside</a:t>
                      </a:r>
                      <a:r>
                        <a:rPr lang="en-US" sz="2000" baseline="0" dirty="0"/>
                        <a:t> </a:t>
                      </a:r>
                      <a:r>
                        <a:rPr lang="en-US" sz="2000" dirty="0"/>
                        <a:t>nucleus/shell</a:t>
                      </a:r>
                    </a:p>
                  </a:txBody>
                  <a:tcPr/>
                </a:tc>
                <a:tc>
                  <a:txBody>
                    <a:bodyPr/>
                    <a:lstStyle/>
                    <a:p>
                      <a:r>
                        <a:rPr lang="en-US" sz="2000" dirty="0"/>
                        <a:t>Inside nucleus</a:t>
                      </a:r>
                    </a:p>
                  </a:txBody>
                  <a:tcPr/>
                </a:tc>
                <a:tc>
                  <a:txBody>
                    <a:bodyPr/>
                    <a:lstStyle/>
                    <a:p>
                      <a:r>
                        <a:rPr lang="en-US" sz="2000" dirty="0"/>
                        <a:t>Inside nucleus</a:t>
                      </a:r>
                    </a:p>
                  </a:txBody>
                  <a:tcPr/>
                </a:tc>
                <a:extLst>
                  <a:ext uri="{0D108BD9-81ED-4DB2-BD59-A6C34878D82A}">
                    <a16:rowId xmlns:a16="http://schemas.microsoft.com/office/drawing/2014/main" val="10003"/>
                  </a:ext>
                </a:extLst>
              </a:tr>
              <a:tr h="472047">
                <a:tc>
                  <a:txBody>
                    <a:bodyPr/>
                    <a:lstStyle/>
                    <a:p>
                      <a:r>
                        <a:rPr lang="en-US" sz="2400" b="1" dirty="0"/>
                        <a:t>4. Charge</a:t>
                      </a:r>
                    </a:p>
                  </a:txBody>
                  <a:tcPr/>
                </a:tc>
                <a:tc>
                  <a:txBody>
                    <a:bodyPr/>
                    <a:lstStyle/>
                    <a:p>
                      <a:r>
                        <a:rPr lang="en-US" sz="2000" dirty="0"/>
                        <a:t>─1.6×10 ^-19  C</a:t>
                      </a:r>
                    </a:p>
                  </a:txBody>
                  <a:tcPr/>
                </a:tc>
                <a:tc>
                  <a:txBody>
                    <a:bodyPr/>
                    <a:lstStyle/>
                    <a:p>
                      <a:r>
                        <a:rPr lang="en-US" sz="2000" dirty="0"/>
                        <a:t>+1.6×10^ -19  C</a:t>
                      </a:r>
                    </a:p>
                  </a:txBody>
                  <a:tcPr/>
                </a:tc>
                <a:tc>
                  <a:txBody>
                    <a:bodyPr/>
                    <a:lstStyle/>
                    <a:p>
                      <a:r>
                        <a:rPr lang="en-US" sz="2000" dirty="0"/>
                        <a:t>     0</a:t>
                      </a:r>
                    </a:p>
                  </a:txBody>
                  <a:tcPr/>
                </a:tc>
                <a:extLst>
                  <a:ext uri="{0D108BD9-81ED-4DB2-BD59-A6C34878D82A}">
                    <a16:rowId xmlns:a16="http://schemas.microsoft.com/office/drawing/2014/main" val="10004"/>
                  </a:ext>
                </a:extLst>
              </a:tr>
              <a:tr h="472047">
                <a:tc>
                  <a:txBody>
                    <a:bodyPr/>
                    <a:lstStyle/>
                    <a:p>
                      <a:r>
                        <a:rPr lang="en-US" sz="2400" b="1" dirty="0"/>
                        <a:t>5. Mass</a:t>
                      </a:r>
                    </a:p>
                  </a:txBody>
                  <a:tcPr/>
                </a:tc>
                <a:tc>
                  <a:txBody>
                    <a:bodyPr/>
                    <a:lstStyle/>
                    <a:p>
                      <a:r>
                        <a:rPr lang="en-US" sz="2000" dirty="0"/>
                        <a:t>9.11 ×10^ -28  gm</a:t>
                      </a:r>
                    </a:p>
                  </a:txBody>
                  <a:tcPr/>
                </a:tc>
                <a:tc>
                  <a:txBody>
                    <a:bodyPr/>
                    <a:lstStyle/>
                    <a:p>
                      <a:r>
                        <a:rPr lang="en-US" sz="2000" dirty="0"/>
                        <a:t>1.673×10 ^-24  gm</a:t>
                      </a:r>
                    </a:p>
                  </a:txBody>
                  <a:tcPr/>
                </a:tc>
                <a:tc>
                  <a:txBody>
                    <a:bodyPr/>
                    <a:lstStyle/>
                    <a:p>
                      <a:r>
                        <a:rPr lang="en-US" sz="2000" dirty="0"/>
                        <a:t>1.675×10^ -24  gm</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304800" y="838200"/>
            <a:ext cx="762000" cy="7620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A</a:t>
            </a:r>
          </a:p>
        </p:txBody>
      </p:sp>
      <p:sp>
        <p:nvSpPr>
          <p:cNvPr id="5" name="Oval 4"/>
          <p:cNvSpPr/>
          <p:nvPr/>
        </p:nvSpPr>
        <p:spPr>
          <a:xfrm>
            <a:off x="457200" y="2057400"/>
            <a:ext cx="762000" cy="7620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Z</a:t>
            </a:r>
          </a:p>
        </p:txBody>
      </p:sp>
      <p:sp>
        <p:nvSpPr>
          <p:cNvPr id="6" name="Oval 5"/>
          <p:cNvSpPr/>
          <p:nvPr/>
        </p:nvSpPr>
        <p:spPr>
          <a:xfrm>
            <a:off x="2057400" y="1981200"/>
            <a:ext cx="762000" cy="7620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n</a:t>
            </a:r>
          </a:p>
        </p:txBody>
      </p:sp>
      <p:sp>
        <p:nvSpPr>
          <p:cNvPr id="7" name="Oval 6"/>
          <p:cNvSpPr/>
          <p:nvPr/>
        </p:nvSpPr>
        <p:spPr>
          <a:xfrm>
            <a:off x="2057400" y="914400"/>
            <a:ext cx="762000" cy="7620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m±</a:t>
            </a:r>
          </a:p>
        </p:txBody>
      </p:sp>
      <p:cxnSp>
        <p:nvCxnSpPr>
          <p:cNvPr id="9" name="Straight Connector 8"/>
          <p:cNvCxnSpPr/>
          <p:nvPr/>
        </p:nvCxnSpPr>
        <p:spPr>
          <a:xfrm>
            <a:off x="838200" y="1219200"/>
            <a:ext cx="1371600" cy="11430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5400000" flipH="1" flipV="1">
            <a:off x="990600" y="1295400"/>
            <a:ext cx="1143000" cy="11430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ight Arrow 17"/>
          <p:cNvSpPr/>
          <p:nvPr/>
        </p:nvSpPr>
        <p:spPr>
          <a:xfrm>
            <a:off x="228600" y="30480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p:cNvSpPr/>
          <p:nvPr/>
        </p:nvSpPr>
        <p:spPr>
          <a:xfrm>
            <a:off x="838200" y="40386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1524000" y="48768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1219200" y="2971800"/>
            <a:ext cx="2133600" cy="584775"/>
          </a:xfrm>
          <a:prstGeom prst="rect">
            <a:avLst/>
          </a:prstGeom>
          <a:noFill/>
        </p:spPr>
        <p:txBody>
          <a:bodyPr wrap="square" rtlCol="0">
            <a:spAutoFit/>
          </a:bodyPr>
          <a:lstStyle/>
          <a:p>
            <a:r>
              <a:rPr lang="en-US" sz="3200" b="1"/>
              <a:t>Isotope-</a:t>
            </a:r>
            <a:endParaRPr lang="en-US" sz="3200" b="1" dirty="0"/>
          </a:p>
        </p:txBody>
      </p:sp>
      <p:sp>
        <p:nvSpPr>
          <p:cNvPr id="22" name="TextBox 21"/>
          <p:cNvSpPr txBox="1"/>
          <p:nvPr/>
        </p:nvSpPr>
        <p:spPr>
          <a:xfrm>
            <a:off x="1828800" y="4038600"/>
            <a:ext cx="2667000" cy="584775"/>
          </a:xfrm>
          <a:prstGeom prst="rect">
            <a:avLst/>
          </a:prstGeom>
          <a:noFill/>
        </p:spPr>
        <p:txBody>
          <a:bodyPr wrap="square" rtlCol="0">
            <a:spAutoFit/>
          </a:bodyPr>
          <a:lstStyle/>
          <a:p>
            <a:r>
              <a:rPr lang="en-US" sz="3200" b="1" dirty="0"/>
              <a:t>Isobar-</a:t>
            </a:r>
          </a:p>
        </p:txBody>
      </p:sp>
      <p:sp>
        <p:nvSpPr>
          <p:cNvPr id="23" name="TextBox 22"/>
          <p:cNvSpPr txBox="1"/>
          <p:nvPr/>
        </p:nvSpPr>
        <p:spPr>
          <a:xfrm>
            <a:off x="2514600" y="4724400"/>
            <a:ext cx="2743200" cy="584775"/>
          </a:xfrm>
          <a:prstGeom prst="rect">
            <a:avLst/>
          </a:prstGeom>
          <a:noFill/>
        </p:spPr>
        <p:txBody>
          <a:bodyPr wrap="square" rtlCol="0">
            <a:spAutoFit/>
          </a:bodyPr>
          <a:lstStyle/>
          <a:p>
            <a:r>
              <a:rPr lang="en-US" sz="3200" b="1" dirty="0" err="1"/>
              <a:t>Isoton</a:t>
            </a:r>
            <a:r>
              <a:rPr lang="en-US" sz="3200" b="1" dirty="0"/>
              <a:t>-</a:t>
            </a:r>
          </a:p>
        </p:txBody>
      </p:sp>
      <p:sp>
        <p:nvSpPr>
          <p:cNvPr id="14" name="Right Arrow 13"/>
          <p:cNvSpPr/>
          <p:nvPr/>
        </p:nvSpPr>
        <p:spPr>
          <a:xfrm>
            <a:off x="2286000" y="57150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3352800" y="5562600"/>
            <a:ext cx="2590800" cy="584775"/>
          </a:xfrm>
          <a:prstGeom prst="rect">
            <a:avLst/>
          </a:prstGeom>
          <a:noFill/>
        </p:spPr>
        <p:txBody>
          <a:bodyPr wrap="square" rtlCol="0">
            <a:spAutoFit/>
          </a:bodyPr>
          <a:lstStyle/>
          <a:p>
            <a:r>
              <a:rPr lang="en-US" sz="3200" b="1" dirty="0" err="1"/>
              <a:t>Iso</a:t>
            </a:r>
            <a:r>
              <a:rPr lang="en-US" sz="3200" b="1" dirty="0"/>
              <a:t> electronic-</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33600" y="-152400"/>
            <a:ext cx="4648200" cy="707886"/>
          </a:xfrm>
          <a:prstGeom prst="rect">
            <a:avLst/>
          </a:prstGeom>
          <a:noFill/>
        </p:spPr>
        <p:txBody>
          <a:bodyPr wrap="square" rtlCol="0">
            <a:spAutoFit/>
          </a:bodyPr>
          <a:lstStyle/>
          <a:p>
            <a:pPr algn="ctr"/>
            <a:r>
              <a:rPr lang="en-US" sz="4000" b="1" u="sng" dirty="0"/>
              <a:t>Spectrum</a:t>
            </a:r>
          </a:p>
        </p:txBody>
      </p:sp>
      <p:sp>
        <p:nvSpPr>
          <p:cNvPr id="5" name="TextBox 4"/>
          <p:cNvSpPr txBox="1"/>
          <p:nvPr/>
        </p:nvSpPr>
        <p:spPr>
          <a:xfrm>
            <a:off x="228600" y="457200"/>
            <a:ext cx="8686800" cy="1384995"/>
          </a:xfrm>
          <a:prstGeom prst="rect">
            <a:avLst/>
          </a:prstGeom>
          <a:noFill/>
        </p:spPr>
        <p:txBody>
          <a:bodyPr wrap="square" rtlCol="0">
            <a:spAutoFit/>
          </a:bodyPr>
          <a:lstStyle/>
          <a:p>
            <a:r>
              <a:rPr lang="en-US" sz="2800" dirty="0"/>
              <a:t>A spectrum is any array of waves or particles which is spread out according to the increasing / decreasing of some properties such as wave-length or frequency.</a:t>
            </a:r>
          </a:p>
        </p:txBody>
      </p:sp>
      <p:sp>
        <p:nvSpPr>
          <p:cNvPr id="6" name="Flowchart: Punched Tape 5"/>
          <p:cNvSpPr/>
          <p:nvPr/>
        </p:nvSpPr>
        <p:spPr>
          <a:xfrm>
            <a:off x="2971800" y="1828800"/>
            <a:ext cx="2286000" cy="804672"/>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Spectra</a:t>
            </a:r>
          </a:p>
        </p:txBody>
      </p:sp>
      <p:sp>
        <p:nvSpPr>
          <p:cNvPr id="8" name="Flowchart: Punched Tape 7"/>
          <p:cNvSpPr/>
          <p:nvPr/>
        </p:nvSpPr>
        <p:spPr>
          <a:xfrm>
            <a:off x="914400" y="3276600"/>
            <a:ext cx="3657600" cy="804672"/>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1.Emission spectra</a:t>
            </a:r>
          </a:p>
        </p:txBody>
      </p:sp>
      <p:sp>
        <p:nvSpPr>
          <p:cNvPr id="9" name="Flowchart: Punched Tape 8"/>
          <p:cNvSpPr/>
          <p:nvPr/>
        </p:nvSpPr>
        <p:spPr>
          <a:xfrm>
            <a:off x="5334000" y="3352800"/>
            <a:ext cx="3429000" cy="804672"/>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2. Absorption spectra</a:t>
            </a:r>
          </a:p>
        </p:txBody>
      </p:sp>
      <p:sp>
        <p:nvSpPr>
          <p:cNvPr id="10" name="Flowchart: Process 9"/>
          <p:cNvSpPr/>
          <p:nvPr/>
        </p:nvSpPr>
        <p:spPr>
          <a:xfrm>
            <a:off x="0" y="4648200"/>
            <a:ext cx="2590800" cy="7620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Continuous spectra</a:t>
            </a:r>
          </a:p>
        </p:txBody>
      </p:sp>
      <p:sp>
        <p:nvSpPr>
          <p:cNvPr id="11" name="Flowchart: Process 10"/>
          <p:cNvSpPr/>
          <p:nvPr/>
        </p:nvSpPr>
        <p:spPr>
          <a:xfrm>
            <a:off x="3048000" y="4724400"/>
            <a:ext cx="3124200" cy="61264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Discontinuous spectra</a:t>
            </a:r>
          </a:p>
        </p:txBody>
      </p:sp>
      <p:sp>
        <p:nvSpPr>
          <p:cNvPr id="12" name="Flowchart: Alternate Process 11"/>
          <p:cNvSpPr/>
          <p:nvPr/>
        </p:nvSpPr>
        <p:spPr>
          <a:xfrm>
            <a:off x="1143000" y="6019800"/>
            <a:ext cx="2362200" cy="6126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Band spectrum </a:t>
            </a:r>
          </a:p>
        </p:txBody>
      </p:sp>
      <p:sp>
        <p:nvSpPr>
          <p:cNvPr id="13" name="Flowchart: Alternate Process 12"/>
          <p:cNvSpPr/>
          <p:nvPr/>
        </p:nvSpPr>
        <p:spPr>
          <a:xfrm>
            <a:off x="5334000" y="6096000"/>
            <a:ext cx="3276600" cy="6126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Line (Atomic) spectrum</a:t>
            </a:r>
          </a:p>
        </p:txBody>
      </p:sp>
      <p:sp>
        <p:nvSpPr>
          <p:cNvPr id="14" name="Down Arrow 13"/>
          <p:cNvSpPr/>
          <p:nvPr/>
        </p:nvSpPr>
        <p:spPr>
          <a:xfrm>
            <a:off x="4191000" y="2514600"/>
            <a:ext cx="7620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p:cNvCxnSpPr/>
          <p:nvPr/>
        </p:nvCxnSpPr>
        <p:spPr>
          <a:xfrm>
            <a:off x="2209800" y="2895600"/>
            <a:ext cx="4876800" cy="15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Down Arrow 16"/>
          <p:cNvSpPr/>
          <p:nvPr/>
        </p:nvSpPr>
        <p:spPr>
          <a:xfrm>
            <a:off x="2133600" y="2895600"/>
            <a:ext cx="762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own Arrow 17"/>
          <p:cNvSpPr/>
          <p:nvPr/>
        </p:nvSpPr>
        <p:spPr>
          <a:xfrm>
            <a:off x="7010400" y="2895600"/>
            <a:ext cx="1524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own Arrow 18"/>
          <p:cNvSpPr/>
          <p:nvPr/>
        </p:nvSpPr>
        <p:spPr>
          <a:xfrm flipH="1">
            <a:off x="2971799" y="3962400"/>
            <a:ext cx="45719"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p:cNvCxnSpPr/>
          <p:nvPr/>
        </p:nvCxnSpPr>
        <p:spPr>
          <a:xfrm>
            <a:off x="914400" y="4343400"/>
            <a:ext cx="3810000" cy="158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2" name="Down Arrow 21"/>
          <p:cNvSpPr/>
          <p:nvPr/>
        </p:nvSpPr>
        <p:spPr>
          <a:xfrm>
            <a:off x="1066800" y="4343400"/>
            <a:ext cx="762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own Arrow 22"/>
          <p:cNvSpPr/>
          <p:nvPr/>
        </p:nvSpPr>
        <p:spPr>
          <a:xfrm>
            <a:off x="4648200" y="4419600"/>
            <a:ext cx="152400" cy="228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own Arrow 23"/>
          <p:cNvSpPr/>
          <p:nvPr/>
        </p:nvSpPr>
        <p:spPr>
          <a:xfrm>
            <a:off x="5029200" y="5410200"/>
            <a:ext cx="762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p:cNvCxnSpPr/>
          <p:nvPr/>
        </p:nvCxnSpPr>
        <p:spPr>
          <a:xfrm>
            <a:off x="2438400" y="5715000"/>
            <a:ext cx="4800600" cy="158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7" name="Down Arrow 26"/>
          <p:cNvSpPr/>
          <p:nvPr/>
        </p:nvSpPr>
        <p:spPr>
          <a:xfrm>
            <a:off x="2438400" y="5791200"/>
            <a:ext cx="76200" cy="228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Down Arrow 27"/>
          <p:cNvSpPr/>
          <p:nvPr/>
        </p:nvSpPr>
        <p:spPr>
          <a:xfrm>
            <a:off x="7086600" y="5715000"/>
            <a:ext cx="1524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152400"/>
            <a:ext cx="8686800" cy="769441"/>
          </a:xfrm>
          <a:prstGeom prst="rect">
            <a:avLst/>
          </a:prstGeom>
          <a:noFill/>
        </p:spPr>
        <p:txBody>
          <a:bodyPr wrap="square" rtlCol="0">
            <a:spAutoFit/>
          </a:bodyPr>
          <a:lstStyle/>
          <a:p>
            <a:pPr algn="ctr"/>
            <a:r>
              <a:rPr lang="en-US" sz="4400" b="1" u="sng" dirty="0"/>
              <a:t>Line spectrum</a:t>
            </a:r>
            <a:r>
              <a:rPr lang="en-US" sz="4400" b="1" dirty="0"/>
              <a:t> / </a:t>
            </a:r>
            <a:r>
              <a:rPr lang="en-US" sz="4400" b="1" u="sng" dirty="0"/>
              <a:t>Atomic spectrum</a:t>
            </a:r>
          </a:p>
        </p:txBody>
      </p:sp>
      <p:sp>
        <p:nvSpPr>
          <p:cNvPr id="5" name="TextBox 4"/>
          <p:cNvSpPr txBox="1"/>
          <p:nvPr/>
        </p:nvSpPr>
        <p:spPr>
          <a:xfrm>
            <a:off x="381000" y="1219200"/>
            <a:ext cx="8382000" cy="3662541"/>
          </a:xfrm>
          <a:prstGeom prst="rect">
            <a:avLst/>
          </a:prstGeom>
          <a:noFill/>
        </p:spPr>
        <p:txBody>
          <a:bodyPr wrap="square" rtlCol="0">
            <a:spAutoFit/>
          </a:bodyPr>
          <a:lstStyle/>
          <a:p>
            <a:r>
              <a:rPr lang="en-US" sz="2800" dirty="0"/>
              <a:t>When an atom of an element ,whether free or in combined state , absorb energy and gets excited . The excited atom emits light radiations of a characteristic </a:t>
            </a:r>
            <a:r>
              <a:rPr lang="en-US" sz="2800" dirty="0" err="1"/>
              <a:t>colour</a:t>
            </a:r>
            <a:r>
              <a:rPr lang="en-US" sz="2800" dirty="0"/>
              <a:t>. When this emitted radiation is allowed to pass through a prism , it is resolved into individual components. The </a:t>
            </a:r>
            <a:r>
              <a:rPr lang="en-US" sz="2800" dirty="0" err="1"/>
              <a:t>patern</a:t>
            </a:r>
            <a:r>
              <a:rPr lang="en-US" sz="2800" dirty="0"/>
              <a:t> of </a:t>
            </a:r>
            <a:r>
              <a:rPr lang="en-US" sz="2800" dirty="0" err="1"/>
              <a:t>differeent</a:t>
            </a:r>
            <a:r>
              <a:rPr lang="en-US" sz="2800" dirty="0"/>
              <a:t> components of the radiation is called line / atomic spectrum.</a:t>
            </a:r>
          </a:p>
          <a:p>
            <a:r>
              <a:rPr lang="en-US" sz="3600" b="1" i="1" u="sng" dirty="0"/>
              <a:t>Exam</a:t>
            </a:r>
            <a:r>
              <a:rPr lang="en-US" sz="2800" b="1" i="1" dirty="0"/>
              <a:t>:  </a:t>
            </a:r>
            <a:r>
              <a:rPr lang="en-US" sz="2800" dirty="0"/>
              <a:t>Na-spectrum , H- spectrum , etc</a:t>
            </a:r>
            <a:r>
              <a:rPr lang="en-US" dirty="0"/>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5800" y="0"/>
            <a:ext cx="7010400" cy="923330"/>
          </a:xfrm>
          <a:prstGeom prst="rect">
            <a:avLst/>
          </a:prstGeom>
          <a:noFill/>
        </p:spPr>
        <p:txBody>
          <a:bodyPr wrap="square" rtlCol="0">
            <a:spAutoFit/>
          </a:bodyPr>
          <a:lstStyle/>
          <a:p>
            <a:pPr algn="ctr"/>
            <a:r>
              <a:rPr lang="en-US" sz="5400" b="1" u="sng" dirty="0"/>
              <a:t>Hydrogen Spectrum</a:t>
            </a:r>
          </a:p>
        </p:txBody>
      </p:sp>
      <p:sp>
        <p:nvSpPr>
          <p:cNvPr id="5" name="TextBox 4"/>
          <p:cNvSpPr txBox="1"/>
          <p:nvPr/>
        </p:nvSpPr>
        <p:spPr>
          <a:xfrm>
            <a:off x="381000" y="1295400"/>
            <a:ext cx="8458200" cy="5016758"/>
          </a:xfrm>
          <a:prstGeom prst="rect">
            <a:avLst/>
          </a:prstGeom>
          <a:noFill/>
        </p:spPr>
        <p:txBody>
          <a:bodyPr wrap="square" rtlCol="0">
            <a:spAutoFit/>
          </a:bodyPr>
          <a:lstStyle/>
          <a:p>
            <a:r>
              <a:rPr lang="en-US" sz="3200" dirty="0"/>
              <a:t>When an electric discharge is passed through hydrogen , the molecules of hydrogen break into atoms. These atoms absorb energy from the electric spark and get excited. The excited atoms give the extra energy in the form of emitted light (bluish light ).</a:t>
            </a:r>
          </a:p>
          <a:p>
            <a:r>
              <a:rPr lang="en-US" sz="3200" dirty="0"/>
              <a:t>When this emitted light is allowed to pass through a prism , line spectrum of hydrogen is obtained . This spectrum is called emission hydrogen spectrum</a:t>
            </a:r>
            <a:r>
              <a:rPr lang="en-US" dirty="0"/>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52400"/>
            <a:ext cx="8839200" cy="707886"/>
          </a:xfrm>
          <a:prstGeom prst="rect">
            <a:avLst/>
          </a:prstGeom>
          <a:noFill/>
        </p:spPr>
        <p:txBody>
          <a:bodyPr wrap="square" rtlCol="0">
            <a:spAutoFit/>
          </a:bodyPr>
          <a:lstStyle/>
          <a:p>
            <a:r>
              <a:rPr lang="en-US" sz="4000" b="1" u="sng" dirty="0"/>
              <a:t>How Hydrogen Spectrum is Obtained </a:t>
            </a:r>
            <a:r>
              <a:rPr lang="en-US" sz="4000" b="1" dirty="0"/>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52400"/>
            <a:ext cx="8915400" cy="769441"/>
          </a:xfrm>
          <a:prstGeom prst="rect">
            <a:avLst/>
          </a:prstGeom>
          <a:noFill/>
        </p:spPr>
        <p:txBody>
          <a:bodyPr wrap="square" rtlCol="0">
            <a:spAutoFit/>
          </a:bodyPr>
          <a:lstStyle/>
          <a:p>
            <a:pPr algn="ctr"/>
            <a:r>
              <a:rPr lang="en-US" sz="4400" b="1" u="sng" dirty="0"/>
              <a:t>Classification of Spectral Lines </a:t>
            </a:r>
          </a:p>
        </p:txBody>
      </p:sp>
      <p:sp>
        <p:nvSpPr>
          <p:cNvPr id="5" name="TextBox 4"/>
          <p:cNvSpPr txBox="1"/>
          <p:nvPr/>
        </p:nvSpPr>
        <p:spPr>
          <a:xfrm>
            <a:off x="304800" y="1066800"/>
            <a:ext cx="7620000" cy="523220"/>
          </a:xfrm>
          <a:prstGeom prst="rect">
            <a:avLst/>
          </a:prstGeom>
          <a:noFill/>
        </p:spPr>
        <p:txBody>
          <a:bodyPr wrap="square" rtlCol="0">
            <a:spAutoFit/>
          </a:bodyPr>
          <a:lstStyle/>
          <a:p>
            <a:r>
              <a:rPr lang="en-US" sz="2800" dirty="0"/>
              <a:t>1. </a:t>
            </a:r>
            <a:r>
              <a:rPr lang="en-US" sz="2800" u="sng" dirty="0" err="1"/>
              <a:t>Lymen</a:t>
            </a:r>
            <a:r>
              <a:rPr lang="en-US" sz="2800" u="sng" dirty="0"/>
              <a:t> series </a:t>
            </a:r>
            <a:r>
              <a:rPr lang="en-US" sz="2800" dirty="0"/>
              <a:t>:    </a:t>
            </a:r>
            <a:r>
              <a:rPr lang="en-US" sz="2000" dirty="0"/>
              <a:t>n1 = 1  ,   n2 = 2 , 3 , 4 , 5 ,…………………….</a:t>
            </a:r>
          </a:p>
        </p:txBody>
      </p:sp>
      <p:sp>
        <p:nvSpPr>
          <p:cNvPr id="6" name="TextBox 5"/>
          <p:cNvSpPr txBox="1"/>
          <p:nvPr/>
        </p:nvSpPr>
        <p:spPr>
          <a:xfrm>
            <a:off x="304800" y="1828800"/>
            <a:ext cx="8153400" cy="523220"/>
          </a:xfrm>
          <a:prstGeom prst="rect">
            <a:avLst/>
          </a:prstGeom>
          <a:noFill/>
        </p:spPr>
        <p:txBody>
          <a:bodyPr wrap="square" rtlCol="0">
            <a:spAutoFit/>
          </a:bodyPr>
          <a:lstStyle/>
          <a:p>
            <a:r>
              <a:rPr lang="en-US" sz="2800" dirty="0"/>
              <a:t>2. </a:t>
            </a:r>
            <a:r>
              <a:rPr lang="en-US" sz="2800" u="sng" dirty="0" err="1"/>
              <a:t>Balmer</a:t>
            </a:r>
            <a:r>
              <a:rPr lang="en-US" sz="2800" u="sng" dirty="0"/>
              <a:t> seri</a:t>
            </a:r>
            <a:r>
              <a:rPr lang="en-US" sz="2800" i="1" u="sng" dirty="0"/>
              <a:t>es </a:t>
            </a:r>
            <a:r>
              <a:rPr lang="en-US" sz="2800" i="1" dirty="0"/>
              <a:t>:      </a:t>
            </a:r>
            <a:r>
              <a:rPr lang="en-US" sz="2000" i="1" dirty="0"/>
              <a:t>n1 = 2  ,    n2 = 3,4,5,6 ,……………………</a:t>
            </a:r>
            <a:endParaRPr lang="en-US" sz="2000" dirty="0"/>
          </a:p>
        </p:txBody>
      </p:sp>
      <p:sp>
        <p:nvSpPr>
          <p:cNvPr id="7" name="TextBox 6"/>
          <p:cNvSpPr txBox="1"/>
          <p:nvPr/>
        </p:nvSpPr>
        <p:spPr>
          <a:xfrm>
            <a:off x="381000" y="2667000"/>
            <a:ext cx="8077200" cy="523220"/>
          </a:xfrm>
          <a:prstGeom prst="rect">
            <a:avLst/>
          </a:prstGeom>
          <a:noFill/>
        </p:spPr>
        <p:txBody>
          <a:bodyPr wrap="square" rtlCol="0">
            <a:spAutoFit/>
          </a:bodyPr>
          <a:lstStyle/>
          <a:p>
            <a:r>
              <a:rPr lang="en-US" sz="2800" dirty="0"/>
              <a:t>3. </a:t>
            </a:r>
            <a:r>
              <a:rPr lang="en-US" sz="2800" u="sng" dirty="0" err="1"/>
              <a:t>Paschen</a:t>
            </a:r>
            <a:r>
              <a:rPr lang="en-US" sz="2800" u="sng" dirty="0"/>
              <a:t> series </a:t>
            </a:r>
            <a:r>
              <a:rPr lang="en-US" sz="2800" dirty="0"/>
              <a:t>:  </a:t>
            </a:r>
            <a:r>
              <a:rPr lang="en-US" sz="2000" dirty="0"/>
              <a:t>n1 = 3 ,      n2 = 4,5,6,7,……………………</a:t>
            </a:r>
          </a:p>
        </p:txBody>
      </p:sp>
      <p:sp>
        <p:nvSpPr>
          <p:cNvPr id="8" name="TextBox 7"/>
          <p:cNvSpPr txBox="1"/>
          <p:nvPr/>
        </p:nvSpPr>
        <p:spPr>
          <a:xfrm>
            <a:off x="381000" y="3352800"/>
            <a:ext cx="6781800" cy="523220"/>
          </a:xfrm>
          <a:prstGeom prst="rect">
            <a:avLst/>
          </a:prstGeom>
          <a:noFill/>
        </p:spPr>
        <p:txBody>
          <a:bodyPr wrap="square" rtlCol="0">
            <a:spAutoFit/>
          </a:bodyPr>
          <a:lstStyle/>
          <a:p>
            <a:r>
              <a:rPr lang="en-US" sz="2800" dirty="0"/>
              <a:t>4. </a:t>
            </a:r>
            <a:r>
              <a:rPr lang="en-US" sz="2800" u="sng" dirty="0"/>
              <a:t>Brackett series </a:t>
            </a:r>
            <a:r>
              <a:rPr lang="en-US" sz="2800" dirty="0"/>
              <a:t>:  </a:t>
            </a:r>
            <a:r>
              <a:rPr lang="en-US" sz="2000" dirty="0"/>
              <a:t>n1 = 4  ,      n2 = 5,6,7,8,…………..</a:t>
            </a:r>
          </a:p>
        </p:txBody>
      </p:sp>
      <p:sp>
        <p:nvSpPr>
          <p:cNvPr id="9" name="TextBox 8"/>
          <p:cNvSpPr txBox="1"/>
          <p:nvPr/>
        </p:nvSpPr>
        <p:spPr>
          <a:xfrm>
            <a:off x="457200" y="3962400"/>
            <a:ext cx="6934200" cy="523220"/>
          </a:xfrm>
          <a:prstGeom prst="rect">
            <a:avLst/>
          </a:prstGeom>
          <a:noFill/>
        </p:spPr>
        <p:txBody>
          <a:bodyPr wrap="square" rtlCol="0">
            <a:spAutoFit/>
          </a:bodyPr>
          <a:lstStyle/>
          <a:p>
            <a:r>
              <a:rPr lang="en-US" sz="2800" dirty="0"/>
              <a:t>5. </a:t>
            </a:r>
            <a:r>
              <a:rPr lang="en-US" sz="2800" u="sng" dirty="0" err="1"/>
              <a:t>Pfund</a:t>
            </a:r>
            <a:r>
              <a:rPr lang="en-US" sz="2800" u="sng" dirty="0"/>
              <a:t> series </a:t>
            </a:r>
            <a:r>
              <a:rPr lang="en-US" sz="2800" dirty="0"/>
              <a:t>:     </a:t>
            </a:r>
            <a:r>
              <a:rPr lang="en-US" sz="2000" dirty="0"/>
              <a:t>n1 = 5 ,        n2 = 6,7,8,………….</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14400" y="0"/>
            <a:ext cx="6934200" cy="923330"/>
          </a:xfrm>
          <a:prstGeom prst="rect">
            <a:avLst/>
          </a:prstGeom>
          <a:noFill/>
        </p:spPr>
        <p:txBody>
          <a:bodyPr wrap="square" rtlCol="0">
            <a:spAutoFit/>
          </a:bodyPr>
          <a:lstStyle/>
          <a:p>
            <a:pPr algn="ctr"/>
            <a:r>
              <a:rPr lang="en-US" sz="5400" b="1" u="sng" dirty="0"/>
              <a:t>Quantum</a:t>
            </a:r>
            <a:r>
              <a:rPr lang="en-US" dirty="0"/>
              <a:t> </a:t>
            </a:r>
          </a:p>
        </p:txBody>
      </p:sp>
      <p:sp>
        <p:nvSpPr>
          <p:cNvPr id="6" name="TextBox 5"/>
          <p:cNvSpPr txBox="1"/>
          <p:nvPr/>
        </p:nvSpPr>
        <p:spPr>
          <a:xfrm>
            <a:off x="0" y="1219200"/>
            <a:ext cx="9144000" cy="830997"/>
          </a:xfrm>
          <a:prstGeom prst="rect">
            <a:avLst/>
          </a:prstGeom>
          <a:noFill/>
        </p:spPr>
        <p:txBody>
          <a:bodyPr wrap="square" rtlCol="0">
            <a:spAutoFit/>
          </a:bodyPr>
          <a:lstStyle/>
          <a:p>
            <a:r>
              <a:rPr lang="en-US" sz="2400" dirty="0"/>
              <a:t>A quantum is the smallest unit of waves in the form of which a hot body emits radiant energy and which can exist independently</a:t>
            </a:r>
            <a:r>
              <a:rPr lang="en-US" sz="2000" dirty="0"/>
              <a:t>.</a:t>
            </a:r>
          </a:p>
        </p:txBody>
      </p:sp>
      <p:sp>
        <p:nvSpPr>
          <p:cNvPr id="8" name="TextBox 7"/>
          <p:cNvSpPr txBox="1"/>
          <p:nvPr/>
        </p:nvSpPr>
        <p:spPr>
          <a:xfrm>
            <a:off x="304800" y="2209800"/>
            <a:ext cx="8534400" cy="707886"/>
          </a:xfrm>
          <a:prstGeom prst="rect">
            <a:avLst/>
          </a:prstGeom>
          <a:noFill/>
        </p:spPr>
        <p:txBody>
          <a:bodyPr wrap="square" rtlCol="0">
            <a:spAutoFit/>
          </a:bodyPr>
          <a:lstStyle/>
          <a:p>
            <a:pPr algn="ctr"/>
            <a:r>
              <a:rPr lang="en-US" sz="4000" b="1" u="sng" dirty="0"/>
              <a:t>Plank’s Quantum Theory of Radiation</a:t>
            </a:r>
          </a:p>
        </p:txBody>
      </p:sp>
      <p:sp>
        <p:nvSpPr>
          <p:cNvPr id="9" name="TextBox 8"/>
          <p:cNvSpPr txBox="1"/>
          <p:nvPr/>
        </p:nvSpPr>
        <p:spPr>
          <a:xfrm>
            <a:off x="228600" y="2971800"/>
            <a:ext cx="8915400" cy="3046988"/>
          </a:xfrm>
          <a:prstGeom prst="rect">
            <a:avLst/>
          </a:prstGeom>
          <a:noFill/>
        </p:spPr>
        <p:txBody>
          <a:bodyPr wrap="square" rtlCol="0">
            <a:spAutoFit/>
          </a:bodyPr>
          <a:lstStyle/>
          <a:p>
            <a:r>
              <a:rPr lang="en-US" sz="2400" dirty="0"/>
              <a:t>The energy (E) </a:t>
            </a:r>
            <a:r>
              <a:rPr lang="en-US" sz="2400" dirty="0" err="1"/>
              <a:t>asssociated</a:t>
            </a:r>
            <a:r>
              <a:rPr lang="en-US" sz="2400" dirty="0"/>
              <a:t> with each quantum / photon (in case of light ) of a given radiation  / light is proportional to the frequency (v) of the emitted radiation / light</a:t>
            </a:r>
            <a:r>
              <a:rPr lang="en-US" sz="2000" dirty="0"/>
              <a:t>.</a:t>
            </a:r>
          </a:p>
          <a:p>
            <a:r>
              <a:rPr lang="en-US" sz="2800" dirty="0"/>
              <a:t>                      E∞ v          </a:t>
            </a:r>
            <a:r>
              <a:rPr lang="en-US" sz="2000" dirty="0"/>
              <a:t>or</a:t>
            </a:r>
            <a:r>
              <a:rPr lang="en-US" sz="3200" b="1" dirty="0"/>
              <a:t>,  E=</a:t>
            </a:r>
            <a:r>
              <a:rPr lang="en-US" sz="3200" b="1" dirty="0" err="1"/>
              <a:t>hv</a:t>
            </a:r>
            <a:endParaRPr lang="en-US" sz="2000" b="1" dirty="0"/>
          </a:p>
          <a:p>
            <a:r>
              <a:rPr lang="en-US" sz="2000" dirty="0"/>
              <a:t>    Where, h= Plank’s constant = 6.63×10^-34  J-S</a:t>
            </a:r>
          </a:p>
          <a:p>
            <a:r>
              <a:rPr lang="en-US" sz="2000" dirty="0"/>
              <a:t>                 E= Energy associated with each quantum / photon of a given radiation .</a:t>
            </a:r>
          </a:p>
          <a:p>
            <a:r>
              <a:rPr lang="en-US" sz="2000" dirty="0"/>
              <a:t>                  v= Frequency of the emitted radiation of light.</a:t>
            </a:r>
          </a:p>
          <a:p>
            <a:r>
              <a:rPr lang="en-US" sz="2000" dirty="0"/>
              <a:t>This equation </a:t>
            </a:r>
            <a:r>
              <a:rPr lang="en-US" sz="2000" dirty="0" err="1"/>
              <a:t>iss</a:t>
            </a:r>
            <a:r>
              <a:rPr lang="en-US" sz="2000" dirty="0"/>
              <a:t> called </a:t>
            </a:r>
            <a:r>
              <a:rPr lang="en-US" sz="2800" b="1" dirty="0"/>
              <a:t>Plank’s equation </a:t>
            </a:r>
            <a:r>
              <a:rPr lang="en-US" sz="2400" dirty="0"/>
              <a:t>.</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304800"/>
            <a:ext cx="9144000" cy="584775"/>
          </a:xfrm>
          <a:prstGeom prst="rect">
            <a:avLst/>
          </a:prstGeom>
          <a:noFill/>
        </p:spPr>
        <p:txBody>
          <a:bodyPr wrap="square" rtlCol="0">
            <a:spAutoFit/>
          </a:bodyPr>
          <a:lstStyle/>
          <a:p>
            <a:pPr algn="ctr"/>
            <a:r>
              <a:rPr lang="en-US" sz="3200" b="1" u="sng" dirty="0"/>
              <a:t>Application of Plank’s Quantum Theory of Radiation</a:t>
            </a:r>
          </a:p>
        </p:txBody>
      </p:sp>
      <p:sp>
        <p:nvSpPr>
          <p:cNvPr id="5" name="TextBox 4"/>
          <p:cNvSpPr txBox="1"/>
          <p:nvPr/>
        </p:nvSpPr>
        <p:spPr>
          <a:xfrm>
            <a:off x="0" y="1219200"/>
            <a:ext cx="8915400" cy="892552"/>
          </a:xfrm>
          <a:prstGeom prst="rect">
            <a:avLst/>
          </a:prstGeom>
          <a:noFill/>
        </p:spPr>
        <p:txBody>
          <a:bodyPr wrap="square" rtlCol="0">
            <a:spAutoFit/>
          </a:bodyPr>
          <a:lstStyle/>
          <a:p>
            <a:r>
              <a:rPr lang="en-US" sz="2800" b="1" dirty="0"/>
              <a:t>1. </a:t>
            </a:r>
            <a:r>
              <a:rPr lang="en-US" sz="2800" dirty="0"/>
              <a:t>In </a:t>
            </a:r>
            <a:r>
              <a:rPr lang="en-US" sz="2800" u="sng" dirty="0"/>
              <a:t>1905</a:t>
            </a:r>
            <a:r>
              <a:rPr lang="en-US" sz="2800" dirty="0"/>
              <a:t> , </a:t>
            </a:r>
            <a:r>
              <a:rPr lang="en-US" sz="2800" b="1" dirty="0"/>
              <a:t>Einstein</a:t>
            </a:r>
            <a:r>
              <a:rPr lang="en-US" sz="2800" dirty="0"/>
              <a:t> applied this theory to explain the </a:t>
            </a:r>
            <a:r>
              <a:rPr lang="en-US" sz="2400" b="1" i="1" dirty="0"/>
              <a:t>photo-electric effect.</a:t>
            </a:r>
            <a:endParaRPr lang="en-US" sz="2800" b="1" i="1" dirty="0"/>
          </a:p>
        </p:txBody>
      </p:sp>
      <p:sp>
        <p:nvSpPr>
          <p:cNvPr id="6" name="TextBox 5"/>
          <p:cNvSpPr txBox="1"/>
          <p:nvPr/>
        </p:nvSpPr>
        <p:spPr>
          <a:xfrm>
            <a:off x="0" y="2209800"/>
            <a:ext cx="8839200" cy="830997"/>
          </a:xfrm>
          <a:prstGeom prst="rect">
            <a:avLst/>
          </a:prstGeom>
          <a:noFill/>
        </p:spPr>
        <p:txBody>
          <a:bodyPr wrap="square" rtlCol="0">
            <a:spAutoFit/>
          </a:bodyPr>
          <a:lstStyle/>
          <a:p>
            <a:r>
              <a:rPr lang="en-US" sz="2400" dirty="0"/>
              <a:t> </a:t>
            </a:r>
            <a:r>
              <a:rPr lang="en-US" sz="2400" b="1" dirty="0"/>
              <a:t>2. </a:t>
            </a:r>
            <a:r>
              <a:rPr lang="en-US" sz="2400" dirty="0"/>
              <a:t>In</a:t>
            </a:r>
            <a:r>
              <a:rPr lang="en-US" sz="2400" u="sng" dirty="0"/>
              <a:t> 1913 </a:t>
            </a:r>
            <a:r>
              <a:rPr lang="en-US" sz="2400" b="1" dirty="0"/>
              <a:t>, Bohr </a:t>
            </a:r>
            <a:r>
              <a:rPr lang="en-US" sz="2400" dirty="0"/>
              <a:t>used this theory to explain the </a:t>
            </a:r>
            <a:r>
              <a:rPr lang="en-US" sz="2400" b="1" i="1" dirty="0"/>
              <a:t>structure of the atom </a:t>
            </a:r>
            <a:r>
              <a:rPr lang="en-US" sz="2400" dirty="0"/>
              <a:t>and </a:t>
            </a:r>
            <a:r>
              <a:rPr lang="en-US" sz="2400" b="1" i="1" dirty="0"/>
              <a:t>origin of spectral lines  </a:t>
            </a:r>
            <a:r>
              <a:rPr lang="en-US" sz="2400" dirty="0"/>
              <a:t>seen in hydrogen spectrum. </a:t>
            </a:r>
          </a:p>
        </p:txBody>
      </p:sp>
      <p:sp>
        <p:nvSpPr>
          <p:cNvPr id="9" name="TextBox 8"/>
          <p:cNvSpPr txBox="1"/>
          <p:nvPr/>
        </p:nvSpPr>
        <p:spPr>
          <a:xfrm>
            <a:off x="0" y="3276600"/>
            <a:ext cx="8763000" cy="830997"/>
          </a:xfrm>
          <a:prstGeom prst="rect">
            <a:avLst/>
          </a:prstGeom>
          <a:noFill/>
        </p:spPr>
        <p:txBody>
          <a:bodyPr wrap="square" rtlCol="0">
            <a:spAutoFit/>
          </a:bodyPr>
          <a:lstStyle/>
          <a:p>
            <a:r>
              <a:rPr lang="en-US" sz="2400" dirty="0"/>
              <a:t>  </a:t>
            </a:r>
            <a:r>
              <a:rPr lang="en-US" sz="2400" b="1" dirty="0"/>
              <a:t>3.</a:t>
            </a:r>
            <a:r>
              <a:rPr lang="en-US" sz="2400" dirty="0"/>
              <a:t> In </a:t>
            </a:r>
            <a:r>
              <a:rPr lang="en-US" sz="2400" u="sng" dirty="0"/>
              <a:t>1922</a:t>
            </a:r>
            <a:r>
              <a:rPr lang="en-US" sz="2400" dirty="0"/>
              <a:t> ,</a:t>
            </a:r>
            <a:r>
              <a:rPr lang="en-US" sz="2400" b="1" dirty="0"/>
              <a:t> Compton </a:t>
            </a:r>
            <a:r>
              <a:rPr lang="en-US" sz="2400" dirty="0"/>
              <a:t>applied this theory to explain the phenomenon of </a:t>
            </a:r>
            <a:r>
              <a:rPr lang="en-US" sz="2400" b="1" i="1" dirty="0"/>
              <a:t>incoherent</a:t>
            </a:r>
            <a:r>
              <a:rPr lang="en-US" sz="2400" dirty="0"/>
              <a:t> </a:t>
            </a:r>
            <a:r>
              <a:rPr lang="en-US" sz="2400" b="1" i="1" dirty="0"/>
              <a:t>scattering of X-rays </a:t>
            </a:r>
            <a:r>
              <a:rPr lang="en-US" sz="2400" dirty="0"/>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90600" y="0"/>
            <a:ext cx="7239000" cy="1015663"/>
          </a:xfrm>
          <a:prstGeom prst="rect">
            <a:avLst/>
          </a:prstGeom>
          <a:noFill/>
        </p:spPr>
        <p:txBody>
          <a:bodyPr wrap="square" rtlCol="0">
            <a:spAutoFit/>
          </a:bodyPr>
          <a:lstStyle/>
          <a:p>
            <a:pPr algn="ctr"/>
            <a:r>
              <a:rPr lang="en-US" sz="6000" b="1" u="sng" dirty="0"/>
              <a:t>Some problems </a:t>
            </a:r>
          </a:p>
        </p:txBody>
      </p:sp>
      <p:sp>
        <p:nvSpPr>
          <p:cNvPr id="5" name="TextBox 4"/>
          <p:cNvSpPr txBox="1"/>
          <p:nvPr/>
        </p:nvSpPr>
        <p:spPr>
          <a:xfrm>
            <a:off x="228600" y="1295400"/>
            <a:ext cx="8610600" cy="830997"/>
          </a:xfrm>
          <a:prstGeom prst="rect">
            <a:avLst/>
          </a:prstGeom>
          <a:noFill/>
        </p:spPr>
        <p:txBody>
          <a:bodyPr wrap="square" rtlCol="0">
            <a:spAutoFit/>
          </a:bodyPr>
          <a:lstStyle/>
          <a:p>
            <a:r>
              <a:rPr lang="en-US" sz="2400" b="1" dirty="0"/>
              <a:t>1. </a:t>
            </a:r>
            <a:r>
              <a:rPr lang="en-US" sz="2400" dirty="0"/>
              <a:t>Calculate the energy of a photon of light of frequency of 3×10</a:t>
            </a:r>
            <a:r>
              <a:rPr lang="en-US" sz="2400" baseline="30000" dirty="0"/>
              <a:t>15</a:t>
            </a:r>
            <a:r>
              <a:rPr lang="en-US" sz="2400" dirty="0"/>
              <a:t>  s</a:t>
            </a:r>
            <a:r>
              <a:rPr lang="en-US" sz="2400" baseline="30000" dirty="0"/>
              <a:t>–1 </a:t>
            </a:r>
            <a:endParaRPr lang="en-US" dirty="0"/>
          </a:p>
        </p:txBody>
      </p:sp>
      <p:sp>
        <p:nvSpPr>
          <p:cNvPr id="6" name="TextBox 5"/>
          <p:cNvSpPr txBox="1"/>
          <p:nvPr/>
        </p:nvSpPr>
        <p:spPr>
          <a:xfrm>
            <a:off x="0" y="2133600"/>
            <a:ext cx="8915400" cy="1261884"/>
          </a:xfrm>
          <a:prstGeom prst="rect">
            <a:avLst/>
          </a:prstGeom>
          <a:noFill/>
        </p:spPr>
        <p:txBody>
          <a:bodyPr wrap="square" rtlCol="0">
            <a:spAutoFit/>
          </a:bodyPr>
          <a:lstStyle/>
          <a:p>
            <a:r>
              <a:rPr lang="en-US" sz="2000" b="1" dirty="0"/>
              <a:t> </a:t>
            </a:r>
            <a:r>
              <a:rPr lang="en-US" sz="2400" b="1" dirty="0"/>
              <a:t>2</a:t>
            </a:r>
            <a:r>
              <a:rPr lang="en-US" sz="2000" dirty="0"/>
              <a:t>. Two lines one </a:t>
            </a:r>
            <a:r>
              <a:rPr lang="en-US" sz="2000" b="1" i="1" dirty="0"/>
              <a:t>violet</a:t>
            </a:r>
            <a:r>
              <a:rPr lang="en-US" sz="2000" dirty="0"/>
              <a:t> and the other </a:t>
            </a:r>
            <a:r>
              <a:rPr lang="en-US" sz="2000" b="1" i="1" dirty="0"/>
              <a:t>red </a:t>
            </a:r>
            <a:r>
              <a:rPr lang="en-US" sz="2000" dirty="0"/>
              <a:t>, in a spectrum have </a:t>
            </a:r>
            <a:r>
              <a:rPr lang="en-US" sz="2000" b="1" i="1" dirty="0"/>
              <a:t>wave-lengths</a:t>
            </a:r>
            <a:r>
              <a:rPr lang="en-US" sz="2000" dirty="0"/>
              <a:t> equal to</a:t>
            </a:r>
            <a:r>
              <a:rPr lang="en-US" sz="2000" b="1" dirty="0"/>
              <a:t> 4000 A</a:t>
            </a:r>
            <a:r>
              <a:rPr lang="en-US" sz="2800" b="1" dirty="0"/>
              <a:t>˚</a:t>
            </a:r>
            <a:r>
              <a:rPr lang="en-US" sz="2000" b="1" dirty="0"/>
              <a:t>  </a:t>
            </a:r>
            <a:r>
              <a:rPr lang="en-US" sz="2000" dirty="0"/>
              <a:t>and </a:t>
            </a:r>
            <a:r>
              <a:rPr lang="en-US" sz="2000" b="1" dirty="0"/>
              <a:t>6000 A</a:t>
            </a:r>
            <a:r>
              <a:rPr lang="en-US" sz="2800" b="1" dirty="0"/>
              <a:t>˚ </a:t>
            </a:r>
            <a:r>
              <a:rPr lang="en-US" sz="2400" dirty="0"/>
              <a:t>respectively . </a:t>
            </a:r>
            <a:r>
              <a:rPr lang="en-US" sz="2000" dirty="0"/>
              <a:t>Calculate the </a:t>
            </a:r>
            <a:r>
              <a:rPr lang="en-US" sz="2000" b="1" dirty="0"/>
              <a:t>energy</a:t>
            </a:r>
            <a:r>
              <a:rPr lang="en-US" sz="2000" dirty="0"/>
              <a:t> of photons transmitted by them</a:t>
            </a:r>
            <a:r>
              <a:rPr lang="en-US" sz="2400" dirty="0"/>
              <a:t> .</a:t>
            </a:r>
            <a:endParaRPr lang="en-US" dirty="0"/>
          </a:p>
        </p:txBody>
      </p:sp>
      <p:sp>
        <p:nvSpPr>
          <p:cNvPr id="7" name="TextBox 6"/>
          <p:cNvSpPr txBox="1"/>
          <p:nvPr/>
        </p:nvSpPr>
        <p:spPr>
          <a:xfrm>
            <a:off x="228600" y="3886200"/>
            <a:ext cx="8610600" cy="769441"/>
          </a:xfrm>
          <a:prstGeom prst="rect">
            <a:avLst/>
          </a:prstGeom>
          <a:noFill/>
        </p:spPr>
        <p:txBody>
          <a:bodyPr wrap="square" rtlCol="0">
            <a:spAutoFit/>
          </a:bodyPr>
          <a:lstStyle/>
          <a:p>
            <a:r>
              <a:rPr lang="en-US" sz="2000" dirty="0"/>
              <a:t> </a:t>
            </a:r>
            <a:r>
              <a:rPr lang="en-US" sz="2400" b="1" dirty="0"/>
              <a:t>3</a:t>
            </a:r>
            <a:r>
              <a:rPr lang="en-US" sz="2000" dirty="0"/>
              <a:t>. Calculate the </a:t>
            </a:r>
            <a:r>
              <a:rPr lang="en-US" sz="2000" b="1" i="1" dirty="0"/>
              <a:t>energy </a:t>
            </a:r>
            <a:r>
              <a:rPr lang="en-US" sz="2000" dirty="0"/>
              <a:t>in </a:t>
            </a:r>
            <a:r>
              <a:rPr lang="en-US" sz="2000" b="1" dirty="0"/>
              <a:t>KJ / mole </a:t>
            </a:r>
            <a:r>
              <a:rPr lang="en-US" sz="2000" dirty="0"/>
              <a:t>associated with a radio wave of </a:t>
            </a:r>
            <a:r>
              <a:rPr lang="en-US" sz="2000" b="1" i="1" dirty="0"/>
              <a:t>wave-length</a:t>
            </a:r>
            <a:r>
              <a:rPr lang="en-US" sz="2000" dirty="0"/>
              <a:t> equal to </a:t>
            </a:r>
            <a:r>
              <a:rPr lang="en-US" sz="2000" b="1" dirty="0"/>
              <a:t>3×10</a:t>
            </a:r>
            <a:r>
              <a:rPr lang="en-US" sz="2000" b="1" baseline="30000" dirty="0"/>
              <a:t>13</a:t>
            </a:r>
            <a:r>
              <a:rPr lang="en-US" sz="2000" b="1" dirty="0"/>
              <a:t> A˚</a:t>
            </a:r>
          </a:p>
        </p:txBody>
      </p:sp>
      <p:sp>
        <p:nvSpPr>
          <p:cNvPr id="8" name="TextBox 7"/>
          <p:cNvSpPr txBox="1"/>
          <p:nvPr/>
        </p:nvSpPr>
        <p:spPr>
          <a:xfrm>
            <a:off x="228600" y="5105400"/>
            <a:ext cx="8686800" cy="892552"/>
          </a:xfrm>
          <a:prstGeom prst="rect">
            <a:avLst/>
          </a:prstGeom>
          <a:noFill/>
        </p:spPr>
        <p:txBody>
          <a:bodyPr wrap="square" rtlCol="0">
            <a:spAutoFit/>
          </a:bodyPr>
          <a:lstStyle/>
          <a:p>
            <a:r>
              <a:rPr lang="en-US" sz="2400" b="1" dirty="0"/>
              <a:t> 4</a:t>
            </a:r>
            <a:r>
              <a:rPr lang="en-US" sz="2000" dirty="0"/>
              <a:t>. Calculate the </a:t>
            </a:r>
            <a:r>
              <a:rPr lang="en-US" sz="2000" b="1" i="1" dirty="0"/>
              <a:t>energy</a:t>
            </a:r>
            <a:r>
              <a:rPr lang="en-US" sz="2000" dirty="0"/>
              <a:t> , </a:t>
            </a:r>
            <a:r>
              <a:rPr lang="en-US" sz="2000" b="1" i="1" dirty="0"/>
              <a:t>frequency</a:t>
            </a:r>
            <a:r>
              <a:rPr lang="en-US" sz="2000" dirty="0"/>
              <a:t> ,</a:t>
            </a:r>
            <a:r>
              <a:rPr lang="en-US" sz="2000" b="1" i="1" dirty="0"/>
              <a:t> wave-number </a:t>
            </a:r>
            <a:r>
              <a:rPr lang="en-US" sz="2000" dirty="0"/>
              <a:t>of a light with the wave-length of </a:t>
            </a:r>
            <a:r>
              <a:rPr lang="en-US" sz="2000" b="1" dirty="0"/>
              <a:t>4000 A</a:t>
            </a:r>
            <a:r>
              <a:rPr lang="en-US" sz="2800" b="1" dirty="0"/>
              <a:t>˚</a:t>
            </a:r>
            <a:endParaRPr lang="en-US" sz="2000"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3400" y="0"/>
            <a:ext cx="8001000" cy="1107996"/>
          </a:xfrm>
          <a:prstGeom prst="rect">
            <a:avLst/>
          </a:prstGeom>
          <a:noFill/>
        </p:spPr>
        <p:txBody>
          <a:bodyPr wrap="square" rtlCol="0">
            <a:spAutoFit/>
          </a:bodyPr>
          <a:lstStyle/>
          <a:p>
            <a:pPr algn="ctr"/>
            <a:r>
              <a:rPr lang="en-US" sz="6600" b="1" u="sng" dirty="0"/>
              <a:t>Quantum Number</a:t>
            </a:r>
          </a:p>
        </p:txBody>
      </p:sp>
      <p:sp>
        <p:nvSpPr>
          <p:cNvPr id="3" name="TextBox 2"/>
          <p:cNvSpPr txBox="1"/>
          <p:nvPr/>
        </p:nvSpPr>
        <p:spPr>
          <a:xfrm>
            <a:off x="304800" y="1295400"/>
            <a:ext cx="8534400" cy="2308324"/>
          </a:xfrm>
          <a:prstGeom prst="rect">
            <a:avLst/>
          </a:prstGeom>
          <a:noFill/>
        </p:spPr>
        <p:txBody>
          <a:bodyPr wrap="square" rtlCol="0">
            <a:spAutoFit/>
          </a:bodyPr>
          <a:lstStyle/>
          <a:p>
            <a:r>
              <a:rPr lang="en-US" sz="2400" dirty="0"/>
              <a:t>The identification numbers or labels which completely define the electron in an atom , </a:t>
            </a:r>
            <a:r>
              <a:rPr lang="en-US" sz="2400" dirty="0" err="1"/>
              <a:t>i.e</a:t>
            </a:r>
            <a:r>
              <a:rPr lang="en-US" sz="2400" dirty="0"/>
              <a:t> , these numbers –</a:t>
            </a:r>
          </a:p>
          <a:p>
            <a:pPr marL="400050" indent="-400050">
              <a:buFont typeface="+mj-lt"/>
              <a:buAutoNum type="romanLcPeriod"/>
            </a:pPr>
            <a:r>
              <a:rPr lang="en-US" sz="2400" dirty="0"/>
              <a:t>Specify the position (location) of an electron in an atom,</a:t>
            </a:r>
          </a:p>
          <a:p>
            <a:pPr marL="400050" indent="-400050">
              <a:buFont typeface="+mj-lt"/>
              <a:buAutoNum type="romanLcPeriod"/>
            </a:pPr>
            <a:r>
              <a:rPr lang="en-US" sz="2400" dirty="0"/>
              <a:t>Predict the direction of spin /self-rotation of the electron   and</a:t>
            </a:r>
          </a:p>
          <a:p>
            <a:pPr marL="400050" indent="-400050">
              <a:buFont typeface="+mj-lt"/>
              <a:buAutoNum type="romanLcPeriod"/>
            </a:pPr>
            <a:r>
              <a:rPr lang="en-US" sz="2400" dirty="0"/>
              <a:t>Determine the energy and angular-momentum of the electron,                                  is called quantum number</a:t>
            </a:r>
            <a:r>
              <a:rPr lang="en-US" sz="2000" dirty="0"/>
              <a:t>.    </a:t>
            </a:r>
          </a:p>
        </p:txBody>
      </p:sp>
      <p:sp>
        <p:nvSpPr>
          <p:cNvPr id="6" name="TextBox 5"/>
          <p:cNvSpPr txBox="1"/>
          <p:nvPr/>
        </p:nvSpPr>
        <p:spPr>
          <a:xfrm>
            <a:off x="228600" y="4495800"/>
            <a:ext cx="8382000" cy="2523768"/>
          </a:xfrm>
          <a:prstGeom prst="rect">
            <a:avLst/>
          </a:prstGeom>
          <a:noFill/>
        </p:spPr>
        <p:txBody>
          <a:bodyPr wrap="square" rtlCol="0">
            <a:spAutoFit/>
          </a:bodyPr>
          <a:lstStyle/>
          <a:p>
            <a:r>
              <a:rPr lang="en-US" sz="2000" dirty="0"/>
              <a:t>Four(4) quantum numbers which are required to completely specify the character of the electron are:-</a:t>
            </a:r>
          </a:p>
          <a:p>
            <a:pPr marL="342900" indent="-342900"/>
            <a:r>
              <a:rPr lang="en-US" sz="2000" dirty="0"/>
              <a:t>1.Principal quantum number (n)                         size</a:t>
            </a:r>
          </a:p>
          <a:p>
            <a:pPr marL="342900" indent="-342900"/>
            <a:r>
              <a:rPr lang="en-US" sz="2000" dirty="0"/>
              <a:t>2.Azimuthal / </a:t>
            </a:r>
            <a:r>
              <a:rPr lang="en-US" sz="2000" dirty="0" err="1"/>
              <a:t>subsidery</a:t>
            </a:r>
            <a:r>
              <a:rPr lang="en-US" sz="2000" dirty="0"/>
              <a:t> quantum number(l)                    shape</a:t>
            </a:r>
          </a:p>
          <a:p>
            <a:pPr marL="342900" indent="-342900"/>
            <a:r>
              <a:rPr lang="en-US" sz="2000" dirty="0"/>
              <a:t>3.Magnetic quantum number(m)                       orientation /dimensional position</a:t>
            </a:r>
          </a:p>
          <a:p>
            <a:pPr marL="342900" indent="-342900"/>
            <a:r>
              <a:rPr lang="en-US" sz="2000" dirty="0"/>
              <a:t>4.Spin quantum number(s)                       mode of rotation</a:t>
            </a:r>
          </a:p>
          <a:p>
            <a:pPr marL="342900" indent="-342900"/>
            <a:endParaRPr lang="en-US" dirty="0"/>
          </a:p>
        </p:txBody>
      </p:sp>
      <p:sp>
        <p:nvSpPr>
          <p:cNvPr id="7" name="Right Arrow 6"/>
          <p:cNvSpPr/>
          <p:nvPr/>
        </p:nvSpPr>
        <p:spPr>
          <a:xfrm>
            <a:off x="4267200" y="5257800"/>
            <a:ext cx="978408"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p:cNvSpPr/>
          <p:nvPr/>
        </p:nvSpPr>
        <p:spPr>
          <a:xfrm>
            <a:off x="5181600" y="5638800"/>
            <a:ext cx="978408" cy="103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flipV="1">
            <a:off x="4191000" y="5943600"/>
            <a:ext cx="978408"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a:off x="3505200" y="6553200"/>
            <a:ext cx="978408" cy="76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28600"/>
            <a:ext cx="8305800" cy="646331"/>
          </a:xfrm>
          <a:prstGeom prst="rect">
            <a:avLst/>
          </a:prstGeom>
          <a:noFill/>
        </p:spPr>
        <p:txBody>
          <a:bodyPr wrap="square" rtlCol="0">
            <a:spAutoFit/>
          </a:bodyPr>
          <a:lstStyle/>
          <a:p>
            <a:pPr algn="ctr"/>
            <a:r>
              <a:rPr lang="en-US" sz="2800" b="1" i="1" u="sng" dirty="0"/>
              <a:t>(</a:t>
            </a:r>
            <a:r>
              <a:rPr lang="en-US" sz="3600" b="1" i="1" u="sng" dirty="0"/>
              <a:t>1)Principal Quantum Number (n) :</a:t>
            </a:r>
            <a:endParaRPr lang="en-US" sz="2800" b="1" i="1" u="sng" dirty="0"/>
          </a:p>
        </p:txBody>
      </p:sp>
      <p:sp>
        <p:nvSpPr>
          <p:cNvPr id="5" name="TextBox 4"/>
          <p:cNvSpPr txBox="1"/>
          <p:nvPr/>
        </p:nvSpPr>
        <p:spPr>
          <a:xfrm>
            <a:off x="304800" y="1295400"/>
            <a:ext cx="8305800" cy="1384995"/>
          </a:xfrm>
          <a:prstGeom prst="rect">
            <a:avLst/>
          </a:prstGeom>
          <a:noFill/>
        </p:spPr>
        <p:txBody>
          <a:bodyPr wrap="square" rtlCol="0">
            <a:spAutoFit/>
          </a:bodyPr>
          <a:lstStyle/>
          <a:p>
            <a:r>
              <a:rPr lang="en-US" sz="2000" dirty="0"/>
              <a:t>Bohr had assumed that electron in an atom are revolving round the nucleus in circular orbits/shells which he had also called energy levels.</a:t>
            </a:r>
          </a:p>
          <a:p>
            <a:r>
              <a:rPr lang="en-US" sz="2000" dirty="0"/>
              <a:t>Different energy levels in an atom have been represented by </a:t>
            </a:r>
            <a:r>
              <a:rPr lang="en-US" sz="2400" b="1" dirty="0"/>
              <a:t>“n”</a:t>
            </a:r>
            <a:endParaRPr lang="en-US" sz="2000" b="1" dirty="0"/>
          </a:p>
          <a:p>
            <a:r>
              <a:rPr lang="en-US" sz="2000" dirty="0"/>
              <a:t>Where , n= 1,2,3,4,5,………….∞</a:t>
            </a:r>
          </a:p>
        </p:txBody>
      </p:sp>
      <p:sp>
        <p:nvSpPr>
          <p:cNvPr id="6" name="Right Arrow 5"/>
          <p:cNvSpPr/>
          <p:nvPr/>
        </p:nvSpPr>
        <p:spPr>
          <a:xfrm>
            <a:off x="381000" y="2895600"/>
            <a:ext cx="978408"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371600" y="2743200"/>
            <a:ext cx="7010400" cy="461665"/>
          </a:xfrm>
          <a:prstGeom prst="rect">
            <a:avLst/>
          </a:prstGeom>
          <a:noFill/>
        </p:spPr>
        <p:txBody>
          <a:bodyPr wrap="square" rtlCol="0">
            <a:spAutoFit/>
          </a:bodyPr>
          <a:lstStyle/>
          <a:p>
            <a:r>
              <a:rPr lang="en-US" sz="2000" dirty="0"/>
              <a:t>Main energy shell = </a:t>
            </a:r>
            <a:r>
              <a:rPr lang="en-US" sz="2400" b="1" dirty="0"/>
              <a:t>Orbit</a:t>
            </a:r>
            <a:endParaRPr lang="en-US" sz="2000" b="1" dirty="0"/>
          </a:p>
        </p:txBody>
      </p:sp>
      <p:sp>
        <p:nvSpPr>
          <p:cNvPr id="8" name="Right Arrow 7"/>
          <p:cNvSpPr/>
          <p:nvPr/>
        </p:nvSpPr>
        <p:spPr>
          <a:xfrm>
            <a:off x="381000" y="3505200"/>
            <a:ext cx="978408"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1371600" y="3352800"/>
            <a:ext cx="6934200" cy="461665"/>
          </a:xfrm>
          <a:prstGeom prst="rect">
            <a:avLst/>
          </a:prstGeom>
          <a:noFill/>
        </p:spPr>
        <p:txBody>
          <a:bodyPr wrap="square" rtlCol="0">
            <a:spAutoFit/>
          </a:bodyPr>
          <a:lstStyle/>
          <a:p>
            <a:r>
              <a:rPr lang="en-US" sz="2000" dirty="0"/>
              <a:t>Maximum  e-  retaining power= </a:t>
            </a:r>
            <a:r>
              <a:rPr lang="en-US" sz="2400" b="1" dirty="0"/>
              <a:t>2n</a:t>
            </a:r>
            <a:r>
              <a:rPr lang="en-US" sz="2400" b="1" baseline="30000" dirty="0"/>
              <a:t>2</a:t>
            </a:r>
            <a:r>
              <a:rPr lang="en-US" sz="2000" dirty="0"/>
              <a:t> </a:t>
            </a:r>
          </a:p>
        </p:txBody>
      </p:sp>
      <p:sp>
        <p:nvSpPr>
          <p:cNvPr id="10" name="TextBox 9"/>
          <p:cNvSpPr txBox="1"/>
          <p:nvPr/>
        </p:nvSpPr>
        <p:spPr>
          <a:xfrm>
            <a:off x="1371600" y="3886200"/>
            <a:ext cx="7315200" cy="1569660"/>
          </a:xfrm>
          <a:prstGeom prst="rect">
            <a:avLst/>
          </a:prstGeom>
          <a:noFill/>
        </p:spPr>
        <p:txBody>
          <a:bodyPr wrap="square" rtlCol="0">
            <a:spAutoFit/>
          </a:bodyPr>
          <a:lstStyle/>
          <a:p>
            <a:r>
              <a:rPr lang="en-US" sz="2400" b="1" dirty="0"/>
              <a:t>n=1  (first shell)                     K           2.1</a:t>
            </a:r>
            <a:r>
              <a:rPr lang="en-US" sz="2400" b="1" baseline="30000" dirty="0"/>
              <a:t>2</a:t>
            </a:r>
            <a:r>
              <a:rPr lang="en-US" sz="2400" b="1" dirty="0"/>
              <a:t>  = 2</a:t>
            </a:r>
            <a:endParaRPr lang="en-US" sz="2400" dirty="0"/>
          </a:p>
          <a:p>
            <a:r>
              <a:rPr lang="en-US" sz="2400" b="1" dirty="0"/>
              <a:t>n=2 (second shell)                 L          2.2</a:t>
            </a:r>
            <a:r>
              <a:rPr lang="en-US" sz="2400" b="1" baseline="30000" dirty="0"/>
              <a:t>2</a:t>
            </a:r>
            <a:r>
              <a:rPr lang="en-US" sz="2400" b="1" dirty="0"/>
              <a:t> = 8</a:t>
            </a:r>
            <a:endParaRPr lang="en-US" sz="2400" dirty="0"/>
          </a:p>
          <a:p>
            <a:r>
              <a:rPr lang="en-US" sz="2400" b="1" dirty="0"/>
              <a:t> n=3 (third shell )                   M           2.3</a:t>
            </a:r>
            <a:r>
              <a:rPr lang="en-US" sz="2400" b="1" baseline="30000" dirty="0"/>
              <a:t>2</a:t>
            </a:r>
            <a:r>
              <a:rPr lang="en-US" sz="2400" b="1" dirty="0"/>
              <a:t> = 18</a:t>
            </a:r>
            <a:endParaRPr lang="en-US" sz="2400" dirty="0"/>
          </a:p>
          <a:p>
            <a:r>
              <a:rPr lang="en-US" sz="2400" b="1" dirty="0"/>
              <a:t> n=4 (fourth shell )                  N           2.4</a:t>
            </a:r>
            <a:r>
              <a:rPr lang="en-US" sz="2400" b="1" baseline="30000" dirty="0"/>
              <a:t>2</a:t>
            </a:r>
            <a:r>
              <a:rPr lang="en-US" sz="2400" b="1" dirty="0"/>
              <a:t> = 32 </a:t>
            </a:r>
            <a:endParaRPr lang="en-US" sz="2400" dirty="0"/>
          </a:p>
        </p:txBody>
      </p:sp>
      <p:cxnSp>
        <p:nvCxnSpPr>
          <p:cNvPr id="12" name="Straight Arrow Connector 11"/>
          <p:cNvCxnSpPr/>
          <p:nvPr/>
        </p:nvCxnSpPr>
        <p:spPr>
          <a:xfrm>
            <a:off x="4191000" y="4191000"/>
            <a:ext cx="685800" cy="1588"/>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4343400" y="4495800"/>
            <a:ext cx="533400" cy="1588"/>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4191000" y="4876800"/>
            <a:ext cx="685800" cy="1588"/>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4343400" y="5257800"/>
            <a:ext cx="533400" cy="1588"/>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533400" y="5486400"/>
            <a:ext cx="7924800" cy="1015663"/>
          </a:xfrm>
          <a:prstGeom prst="rect">
            <a:avLst/>
          </a:prstGeom>
          <a:noFill/>
        </p:spPr>
        <p:txBody>
          <a:bodyPr wrap="square" rtlCol="0">
            <a:spAutoFit/>
          </a:bodyPr>
          <a:lstStyle/>
          <a:p>
            <a:pPr algn="ctr"/>
            <a:r>
              <a:rPr lang="en-US" sz="2000" dirty="0"/>
              <a:t>N=1 &lt; 2 &lt; 3  &lt; 4</a:t>
            </a:r>
          </a:p>
          <a:p>
            <a:pPr algn="ctr"/>
            <a:r>
              <a:rPr lang="en-US" sz="2000" dirty="0"/>
              <a:t>      K  &lt; L &lt; M &lt; N</a:t>
            </a:r>
          </a:p>
          <a:p>
            <a:pPr algn="ctr"/>
            <a:r>
              <a:rPr lang="en-US" sz="2000" b="1" dirty="0"/>
              <a:t>    E</a:t>
            </a:r>
            <a:r>
              <a:rPr lang="en-US" sz="2000" b="1" baseline="-25000" dirty="0"/>
              <a:t>1</a:t>
            </a:r>
            <a:r>
              <a:rPr lang="en-US" sz="2000" b="1" dirty="0"/>
              <a:t>&lt;E</a:t>
            </a:r>
            <a:r>
              <a:rPr lang="en-US" sz="2000" b="1" baseline="-25000" dirty="0"/>
              <a:t>2</a:t>
            </a:r>
            <a:r>
              <a:rPr lang="en-US" sz="2000" b="1" dirty="0"/>
              <a:t>&lt;E</a:t>
            </a:r>
            <a:r>
              <a:rPr lang="en-US" sz="2000" b="1" baseline="-25000" dirty="0"/>
              <a:t>3</a:t>
            </a:r>
            <a:r>
              <a:rPr lang="en-US" sz="2000" b="1" dirty="0"/>
              <a:t>&lt;E</a:t>
            </a:r>
            <a:r>
              <a:rPr lang="en-US" sz="2000" b="1" baseline="-25000" dirty="0"/>
              <a:t>4</a:t>
            </a:r>
            <a:r>
              <a:rPr lang="en-US" sz="2000" b="1" dirty="0"/>
              <a:t> </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228600"/>
            <a:ext cx="8534400" cy="584775"/>
          </a:xfrm>
          <a:prstGeom prst="rect">
            <a:avLst/>
          </a:prstGeom>
          <a:noFill/>
        </p:spPr>
        <p:txBody>
          <a:bodyPr wrap="square" rtlCol="0">
            <a:spAutoFit/>
          </a:bodyPr>
          <a:lstStyle/>
          <a:p>
            <a:pPr algn="ctr"/>
            <a:r>
              <a:rPr lang="en-US" sz="3200" b="1" u="sng" dirty="0"/>
              <a:t>2. </a:t>
            </a:r>
            <a:r>
              <a:rPr lang="en-US" sz="3200" b="1" u="sng" dirty="0" err="1"/>
              <a:t>Azimuthal</a:t>
            </a:r>
            <a:r>
              <a:rPr lang="en-US" sz="3200" b="1" u="sng" dirty="0"/>
              <a:t> or </a:t>
            </a:r>
            <a:r>
              <a:rPr lang="en-US" sz="3200" b="1" u="sng" dirty="0" err="1"/>
              <a:t>Subsidary</a:t>
            </a:r>
            <a:r>
              <a:rPr lang="en-US" sz="3200" b="1" u="sng" dirty="0"/>
              <a:t> Quantum Number (l) :-</a:t>
            </a:r>
          </a:p>
        </p:txBody>
      </p:sp>
      <p:sp>
        <p:nvSpPr>
          <p:cNvPr id="5" name="TextBox 4"/>
          <p:cNvSpPr txBox="1"/>
          <p:nvPr/>
        </p:nvSpPr>
        <p:spPr>
          <a:xfrm>
            <a:off x="0" y="1143000"/>
            <a:ext cx="8915400" cy="646331"/>
          </a:xfrm>
          <a:prstGeom prst="rect">
            <a:avLst/>
          </a:prstGeom>
          <a:noFill/>
        </p:spPr>
        <p:txBody>
          <a:bodyPr wrap="square" rtlCol="0">
            <a:spAutoFit/>
          </a:bodyPr>
          <a:lstStyle/>
          <a:p>
            <a:r>
              <a:rPr lang="en-US" dirty="0"/>
              <a:t>The appearance of </a:t>
            </a:r>
            <a:r>
              <a:rPr lang="en-US" dirty="0" err="1"/>
              <a:t>sevaral</a:t>
            </a:r>
            <a:r>
              <a:rPr lang="en-US" dirty="0"/>
              <a:t> lines in a single line has been explained by saying that each shells divided into sub-shells which give closely spaced line in the spectrum.</a:t>
            </a:r>
          </a:p>
        </p:txBody>
      </p:sp>
      <p:sp>
        <p:nvSpPr>
          <p:cNvPr id="6" name="TextBox 5"/>
          <p:cNvSpPr txBox="1"/>
          <p:nvPr/>
        </p:nvSpPr>
        <p:spPr>
          <a:xfrm>
            <a:off x="457200" y="2057400"/>
            <a:ext cx="8686800" cy="707886"/>
          </a:xfrm>
          <a:prstGeom prst="rect">
            <a:avLst/>
          </a:prstGeom>
          <a:noFill/>
        </p:spPr>
        <p:txBody>
          <a:bodyPr wrap="square" rtlCol="0">
            <a:spAutoFit/>
          </a:bodyPr>
          <a:lstStyle/>
          <a:p>
            <a:r>
              <a:rPr lang="en-US" sz="2000" dirty="0"/>
              <a:t>In order to represent these sub-shells only one quantum number namely- </a:t>
            </a:r>
            <a:r>
              <a:rPr lang="en-US" sz="2000" b="1" i="1" dirty="0"/>
              <a:t>principal</a:t>
            </a:r>
            <a:r>
              <a:rPr lang="en-US" sz="2000" dirty="0"/>
              <a:t> </a:t>
            </a:r>
            <a:r>
              <a:rPr lang="en-US" sz="2000" b="1" i="1" dirty="0"/>
              <a:t>quantum number(n) </a:t>
            </a:r>
            <a:r>
              <a:rPr lang="en-US" sz="2000" dirty="0"/>
              <a:t>is not sufficient .</a:t>
            </a:r>
          </a:p>
        </p:txBody>
      </p:sp>
      <p:sp>
        <p:nvSpPr>
          <p:cNvPr id="10" name="TextBox 9"/>
          <p:cNvSpPr txBox="1"/>
          <p:nvPr/>
        </p:nvSpPr>
        <p:spPr>
          <a:xfrm>
            <a:off x="0" y="2819400"/>
            <a:ext cx="8915400" cy="830997"/>
          </a:xfrm>
          <a:prstGeom prst="rect">
            <a:avLst/>
          </a:prstGeom>
          <a:noFill/>
        </p:spPr>
        <p:txBody>
          <a:bodyPr wrap="square" rtlCol="0">
            <a:spAutoFit/>
          </a:bodyPr>
          <a:lstStyle/>
          <a:p>
            <a:r>
              <a:rPr lang="en-US" sz="2400" dirty="0"/>
              <a:t>Ruther , another quantum number (l) is used to represent the sub-shells of which the shells are composed </a:t>
            </a:r>
            <a:r>
              <a:rPr lang="en-US" dirty="0"/>
              <a:t>.</a:t>
            </a:r>
          </a:p>
        </p:txBody>
      </p:sp>
      <p:sp>
        <p:nvSpPr>
          <p:cNvPr id="11" name="TextBox 10"/>
          <p:cNvSpPr txBox="1"/>
          <p:nvPr/>
        </p:nvSpPr>
        <p:spPr>
          <a:xfrm>
            <a:off x="457200" y="3810000"/>
            <a:ext cx="8077200" cy="646331"/>
          </a:xfrm>
          <a:prstGeom prst="rect">
            <a:avLst/>
          </a:prstGeom>
          <a:noFill/>
        </p:spPr>
        <p:txBody>
          <a:bodyPr wrap="square" rtlCol="0">
            <a:spAutoFit/>
          </a:bodyPr>
          <a:lstStyle/>
          <a:p>
            <a:r>
              <a:rPr lang="en-US" b="1" i="1" dirty="0"/>
              <a:t>        l =    0               (n─1)</a:t>
            </a:r>
          </a:p>
          <a:p>
            <a:r>
              <a:rPr lang="en-US" b="1" i="1" dirty="0"/>
              <a:t>i.e.,  l= 0,1,2,3,4,………………………(n ─2),(n ─1)</a:t>
            </a:r>
          </a:p>
        </p:txBody>
      </p:sp>
      <p:cxnSp>
        <p:nvCxnSpPr>
          <p:cNvPr id="13" name="Straight Arrow Connector 12"/>
          <p:cNvCxnSpPr/>
          <p:nvPr/>
        </p:nvCxnSpPr>
        <p:spPr>
          <a:xfrm>
            <a:off x="1676400" y="3962400"/>
            <a:ext cx="609600"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81000" y="4724400"/>
            <a:ext cx="8534400" cy="1938992"/>
          </a:xfrm>
          <a:prstGeom prst="rect">
            <a:avLst/>
          </a:prstGeom>
          <a:noFill/>
        </p:spPr>
        <p:txBody>
          <a:bodyPr wrap="square" rtlCol="0">
            <a:spAutoFit/>
          </a:bodyPr>
          <a:lstStyle/>
          <a:p>
            <a:r>
              <a:rPr lang="en-US" sz="2400" b="1" i="1" dirty="0"/>
              <a:t>Sub-shell = not orbital.</a:t>
            </a:r>
          </a:p>
          <a:p>
            <a:r>
              <a:rPr lang="en-US" sz="2400" b="1" i="1" dirty="0"/>
              <a:t>Shape of </a:t>
            </a:r>
            <a:r>
              <a:rPr lang="en-US" sz="2400" b="1" i="1" dirty="0" err="1"/>
              <a:t>subshell</a:t>
            </a:r>
            <a:r>
              <a:rPr lang="en-US" sz="2400" b="1" i="1" dirty="0"/>
              <a:t>=position of e- in specific </a:t>
            </a:r>
            <a:r>
              <a:rPr lang="en-US" sz="2400" b="1" i="1" dirty="0" err="1"/>
              <a:t>subshell</a:t>
            </a:r>
            <a:r>
              <a:rPr lang="en-US" sz="2400" b="1" i="1" dirty="0"/>
              <a:t> of a shell.</a:t>
            </a:r>
          </a:p>
          <a:p>
            <a:r>
              <a:rPr lang="en-US" sz="2400" b="1" i="1" dirty="0"/>
              <a:t>According to </a:t>
            </a:r>
            <a:r>
              <a:rPr lang="en-US" sz="2400" b="1" i="1" dirty="0" err="1"/>
              <a:t>Somarfield</a:t>
            </a:r>
            <a:r>
              <a:rPr lang="en-US" sz="2400" b="1" i="1" dirty="0"/>
              <a:t> = e- revolves round the elliptical sub-                         shell in a circular orbit .</a:t>
            </a:r>
          </a:p>
          <a:p>
            <a:r>
              <a:rPr lang="en-US" sz="2400" b="1" i="1" dirty="0"/>
              <a:t> Maximum e- retaining power = 2.(2l + 1)</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0"/>
            <a:ext cx="8382000" cy="646331"/>
          </a:xfrm>
          <a:prstGeom prst="rect">
            <a:avLst/>
          </a:prstGeom>
          <a:noFill/>
        </p:spPr>
        <p:txBody>
          <a:bodyPr wrap="square" rtlCol="0">
            <a:spAutoFit/>
          </a:bodyPr>
          <a:lstStyle/>
          <a:p>
            <a:pPr algn="ctr"/>
            <a:r>
              <a:rPr lang="en-US" sz="3600" b="1" u="sng" dirty="0"/>
              <a:t>3. Magnetic Quantum  Number (m) :</a:t>
            </a:r>
          </a:p>
        </p:txBody>
      </p:sp>
      <p:sp>
        <p:nvSpPr>
          <p:cNvPr id="5" name="TextBox 4"/>
          <p:cNvSpPr txBox="1"/>
          <p:nvPr/>
        </p:nvSpPr>
        <p:spPr>
          <a:xfrm>
            <a:off x="0" y="990600"/>
            <a:ext cx="8610600" cy="707886"/>
          </a:xfrm>
          <a:prstGeom prst="rect">
            <a:avLst/>
          </a:prstGeom>
          <a:noFill/>
        </p:spPr>
        <p:txBody>
          <a:bodyPr wrap="square" rtlCol="0">
            <a:spAutoFit/>
          </a:bodyPr>
          <a:lstStyle/>
          <a:p>
            <a:r>
              <a:rPr lang="en-US" sz="2000" dirty="0"/>
              <a:t>Third quantum number namely Magnetic Quantum Number (m) is used to represent the </a:t>
            </a:r>
            <a:r>
              <a:rPr lang="en-US" sz="2000" dirty="0" err="1"/>
              <a:t>orbitals</a:t>
            </a:r>
            <a:r>
              <a:rPr lang="en-US" sz="2000" dirty="0"/>
              <a:t> of which a given sub-shell is composed .</a:t>
            </a:r>
          </a:p>
        </p:txBody>
      </p:sp>
      <p:sp>
        <p:nvSpPr>
          <p:cNvPr id="6" name="TextBox 5"/>
          <p:cNvSpPr txBox="1"/>
          <p:nvPr/>
        </p:nvSpPr>
        <p:spPr>
          <a:xfrm>
            <a:off x="533400" y="1905000"/>
            <a:ext cx="8610600" cy="830997"/>
          </a:xfrm>
          <a:prstGeom prst="rect">
            <a:avLst/>
          </a:prstGeom>
          <a:noFill/>
        </p:spPr>
        <p:txBody>
          <a:bodyPr wrap="square" rtlCol="0">
            <a:spAutoFit/>
          </a:bodyPr>
          <a:lstStyle/>
          <a:p>
            <a:r>
              <a:rPr lang="en-US" sz="2400" b="1" dirty="0"/>
              <a:t>“m” can have integral values ranging from   ─ l through 0 to + l</a:t>
            </a:r>
          </a:p>
          <a:p>
            <a:r>
              <a:rPr lang="en-US" sz="2400" b="1" dirty="0"/>
              <a:t>    i.e.,  m = 0,±1, ±2, ±3, ±4,………………, ±l</a:t>
            </a:r>
          </a:p>
        </p:txBody>
      </p:sp>
      <p:sp>
        <p:nvSpPr>
          <p:cNvPr id="7" name="TextBox 6"/>
          <p:cNvSpPr txBox="1"/>
          <p:nvPr/>
        </p:nvSpPr>
        <p:spPr>
          <a:xfrm>
            <a:off x="152400" y="3276600"/>
            <a:ext cx="8458200" cy="1631216"/>
          </a:xfrm>
          <a:prstGeom prst="rect">
            <a:avLst/>
          </a:prstGeom>
          <a:noFill/>
        </p:spPr>
        <p:txBody>
          <a:bodyPr wrap="square" rtlCol="0">
            <a:spAutoFit/>
          </a:bodyPr>
          <a:lstStyle/>
          <a:p>
            <a:r>
              <a:rPr lang="en-US" sz="2000" dirty="0"/>
              <a:t>Consequent, </a:t>
            </a:r>
          </a:p>
          <a:p>
            <a:r>
              <a:rPr lang="en-US" sz="2000" dirty="0"/>
              <a:t>                      when , l = o (</a:t>
            </a:r>
            <a:r>
              <a:rPr lang="en-US" sz="2000" dirty="0" err="1"/>
              <a:t>S─sub</a:t>
            </a:r>
            <a:r>
              <a:rPr lang="en-US" sz="2000" dirty="0"/>
              <a:t>-shell) ,  m = 0</a:t>
            </a:r>
          </a:p>
          <a:p>
            <a:r>
              <a:rPr lang="en-US" sz="2000" dirty="0"/>
              <a:t>                      when , l = 1 (</a:t>
            </a:r>
            <a:r>
              <a:rPr lang="en-US" sz="2000" dirty="0" err="1"/>
              <a:t>P─sub</a:t>
            </a:r>
            <a:r>
              <a:rPr lang="en-US" sz="2000" dirty="0"/>
              <a:t>-shell),  m = ─ 1 , 0 , +1</a:t>
            </a:r>
          </a:p>
          <a:p>
            <a:r>
              <a:rPr lang="en-US" sz="2000" dirty="0"/>
              <a:t>                      when , l = 2 (</a:t>
            </a:r>
            <a:r>
              <a:rPr lang="en-US" sz="2000" dirty="0" err="1"/>
              <a:t>d─sub</a:t>
            </a:r>
            <a:r>
              <a:rPr lang="en-US" sz="2000" dirty="0"/>
              <a:t>-shell) ,  m = ─2 , ─1 , 0 ,+1 ,+ 2</a:t>
            </a:r>
          </a:p>
          <a:p>
            <a:r>
              <a:rPr lang="en-US" sz="2000" dirty="0"/>
              <a:t>                      when ,  l  =3 (</a:t>
            </a:r>
            <a:r>
              <a:rPr lang="en-US" sz="2000" dirty="0" err="1"/>
              <a:t>f─sub</a:t>
            </a:r>
            <a:r>
              <a:rPr lang="en-US" sz="2000" dirty="0"/>
              <a:t>-shell) ,  m = ─3,─ 2, ─1, 0,+1,+2,+3    </a:t>
            </a:r>
          </a:p>
        </p:txBody>
      </p:sp>
      <p:sp>
        <p:nvSpPr>
          <p:cNvPr id="8" name="TextBox 7"/>
          <p:cNvSpPr txBox="1"/>
          <p:nvPr/>
        </p:nvSpPr>
        <p:spPr>
          <a:xfrm>
            <a:off x="304800" y="5105400"/>
            <a:ext cx="8229600" cy="1015663"/>
          </a:xfrm>
          <a:prstGeom prst="rect">
            <a:avLst/>
          </a:prstGeom>
          <a:noFill/>
        </p:spPr>
        <p:txBody>
          <a:bodyPr wrap="square" rtlCol="0">
            <a:spAutoFit/>
          </a:bodyPr>
          <a:lstStyle/>
          <a:p>
            <a:r>
              <a:rPr lang="en-US" sz="2800" dirty="0"/>
              <a:t>  </a:t>
            </a:r>
            <a:r>
              <a:rPr lang="en-US" sz="3200" b="1" dirty="0"/>
              <a:t>m</a:t>
            </a:r>
            <a:r>
              <a:rPr lang="en-US" sz="2800" dirty="0"/>
              <a:t> = Orientation / dimensional position = Orbital .</a:t>
            </a:r>
          </a:p>
          <a:p>
            <a:r>
              <a:rPr lang="en-US" sz="2800" dirty="0"/>
              <a:t>  Total possible no. of </a:t>
            </a:r>
            <a:r>
              <a:rPr lang="en-US" sz="2800" dirty="0" err="1"/>
              <a:t>orbitals</a:t>
            </a:r>
            <a:r>
              <a:rPr lang="en-US" sz="2800" dirty="0"/>
              <a:t> = </a:t>
            </a:r>
            <a:r>
              <a:rPr lang="en-US" sz="2800" b="1" i="1" dirty="0"/>
              <a:t>2l+1</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228600"/>
            <a:ext cx="8229600" cy="769441"/>
          </a:xfrm>
          <a:prstGeom prst="rect">
            <a:avLst/>
          </a:prstGeom>
          <a:noFill/>
        </p:spPr>
        <p:txBody>
          <a:bodyPr wrap="square" rtlCol="0">
            <a:spAutoFit/>
          </a:bodyPr>
          <a:lstStyle/>
          <a:p>
            <a:r>
              <a:rPr lang="en-US" sz="4400" b="1" u="sng" dirty="0"/>
              <a:t>4.  Spin Quantum Number (s) :-</a:t>
            </a:r>
          </a:p>
        </p:txBody>
      </p:sp>
      <p:sp>
        <p:nvSpPr>
          <p:cNvPr id="5" name="TextBox 4"/>
          <p:cNvSpPr txBox="1"/>
          <p:nvPr/>
        </p:nvSpPr>
        <p:spPr>
          <a:xfrm>
            <a:off x="228600" y="1371600"/>
            <a:ext cx="8534400" cy="1200329"/>
          </a:xfrm>
          <a:prstGeom prst="rect">
            <a:avLst/>
          </a:prstGeom>
          <a:noFill/>
        </p:spPr>
        <p:txBody>
          <a:bodyPr wrap="square" rtlCol="0">
            <a:spAutoFit/>
          </a:bodyPr>
          <a:lstStyle/>
          <a:p>
            <a:r>
              <a:rPr lang="en-US" sz="2400" dirty="0"/>
              <a:t>An electron while moving in an orbit round the nucleus , also rotate or spins about it’s own axis (self rotation) either in a clock-wise direction or in an anti-clock wise direction</a:t>
            </a:r>
            <a:r>
              <a:rPr lang="en-US" dirty="0"/>
              <a:t>.</a:t>
            </a:r>
          </a:p>
        </p:txBody>
      </p:sp>
      <p:sp>
        <p:nvSpPr>
          <p:cNvPr id="7" name="TextBox 6"/>
          <p:cNvSpPr txBox="1"/>
          <p:nvPr/>
        </p:nvSpPr>
        <p:spPr>
          <a:xfrm>
            <a:off x="228600" y="2743200"/>
            <a:ext cx="8534400" cy="1200329"/>
          </a:xfrm>
          <a:prstGeom prst="rect">
            <a:avLst/>
          </a:prstGeom>
          <a:noFill/>
        </p:spPr>
        <p:txBody>
          <a:bodyPr wrap="square" rtlCol="0">
            <a:spAutoFit/>
          </a:bodyPr>
          <a:lstStyle/>
          <a:p>
            <a:r>
              <a:rPr lang="en-US" sz="2400" dirty="0"/>
              <a:t>In order to represent the direction of the spin or self- rotation of an electron about it’s own axis , we use a quantum number which is called </a:t>
            </a:r>
            <a:r>
              <a:rPr lang="en-US" sz="2400" b="1" i="1" dirty="0"/>
              <a:t>spin quantum number (s).</a:t>
            </a:r>
          </a:p>
        </p:txBody>
      </p:sp>
      <p:sp>
        <p:nvSpPr>
          <p:cNvPr id="8" name="TextBox 7"/>
          <p:cNvSpPr txBox="1"/>
          <p:nvPr/>
        </p:nvSpPr>
        <p:spPr>
          <a:xfrm>
            <a:off x="0" y="4267200"/>
            <a:ext cx="9144000" cy="461665"/>
          </a:xfrm>
          <a:prstGeom prst="rect">
            <a:avLst/>
          </a:prstGeom>
          <a:noFill/>
        </p:spPr>
        <p:txBody>
          <a:bodyPr wrap="square" rtlCol="0">
            <a:spAutoFit/>
          </a:bodyPr>
          <a:lstStyle/>
          <a:p>
            <a:r>
              <a:rPr lang="en-US" sz="2400" dirty="0"/>
              <a:t>Spin quantum number can have 2 values namely,  </a:t>
            </a:r>
            <a:r>
              <a:rPr lang="en-US" sz="2400" b="1" dirty="0"/>
              <a:t>+1/2  </a:t>
            </a:r>
            <a:r>
              <a:rPr lang="en-US" sz="2400" dirty="0"/>
              <a:t>and </a:t>
            </a:r>
            <a:r>
              <a:rPr lang="en-US" sz="2400" b="1" dirty="0"/>
              <a:t>─1/2</a:t>
            </a:r>
          </a:p>
        </p:txBody>
      </p:sp>
      <p:sp>
        <p:nvSpPr>
          <p:cNvPr id="9" name="TextBox 8"/>
          <p:cNvSpPr txBox="1"/>
          <p:nvPr/>
        </p:nvSpPr>
        <p:spPr>
          <a:xfrm>
            <a:off x="228600" y="4800600"/>
            <a:ext cx="8534400" cy="1815882"/>
          </a:xfrm>
          <a:prstGeom prst="rect">
            <a:avLst/>
          </a:prstGeom>
          <a:noFill/>
        </p:spPr>
        <p:txBody>
          <a:bodyPr wrap="square" rtlCol="0">
            <a:spAutoFit/>
          </a:bodyPr>
          <a:lstStyle/>
          <a:p>
            <a:r>
              <a:rPr lang="en-US" sz="2800" dirty="0"/>
              <a:t>An electron spinning in a clock-wise direction is represented by an arrow pointing </a:t>
            </a:r>
            <a:r>
              <a:rPr lang="en-US" sz="2800" b="1" i="1" dirty="0"/>
              <a:t>upward (↑) </a:t>
            </a:r>
            <a:r>
              <a:rPr lang="en-US" sz="2800" dirty="0"/>
              <a:t>, while that spinning in an anti-clock wise direction is represented by an arrow pointing </a:t>
            </a:r>
            <a:r>
              <a:rPr lang="en-US" sz="2800" b="1" i="1" dirty="0"/>
              <a:t>downward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3400" y="0"/>
            <a:ext cx="7924800" cy="1107996"/>
          </a:xfrm>
          <a:prstGeom prst="rect">
            <a:avLst/>
          </a:prstGeom>
          <a:noFill/>
        </p:spPr>
        <p:txBody>
          <a:bodyPr wrap="square" rtlCol="0">
            <a:spAutoFit/>
          </a:bodyPr>
          <a:lstStyle/>
          <a:p>
            <a:pPr algn="ctr"/>
            <a:r>
              <a:rPr lang="en-US" sz="6600" b="1" u="sng" dirty="0"/>
              <a:t>Summary</a:t>
            </a:r>
          </a:p>
        </p:txBody>
      </p:sp>
      <p:sp>
        <p:nvSpPr>
          <p:cNvPr id="5" name="TextBox 4"/>
          <p:cNvSpPr txBox="1"/>
          <p:nvPr/>
        </p:nvSpPr>
        <p:spPr>
          <a:xfrm>
            <a:off x="228600" y="1143000"/>
            <a:ext cx="8686800" cy="1508105"/>
          </a:xfrm>
          <a:prstGeom prst="rect">
            <a:avLst/>
          </a:prstGeom>
          <a:noFill/>
        </p:spPr>
        <p:txBody>
          <a:bodyPr wrap="square" rtlCol="0">
            <a:spAutoFit/>
          </a:bodyPr>
          <a:lstStyle/>
          <a:p>
            <a:pPr marL="457200" indent="-457200">
              <a:buAutoNum type="arabicPeriod"/>
            </a:pPr>
            <a:r>
              <a:rPr lang="en-US" sz="2000" b="1" u="sng" dirty="0"/>
              <a:t>Principal Quantum Number (n):    </a:t>
            </a:r>
            <a:r>
              <a:rPr lang="en-US" sz="2000" b="1" dirty="0"/>
              <a:t> </a:t>
            </a:r>
            <a:r>
              <a:rPr lang="en-US" sz="2000" b="1" i="1" dirty="0"/>
              <a:t>Bohr,   </a:t>
            </a:r>
            <a:r>
              <a:rPr lang="en-US" sz="2000" b="1" dirty="0"/>
              <a:t>n= 1,2,3,4,……………..,∞</a:t>
            </a:r>
          </a:p>
          <a:p>
            <a:pPr marL="457200" indent="-457200"/>
            <a:r>
              <a:rPr lang="en-US" sz="2000" b="1" dirty="0"/>
              <a:t>                </a:t>
            </a:r>
            <a:r>
              <a:rPr lang="en-US" sz="2000" dirty="0"/>
              <a:t> </a:t>
            </a:r>
            <a:r>
              <a:rPr lang="en-US" sz="2400" dirty="0"/>
              <a:t>Main energy shell = size of orbit</a:t>
            </a:r>
          </a:p>
          <a:p>
            <a:pPr marL="457200" indent="-457200"/>
            <a:r>
              <a:rPr lang="en-US" sz="2400" dirty="0"/>
              <a:t>                 Maximum e- retain=</a:t>
            </a:r>
            <a:r>
              <a:rPr lang="en-US" sz="2400" b="1" dirty="0"/>
              <a:t>2n</a:t>
            </a:r>
            <a:r>
              <a:rPr lang="en-US" sz="2400" b="1" baseline="30000" dirty="0"/>
              <a:t>2</a:t>
            </a:r>
            <a:endParaRPr lang="en-US" sz="2400" dirty="0"/>
          </a:p>
          <a:p>
            <a:pPr marL="457200" indent="-457200"/>
            <a:endParaRPr lang="en-US" sz="2400" dirty="0"/>
          </a:p>
        </p:txBody>
      </p:sp>
      <p:sp>
        <p:nvSpPr>
          <p:cNvPr id="7" name="TextBox 6"/>
          <p:cNvSpPr txBox="1"/>
          <p:nvPr/>
        </p:nvSpPr>
        <p:spPr>
          <a:xfrm>
            <a:off x="228600" y="2514600"/>
            <a:ext cx="8534400" cy="1015663"/>
          </a:xfrm>
          <a:prstGeom prst="rect">
            <a:avLst/>
          </a:prstGeom>
          <a:noFill/>
        </p:spPr>
        <p:txBody>
          <a:bodyPr wrap="square" rtlCol="0">
            <a:spAutoFit/>
          </a:bodyPr>
          <a:lstStyle/>
          <a:p>
            <a:r>
              <a:rPr lang="en-US" sz="2000" b="1" u="sng" dirty="0"/>
              <a:t>2. </a:t>
            </a:r>
            <a:r>
              <a:rPr lang="en-US" sz="2000" b="1" u="sng" dirty="0" err="1"/>
              <a:t>Azimuthal</a:t>
            </a:r>
            <a:r>
              <a:rPr lang="en-US" sz="2000" b="1" u="sng" dirty="0"/>
              <a:t>/</a:t>
            </a:r>
            <a:r>
              <a:rPr lang="en-US" sz="2000" b="1" u="sng" dirty="0" err="1"/>
              <a:t>Subsidary</a:t>
            </a:r>
            <a:r>
              <a:rPr lang="en-US" sz="2000" b="1" u="sng" dirty="0"/>
              <a:t> Quantum Number(l):  </a:t>
            </a:r>
            <a:r>
              <a:rPr lang="en-US" sz="2000" b="1" i="1" u="sng" dirty="0"/>
              <a:t> </a:t>
            </a:r>
            <a:r>
              <a:rPr lang="en-US" b="1" i="1" dirty="0" err="1"/>
              <a:t>Sommerfield</a:t>
            </a:r>
            <a:r>
              <a:rPr lang="en-US" b="1" i="1" dirty="0"/>
              <a:t> </a:t>
            </a:r>
            <a:r>
              <a:rPr lang="en-US" dirty="0"/>
              <a:t>,  l= 0 → (n─1).</a:t>
            </a:r>
          </a:p>
          <a:p>
            <a:r>
              <a:rPr lang="en-US" sz="2000" dirty="0"/>
              <a:t>                      Shape of sub-shell</a:t>
            </a:r>
          </a:p>
          <a:p>
            <a:r>
              <a:rPr lang="en-US" sz="2000" dirty="0"/>
              <a:t>                      Maximum e- retain= 2(2l+1)</a:t>
            </a:r>
          </a:p>
        </p:txBody>
      </p:sp>
      <p:sp>
        <p:nvSpPr>
          <p:cNvPr id="8" name="TextBox 7"/>
          <p:cNvSpPr txBox="1"/>
          <p:nvPr/>
        </p:nvSpPr>
        <p:spPr>
          <a:xfrm>
            <a:off x="304800" y="3733800"/>
            <a:ext cx="8763000" cy="1200329"/>
          </a:xfrm>
          <a:prstGeom prst="rect">
            <a:avLst/>
          </a:prstGeom>
          <a:noFill/>
        </p:spPr>
        <p:txBody>
          <a:bodyPr wrap="square" rtlCol="0">
            <a:spAutoFit/>
          </a:bodyPr>
          <a:lstStyle/>
          <a:p>
            <a:r>
              <a:rPr lang="en-US" sz="2000" b="1" u="sng" dirty="0"/>
              <a:t>3. Magnetic Quantum Number(m):</a:t>
            </a:r>
            <a:r>
              <a:rPr lang="en-US" dirty="0"/>
              <a:t>   </a:t>
            </a:r>
            <a:r>
              <a:rPr lang="en-US" b="1" i="1" dirty="0" err="1"/>
              <a:t>Zemann</a:t>
            </a:r>
            <a:r>
              <a:rPr lang="en-US" b="1" i="1" dirty="0"/>
              <a:t>,   </a:t>
            </a:r>
            <a:r>
              <a:rPr lang="en-US" sz="2400" b="1" dirty="0"/>
              <a:t>m= ─ l →0→ +l</a:t>
            </a:r>
          </a:p>
          <a:p>
            <a:r>
              <a:rPr lang="en-US" sz="2400" b="1" dirty="0"/>
              <a:t>                </a:t>
            </a:r>
            <a:r>
              <a:rPr lang="en-US" sz="2400" dirty="0"/>
              <a:t>Orientation/dimensional position</a:t>
            </a:r>
          </a:p>
          <a:p>
            <a:r>
              <a:rPr lang="en-US" sz="2400" dirty="0"/>
              <a:t>                Number of orbital in a sub-shell=(2l+1)</a:t>
            </a:r>
            <a:endParaRPr lang="en-US" dirty="0"/>
          </a:p>
        </p:txBody>
      </p:sp>
      <p:sp>
        <p:nvSpPr>
          <p:cNvPr id="9" name="TextBox 8"/>
          <p:cNvSpPr txBox="1"/>
          <p:nvPr/>
        </p:nvSpPr>
        <p:spPr>
          <a:xfrm>
            <a:off x="381000" y="5257800"/>
            <a:ext cx="8610600" cy="830997"/>
          </a:xfrm>
          <a:prstGeom prst="rect">
            <a:avLst/>
          </a:prstGeom>
          <a:noFill/>
        </p:spPr>
        <p:txBody>
          <a:bodyPr wrap="square" rtlCol="0">
            <a:spAutoFit/>
          </a:bodyPr>
          <a:lstStyle/>
          <a:p>
            <a:r>
              <a:rPr lang="en-US" sz="2000" b="1" u="sng" dirty="0"/>
              <a:t>4. Spin quantum Number(s):  </a:t>
            </a:r>
            <a:r>
              <a:rPr lang="en-US" b="1" i="1" dirty="0" err="1"/>
              <a:t>Gouldsmit</a:t>
            </a:r>
            <a:r>
              <a:rPr lang="en-US" b="1" i="1" dirty="0"/>
              <a:t> and </a:t>
            </a:r>
            <a:r>
              <a:rPr lang="en-US" b="1" i="1" dirty="0" err="1"/>
              <a:t>Uhlenbeck</a:t>
            </a:r>
            <a:r>
              <a:rPr lang="en-US" b="1" i="1" dirty="0"/>
              <a:t>,  </a:t>
            </a:r>
            <a:r>
              <a:rPr lang="en-US" sz="2400" dirty="0"/>
              <a:t>s=m(+1/2 , ─1/2)</a:t>
            </a:r>
          </a:p>
          <a:p>
            <a:r>
              <a:rPr lang="en-US" sz="2400" dirty="0"/>
              <a:t>               Mode and direction of spin of e-.</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28600"/>
            <a:ext cx="8839200" cy="707886"/>
          </a:xfrm>
          <a:prstGeom prst="rect">
            <a:avLst/>
          </a:prstGeom>
          <a:noFill/>
        </p:spPr>
        <p:txBody>
          <a:bodyPr wrap="square" rtlCol="0">
            <a:spAutoFit/>
          </a:bodyPr>
          <a:lstStyle/>
          <a:p>
            <a:r>
              <a:rPr lang="en-US" sz="4000" b="1" u="sng" dirty="0"/>
              <a:t>Difference between Orbit and Orbital</a:t>
            </a:r>
            <a:r>
              <a:rPr lang="en-US" sz="4000" dirty="0"/>
              <a:t>:</a:t>
            </a:r>
          </a:p>
        </p:txBody>
      </p:sp>
      <p:graphicFrame>
        <p:nvGraphicFramePr>
          <p:cNvPr id="5" name="Table 4"/>
          <p:cNvGraphicFramePr>
            <a:graphicFrameLocks noGrp="1"/>
          </p:cNvGraphicFramePr>
          <p:nvPr/>
        </p:nvGraphicFramePr>
        <p:xfrm>
          <a:off x="0" y="1066800"/>
          <a:ext cx="9144000" cy="5334000"/>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370840">
                <a:tc>
                  <a:txBody>
                    <a:bodyPr/>
                    <a:lstStyle/>
                    <a:p>
                      <a:pPr algn="ctr"/>
                      <a:r>
                        <a:rPr lang="en-US" sz="4800" dirty="0"/>
                        <a:t>Orbit</a:t>
                      </a:r>
                    </a:p>
                  </a:txBody>
                  <a:tcPr/>
                </a:tc>
                <a:tc>
                  <a:txBody>
                    <a:bodyPr/>
                    <a:lstStyle/>
                    <a:p>
                      <a:pPr algn="ctr"/>
                      <a:r>
                        <a:rPr lang="en-US" sz="4800" dirty="0"/>
                        <a:t>Orbital</a:t>
                      </a:r>
                    </a:p>
                  </a:txBody>
                  <a:tcPr/>
                </a:tc>
                <a:extLst>
                  <a:ext uri="{0D108BD9-81ED-4DB2-BD59-A6C34878D82A}">
                    <a16:rowId xmlns:a16="http://schemas.microsoft.com/office/drawing/2014/main" val="10000"/>
                  </a:ext>
                </a:extLst>
              </a:tr>
              <a:tr h="370840">
                <a:tc>
                  <a:txBody>
                    <a:bodyPr/>
                    <a:lstStyle/>
                    <a:p>
                      <a:r>
                        <a:rPr lang="en-US" sz="2000" dirty="0"/>
                        <a:t>(1). Bohr’s postulate→”An orbit is a definite circular path at a definite distance from the nucleus in which the electron revolves round the nucleus.</a:t>
                      </a:r>
                    </a:p>
                  </a:txBody>
                  <a:tcPr/>
                </a:tc>
                <a:tc>
                  <a:txBody>
                    <a:bodyPr/>
                    <a:lstStyle/>
                    <a:p>
                      <a:r>
                        <a:rPr lang="en-US" sz="2000" dirty="0"/>
                        <a:t>(1). Zeeman→ orbital is defined as a 3 dimensional region/space around the nucleus within which the probability of finding of electron(e-) with a certain energy is maximum.</a:t>
                      </a:r>
                    </a:p>
                  </a:txBody>
                  <a:tcPr/>
                </a:tc>
                <a:extLst>
                  <a:ext uri="{0D108BD9-81ED-4DB2-BD59-A6C34878D82A}">
                    <a16:rowId xmlns:a16="http://schemas.microsoft.com/office/drawing/2014/main" val="10001"/>
                  </a:ext>
                </a:extLst>
              </a:tr>
              <a:tr h="370840">
                <a:tc>
                  <a:txBody>
                    <a:bodyPr/>
                    <a:lstStyle/>
                    <a:p>
                      <a:r>
                        <a:rPr lang="en-US" sz="2000" dirty="0"/>
                        <a:t>(2). Designated by  “n”. n=1,2,3,……..</a:t>
                      </a:r>
                    </a:p>
                    <a:p>
                      <a:r>
                        <a:rPr lang="en-US" sz="2000" dirty="0"/>
                        <a:t>                                             K,L,M,N,...</a:t>
                      </a:r>
                    </a:p>
                  </a:txBody>
                  <a:tcPr/>
                </a:tc>
                <a:tc>
                  <a:txBody>
                    <a:bodyPr/>
                    <a:lstStyle/>
                    <a:p>
                      <a:r>
                        <a:rPr lang="en-US" sz="2000" dirty="0"/>
                        <a:t>(2). Designated by  s , p , d, f .</a:t>
                      </a:r>
                    </a:p>
                  </a:txBody>
                  <a:tcPr/>
                </a:tc>
                <a:extLst>
                  <a:ext uri="{0D108BD9-81ED-4DB2-BD59-A6C34878D82A}">
                    <a16:rowId xmlns:a16="http://schemas.microsoft.com/office/drawing/2014/main" val="10002"/>
                  </a:ext>
                </a:extLst>
              </a:tr>
              <a:tr h="370840">
                <a:tc>
                  <a:txBody>
                    <a:bodyPr/>
                    <a:lstStyle/>
                    <a:p>
                      <a:r>
                        <a:rPr lang="en-US" sz="2000" dirty="0"/>
                        <a:t>(3)Exact position/location</a:t>
                      </a:r>
                      <a:r>
                        <a:rPr lang="en-US" sz="2000" baseline="0" dirty="0"/>
                        <a:t> of electron(e-).</a:t>
                      </a:r>
                      <a:endParaRPr lang="en-US" sz="2000" dirty="0"/>
                    </a:p>
                  </a:txBody>
                  <a:tcPr/>
                </a:tc>
                <a:tc>
                  <a:txBody>
                    <a:bodyPr/>
                    <a:lstStyle/>
                    <a:p>
                      <a:r>
                        <a:rPr lang="en-US" sz="2000" dirty="0"/>
                        <a:t>(3). Not specify the exact position/location of e-.</a:t>
                      </a:r>
                    </a:p>
                  </a:txBody>
                  <a:tcPr/>
                </a:tc>
                <a:extLst>
                  <a:ext uri="{0D108BD9-81ED-4DB2-BD59-A6C34878D82A}">
                    <a16:rowId xmlns:a16="http://schemas.microsoft.com/office/drawing/2014/main" val="10003"/>
                  </a:ext>
                </a:extLst>
              </a:tr>
              <a:tr h="370840">
                <a:tc>
                  <a:txBody>
                    <a:bodyPr/>
                    <a:lstStyle/>
                    <a:p>
                      <a:r>
                        <a:rPr lang="en-US" sz="2000" dirty="0"/>
                        <a:t>(4). Planar</a:t>
                      </a:r>
                      <a:r>
                        <a:rPr lang="en-US" sz="2000" baseline="0" dirty="0"/>
                        <a:t> motion of e-</a:t>
                      </a:r>
                      <a:endParaRPr lang="en-US" sz="2000" dirty="0"/>
                    </a:p>
                  </a:txBody>
                  <a:tcPr/>
                </a:tc>
                <a:tc>
                  <a:txBody>
                    <a:bodyPr/>
                    <a:lstStyle/>
                    <a:p>
                      <a:r>
                        <a:rPr lang="en-US" sz="2000" dirty="0"/>
                        <a:t>(4). Three-dimensional motion of e-.</a:t>
                      </a:r>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(5Max. no. of e-=</a:t>
                      </a:r>
                      <a:r>
                        <a:rPr kumimoji="0" lang="en-US" sz="1800" b="1" kern="1200" dirty="0">
                          <a:solidFill>
                            <a:schemeClr val="dk1"/>
                          </a:solidFill>
                          <a:latin typeface="+mn-lt"/>
                          <a:ea typeface="+mn-ea"/>
                          <a:cs typeface="+mn-cs"/>
                        </a:rPr>
                        <a:t>2n</a:t>
                      </a:r>
                      <a:r>
                        <a:rPr kumimoji="0" lang="en-US" sz="1800" b="1" kern="1200" baseline="30000" dirty="0">
                          <a:solidFill>
                            <a:schemeClr val="dk1"/>
                          </a:solidFill>
                          <a:latin typeface="+mn-lt"/>
                          <a:ea typeface="+mn-ea"/>
                          <a:cs typeface="+mn-cs"/>
                        </a:rPr>
                        <a:t>2</a:t>
                      </a:r>
                      <a:endParaRPr kumimoji="0" lang="en-US" sz="1800" kern="1200" dirty="0">
                        <a:solidFill>
                          <a:schemeClr val="dk1"/>
                        </a:solidFill>
                        <a:latin typeface="+mn-lt"/>
                        <a:ea typeface="+mn-ea"/>
                        <a:cs typeface="+mn-cs"/>
                      </a:endParaRPr>
                    </a:p>
                  </a:txBody>
                  <a:tcPr/>
                </a:tc>
                <a:tc>
                  <a:txBody>
                    <a:bodyPr/>
                    <a:lstStyle/>
                    <a:p>
                      <a:r>
                        <a:rPr lang="en-US" sz="2000" dirty="0"/>
                        <a:t>(5) Max. no. of e-=2</a:t>
                      </a:r>
                    </a:p>
                  </a:txBody>
                  <a:tcPr/>
                </a:tc>
                <a:extLst>
                  <a:ext uri="{0D108BD9-81ED-4DB2-BD59-A6C34878D82A}">
                    <a16:rowId xmlns:a16="http://schemas.microsoft.com/office/drawing/2014/main" val="10005"/>
                  </a:ext>
                </a:extLst>
              </a:tr>
              <a:tr h="370840">
                <a:tc>
                  <a:txBody>
                    <a:bodyPr/>
                    <a:lstStyle/>
                    <a:p>
                      <a:r>
                        <a:rPr lang="en-US" sz="2000" dirty="0"/>
                        <a:t>(6). Circular in shape.</a:t>
                      </a:r>
                    </a:p>
                  </a:txBody>
                  <a:tcPr/>
                </a:tc>
                <a:tc>
                  <a:txBody>
                    <a:bodyPr/>
                    <a:lstStyle/>
                    <a:p>
                      <a:r>
                        <a:rPr lang="en-US" sz="2000" dirty="0"/>
                        <a:t>(6). Different shapes. Ex: s=spherically symmetrical, p=dumb-bell.</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1446550"/>
          </a:xfrm>
          <a:prstGeom prst="rect">
            <a:avLst/>
          </a:prstGeom>
          <a:noFill/>
        </p:spPr>
        <p:txBody>
          <a:bodyPr wrap="square" rtlCol="0">
            <a:spAutoFit/>
          </a:bodyPr>
          <a:lstStyle/>
          <a:p>
            <a:r>
              <a:rPr lang="en-US" sz="4400" b="1" u="sng" dirty="0"/>
              <a:t>Problems Based on Quantum Number</a:t>
            </a:r>
          </a:p>
          <a:p>
            <a:endParaRPr lang="en-US" sz="4400" b="1" u="sng" dirty="0"/>
          </a:p>
        </p:txBody>
      </p:sp>
      <p:sp>
        <p:nvSpPr>
          <p:cNvPr id="3" name="TextBox 2"/>
          <p:cNvSpPr txBox="1"/>
          <p:nvPr/>
        </p:nvSpPr>
        <p:spPr>
          <a:xfrm>
            <a:off x="0" y="1143000"/>
            <a:ext cx="9144000" cy="707886"/>
          </a:xfrm>
          <a:prstGeom prst="rect">
            <a:avLst/>
          </a:prstGeom>
          <a:noFill/>
        </p:spPr>
        <p:txBody>
          <a:bodyPr wrap="square" rtlCol="0">
            <a:spAutoFit/>
          </a:bodyPr>
          <a:lstStyle/>
          <a:p>
            <a:r>
              <a:rPr lang="en-US" sz="2000" dirty="0"/>
              <a:t>Q(1). Give the values of all quantum numbers for the electron having </a:t>
            </a:r>
            <a:r>
              <a:rPr lang="en-US" sz="2000" b="1" i="1" dirty="0"/>
              <a:t>highest/lowest</a:t>
            </a:r>
            <a:r>
              <a:rPr lang="en-US" sz="2000" dirty="0"/>
              <a:t> energy of a </a:t>
            </a:r>
            <a:r>
              <a:rPr lang="en-US" sz="2000" b="1" i="1" dirty="0"/>
              <a:t>Na/K</a:t>
            </a:r>
            <a:r>
              <a:rPr lang="en-US" sz="2000" dirty="0"/>
              <a:t>-atom when it is in </a:t>
            </a:r>
            <a:r>
              <a:rPr lang="en-US" sz="2000" b="1" i="1" dirty="0"/>
              <a:t>ground /excited state</a:t>
            </a:r>
            <a:r>
              <a:rPr lang="en-US" sz="2000" dirty="0"/>
              <a:t>.</a:t>
            </a:r>
          </a:p>
        </p:txBody>
      </p:sp>
      <p:sp>
        <p:nvSpPr>
          <p:cNvPr id="4" name="TextBox 3"/>
          <p:cNvSpPr txBox="1"/>
          <p:nvPr/>
        </p:nvSpPr>
        <p:spPr>
          <a:xfrm>
            <a:off x="0" y="2209800"/>
            <a:ext cx="9144000" cy="461665"/>
          </a:xfrm>
          <a:prstGeom prst="rect">
            <a:avLst/>
          </a:prstGeom>
          <a:noFill/>
        </p:spPr>
        <p:txBody>
          <a:bodyPr wrap="square" rtlCol="0">
            <a:spAutoFit/>
          </a:bodyPr>
          <a:lstStyle/>
          <a:p>
            <a:r>
              <a:rPr lang="en-US" sz="2400" dirty="0"/>
              <a:t>Q(2).. Difference between </a:t>
            </a:r>
            <a:r>
              <a:rPr lang="en-US" sz="2400" b="1" i="1" dirty="0"/>
              <a:t>“2P” </a:t>
            </a:r>
            <a:r>
              <a:rPr lang="en-US" sz="2400" dirty="0"/>
              <a:t>and “</a:t>
            </a:r>
            <a:r>
              <a:rPr lang="en-US" sz="2400" b="1" i="1" dirty="0"/>
              <a:t>3P</a:t>
            </a:r>
            <a:r>
              <a:rPr lang="en-US" sz="2400" dirty="0"/>
              <a:t>” </a:t>
            </a:r>
            <a:r>
              <a:rPr lang="en-US" sz="2400" dirty="0" err="1"/>
              <a:t>orbitals</a:t>
            </a:r>
            <a:r>
              <a:rPr lang="en-US" sz="2400" dirty="0"/>
              <a:t>.</a:t>
            </a:r>
          </a:p>
        </p:txBody>
      </p:sp>
      <p:sp>
        <p:nvSpPr>
          <p:cNvPr id="5" name="TextBox 4"/>
          <p:cNvSpPr txBox="1"/>
          <p:nvPr/>
        </p:nvSpPr>
        <p:spPr>
          <a:xfrm>
            <a:off x="0" y="2819400"/>
            <a:ext cx="8991600" cy="830997"/>
          </a:xfrm>
          <a:prstGeom prst="rect">
            <a:avLst/>
          </a:prstGeom>
          <a:noFill/>
        </p:spPr>
        <p:txBody>
          <a:bodyPr wrap="square" rtlCol="0">
            <a:spAutoFit/>
          </a:bodyPr>
          <a:lstStyle/>
          <a:p>
            <a:r>
              <a:rPr lang="en-US" sz="2400" dirty="0"/>
              <a:t>Q(3). With suitable explanation point out the forbidden designation from the following atomic </a:t>
            </a:r>
            <a:r>
              <a:rPr lang="en-US" sz="2400" dirty="0" err="1"/>
              <a:t>orbitals</a:t>
            </a:r>
            <a:r>
              <a:rPr lang="en-US" sz="2400" dirty="0"/>
              <a:t>:-  </a:t>
            </a:r>
            <a:r>
              <a:rPr lang="en-US" sz="2400" b="1" i="1" dirty="0"/>
              <a:t>7S , 2d , 4P , 3f , 4S , 5P </a:t>
            </a:r>
            <a:r>
              <a:rPr lang="en-US" dirty="0"/>
              <a:t>.</a:t>
            </a:r>
          </a:p>
        </p:txBody>
      </p:sp>
      <p:sp>
        <p:nvSpPr>
          <p:cNvPr id="6" name="TextBox 5"/>
          <p:cNvSpPr txBox="1"/>
          <p:nvPr/>
        </p:nvSpPr>
        <p:spPr>
          <a:xfrm>
            <a:off x="0" y="3810000"/>
            <a:ext cx="8915400" cy="461665"/>
          </a:xfrm>
          <a:prstGeom prst="rect">
            <a:avLst/>
          </a:prstGeom>
          <a:noFill/>
        </p:spPr>
        <p:txBody>
          <a:bodyPr wrap="square" rtlCol="0">
            <a:spAutoFit/>
          </a:bodyPr>
          <a:lstStyle/>
          <a:p>
            <a:r>
              <a:rPr lang="en-US" sz="2400" dirty="0"/>
              <a:t>Q(4). Explain why </a:t>
            </a:r>
            <a:r>
              <a:rPr lang="en-US" sz="2400" dirty="0" err="1"/>
              <a:t>orbitals</a:t>
            </a:r>
            <a:r>
              <a:rPr lang="en-US" sz="2400" dirty="0"/>
              <a:t> like “</a:t>
            </a:r>
            <a:r>
              <a:rPr lang="en-US" sz="2400" b="1" i="1" dirty="0"/>
              <a:t>1P”,“2d”</a:t>
            </a:r>
            <a:r>
              <a:rPr lang="en-US" sz="2400" dirty="0"/>
              <a:t>and“</a:t>
            </a:r>
            <a:r>
              <a:rPr lang="en-US" sz="2400" b="1" i="1" dirty="0"/>
              <a:t>3f ”</a:t>
            </a:r>
            <a:r>
              <a:rPr lang="en-US" sz="2400" dirty="0"/>
              <a:t>are not possible ?</a:t>
            </a:r>
          </a:p>
        </p:txBody>
      </p:sp>
      <p:sp>
        <p:nvSpPr>
          <p:cNvPr id="7" name="TextBox 6"/>
          <p:cNvSpPr txBox="1"/>
          <p:nvPr/>
        </p:nvSpPr>
        <p:spPr>
          <a:xfrm>
            <a:off x="0" y="4419600"/>
            <a:ext cx="8915400" cy="400110"/>
          </a:xfrm>
          <a:prstGeom prst="rect">
            <a:avLst/>
          </a:prstGeom>
          <a:noFill/>
        </p:spPr>
        <p:txBody>
          <a:bodyPr wrap="square" rtlCol="0">
            <a:spAutoFit/>
          </a:bodyPr>
          <a:lstStyle/>
          <a:p>
            <a:r>
              <a:rPr lang="en-US" sz="2000" dirty="0"/>
              <a:t>Q(5). Calculate and </a:t>
            </a:r>
            <a:r>
              <a:rPr lang="en-US" sz="2000" dirty="0" err="1"/>
              <a:t>identifyall</a:t>
            </a:r>
            <a:r>
              <a:rPr lang="en-US" sz="2000" dirty="0"/>
              <a:t> the </a:t>
            </a:r>
            <a:r>
              <a:rPr lang="en-US" sz="2000" dirty="0" err="1"/>
              <a:t>indiidual</a:t>
            </a:r>
            <a:r>
              <a:rPr lang="en-US" sz="2000" dirty="0"/>
              <a:t> </a:t>
            </a:r>
            <a:r>
              <a:rPr lang="en-US" sz="2000" dirty="0" err="1"/>
              <a:t>orbitals</a:t>
            </a:r>
            <a:r>
              <a:rPr lang="en-US" sz="2000" dirty="0"/>
              <a:t> for- (¡) </a:t>
            </a:r>
            <a:r>
              <a:rPr lang="en-US" sz="2000" b="1" dirty="0"/>
              <a:t>n=3</a:t>
            </a:r>
            <a:r>
              <a:rPr lang="en-US" sz="2000" dirty="0"/>
              <a:t> , (¡¡) </a:t>
            </a:r>
            <a:r>
              <a:rPr lang="en-US" sz="2000" b="1" dirty="0"/>
              <a:t>n=4</a:t>
            </a:r>
            <a:r>
              <a:rPr lang="en-US" sz="2000" dirty="0"/>
              <a:t> </a:t>
            </a:r>
          </a:p>
        </p:txBody>
      </p:sp>
      <p:sp>
        <p:nvSpPr>
          <p:cNvPr id="8" name="TextBox 7"/>
          <p:cNvSpPr txBox="1"/>
          <p:nvPr/>
        </p:nvSpPr>
        <p:spPr>
          <a:xfrm>
            <a:off x="0" y="4953000"/>
            <a:ext cx="9144000" cy="1631216"/>
          </a:xfrm>
          <a:prstGeom prst="rect">
            <a:avLst/>
          </a:prstGeom>
          <a:noFill/>
        </p:spPr>
        <p:txBody>
          <a:bodyPr wrap="square" rtlCol="0">
            <a:spAutoFit/>
          </a:bodyPr>
          <a:lstStyle/>
          <a:p>
            <a:r>
              <a:rPr lang="en-US" dirty="0"/>
              <a:t>Q</a:t>
            </a:r>
            <a:r>
              <a:rPr lang="en-US" sz="2000" dirty="0"/>
              <a:t>(6). Which sets of quantum number are not permissible and why ?</a:t>
            </a:r>
          </a:p>
          <a:p>
            <a:r>
              <a:rPr lang="en-US" sz="2000" dirty="0"/>
              <a:t>         (¡) n=5 , l=4 , m=0 , s=+1/2 ;         (¡¡) n=3 , l=0 , m= ─1 , s= ─1/2</a:t>
            </a:r>
          </a:p>
          <a:p>
            <a:r>
              <a:rPr lang="en-US" sz="2000" dirty="0"/>
              <a:t>         (¡¡¡) n=3 , l=1 , m=2 , s=+1/2;        (¡v) n=2 , l=2 , m=0 ,   s=+1/2</a:t>
            </a:r>
          </a:p>
          <a:p>
            <a:r>
              <a:rPr lang="en-US" sz="2000" dirty="0"/>
              <a:t>         (v) n=2, l=2, m= ─1, s= ─1/2 ;      (v¡) n=2 , l=1 , m=+1,  s= ─1/2</a:t>
            </a:r>
          </a:p>
          <a:p>
            <a:r>
              <a:rPr lang="en-US" sz="2000" dirty="0"/>
              <a:t>         (v¡¡)n=3, l=2, m=+1,  s=0.</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228600"/>
            <a:ext cx="8534400" cy="584775"/>
          </a:xfrm>
          <a:prstGeom prst="rect">
            <a:avLst/>
          </a:prstGeom>
          <a:noFill/>
        </p:spPr>
        <p:txBody>
          <a:bodyPr wrap="square" rtlCol="0">
            <a:spAutoFit/>
          </a:bodyPr>
          <a:lstStyle/>
          <a:p>
            <a:r>
              <a:rPr lang="en-US" sz="3200" b="1" u="sng" dirty="0"/>
              <a:t>More problems ─Quantum Number</a:t>
            </a:r>
          </a:p>
        </p:txBody>
      </p:sp>
      <p:sp>
        <p:nvSpPr>
          <p:cNvPr id="5" name="TextBox 4"/>
          <p:cNvSpPr txBox="1"/>
          <p:nvPr/>
        </p:nvSpPr>
        <p:spPr>
          <a:xfrm>
            <a:off x="0" y="1143000"/>
            <a:ext cx="8991600" cy="369332"/>
          </a:xfrm>
          <a:prstGeom prst="rect">
            <a:avLst/>
          </a:prstGeom>
          <a:noFill/>
        </p:spPr>
        <p:txBody>
          <a:bodyPr wrap="square" rtlCol="0">
            <a:spAutoFit/>
          </a:bodyPr>
          <a:lstStyle/>
          <a:p>
            <a:r>
              <a:rPr lang="en-US" dirty="0"/>
              <a:t>Q(7).                        Mention the values of “l” and “m” for the “Z” energy shell and also                   </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1143000"/>
            <a:ext cx="1334530" cy="1023403"/>
          </a:xfrm>
          <a:prstGeom prst="rect">
            <a:avLst/>
          </a:prstGeom>
          <a:noFill/>
          <a:ln>
            <a:noFill/>
          </a:ln>
        </p:spPr>
      </p:pic>
      <p:sp>
        <p:nvSpPr>
          <p:cNvPr id="7" name="TextBox 6"/>
          <p:cNvSpPr txBox="1"/>
          <p:nvPr/>
        </p:nvSpPr>
        <p:spPr>
          <a:xfrm>
            <a:off x="228600" y="1600200"/>
            <a:ext cx="8915400" cy="369332"/>
          </a:xfrm>
          <a:prstGeom prst="rect">
            <a:avLst/>
          </a:prstGeom>
          <a:noFill/>
        </p:spPr>
        <p:txBody>
          <a:bodyPr wrap="square" rtlCol="0">
            <a:spAutoFit/>
          </a:bodyPr>
          <a:lstStyle/>
          <a:p>
            <a:r>
              <a:rPr lang="en-US" dirty="0"/>
              <a:t>                                    calculate the number of electrons in it .</a:t>
            </a:r>
          </a:p>
        </p:txBody>
      </p:sp>
      <p:sp>
        <p:nvSpPr>
          <p:cNvPr id="8" name="TextBox 7"/>
          <p:cNvSpPr txBox="1"/>
          <p:nvPr/>
        </p:nvSpPr>
        <p:spPr>
          <a:xfrm>
            <a:off x="0" y="2133600"/>
            <a:ext cx="8991600" cy="830997"/>
          </a:xfrm>
          <a:prstGeom prst="rect">
            <a:avLst/>
          </a:prstGeom>
          <a:noFill/>
        </p:spPr>
        <p:txBody>
          <a:bodyPr wrap="square" rtlCol="0">
            <a:spAutoFit/>
          </a:bodyPr>
          <a:lstStyle/>
          <a:p>
            <a:r>
              <a:rPr lang="en-US" sz="2400" dirty="0"/>
              <a:t>Q(8). How the maximum number of electron(e-) retained be calculated  in various sub-shell ? </a:t>
            </a:r>
          </a:p>
        </p:txBody>
      </p:sp>
      <p:sp>
        <p:nvSpPr>
          <p:cNvPr id="9" name="TextBox 8"/>
          <p:cNvSpPr txBox="1"/>
          <p:nvPr/>
        </p:nvSpPr>
        <p:spPr>
          <a:xfrm>
            <a:off x="0" y="2895600"/>
            <a:ext cx="9144000" cy="830997"/>
          </a:xfrm>
          <a:prstGeom prst="rect">
            <a:avLst/>
          </a:prstGeom>
          <a:noFill/>
        </p:spPr>
        <p:txBody>
          <a:bodyPr wrap="square" rtlCol="0">
            <a:spAutoFit/>
          </a:bodyPr>
          <a:lstStyle/>
          <a:p>
            <a:r>
              <a:rPr lang="en-US" sz="2400" dirty="0"/>
              <a:t>Q(9). Determine the no. of </a:t>
            </a:r>
            <a:r>
              <a:rPr lang="en-US" sz="2400" dirty="0" err="1"/>
              <a:t>orbitals</a:t>
            </a:r>
            <a:r>
              <a:rPr lang="en-US" sz="2400" dirty="0"/>
              <a:t> and total no. of electrons in M-shell from the calculation of “l” and “m” </a:t>
            </a:r>
            <a:r>
              <a:rPr lang="en-US" dirty="0"/>
              <a:t>.</a:t>
            </a:r>
          </a:p>
        </p:txBody>
      </p:sp>
      <p:sp>
        <p:nvSpPr>
          <p:cNvPr id="10" name="TextBox 9"/>
          <p:cNvSpPr txBox="1"/>
          <p:nvPr/>
        </p:nvSpPr>
        <p:spPr>
          <a:xfrm>
            <a:off x="0" y="3962400"/>
            <a:ext cx="9144000" cy="830997"/>
          </a:xfrm>
          <a:prstGeom prst="rect">
            <a:avLst/>
          </a:prstGeom>
          <a:noFill/>
        </p:spPr>
        <p:txBody>
          <a:bodyPr wrap="square" rtlCol="0">
            <a:spAutoFit/>
          </a:bodyPr>
          <a:lstStyle/>
          <a:p>
            <a:r>
              <a:rPr lang="en-US" sz="2400" dirty="0"/>
              <a:t>Q(10). Give the values of all quantum numbers for the outermost electron </a:t>
            </a:r>
            <a:r>
              <a:rPr lang="en-US" sz="2400"/>
              <a:t>and the last </a:t>
            </a:r>
            <a:r>
              <a:rPr lang="en-US" sz="2400" dirty="0"/>
              <a:t>electron of Cu / Zn atom.</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228600"/>
            <a:ext cx="8382000" cy="584775"/>
          </a:xfrm>
          <a:prstGeom prst="rect">
            <a:avLst/>
          </a:prstGeom>
          <a:noFill/>
        </p:spPr>
        <p:txBody>
          <a:bodyPr wrap="square" rtlCol="0">
            <a:spAutoFit/>
          </a:bodyPr>
          <a:lstStyle/>
          <a:p>
            <a:r>
              <a:rPr lang="en-US" sz="3200" b="1" u="sng" dirty="0"/>
              <a:t>Electronic Configuration of atoms:</a:t>
            </a:r>
          </a:p>
        </p:txBody>
      </p:sp>
      <p:sp>
        <p:nvSpPr>
          <p:cNvPr id="5" name="TextBox 4"/>
          <p:cNvSpPr txBox="1"/>
          <p:nvPr/>
        </p:nvSpPr>
        <p:spPr>
          <a:xfrm>
            <a:off x="0" y="1066800"/>
            <a:ext cx="8686800" cy="830997"/>
          </a:xfrm>
          <a:prstGeom prst="rect">
            <a:avLst/>
          </a:prstGeom>
          <a:noFill/>
        </p:spPr>
        <p:txBody>
          <a:bodyPr wrap="square" rtlCol="0">
            <a:spAutoFit/>
          </a:bodyPr>
          <a:lstStyle/>
          <a:p>
            <a:r>
              <a:rPr lang="en-US" sz="2400" dirty="0"/>
              <a:t>At normal state , generally atoms are </a:t>
            </a:r>
            <a:r>
              <a:rPr lang="en-US" sz="2400" dirty="0" err="1"/>
              <a:t>nutral</a:t>
            </a:r>
            <a:r>
              <a:rPr lang="en-US" sz="2400" dirty="0"/>
              <a:t> in state because of having equal no. of positive(+) proton and negative(─) electrons</a:t>
            </a:r>
            <a:r>
              <a:rPr lang="en-US" sz="2000" dirty="0"/>
              <a:t>.</a:t>
            </a:r>
          </a:p>
        </p:txBody>
      </p:sp>
      <p:sp>
        <p:nvSpPr>
          <p:cNvPr id="6" name="TextBox 5"/>
          <p:cNvSpPr txBox="1"/>
          <p:nvPr/>
        </p:nvSpPr>
        <p:spPr>
          <a:xfrm>
            <a:off x="228600" y="2590800"/>
            <a:ext cx="8686800" cy="1200329"/>
          </a:xfrm>
          <a:prstGeom prst="rect">
            <a:avLst/>
          </a:prstGeom>
          <a:noFill/>
        </p:spPr>
        <p:txBody>
          <a:bodyPr wrap="square" rtlCol="0">
            <a:spAutoFit/>
          </a:bodyPr>
          <a:lstStyle/>
          <a:p>
            <a:r>
              <a:rPr lang="en-US" sz="2400" dirty="0"/>
              <a:t>According to quantum Mechanics , electrons are revolving </a:t>
            </a:r>
            <a:r>
              <a:rPr lang="en-US" sz="2400" dirty="0" err="1"/>
              <a:t>arround</a:t>
            </a:r>
            <a:r>
              <a:rPr lang="en-US" sz="2400" dirty="0"/>
              <a:t> the nucleus in specific </a:t>
            </a:r>
            <a:r>
              <a:rPr lang="en-US" sz="2400" dirty="0" err="1"/>
              <a:t>orbitals</a:t>
            </a:r>
            <a:r>
              <a:rPr lang="en-US" sz="2400" dirty="0"/>
              <a:t>. The specific arrangement of e- in specific </a:t>
            </a:r>
            <a:r>
              <a:rPr lang="en-US" sz="2400" dirty="0" err="1"/>
              <a:t>orbitals</a:t>
            </a:r>
            <a:r>
              <a:rPr lang="en-US" sz="2400" dirty="0"/>
              <a:t> is called electronic configuration.</a:t>
            </a:r>
          </a:p>
        </p:txBody>
      </p:sp>
      <p:sp>
        <p:nvSpPr>
          <p:cNvPr id="7" name="TextBox 6"/>
          <p:cNvSpPr txBox="1"/>
          <p:nvPr/>
        </p:nvSpPr>
        <p:spPr>
          <a:xfrm>
            <a:off x="0" y="4114800"/>
            <a:ext cx="8915400" cy="1569660"/>
          </a:xfrm>
          <a:prstGeom prst="rect">
            <a:avLst/>
          </a:prstGeom>
          <a:noFill/>
        </p:spPr>
        <p:txBody>
          <a:bodyPr wrap="square" rtlCol="0">
            <a:spAutoFit/>
          </a:bodyPr>
          <a:lstStyle/>
          <a:p>
            <a:r>
              <a:rPr lang="en-US" dirty="0"/>
              <a:t> </a:t>
            </a:r>
            <a:r>
              <a:rPr lang="en-US" sz="2400" dirty="0"/>
              <a:t>3 major rules for the electronic configurations of atoms are-</a:t>
            </a:r>
          </a:p>
          <a:p>
            <a:r>
              <a:rPr lang="en-US" sz="2400" dirty="0"/>
              <a:t>              (</a:t>
            </a:r>
            <a:r>
              <a:rPr lang="en-US" sz="2400" b="1" i="1" dirty="0"/>
              <a:t>1). Auf-</a:t>
            </a:r>
            <a:r>
              <a:rPr lang="en-US" sz="2400" b="1" i="1" dirty="0" err="1"/>
              <a:t>bau</a:t>
            </a:r>
            <a:r>
              <a:rPr lang="en-US" sz="2400" b="1" i="1" dirty="0"/>
              <a:t> Principle,</a:t>
            </a:r>
          </a:p>
          <a:p>
            <a:r>
              <a:rPr lang="en-US" sz="2400" b="1" i="1" dirty="0"/>
              <a:t>              (2). Pauli’s Exclusion Principle,</a:t>
            </a:r>
          </a:p>
          <a:p>
            <a:r>
              <a:rPr lang="en-US" sz="2400" b="1" i="1" dirty="0"/>
              <a:t>              (3). </a:t>
            </a:r>
            <a:r>
              <a:rPr lang="en-US" sz="2400" b="1" i="1" dirty="0" err="1"/>
              <a:t>Hund’s</a:t>
            </a:r>
            <a:r>
              <a:rPr lang="en-US" sz="2400" b="1" i="1" dirty="0"/>
              <a:t> Rule.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304800"/>
            <a:ext cx="8458200" cy="523220"/>
          </a:xfrm>
          <a:prstGeom prst="rect">
            <a:avLst/>
          </a:prstGeom>
          <a:noFill/>
        </p:spPr>
        <p:txBody>
          <a:bodyPr wrap="square" rtlCol="0">
            <a:spAutoFit/>
          </a:bodyPr>
          <a:lstStyle/>
          <a:p>
            <a:r>
              <a:rPr lang="en-US" sz="2800" b="1" u="sng" dirty="0"/>
              <a:t>(1). Auf-</a:t>
            </a:r>
            <a:r>
              <a:rPr lang="en-US" sz="2800" b="1" u="sng" dirty="0" err="1"/>
              <a:t>bau</a:t>
            </a:r>
            <a:r>
              <a:rPr lang="en-US" sz="2800" b="1" u="sng" dirty="0"/>
              <a:t> Principle /(</a:t>
            </a:r>
            <a:r>
              <a:rPr lang="en-US" sz="2800" b="1" u="sng" dirty="0" err="1"/>
              <a:t>n+l</a:t>
            </a:r>
            <a:r>
              <a:rPr lang="en-US" sz="2800" b="1" u="sng" dirty="0"/>
              <a:t>) rule:  </a:t>
            </a:r>
            <a:r>
              <a:rPr lang="en-US" dirty="0" err="1"/>
              <a:t>Aufbau</a:t>
            </a:r>
            <a:r>
              <a:rPr lang="en-US" dirty="0"/>
              <a:t>=Building up</a:t>
            </a:r>
          </a:p>
        </p:txBody>
      </p:sp>
      <p:sp>
        <p:nvSpPr>
          <p:cNvPr id="5" name="TextBox 4"/>
          <p:cNvSpPr txBox="1"/>
          <p:nvPr/>
        </p:nvSpPr>
        <p:spPr>
          <a:xfrm>
            <a:off x="0" y="1219200"/>
            <a:ext cx="9144000" cy="1323439"/>
          </a:xfrm>
          <a:prstGeom prst="rect">
            <a:avLst/>
          </a:prstGeom>
          <a:noFill/>
        </p:spPr>
        <p:txBody>
          <a:bodyPr wrap="square" rtlCol="0">
            <a:spAutoFit/>
          </a:bodyPr>
          <a:lstStyle/>
          <a:p>
            <a:r>
              <a:rPr lang="en-US" sz="2000" dirty="0"/>
              <a:t>(¡). The relative order of energy of different </a:t>
            </a:r>
            <a:r>
              <a:rPr lang="en-US" sz="2000" dirty="0" err="1"/>
              <a:t>orbitals</a:t>
            </a:r>
            <a:r>
              <a:rPr lang="en-US" sz="2000" dirty="0"/>
              <a:t> (or, the sequence in which various </a:t>
            </a:r>
            <a:r>
              <a:rPr lang="en-US" sz="2000" dirty="0" err="1"/>
              <a:t>orbitals</a:t>
            </a:r>
            <a:r>
              <a:rPr lang="en-US" sz="2000" dirty="0"/>
              <a:t> are filled up with electrons) can also be determined with the help of (</a:t>
            </a:r>
            <a:r>
              <a:rPr lang="en-US" sz="2000" dirty="0" err="1"/>
              <a:t>n+l</a:t>
            </a:r>
            <a:r>
              <a:rPr lang="en-US" sz="2000" dirty="0"/>
              <a:t>) value for a given orbital (n=principle quantum number , l= </a:t>
            </a:r>
            <a:r>
              <a:rPr lang="en-US" sz="2000" dirty="0" err="1"/>
              <a:t>azimuthal</a:t>
            </a:r>
            <a:r>
              <a:rPr lang="en-US" sz="2000" dirty="0"/>
              <a:t> quantum number)</a:t>
            </a:r>
          </a:p>
        </p:txBody>
      </p:sp>
      <p:sp>
        <p:nvSpPr>
          <p:cNvPr id="6" name="TextBox 5"/>
          <p:cNvSpPr txBox="1"/>
          <p:nvPr/>
        </p:nvSpPr>
        <p:spPr>
          <a:xfrm>
            <a:off x="0" y="2514600"/>
            <a:ext cx="9144000" cy="830997"/>
          </a:xfrm>
          <a:prstGeom prst="rect">
            <a:avLst/>
          </a:prstGeom>
          <a:noFill/>
        </p:spPr>
        <p:txBody>
          <a:bodyPr wrap="square" rtlCol="0">
            <a:spAutoFit/>
          </a:bodyPr>
          <a:lstStyle/>
          <a:p>
            <a:r>
              <a:rPr lang="en-US" sz="2400" dirty="0"/>
              <a:t>According to this rule, the orbital having the lowest value of (</a:t>
            </a:r>
            <a:r>
              <a:rPr lang="en-US" sz="2400" dirty="0" err="1"/>
              <a:t>n+l</a:t>
            </a:r>
            <a:r>
              <a:rPr lang="en-US" sz="2400" dirty="0"/>
              <a:t>) has the lowest energy and hence is filled up first with electrons</a:t>
            </a:r>
            <a:r>
              <a:rPr lang="en-US" dirty="0"/>
              <a:t>.</a:t>
            </a:r>
          </a:p>
        </p:txBody>
      </p:sp>
      <p:sp>
        <p:nvSpPr>
          <p:cNvPr id="7" name="TextBox 6"/>
          <p:cNvSpPr txBox="1"/>
          <p:nvPr/>
        </p:nvSpPr>
        <p:spPr>
          <a:xfrm>
            <a:off x="228600" y="4038600"/>
            <a:ext cx="8915400" cy="1200329"/>
          </a:xfrm>
          <a:prstGeom prst="rect">
            <a:avLst/>
          </a:prstGeom>
          <a:noFill/>
        </p:spPr>
        <p:txBody>
          <a:bodyPr wrap="square" rtlCol="0">
            <a:spAutoFit/>
          </a:bodyPr>
          <a:lstStyle/>
          <a:p>
            <a:r>
              <a:rPr lang="en-US" sz="2400" dirty="0"/>
              <a:t>     (¡¡). When two/more </a:t>
            </a:r>
            <a:r>
              <a:rPr lang="en-US" sz="2400" dirty="0" err="1"/>
              <a:t>orbitals</a:t>
            </a:r>
            <a:r>
              <a:rPr lang="en-US" sz="2400" dirty="0"/>
              <a:t> have the same value of (</a:t>
            </a:r>
            <a:r>
              <a:rPr lang="en-US" sz="2400" dirty="0" err="1"/>
              <a:t>n+l</a:t>
            </a:r>
            <a:r>
              <a:rPr lang="en-US" sz="2400" dirty="0"/>
              <a:t>) ,the orbital with lower value of “n” is lower in energy and hence is filled up first with electrons.</a:t>
            </a:r>
          </a:p>
        </p:txBody>
      </p:sp>
      <p:sp>
        <p:nvSpPr>
          <p:cNvPr id="8" name="Right Arrow 7"/>
          <p:cNvSpPr/>
          <p:nvPr/>
        </p:nvSpPr>
        <p:spPr>
          <a:xfrm>
            <a:off x="-228600" y="39624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0" y="5562600"/>
            <a:ext cx="9144000" cy="400110"/>
          </a:xfrm>
          <a:prstGeom prst="rect">
            <a:avLst/>
          </a:prstGeom>
          <a:noFill/>
        </p:spPr>
        <p:txBody>
          <a:bodyPr wrap="square" rtlCol="0">
            <a:spAutoFit/>
          </a:bodyPr>
          <a:lstStyle/>
          <a:p>
            <a:r>
              <a:rPr lang="en-US" sz="2000" b="1" u="sng" dirty="0"/>
              <a:t>1s</a:t>
            </a:r>
            <a:r>
              <a:rPr lang="en-US" sz="2000" b="1" dirty="0"/>
              <a:t>&lt;</a:t>
            </a:r>
            <a:r>
              <a:rPr lang="en-US" sz="2000" b="1" u="sng" dirty="0"/>
              <a:t>2s</a:t>
            </a:r>
            <a:r>
              <a:rPr lang="en-US" sz="2000" b="1" dirty="0"/>
              <a:t>&lt;</a:t>
            </a:r>
            <a:r>
              <a:rPr lang="en-US" sz="2000" b="1" u="sng" dirty="0"/>
              <a:t>2p&lt;3s</a:t>
            </a:r>
            <a:r>
              <a:rPr lang="en-US" sz="2000" b="1" dirty="0"/>
              <a:t>&lt;</a:t>
            </a:r>
            <a:r>
              <a:rPr lang="en-US" sz="2000" b="1" u="sng" dirty="0"/>
              <a:t>3p&lt;4s</a:t>
            </a:r>
            <a:r>
              <a:rPr lang="en-US" sz="2000" b="1" dirty="0"/>
              <a:t>&lt;3</a:t>
            </a:r>
            <a:r>
              <a:rPr lang="en-US" sz="2000" b="1" u="sng" dirty="0"/>
              <a:t>d&lt;4p&lt;5s</a:t>
            </a:r>
            <a:r>
              <a:rPr lang="en-US" sz="2000" b="1" dirty="0"/>
              <a:t>&lt;</a:t>
            </a:r>
            <a:r>
              <a:rPr lang="en-US" sz="2000" b="1" u="sng" dirty="0"/>
              <a:t>4d&lt;5p&lt;6s</a:t>
            </a:r>
            <a:r>
              <a:rPr lang="en-US" sz="2000" b="1" dirty="0"/>
              <a:t>&lt;4</a:t>
            </a:r>
            <a:r>
              <a:rPr lang="en-US" sz="2000" b="1" u="sng" dirty="0"/>
              <a:t>f&lt;5d&lt;6p&lt;7s</a:t>
            </a:r>
            <a:r>
              <a:rPr lang="en-US" sz="2000" b="1" dirty="0"/>
              <a:t>&lt;5</a:t>
            </a:r>
            <a:r>
              <a:rPr lang="en-US" sz="2000" b="1" u="sng" dirty="0"/>
              <a:t>f&lt;6d&lt;7p&lt;8s</a:t>
            </a:r>
            <a:r>
              <a:rPr lang="en-US" dirty="0"/>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0"/>
            <a:ext cx="8610600" cy="769441"/>
          </a:xfrm>
          <a:prstGeom prst="rect">
            <a:avLst/>
          </a:prstGeom>
          <a:noFill/>
        </p:spPr>
        <p:txBody>
          <a:bodyPr wrap="square" rtlCol="0">
            <a:spAutoFit/>
          </a:bodyPr>
          <a:lstStyle/>
          <a:p>
            <a:r>
              <a:rPr lang="en-US" sz="4400" b="1" u="sng" dirty="0"/>
              <a:t>2. Pauli’s Exclusion Principle:</a:t>
            </a:r>
          </a:p>
        </p:txBody>
      </p:sp>
      <p:sp>
        <p:nvSpPr>
          <p:cNvPr id="5" name="TextBox 4"/>
          <p:cNvSpPr txBox="1"/>
          <p:nvPr/>
        </p:nvSpPr>
        <p:spPr>
          <a:xfrm>
            <a:off x="152400" y="990600"/>
            <a:ext cx="8991600" cy="830997"/>
          </a:xfrm>
          <a:prstGeom prst="rect">
            <a:avLst/>
          </a:prstGeom>
          <a:noFill/>
        </p:spPr>
        <p:txBody>
          <a:bodyPr wrap="square" rtlCol="0">
            <a:spAutoFit/>
          </a:bodyPr>
          <a:lstStyle/>
          <a:p>
            <a:r>
              <a:rPr lang="en-US" sz="2400" b="1" dirty="0"/>
              <a:t>“It is impossible for any two electrons in the same atom two have their four quantum numbers identical”</a:t>
            </a:r>
          </a:p>
        </p:txBody>
      </p:sp>
      <p:sp>
        <p:nvSpPr>
          <p:cNvPr id="7" name="TextBox 6"/>
          <p:cNvSpPr txBox="1"/>
          <p:nvPr/>
        </p:nvSpPr>
        <p:spPr>
          <a:xfrm>
            <a:off x="304800" y="2133600"/>
            <a:ext cx="8839200" cy="1569660"/>
          </a:xfrm>
          <a:prstGeom prst="rect">
            <a:avLst/>
          </a:prstGeom>
          <a:noFill/>
        </p:spPr>
        <p:txBody>
          <a:bodyPr wrap="square" rtlCol="0">
            <a:spAutoFit/>
          </a:bodyPr>
          <a:lstStyle/>
          <a:p>
            <a:r>
              <a:rPr lang="en-US" sz="2400" dirty="0"/>
              <a:t>Explanation: Let us consider helium(He) atom which has 2 electrons (atomic number 2) is “1S” orbital for which –</a:t>
            </a:r>
          </a:p>
          <a:p>
            <a:r>
              <a:rPr lang="en-US" sz="2400" dirty="0"/>
              <a:t> 	n=1 , l=0 and m=0.  The fourth quantum number for the two electrons in 1</a:t>
            </a:r>
            <a:r>
              <a:rPr lang="en-US" sz="2400" baseline="30000" dirty="0"/>
              <a:t>st</a:t>
            </a:r>
            <a:r>
              <a:rPr lang="en-US" sz="2400" dirty="0"/>
              <a:t> orbital are as follows:</a:t>
            </a:r>
          </a:p>
        </p:txBody>
      </p:sp>
      <p:graphicFrame>
        <p:nvGraphicFramePr>
          <p:cNvPr id="8" name="Table 7"/>
          <p:cNvGraphicFramePr>
            <a:graphicFrameLocks noGrp="1"/>
          </p:cNvGraphicFramePr>
          <p:nvPr/>
        </p:nvGraphicFramePr>
        <p:xfrm>
          <a:off x="304800" y="4191000"/>
          <a:ext cx="8229600" cy="21031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840">
                <a:tc>
                  <a:txBody>
                    <a:bodyPr/>
                    <a:lstStyle/>
                    <a:p>
                      <a:r>
                        <a:rPr lang="en-US" sz="2400" dirty="0"/>
                        <a:t>Electron number</a:t>
                      </a:r>
                    </a:p>
                  </a:txBody>
                  <a:tcPr/>
                </a:tc>
                <a:tc>
                  <a:txBody>
                    <a:bodyPr/>
                    <a:lstStyle/>
                    <a:p>
                      <a:r>
                        <a:rPr lang="en-US" sz="2400" dirty="0"/>
                        <a:t>Quantum numbers</a:t>
                      </a:r>
                    </a:p>
                    <a:p>
                      <a:r>
                        <a:rPr lang="en-US" sz="2400" dirty="0"/>
                        <a:t> n      l      m         s</a:t>
                      </a:r>
                    </a:p>
                  </a:txBody>
                  <a:tcPr/>
                </a:tc>
                <a:tc>
                  <a:txBody>
                    <a:bodyPr/>
                    <a:lstStyle/>
                    <a:p>
                      <a:r>
                        <a:rPr lang="en-US" sz="2400" dirty="0"/>
                        <a:t>Set of values of quantum numbers           (n , l , m , s )</a:t>
                      </a:r>
                    </a:p>
                  </a:txBody>
                  <a:tcPr/>
                </a:tc>
                <a:extLst>
                  <a:ext uri="{0D108BD9-81ED-4DB2-BD59-A6C34878D82A}">
                    <a16:rowId xmlns:a16="http://schemas.microsoft.com/office/drawing/2014/main" val="10000"/>
                  </a:ext>
                </a:extLst>
              </a:tr>
              <a:tr h="370840">
                <a:tc>
                  <a:txBody>
                    <a:bodyPr/>
                    <a:lstStyle/>
                    <a:p>
                      <a:r>
                        <a:rPr lang="en-US" sz="2400" dirty="0"/>
                        <a:t>1</a:t>
                      </a:r>
                      <a:r>
                        <a:rPr lang="en-US" sz="2400" baseline="30000" dirty="0"/>
                        <a:t>st</a:t>
                      </a:r>
                      <a:r>
                        <a:rPr lang="en-US" sz="2400" dirty="0"/>
                        <a:t> electron</a:t>
                      </a:r>
                      <a:r>
                        <a:rPr lang="en-US" sz="2400" baseline="0" dirty="0"/>
                        <a:t> (↑)</a:t>
                      </a:r>
                      <a:endParaRPr lang="en-US" sz="2400" dirty="0"/>
                    </a:p>
                  </a:txBody>
                  <a:tcPr/>
                </a:tc>
                <a:tc>
                  <a:txBody>
                    <a:bodyPr/>
                    <a:lstStyle/>
                    <a:p>
                      <a:r>
                        <a:rPr lang="en-US" sz="2400" dirty="0"/>
                        <a:t> 1</a:t>
                      </a:r>
                      <a:r>
                        <a:rPr lang="en-US" sz="2400" baseline="0" dirty="0"/>
                        <a:t>      0     0     +1/2</a:t>
                      </a:r>
                      <a:endParaRPr lang="en-US" sz="2400" dirty="0"/>
                    </a:p>
                  </a:txBody>
                  <a:tcPr/>
                </a:tc>
                <a:tc>
                  <a:txBody>
                    <a:bodyPr/>
                    <a:lstStyle/>
                    <a:p>
                      <a:r>
                        <a:rPr lang="en-US" sz="2400" dirty="0"/>
                        <a:t>    (1 , 0 , 0 , +1/2 )</a:t>
                      </a:r>
                    </a:p>
                  </a:txBody>
                  <a:tcPr/>
                </a:tc>
                <a:extLst>
                  <a:ext uri="{0D108BD9-81ED-4DB2-BD59-A6C34878D82A}">
                    <a16:rowId xmlns:a16="http://schemas.microsoft.com/office/drawing/2014/main" val="10001"/>
                  </a:ext>
                </a:extLst>
              </a:tr>
              <a:tr h="370840">
                <a:tc>
                  <a:txBody>
                    <a:bodyPr/>
                    <a:lstStyle/>
                    <a:p>
                      <a:r>
                        <a:rPr lang="en-US" sz="2400" dirty="0"/>
                        <a:t>2</a:t>
                      </a:r>
                      <a:r>
                        <a:rPr lang="en-US" sz="2400" baseline="30000" dirty="0"/>
                        <a:t>nd</a:t>
                      </a:r>
                      <a:r>
                        <a:rPr lang="en-US" sz="2400" dirty="0"/>
                        <a:t> electron (↓)</a:t>
                      </a:r>
                    </a:p>
                  </a:txBody>
                  <a:tcPr/>
                </a:tc>
                <a:tc>
                  <a:txBody>
                    <a:bodyPr/>
                    <a:lstStyle/>
                    <a:p>
                      <a:r>
                        <a:rPr lang="en-US" sz="2400" dirty="0"/>
                        <a:t> 1</a:t>
                      </a:r>
                      <a:r>
                        <a:rPr lang="en-US" sz="2400" baseline="0" dirty="0"/>
                        <a:t>      0     0    ─1/2</a:t>
                      </a:r>
                      <a:endParaRPr lang="en-US" sz="2400" dirty="0"/>
                    </a:p>
                  </a:txBody>
                  <a:tcPr/>
                </a:tc>
                <a:tc>
                  <a:txBody>
                    <a:bodyPr/>
                    <a:lstStyle/>
                    <a:p>
                      <a:r>
                        <a:rPr lang="en-US" sz="2400" dirty="0"/>
                        <a:t>    (1 , 0 , 0 , ─1/2)</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52400"/>
            <a:ext cx="8382000" cy="646331"/>
          </a:xfrm>
          <a:prstGeom prst="rect">
            <a:avLst/>
          </a:prstGeom>
          <a:noFill/>
        </p:spPr>
        <p:txBody>
          <a:bodyPr wrap="square" rtlCol="0">
            <a:spAutoFit/>
          </a:bodyPr>
          <a:lstStyle/>
          <a:p>
            <a:r>
              <a:rPr lang="en-US" sz="3600" b="1" u="sng" dirty="0"/>
              <a:t>3. </a:t>
            </a:r>
            <a:r>
              <a:rPr lang="en-US" sz="3600" b="1" u="sng" dirty="0" err="1"/>
              <a:t>Hund’s</a:t>
            </a:r>
            <a:r>
              <a:rPr lang="en-US" sz="3600" b="1" u="sng" dirty="0"/>
              <a:t>  Rule of Maximum Multiplicity :</a:t>
            </a:r>
          </a:p>
        </p:txBody>
      </p:sp>
      <p:sp>
        <p:nvSpPr>
          <p:cNvPr id="5" name="TextBox 4"/>
          <p:cNvSpPr txBox="1"/>
          <p:nvPr/>
        </p:nvSpPr>
        <p:spPr>
          <a:xfrm>
            <a:off x="304800" y="1219200"/>
            <a:ext cx="8610600" cy="1200329"/>
          </a:xfrm>
          <a:prstGeom prst="rect">
            <a:avLst/>
          </a:prstGeom>
          <a:noFill/>
        </p:spPr>
        <p:txBody>
          <a:bodyPr wrap="square" rtlCol="0">
            <a:spAutoFit/>
          </a:bodyPr>
          <a:lstStyle/>
          <a:p>
            <a:r>
              <a:rPr lang="en-US" b="1" dirty="0"/>
              <a:t>The distribution of electrons in a set of degenerate </a:t>
            </a:r>
            <a:r>
              <a:rPr lang="en-US" b="1" dirty="0" err="1"/>
              <a:t>orbitals</a:t>
            </a:r>
            <a:r>
              <a:rPr lang="en-US" b="1" dirty="0"/>
              <a:t> like  </a:t>
            </a:r>
            <a:r>
              <a:rPr lang="en-US" b="1" dirty="0" err="1"/>
              <a:t>P</a:t>
            </a:r>
            <a:r>
              <a:rPr lang="en-US" b="1" baseline="-25000" dirty="0" err="1"/>
              <a:t>x</a:t>
            </a:r>
            <a:r>
              <a:rPr lang="en-US" b="1" dirty="0"/>
              <a:t> , </a:t>
            </a:r>
            <a:r>
              <a:rPr lang="en-US" b="1" dirty="0" err="1"/>
              <a:t>P</a:t>
            </a:r>
            <a:r>
              <a:rPr lang="en-US" b="1" baseline="-25000" dirty="0" err="1"/>
              <a:t>y</a:t>
            </a:r>
            <a:r>
              <a:rPr lang="en-US" b="1" dirty="0"/>
              <a:t> , </a:t>
            </a:r>
            <a:r>
              <a:rPr lang="en-US" b="1" dirty="0" err="1"/>
              <a:t>P</a:t>
            </a:r>
            <a:r>
              <a:rPr lang="en-US" b="1" baseline="-25000" dirty="0" err="1"/>
              <a:t>z</a:t>
            </a:r>
            <a:r>
              <a:rPr lang="en-US" b="1" baseline="-25000" dirty="0"/>
              <a:t> </a:t>
            </a:r>
            <a:r>
              <a:rPr lang="en-US" b="1" dirty="0"/>
              <a:t>set; </a:t>
            </a:r>
            <a:r>
              <a:rPr lang="en-US" b="1" dirty="0" err="1"/>
              <a:t>d</a:t>
            </a:r>
            <a:r>
              <a:rPr lang="en-US" b="1" baseline="-25000" dirty="0" err="1"/>
              <a:t>xy</a:t>
            </a:r>
            <a:r>
              <a:rPr lang="en-US" b="1" dirty="0"/>
              <a:t> , </a:t>
            </a:r>
            <a:r>
              <a:rPr lang="en-US" b="1" dirty="0" err="1"/>
              <a:t>d</a:t>
            </a:r>
            <a:r>
              <a:rPr lang="en-US" b="1" baseline="-25000" dirty="0" err="1"/>
              <a:t>yz</a:t>
            </a:r>
            <a:r>
              <a:rPr lang="en-US" b="1" dirty="0"/>
              <a:t> , </a:t>
            </a:r>
            <a:r>
              <a:rPr lang="en-US" b="1" dirty="0" err="1"/>
              <a:t>d</a:t>
            </a:r>
            <a:r>
              <a:rPr lang="en-US" b="1" baseline="-25000" dirty="0" err="1"/>
              <a:t>zx</a:t>
            </a:r>
            <a:r>
              <a:rPr lang="en-US" b="1" dirty="0"/>
              <a:t> , d</a:t>
            </a:r>
            <a:r>
              <a:rPr lang="en-US" b="1" baseline="-25000" dirty="0"/>
              <a:t>x</a:t>
            </a:r>
            <a:r>
              <a:rPr lang="en-US" b="1" dirty="0"/>
              <a:t>2 </a:t>
            </a:r>
            <a:r>
              <a:rPr lang="en-US" b="1" baseline="-25000" dirty="0"/>
              <a:t>─ y</a:t>
            </a:r>
            <a:r>
              <a:rPr lang="en-US" b="1" baseline="30000" dirty="0"/>
              <a:t>2</a:t>
            </a:r>
            <a:r>
              <a:rPr lang="en-US" b="1" dirty="0"/>
              <a:t> , d</a:t>
            </a:r>
            <a:r>
              <a:rPr lang="en-US" b="1" baseline="-25000" dirty="0"/>
              <a:t>z</a:t>
            </a:r>
            <a:r>
              <a:rPr lang="en-US" b="1" baseline="30000" dirty="0"/>
              <a:t>2 </a:t>
            </a:r>
            <a:r>
              <a:rPr lang="en-US" b="1" dirty="0"/>
              <a:t> set etc., of a given sub-shell takes place in such a way as to give the maximum numbers of unpaired electrons and these electros must have the same direction of their spins. </a:t>
            </a:r>
            <a:endParaRPr lang="en-US" dirty="0"/>
          </a:p>
        </p:txBody>
      </p:sp>
      <p:sp>
        <p:nvSpPr>
          <p:cNvPr id="6" name="TextBox 5"/>
          <p:cNvSpPr txBox="1"/>
          <p:nvPr/>
        </p:nvSpPr>
        <p:spPr>
          <a:xfrm>
            <a:off x="228600" y="2667000"/>
            <a:ext cx="8686800" cy="1477328"/>
          </a:xfrm>
          <a:prstGeom prst="rect">
            <a:avLst/>
          </a:prstGeom>
          <a:noFill/>
        </p:spPr>
        <p:txBody>
          <a:bodyPr wrap="square" rtlCol="0">
            <a:spAutoFit/>
          </a:bodyPr>
          <a:lstStyle/>
          <a:p>
            <a:r>
              <a:rPr lang="en-US" b="1" dirty="0"/>
              <a:t>As for  example , electronic configuration of “N” is </a:t>
            </a:r>
            <a:endParaRPr lang="en-US" dirty="0"/>
          </a:p>
          <a:p>
            <a:r>
              <a:rPr lang="en-US" b="1" dirty="0"/>
              <a:t> N→ 1s</a:t>
            </a:r>
            <a:r>
              <a:rPr lang="en-US" b="1" baseline="30000" dirty="0"/>
              <a:t>2</a:t>
            </a:r>
            <a:r>
              <a:rPr lang="en-US" b="1" dirty="0"/>
              <a:t> .2s</a:t>
            </a:r>
            <a:r>
              <a:rPr lang="en-US" b="1" baseline="30000" dirty="0"/>
              <a:t>2</a:t>
            </a:r>
            <a:r>
              <a:rPr lang="en-US" b="1" dirty="0"/>
              <a:t>.2p</a:t>
            </a:r>
            <a:r>
              <a:rPr lang="en-US" b="1" baseline="30000" dirty="0"/>
              <a:t>3</a:t>
            </a:r>
            <a:endParaRPr lang="en-US" dirty="0"/>
          </a:p>
          <a:p>
            <a:r>
              <a:rPr lang="en-US" b="1" dirty="0"/>
              <a:t>Actually, 2p orbital have 3 equal energetic </a:t>
            </a:r>
            <a:r>
              <a:rPr lang="en-US" b="1" dirty="0" err="1"/>
              <a:t>orbitals</a:t>
            </a:r>
            <a:r>
              <a:rPr lang="en-US" b="1" dirty="0"/>
              <a:t>, which are denoted as </a:t>
            </a:r>
            <a:r>
              <a:rPr lang="en-US" b="1" dirty="0" err="1"/>
              <a:t>P</a:t>
            </a:r>
            <a:r>
              <a:rPr lang="en-US" b="1" baseline="-25000" dirty="0" err="1"/>
              <a:t>x</a:t>
            </a:r>
            <a:r>
              <a:rPr lang="en-US" b="1" dirty="0"/>
              <a:t>, </a:t>
            </a:r>
            <a:r>
              <a:rPr lang="en-US" b="1" dirty="0" err="1"/>
              <a:t>P</a:t>
            </a:r>
            <a:r>
              <a:rPr lang="en-US" b="1" baseline="-25000" dirty="0" err="1"/>
              <a:t>y</a:t>
            </a:r>
            <a:r>
              <a:rPr lang="en-US" b="1" dirty="0"/>
              <a:t>, </a:t>
            </a:r>
            <a:r>
              <a:rPr lang="en-US" b="1" dirty="0" err="1"/>
              <a:t>P</a:t>
            </a:r>
            <a:r>
              <a:rPr lang="en-US" b="1" baseline="-25000" dirty="0" err="1"/>
              <a:t>z</a:t>
            </a:r>
            <a:r>
              <a:rPr lang="en-US" b="1" dirty="0"/>
              <a:t>.</a:t>
            </a:r>
            <a:endParaRPr lang="en-US" dirty="0"/>
          </a:p>
          <a:p>
            <a:r>
              <a:rPr lang="en-US" b="1" dirty="0"/>
              <a:t>       So, in case of “N” above 3 electrons are occupied separately and their spins will be in </a:t>
            </a:r>
            <a:r>
              <a:rPr lang="en-US" b="1" dirty="0" err="1"/>
              <a:t>equidirections</a:t>
            </a:r>
            <a:r>
              <a:rPr lang="en-US" b="1" dirty="0"/>
              <a:t>. </a:t>
            </a:r>
            <a:endParaRPr lang="en-US" dirty="0"/>
          </a:p>
        </p:txBody>
      </p:sp>
      <p:sp>
        <p:nvSpPr>
          <p:cNvPr id="7" name="TextBox 6"/>
          <p:cNvSpPr txBox="1"/>
          <p:nvPr/>
        </p:nvSpPr>
        <p:spPr>
          <a:xfrm>
            <a:off x="152400" y="4419600"/>
            <a:ext cx="8686800" cy="1200329"/>
          </a:xfrm>
          <a:prstGeom prst="rect">
            <a:avLst/>
          </a:prstGeom>
          <a:noFill/>
        </p:spPr>
        <p:txBody>
          <a:bodyPr wrap="square" rtlCol="0">
            <a:spAutoFit/>
          </a:bodyPr>
          <a:lstStyle/>
          <a:p>
            <a:r>
              <a:rPr lang="en-US" b="1" dirty="0"/>
              <a:t>Such as , N→ 1s</a:t>
            </a:r>
            <a:r>
              <a:rPr lang="en-US" b="1" baseline="30000" dirty="0"/>
              <a:t>2</a:t>
            </a:r>
            <a:r>
              <a:rPr lang="en-US" b="1" dirty="0"/>
              <a:t>.2s</a:t>
            </a:r>
            <a:r>
              <a:rPr lang="en-US" b="1" baseline="30000" dirty="0"/>
              <a:t>2</a:t>
            </a:r>
            <a:r>
              <a:rPr lang="en-US" b="1" dirty="0"/>
              <a:t>. </a:t>
            </a:r>
            <a:r>
              <a:rPr lang="en-US" b="1" i="1" u="sng" dirty="0"/>
              <a:t>2P</a:t>
            </a:r>
            <a:r>
              <a:rPr lang="en-US" b="1" i="1" u="sng" baseline="-25000" dirty="0"/>
              <a:t>x</a:t>
            </a:r>
            <a:r>
              <a:rPr lang="en-US" b="1" baseline="30000" dirty="0"/>
              <a:t>1</a:t>
            </a:r>
            <a:r>
              <a:rPr lang="en-US" b="1" dirty="0"/>
              <a:t>.</a:t>
            </a:r>
            <a:r>
              <a:rPr lang="en-US" b="1" i="1" u="sng" dirty="0"/>
              <a:t>2P</a:t>
            </a:r>
            <a:r>
              <a:rPr lang="en-US" b="1" i="1" u="sng" baseline="-25000" dirty="0"/>
              <a:t>y</a:t>
            </a:r>
            <a:r>
              <a:rPr lang="en-US" b="1" baseline="30000" dirty="0"/>
              <a:t>1</a:t>
            </a:r>
            <a:r>
              <a:rPr lang="en-US" b="1" dirty="0"/>
              <a:t>. </a:t>
            </a:r>
            <a:r>
              <a:rPr lang="en-US" b="1" i="1" u="sng" dirty="0"/>
              <a:t>2P</a:t>
            </a:r>
            <a:r>
              <a:rPr lang="en-US" b="1" i="1" u="sng" baseline="-25000" dirty="0"/>
              <a:t>z</a:t>
            </a:r>
            <a:r>
              <a:rPr lang="en-US" b="1" baseline="30000" dirty="0"/>
              <a:t>1</a:t>
            </a:r>
            <a:endParaRPr lang="en-US" dirty="0"/>
          </a:p>
          <a:p>
            <a:r>
              <a:rPr lang="en-US" b="1" dirty="0"/>
              <a:t>This configuration may be displayed as follows:</a:t>
            </a:r>
            <a:endParaRPr lang="en-US" dirty="0"/>
          </a:p>
          <a:p>
            <a:endParaRPr lang="en-US" dirty="0"/>
          </a:p>
          <a:p>
            <a:r>
              <a:rPr lang="en-US" dirty="0"/>
              <a:t>                                                              </a:t>
            </a:r>
          </a:p>
        </p:txBody>
      </p:sp>
      <p:sp>
        <p:nvSpPr>
          <p:cNvPr id="9" name="Rectangle 8"/>
          <p:cNvSpPr/>
          <p:nvPr/>
        </p:nvSpPr>
        <p:spPr>
          <a:xfrm>
            <a:off x="4343400" y="5943600"/>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0" name="Rectangle 9"/>
          <p:cNvSpPr/>
          <p:nvPr/>
        </p:nvSpPr>
        <p:spPr>
          <a:xfrm>
            <a:off x="5029200" y="5562600"/>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1" name="Rectangle 10"/>
          <p:cNvSpPr/>
          <p:nvPr/>
        </p:nvSpPr>
        <p:spPr>
          <a:xfrm>
            <a:off x="5715000" y="5181600"/>
            <a:ext cx="5334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2" name="Rectangle 11"/>
          <p:cNvSpPr/>
          <p:nvPr/>
        </p:nvSpPr>
        <p:spPr>
          <a:xfrm>
            <a:off x="6248400" y="51816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3" name="Rectangle 12"/>
          <p:cNvSpPr/>
          <p:nvPr/>
        </p:nvSpPr>
        <p:spPr>
          <a:xfrm>
            <a:off x="6705600" y="5181600"/>
            <a:ext cx="5334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4" name="TextBox 13"/>
          <p:cNvSpPr txBox="1"/>
          <p:nvPr/>
        </p:nvSpPr>
        <p:spPr>
          <a:xfrm>
            <a:off x="4495800" y="6248400"/>
            <a:ext cx="426720" cy="369332"/>
          </a:xfrm>
          <a:prstGeom prst="rect">
            <a:avLst/>
          </a:prstGeom>
          <a:noFill/>
        </p:spPr>
        <p:txBody>
          <a:bodyPr wrap="none" rtlCol="0">
            <a:spAutoFit/>
          </a:bodyPr>
          <a:lstStyle/>
          <a:p>
            <a:r>
              <a:rPr lang="en-US" dirty="0"/>
              <a:t>1s</a:t>
            </a:r>
          </a:p>
        </p:txBody>
      </p:sp>
      <p:sp>
        <p:nvSpPr>
          <p:cNvPr id="15" name="TextBox 14"/>
          <p:cNvSpPr txBox="1"/>
          <p:nvPr/>
        </p:nvSpPr>
        <p:spPr>
          <a:xfrm>
            <a:off x="5181600" y="5867400"/>
            <a:ext cx="426720" cy="369332"/>
          </a:xfrm>
          <a:prstGeom prst="rect">
            <a:avLst/>
          </a:prstGeom>
          <a:noFill/>
        </p:spPr>
        <p:txBody>
          <a:bodyPr wrap="none" rtlCol="0">
            <a:spAutoFit/>
          </a:bodyPr>
          <a:lstStyle/>
          <a:p>
            <a:r>
              <a:rPr lang="en-US" dirty="0"/>
              <a:t>2s</a:t>
            </a:r>
          </a:p>
        </p:txBody>
      </p:sp>
      <p:sp>
        <p:nvSpPr>
          <p:cNvPr id="16" name="TextBox 15"/>
          <p:cNvSpPr txBox="1"/>
          <p:nvPr/>
        </p:nvSpPr>
        <p:spPr>
          <a:xfrm>
            <a:off x="5638800" y="5486400"/>
            <a:ext cx="623145" cy="369332"/>
          </a:xfrm>
          <a:prstGeom prst="rect">
            <a:avLst/>
          </a:prstGeom>
          <a:noFill/>
        </p:spPr>
        <p:txBody>
          <a:bodyPr wrap="square" rtlCol="0">
            <a:spAutoFit/>
          </a:bodyPr>
          <a:lstStyle/>
          <a:p>
            <a:r>
              <a:rPr lang="en-US" b="1" dirty="0"/>
              <a:t>2P</a:t>
            </a:r>
            <a:r>
              <a:rPr lang="en-US" b="1" baseline="-25000" dirty="0"/>
              <a:t>x</a:t>
            </a:r>
            <a:r>
              <a:rPr lang="en-US" b="1" dirty="0"/>
              <a:t> </a:t>
            </a:r>
            <a:endParaRPr lang="en-US" dirty="0"/>
          </a:p>
        </p:txBody>
      </p:sp>
      <p:sp>
        <p:nvSpPr>
          <p:cNvPr id="17" name="TextBox 16"/>
          <p:cNvSpPr txBox="1"/>
          <p:nvPr/>
        </p:nvSpPr>
        <p:spPr>
          <a:xfrm>
            <a:off x="6172200" y="5562600"/>
            <a:ext cx="621542" cy="369332"/>
          </a:xfrm>
          <a:prstGeom prst="rect">
            <a:avLst/>
          </a:prstGeom>
          <a:noFill/>
        </p:spPr>
        <p:txBody>
          <a:bodyPr wrap="square" rtlCol="0">
            <a:spAutoFit/>
          </a:bodyPr>
          <a:lstStyle/>
          <a:p>
            <a:r>
              <a:rPr lang="en-US" b="1" dirty="0"/>
              <a:t>2P</a:t>
            </a:r>
            <a:r>
              <a:rPr lang="en-US" b="1" baseline="-25000" dirty="0"/>
              <a:t>y</a:t>
            </a:r>
            <a:r>
              <a:rPr lang="en-US" b="1" dirty="0"/>
              <a:t> </a:t>
            </a:r>
            <a:endParaRPr lang="en-US" dirty="0"/>
          </a:p>
        </p:txBody>
      </p:sp>
      <p:sp>
        <p:nvSpPr>
          <p:cNvPr id="18" name="TextBox 17"/>
          <p:cNvSpPr txBox="1"/>
          <p:nvPr/>
        </p:nvSpPr>
        <p:spPr>
          <a:xfrm flipH="1">
            <a:off x="6629400" y="5486400"/>
            <a:ext cx="716281" cy="369332"/>
          </a:xfrm>
          <a:prstGeom prst="rect">
            <a:avLst/>
          </a:prstGeom>
          <a:noFill/>
        </p:spPr>
        <p:txBody>
          <a:bodyPr wrap="square" rtlCol="0">
            <a:spAutoFit/>
          </a:bodyPr>
          <a:lstStyle/>
          <a:p>
            <a:r>
              <a:rPr lang="en-US" b="1" dirty="0"/>
              <a:t>2P</a:t>
            </a:r>
            <a:r>
              <a:rPr lang="en-US" b="1" baseline="-25000" dirty="0"/>
              <a:t>z</a:t>
            </a:r>
            <a:r>
              <a:rPr lang="en-US" b="1" dirty="0"/>
              <a:t> </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152400"/>
            <a:ext cx="8610600" cy="584775"/>
          </a:xfrm>
          <a:prstGeom prst="rect">
            <a:avLst/>
          </a:prstGeom>
          <a:noFill/>
        </p:spPr>
        <p:txBody>
          <a:bodyPr wrap="square" rtlCol="0">
            <a:spAutoFit/>
          </a:bodyPr>
          <a:lstStyle/>
          <a:p>
            <a:r>
              <a:rPr lang="en-US" sz="3200" b="1" u="sng" dirty="0"/>
              <a:t>Problems based on “Electronic </a:t>
            </a:r>
            <a:r>
              <a:rPr lang="en-US" sz="3200" b="1" u="sng" dirty="0" err="1"/>
              <a:t>Confoguration</a:t>
            </a:r>
            <a:r>
              <a:rPr lang="en-US" sz="3200" b="1" u="sng" dirty="0"/>
              <a:t>”</a:t>
            </a:r>
          </a:p>
        </p:txBody>
      </p:sp>
      <p:sp>
        <p:nvSpPr>
          <p:cNvPr id="5" name="TextBox 4"/>
          <p:cNvSpPr txBox="1"/>
          <p:nvPr/>
        </p:nvSpPr>
        <p:spPr>
          <a:xfrm>
            <a:off x="0" y="1219200"/>
            <a:ext cx="9144000" cy="830997"/>
          </a:xfrm>
          <a:prstGeom prst="rect">
            <a:avLst/>
          </a:prstGeom>
          <a:noFill/>
        </p:spPr>
        <p:txBody>
          <a:bodyPr wrap="square" rtlCol="0">
            <a:spAutoFit/>
          </a:bodyPr>
          <a:lstStyle/>
          <a:p>
            <a:r>
              <a:rPr lang="en-US" sz="2400" dirty="0"/>
              <a:t>Q(1). What is </a:t>
            </a:r>
            <a:r>
              <a:rPr lang="en-US" sz="2400" b="1" i="1" dirty="0"/>
              <a:t>(</a:t>
            </a:r>
            <a:r>
              <a:rPr lang="en-US" sz="2400" b="1" i="1" dirty="0" err="1"/>
              <a:t>n+l</a:t>
            </a:r>
            <a:r>
              <a:rPr lang="en-US" sz="2400" b="1" i="1" dirty="0"/>
              <a:t>) rule</a:t>
            </a:r>
            <a:r>
              <a:rPr lang="en-US" sz="2400" dirty="0"/>
              <a:t>? Illustrate your answer by writing the electronic configuration of potassium(K) atom.</a:t>
            </a:r>
          </a:p>
        </p:txBody>
      </p:sp>
      <p:sp>
        <p:nvSpPr>
          <p:cNvPr id="6" name="TextBox 5"/>
          <p:cNvSpPr txBox="1"/>
          <p:nvPr/>
        </p:nvSpPr>
        <p:spPr>
          <a:xfrm>
            <a:off x="0" y="2133600"/>
            <a:ext cx="9144000" cy="1200329"/>
          </a:xfrm>
          <a:prstGeom prst="rect">
            <a:avLst/>
          </a:prstGeom>
          <a:noFill/>
        </p:spPr>
        <p:txBody>
          <a:bodyPr wrap="square" rtlCol="0">
            <a:spAutoFit/>
          </a:bodyPr>
          <a:lstStyle/>
          <a:p>
            <a:r>
              <a:rPr lang="en-US" sz="2400" dirty="0"/>
              <a:t>Q(2). For the </a:t>
            </a:r>
            <a:r>
              <a:rPr lang="en-US" sz="2400" b="1" i="1" dirty="0"/>
              <a:t>1</a:t>
            </a:r>
            <a:r>
              <a:rPr lang="en-US" sz="2400" b="1" i="1" baseline="30000" dirty="0"/>
              <a:t>st</a:t>
            </a:r>
            <a:r>
              <a:rPr lang="en-US" sz="2400" b="1" i="1" dirty="0"/>
              <a:t> two </a:t>
            </a:r>
            <a:r>
              <a:rPr lang="en-US" sz="2400" dirty="0"/>
              <a:t>electrons or </a:t>
            </a:r>
            <a:r>
              <a:rPr lang="en-US" sz="2400" b="1" i="1" dirty="0"/>
              <a:t>last two </a:t>
            </a:r>
            <a:r>
              <a:rPr lang="en-US" sz="2400" dirty="0"/>
              <a:t>electrons or </a:t>
            </a:r>
            <a:r>
              <a:rPr lang="en-US" sz="2400" b="1" i="1" dirty="0"/>
              <a:t>1</a:t>
            </a:r>
            <a:r>
              <a:rPr lang="en-US" sz="2400" b="1" i="1" baseline="30000" dirty="0"/>
              <a:t>st</a:t>
            </a:r>
            <a:r>
              <a:rPr lang="en-US" sz="2400" b="1" i="1" dirty="0"/>
              <a:t> and last </a:t>
            </a:r>
            <a:r>
              <a:rPr lang="en-US" sz="2400" dirty="0"/>
              <a:t>electrons or </a:t>
            </a:r>
            <a:r>
              <a:rPr lang="en-US" sz="2400" b="1" i="1" dirty="0"/>
              <a:t>1</a:t>
            </a:r>
            <a:r>
              <a:rPr lang="en-US" sz="2400" b="1" i="1" baseline="30000" dirty="0"/>
              <a:t>st</a:t>
            </a:r>
            <a:r>
              <a:rPr lang="en-US" sz="2400" b="1" i="1" dirty="0"/>
              <a:t> and 5</a:t>
            </a:r>
            <a:r>
              <a:rPr lang="en-US" sz="2400" b="1" i="1" baseline="30000" dirty="0"/>
              <a:t>th</a:t>
            </a:r>
            <a:r>
              <a:rPr lang="en-US" sz="2400" b="1" i="1" dirty="0"/>
              <a:t> </a:t>
            </a:r>
            <a:r>
              <a:rPr lang="en-US" sz="2400" dirty="0"/>
              <a:t>electrons or </a:t>
            </a:r>
            <a:r>
              <a:rPr lang="en-US" sz="2400" b="1" i="1" dirty="0"/>
              <a:t>10</a:t>
            </a:r>
            <a:r>
              <a:rPr lang="en-US" sz="2400" b="1" i="1" baseline="30000" dirty="0"/>
              <a:t>th</a:t>
            </a:r>
            <a:r>
              <a:rPr lang="en-US" sz="2400" b="1" i="1" dirty="0"/>
              <a:t> and 15</a:t>
            </a:r>
            <a:r>
              <a:rPr lang="en-US" sz="2400" b="1" i="1" baseline="30000" dirty="0"/>
              <a:t>th</a:t>
            </a:r>
            <a:r>
              <a:rPr lang="en-US" sz="2400" b="1" i="1" dirty="0"/>
              <a:t> </a:t>
            </a:r>
            <a:r>
              <a:rPr lang="en-US" sz="2400" dirty="0"/>
              <a:t>electrons of Na-atom /K-atom /Ca-atom , explain the Pauli’s Exclusion principle.</a:t>
            </a:r>
          </a:p>
        </p:txBody>
      </p:sp>
      <p:sp>
        <p:nvSpPr>
          <p:cNvPr id="8" name="TextBox 7"/>
          <p:cNvSpPr txBox="1"/>
          <p:nvPr/>
        </p:nvSpPr>
        <p:spPr>
          <a:xfrm>
            <a:off x="228600" y="3657600"/>
            <a:ext cx="8915400" cy="830997"/>
          </a:xfrm>
          <a:prstGeom prst="rect">
            <a:avLst/>
          </a:prstGeom>
          <a:noFill/>
        </p:spPr>
        <p:txBody>
          <a:bodyPr wrap="square" rtlCol="0">
            <a:spAutoFit/>
          </a:bodyPr>
          <a:lstStyle/>
          <a:p>
            <a:r>
              <a:rPr lang="en-US" sz="2400" b="1" dirty="0"/>
              <a:t>Q(3). Why it  become </a:t>
            </a:r>
            <a:r>
              <a:rPr lang="en-US" sz="2400" b="1" i="1" dirty="0"/>
              <a:t>4s</a:t>
            </a:r>
            <a:r>
              <a:rPr lang="en-US" sz="2400" b="1" i="1" baseline="30000" dirty="0"/>
              <a:t>1</a:t>
            </a:r>
            <a:r>
              <a:rPr lang="en-US" sz="2400" b="1" dirty="0"/>
              <a:t> instead of </a:t>
            </a:r>
            <a:r>
              <a:rPr lang="en-US" sz="2400" b="1" i="1" dirty="0"/>
              <a:t>4s</a:t>
            </a:r>
            <a:r>
              <a:rPr lang="en-US" sz="2400" b="1" i="1" baseline="30000" dirty="0"/>
              <a:t>2</a:t>
            </a:r>
            <a:r>
              <a:rPr lang="en-US" sz="2400" b="1" dirty="0"/>
              <a:t> in case of the electronic configuration of</a:t>
            </a:r>
            <a:r>
              <a:rPr lang="en-US" sz="2400" b="1" i="1" dirty="0"/>
              <a:t> Cu-atom </a:t>
            </a:r>
            <a:r>
              <a:rPr lang="en-US" sz="2400" b="1" dirty="0"/>
              <a:t>? </a:t>
            </a:r>
            <a:endParaRPr lang="en-US" sz="2400" dirty="0"/>
          </a:p>
        </p:txBody>
      </p:sp>
      <p:sp>
        <p:nvSpPr>
          <p:cNvPr id="9" name="TextBox 8"/>
          <p:cNvSpPr txBox="1"/>
          <p:nvPr/>
        </p:nvSpPr>
        <p:spPr>
          <a:xfrm>
            <a:off x="228600" y="4419600"/>
            <a:ext cx="8915400" cy="954107"/>
          </a:xfrm>
          <a:prstGeom prst="rect">
            <a:avLst/>
          </a:prstGeom>
          <a:noFill/>
        </p:spPr>
        <p:txBody>
          <a:bodyPr wrap="square" rtlCol="0">
            <a:spAutoFit/>
          </a:bodyPr>
          <a:lstStyle/>
          <a:p>
            <a:r>
              <a:rPr lang="en-US" sz="2800" b="1" dirty="0"/>
              <a:t>Q(4). According to </a:t>
            </a:r>
            <a:r>
              <a:rPr lang="en-US" sz="2800" b="1" i="1" dirty="0" err="1"/>
              <a:t>Hund’s</a:t>
            </a:r>
            <a:r>
              <a:rPr lang="en-US" sz="2800" b="1" i="1" dirty="0"/>
              <a:t> rule </a:t>
            </a:r>
            <a:r>
              <a:rPr lang="en-US" sz="2800" b="1" dirty="0"/>
              <a:t>, write the electronic configuration of </a:t>
            </a:r>
            <a:r>
              <a:rPr lang="en-US" sz="2800" b="1" i="1" dirty="0"/>
              <a:t>Fe</a:t>
            </a:r>
            <a:r>
              <a:rPr lang="en-US" sz="2800" b="1" i="1" baseline="30000" dirty="0"/>
              <a:t>2+</a:t>
            </a:r>
            <a:r>
              <a:rPr lang="en-US" sz="2800" b="1" i="1" dirty="0"/>
              <a:t> </a:t>
            </a:r>
            <a:r>
              <a:rPr lang="en-US" sz="2800" b="1" dirty="0"/>
              <a:t>and </a:t>
            </a:r>
            <a:r>
              <a:rPr lang="en-US" sz="2800" b="1" i="1" dirty="0"/>
              <a:t>Cr</a:t>
            </a:r>
            <a:r>
              <a:rPr lang="en-US" sz="2800" b="1" dirty="0"/>
              <a:t>. </a:t>
            </a:r>
            <a:endParaRPr lang="en-US" sz="2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rek">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Trek</Template>
  <TotalTime>1809</TotalTime>
  <Words>3775</Words>
  <Application>Microsoft Office PowerPoint</Application>
  <PresentationFormat>On-screen Show (4:3)</PresentationFormat>
  <Paragraphs>377</Paragraphs>
  <Slides>44</Slides>
  <Notes>4</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Calibri</vt:lpstr>
      <vt:lpstr>Franklin Gothic Book</vt:lpstr>
      <vt:lpstr>Franklin Gothic Medium</vt:lpstr>
      <vt:lpstr>Times New Roman</vt:lpstr>
      <vt:lpstr>Wingdings</vt:lpstr>
      <vt:lpstr>Wingdings 2</vt:lpstr>
      <vt:lpstr>Trek</vt:lpstr>
      <vt:lpstr>                   Welcome to BAUET                             &amp;                                               Welcome to my class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Rubel</dc:creator>
  <cp:lastModifiedBy>Mst. Tania Mahzabin</cp:lastModifiedBy>
  <cp:revision>255</cp:revision>
  <dcterms:created xsi:type="dcterms:W3CDTF">2015-07-28T00:38:13Z</dcterms:created>
  <dcterms:modified xsi:type="dcterms:W3CDTF">2022-06-27T03:29:21Z</dcterms:modified>
</cp:coreProperties>
</file>