
<file path=[Content_Types].xml><?xml version="1.0" encoding="utf-8"?>
<Types xmlns="http://schemas.openxmlformats.org/package/2006/content-types">
  <Default Extension="png" ContentType="image/png"/>
  <Default Extension="jfif" ContentType="image/jpe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70" r:id="rId6"/>
    <p:sldId id="260" r:id="rId7"/>
    <p:sldId id="259" r:id="rId8"/>
    <p:sldId id="261" r:id="rId9"/>
    <p:sldId id="262" r:id="rId10"/>
    <p:sldId id="263" r:id="rId11"/>
    <p:sldId id="264" r:id="rId12"/>
    <p:sldId id="265" r:id="rId13"/>
    <p:sldId id="272" r:id="rId14"/>
    <p:sldId id="273" r:id="rId15"/>
    <p:sldId id="274" r:id="rId16"/>
    <p:sldId id="275" r:id="rId17"/>
    <p:sldId id="266" r:id="rId18"/>
    <p:sldId id="267" r:id="rId19"/>
    <p:sldId id="268" r:id="rId20"/>
  </p:sldIdLst>
  <p:sldSz cx="18288000" cy="10287000"/>
  <p:notesSz cx="6858000" cy="9144000"/>
  <p:embeddedFontLst>
    <p:embeddedFont>
      <p:font typeface="Calibri" pitchFamily="34" charset="0"/>
      <p:regular r:id="rId21"/>
      <p:bold r:id="rId22"/>
      <p:italic r:id="rId23"/>
      <p:boldItalic r:id="rId24"/>
    </p:embeddedFont>
    <p:embeddedFont>
      <p:font typeface="Open Sans Extra Bold" charset="0"/>
      <p:regular r:id="rId25"/>
    </p:embeddedFont>
    <p:embeddedFont>
      <p:font typeface="Open Sans Bold Italics" charset="0"/>
      <p:regular r:id="rId26"/>
    </p:embeddedFont>
    <p:embeddedFont>
      <p:font typeface="Open Sans" charset="0"/>
      <p:regular r:id="rId27"/>
    </p:embeddedFont>
    <p:embeddedFont>
      <p:font typeface="Raleway" charset="0"/>
      <p:regular r:id="rId28"/>
    </p:embeddedFont>
    <p:embeddedFont>
      <p:font typeface="Open Sans Bold" charset="0"/>
      <p:regular r:id="rId29"/>
    </p:embeddedFont>
    <p:embeddedFont>
      <p:font typeface="Open Sans Light" charset="0"/>
      <p:regular r:id="rId30"/>
    </p:embeddedFont>
    <p:embeddedFont>
      <p:font typeface="Arimo Italics" charset="0"/>
      <p:regular r:id="rId31"/>
    </p:embeddedFont>
    <p:embeddedFont>
      <p:font typeface="Raleway Bold" charset="0"/>
      <p:regular r:id="rId32"/>
    </p:embeddedFont>
    <p:embeddedFont>
      <p:font typeface="Open Sans Light Bold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4" d="100"/>
          <a:sy n="34" d="100"/>
        </p:scale>
        <p:origin x="-1194" y="-6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f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jfif"/><Relationship Id="rId3" Type="http://schemas.openxmlformats.org/officeDocument/2006/relationships/image" Target="../media/image7.sv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jfif"/><Relationship Id="rId5" Type="http://schemas.openxmlformats.org/officeDocument/2006/relationships/image" Target="../media/image8.png"/><Relationship Id="rId10" Type="http://schemas.openxmlformats.org/officeDocument/2006/relationships/image" Target="../media/image13.jpg"/><Relationship Id="rId4" Type="http://schemas.openxmlformats.org/officeDocument/2006/relationships/image" Target="../media/image7.png"/><Relationship Id="rId9" Type="http://schemas.openxmlformats.org/officeDocument/2006/relationships/image" Target="../media/image12.jfi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.svg"/><Relationship Id="rId5" Type="http://schemas.openxmlformats.org/officeDocument/2006/relationships/image" Target="../media/image12.svg"/><Relationship Id="rId10" Type="http://schemas.openxmlformats.org/officeDocument/2006/relationships/image" Target="../media/image1.png"/><Relationship Id="rId4" Type="http://schemas.openxmlformats.org/officeDocument/2006/relationships/image" Target="../media/image18.png"/><Relationship Id="rId9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forces.com/problemset?order=BY_SOLVED_DESC" TargetMode="External"/><Relationship Id="rId7" Type="http://schemas.openxmlformats.org/officeDocument/2006/relationships/hyperlink" Target="https://vjudge.net/article/2315" TargetMode="External"/><Relationship Id="rId2" Type="http://schemas.openxmlformats.org/officeDocument/2006/relationships/hyperlink" Target="https://cses.fi/problemset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poj.com/" TargetMode="External"/><Relationship Id="rId5" Type="http://schemas.openxmlformats.org/officeDocument/2006/relationships/hyperlink" Target="https://atcoder.jp/" TargetMode="External"/><Relationship Id="rId4" Type="http://schemas.openxmlformats.org/officeDocument/2006/relationships/hyperlink" Target="https://www.codechef.com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cpp/the-c-standard-template-library-stl/" TargetMode="External"/><Relationship Id="rId2" Type="http://schemas.openxmlformats.org/officeDocument/2006/relationships/hyperlink" Target="https://youtu.be/l0RrDYr2pGE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youkn0wwho.academy/topic-list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f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3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250820" y="-141404"/>
            <a:ext cx="3110231" cy="10625493"/>
          </a:xfrm>
          <a:prstGeom prst="rect">
            <a:avLst/>
          </a:prstGeom>
          <a:solidFill>
            <a:srgbClr val="FFDB15"/>
          </a:solidFill>
        </p:spPr>
      </p:sp>
      <p:sp>
        <p:nvSpPr>
          <p:cNvPr id="3" name="AutoShape 3"/>
          <p:cNvSpPr/>
          <p:nvPr/>
        </p:nvSpPr>
        <p:spPr>
          <a:xfrm>
            <a:off x="-195887" y="-141404"/>
            <a:ext cx="15450984" cy="2544107"/>
          </a:xfrm>
          <a:prstGeom prst="rect">
            <a:avLst/>
          </a:prstGeom>
          <a:solidFill>
            <a:srgbClr val="020301"/>
          </a:solidFill>
        </p:spPr>
      </p:sp>
      <p:grpSp>
        <p:nvGrpSpPr>
          <p:cNvPr id="4" name="Group 4"/>
          <p:cNvGrpSpPr/>
          <p:nvPr/>
        </p:nvGrpSpPr>
        <p:grpSpPr>
          <a:xfrm rot="5400000">
            <a:off x="15098241" y="1066824"/>
            <a:ext cx="600496" cy="295337"/>
            <a:chOff x="0" y="0"/>
            <a:chExt cx="6350000" cy="5499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close/>
                </a:path>
              </a:pathLst>
            </a:custGeom>
            <a:solidFill>
              <a:srgbClr val="020301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10056" y="2589439"/>
            <a:ext cx="13239099" cy="4065064"/>
            <a:chOff x="0" y="-19050"/>
            <a:chExt cx="17652132" cy="5420085"/>
          </a:xfrm>
        </p:grpSpPr>
        <p:sp>
          <p:nvSpPr>
            <p:cNvPr id="7" name="TextBox 7"/>
            <p:cNvSpPr txBox="1"/>
            <p:nvPr/>
          </p:nvSpPr>
          <p:spPr>
            <a:xfrm>
              <a:off x="0" y="-19050"/>
              <a:ext cx="17652132" cy="4083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000"/>
                </a:lnSpc>
              </a:pPr>
              <a:r>
                <a:rPr lang="en-US" sz="10000" dirty="0">
                  <a:solidFill>
                    <a:srgbClr val="FFDB15"/>
                  </a:solidFill>
                  <a:latin typeface="Raleway Heavy Italics"/>
                </a:rPr>
                <a:t>Competitive Programming 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4819679"/>
              <a:ext cx="17652132" cy="5813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9"/>
                </a:lnSpc>
              </a:pPr>
              <a:endParaRPr dirty="0"/>
            </a:p>
          </p:txBody>
        </p:sp>
      </p:grpSp>
      <p:sp>
        <p:nvSpPr>
          <p:cNvPr id="9" name="AutoShape 9"/>
          <p:cNvSpPr/>
          <p:nvPr/>
        </p:nvSpPr>
        <p:spPr>
          <a:xfrm>
            <a:off x="16862980" y="2402703"/>
            <a:ext cx="86841" cy="8229600"/>
          </a:xfrm>
          <a:prstGeom prst="rect">
            <a:avLst/>
          </a:prstGeom>
          <a:solidFill>
            <a:srgbClr val="020301"/>
          </a:solidFill>
        </p:spPr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6224348" y="492018"/>
            <a:ext cx="1277264" cy="1277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0055" y="6676563"/>
            <a:ext cx="66195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latin typeface="Raleway Heavy Italics"/>
                <a:cs typeface="Times New Roman" pitchFamily="18" charset="0"/>
              </a:rPr>
              <a:t>Presented  by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Raleway Heavy Italics"/>
                <a:cs typeface="Times New Roman" pitchFamily="18" charset="0"/>
              </a:rPr>
              <a:t>Md. </a:t>
            </a:r>
            <a:r>
              <a:rPr lang="en-US" sz="3200" dirty="0" err="1" smtClean="0">
                <a:solidFill>
                  <a:schemeClr val="bg1"/>
                </a:solidFill>
                <a:latin typeface="Raleway Heavy Italics"/>
                <a:cs typeface="Times New Roman" pitchFamily="18" charset="0"/>
              </a:rPr>
              <a:t>Momenul</a:t>
            </a:r>
            <a:r>
              <a:rPr lang="en-US" sz="3200" dirty="0" smtClean="0">
                <a:solidFill>
                  <a:schemeClr val="bg1"/>
                </a:solidFill>
                <a:latin typeface="Raleway Heavy Italics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Raleway Heavy Italics"/>
                <a:cs typeface="Times New Roman" pitchFamily="18" charset="0"/>
              </a:rPr>
              <a:t>Haque</a:t>
            </a:r>
            <a:endParaRPr lang="en-US" sz="3200" dirty="0" smtClean="0">
              <a:solidFill>
                <a:schemeClr val="bg1"/>
              </a:solidFill>
              <a:latin typeface="Raleway Heavy Italics"/>
              <a:cs typeface="Times New Roman" pitchFamily="18" charset="0"/>
            </a:endParaRPr>
          </a:p>
          <a:p>
            <a:r>
              <a:rPr lang="en-US" sz="3200" dirty="0" smtClean="0">
                <a:solidFill>
                  <a:schemeClr val="bg1"/>
                </a:solidFill>
                <a:latin typeface="Raleway Heavy Italics"/>
                <a:cs typeface="Times New Roman" pitchFamily="18" charset="0"/>
              </a:rPr>
              <a:t>Lecturer, Dept. of CSE</a:t>
            </a:r>
            <a:endParaRPr lang="en-US" sz="3200" dirty="0">
              <a:solidFill>
                <a:schemeClr val="bg1"/>
              </a:solidFill>
              <a:latin typeface="Raleway Heavy Italics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15574075" y="-169247"/>
            <a:ext cx="2825005" cy="10801550"/>
            <a:chOff x="0" y="0"/>
            <a:chExt cx="3766674" cy="14402067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3766674" cy="14167325"/>
            </a:xfrm>
            <a:prstGeom prst="rect">
              <a:avLst/>
            </a:prstGeom>
            <a:solidFill>
              <a:srgbClr val="FFDB15"/>
            </a:solidFill>
          </p:spPr>
        </p:sp>
        <p:sp>
          <p:nvSpPr>
            <p:cNvPr id="15" name="AutoShape 15"/>
            <p:cNvSpPr/>
            <p:nvPr/>
          </p:nvSpPr>
          <p:spPr>
            <a:xfrm>
              <a:off x="1749384" y="3429267"/>
              <a:ext cx="115789" cy="10972800"/>
            </a:xfrm>
            <a:prstGeom prst="rect">
              <a:avLst/>
            </a:prstGeom>
            <a:solidFill>
              <a:srgbClr val="020301"/>
            </a:solidFill>
          </p:spPr>
        </p:sp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6194089" y="525420"/>
            <a:ext cx="1584978" cy="1469707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 rot="-5399999">
            <a:off x="-1983783" y="4644623"/>
            <a:ext cx="8219129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70"/>
              </a:lnSpc>
            </a:pPr>
            <a:r>
              <a:rPr lang="en-US" sz="6500" spc="65" dirty="0" smtClean="0">
                <a:solidFill>
                  <a:srgbClr val="020301"/>
                </a:solidFill>
                <a:latin typeface="Raleway Bold Italics"/>
              </a:rPr>
              <a:t>My CP Journey</a:t>
            </a:r>
            <a:endParaRPr lang="en-US" sz="6500" spc="65" dirty="0">
              <a:solidFill>
                <a:srgbClr val="020301"/>
              </a:solidFill>
              <a:latin typeface="Raleway Bold Itali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505200" y="1028782"/>
            <a:ext cx="11506200" cy="118737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/>
              <a:t>National Collegiate Programming Contest 2020</a:t>
            </a:r>
            <a:endParaRPr lang="en-US" sz="4000" b="1" dirty="0"/>
          </a:p>
        </p:txBody>
      </p:sp>
      <p:sp>
        <p:nvSpPr>
          <p:cNvPr id="20" name="Rectangle 19"/>
          <p:cNvSpPr/>
          <p:nvPr/>
        </p:nvSpPr>
        <p:spPr>
          <a:xfrm>
            <a:off x="3519055" y="2628900"/>
            <a:ext cx="11506200" cy="118737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/>
              <a:t>IEEEXtreme</a:t>
            </a:r>
            <a:r>
              <a:rPr lang="en-US" sz="4000" b="1" dirty="0"/>
              <a:t> Programming Competition (24 hours)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32910" y="4305300"/>
            <a:ext cx="11506200" cy="118737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IUPC: RUET CSE FEST 2K22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32910" y="5923816"/>
            <a:ext cx="11506200" cy="118737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ICPC Asia Dhaka Regional Contest 2021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32910" y="7542332"/>
            <a:ext cx="11506200" cy="118737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ICPC Asia Dhaka Regional Contest 2023 (Coach)</a:t>
            </a:r>
          </a:p>
        </p:txBody>
      </p:sp>
    </p:spTree>
    <p:extLst>
      <p:ext uri="{BB962C8B-B14F-4D97-AF65-F5344CB8AC3E}">
        <p14:creationId xmlns:p14="http://schemas.microsoft.com/office/powerpoint/2010/main" val="400383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29585" r="29585"/>
          <a:stretch>
            <a:fillRect/>
          </a:stretch>
        </p:blipFill>
        <p:spPr>
          <a:xfrm>
            <a:off x="-257209" y="-202356"/>
            <a:ext cx="6689845" cy="10834659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028700" y="1028700"/>
            <a:ext cx="8714464" cy="8229600"/>
            <a:chOff x="0" y="0"/>
            <a:chExt cx="11619285" cy="10972800"/>
          </a:xfrm>
        </p:grpSpPr>
        <p:sp>
          <p:nvSpPr>
            <p:cNvPr id="4" name="AutoShape 4"/>
            <p:cNvSpPr/>
            <p:nvPr/>
          </p:nvSpPr>
          <p:spPr>
            <a:xfrm>
              <a:off x="0" y="0"/>
              <a:ext cx="10789558" cy="10972800"/>
            </a:xfrm>
            <a:prstGeom prst="rect">
              <a:avLst/>
            </a:prstGeom>
            <a:solidFill>
              <a:srgbClr val="020301"/>
            </a:solidFill>
          </p:spPr>
        </p:sp>
        <p:grpSp>
          <p:nvGrpSpPr>
            <p:cNvPr id="5" name="Group 5"/>
            <p:cNvGrpSpPr/>
            <p:nvPr/>
          </p:nvGrpSpPr>
          <p:grpSpPr>
            <a:xfrm rot="5400000">
              <a:off x="10361923" y="5008154"/>
              <a:ext cx="1558232" cy="956493"/>
              <a:chOff x="0" y="0"/>
              <a:chExt cx="6350000" cy="54991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350000" cy="549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499100">
                    <a:moveTo>
                      <a:pt x="0" y="5499100"/>
                    </a:moveTo>
                    <a:lnTo>
                      <a:pt x="3175000" y="0"/>
                    </a:lnTo>
                    <a:lnTo>
                      <a:pt x="6350000" y="5499100"/>
                    </a:lnTo>
                    <a:close/>
                  </a:path>
                </a:pathLst>
              </a:custGeom>
              <a:solidFill>
                <a:srgbClr val="020301"/>
              </a:solidFill>
            </p:spPr>
          </p:sp>
        </p:grpSp>
      </p:grpSp>
      <p:sp>
        <p:nvSpPr>
          <p:cNvPr id="7" name="TextBox 7"/>
          <p:cNvSpPr txBox="1"/>
          <p:nvPr/>
        </p:nvSpPr>
        <p:spPr>
          <a:xfrm>
            <a:off x="1865833" y="4173220"/>
            <a:ext cx="6431716" cy="1950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0"/>
              </a:lnSpc>
            </a:pPr>
            <a:r>
              <a:rPr lang="en-US" sz="6500" spc="65">
                <a:solidFill>
                  <a:srgbClr val="FFFFFF"/>
                </a:solidFill>
                <a:latin typeface="Raleway Bold Italics"/>
              </a:rPr>
              <a:t>TODAY'S PRESENTATION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732506" y="2361498"/>
            <a:ext cx="6526794" cy="5615795"/>
            <a:chOff x="0" y="-47625"/>
            <a:chExt cx="8702392" cy="7487726"/>
          </a:xfrm>
        </p:grpSpPr>
        <p:sp>
          <p:nvSpPr>
            <p:cNvPr id="9" name="TextBox 9"/>
            <p:cNvSpPr txBox="1"/>
            <p:nvPr/>
          </p:nvSpPr>
          <p:spPr>
            <a:xfrm>
              <a:off x="0" y="-47625"/>
              <a:ext cx="8702392" cy="774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680"/>
                </a:lnSpc>
              </a:pPr>
              <a:r>
                <a:rPr lang="en-US" sz="3600" spc="288">
                  <a:solidFill>
                    <a:srgbClr val="020301"/>
                  </a:solidFill>
                  <a:latin typeface="Raleway"/>
                </a:rPr>
                <a:t>DISCUSSION OUTLINE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284571"/>
              <a:ext cx="8702392" cy="6155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500"/>
                </a:lnSpc>
              </a:pPr>
              <a:endParaRPr dirty="0"/>
            </a:p>
            <a:p>
              <a:pPr>
                <a:lnSpc>
                  <a:spcPts val="4500"/>
                </a:lnSpc>
              </a:pPr>
              <a:r>
                <a:rPr lang="en-US" sz="3000" spc="30" dirty="0" smtClean="0">
                  <a:solidFill>
                    <a:srgbClr val="020301"/>
                  </a:solidFill>
                  <a:latin typeface="Raleway Bold"/>
                </a:rPr>
                <a:t>- What is CP?</a:t>
              </a:r>
            </a:p>
            <a:p>
              <a:pPr>
                <a:lnSpc>
                  <a:spcPts val="4500"/>
                </a:lnSpc>
              </a:pPr>
              <a:r>
                <a:rPr lang="en-US" sz="3000" spc="30" dirty="0" smtClean="0">
                  <a:solidFill>
                    <a:srgbClr val="020301"/>
                  </a:solidFill>
                  <a:latin typeface="Raleway Bold"/>
                </a:rPr>
                <a:t>- </a:t>
              </a:r>
              <a:r>
                <a:rPr lang="en-US" sz="3000" spc="30" dirty="0">
                  <a:solidFill>
                    <a:srgbClr val="020301"/>
                  </a:solidFill>
                  <a:latin typeface="Raleway Bold"/>
                </a:rPr>
                <a:t>Why </a:t>
              </a:r>
              <a:r>
                <a:rPr lang="en-US" sz="3000" spc="30" dirty="0" smtClean="0">
                  <a:solidFill>
                    <a:srgbClr val="020301"/>
                  </a:solidFill>
                  <a:latin typeface="Raleway Bold"/>
                </a:rPr>
                <a:t>CP? </a:t>
              </a:r>
              <a:endParaRPr lang="en-US" sz="3000" spc="30" dirty="0">
                <a:solidFill>
                  <a:srgbClr val="020301"/>
                </a:solidFill>
                <a:latin typeface="Raleway Bold"/>
              </a:endParaRPr>
            </a:p>
            <a:p>
              <a:pPr>
                <a:lnSpc>
                  <a:spcPts val="4500"/>
                </a:lnSpc>
              </a:pPr>
              <a:r>
                <a:rPr lang="en-US" sz="3000" spc="30" dirty="0">
                  <a:solidFill>
                    <a:srgbClr val="020301"/>
                  </a:solidFill>
                  <a:latin typeface="Raleway Bold"/>
                </a:rPr>
                <a:t>- Goal</a:t>
              </a:r>
            </a:p>
            <a:p>
              <a:pPr>
                <a:lnSpc>
                  <a:spcPts val="4500"/>
                </a:lnSpc>
              </a:pPr>
              <a:r>
                <a:rPr lang="en-US" sz="3000" spc="30" dirty="0">
                  <a:solidFill>
                    <a:srgbClr val="020301"/>
                  </a:solidFill>
                  <a:latin typeface="Raleway Bold"/>
                </a:rPr>
                <a:t>- Roadmap</a:t>
              </a:r>
            </a:p>
            <a:p>
              <a:pPr>
                <a:lnSpc>
                  <a:spcPts val="4500"/>
                </a:lnSpc>
              </a:pPr>
              <a:r>
                <a:rPr lang="en-US" sz="3000" spc="30" dirty="0">
                  <a:solidFill>
                    <a:srgbClr val="020301"/>
                  </a:solidFill>
                  <a:latin typeface="Raleway Bold"/>
                </a:rPr>
                <a:t>- Resources</a:t>
              </a:r>
            </a:p>
            <a:p>
              <a:pPr>
                <a:lnSpc>
                  <a:spcPts val="4500"/>
                </a:lnSpc>
              </a:pPr>
              <a:r>
                <a:rPr lang="en-US" sz="3000" spc="30" dirty="0">
                  <a:solidFill>
                    <a:srgbClr val="020301"/>
                  </a:solidFill>
                  <a:latin typeface="Raleway Bold"/>
                </a:rPr>
                <a:t>- </a:t>
              </a:r>
              <a:r>
                <a:rPr lang="en-US" sz="3000" spc="30" dirty="0" smtClean="0">
                  <a:solidFill>
                    <a:srgbClr val="020301"/>
                  </a:solidFill>
                  <a:latin typeface="Raleway Bold"/>
                </a:rPr>
                <a:t>Benefit</a:t>
              </a:r>
              <a:endParaRPr lang="en-US" sz="3000" spc="30" dirty="0">
                <a:solidFill>
                  <a:srgbClr val="020301"/>
                </a:solidFill>
                <a:latin typeface="Raleway Bold"/>
              </a:endParaRPr>
            </a:p>
            <a:p>
              <a:pPr>
                <a:lnSpc>
                  <a:spcPts val="4500"/>
                </a:lnSpc>
              </a:pPr>
              <a:endParaRPr lang="en-US" sz="3000" spc="30" dirty="0">
                <a:solidFill>
                  <a:srgbClr val="020301"/>
                </a:solidFill>
                <a:latin typeface="Raleway Bold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79501" y="-560260"/>
            <a:ext cx="11313589" cy="10606478"/>
            <a:chOff x="0" y="0"/>
            <a:chExt cx="15084786" cy="14141971"/>
          </a:xfrm>
        </p:grpSpPr>
        <p:sp>
          <p:nvSpPr>
            <p:cNvPr id="3" name="AutoShape 3"/>
            <p:cNvSpPr/>
            <p:nvPr/>
          </p:nvSpPr>
          <p:spPr>
            <a:xfrm>
              <a:off x="187982" y="0"/>
              <a:ext cx="14896804" cy="14141971"/>
            </a:xfrm>
            <a:prstGeom prst="rect">
              <a:avLst/>
            </a:prstGeom>
            <a:solidFill>
              <a:srgbClr val="020301"/>
            </a:solidFill>
          </p:spPr>
        </p:sp>
        <p:grpSp>
          <p:nvGrpSpPr>
            <p:cNvPr id="4" name="Group 4"/>
            <p:cNvGrpSpPr/>
            <p:nvPr/>
          </p:nvGrpSpPr>
          <p:grpSpPr>
            <a:xfrm rot="5400000">
              <a:off x="-300870" y="6592739"/>
              <a:ext cx="1558232" cy="956493"/>
              <a:chOff x="0" y="0"/>
              <a:chExt cx="6350000" cy="54991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50000" cy="549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499100">
                    <a:moveTo>
                      <a:pt x="0" y="5499100"/>
                    </a:moveTo>
                    <a:lnTo>
                      <a:pt x="3175000" y="0"/>
                    </a:lnTo>
                    <a:lnTo>
                      <a:pt x="6350000" y="54991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id="6" name="Group 6"/>
          <p:cNvGrpSpPr/>
          <p:nvPr/>
        </p:nvGrpSpPr>
        <p:grpSpPr>
          <a:xfrm>
            <a:off x="5686697" y="1260273"/>
            <a:ext cx="9622576" cy="8564517"/>
            <a:chOff x="-8378" y="-76200"/>
            <a:chExt cx="11638375" cy="11220180"/>
          </a:xfrm>
        </p:grpSpPr>
        <p:sp>
          <p:nvSpPr>
            <p:cNvPr id="7" name="TextBox 7"/>
            <p:cNvSpPr txBox="1"/>
            <p:nvPr/>
          </p:nvSpPr>
          <p:spPr>
            <a:xfrm>
              <a:off x="0" y="4627512"/>
              <a:ext cx="11361885" cy="7496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639"/>
                </a:lnSpc>
              </a:pPr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11361885" cy="7496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639"/>
                </a:lnSpc>
              </a:pPr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-8378" y="2780852"/>
              <a:ext cx="11638375" cy="36933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5400"/>
                </a:lnSpc>
              </a:pPr>
              <a:r>
                <a:rPr lang="en-US" sz="4400" spc="36" dirty="0">
                  <a:solidFill>
                    <a:srgbClr val="FFFFFF"/>
                  </a:solidFill>
                  <a:latin typeface="Raleway Bold"/>
                </a:rPr>
                <a:t>-   mind sport where everyone showcase     his/her  skills of problem solving under various constraints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332629"/>
              <a:ext cx="11361885" cy="7496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639"/>
                </a:lnSpc>
              </a:pPr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0436539"/>
              <a:ext cx="11361885" cy="7074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51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574075" y="-169247"/>
            <a:ext cx="2825005" cy="10801550"/>
            <a:chOff x="0" y="0"/>
            <a:chExt cx="3766674" cy="14402067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3766674" cy="14167325"/>
            </a:xfrm>
            <a:prstGeom prst="rect">
              <a:avLst/>
            </a:prstGeom>
            <a:solidFill>
              <a:srgbClr val="FFDB15"/>
            </a:solidFill>
          </p:spPr>
        </p:sp>
        <p:sp>
          <p:nvSpPr>
            <p:cNvPr id="15" name="AutoShape 15"/>
            <p:cNvSpPr/>
            <p:nvPr/>
          </p:nvSpPr>
          <p:spPr>
            <a:xfrm>
              <a:off x="1749384" y="3429267"/>
              <a:ext cx="115789" cy="10972800"/>
            </a:xfrm>
            <a:prstGeom prst="rect">
              <a:avLst/>
            </a:prstGeom>
            <a:solidFill>
              <a:srgbClr val="020301"/>
            </a:solidFill>
          </p:spPr>
        </p:sp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6194089" y="525420"/>
            <a:ext cx="1584978" cy="1469707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 rot="-5399999">
            <a:off x="-1983783" y="4650985"/>
            <a:ext cx="8219129" cy="974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70"/>
              </a:lnSpc>
            </a:pPr>
            <a:r>
              <a:rPr lang="en-US" sz="6500" spc="65">
                <a:solidFill>
                  <a:srgbClr val="020301"/>
                </a:solidFill>
                <a:latin typeface="Raleway Bold Italics"/>
              </a:rPr>
              <a:t>WHAT IS CP ?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686697" y="1260273"/>
            <a:ext cx="9622576" cy="8564517"/>
            <a:chOff x="-8378" y="-76200"/>
            <a:chExt cx="11638375" cy="11220180"/>
          </a:xfrm>
        </p:grpSpPr>
        <p:sp>
          <p:nvSpPr>
            <p:cNvPr id="7" name="TextBox 7"/>
            <p:cNvSpPr txBox="1"/>
            <p:nvPr/>
          </p:nvSpPr>
          <p:spPr>
            <a:xfrm>
              <a:off x="0" y="4627512"/>
              <a:ext cx="11361885" cy="7496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639"/>
                </a:lnSpc>
              </a:pPr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11361885" cy="7496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639"/>
                </a:lnSpc>
              </a:pPr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-8378" y="2780852"/>
              <a:ext cx="11638375" cy="36933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5400"/>
                </a:lnSpc>
              </a:pPr>
              <a:r>
                <a:rPr lang="en-US" sz="4400" spc="36" dirty="0">
                  <a:solidFill>
                    <a:srgbClr val="FFFFFF"/>
                  </a:solidFill>
                  <a:latin typeface="Raleway Bold"/>
                </a:rPr>
                <a:t>-   mind sport where everyone showcase     his/her  skills of problem solving under various constraints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332629"/>
              <a:ext cx="11361885" cy="7496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639"/>
                </a:lnSpc>
              </a:pPr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0436539"/>
              <a:ext cx="11361885" cy="7074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51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574075" y="-169247"/>
            <a:ext cx="2825005" cy="10801550"/>
            <a:chOff x="0" y="0"/>
            <a:chExt cx="3766674" cy="14402067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3766674" cy="14167325"/>
            </a:xfrm>
            <a:prstGeom prst="rect">
              <a:avLst/>
            </a:prstGeom>
            <a:solidFill>
              <a:srgbClr val="FFDB15"/>
            </a:solidFill>
          </p:spPr>
        </p:sp>
        <p:sp>
          <p:nvSpPr>
            <p:cNvPr id="15" name="AutoShape 15"/>
            <p:cNvSpPr/>
            <p:nvPr/>
          </p:nvSpPr>
          <p:spPr>
            <a:xfrm>
              <a:off x="1749384" y="3429267"/>
              <a:ext cx="115789" cy="10972800"/>
            </a:xfrm>
            <a:prstGeom prst="rect">
              <a:avLst/>
            </a:prstGeom>
            <a:solidFill>
              <a:srgbClr val="020301"/>
            </a:solidFill>
          </p:spPr>
        </p:sp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6194089" y="525420"/>
            <a:ext cx="1584978" cy="14697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508102"/>
            <a:ext cx="12496800" cy="915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511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3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57500" y="0"/>
            <a:ext cx="15430500" cy="10287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-224719" y="4069217"/>
            <a:ext cx="12503655" cy="6328096"/>
            <a:chOff x="0" y="0"/>
            <a:chExt cx="16671539" cy="8437461"/>
          </a:xfrm>
        </p:grpSpPr>
        <p:sp>
          <p:nvSpPr>
            <p:cNvPr id="4" name="AutoShape 4"/>
            <p:cNvSpPr/>
            <p:nvPr/>
          </p:nvSpPr>
          <p:spPr>
            <a:xfrm>
              <a:off x="0" y="126765"/>
              <a:ext cx="16671539" cy="8310696"/>
            </a:xfrm>
            <a:prstGeom prst="rect">
              <a:avLst/>
            </a:prstGeom>
            <a:solidFill>
              <a:srgbClr val="FFDB15"/>
            </a:solidFill>
          </p:spPr>
        </p:sp>
        <p:grpSp>
          <p:nvGrpSpPr>
            <p:cNvPr id="5" name="Group 5"/>
            <p:cNvGrpSpPr/>
            <p:nvPr/>
          </p:nvGrpSpPr>
          <p:grpSpPr>
            <a:xfrm rot="-10800000">
              <a:off x="892110" y="0"/>
              <a:ext cx="1558232" cy="956493"/>
              <a:chOff x="0" y="0"/>
              <a:chExt cx="6350000" cy="54991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350000" cy="549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499100">
                    <a:moveTo>
                      <a:pt x="0" y="5499100"/>
                    </a:moveTo>
                    <a:lnTo>
                      <a:pt x="3175000" y="0"/>
                    </a:lnTo>
                    <a:lnTo>
                      <a:pt x="6350000" y="5499100"/>
                    </a:lnTo>
                    <a:close/>
                  </a:path>
                </a:pathLst>
              </a:custGeom>
              <a:solidFill>
                <a:srgbClr val="020301"/>
              </a:solidFill>
            </p:spPr>
          </p:sp>
        </p:grpSp>
      </p:grpSp>
      <p:sp>
        <p:nvSpPr>
          <p:cNvPr id="9" name="TextBox 9"/>
          <p:cNvSpPr txBox="1"/>
          <p:nvPr/>
        </p:nvSpPr>
        <p:spPr>
          <a:xfrm>
            <a:off x="1035627" y="6343953"/>
            <a:ext cx="10230749" cy="2616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60"/>
              </a:lnSpc>
            </a:pPr>
            <a:r>
              <a:rPr lang="en-US" sz="4400" spc="33" dirty="0">
                <a:solidFill>
                  <a:srgbClr val="020301"/>
                </a:solidFill>
                <a:latin typeface="Raleway"/>
              </a:rPr>
              <a:t>“To prepare a programmer such that his/her </a:t>
            </a:r>
            <a:r>
              <a:rPr lang="en-US" sz="4400" spc="33" dirty="0">
                <a:solidFill>
                  <a:srgbClr val="020301"/>
                </a:solidFill>
                <a:latin typeface="Raleway Bold"/>
              </a:rPr>
              <a:t>logical building ability</a:t>
            </a:r>
            <a:r>
              <a:rPr lang="en-US" sz="4400" spc="33" dirty="0">
                <a:solidFill>
                  <a:srgbClr val="020301"/>
                </a:solidFill>
                <a:latin typeface="Raleway"/>
              </a:rPr>
              <a:t> increases and he/she is able to write code for the challenging situation.”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573536"/>
            <a:ext cx="10006541" cy="974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0"/>
              </a:lnSpc>
            </a:pPr>
            <a:r>
              <a:rPr lang="en-US" sz="6500" spc="65">
                <a:solidFill>
                  <a:srgbClr val="FFFFFF"/>
                </a:solidFill>
                <a:latin typeface="Raleway Bold Italics"/>
              </a:rPr>
              <a:t>WHY CP 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29686" y="5069104"/>
            <a:ext cx="5133114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dirty="0" err="1">
                <a:solidFill>
                  <a:srgbClr val="000000"/>
                </a:solidFill>
                <a:latin typeface="Open Sans Extra Bold"/>
              </a:rPr>
              <a:t>Cz</a:t>
            </a:r>
            <a:r>
              <a:rPr lang="en-US" sz="3600" dirty="0">
                <a:solidFill>
                  <a:srgbClr val="000000"/>
                </a:solidFill>
                <a:latin typeface="Open Sans Extra Bold"/>
              </a:rPr>
              <a:t> it's Trend now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3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2136173" cy="8229600"/>
          </a:xfrm>
          <a:prstGeom prst="rect">
            <a:avLst/>
          </a:prstGeom>
          <a:solidFill>
            <a:srgbClr val="FFDB15"/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525206" y="1516587"/>
            <a:ext cx="1143162" cy="903098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 rot="-5400000">
            <a:off x="-724554" y="5266633"/>
            <a:ext cx="5595058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b="1" spc="288" dirty="0">
                <a:solidFill>
                  <a:srgbClr val="020301"/>
                </a:solidFill>
                <a:latin typeface="Raleway"/>
              </a:rPr>
              <a:t>Top </a:t>
            </a:r>
            <a:r>
              <a:rPr lang="en-US" sz="3600" b="1" spc="288" dirty="0" smtClean="0">
                <a:solidFill>
                  <a:srgbClr val="020301"/>
                </a:solidFill>
                <a:latin typeface="Raleway"/>
              </a:rPr>
              <a:t>Companies </a:t>
            </a:r>
            <a:r>
              <a:rPr lang="en-US" sz="3600" b="1" spc="288" dirty="0">
                <a:solidFill>
                  <a:srgbClr val="020301"/>
                </a:solidFill>
                <a:latin typeface="Raleway"/>
              </a:rPr>
              <a:t>H</a:t>
            </a:r>
            <a:r>
              <a:rPr lang="en-US" sz="3600" b="1" spc="288" dirty="0" smtClean="0">
                <a:solidFill>
                  <a:srgbClr val="020301"/>
                </a:solidFill>
                <a:latin typeface="Raleway"/>
              </a:rPr>
              <a:t>iring</a:t>
            </a:r>
          </a:p>
          <a:p>
            <a:pPr algn="ctr">
              <a:lnSpc>
                <a:spcPts val="4680"/>
              </a:lnSpc>
            </a:pPr>
            <a:r>
              <a:rPr lang="en-US" sz="3600" b="1" spc="288" dirty="0" smtClean="0">
                <a:solidFill>
                  <a:srgbClr val="020301"/>
                </a:solidFill>
                <a:latin typeface="Raleway"/>
              </a:rPr>
              <a:t>Policy</a:t>
            </a:r>
            <a:endParaRPr lang="en-US" sz="3600" b="1" spc="288" dirty="0">
              <a:solidFill>
                <a:srgbClr val="020301"/>
              </a:solidFill>
              <a:latin typeface="Raleway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1264992"/>
            <a:ext cx="2743200" cy="2743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1098732"/>
            <a:ext cx="4073245" cy="290946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7189" y="1715058"/>
            <a:ext cx="4477580" cy="184306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4533900"/>
            <a:ext cx="2743200" cy="274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533900"/>
            <a:ext cx="2743200" cy="2743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4533900"/>
            <a:ext cx="2819400" cy="28194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491" y="8114441"/>
            <a:ext cx="3810000" cy="1104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7999" y="4551217"/>
            <a:ext cx="2736769" cy="273676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175" y="7704857"/>
            <a:ext cx="2143125" cy="21431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4416" y="7704858"/>
            <a:ext cx="2143125" cy="2143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3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5727213" cy="8229600"/>
            <a:chOff x="0" y="0"/>
            <a:chExt cx="7636284" cy="109728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7031884" cy="10972800"/>
            </a:xfrm>
            <a:prstGeom prst="rect">
              <a:avLst/>
            </a:prstGeom>
            <a:solidFill>
              <a:srgbClr val="FFDB15"/>
            </a:solidFill>
          </p:spPr>
        </p:sp>
        <p:grpSp>
          <p:nvGrpSpPr>
            <p:cNvPr id="4" name="Group 4"/>
            <p:cNvGrpSpPr/>
            <p:nvPr/>
          </p:nvGrpSpPr>
          <p:grpSpPr>
            <a:xfrm rot="5400000">
              <a:off x="6775111" y="5158847"/>
              <a:ext cx="1067241" cy="655106"/>
              <a:chOff x="0" y="0"/>
              <a:chExt cx="6350000" cy="54991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50000" cy="549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499100">
                    <a:moveTo>
                      <a:pt x="0" y="5499100"/>
                    </a:moveTo>
                    <a:lnTo>
                      <a:pt x="3175000" y="0"/>
                    </a:lnTo>
                    <a:lnTo>
                      <a:pt x="6350000" y="5499100"/>
                    </a:lnTo>
                    <a:close/>
                  </a:path>
                </a:pathLst>
              </a:custGeom>
              <a:solidFill>
                <a:srgbClr val="FFDB15"/>
              </a:solidFill>
            </p:spPr>
          </p:sp>
        </p:grpSp>
      </p:grpSp>
      <p:sp>
        <p:nvSpPr>
          <p:cNvPr id="6" name="TextBox 6"/>
          <p:cNvSpPr txBox="1"/>
          <p:nvPr/>
        </p:nvSpPr>
        <p:spPr>
          <a:xfrm>
            <a:off x="2100850" y="4307659"/>
            <a:ext cx="4187946" cy="144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0"/>
              </a:lnSpc>
            </a:pPr>
            <a:r>
              <a:rPr lang="en-US" sz="8000" spc="80">
                <a:solidFill>
                  <a:srgbClr val="020301"/>
                </a:solidFill>
                <a:latin typeface="Open Sans Extra Bold Bold"/>
              </a:rPr>
              <a:t>Goal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63757" y="5734050"/>
            <a:ext cx="10560487" cy="885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000000"/>
                </a:solidFill>
                <a:latin typeface="Open Sans"/>
              </a:rPr>
              <a:t>Add a subheading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65091" y="2404322"/>
            <a:ext cx="9926002" cy="457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279"/>
              </a:lnSpc>
            </a:pPr>
            <a:r>
              <a:rPr lang="en-US" sz="5200" dirty="0">
                <a:solidFill>
                  <a:srgbClr val="FFFFFF"/>
                </a:solidFill>
                <a:latin typeface="Open Sans Bold"/>
              </a:rPr>
              <a:t>Not to be Competitive </a:t>
            </a:r>
          </a:p>
          <a:p>
            <a:pPr>
              <a:lnSpc>
                <a:spcPts val="7279"/>
              </a:lnSpc>
            </a:pPr>
            <a:r>
              <a:rPr lang="en-US" sz="5199" dirty="0">
                <a:solidFill>
                  <a:srgbClr val="FFFFFF"/>
                </a:solidFill>
                <a:latin typeface="Open Sans Bold"/>
              </a:rPr>
              <a:t>Programmer,</a:t>
            </a:r>
          </a:p>
          <a:p>
            <a:pPr>
              <a:lnSpc>
                <a:spcPts val="7279"/>
              </a:lnSpc>
            </a:pPr>
            <a:endParaRPr lang="en-US" sz="5199" dirty="0">
              <a:solidFill>
                <a:srgbClr val="FFFFFF"/>
              </a:solidFill>
              <a:latin typeface="Open Sans Bold"/>
            </a:endParaRPr>
          </a:p>
          <a:p>
            <a:pPr>
              <a:lnSpc>
                <a:spcPts val="7279"/>
              </a:lnSpc>
            </a:pPr>
            <a:r>
              <a:rPr lang="en-US" sz="5199" dirty="0">
                <a:solidFill>
                  <a:srgbClr val="FFFFFF"/>
                </a:solidFill>
                <a:latin typeface="Open Sans Bold"/>
              </a:rPr>
              <a:t>To be </a:t>
            </a:r>
            <a:r>
              <a:rPr lang="en-US" sz="5199" u="sng" dirty="0">
                <a:solidFill>
                  <a:srgbClr val="FFFFFF"/>
                </a:solidFill>
                <a:latin typeface="Open Sans Bold Italics"/>
              </a:rPr>
              <a:t>good ranker</a:t>
            </a:r>
            <a:r>
              <a:rPr lang="en-US" sz="5199" dirty="0">
                <a:solidFill>
                  <a:srgbClr val="FFFFFF"/>
                </a:solidFill>
                <a:latin typeface="Open Sans Bold"/>
              </a:rPr>
              <a:t> Competitive</a:t>
            </a:r>
          </a:p>
          <a:p>
            <a:pPr>
              <a:lnSpc>
                <a:spcPts val="7280"/>
              </a:lnSpc>
            </a:pPr>
            <a:r>
              <a:rPr lang="en-US" sz="5199" dirty="0">
                <a:solidFill>
                  <a:srgbClr val="FFFFFF"/>
                </a:solidFill>
                <a:latin typeface="Open Sans Bold"/>
              </a:rPr>
              <a:t>Programmer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61925" y="6019800"/>
            <a:ext cx="18611850" cy="4457700"/>
          </a:xfrm>
          <a:prstGeom prst="rect">
            <a:avLst/>
          </a:prstGeom>
          <a:solidFill>
            <a:srgbClr val="020301"/>
          </a:solidFill>
        </p:spPr>
      </p:sp>
      <p:grpSp>
        <p:nvGrpSpPr>
          <p:cNvPr id="3" name="Group 3"/>
          <p:cNvGrpSpPr/>
          <p:nvPr/>
        </p:nvGrpSpPr>
        <p:grpSpPr>
          <a:xfrm>
            <a:off x="716229" y="1028700"/>
            <a:ext cx="16543071" cy="383609"/>
            <a:chOff x="0" y="0"/>
            <a:chExt cx="22057428" cy="511479"/>
          </a:xfrm>
        </p:grpSpPr>
        <p:sp>
          <p:nvSpPr>
            <p:cNvPr id="4" name="AutoShape 4"/>
            <p:cNvSpPr/>
            <p:nvPr/>
          </p:nvSpPr>
          <p:spPr>
            <a:xfrm>
              <a:off x="416628" y="0"/>
              <a:ext cx="21640800" cy="127000"/>
            </a:xfrm>
            <a:prstGeom prst="rect">
              <a:avLst/>
            </a:prstGeom>
            <a:solidFill>
              <a:srgbClr val="020301"/>
            </a:solidFill>
          </p:spPr>
        </p:sp>
        <p:grpSp>
          <p:nvGrpSpPr>
            <p:cNvPr id="5" name="Group 5"/>
            <p:cNvGrpSpPr/>
            <p:nvPr/>
          </p:nvGrpSpPr>
          <p:grpSpPr>
            <a:xfrm rot="-10800000">
              <a:off x="0" y="0"/>
              <a:ext cx="833256" cy="511479"/>
              <a:chOff x="0" y="0"/>
              <a:chExt cx="6350000" cy="54991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350000" cy="549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499100">
                    <a:moveTo>
                      <a:pt x="0" y="5499100"/>
                    </a:moveTo>
                    <a:lnTo>
                      <a:pt x="3175000" y="0"/>
                    </a:lnTo>
                    <a:lnTo>
                      <a:pt x="6350000" y="5499100"/>
                    </a:lnTo>
                    <a:close/>
                  </a:path>
                </a:pathLst>
              </a:custGeom>
              <a:solidFill>
                <a:srgbClr val="020301"/>
              </a:solidFill>
            </p:spPr>
          </p:sp>
        </p:grpSp>
        <p:grpSp>
          <p:nvGrpSpPr>
            <p:cNvPr id="7" name="Group 7"/>
            <p:cNvGrpSpPr/>
            <p:nvPr/>
          </p:nvGrpSpPr>
          <p:grpSpPr>
            <a:xfrm rot="-10800000">
              <a:off x="5700574" y="0"/>
              <a:ext cx="833256" cy="511479"/>
              <a:chOff x="0" y="0"/>
              <a:chExt cx="6350000" cy="54991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350000" cy="549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499100">
                    <a:moveTo>
                      <a:pt x="0" y="5499100"/>
                    </a:moveTo>
                    <a:lnTo>
                      <a:pt x="3175000" y="0"/>
                    </a:lnTo>
                    <a:lnTo>
                      <a:pt x="6350000" y="5499100"/>
                    </a:lnTo>
                    <a:close/>
                  </a:path>
                </a:pathLst>
              </a:custGeom>
              <a:solidFill>
                <a:srgbClr val="020301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 rot="-10800000">
              <a:off x="11401149" y="0"/>
              <a:ext cx="833256" cy="511479"/>
              <a:chOff x="0" y="0"/>
              <a:chExt cx="6350000" cy="54991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50000" cy="549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499100">
                    <a:moveTo>
                      <a:pt x="0" y="5499100"/>
                    </a:moveTo>
                    <a:lnTo>
                      <a:pt x="3175000" y="0"/>
                    </a:lnTo>
                    <a:lnTo>
                      <a:pt x="6350000" y="5499100"/>
                    </a:lnTo>
                    <a:close/>
                  </a:path>
                </a:pathLst>
              </a:custGeom>
              <a:solidFill>
                <a:srgbClr val="020301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 rot="-10800000">
              <a:off x="17101723" y="0"/>
              <a:ext cx="833256" cy="511479"/>
              <a:chOff x="0" y="0"/>
              <a:chExt cx="6350000" cy="54991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549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499100">
                    <a:moveTo>
                      <a:pt x="0" y="5499100"/>
                    </a:moveTo>
                    <a:lnTo>
                      <a:pt x="3175000" y="0"/>
                    </a:lnTo>
                    <a:lnTo>
                      <a:pt x="6350000" y="5499100"/>
                    </a:lnTo>
                    <a:close/>
                  </a:path>
                </a:pathLst>
              </a:custGeom>
              <a:solidFill>
                <a:srgbClr val="020301"/>
              </a:solidFill>
            </p:spPr>
          </p:sp>
        </p:grpSp>
      </p:grpSp>
      <p:grpSp>
        <p:nvGrpSpPr>
          <p:cNvPr id="13" name="Group 13"/>
          <p:cNvGrpSpPr/>
          <p:nvPr/>
        </p:nvGrpSpPr>
        <p:grpSpPr>
          <a:xfrm>
            <a:off x="1028700" y="7165340"/>
            <a:ext cx="11488849" cy="1826260"/>
            <a:chOff x="0" y="0"/>
            <a:chExt cx="15318466" cy="2435013"/>
          </a:xfrm>
        </p:grpSpPr>
        <p:sp>
          <p:nvSpPr>
            <p:cNvPr id="14" name="TextBox 14"/>
            <p:cNvSpPr txBox="1"/>
            <p:nvPr/>
          </p:nvSpPr>
          <p:spPr>
            <a:xfrm>
              <a:off x="0" y="9525"/>
              <a:ext cx="15318466" cy="13028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670"/>
                </a:lnSpc>
              </a:pPr>
              <a:r>
                <a:rPr lang="en-US" sz="6500" spc="65">
                  <a:solidFill>
                    <a:srgbClr val="FFFFFF"/>
                  </a:solidFill>
                  <a:latin typeface="Raleway Bold Italics"/>
                </a:rPr>
                <a:t>ROADMAP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655868"/>
              <a:ext cx="15063817" cy="779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680"/>
                </a:lnSpc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>
            <a:off x="13537895" y="6019800"/>
            <a:ext cx="5035120" cy="4457700"/>
          </a:xfrm>
          <a:prstGeom prst="rect">
            <a:avLst/>
          </a:prstGeom>
          <a:solidFill>
            <a:srgbClr val="FFDB15"/>
          </a:solidFill>
        </p:spPr>
      </p:sp>
      <p:grpSp>
        <p:nvGrpSpPr>
          <p:cNvPr id="17" name="Group 17"/>
          <p:cNvGrpSpPr/>
          <p:nvPr/>
        </p:nvGrpSpPr>
        <p:grpSpPr>
          <a:xfrm>
            <a:off x="4524169" y="1953403"/>
            <a:ext cx="4184270" cy="3116379"/>
            <a:chOff x="0" y="0"/>
            <a:chExt cx="5579026" cy="4155172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76200"/>
              <a:ext cx="5579026" cy="30937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620"/>
                </a:lnSpc>
              </a:pPr>
              <a:r>
                <a:rPr lang="en-US" sz="3300" spc="165">
                  <a:solidFill>
                    <a:srgbClr val="020301"/>
                  </a:solidFill>
                  <a:latin typeface="Raleway Bold Italics"/>
                </a:rPr>
                <a:t>Learn about</a:t>
              </a:r>
            </a:p>
            <a:p>
              <a:pPr>
                <a:lnSpc>
                  <a:spcPts val="4620"/>
                </a:lnSpc>
              </a:pPr>
              <a:r>
                <a:rPr lang="en-US" sz="3300" spc="165">
                  <a:solidFill>
                    <a:srgbClr val="020301"/>
                  </a:solidFill>
                  <a:latin typeface="Raleway Bold Italics"/>
                </a:rPr>
                <a:t>time complexity &amp;</a:t>
              </a:r>
            </a:p>
            <a:p>
              <a:pPr>
                <a:lnSpc>
                  <a:spcPts val="4620"/>
                </a:lnSpc>
              </a:pPr>
              <a:r>
                <a:rPr lang="en-US" sz="3300" spc="165">
                  <a:solidFill>
                    <a:srgbClr val="020301"/>
                  </a:solidFill>
                  <a:latin typeface="Raleway Bold Italics"/>
                </a:rPr>
                <a:t>Space complexity</a:t>
              </a:r>
            </a:p>
            <a:p>
              <a:pPr>
                <a:lnSpc>
                  <a:spcPts val="4620"/>
                </a:lnSpc>
              </a:pPr>
              <a:endParaRPr lang="en-US" sz="3300" spc="165">
                <a:solidFill>
                  <a:srgbClr val="020301"/>
                </a:solidFill>
                <a:latin typeface="Raleway Bold Itali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3551287"/>
              <a:ext cx="5579026" cy="603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0"/>
                </a:lnSpc>
              </a:pPr>
              <a:endParaRPr/>
            </a:p>
          </p:txBody>
        </p:sp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49921" y="144662"/>
            <a:ext cx="757557" cy="757557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4852114" y="144662"/>
            <a:ext cx="744119" cy="744119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9144000" y="144662"/>
            <a:ext cx="744119" cy="744119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13537895" y="178795"/>
            <a:ext cx="689291" cy="689291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716229" y="1953403"/>
            <a:ext cx="3404308" cy="2529639"/>
            <a:chOff x="0" y="0"/>
            <a:chExt cx="4539077" cy="3372852"/>
          </a:xfrm>
        </p:grpSpPr>
        <p:sp>
          <p:nvSpPr>
            <p:cNvPr id="25" name="TextBox 25"/>
            <p:cNvSpPr txBox="1"/>
            <p:nvPr/>
          </p:nvSpPr>
          <p:spPr>
            <a:xfrm>
              <a:off x="0" y="-76200"/>
              <a:ext cx="4539077" cy="2311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620"/>
                </a:lnSpc>
              </a:pPr>
              <a:r>
                <a:rPr lang="en-US" sz="3300" spc="165">
                  <a:solidFill>
                    <a:srgbClr val="020301"/>
                  </a:solidFill>
                  <a:latin typeface="Raleway Bold Italics"/>
                </a:rPr>
                <a:t>Select any one language and learn it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2768967"/>
              <a:ext cx="4539077" cy="603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0"/>
                </a:lnSpc>
              </a:pPr>
              <a:r>
                <a:rPr lang="en-US" sz="2600" spc="26">
                  <a:solidFill>
                    <a:srgbClr val="020301"/>
                  </a:solidFill>
                  <a:latin typeface="Raleway Bold"/>
                </a:rPr>
                <a:t>Suggestion C++..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579561" y="1953403"/>
            <a:ext cx="3404308" cy="1356159"/>
            <a:chOff x="0" y="0"/>
            <a:chExt cx="4539077" cy="1808212"/>
          </a:xfrm>
        </p:grpSpPr>
        <p:sp>
          <p:nvSpPr>
            <p:cNvPr id="28" name="TextBox 28"/>
            <p:cNvSpPr txBox="1"/>
            <p:nvPr/>
          </p:nvSpPr>
          <p:spPr>
            <a:xfrm>
              <a:off x="0" y="-76200"/>
              <a:ext cx="4539077" cy="746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620"/>
                </a:lnSpc>
              </a:pPr>
              <a:r>
                <a:rPr lang="en-US" sz="3300" spc="165">
                  <a:solidFill>
                    <a:srgbClr val="020301"/>
                  </a:solidFill>
                  <a:latin typeface="Raleway Bold Italics"/>
                </a:rPr>
                <a:t>Learn DSA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1204327"/>
              <a:ext cx="4539077" cy="603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983869" y="1953403"/>
            <a:ext cx="4909447" cy="2529639"/>
            <a:chOff x="0" y="0"/>
            <a:chExt cx="6545930" cy="3372852"/>
          </a:xfrm>
        </p:grpSpPr>
        <p:sp>
          <p:nvSpPr>
            <p:cNvPr id="31" name="TextBox 31"/>
            <p:cNvSpPr txBox="1"/>
            <p:nvPr/>
          </p:nvSpPr>
          <p:spPr>
            <a:xfrm>
              <a:off x="0" y="-76200"/>
              <a:ext cx="6545930" cy="2311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620"/>
                </a:lnSpc>
              </a:pPr>
              <a:r>
                <a:rPr lang="en-US" sz="3300" spc="165">
                  <a:solidFill>
                    <a:srgbClr val="020301"/>
                  </a:solidFill>
                  <a:latin typeface="Raleway Bold Italics"/>
                </a:rPr>
                <a:t>Give the contest</a:t>
              </a:r>
            </a:p>
            <a:p>
              <a:pPr>
                <a:lnSpc>
                  <a:spcPts val="4620"/>
                </a:lnSpc>
              </a:pPr>
              <a:r>
                <a:rPr lang="en-US" sz="3300" spc="165">
                  <a:solidFill>
                    <a:srgbClr val="020301"/>
                  </a:solidFill>
                  <a:latin typeface="Raleway Bold Italics"/>
                </a:rPr>
                <a:t>and practice for various  problems 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2768967"/>
              <a:ext cx="6545930" cy="603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0"/>
                </a:lnSpc>
              </a:pPr>
              <a:r>
                <a:rPr lang="en-US" sz="2600" spc="26">
                  <a:solidFill>
                    <a:srgbClr val="020301"/>
                  </a:solidFill>
                  <a:latin typeface="Raleway Bold"/>
                </a:rPr>
                <a:t>Practice..Practice..Practice..</a:t>
              </a:r>
            </a:p>
          </p:txBody>
        </p:sp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15202407" y="7165340"/>
            <a:ext cx="1635625" cy="1635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37293" y="1152367"/>
            <a:ext cx="9750670" cy="3548862"/>
            <a:chOff x="0" y="0"/>
            <a:chExt cx="13000894" cy="4731816"/>
          </a:xfrm>
        </p:grpSpPr>
        <p:sp>
          <p:nvSpPr>
            <p:cNvPr id="3" name="AutoShape 3"/>
            <p:cNvSpPr/>
            <p:nvPr/>
          </p:nvSpPr>
          <p:spPr>
            <a:xfrm>
              <a:off x="577359" y="0"/>
              <a:ext cx="12423535" cy="4731816"/>
            </a:xfrm>
            <a:prstGeom prst="rect">
              <a:avLst/>
            </a:prstGeom>
            <a:solidFill>
              <a:srgbClr val="020301"/>
            </a:solidFill>
          </p:spPr>
        </p:sp>
        <p:grpSp>
          <p:nvGrpSpPr>
            <p:cNvPr id="4" name="Group 4"/>
            <p:cNvGrpSpPr/>
            <p:nvPr/>
          </p:nvGrpSpPr>
          <p:grpSpPr>
            <a:xfrm rot="-5400000">
              <a:off x="-192494" y="2058122"/>
              <a:ext cx="996944" cy="611956"/>
              <a:chOff x="0" y="0"/>
              <a:chExt cx="6350000" cy="54991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50000" cy="549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499100">
                    <a:moveTo>
                      <a:pt x="0" y="5499100"/>
                    </a:moveTo>
                    <a:lnTo>
                      <a:pt x="3175000" y="0"/>
                    </a:lnTo>
                    <a:lnTo>
                      <a:pt x="6350000" y="5499100"/>
                    </a:lnTo>
                    <a:close/>
                  </a:path>
                </a:pathLst>
              </a:custGeom>
              <a:solidFill>
                <a:srgbClr val="020301"/>
              </a:solidFill>
            </p:spPr>
          </p:sp>
        </p:grpSp>
      </p:grpSp>
      <p:grpSp>
        <p:nvGrpSpPr>
          <p:cNvPr id="6" name="Group 6"/>
          <p:cNvGrpSpPr/>
          <p:nvPr/>
        </p:nvGrpSpPr>
        <p:grpSpPr>
          <a:xfrm>
            <a:off x="1476595" y="5596786"/>
            <a:ext cx="9675239" cy="3521028"/>
            <a:chOff x="0" y="0"/>
            <a:chExt cx="12900318" cy="4694703"/>
          </a:xfrm>
        </p:grpSpPr>
        <p:sp>
          <p:nvSpPr>
            <p:cNvPr id="7" name="AutoShape 7"/>
            <p:cNvSpPr/>
            <p:nvPr/>
          </p:nvSpPr>
          <p:spPr>
            <a:xfrm>
              <a:off x="0" y="0"/>
              <a:ext cx="12326096" cy="4694703"/>
            </a:xfrm>
            <a:prstGeom prst="rect">
              <a:avLst/>
            </a:prstGeom>
            <a:solidFill>
              <a:srgbClr val="020301"/>
            </a:solidFill>
          </p:spPr>
        </p:sp>
        <p:grpSp>
          <p:nvGrpSpPr>
            <p:cNvPr id="8" name="Group 8"/>
            <p:cNvGrpSpPr/>
            <p:nvPr/>
          </p:nvGrpSpPr>
          <p:grpSpPr>
            <a:xfrm rot="5400000">
              <a:off x="12102177" y="2043773"/>
              <a:ext cx="989125" cy="607157"/>
              <a:chOff x="0" y="0"/>
              <a:chExt cx="6350000" cy="54991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50000" cy="549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499100">
                    <a:moveTo>
                      <a:pt x="0" y="5499100"/>
                    </a:moveTo>
                    <a:lnTo>
                      <a:pt x="3175000" y="0"/>
                    </a:lnTo>
                    <a:lnTo>
                      <a:pt x="6350000" y="5499100"/>
                    </a:lnTo>
                    <a:close/>
                  </a:path>
                </a:pathLst>
              </a:custGeom>
              <a:solidFill>
                <a:srgbClr val="020301"/>
              </a:solidFill>
            </p:spPr>
          </p:sp>
        </p:grpSp>
      </p:grpSp>
      <p:grpSp>
        <p:nvGrpSpPr>
          <p:cNvPr id="10" name="Group 10"/>
          <p:cNvGrpSpPr/>
          <p:nvPr/>
        </p:nvGrpSpPr>
        <p:grpSpPr>
          <a:xfrm>
            <a:off x="8162480" y="1995088"/>
            <a:ext cx="8409282" cy="1863420"/>
            <a:chOff x="0" y="0"/>
            <a:chExt cx="11212376" cy="2484561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47625"/>
              <a:ext cx="11212376" cy="779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80"/>
                </a:lnSpc>
              </a:pPr>
              <a:r>
                <a:rPr lang="en-US" sz="3600" spc="288">
                  <a:solidFill>
                    <a:srgbClr val="FFFFFF"/>
                  </a:solidFill>
                  <a:latin typeface="Raleway"/>
                </a:rPr>
                <a:t>PERSON 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017711"/>
              <a:ext cx="11212376" cy="1466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0"/>
                </a:lnSpc>
              </a:pPr>
              <a:r>
                <a:rPr lang="en-US" sz="3000" spc="30">
                  <a:solidFill>
                    <a:srgbClr val="FFFFFF"/>
                  </a:solidFill>
                  <a:latin typeface="Raleway"/>
                </a:rPr>
                <a:t>Who Know the DSA but never tried CP</a:t>
              </a:r>
            </a:p>
            <a:p>
              <a:pPr algn="ctr">
                <a:lnSpc>
                  <a:spcPts val="4500"/>
                </a:lnSpc>
              </a:pPr>
              <a:endParaRPr lang="en-US" sz="3000" spc="30">
                <a:solidFill>
                  <a:srgbClr val="FFFFFF"/>
                </a:solidFill>
                <a:latin typeface="Raleway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92796" y="6711339"/>
            <a:ext cx="8409282" cy="1291920"/>
            <a:chOff x="0" y="0"/>
            <a:chExt cx="11212376" cy="1722561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47625"/>
              <a:ext cx="11212376" cy="779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80"/>
                </a:lnSpc>
              </a:pPr>
              <a:r>
                <a:rPr lang="en-US" sz="3600" spc="288">
                  <a:solidFill>
                    <a:srgbClr val="FFFFFF"/>
                  </a:solidFill>
                  <a:latin typeface="Raleway"/>
                </a:rPr>
                <a:t>PERSON 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017711"/>
              <a:ext cx="11212376" cy="704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0"/>
                </a:lnSpc>
              </a:pPr>
              <a:r>
                <a:rPr lang="en-US" sz="3000" spc="30">
                  <a:solidFill>
                    <a:srgbClr val="FFFFFF"/>
                  </a:solidFill>
                  <a:latin typeface="Raleway"/>
                </a:rPr>
                <a:t>who know the DSA and Doing CP too.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8700" y="1928413"/>
            <a:ext cx="5124331" cy="1786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/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 Light"/>
              </a:rPr>
              <a:t>solve</a:t>
            </a:r>
            <a:r>
              <a:rPr lang="en-US" sz="3400">
                <a:solidFill>
                  <a:srgbClr val="000000"/>
                </a:solidFill>
                <a:latin typeface="Open Sans Light"/>
              </a:rPr>
              <a:t> by </a:t>
            </a:r>
          </a:p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"/>
              </a:rPr>
              <a:t>bruteforce(naive) aproach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67121" y="6430834"/>
            <a:ext cx="4684990" cy="1786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"/>
              </a:rPr>
              <a:t>solve Problem by </a:t>
            </a:r>
          </a:p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"/>
              </a:rPr>
              <a:t>existing algorithm with </a:t>
            </a:r>
          </a:p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"/>
              </a:rPr>
              <a:t>Lowest Time Complexity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14600" y="223563"/>
            <a:ext cx="11104067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 dirty="0">
                <a:solidFill>
                  <a:srgbClr val="FF1616"/>
                </a:solidFill>
                <a:latin typeface="Open Sans Light Bold"/>
              </a:rPr>
              <a:t>same problem is given to the both person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3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1000862" y="1104900"/>
            <a:ext cx="10049551" cy="4007276"/>
            <a:chOff x="0" y="-2822509"/>
            <a:chExt cx="13399401" cy="5343036"/>
          </a:xfrm>
        </p:grpSpPr>
        <p:sp>
          <p:nvSpPr>
            <p:cNvPr id="9" name="TextBox 9"/>
            <p:cNvSpPr txBox="1"/>
            <p:nvPr/>
          </p:nvSpPr>
          <p:spPr>
            <a:xfrm>
              <a:off x="0" y="9525"/>
              <a:ext cx="13326448" cy="1316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670"/>
                </a:lnSpc>
              </a:pPr>
              <a:r>
                <a:rPr lang="en-US" sz="6500" spc="65" dirty="0">
                  <a:solidFill>
                    <a:srgbClr val="FFFFFF"/>
                  </a:solidFill>
                  <a:latin typeface="Raleway Bold Italics"/>
                </a:rPr>
                <a:t>C</a:t>
              </a:r>
              <a:r>
                <a:rPr lang="en-US" sz="6500" spc="65" dirty="0" smtClean="0">
                  <a:solidFill>
                    <a:srgbClr val="FFFFFF"/>
                  </a:solidFill>
                  <a:latin typeface="Raleway Bold Italics"/>
                </a:rPr>
                <a:t>++ Basics</a:t>
              </a:r>
              <a:endParaRPr lang="en-US" sz="6500" spc="65" dirty="0">
                <a:solidFill>
                  <a:srgbClr val="FFFFFF"/>
                </a:solidFill>
                <a:latin typeface="Raleway Bold Itali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924" y="1741382"/>
              <a:ext cx="13327477" cy="779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680"/>
                </a:lnSpc>
              </a:pPr>
              <a:r>
                <a:rPr lang="en-US" sz="3600" spc="288" dirty="0">
                  <a:solidFill>
                    <a:srgbClr val="FFFFFF"/>
                  </a:solidFill>
                  <a:latin typeface="Raleway"/>
                </a:rPr>
                <a:t>RESOURCE</a:t>
              </a:r>
            </a:p>
          </p:txBody>
        </p:sp>
        <p:sp>
          <p:nvSpPr>
            <p:cNvPr id="13" name="TextBox 9"/>
            <p:cNvSpPr txBox="1"/>
            <p:nvPr/>
          </p:nvSpPr>
          <p:spPr>
            <a:xfrm>
              <a:off x="0" y="-2822509"/>
              <a:ext cx="13326448" cy="1316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670"/>
                </a:lnSpc>
              </a:pPr>
              <a:r>
                <a:rPr lang="en-US" sz="6500" spc="65" dirty="0" smtClean="0">
                  <a:solidFill>
                    <a:srgbClr val="FFFFFF"/>
                  </a:solidFill>
                  <a:latin typeface="Raleway Bold Italics"/>
                </a:rPr>
                <a:t>How to start???</a:t>
              </a:r>
              <a:endParaRPr lang="en-US" sz="6500" spc="65" dirty="0">
                <a:solidFill>
                  <a:srgbClr val="FFFFFF"/>
                </a:solidFill>
                <a:latin typeface="Raleway Bold Italics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36371" y="6260131"/>
            <a:ext cx="2642308" cy="175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spc="165">
                <a:solidFill>
                  <a:srgbClr val="020301"/>
                </a:solidFill>
                <a:latin typeface="Raleway Bold Italics"/>
              </a:rPr>
              <a:t>youtube</a:t>
            </a:r>
          </a:p>
          <a:p>
            <a:pPr algn="ctr">
              <a:lnSpc>
                <a:spcPts val="4620"/>
              </a:lnSpc>
            </a:pPr>
            <a:endParaRPr lang="en-US" sz="3300" spc="165">
              <a:solidFill>
                <a:srgbClr val="020301"/>
              </a:solidFill>
              <a:latin typeface="Raleway Bold Italics"/>
            </a:endParaRPr>
          </a:p>
          <a:p>
            <a:pPr algn="ctr">
              <a:lnSpc>
                <a:spcPts val="4620"/>
              </a:lnSpc>
            </a:pPr>
            <a:r>
              <a:rPr lang="en-US" sz="3300" spc="165">
                <a:solidFill>
                  <a:srgbClr val="020301"/>
                </a:solidFill>
                <a:latin typeface="Raleway Bold"/>
              </a:rPr>
              <a:t>Website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-1" y="5753101"/>
            <a:ext cx="18267667" cy="4533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3600" b="1" dirty="0" err="1">
                <a:solidFill>
                  <a:schemeClr val="tx1"/>
                </a:solidFill>
              </a:rPr>
              <a:t>Youtube</a:t>
            </a:r>
            <a:r>
              <a:rPr lang="en-US" sz="3600" b="1" dirty="0">
                <a:solidFill>
                  <a:schemeClr val="tx1"/>
                </a:solidFill>
              </a:rPr>
              <a:t>:  (Basics)</a:t>
            </a:r>
          </a:p>
          <a:p>
            <a:r>
              <a:rPr lang="en-US" sz="3600" b="1" dirty="0" smtClean="0">
                <a:solidFill>
                  <a:schemeClr val="tx1"/>
                </a:solidFill>
              </a:rPr>
              <a:t>                   </a:t>
            </a:r>
            <a:r>
              <a:rPr lang="en-US" sz="3600" b="1" dirty="0" err="1" smtClean="0">
                <a:solidFill>
                  <a:schemeClr val="tx1"/>
                </a:solidFill>
              </a:rPr>
              <a:t>CodeWithHarry</a:t>
            </a:r>
            <a:r>
              <a:rPr lang="en-US" sz="3600" b="1" dirty="0" smtClean="0">
                <a:solidFill>
                  <a:schemeClr val="tx1"/>
                </a:solidFill>
              </a:rPr>
              <a:t> </a:t>
            </a:r>
            <a:r>
              <a:rPr lang="en-US" sz="3600" b="1" dirty="0">
                <a:solidFill>
                  <a:schemeClr val="tx1"/>
                </a:solidFill>
              </a:rPr>
              <a:t>(Hindi),  </a:t>
            </a:r>
            <a:r>
              <a:rPr lang="en-US" sz="3600" b="1" dirty="0" err="1">
                <a:solidFill>
                  <a:schemeClr val="tx1"/>
                </a:solidFill>
              </a:rPr>
              <a:t>Anisul</a:t>
            </a:r>
            <a:r>
              <a:rPr lang="en-US" sz="3600" b="1" dirty="0">
                <a:solidFill>
                  <a:schemeClr val="tx1"/>
                </a:solidFill>
              </a:rPr>
              <a:t> Islam (Bangla), Programming with Mosh (English) </a:t>
            </a:r>
            <a:endParaRPr lang="en-US" sz="3600" b="1" dirty="0" smtClean="0">
              <a:solidFill>
                <a:schemeClr val="tx1"/>
              </a:solidFill>
            </a:endParaRPr>
          </a:p>
          <a:p>
            <a:pPr marL="342900" indent="-342900">
              <a:buFont typeface="Wingdings" pitchFamily="2" charset="2"/>
              <a:buChar char="q"/>
            </a:pPr>
            <a:endParaRPr lang="en-US" sz="3600" b="1" dirty="0">
              <a:solidFill>
                <a:schemeClr val="tx1"/>
              </a:solidFill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3600" b="1" dirty="0" err="1">
                <a:solidFill>
                  <a:schemeClr val="tx1"/>
                </a:solidFill>
              </a:rPr>
              <a:t>Youtube</a:t>
            </a:r>
            <a:r>
              <a:rPr lang="en-US" sz="3600" b="1" dirty="0">
                <a:solidFill>
                  <a:schemeClr val="tx1"/>
                </a:solidFill>
              </a:rPr>
              <a:t>:  (Advance)</a:t>
            </a:r>
          </a:p>
          <a:p>
            <a:r>
              <a:rPr lang="en-US" sz="3600" b="1" dirty="0" smtClean="0">
                <a:solidFill>
                  <a:schemeClr val="tx1"/>
                </a:solidFill>
              </a:rPr>
              <a:t>                     </a:t>
            </a:r>
            <a:r>
              <a:rPr lang="en-US" sz="3600" b="1" dirty="0" err="1" smtClean="0">
                <a:solidFill>
                  <a:schemeClr val="tx1"/>
                </a:solidFill>
              </a:rPr>
              <a:t>CodeVault</a:t>
            </a:r>
            <a:endParaRPr lang="en-US" sz="3600" b="1" dirty="0" smtClean="0">
              <a:solidFill>
                <a:schemeClr val="tx1"/>
              </a:solidFill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3600" b="1" dirty="0">
                <a:solidFill>
                  <a:schemeClr val="tx1"/>
                </a:solidFill>
              </a:rPr>
              <a:t>Website:  </a:t>
            </a:r>
          </a:p>
          <a:p>
            <a:r>
              <a:rPr lang="en-US" sz="3600" b="1" dirty="0" smtClean="0">
                <a:solidFill>
                  <a:schemeClr val="tx1"/>
                </a:solidFill>
              </a:rPr>
              <a:t>                     w3schools.com</a:t>
            </a:r>
            <a:r>
              <a:rPr lang="en-US" sz="3600" b="1" dirty="0">
                <a:solidFill>
                  <a:schemeClr val="tx1"/>
                </a:solidFill>
              </a:rPr>
              <a:t>, </a:t>
            </a:r>
            <a:r>
              <a:rPr lang="en-US" sz="3600" b="1" dirty="0" smtClean="0">
                <a:solidFill>
                  <a:schemeClr val="tx1"/>
                </a:solidFill>
              </a:rPr>
              <a:t>tutorialspoint.com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24" name="AutoShape 16"/>
          <p:cNvSpPr/>
          <p:nvPr/>
        </p:nvSpPr>
        <p:spPr>
          <a:xfrm>
            <a:off x="13232546" y="-1"/>
            <a:ext cx="5035120" cy="5753101"/>
          </a:xfrm>
          <a:prstGeom prst="rect">
            <a:avLst/>
          </a:prstGeom>
          <a:solidFill>
            <a:srgbClr val="FFDB15"/>
          </a:solidFill>
        </p:spPr>
      </p:sp>
      <p:pic>
        <p:nvPicPr>
          <p:cNvPr id="25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5011400" y="1277845"/>
            <a:ext cx="2104106" cy="1951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49711" y="-4109851"/>
            <a:ext cx="15338289" cy="15671157"/>
            <a:chOff x="0" y="0"/>
            <a:chExt cx="20451052" cy="20894876"/>
          </a:xfrm>
        </p:grpSpPr>
        <p:sp>
          <p:nvSpPr>
            <p:cNvPr id="3" name="AutoShape 3"/>
            <p:cNvSpPr/>
            <p:nvPr/>
          </p:nvSpPr>
          <p:spPr>
            <a:xfrm>
              <a:off x="242283" y="0"/>
              <a:ext cx="20208769" cy="20894876"/>
            </a:xfrm>
            <a:prstGeom prst="rect">
              <a:avLst/>
            </a:prstGeom>
            <a:solidFill>
              <a:srgbClr val="020301"/>
            </a:solidFill>
          </p:spPr>
        </p:sp>
        <p:grpSp>
          <p:nvGrpSpPr>
            <p:cNvPr id="4" name="Group 4"/>
            <p:cNvGrpSpPr/>
            <p:nvPr/>
          </p:nvGrpSpPr>
          <p:grpSpPr>
            <a:xfrm rot="5400000">
              <a:off x="-444537" y="15330497"/>
              <a:ext cx="2302300" cy="1413226"/>
              <a:chOff x="0" y="0"/>
              <a:chExt cx="6350000" cy="54991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50000" cy="549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499100">
                    <a:moveTo>
                      <a:pt x="0" y="5499100"/>
                    </a:moveTo>
                    <a:lnTo>
                      <a:pt x="3175000" y="0"/>
                    </a:lnTo>
                    <a:lnTo>
                      <a:pt x="6350000" y="5499100"/>
                    </a:lnTo>
                    <a:close/>
                  </a:path>
                </a:pathLst>
              </a:custGeom>
              <a:solidFill>
                <a:srgbClr val="FFDB15"/>
              </a:solidFill>
            </p:spPr>
          </p:sp>
        </p:grpSp>
      </p:grpSp>
      <p:sp>
        <p:nvSpPr>
          <p:cNvPr id="6" name="TextBox 6"/>
          <p:cNvSpPr txBox="1"/>
          <p:nvPr/>
        </p:nvSpPr>
        <p:spPr>
          <a:xfrm>
            <a:off x="5063837" y="3725727"/>
            <a:ext cx="11734800" cy="2654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63233" lvl="1" indent="-531616">
              <a:lnSpc>
                <a:spcPts val="6894"/>
              </a:lnSpc>
              <a:buFont typeface="Arial"/>
              <a:buChar char="•"/>
            </a:pPr>
            <a:r>
              <a:rPr lang="en-US" sz="4924" dirty="0">
                <a:solidFill>
                  <a:srgbClr val="5CE1E6"/>
                </a:solidFill>
                <a:latin typeface="Open Sans Light Bold"/>
              </a:rPr>
              <a:t>https://codeforwin.org/c-programming/basic-programming-practice-problems</a:t>
            </a:r>
            <a:endParaRPr lang="en-US" sz="4924" dirty="0">
              <a:solidFill>
                <a:srgbClr val="5CE1E6"/>
              </a:solidFill>
              <a:latin typeface="Open Sans Light Bold"/>
            </a:endParaRPr>
          </a:p>
        </p:txBody>
      </p:sp>
      <p:sp>
        <p:nvSpPr>
          <p:cNvPr id="7" name="TextBox 7"/>
          <p:cNvSpPr txBox="1"/>
          <p:nvPr/>
        </p:nvSpPr>
        <p:spPr>
          <a:xfrm rot="-5399999">
            <a:off x="-2769411" y="4469661"/>
            <a:ext cx="8589995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0"/>
              </a:lnSpc>
            </a:pPr>
            <a:r>
              <a:rPr lang="en-US" sz="6500" spc="65" dirty="0">
                <a:solidFill>
                  <a:srgbClr val="020301"/>
                </a:solidFill>
                <a:latin typeface="Raleway Bold Italics"/>
              </a:rPr>
              <a:t>WHERE TO </a:t>
            </a:r>
            <a:r>
              <a:rPr lang="en-US" sz="6500" spc="65" dirty="0" smtClean="0">
                <a:solidFill>
                  <a:srgbClr val="020301"/>
                </a:solidFill>
                <a:latin typeface="Raleway Bold Italics"/>
              </a:rPr>
              <a:t>Start?</a:t>
            </a:r>
            <a:endParaRPr lang="en-US" sz="6500" spc="65" dirty="0">
              <a:solidFill>
                <a:srgbClr val="020301"/>
              </a:solidFill>
              <a:latin typeface="Raleway Bold Itali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49711" y="-4109851"/>
            <a:ext cx="15338289" cy="15671157"/>
            <a:chOff x="0" y="0"/>
            <a:chExt cx="20451052" cy="20894876"/>
          </a:xfrm>
        </p:grpSpPr>
        <p:sp>
          <p:nvSpPr>
            <p:cNvPr id="3" name="AutoShape 3"/>
            <p:cNvSpPr/>
            <p:nvPr/>
          </p:nvSpPr>
          <p:spPr>
            <a:xfrm>
              <a:off x="242283" y="0"/>
              <a:ext cx="20208769" cy="20894876"/>
            </a:xfrm>
            <a:prstGeom prst="rect">
              <a:avLst/>
            </a:prstGeom>
            <a:solidFill>
              <a:srgbClr val="020301"/>
            </a:solidFill>
          </p:spPr>
        </p:sp>
        <p:grpSp>
          <p:nvGrpSpPr>
            <p:cNvPr id="4" name="Group 4"/>
            <p:cNvGrpSpPr/>
            <p:nvPr/>
          </p:nvGrpSpPr>
          <p:grpSpPr>
            <a:xfrm rot="5400000">
              <a:off x="-444537" y="15330497"/>
              <a:ext cx="2302300" cy="1413226"/>
              <a:chOff x="0" y="0"/>
              <a:chExt cx="6350000" cy="54991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50000" cy="549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499100">
                    <a:moveTo>
                      <a:pt x="0" y="5499100"/>
                    </a:moveTo>
                    <a:lnTo>
                      <a:pt x="3175000" y="0"/>
                    </a:lnTo>
                    <a:lnTo>
                      <a:pt x="6350000" y="5499100"/>
                    </a:lnTo>
                    <a:close/>
                  </a:path>
                </a:pathLst>
              </a:custGeom>
              <a:solidFill>
                <a:srgbClr val="FFDB15"/>
              </a:solidFill>
            </p:spPr>
          </p:sp>
        </p:grpSp>
      </p:grpSp>
      <p:sp>
        <p:nvSpPr>
          <p:cNvPr id="6" name="TextBox 6"/>
          <p:cNvSpPr txBox="1"/>
          <p:nvPr/>
        </p:nvSpPr>
        <p:spPr>
          <a:xfrm>
            <a:off x="4419600" y="2039138"/>
            <a:ext cx="12725400" cy="7963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63233" lvl="1" indent="-531616">
              <a:lnSpc>
                <a:spcPts val="6894"/>
              </a:lnSpc>
              <a:buFont typeface="Arial"/>
              <a:buChar char="•"/>
            </a:pPr>
            <a:r>
              <a:rPr lang="en-US" sz="4924" dirty="0">
                <a:solidFill>
                  <a:srgbClr val="5CE1E6"/>
                </a:solidFill>
                <a:latin typeface="Open Sans Light Bold"/>
                <a:hlinkClick r:id="rId2"/>
              </a:rPr>
              <a:t>https://cses.fi/problemset</a:t>
            </a:r>
            <a:r>
              <a:rPr lang="en-US" sz="4924" dirty="0" smtClean="0">
                <a:solidFill>
                  <a:srgbClr val="5CE1E6"/>
                </a:solidFill>
                <a:latin typeface="Open Sans Light Bold"/>
                <a:hlinkClick r:id="rId2"/>
              </a:rPr>
              <a:t>/</a:t>
            </a:r>
            <a:endParaRPr lang="en-US" sz="4924" dirty="0" smtClean="0">
              <a:solidFill>
                <a:srgbClr val="5CE1E6"/>
              </a:solidFill>
              <a:latin typeface="Open Sans Light Bold"/>
            </a:endParaRPr>
          </a:p>
          <a:p>
            <a:pPr marL="1063233" lvl="1" indent="-531616">
              <a:lnSpc>
                <a:spcPts val="6894"/>
              </a:lnSpc>
              <a:buFont typeface="Arial"/>
              <a:buChar char="•"/>
            </a:pPr>
            <a:r>
              <a:rPr lang="en-US" sz="4924" dirty="0">
                <a:solidFill>
                  <a:srgbClr val="5CE1E6"/>
                </a:solidFill>
                <a:latin typeface="Open Sans Light Bold"/>
                <a:hlinkClick r:id="rId3"/>
              </a:rPr>
              <a:t>https://</a:t>
            </a:r>
            <a:r>
              <a:rPr lang="en-US" sz="4924" dirty="0" smtClean="0">
                <a:solidFill>
                  <a:srgbClr val="5CE1E6"/>
                </a:solidFill>
                <a:latin typeface="Open Sans Light Bold"/>
                <a:hlinkClick r:id="rId3"/>
              </a:rPr>
              <a:t>codeforces.com/problemset?order=BY_SOLVED_DESC</a:t>
            </a:r>
            <a:endParaRPr lang="en-US" sz="4924" dirty="0" smtClean="0">
              <a:solidFill>
                <a:srgbClr val="5CE1E6"/>
              </a:solidFill>
              <a:latin typeface="Open Sans Light Bold"/>
            </a:endParaRPr>
          </a:p>
          <a:p>
            <a:pPr marL="1063233" lvl="1" indent="-531616">
              <a:lnSpc>
                <a:spcPts val="6894"/>
              </a:lnSpc>
              <a:buFont typeface="Arial"/>
              <a:buChar char="•"/>
            </a:pPr>
            <a:r>
              <a:rPr lang="en-US" sz="4924" dirty="0">
                <a:solidFill>
                  <a:srgbClr val="5CE1E6"/>
                </a:solidFill>
                <a:latin typeface="Open Sans Light Bold"/>
                <a:hlinkClick r:id="rId4"/>
              </a:rPr>
              <a:t>https://www.codechef.com</a:t>
            </a:r>
            <a:r>
              <a:rPr lang="en-US" sz="4924" dirty="0" smtClean="0">
                <a:solidFill>
                  <a:srgbClr val="5CE1E6"/>
                </a:solidFill>
                <a:latin typeface="Open Sans Light Bold"/>
                <a:hlinkClick r:id="rId4"/>
              </a:rPr>
              <a:t>/</a:t>
            </a:r>
            <a:endParaRPr lang="en-US" sz="4924" dirty="0" smtClean="0">
              <a:solidFill>
                <a:srgbClr val="5CE1E6"/>
              </a:solidFill>
              <a:latin typeface="Open Sans Light Bold"/>
            </a:endParaRPr>
          </a:p>
          <a:p>
            <a:pPr marL="1063233" lvl="1" indent="-531616">
              <a:lnSpc>
                <a:spcPts val="6894"/>
              </a:lnSpc>
              <a:buFont typeface="Arial"/>
              <a:buChar char="•"/>
            </a:pPr>
            <a:r>
              <a:rPr lang="en-US" sz="4924" dirty="0">
                <a:solidFill>
                  <a:srgbClr val="5CE1E6"/>
                </a:solidFill>
                <a:latin typeface="Open Sans Light Bold"/>
                <a:hlinkClick r:id="rId5"/>
              </a:rPr>
              <a:t>https://atcoder.jp</a:t>
            </a:r>
            <a:r>
              <a:rPr lang="en-US" sz="4924" dirty="0" smtClean="0">
                <a:solidFill>
                  <a:srgbClr val="5CE1E6"/>
                </a:solidFill>
                <a:latin typeface="Open Sans Light Bold"/>
                <a:hlinkClick r:id="rId5"/>
              </a:rPr>
              <a:t>/</a:t>
            </a:r>
            <a:endParaRPr lang="en-US" sz="4924" dirty="0" smtClean="0">
              <a:solidFill>
                <a:srgbClr val="5CE1E6"/>
              </a:solidFill>
              <a:latin typeface="Open Sans Light Bold"/>
            </a:endParaRPr>
          </a:p>
          <a:p>
            <a:pPr marL="1063233" lvl="1" indent="-531616">
              <a:lnSpc>
                <a:spcPts val="6894"/>
              </a:lnSpc>
              <a:buFont typeface="Arial"/>
              <a:buChar char="•"/>
            </a:pPr>
            <a:r>
              <a:rPr lang="en-US" sz="4924" dirty="0">
                <a:solidFill>
                  <a:srgbClr val="5CE1E6"/>
                </a:solidFill>
                <a:latin typeface="Open Sans Light Bold"/>
                <a:hlinkClick r:id="rId6"/>
              </a:rPr>
              <a:t>https://www.spoj.com</a:t>
            </a:r>
            <a:r>
              <a:rPr lang="en-US" sz="4924" dirty="0" smtClean="0">
                <a:solidFill>
                  <a:srgbClr val="5CE1E6"/>
                </a:solidFill>
                <a:latin typeface="Open Sans Light Bold"/>
                <a:hlinkClick r:id="rId6"/>
              </a:rPr>
              <a:t>/</a:t>
            </a:r>
            <a:endParaRPr lang="en-US" sz="4924" dirty="0" smtClean="0">
              <a:solidFill>
                <a:srgbClr val="5CE1E6"/>
              </a:solidFill>
              <a:latin typeface="Open Sans Light Bold"/>
            </a:endParaRPr>
          </a:p>
          <a:p>
            <a:pPr marL="1063233" lvl="1" indent="-531616">
              <a:lnSpc>
                <a:spcPts val="6894"/>
              </a:lnSpc>
              <a:buFont typeface="Arial"/>
              <a:buChar char="•"/>
            </a:pPr>
            <a:r>
              <a:rPr lang="en-US" sz="4924" dirty="0">
                <a:solidFill>
                  <a:srgbClr val="5CE1E6"/>
                </a:solidFill>
                <a:latin typeface="Open Sans Light Bold"/>
                <a:hlinkClick r:id="rId7"/>
              </a:rPr>
              <a:t>https://</a:t>
            </a:r>
            <a:r>
              <a:rPr lang="en-US" sz="4924" dirty="0" smtClean="0">
                <a:solidFill>
                  <a:srgbClr val="5CE1E6"/>
                </a:solidFill>
                <a:latin typeface="Open Sans Light Bold"/>
                <a:hlinkClick r:id="rId7"/>
              </a:rPr>
              <a:t>vjudge.net/article/2315</a:t>
            </a:r>
            <a:endParaRPr lang="en-US" sz="4924" dirty="0" smtClean="0">
              <a:solidFill>
                <a:srgbClr val="5CE1E6"/>
              </a:solidFill>
              <a:latin typeface="Open Sans Light Bold"/>
            </a:endParaRPr>
          </a:p>
          <a:p>
            <a:pPr marL="531617" lvl="1">
              <a:lnSpc>
                <a:spcPts val="6894"/>
              </a:lnSpc>
            </a:pPr>
            <a:endParaRPr lang="en-US" sz="4924" dirty="0" smtClean="0">
              <a:solidFill>
                <a:srgbClr val="5CE1E6"/>
              </a:solidFill>
              <a:latin typeface="Open Sans Light Bold"/>
            </a:endParaRPr>
          </a:p>
          <a:p>
            <a:pPr marL="1063233" lvl="1" indent="-531616">
              <a:lnSpc>
                <a:spcPts val="6894"/>
              </a:lnSpc>
              <a:buFont typeface="Arial"/>
              <a:buChar char="•"/>
            </a:pPr>
            <a:endParaRPr lang="en-US" sz="4924" dirty="0">
              <a:solidFill>
                <a:srgbClr val="5CE1E6"/>
              </a:solidFill>
              <a:latin typeface="Open Sans Light Bold"/>
            </a:endParaRPr>
          </a:p>
        </p:txBody>
      </p:sp>
      <p:sp>
        <p:nvSpPr>
          <p:cNvPr id="7" name="TextBox 7"/>
          <p:cNvSpPr txBox="1"/>
          <p:nvPr/>
        </p:nvSpPr>
        <p:spPr>
          <a:xfrm rot="-5399999">
            <a:off x="-2769411" y="4476023"/>
            <a:ext cx="8589995" cy="974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0"/>
              </a:lnSpc>
            </a:pPr>
            <a:r>
              <a:rPr lang="en-US" sz="6500" spc="65">
                <a:solidFill>
                  <a:srgbClr val="020301"/>
                </a:solidFill>
                <a:latin typeface="Raleway Bold Italics"/>
              </a:rPr>
              <a:t>WHERE TO DO CP?</a:t>
            </a:r>
          </a:p>
        </p:txBody>
      </p:sp>
    </p:spTree>
    <p:extLst>
      <p:ext uri="{BB962C8B-B14F-4D97-AF65-F5344CB8AC3E}">
        <p14:creationId xmlns:p14="http://schemas.microsoft.com/office/powerpoint/2010/main" val="1794011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49711" y="-4109851"/>
            <a:ext cx="15338289" cy="15671157"/>
            <a:chOff x="0" y="0"/>
            <a:chExt cx="20451052" cy="20894876"/>
          </a:xfrm>
        </p:grpSpPr>
        <p:sp>
          <p:nvSpPr>
            <p:cNvPr id="3" name="AutoShape 3"/>
            <p:cNvSpPr/>
            <p:nvPr/>
          </p:nvSpPr>
          <p:spPr>
            <a:xfrm>
              <a:off x="242283" y="0"/>
              <a:ext cx="20208769" cy="20894876"/>
            </a:xfrm>
            <a:prstGeom prst="rect">
              <a:avLst/>
            </a:prstGeom>
            <a:solidFill>
              <a:srgbClr val="020301"/>
            </a:solidFill>
          </p:spPr>
        </p:sp>
        <p:grpSp>
          <p:nvGrpSpPr>
            <p:cNvPr id="4" name="Group 4"/>
            <p:cNvGrpSpPr/>
            <p:nvPr/>
          </p:nvGrpSpPr>
          <p:grpSpPr>
            <a:xfrm rot="5400000">
              <a:off x="-444537" y="15330497"/>
              <a:ext cx="2302300" cy="1413226"/>
              <a:chOff x="0" y="0"/>
              <a:chExt cx="6350000" cy="54991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50000" cy="549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499100">
                    <a:moveTo>
                      <a:pt x="0" y="5499100"/>
                    </a:moveTo>
                    <a:lnTo>
                      <a:pt x="3175000" y="0"/>
                    </a:lnTo>
                    <a:lnTo>
                      <a:pt x="6350000" y="5499100"/>
                    </a:lnTo>
                    <a:close/>
                  </a:path>
                </a:pathLst>
              </a:custGeom>
              <a:solidFill>
                <a:srgbClr val="FFDB15"/>
              </a:solidFill>
            </p:spPr>
          </p:sp>
        </p:grpSp>
      </p:grpSp>
      <p:sp>
        <p:nvSpPr>
          <p:cNvPr id="6" name="TextBox 6"/>
          <p:cNvSpPr txBox="1"/>
          <p:nvPr/>
        </p:nvSpPr>
        <p:spPr>
          <a:xfrm>
            <a:off x="4648200" y="3725726"/>
            <a:ext cx="12725400" cy="1769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1617" lvl="1">
              <a:lnSpc>
                <a:spcPts val="6894"/>
              </a:lnSpc>
            </a:pPr>
            <a:r>
              <a:rPr lang="en-US" sz="4924" dirty="0">
                <a:solidFill>
                  <a:srgbClr val="5CE1E6"/>
                </a:solidFill>
                <a:latin typeface="Open Sans Light Bold"/>
              </a:rPr>
              <a:t>https://vjudge.net/contest/740606</a:t>
            </a:r>
            <a:endParaRPr lang="en-US" sz="4924" dirty="0" smtClean="0">
              <a:solidFill>
                <a:srgbClr val="5CE1E6"/>
              </a:solidFill>
              <a:latin typeface="Open Sans Light Bold"/>
            </a:endParaRPr>
          </a:p>
          <a:p>
            <a:pPr marL="1063233" lvl="1" indent="-531616">
              <a:lnSpc>
                <a:spcPts val="6894"/>
              </a:lnSpc>
              <a:buFont typeface="Arial"/>
              <a:buChar char="•"/>
            </a:pPr>
            <a:endParaRPr lang="en-US" sz="4924" dirty="0">
              <a:solidFill>
                <a:srgbClr val="5CE1E6"/>
              </a:solidFill>
              <a:latin typeface="Open Sans Light Bold"/>
            </a:endParaRPr>
          </a:p>
        </p:txBody>
      </p:sp>
      <p:sp>
        <p:nvSpPr>
          <p:cNvPr id="7" name="TextBox 7"/>
          <p:cNvSpPr txBox="1"/>
          <p:nvPr/>
        </p:nvSpPr>
        <p:spPr>
          <a:xfrm rot="-5399999">
            <a:off x="-2769411" y="4476023"/>
            <a:ext cx="8589995" cy="974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0"/>
              </a:lnSpc>
            </a:pPr>
            <a:r>
              <a:rPr lang="en-US" sz="6500" spc="65">
                <a:solidFill>
                  <a:srgbClr val="020301"/>
                </a:solidFill>
                <a:latin typeface="Raleway Bold Italics"/>
              </a:rPr>
              <a:t>WHERE TO DO CP?</a:t>
            </a:r>
          </a:p>
        </p:txBody>
      </p:sp>
    </p:spTree>
    <p:extLst>
      <p:ext uri="{BB962C8B-B14F-4D97-AF65-F5344CB8AC3E}">
        <p14:creationId xmlns:p14="http://schemas.microsoft.com/office/powerpoint/2010/main" val="803659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49711" y="-4109851"/>
            <a:ext cx="15338289" cy="15671157"/>
            <a:chOff x="0" y="0"/>
            <a:chExt cx="20451052" cy="20894876"/>
          </a:xfrm>
        </p:grpSpPr>
        <p:sp>
          <p:nvSpPr>
            <p:cNvPr id="3" name="AutoShape 3"/>
            <p:cNvSpPr/>
            <p:nvPr/>
          </p:nvSpPr>
          <p:spPr>
            <a:xfrm>
              <a:off x="242283" y="0"/>
              <a:ext cx="20208769" cy="20894876"/>
            </a:xfrm>
            <a:prstGeom prst="rect">
              <a:avLst/>
            </a:prstGeom>
            <a:solidFill>
              <a:srgbClr val="020301"/>
            </a:solidFill>
          </p:spPr>
        </p:sp>
        <p:grpSp>
          <p:nvGrpSpPr>
            <p:cNvPr id="4" name="Group 4"/>
            <p:cNvGrpSpPr/>
            <p:nvPr/>
          </p:nvGrpSpPr>
          <p:grpSpPr>
            <a:xfrm rot="5400000">
              <a:off x="-444537" y="15330497"/>
              <a:ext cx="2302300" cy="1413226"/>
              <a:chOff x="0" y="0"/>
              <a:chExt cx="6350000" cy="54991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50000" cy="549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499100">
                    <a:moveTo>
                      <a:pt x="0" y="5499100"/>
                    </a:moveTo>
                    <a:lnTo>
                      <a:pt x="3175000" y="0"/>
                    </a:lnTo>
                    <a:lnTo>
                      <a:pt x="6350000" y="5499100"/>
                    </a:lnTo>
                    <a:close/>
                  </a:path>
                </a:pathLst>
              </a:custGeom>
              <a:solidFill>
                <a:srgbClr val="FFDB15"/>
              </a:solidFill>
            </p:spPr>
          </p:sp>
        </p:grpSp>
      </p:grpSp>
      <p:sp>
        <p:nvSpPr>
          <p:cNvPr id="6" name="TextBox 6"/>
          <p:cNvSpPr txBox="1"/>
          <p:nvPr/>
        </p:nvSpPr>
        <p:spPr>
          <a:xfrm>
            <a:off x="4648200" y="96669"/>
            <a:ext cx="12725400" cy="9733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1617" lvl="1">
              <a:lnSpc>
                <a:spcPts val="6894"/>
              </a:lnSpc>
            </a:pPr>
            <a:r>
              <a:rPr lang="en-US" sz="4924" dirty="0" smtClean="0">
                <a:solidFill>
                  <a:srgbClr val="5CE1E6"/>
                </a:solidFill>
                <a:latin typeface="Open Sans Light Bold"/>
              </a:rPr>
              <a:t>Learn STL: </a:t>
            </a:r>
          </a:p>
          <a:p>
            <a:pPr marL="531617" lvl="1">
              <a:lnSpc>
                <a:spcPts val="6894"/>
              </a:lnSpc>
            </a:pPr>
            <a:r>
              <a:rPr lang="en-US" sz="4924" dirty="0" smtClean="0">
                <a:solidFill>
                  <a:srgbClr val="5CE1E6"/>
                </a:solidFill>
                <a:latin typeface="Open Sans Light Bold"/>
              </a:rPr>
              <a:t>(</a:t>
            </a:r>
            <a:r>
              <a:rPr lang="en-US" sz="4924" dirty="0" err="1" smtClean="0">
                <a:solidFill>
                  <a:srgbClr val="5CE1E6"/>
                </a:solidFill>
                <a:latin typeface="Open Sans Light Bold"/>
              </a:rPr>
              <a:t>Apna</a:t>
            </a:r>
            <a:r>
              <a:rPr lang="en-US" sz="4924" dirty="0" smtClean="0">
                <a:solidFill>
                  <a:srgbClr val="5CE1E6"/>
                </a:solidFill>
                <a:latin typeface="Open Sans Light Bold"/>
              </a:rPr>
              <a:t> College)</a:t>
            </a:r>
          </a:p>
          <a:p>
            <a:pPr marL="531617" lvl="1">
              <a:lnSpc>
                <a:spcPts val="6894"/>
              </a:lnSpc>
            </a:pPr>
            <a:r>
              <a:rPr lang="en-US" sz="4924" dirty="0">
                <a:solidFill>
                  <a:srgbClr val="5CE1E6"/>
                </a:solidFill>
                <a:latin typeface="Open Sans Light Bold"/>
                <a:hlinkClick r:id="rId2"/>
              </a:rPr>
              <a:t>https://</a:t>
            </a:r>
            <a:r>
              <a:rPr lang="en-US" sz="4924" dirty="0" smtClean="0">
                <a:solidFill>
                  <a:srgbClr val="5CE1E6"/>
                </a:solidFill>
                <a:latin typeface="Open Sans Light Bold"/>
                <a:hlinkClick r:id="rId2"/>
              </a:rPr>
              <a:t>youtu.be/l0RrDYr2pGE</a:t>
            </a:r>
            <a:endParaRPr lang="en-US" sz="4924" dirty="0" smtClean="0">
              <a:solidFill>
                <a:srgbClr val="5CE1E6"/>
              </a:solidFill>
              <a:latin typeface="Open Sans Light Bold"/>
            </a:endParaRPr>
          </a:p>
          <a:p>
            <a:pPr marL="531617" lvl="1">
              <a:lnSpc>
                <a:spcPts val="6894"/>
              </a:lnSpc>
            </a:pPr>
            <a:r>
              <a:rPr lang="en-US" sz="4924" dirty="0" smtClean="0">
                <a:solidFill>
                  <a:srgbClr val="5CE1E6"/>
                </a:solidFill>
                <a:latin typeface="Open Sans Light Bold"/>
              </a:rPr>
              <a:t>(</a:t>
            </a:r>
            <a:r>
              <a:rPr lang="en-US" sz="4924" dirty="0" err="1" smtClean="0">
                <a:solidFill>
                  <a:srgbClr val="5CE1E6"/>
                </a:solidFill>
                <a:latin typeface="Open Sans Light Bold"/>
              </a:rPr>
              <a:t>GeekforGeeks</a:t>
            </a:r>
            <a:r>
              <a:rPr lang="en-US" sz="4924" dirty="0">
                <a:solidFill>
                  <a:srgbClr val="5CE1E6"/>
                </a:solidFill>
                <a:latin typeface="Open Sans Light Bold"/>
              </a:rPr>
              <a:t>): </a:t>
            </a:r>
            <a:r>
              <a:rPr lang="en-US" sz="4924" dirty="0">
                <a:solidFill>
                  <a:srgbClr val="5CE1E6"/>
                </a:solidFill>
                <a:latin typeface="Open Sans Light Bold"/>
                <a:hlinkClick r:id="rId3"/>
              </a:rPr>
              <a:t>https://www.geeksforgeeks.org/cpp/the-c-standard-template-library-stl</a:t>
            </a:r>
            <a:r>
              <a:rPr lang="en-US" sz="4924" dirty="0" smtClean="0">
                <a:solidFill>
                  <a:srgbClr val="5CE1E6"/>
                </a:solidFill>
                <a:latin typeface="Open Sans Light Bold"/>
                <a:hlinkClick r:id="rId3"/>
              </a:rPr>
              <a:t>/</a:t>
            </a:r>
            <a:endParaRPr lang="en-US" sz="4924" dirty="0" smtClean="0">
              <a:solidFill>
                <a:srgbClr val="5CE1E6"/>
              </a:solidFill>
              <a:latin typeface="Open Sans Light Bold"/>
            </a:endParaRPr>
          </a:p>
          <a:p>
            <a:pPr marL="531617" lvl="1">
              <a:lnSpc>
                <a:spcPts val="6894"/>
              </a:lnSpc>
            </a:pPr>
            <a:r>
              <a:rPr lang="en-US" sz="4924" dirty="0" smtClean="0">
                <a:solidFill>
                  <a:srgbClr val="5CE1E6"/>
                </a:solidFill>
                <a:latin typeface="Open Sans Light Bold"/>
              </a:rPr>
              <a:t>Learn DSA:</a:t>
            </a:r>
          </a:p>
          <a:p>
            <a:pPr marL="531617" lvl="1">
              <a:lnSpc>
                <a:spcPts val="6894"/>
              </a:lnSpc>
            </a:pPr>
            <a:r>
              <a:rPr lang="en-US" sz="4924" dirty="0">
                <a:solidFill>
                  <a:srgbClr val="5CE1E6"/>
                </a:solidFill>
                <a:latin typeface="Open Sans Light Bold"/>
                <a:hlinkClick r:id="rId4"/>
              </a:rPr>
              <a:t>https://youkn0wwho.academy/topic-list</a:t>
            </a:r>
            <a:r>
              <a:rPr lang="en-US" sz="4924" dirty="0" smtClean="0">
                <a:solidFill>
                  <a:srgbClr val="5CE1E6"/>
                </a:solidFill>
                <a:latin typeface="Open Sans Light Bold"/>
                <a:hlinkClick r:id="rId4"/>
              </a:rPr>
              <a:t>/</a:t>
            </a:r>
            <a:endParaRPr lang="en-US" sz="4924" dirty="0" smtClean="0">
              <a:solidFill>
                <a:srgbClr val="5CE1E6"/>
              </a:solidFill>
              <a:latin typeface="Open Sans Light Bold"/>
            </a:endParaRPr>
          </a:p>
          <a:p>
            <a:pPr marL="531617" lvl="1">
              <a:lnSpc>
                <a:spcPts val="6894"/>
              </a:lnSpc>
            </a:pPr>
            <a:r>
              <a:rPr lang="en-US" sz="4924" dirty="0">
                <a:solidFill>
                  <a:srgbClr val="5CE1E6"/>
                </a:solidFill>
                <a:latin typeface="Open Sans Light Bold"/>
              </a:rPr>
              <a:t>https://discuss.codechef.com/t/data-structures-and-algorithms/6599</a:t>
            </a:r>
            <a:endParaRPr lang="en-US" sz="4924" dirty="0">
              <a:solidFill>
                <a:srgbClr val="5CE1E6"/>
              </a:solidFill>
              <a:latin typeface="Open Sans Light Bold"/>
            </a:endParaRPr>
          </a:p>
        </p:txBody>
      </p:sp>
      <p:sp>
        <p:nvSpPr>
          <p:cNvPr id="7" name="TextBox 7"/>
          <p:cNvSpPr txBox="1"/>
          <p:nvPr/>
        </p:nvSpPr>
        <p:spPr>
          <a:xfrm rot="-5399999">
            <a:off x="-2769411" y="3975936"/>
            <a:ext cx="8589995" cy="19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70"/>
              </a:lnSpc>
            </a:pPr>
            <a:r>
              <a:rPr lang="en-US" sz="6500" spc="65" dirty="0">
                <a:solidFill>
                  <a:srgbClr val="020301"/>
                </a:solidFill>
                <a:latin typeface="Raleway Bold Italics"/>
              </a:rPr>
              <a:t>WHERE TO </a:t>
            </a:r>
            <a:r>
              <a:rPr lang="en-US" sz="6500" spc="65" dirty="0" smtClean="0">
                <a:solidFill>
                  <a:srgbClr val="020301"/>
                </a:solidFill>
                <a:latin typeface="Raleway Bold Italics"/>
              </a:rPr>
              <a:t>BECOME PRO</a:t>
            </a:r>
            <a:r>
              <a:rPr lang="en-US" sz="6500" spc="65" dirty="0" smtClean="0">
                <a:solidFill>
                  <a:srgbClr val="020301"/>
                </a:solidFill>
                <a:latin typeface="Raleway Bold Italics"/>
              </a:rPr>
              <a:t>?</a:t>
            </a:r>
            <a:endParaRPr lang="en-US" sz="6500" spc="65" dirty="0">
              <a:solidFill>
                <a:srgbClr val="020301"/>
              </a:solidFill>
              <a:latin typeface="Raleway Bold Italics"/>
            </a:endParaRPr>
          </a:p>
        </p:txBody>
      </p:sp>
    </p:spTree>
    <p:extLst>
      <p:ext uri="{BB962C8B-B14F-4D97-AF65-F5344CB8AC3E}">
        <p14:creationId xmlns:p14="http://schemas.microsoft.com/office/powerpoint/2010/main" val="18144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49711" y="-4109851"/>
            <a:ext cx="15338289" cy="15671157"/>
            <a:chOff x="0" y="0"/>
            <a:chExt cx="20451052" cy="20894876"/>
          </a:xfrm>
        </p:grpSpPr>
        <p:sp>
          <p:nvSpPr>
            <p:cNvPr id="3" name="AutoShape 3"/>
            <p:cNvSpPr/>
            <p:nvPr/>
          </p:nvSpPr>
          <p:spPr>
            <a:xfrm>
              <a:off x="242283" y="0"/>
              <a:ext cx="20208769" cy="20894876"/>
            </a:xfrm>
            <a:prstGeom prst="rect">
              <a:avLst/>
            </a:prstGeom>
            <a:solidFill>
              <a:srgbClr val="020301"/>
            </a:solidFill>
          </p:spPr>
        </p:sp>
        <p:grpSp>
          <p:nvGrpSpPr>
            <p:cNvPr id="4" name="Group 4"/>
            <p:cNvGrpSpPr/>
            <p:nvPr/>
          </p:nvGrpSpPr>
          <p:grpSpPr>
            <a:xfrm rot="5400000">
              <a:off x="-444537" y="15330497"/>
              <a:ext cx="2302300" cy="1413226"/>
              <a:chOff x="0" y="0"/>
              <a:chExt cx="6350000" cy="54991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50000" cy="549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499100">
                    <a:moveTo>
                      <a:pt x="0" y="5499100"/>
                    </a:moveTo>
                    <a:lnTo>
                      <a:pt x="3175000" y="0"/>
                    </a:lnTo>
                    <a:lnTo>
                      <a:pt x="6350000" y="5499100"/>
                    </a:lnTo>
                    <a:close/>
                  </a:path>
                </a:pathLst>
              </a:custGeom>
              <a:solidFill>
                <a:srgbClr val="FFDB15"/>
              </a:solidFill>
            </p:spPr>
          </p:sp>
        </p:grpSp>
      </p:grpSp>
      <p:sp>
        <p:nvSpPr>
          <p:cNvPr id="7" name="TextBox 7"/>
          <p:cNvSpPr txBox="1"/>
          <p:nvPr/>
        </p:nvSpPr>
        <p:spPr>
          <a:xfrm rot="-5399999">
            <a:off x="-2769411" y="4469661"/>
            <a:ext cx="8589995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70"/>
              </a:lnSpc>
            </a:pPr>
            <a:r>
              <a:rPr lang="en-US" sz="6500" spc="65" dirty="0" smtClean="0">
                <a:solidFill>
                  <a:srgbClr val="020301"/>
                </a:solidFill>
                <a:latin typeface="Raleway Bold Italics"/>
              </a:rPr>
              <a:t>What Next?</a:t>
            </a:r>
            <a:endParaRPr lang="en-US" sz="6500" spc="65" dirty="0">
              <a:solidFill>
                <a:srgbClr val="020301"/>
              </a:solidFill>
              <a:latin typeface="Raleway Bold Itali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-110841"/>
            <a:ext cx="10058400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1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3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323337"/>
            <a:ext cx="16148758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80"/>
              </a:lnSpc>
            </a:pPr>
            <a:r>
              <a:rPr lang="en-US" sz="6000" spc="179">
                <a:solidFill>
                  <a:srgbClr val="FFFFFF"/>
                </a:solidFill>
                <a:latin typeface="Raleway Bold Italics"/>
              </a:rPr>
              <a:t>Benifits of CP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3724275"/>
            <a:ext cx="16230600" cy="5467350"/>
            <a:chOff x="0" y="0"/>
            <a:chExt cx="21640800" cy="7289800"/>
          </a:xfrm>
        </p:grpSpPr>
        <p:sp>
          <p:nvSpPr>
            <p:cNvPr id="4" name="AutoShape 4"/>
            <p:cNvSpPr/>
            <p:nvPr/>
          </p:nvSpPr>
          <p:spPr>
            <a:xfrm>
              <a:off x="0" y="50800"/>
              <a:ext cx="5080000" cy="7239000"/>
            </a:xfrm>
            <a:prstGeom prst="rect">
              <a:avLst/>
            </a:prstGeom>
            <a:solidFill>
              <a:srgbClr val="FFDB15"/>
            </a:solidFill>
          </p:spPr>
        </p:sp>
        <p:sp>
          <p:nvSpPr>
            <p:cNvPr id="5" name="AutoShape 5"/>
            <p:cNvSpPr/>
            <p:nvPr/>
          </p:nvSpPr>
          <p:spPr>
            <a:xfrm>
              <a:off x="5520267" y="50800"/>
              <a:ext cx="5080000" cy="7239000"/>
            </a:xfrm>
            <a:prstGeom prst="rect">
              <a:avLst/>
            </a:prstGeom>
            <a:solidFill>
              <a:srgbClr val="FFDB15"/>
            </a:solidFill>
          </p:spPr>
        </p:sp>
        <p:sp>
          <p:nvSpPr>
            <p:cNvPr id="6" name="AutoShape 6"/>
            <p:cNvSpPr/>
            <p:nvPr/>
          </p:nvSpPr>
          <p:spPr>
            <a:xfrm>
              <a:off x="11040533" y="50800"/>
              <a:ext cx="5080000" cy="7239000"/>
            </a:xfrm>
            <a:prstGeom prst="rect">
              <a:avLst/>
            </a:prstGeom>
            <a:solidFill>
              <a:srgbClr val="FFDB15"/>
            </a:solidFill>
          </p:spPr>
        </p:sp>
        <p:sp>
          <p:nvSpPr>
            <p:cNvPr id="7" name="AutoShape 7"/>
            <p:cNvSpPr/>
            <p:nvPr/>
          </p:nvSpPr>
          <p:spPr>
            <a:xfrm>
              <a:off x="16560800" y="50800"/>
              <a:ext cx="5080000" cy="7239000"/>
            </a:xfrm>
            <a:prstGeom prst="rect">
              <a:avLst/>
            </a:prstGeom>
            <a:solidFill>
              <a:srgbClr val="FFDB15"/>
            </a:solidFill>
          </p:spPr>
        </p:sp>
        <p:grpSp>
          <p:nvGrpSpPr>
            <p:cNvPr id="8" name="Group 8"/>
            <p:cNvGrpSpPr/>
            <p:nvPr/>
          </p:nvGrpSpPr>
          <p:grpSpPr>
            <a:xfrm rot="-10800000">
              <a:off x="2123372" y="0"/>
              <a:ext cx="833256" cy="511479"/>
              <a:chOff x="0" y="0"/>
              <a:chExt cx="6350000" cy="54991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50000" cy="549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499100">
                    <a:moveTo>
                      <a:pt x="0" y="5499100"/>
                    </a:moveTo>
                    <a:lnTo>
                      <a:pt x="3175000" y="0"/>
                    </a:lnTo>
                    <a:lnTo>
                      <a:pt x="6350000" y="5499100"/>
                    </a:lnTo>
                    <a:close/>
                  </a:path>
                </a:pathLst>
              </a:custGeom>
              <a:solidFill>
                <a:srgbClr val="020301"/>
              </a:solidFill>
            </p:spPr>
          </p:sp>
        </p:grpSp>
        <p:grpSp>
          <p:nvGrpSpPr>
            <p:cNvPr id="10" name="Group 10"/>
            <p:cNvGrpSpPr/>
            <p:nvPr/>
          </p:nvGrpSpPr>
          <p:grpSpPr>
            <a:xfrm rot="-10800000">
              <a:off x="7643639" y="0"/>
              <a:ext cx="833256" cy="511479"/>
              <a:chOff x="0" y="0"/>
              <a:chExt cx="6350000" cy="54991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0000" cy="549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499100">
                    <a:moveTo>
                      <a:pt x="0" y="5499100"/>
                    </a:moveTo>
                    <a:lnTo>
                      <a:pt x="3175000" y="0"/>
                    </a:lnTo>
                    <a:lnTo>
                      <a:pt x="6350000" y="5499100"/>
                    </a:lnTo>
                    <a:close/>
                  </a:path>
                </a:pathLst>
              </a:custGeom>
              <a:solidFill>
                <a:srgbClr val="020301"/>
              </a:solidFill>
            </p:spPr>
          </p:sp>
        </p:grpSp>
        <p:grpSp>
          <p:nvGrpSpPr>
            <p:cNvPr id="12" name="Group 12"/>
            <p:cNvGrpSpPr/>
            <p:nvPr/>
          </p:nvGrpSpPr>
          <p:grpSpPr>
            <a:xfrm rot="-10800000">
              <a:off x="13163905" y="0"/>
              <a:ext cx="833256" cy="511479"/>
              <a:chOff x="0" y="0"/>
              <a:chExt cx="6350000" cy="54991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350000" cy="549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499100">
                    <a:moveTo>
                      <a:pt x="0" y="5499100"/>
                    </a:moveTo>
                    <a:lnTo>
                      <a:pt x="3175000" y="0"/>
                    </a:lnTo>
                    <a:lnTo>
                      <a:pt x="6350000" y="5499100"/>
                    </a:lnTo>
                    <a:close/>
                  </a:path>
                </a:pathLst>
              </a:custGeom>
              <a:solidFill>
                <a:srgbClr val="020301"/>
              </a:solidFill>
            </p:spPr>
          </p:sp>
        </p:grpSp>
        <p:grpSp>
          <p:nvGrpSpPr>
            <p:cNvPr id="14" name="Group 14"/>
            <p:cNvGrpSpPr/>
            <p:nvPr/>
          </p:nvGrpSpPr>
          <p:grpSpPr>
            <a:xfrm rot="-10800000">
              <a:off x="18684172" y="0"/>
              <a:ext cx="833256" cy="511479"/>
              <a:chOff x="0" y="0"/>
              <a:chExt cx="6350000" cy="54991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350000" cy="549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499100">
                    <a:moveTo>
                      <a:pt x="0" y="5499100"/>
                    </a:moveTo>
                    <a:lnTo>
                      <a:pt x="3175000" y="0"/>
                    </a:lnTo>
                    <a:lnTo>
                      <a:pt x="6350000" y="5499100"/>
                    </a:lnTo>
                    <a:close/>
                  </a:path>
                </a:pathLst>
              </a:custGeom>
              <a:solidFill>
                <a:srgbClr val="020301"/>
              </a:solidFill>
            </p:spPr>
          </p:sp>
        </p:grpSp>
      </p:grpSp>
      <p:grpSp>
        <p:nvGrpSpPr>
          <p:cNvPr id="16" name="Group 16"/>
          <p:cNvGrpSpPr/>
          <p:nvPr/>
        </p:nvGrpSpPr>
        <p:grpSpPr>
          <a:xfrm>
            <a:off x="1488721" y="5395613"/>
            <a:ext cx="2889958" cy="2455845"/>
            <a:chOff x="0" y="0"/>
            <a:chExt cx="3853277" cy="327446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2670575"/>
              <a:ext cx="3853277" cy="603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00"/>
                </a:lnSpc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3853277" cy="2311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sz="3300" spc="165">
                  <a:solidFill>
                    <a:srgbClr val="020301"/>
                  </a:solidFill>
                  <a:latin typeface="Raleway Italics"/>
                </a:rPr>
                <a:t>Help to Crack Coding interviews</a:t>
              </a:r>
              <a:r>
                <a:rPr lang="en-US" sz="1200" spc="60">
                  <a:solidFill>
                    <a:srgbClr val="020301"/>
                  </a:solidFill>
                  <a:latin typeface="Arimo Italics"/>
                </a:rPr>
                <a:t> 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607841" y="5143500"/>
            <a:ext cx="2889958" cy="3042585"/>
            <a:chOff x="0" y="0"/>
            <a:chExt cx="3853277" cy="4056780"/>
          </a:xfrm>
        </p:grpSpPr>
        <p:sp>
          <p:nvSpPr>
            <p:cNvPr id="20" name="TextBox 20"/>
            <p:cNvSpPr txBox="1"/>
            <p:nvPr/>
          </p:nvSpPr>
          <p:spPr>
            <a:xfrm>
              <a:off x="0" y="3452895"/>
              <a:ext cx="3853277" cy="603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00"/>
                </a:lnSpc>
              </a:pPr>
              <a:r>
                <a:rPr lang="en-US" sz="2600" spc="26">
                  <a:solidFill>
                    <a:srgbClr val="020301"/>
                  </a:solidFill>
                  <a:latin typeface="Raleway"/>
                </a:rPr>
                <a:t> 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3853277" cy="30937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sz="3300" spc="165">
                  <a:solidFill>
                    <a:srgbClr val="020301"/>
                  </a:solidFill>
                  <a:latin typeface="Raleway Italics"/>
                </a:rPr>
                <a:t>Get Problem Solving &amp; logic building Skill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48041" y="5395613"/>
            <a:ext cx="2889958" cy="2455845"/>
            <a:chOff x="0" y="0"/>
            <a:chExt cx="3853277" cy="3274460"/>
          </a:xfrm>
        </p:grpSpPr>
        <p:sp>
          <p:nvSpPr>
            <p:cNvPr id="23" name="TextBox 23"/>
            <p:cNvSpPr txBox="1"/>
            <p:nvPr/>
          </p:nvSpPr>
          <p:spPr>
            <a:xfrm>
              <a:off x="0" y="2670575"/>
              <a:ext cx="3853277" cy="603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00"/>
                </a:lnSpc>
              </a:pPr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3853277" cy="2311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sz="3300" spc="165">
                  <a:solidFill>
                    <a:srgbClr val="020301"/>
                  </a:solidFill>
                  <a:latin typeface="Raleway Italics"/>
                </a:rPr>
                <a:t>Improve Your Resume Profile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867161" y="4850130"/>
            <a:ext cx="2889958" cy="3629325"/>
            <a:chOff x="0" y="0"/>
            <a:chExt cx="3853277" cy="4839100"/>
          </a:xfrm>
        </p:grpSpPr>
        <p:sp>
          <p:nvSpPr>
            <p:cNvPr id="26" name="TextBox 26"/>
            <p:cNvSpPr txBox="1"/>
            <p:nvPr/>
          </p:nvSpPr>
          <p:spPr>
            <a:xfrm>
              <a:off x="0" y="4235215"/>
              <a:ext cx="3853277" cy="603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00"/>
                </a:lnSpc>
              </a:pPr>
              <a:endParaRPr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76200"/>
              <a:ext cx="3853277" cy="38760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sz="3300" spc="165">
                  <a:solidFill>
                    <a:srgbClr val="020301"/>
                  </a:solidFill>
                  <a:latin typeface="Raleway Italics"/>
                </a:rPr>
                <a:t>It’s a way to publicly demonstrate your skills</a:t>
              </a:r>
            </a:p>
            <a:p>
              <a:pPr algn="ctr">
                <a:lnSpc>
                  <a:spcPts val="4620"/>
                </a:lnSpc>
              </a:pPr>
              <a:endParaRPr lang="en-US" sz="3300" spc="165">
                <a:solidFill>
                  <a:srgbClr val="020301"/>
                </a:solidFill>
                <a:latin typeface="Raleway Itali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7786" b="7786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1028700" y="1028700"/>
            <a:ext cx="2136173" cy="8229600"/>
          </a:xfrm>
          <a:prstGeom prst="rect">
            <a:avLst/>
          </a:prstGeom>
          <a:solidFill>
            <a:srgbClr val="FFDB15"/>
          </a:solidFill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525206" y="1516587"/>
            <a:ext cx="1143162" cy="903098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 rot="-5400000">
            <a:off x="-724554" y="5573134"/>
            <a:ext cx="5595058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80"/>
              </a:lnSpc>
            </a:pPr>
            <a:r>
              <a:rPr lang="en-US" sz="3600" spc="288">
                <a:solidFill>
                  <a:srgbClr val="020301"/>
                </a:solidFill>
                <a:latin typeface="Raleway"/>
              </a:rPr>
              <a:t>WORDS OF WISDOM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008982" y="3197308"/>
            <a:ext cx="11489716" cy="3892384"/>
            <a:chOff x="0" y="0"/>
            <a:chExt cx="15319622" cy="5189845"/>
          </a:xfrm>
        </p:grpSpPr>
        <p:sp>
          <p:nvSpPr>
            <p:cNvPr id="7" name="TextBox 7"/>
            <p:cNvSpPr txBox="1"/>
            <p:nvPr/>
          </p:nvSpPr>
          <p:spPr>
            <a:xfrm>
              <a:off x="0" y="-47625"/>
              <a:ext cx="15319622" cy="3867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680"/>
                </a:lnSpc>
              </a:pPr>
              <a:r>
                <a:rPr lang="en-US" sz="6000" spc="179">
                  <a:solidFill>
                    <a:srgbClr val="FFFFFF"/>
                  </a:solidFill>
                  <a:latin typeface="Raleway Bold Italics"/>
                </a:rPr>
                <a:t>TO Be Master In CP</a:t>
              </a:r>
            </a:p>
            <a:p>
              <a:pPr>
                <a:lnSpc>
                  <a:spcPts val="7680"/>
                </a:lnSpc>
              </a:pPr>
              <a:endParaRPr lang="en-US" sz="6000" spc="179">
                <a:solidFill>
                  <a:srgbClr val="FFFFFF"/>
                </a:solidFill>
                <a:latin typeface="Raleway Bold Italics"/>
              </a:endParaRPr>
            </a:p>
            <a:p>
              <a:pPr>
                <a:lnSpc>
                  <a:spcPts val="7680"/>
                </a:lnSpc>
              </a:pPr>
              <a:r>
                <a:rPr lang="en-US" sz="6000" spc="179">
                  <a:solidFill>
                    <a:srgbClr val="FFFFFF"/>
                  </a:solidFill>
                  <a:latin typeface="Raleway Bold Italics"/>
                </a:rPr>
                <a:t>Practice...Practice...Practice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4443085"/>
              <a:ext cx="15319622" cy="746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620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-197769" y="6674437"/>
            <a:ext cx="18683539" cy="3761179"/>
            <a:chOff x="0" y="0"/>
            <a:chExt cx="24911385" cy="5014905"/>
          </a:xfrm>
        </p:grpSpPr>
        <p:sp>
          <p:nvSpPr>
            <p:cNvPr id="4" name="AutoShape 4"/>
            <p:cNvSpPr/>
            <p:nvPr/>
          </p:nvSpPr>
          <p:spPr>
            <a:xfrm>
              <a:off x="0" y="786102"/>
              <a:ext cx="24911385" cy="4228804"/>
            </a:xfrm>
            <a:prstGeom prst="rect">
              <a:avLst/>
            </a:prstGeom>
            <a:solidFill>
              <a:srgbClr val="020301"/>
            </a:solidFill>
          </p:spPr>
        </p:sp>
        <p:grpSp>
          <p:nvGrpSpPr>
            <p:cNvPr id="5" name="Group 5"/>
            <p:cNvGrpSpPr/>
            <p:nvPr/>
          </p:nvGrpSpPr>
          <p:grpSpPr>
            <a:xfrm>
              <a:off x="1635292" y="0"/>
              <a:ext cx="1558232" cy="956493"/>
              <a:chOff x="0" y="0"/>
              <a:chExt cx="6350000" cy="54991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350000" cy="549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499100">
                    <a:moveTo>
                      <a:pt x="0" y="5499100"/>
                    </a:moveTo>
                    <a:lnTo>
                      <a:pt x="3175000" y="0"/>
                    </a:lnTo>
                    <a:lnTo>
                      <a:pt x="6350000" y="5499100"/>
                    </a:lnTo>
                    <a:close/>
                  </a:path>
                </a:pathLst>
              </a:custGeom>
              <a:solidFill>
                <a:srgbClr val="020301"/>
              </a:solidFill>
            </p:spPr>
          </p:sp>
        </p:grpSp>
      </p:grpSp>
      <p:sp>
        <p:nvSpPr>
          <p:cNvPr id="7" name="TextBox 7"/>
          <p:cNvSpPr txBox="1"/>
          <p:nvPr/>
        </p:nvSpPr>
        <p:spPr>
          <a:xfrm>
            <a:off x="6183040" y="3276107"/>
            <a:ext cx="8485342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80"/>
              </a:lnSpc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5254521" y="1539556"/>
            <a:ext cx="7161282" cy="1611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38"/>
              </a:lnSpc>
            </a:pPr>
            <a:r>
              <a:rPr lang="en-US" sz="9384">
                <a:solidFill>
                  <a:srgbClr val="000000"/>
                </a:solidFill>
                <a:latin typeface="Open Sans Extra Bold"/>
              </a:rPr>
              <a:t>Questions 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01342" y="8064806"/>
            <a:ext cx="3485317" cy="885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FFFFFF"/>
                </a:solidFill>
                <a:latin typeface="Open Sans Bold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397</Words>
  <Application>Microsoft Office PowerPoint</Application>
  <PresentationFormat>Custom</PresentationFormat>
  <Paragraphs>100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7" baseType="lpstr">
      <vt:lpstr>Arial</vt:lpstr>
      <vt:lpstr>Raleway Italics</vt:lpstr>
      <vt:lpstr>Calibri</vt:lpstr>
      <vt:lpstr>Open Sans Extra Bold</vt:lpstr>
      <vt:lpstr>Raleway Bold Italics</vt:lpstr>
      <vt:lpstr>Wingdings</vt:lpstr>
      <vt:lpstr>Open Sans Bold Italics</vt:lpstr>
      <vt:lpstr>Open Sans</vt:lpstr>
      <vt:lpstr>Times New Roman</vt:lpstr>
      <vt:lpstr>Raleway</vt:lpstr>
      <vt:lpstr>Raleway Heavy Italics</vt:lpstr>
      <vt:lpstr>Open Sans Bold</vt:lpstr>
      <vt:lpstr>Open Sans Light</vt:lpstr>
      <vt:lpstr>Arimo Italics</vt:lpstr>
      <vt:lpstr>Raleway Bold</vt:lpstr>
      <vt:lpstr>Open Sans Light Bold</vt:lpstr>
      <vt:lpstr>Open Sans Extra Bold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Competitive Programming</dc:title>
  <cp:lastModifiedBy>Mim</cp:lastModifiedBy>
  <cp:revision>15</cp:revision>
  <dcterms:created xsi:type="dcterms:W3CDTF">2006-08-16T00:00:00Z</dcterms:created>
  <dcterms:modified xsi:type="dcterms:W3CDTF">2025-08-20T18:30:47Z</dcterms:modified>
  <dc:identifier>DAEgw1yKUhs</dc:identifier>
</cp:coreProperties>
</file>