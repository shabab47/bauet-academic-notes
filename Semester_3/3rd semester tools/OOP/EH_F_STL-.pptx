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media/image10.jpg" ContentType="image/jpg"/>
  <Override PartName="/ppt/media/image15.jpg" ContentType="image/jpg"/>
  <Override PartName="/ppt/media/image16.jpg" ContentType="image/jpg"/>
  <Override PartName="/ppt/media/image17.jpg" ContentType="image/jpg"/>
  <Override PartName="/ppt/media/image18.jpg" ContentType="image/jpg"/>
  <Override PartName="/ppt/media/image47.jpg" ContentType="image/jpg"/>
  <Override PartName="/ppt/media/image54.jpg" ContentType="image/jpg"/>
  <Override PartName="/ppt/ink/ink1.xml" ContentType="application/inkml+xml"/>
  <Override PartName="/ppt/ink/ink2.xml" ContentType="application/inkml+xml"/>
  <Override PartName="/ppt/media/image72.jpg" ContentType="image/jpg"/>
  <Override PartName="/ppt/media/image73.jpg" ContentType="image/jpg"/>
  <Override PartName="/ppt/media/image84.jpg" ContentType="image/jpg"/>
  <Override PartName="/ppt/media/image85.jpg" ContentType="image/jpg"/>
  <Override PartName="/ppt/media/image87.jpg" ContentType="image/jpg"/>
  <Override PartName="/ppt/media/image88.jpg" ContentType="image/jpg"/>
  <Override PartName="/ppt/media/image89.jpg" ContentType="image/jpg"/>
  <Override PartName="/ppt/media/image90.jpg" ContentType="image/jpg"/>
  <Override PartName="/ppt/media/image91.jpg" ContentType="image/jpg"/>
  <Override PartName="/ppt/media/image92.jpg" ContentType="image/jpg"/>
  <Override PartName="/ppt/media/image95.jpg" ContentType="image/jpg"/>
  <Override PartName="/ppt/media/image96.jpg" ContentType="image/jpg"/>
  <Override PartName="/ppt/media/image111.jpg" ContentType="image/jpg"/>
  <Override PartName="/ppt/media/image112.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6" r:id="rId1"/>
  </p:sldMasterIdLst>
  <p:notesMasterIdLst>
    <p:notesMasterId r:id="rId95"/>
  </p:notesMasterIdLst>
  <p:sldIdLst>
    <p:sldId id="256" r:id="rId2"/>
    <p:sldId id="410" r:id="rId3"/>
    <p:sldId id="411" r:id="rId4"/>
    <p:sldId id="412" r:id="rId5"/>
    <p:sldId id="511" r:id="rId6"/>
    <p:sldId id="512" r:id="rId7"/>
    <p:sldId id="513" r:id="rId8"/>
    <p:sldId id="413" r:id="rId9"/>
    <p:sldId id="514" r:id="rId10"/>
    <p:sldId id="515" r:id="rId11"/>
    <p:sldId id="414" r:id="rId12"/>
    <p:sldId id="415" r:id="rId13"/>
    <p:sldId id="416" r:id="rId14"/>
    <p:sldId id="417" r:id="rId15"/>
    <p:sldId id="516" r:id="rId16"/>
    <p:sldId id="418" r:id="rId17"/>
    <p:sldId id="419" r:id="rId18"/>
    <p:sldId id="517" r:id="rId19"/>
    <p:sldId id="420" r:id="rId20"/>
    <p:sldId id="421" r:id="rId21"/>
    <p:sldId id="422" r:id="rId22"/>
    <p:sldId id="423" r:id="rId23"/>
    <p:sldId id="449" r:id="rId24"/>
    <p:sldId id="450" r:id="rId25"/>
    <p:sldId id="451" r:id="rId26"/>
    <p:sldId id="452" r:id="rId27"/>
    <p:sldId id="453" r:id="rId28"/>
    <p:sldId id="454" r:id="rId29"/>
    <p:sldId id="455" r:id="rId30"/>
    <p:sldId id="456" r:id="rId31"/>
    <p:sldId id="545" r:id="rId32"/>
    <p:sldId id="457" r:id="rId33"/>
    <p:sldId id="546" r:id="rId34"/>
    <p:sldId id="458" r:id="rId35"/>
    <p:sldId id="543" r:id="rId36"/>
    <p:sldId id="544" r:id="rId37"/>
    <p:sldId id="459" r:id="rId38"/>
    <p:sldId id="547" r:id="rId39"/>
    <p:sldId id="548" r:id="rId40"/>
    <p:sldId id="460" r:id="rId41"/>
    <p:sldId id="461" r:id="rId42"/>
    <p:sldId id="549" r:id="rId43"/>
    <p:sldId id="550" r:id="rId44"/>
    <p:sldId id="462" r:id="rId45"/>
    <p:sldId id="463" r:id="rId46"/>
    <p:sldId id="551" r:id="rId47"/>
    <p:sldId id="464" r:id="rId48"/>
    <p:sldId id="465" r:id="rId49"/>
    <p:sldId id="466" r:id="rId50"/>
    <p:sldId id="552" r:id="rId51"/>
    <p:sldId id="554" r:id="rId52"/>
    <p:sldId id="553" r:id="rId53"/>
    <p:sldId id="467" r:id="rId54"/>
    <p:sldId id="555" r:id="rId55"/>
    <p:sldId id="556" r:id="rId56"/>
    <p:sldId id="468" r:id="rId57"/>
    <p:sldId id="469" r:id="rId58"/>
    <p:sldId id="470" r:id="rId59"/>
    <p:sldId id="471" r:id="rId60"/>
    <p:sldId id="472" r:id="rId61"/>
    <p:sldId id="473" r:id="rId62"/>
    <p:sldId id="474" r:id="rId63"/>
    <p:sldId id="475" r:id="rId64"/>
    <p:sldId id="476" r:id="rId65"/>
    <p:sldId id="477" r:id="rId66"/>
    <p:sldId id="478" r:id="rId67"/>
    <p:sldId id="479" r:id="rId68"/>
    <p:sldId id="480" r:id="rId69"/>
    <p:sldId id="518" r:id="rId70"/>
    <p:sldId id="519" r:id="rId71"/>
    <p:sldId id="520" r:id="rId72"/>
    <p:sldId id="521" r:id="rId73"/>
    <p:sldId id="522" r:id="rId74"/>
    <p:sldId id="523" r:id="rId75"/>
    <p:sldId id="524" r:id="rId76"/>
    <p:sldId id="525" r:id="rId77"/>
    <p:sldId id="526" r:id="rId78"/>
    <p:sldId id="527" r:id="rId79"/>
    <p:sldId id="528" r:id="rId80"/>
    <p:sldId id="529" r:id="rId81"/>
    <p:sldId id="530" r:id="rId82"/>
    <p:sldId id="531" r:id="rId83"/>
    <p:sldId id="532" r:id="rId84"/>
    <p:sldId id="533" r:id="rId85"/>
    <p:sldId id="534" r:id="rId86"/>
    <p:sldId id="535" r:id="rId87"/>
    <p:sldId id="536" r:id="rId88"/>
    <p:sldId id="537" r:id="rId89"/>
    <p:sldId id="538" r:id="rId90"/>
    <p:sldId id="539" r:id="rId91"/>
    <p:sldId id="540" r:id="rId92"/>
    <p:sldId id="541" r:id="rId93"/>
    <p:sldId id="542" r:id="rId9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730" y="2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16:23:58.929"/>
    </inkml:context>
    <inkml:brush xml:id="br0">
      <inkml:brushProperty name="width" value="0.035" units="cm"/>
      <inkml:brushProperty name="height" value="0.03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5T16:23:59.119"/>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34BB31F-95A7-49FA-87B5-DF372FB96FA6}" type="datetimeFigureOut">
              <a:rPr lang="en-US" smtClean="0"/>
              <a:t>11/17/2025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CDC977B7-6729-4483-8871-87F150084139}" type="slidenum">
              <a:rPr lang="en-US" smtClean="0"/>
              <a:t>‹#›</a:t>
            </a:fld>
            <a:endParaRPr lang="en-US"/>
          </a:p>
        </p:txBody>
      </p:sp>
    </p:spTree>
    <p:extLst>
      <p:ext uri="{BB962C8B-B14F-4D97-AF65-F5344CB8AC3E}">
        <p14:creationId xmlns:p14="http://schemas.microsoft.com/office/powerpoint/2010/main" val="3585428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608C7-13FC-4828-3E5F-DD57027BD4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B8252C-E655-EC83-DC07-541D33F4F7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9A712F-86B7-F343-6299-09AC1E3B8D49}"/>
              </a:ext>
            </a:extLst>
          </p:cNvPr>
          <p:cNvSpPr>
            <a:spLocks noGrp="1"/>
          </p:cNvSpPr>
          <p:nvPr>
            <p:ph type="dt" sz="half" idx="10"/>
          </p:nvPr>
        </p:nvSpPr>
        <p:spPr/>
        <p:txBody>
          <a:bodyPr/>
          <a:lstStyle/>
          <a:p>
            <a:fld id="{89762E0B-A936-40F1-A905-F1C9EF6B9BAE}" type="datetime1">
              <a:rPr lang="en-US" smtClean="0"/>
              <a:t>11/17/2025</a:t>
            </a:fld>
            <a:endParaRPr lang="en-US"/>
          </a:p>
        </p:txBody>
      </p:sp>
      <p:sp>
        <p:nvSpPr>
          <p:cNvPr id="5" name="Footer Placeholder 4">
            <a:extLst>
              <a:ext uri="{FF2B5EF4-FFF2-40B4-BE49-F238E27FC236}">
                <a16:creationId xmlns:a16="http://schemas.microsoft.com/office/drawing/2014/main" id="{CA4D622F-8AB7-5410-6220-70F06C3DE985}"/>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F93A8F50-9B1D-59A3-B579-FFC7BEA448CE}"/>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118587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4C10A-01D6-46D5-074A-E58A87E5D6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7199A0-B22A-1F9A-8D97-5AC5044638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977B3F-0A34-DF90-963F-443017021F37}"/>
              </a:ext>
            </a:extLst>
          </p:cNvPr>
          <p:cNvSpPr>
            <a:spLocks noGrp="1"/>
          </p:cNvSpPr>
          <p:nvPr>
            <p:ph type="dt" sz="half" idx="10"/>
          </p:nvPr>
        </p:nvSpPr>
        <p:spPr/>
        <p:txBody>
          <a:bodyPr/>
          <a:lstStyle/>
          <a:p>
            <a:fld id="{8966A560-332D-47A2-A6E0-4B9952C44143}" type="datetime1">
              <a:rPr lang="en-US" smtClean="0"/>
              <a:t>11/17/2025</a:t>
            </a:fld>
            <a:endParaRPr lang="en-US"/>
          </a:p>
        </p:txBody>
      </p:sp>
      <p:sp>
        <p:nvSpPr>
          <p:cNvPr id="5" name="Footer Placeholder 4">
            <a:extLst>
              <a:ext uri="{FF2B5EF4-FFF2-40B4-BE49-F238E27FC236}">
                <a16:creationId xmlns:a16="http://schemas.microsoft.com/office/drawing/2014/main" id="{17AF4B8C-64EA-1F10-E1D9-E0F3545E17EA}"/>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FF3D360A-94E4-B0FE-7CB6-CDBA6CE308E3}"/>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1429592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28B04-93A5-EBC3-352B-0C92BBE348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793E51-FDF2-C1E4-4206-0736498FB8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C9DD38-043D-6541-0E26-278839BF6431}"/>
              </a:ext>
            </a:extLst>
          </p:cNvPr>
          <p:cNvSpPr>
            <a:spLocks noGrp="1"/>
          </p:cNvSpPr>
          <p:nvPr>
            <p:ph type="dt" sz="half" idx="10"/>
          </p:nvPr>
        </p:nvSpPr>
        <p:spPr/>
        <p:txBody>
          <a:bodyPr/>
          <a:lstStyle/>
          <a:p>
            <a:fld id="{CC9ED2EB-206F-4726-BFD6-9586692526E9}" type="datetime1">
              <a:rPr lang="en-US" smtClean="0"/>
              <a:t>11/17/2025</a:t>
            </a:fld>
            <a:endParaRPr lang="en-US"/>
          </a:p>
        </p:txBody>
      </p:sp>
      <p:sp>
        <p:nvSpPr>
          <p:cNvPr id="5" name="Footer Placeholder 4">
            <a:extLst>
              <a:ext uri="{FF2B5EF4-FFF2-40B4-BE49-F238E27FC236}">
                <a16:creationId xmlns:a16="http://schemas.microsoft.com/office/drawing/2014/main" id="{51231986-7495-170F-D3EC-9D632163A08E}"/>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C98651C5-D181-7E7E-3ED5-5207EE518B47}"/>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3124965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63BE7-FF45-9C6F-BF6C-5C2C5BADB9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080856-8CA8-C4B1-37BD-8F4049735A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F9983E-9910-A2A6-AACD-7BDC2C32F1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7EA3AF-14AD-B33C-F0EC-2A63DF0EC14C}"/>
              </a:ext>
            </a:extLst>
          </p:cNvPr>
          <p:cNvSpPr>
            <a:spLocks noGrp="1"/>
          </p:cNvSpPr>
          <p:nvPr>
            <p:ph type="dt" sz="half" idx="10"/>
          </p:nvPr>
        </p:nvSpPr>
        <p:spPr/>
        <p:txBody>
          <a:bodyPr/>
          <a:lstStyle/>
          <a:p>
            <a:fld id="{FBDB5C1F-8473-40A8-B8B7-6E1E14C80593}" type="datetime1">
              <a:rPr lang="en-US" smtClean="0"/>
              <a:t>11/17/2025</a:t>
            </a:fld>
            <a:endParaRPr lang="en-US"/>
          </a:p>
        </p:txBody>
      </p:sp>
      <p:sp>
        <p:nvSpPr>
          <p:cNvPr id="6" name="Footer Placeholder 5">
            <a:extLst>
              <a:ext uri="{FF2B5EF4-FFF2-40B4-BE49-F238E27FC236}">
                <a16:creationId xmlns:a16="http://schemas.microsoft.com/office/drawing/2014/main" id="{287C1176-7C7F-0698-8C97-F6793EE21D61}"/>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7" name="Slide Number Placeholder 6">
            <a:extLst>
              <a:ext uri="{FF2B5EF4-FFF2-40B4-BE49-F238E27FC236}">
                <a16:creationId xmlns:a16="http://schemas.microsoft.com/office/drawing/2014/main" id="{FFFFC863-5E88-B3C4-F991-70DEA2864C15}"/>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371570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8669A-5024-3C65-DF60-E2C42C1F6A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EB6B6F-2A10-77FE-3FA8-325339ABBE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40421F-066E-BDD9-F5C1-1FB5C28DDC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1CA8F50-0961-413C-028C-B5C065AD46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6B5001-96BB-4DB3-ADC5-F8D7FCBB42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9B6EE-770F-3E65-DAF5-347304FE5D5F}"/>
              </a:ext>
            </a:extLst>
          </p:cNvPr>
          <p:cNvSpPr>
            <a:spLocks noGrp="1"/>
          </p:cNvSpPr>
          <p:nvPr>
            <p:ph type="dt" sz="half" idx="10"/>
          </p:nvPr>
        </p:nvSpPr>
        <p:spPr/>
        <p:txBody>
          <a:bodyPr/>
          <a:lstStyle/>
          <a:p>
            <a:fld id="{76F1CB27-4BB6-40F1-8CF3-426500AEDD73}" type="datetime1">
              <a:rPr lang="en-US" smtClean="0"/>
              <a:t>11/17/2025</a:t>
            </a:fld>
            <a:endParaRPr lang="en-US"/>
          </a:p>
        </p:txBody>
      </p:sp>
      <p:sp>
        <p:nvSpPr>
          <p:cNvPr id="8" name="Footer Placeholder 7">
            <a:extLst>
              <a:ext uri="{FF2B5EF4-FFF2-40B4-BE49-F238E27FC236}">
                <a16:creationId xmlns:a16="http://schemas.microsoft.com/office/drawing/2014/main" id="{83E808CA-DA31-35D7-5015-EA0032B79E0C}"/>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9" name="Slide Number Placeholder 8">
            <a:extLst>
              <a:ext uri="{FF2B5EF4-FFF2-40B4-BE49-F238E27FC236}">
                <a16:creationId xmlns:a16="http://schemas.microsoft.com/office/drawing/2014/main" id="{4AFE0522-FC22-51A7-61EF-48E7D63F100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405896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7AD91-D04F-FB7B-FC22-7162A683D7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237169-BF24-A2AC-81C5-DB1A467BE6DD}"/>
              </a:ext>
            </a:extLst>
          </p:cNvPr>
          <p:cNvSpPr>
            <a:spLocks noGrp="1"/>
          </p:cNvSpPr>
          <p:nvPr>
            <p:ph type="dt" sz="half" idx="10"/>
          </p:nvPr>
        </p:nvSpPr>
        <p:spPr/>
        <p:txBody>
          <a:bodyPr/>
          <a:lstStyle/>
          <a:p>
            <a:fld id="{159C7704-0BCF-4FC4-A106-CDD11C759384}" type="datetime1">
              <a:rPr lang="en-US" smtClean="0"/>
              <a:t>11/17/2025</a:t>
            </a:fld>
            <a:endParaRPr lang="en-US"/>
          </a:p>
        </p:txBody>
      </p:sp>
      <p:sp>
        <p:nvSpPr>
          <p:cNvPr id="4" name="Footer Placeholder 3">
            <a:extLst>
              <a:ext uri="{FF2B5EF4-FFF2-40B4-BE49-F238E27FC236}">
                <a16:creationId xmlns:a16="http://schemas.microsoft.com/office/drawing/2014/main" id="{1B04AE80-3F2F-D996-73B7-F4E7F9CD21A4}"/>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5" name="Slide Number Placeholder 4">
            <a:extLst>
              <a:ext uri="{FF2B5EF4-FFF2-40B4-BE49-F238E27FC236}">
                <a16:creationId xmlns:a16="http://schemas.microsoft.com/office/drawing/2014/main" id="{A2940614-9D08-8BB0-B22C-0DCFFBA5397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1505461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165138-C338-E2B7-13DD-D00C2CCBBE3F}"/>
              </a:ext>
            </a:extLst>
          </p:cNvPr>
          <p:cNvSpPr>
            <a:spLocks noGrp="1"/>
          </p:cNvSpPr>
          <p:nvPr>
            <p:ph type="dt" sz="half" idx="10"/>
          </p:nvPr>
        </p:nvSpPr>
        <p:spPr/>
        <p:txBody>
          <a:bodyPr/>
          <a:lstStyle/>
          <a:p>
            <a:fld id="{4D5F5E02-D918-4862-9F2A-40A680771142}" type="datetime1">
              <a:rPr lang="en-US" smtClean="0"/>
              <a:t>11/17/2025</a:t>
            </a:fld>
            <a:endParaRPr lang="en-US"/>
          </a:p>
        </p:txBody>
      </p:sp>
      <p:sp>
        <p:nvSpPr>
          <p:cNvPr id="3" name="Footer Placeholder 2">
            <a:extLst>
              <a:ext uri="{FF2B5EF4-FFF2-40B4-BE49-F238E27FC236}">
                <a16:creationId xmlns:a16="http://schemas.microsoft.com/office/drawing/2014/main" id="{CCA9E31D-EA9E-5471-68E1-8B09E82F0651}"/>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4" name="Slide Number Placeholder 3">
            <a:extLst>
              <a:ext uri="{FF2B5EF4-FFF2-40B4-BE49-F238E27FC236}">
                <a16:creationId xmlns:a16="http://schemas.microsoft.com/office/drawing/2014/main" id="{779B1584-799D-D68E-185D-9DD91039890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904694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FF220-FBCB-3630-391A-429D3E5340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DF9A68-8C05-A62B-F1A8-D4AD7FB667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171659-C19C-E06C-FFC2-8E4C9ED18B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F310D4-900E-2A09-DE12-7BD825B0C32D}"/>
              </a:ext>
            </a:extLst>
          </p:cNvPr>
          <p:cNvSpPr>
            <a:spLocks noGrp="1"/>
          </p:cNvSpPr>
          <p:nvPr>
            <p:ph type="dt" sz="half" idx="10"/>
          </p:nvPr>
        </p:nvSpPr>
        <p:spPr/>
        <p:txBody>
          <a:bodyPr/>
          <a:lstStyle/>
          <a:p>
            <a:fld id="{99C3F3E0-A09C-4A46-BBA5-93ED28387002}" type="datetime1">
              <a:rPr lang="en-US" smtClean="0"/>
              <a:t>11/17/2025</a:t>
            </a:fld>
            <a:endParaRPr lang="en-US"/>
          </a:p>
        </p:txBody>
      </p:sp>
      <p:sp>
        <p:nvSpPr>
          <p:cNvPr id="6" name="Footer Placeholder 5">
            <a:extLst>
              <a:ext uri="{FF2B5EF4-FFF2-40B4-BE49-F238E27FC236}">
                <a16:creationId xmlns:a16="http://schemas.microsoft.com/office/drawing/2014/main" id="{C99B572F-9D44-1F58-A7BD-69F1F3803A2B}"/>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7" name="Slide Number Placeholder 6">
            <a:extLst>
              <a:ext uri="{FF2B5EF4-FFF2-40B4-BE49-F238E27FC236}">
                <a16:creationId xmlns:a16="http://schemas.microsoft.com/office/drawing/2014/main" id="{E3D0D726-8474-7B2F-EDBB-F0A52E046E7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3740816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A0BB6-2D62-A110-4938-58595195A1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692342-2380-B220-F6DB-26E7DE824C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650660-48BD-8358-A74C-36B90CE254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30765C-1F44-744E-CCFD-351B3114D6F8}"/>
              </a:ext>
            </a:extLst>
          </p:cNvPr>
          <p:cNvSpPr>
            <a:spLocks noGrp="1"/>
          </p:cNvSpPr>
          <p:nvPr>
            <p:ph type="dt" sz="half" idx="10"/>
          </p:nvPr>
        </p:nvSpPr>
        <p:spPr/>
        <p:txBody>
          <a:bodyPr/>
          <a:lstStyle/>
          <a:p>
            <a:fld id="{8469BB1B-5844-4811-8B10-F58881D37F70}" type="datetime1">
              <a:rPr lang="en-US" smtClean="0"/>
              <a:t>11/17/2025</a:t>
            </a:fld>
            <a:endParaRPr lang="en-US"/>
          </a:p>
        </p:txBody>
      </p:sp>
      <p:sp>
        <p:nvSpPr>
          <p:cNvPr id="6" name="Footer Placeholder 5">
            <a:extLst>
              <a:ext uri="{FF2B5EF4-FFF2-40B4-BE49-F238E27FC236}">
                <a16:creationId xmlns:a16="http://schemas.microsoft.com/office/drawing/2014/main" id="{35F32816-23FF-A287-C263-6DDAD37B8B41}"/>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7" name="Slide Number Placeholder 6">
            <a:extLst>
              <a:ext uri="{FF2B5EF4-FFF2-40B4-BE49-F238E27FC236}">
                <a16:creationId xmlns:a16="http://schemas.microsoft.com/office/drawing/2014/main" id="{8E6D26B7-8C76-558A-1216-453A2F2DDF2E}"/>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397983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8C0F-F500-0AE8-031F-2F9E90B717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202866-B1BE-FB35-164A-F3C221B5BF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C0182A-F3DB-57C6-C836-FC5DF624FCC7}"/>
              </a:ext>
            </a:extLst>
          </p:cNvPr>
          <p:cNvSpPr>
            <a:spLocks noGrp="1"/>
          </p:cNvSpPr>
          <p:nvPr>
            <p:ph type="dt" sz="half" idx="10"/>
          </p:nvPr>
        </p:nvSpPr>
        <p:spPr/>
        <p:txBody>
          <a:bodyPr/>
          <a:lstStyle/>
          <a:p>
            <a:fld id="{5937DE54-E375-422C-B7D1-9DE22E672F24}" type="datetime1">
              <a:rPr lang="en-US" smtClean="0"/>
              <a:t>11/17/2025</a:t>
            </a:fld>
            <a:endParaRPr lang="en-US"/>
          </a:p>
        </p:txBody>
      </p:sp>
      <p:sp>
        <p:nvSpPr>
          <p:cNvPr id="5" name="Footer Placeholder 4">
            <a:extLst>
              <a:ext uri="{FF2B5EF4-FFF2-40B4-BE49-F238E27FC236}">
                <a16:creationId xmlns:a16="http://schemas.microsoft.com/office/drawing/2014/main" id="{98A95609-3A19-7010-1FA4-8B5E511396C5}"/>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719F10DE-FBEB-CFC5-3FB7-257148224D48}"/>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966404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9118B5-BC32-9A0E-DED8-CE1774CEA8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1B4B8F-5EE8-7996-5C6D-2133E605EC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DC5DC2-A98A-02BF-5D08-41238ACCF248}"/>
              </a:ext>
            </a:extLst>
          </p:cNvPr>
          <p:cNvSpPr>
            <a:spLocks noGrp="1"/>
          </p:cNvSpPr>
          <p:nvPr>
            <p:ph type="dt" sz="half" idx="10"/>
          </p:nvPr>
        </p:nvSpPr>
        <p:spPr/>
        <p:txBody>
          <a:bodyPr/>
          <a:lstStyle/>
          <a:p>
            <a:fld id="{9E0A0B6B-24D0-45DB-A8F5-3D37EAB0CD05}" type="datetime1">
              <a:rPr lang="en-US" smtClean="0"/>
              <a:t>11/17/2025</a:t>
            </a:fld>
            <a:endParaRPr lang="en-US"/>
          </a:p>
        </p:txBody>
      </p:sp>
      <p:sp>
        <p:nvSpPr>
          <p:cNvPr id="5" name="Footer Placeholder 4">
            <a:extLst>
              <a:ext uri="{FF2B5EF4-FFF2-40B4-BE49-F238E27FC236}">
                <a16:creationId xmlns:a16="http://schemas.microsoft.com/office/drawing/2014/main" id="{F9B62B35-8E20-D556-0981-586C6AB9D7AD}"/>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99ED3143-FB75-DC8A-A95E-680065262D7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3501955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6939" y="1637069"/>
            <a:ext cx="5019675" cy="3823335"/>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sz="half" idx="3"/>
          </p:nvPr>
        </p:nvSpPr>
        <p:spPr>
          <a:xfrm>
            <a:off x="6426453" y="1769491"/>
            <a:ext cx="4926330" cy="447802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5" name="Holder 5"/>
          <p:cNvSpPr>
            <a:spLocks noGrp="1"/>
          </p:cNvSpPr>
          <p:nvPr>
            <p:ph type="ftr" sz="quarter" idx="5"/>
          </p:nvPr>
        </p:nvSpPr>
        <p:spPr/>
        <p:txBody>
          <a:bodyPr lIns="0" tIns="0" rIns="0" bIns="0"/>
          <a:lstStyle>
            <a:lvl1pPr>
              <a:defRPr sz="2400" b="0" i="0">
                <a:solidFill>
                  <a:schemeClr val="bg1"/>
                </a:solidFill>
                <a:latin typeface="Times New Roman"/>
                <a:cs typeface="Times New Roman"/>
              </a:defRPr>
            </a:lvl1pPr>
          </a:lstStyle>
          <a:p>
            <a:pPr marL="12700">
              <a:lnSpc>
                <a:spcPts val="2720"/>
              </a:lnSpc>
            </a:pPr>
            <a:r>
              <a:rPr lang="en-US"/>
              <a:t>Mehedi Hasan</a:t>
            </a:r>
            <a:endParaRPr spc="-10"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A6A88F2C-229D-4B49-B727-9301224DFC07}" type="datetime1">
              <a:rPr lang="en-US" smtClean="0"/>
              <a:t>11/17/2025</a:t>
            </a:fld>
            <a:endParaRPr lang="en-US"/>
          </a:p>
        </p:txBody>
      </p:sp>
      <p:sp>
        <p:nvSpPr>
          <p:cNvPr id="7" name="Holder 7"/>
          <p:cNvSpPr>
            <a:spLocks noGrp="1"/>
          </p:cNvSpPr>
          <p:nvPr>
            <p:ph type="sldNum" sz="quarter" idx="7"/>
          </p:nvPr>
        </p:nvSpPr>
        <p:spPr/>
        <p:txBody>
          <a:bodyPr lIns="0" tIns="0" rIns="0" bIns="0"/>
          <a:lstStyle>
            <a:lvl1pPr>
              <a:defRPr sz="2400" b="0" i="0">
                <a:solidFill>
                  <a:schemeClr val="bg1"/>
                </a:solidFill>
                <a:latin typeface="Times New Roman"/>
                <a:cs typeface="Times New Roman"/>
              </a:defRPr>
            </a:lvl1pPr>
          </a:lstStyle>
          <a:p>
            <a:pPr marL="12700">
              <a:lnSpc>
                <a:spcPts val="2720"/>
              </a:lnSpc>
              <a:tabLst>
                <a:tab pos="1499870" algn="l"/>
              </a:tabLst>
            </a:pPr>
            <a:r>
              <a:rPr dirty="0"/>
              <a:t>Lecture</a:t>
            </a:r>
            <a:r>
              <a:rPr spc="-25" dirty="0"/>
              <a:t> </a:t>
            </a:r>
            <a:r>
              <a:rPr dirty="0"/>
              <a:t>1</a:t>
            </a:r>
            <a:r>
              <a:rPr spc="5" dirty="0"/>
              <a:t> </a:t>
            </a:r>
            <a:r>
              <a:rPr spc="-50" dirty="0"/>
              <a:t>-</a:t>
            </a:r>
            <a:r>
              <a:rPr dirty="0"/>
              <a:t>	</a:t>
            </a:r>
            <a:fld id="{81D60167-4931-47E6-BA6A-407CBD079E47}" type="slidenum">
              <a:rPr spc="-25" dirty="0"/>
              <a:t>‹#›</a:t>
            </a:fld>
            <a:endParaRPr spc="-25" dirty="0"/>
          </a:p>
        </p:txBody>
      </p:sp>
    </p:spTree>
    <p:extLst>
      <p:ext uri="{BB962C8B-B14F-4D97-AF65-F5344CB8AC3E}">
        <p14:creationId xmlns:p14="http://schemas.microsoft.com/office/powerpoint/2010/main" val="26040422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6939" y="663016"/>
            <a:ext cx="2860040" cy="635000"/>
          </a:xfrm>
          <a:prstGeom prst="rect">
            <a:avLst/>
          </a:prstGeom>
        </p:spPr>
        <p:txBody>
          <a:bodyPr wrap="square" lIns="0" tIns="0" rIns="0" bIns="0">
            <a:spAutoFit/>
          </a:bodyPr>
          <a:lstStyle>
            <a:lvl1pPr>
              <a:defRPr sz="40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2400" b="0" i="0">
                <a:solidFill>
                  <a:schemeClr val="bg1"/>
                </a:solidFill>
                <a:latin typeface="Times New Roman"/>
                <a:cs typeface="Times New Roman"/>
              </a:defRPr>
            </a:lvl1pPr>
          </a:lstStyle>
          <a:p>
            <a:pPr marL="12700">
              <a:lnSpc>
                <a:spcPts val="2720"/>
              </a:lnSpc>
            </a:pPr>
            <a:r>
              <a:rPr lang="en-US"/>
              <a:t>Mehedi Hasan</a:t>
            </a:r>
            <a:endParaRPr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B2B40379-F6A1-49C7-AFD7-FB951AC9A714}" type="datetime1">
              <a:rPr lang="en-US" smtClean="0"/>
              <a:t>11/17/2025</a:t>
            </a:fld>
            <a:endParaRPr lang="en-US"/>
          </a:p>
        </p:txBody>
      </p:sp>
      <p:sp>
        <p:nvSpPr>
          <p:cNvPr id="6" name="Holder 6"/>
          <p:cNvSpPr>
            <a:spLocks noGrp="1"/>
          </p:cNvSpPr>
          <p:nvPr>
            <p:ph type="sldNum" sz="quarter" idx="7"/>
          </p:nvPr>
        </p:nvSpPr>
        <p:spPr/>
        <p:txBody>
          <a:bodyPr lIns="0" tIns="0" rIns="0" bIns="0"/>
          <a:lstStyle>
            <a:lvl1pPr>
              <a:defRPr sz="2400" b="0" i="0">
                <a:solidFill>
                  <a:schemeClr val="bg1"/>
                </a:solidFill>
                <a:latin typeface="Times New Roman"/>
                <a:cs typeface="Times New Roman"/>
              </a:defRPr>
            </a:lvl1pPr>
          </a:lstStyle>
          <a:p>
            <a:pPr marL="12700">
              <a:lnSpc>
                <a:spcPts val="2720"/>
              </a:lnSpc>
              <a:tabLst>
                <a:tab pos="1499870" algn="l"/>
              </a:tabLst>
            </a:pPr>
            <a:r>
              <a:rPr dirty="0"/>
              <a:t>Lecture</a:t>
            </a:r>
            <a:r>
              <a:rPr spc="-25" dirty="0"/>
              <a:t> </a:t>
            </a:r>
            <a:r>
              <a:rPr dirty="0"/>
              <a:t>1</a:t>
            </a:r>
            <a:r>
              <a:rPr spc="5" dirty="0"/>
              <a:t> </a:t>
            </a:r>
            <a:r>
              <a:rPr spc="-50" dirty="0"/>
              <a:t>-</a:t>
            </a:r>
            <a:r>
              <a:rPr dirty="0"/>
              <a:t>	</a:t>
            </a:r>
            <a:fld id="{81D60167-4931-47E6-BA6A-407CBD079E47}" type="slidenum">
              <a:rPr spc="-25" dirty="0"/>
              <a:t>‹#›</a:t>
            </a:fld>
            <a:endParaRPr spc="-25" dirty="0"/>
          </a:p>
        </p:txBody>
      </p:sp>
    </p:spTree>
    <p:extLst>
      <p:ext uri="{BB962C8B-B14F-4D97-AF65-F5344CB8AC3E}">
        <p14:creationId xmlns:p14="http://schemas.microsoft.com/office/powerpoint/2010/main" val="2491995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C3C9FD-C049-6109-8959-A6EB1FECD6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171FE9-414B-ACD6-0033-A6F4366FE3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42D3EE-F2BF-1741-2400-B20B456B86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D9D89B-7D37-48A3-8F8F-F0BEC5D749FD}" type="datetime1">
              <a:rPr lang="en-US" smtClean="0"/>
              <a:t>11/17/2025</a:t>
            </a:fld>
            <a:endParaRPr lang="en-US"/>
          </a:p>
        </p:txBody>
      </p:sp>
      <p:sp>
        <p:nvSpPr>
          <p:cNvPr id="5" name="Footer Placeholder 4">
            <a:extLst>
              <a:ext uri="{FF2B5EF4-FFF2-40B4-BE49-F238E27FC236}">
                <a16:creationId xmlns:a16="http://schemas.microsoft.com/office/drawing/2014/main" id="{46FC0B90-4C20-5B78-16C6-3265A562B7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B77F1BC2-9A20-DC84-9C17-9FAA30E452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a:t>
            </a:fld>
            <a:endParaRPr spc="-25" dirty="0"/>
          </a:p>
        </p:txBody>
      </p:sp>
    </p:spTree>
    <p:extLst>
      <p:ext uri="{BB962C8B-B14F-4D97-AF65-F5344CB8AC3E}">
        <p14:creationId xmlns:p14="http://schemas.microsoft.com/office/powerpoint/2010/main" val="136748607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3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36.xml.rels><?xml version="1.0" encoding="UTF-8" standalone="yes"?>
<Relationships xmlns="http://schemas.openxmlformats.org/package/2006/relationships"><Relationship Id="rId2" Type="http://schemas.openxmlformats.org/officeDocument/2006/relationships/image" Target="../media/image35.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hyperlink" Target="https://www.w3schools.com/cpp/cpp_vectors.asp" TargetMode="Externa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www.w3schools.com/cpp/cpp_vectors.asp" TargetMode="Externa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5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62.png"/><Relationship Id="rId7" Type="http://schemas.openxmlformats.org/officeDocument/2006/relationships/customXml" Target="../ink/ink2.xml"/><Relationship Id="rId2" Type="http://schemas.openxmlformats.org/officeDocument/2006/relationships/image" Target="../media/image61.png"/><Relationship Id="rId1" Type="http://schemas.openxmlformats.org/officeDocument/2006/relationships/slideLayout" Target="../slideLayouts/slideLayout6.xml"/><Relationship Id="rId6" Type="http://schemas.openxmlformats.org/officeDocument/2006/relationships/image" Target="../media/image64.png"/><Relationship Id="rId4" Type="http://schemas.openxmlformats.org/officeDocument/2006/relationships/customXml" Target="../ink/ink1.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image" Target="../media/image72.jp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84.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image" Target="../media/image88.jp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image" Target="../media/image90.jp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image" Target="../media/image95.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8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6.xml"/><Relationship Id="rId4" Type="http://schemas.openxmlformats.org/officeDocument/2006/relationships/image" Target="../media/image110.png"/></Relationships>
</file>

<file path=ppt/slides/_rels/slide91.xml.rels><?xml version="1.0" encoding="UTF-8" standalone="yes"?>
<Relationships xmlns="http://schemas.openxmlformats.org/package/2006/relationships"><Relationship Id="rId3" Type="http://schemas.openxmlformats.org/officeDocument/2006/relationships/image" Target="../media/image112.jpg"/><Relationship Id="rId2" Type="http://schemas.openxmlformats.org/officeDocument/2006/relationships/image" Target="../media/image111.jp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11.jp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6717" y="2282534"/>
            <a:ext cx="8334375" cy="1941557"/>
          </a:xfrm>
          <a:prstGeom prst="rect">
            <a:avLst/>
          </a:prstGeom>
        </p:spPr>
        <p:txBody>
          <a:bodyPr vert="horz" wrap="square" lIns="0" tIns="210820" rIns="0" bIns="0" rtlCol="0">
            <a:spAutoFit/>
          </a:bodyPr>
          <a:lstStyle/>
          <a:p>
            <a:pPr marL="6350" algn="ctr">
              <a:lnSpc>
                <a:spcPct val="100000"/>
              </a:lnSpc>
              <a:spcBef>
                <a:spcPts val="1660"/>
              </a:spcBef>
            </a:pPr>
            <a:r>
              <a:rPr sz="6000" spc="-10" dirty="0"/>
              <a:t>CSE-</a:t>
            </a:r>
            <a:r>
              <a:rPr lang="en-US" sz="6000" spc="-20" dirty="0"/>
              <a:t>2103</a:t>
            </a:r>
            <a:endParaRPr sz="6000" dirty="0"/>
          </a:p>
          <a:p>
            <a:pPr algn="ctr">
              <a:lnSpc>
                <a:spcPct val="100000"/>
              </a:lnSpc>
              <a:spcBef>
                <a:spcPts val="1035"/>
              </a:spcBef>
            </a:pPr>
            <a:r>
              <a:rPr dirty="0"/>
              <a:t>Object</a:t>
            </a:r>
            <a:r>
              <a:rPr spc="-140" dirty="0"/>
              <a:t> </a:t>
            </a:r>
            <a:r>
              <a:rPr dirty="0"/>
              <a:t>Oriented</a:t>
            </a:r>
            <a:r>
              <a:rPr spc="-155" dirty="0"/>
              <a:t> </a:t>
            </a:r>
            <a:r>
              <a:rPr dirty="0"/>
              <a:t>Programming</a:t>
            </a:r>
            <a:r>
              <a:rPr spc="-140" dirty="0"/>
              <a:t> </a:t>
            </a:r>
            <a:endParaRPr spc="-10" dirty="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1</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fld id="{81D60167-4931-47E6-BA6A-407CBD079E47}" type="slidenum">
              <a:rPr sz="2400" spc="-50" dirty="0">
                <a:solidFill>
                  <a:srgbClr val="FFFFFF"/>
                </a:solidFill>
                <a:latin typeface="Times New Roman"/>
                <a:cs typeface="Times New Roman"/>
              </a:rPr>
              <a:t>1</a:t>
            </a:fld>
            <a:endParaRPr sz="2400">
              <a:latin typeface="Times New Roman"/>
              <a:cs typeface="Times New Roman"/>
            </a:endParaRPr>
          </a:p>
        </p:txBody>
      </p:sp>
      <p:sp>
        <p:nvSpPr>
          <p:cNvPr id="5" name="object 5"/>
          <p:cNvSpPr txBox="1"/>
          <p:nvPr/>
        </p:nvSpPr>
        <p:spPr>
          <a:xfrm>
            <a:off x="9739376" y="6367803"/>
            <a:ext cx="382270"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2</a:t>
            </a:r>
            <a:r>
              <a:rPr sz="1600" spc="-25" dirty="0">
                <a:solidFill>
                  <a:srgbClr val="FFFFFF"/>
                </a:solidFill>
                <a:latin typeface="Times New Roman"/>
                <a:cs typeface="Times New Roman"/>
              </a:rPr>
              <a:t>nd</a:t>
            </a:r>
            <a:endParaRPr sz="1600">
              <a:latin typeface="Times New Roman"/>
              <a:cs typeface="Times New Roman"/>
            </a:endParaRPr>
          </a:p>
        </p:txBody>
      </p:sp>
      <p:sp>
        <p:nvSpPr>
          <p:cNvPr id="6" name="object 6"/>
          <p:cNvSpPr txBox="1"/>
          <p:nvPr/>
        </p:nvSpPr>
        <p:spPr>
          <a:xfrm>
            <a:off x="10172192" y="6368253"/>
            <a:ext cx="1583055"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March,</a:t>
            </a:r>
            <a:r>
              <a:rPr sz="2400" spc="-4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7" name="Date Placeholder 6">
            <a:extLst>
              <a:ext uri="{FF2B5EF4-FFF2-40B4-BE49-F238E27FC236}">
                <a16:creationId xmlns:a16="http://schemas.microsoft.com/office/drawing/2014/main" id="{AB8ADDA7-0784-F4C0-7C7E-954F6492471B}"/>
              </a:ext>
            </a:extLst>
          </p:cNvPr>
          <p:cNvSpPr>
            <a:spLocks noGrp="1"/>
          </p:cNvSpPr>
          <p:nvPr>
            <p:ph type="dt" sz="half" idx="10"/>
          </p:nvPr>
        </p:nvSpPr>
        <p:spPr/>
        <p:txBody>
          <a:bodyPr/>
          <a:lstStyle/>
          <a:p>
            <a:fld id="{9156E182-76CC-466B-BB5F-A15F8BA313E5}" type="datetime1">
              <a:rPr lang="en-US" smtClean="0"/>
              <a:t>11/17/2025</a:t>
            </a:fld>
            <a:endParaRPr lang="en-US"/>
          </a:p>
        </p:txBody>
      </p:sp>
      <p:sp>
        <p:nvSpPr>
          <p:cNvPr id="9" name="Slide Number Placeholder 8">
            <a:extLst>
              <a:ext uri="{FF2B5EF4-FFF2-40B4-BE49-F238E27FC236}">
                <a16:creationId xmlns:a16="http://schemas.microsoft.com/office/drawing/2014/main" id="{B282665B-B4F3-550C-ADEC-1EE7C445EFE5}"/>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8194" y="2547569"/>
            <a:ext cx="4512310" cy="697230"/>
          </a:xfrm>
          <a:prstGeom prst="rect">
            <a:avLst/>
          </a:prstGeom>
        </p:spPr>
        <p:txBody>
          <a:bodyPr vert="horz" wrap="square" lIns="0" tIns="13335" rIns="0" bIns="0" rtlCol="0">
            <a:spAutoFit/>
          </a:bodyPr>
          <a:lstStyle/>
          <a:p>
            <a:pPr marL="12700">
              <a:lnSpc>
                <a:spcPct val="100000"/>
              </a:lnSpc>
              <a:spcBef>
                <a:spcPts val="105"/>
              </a:spcBef>
            </a:pPr>
            <a:r>
              <a:rPr sz="4400" dirty="0"/>
              <a:t>Exception</a:t>
            </a:r>
            <a:r>
              <a:rPr sz="4400" spc="-35" dirty="0"/>
              <a:t> </a:t>
            </a:r>
            <a:r>
              <a:rPr sz="4400" spc="-10" dirty="0"/>
              <a:t>Handling</a:t>
            </a:r>
            <a:endParaRPr sz="440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6</a:t>
            </a:r>
            <a:endParaRPr sz="2400">
              <a:latin typeface="Times New Roman"/>
              <a:cs typeface="Times New Roman"/>
            </a:endParaRPr>
          </a:p>
        </p:txBody>
      </p:sp>
      <p:sp>
        <p:nvSpPr>
          <p:cNvPr id="5" name="object 5"/>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6" name="object 6"/>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7" name="Date Placeholder 6">
            <a:extLst>
              <a:ext uri="{FF2B5EF4-FFF2-40B4-BE49-F238E27FC236}">
                <a16:creationId xmlns:a16="http://schemas.microsoft.com/office/drawing/2014/main" id="{496AC9BC-884D-5EB7-67D8-E3066FFFE410}"/>
              </a:ext>
            </a:extLst>
          </p:cNvPr>
          <p:cNvSpPr>
            <a:spLocks noGrp="1"/>
          </p:cNvSpPr>
          <p:nvPr>
            <p:ph type="dt" sz="half" idx="10"/>
          </p:nvPr>
        </p:nvSpPr>
        <p:spPr/>
        <p:txBody>
          <a:bodyPr/>
          <a:lstStyle/>
          <a:p>
            <a:fld id="{6736C49E-FB02-4ECE-8A96-68FF700174D6}" type="datetime1">
              <a:rPr lang="en-US" smtClean="0"/>
              <a:t>11/17/2025</a:t>
            </a:fld>
            <a:endParaRPr lang="en-US"/>
          </a:p>
        </p:txBody>
      </p:sp>
      <p:sp>
        <p:nvSpPr>
          <p:cNvPr id="9" name="Slide Number Placeholder 8">
            <a:extLst>
              <a:ext uri="{FF2B5EF4-FFF2-40B4-BE49-F238E27FC236}">
                <a16:creationId xmlns:a16="http://schemas.microsoft.com/office/drawing/2014/main" id="{1A06FF97-B6B4-812F-CC19-3679D034CC86}"/>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gn="ctr">
              <a:lnSpc>
                <a:spcPct val="100000"/>
              </a:lnSpc>
              <a:spcBef>
                <a:spcPts val="95"/>
              </a:spcBef>
            </a:pPr>
            <a:r>
              <a:rPr spc="-10" dirty="0">
                <a:latin typeface="Algerian" panose="04020705040A02060702" pitchFamily="82" charset="0"/>
              </a:rPr>
              <a:t>Exception</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5" name="object 5"/>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latin typeface="Times New Roman"/>
              <a:cs typeface="Times New Roman"/>
            </a:endParaRPr>
          </a:p>
        </p:txBody>
      </p:sp>
      <p:sp>
        <p:nvSpPr>
          <p:cNvPr id="6" name="object 6"/>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1714576"/>
            <a:ext cx="9993630" cy="4076116"/>
          </a:xfrm>
          <a:prstGeom prst="rect">
            <a:avLst/>
          </a:prstGeom>
        </p:spPr>
        <p:txBody>
          <a:bodyPr vert="horz" wrap="square" lIns="0" tIns="13335" rIns="0" bIns="0" rtlCol="0">
            <a:spAutoFit/>
          </a:bodyPr>
          <a:lstStyle/>
          <a:p>
            <a:pPr marL="355600" indent="-342900" algn="just">
              <a:lnSpc>
                <a:spcPct val="100000"/>
              </a:lnSpc>
              <a:spcBef>
                <a:spcPts val="105"/>
              </a:spcBef>
              <a:buFont typeface="Arial MT"/>
              <a:buChar char="•"/>
              <a:tabLst>
                <a:tab pos="355600" algn="l"/>
              </a:tabLst>
            </a:pPr>
            <a:r>
              <a:rPr sz="2400" dirty="0">
                <a:latin typeface="Times New Roman"/>
                <a:cs typeface="Times New Roman"/>
              </a:rPr>
              <a:t>When</a:t>
            </a:r>
            <a:r>
              <a:rPr sz="2400" spc="15" dirty="0">
                <a:latin typeface="Times New Roman"/>
                <a:cs typeface="Times New Roman"/>
              </a:rPr>
              <a:t> </a:t>
            </a:r>
            <a:r>
              <a:rPr sz="2400" dirty="0">
                <a:latin typeface="Times New Roman"/>
                <a:cs typeface="Times New Roman"/>
              </a:rPr>
              <a:t>executing</a:t>
            </a:r>
            <a:r>
              <a:rPr sz="2400" spc="15" dirty="0">
                <a:latin typeface="Times New Roman"/>
                <a:cs typeface="Times New Roman"/>
              </a:rPr>
              <a:t> </a:t>
            </a:r>
            <a:r>
              <a:rPr sz="2400" dirty="0">
                <a:latin typeface="Times New Roman"/>
                <a:cs typeface="Times New Roman"/>
              </a:rPr>
              <a:t>C++</a:t>
            </a:r>
            <a:r>
              <a:rPr sz="2400" spc="5" dirty="0">
                <a:latin typeface="Times New Roman"/>
                <a:cs typeface="Times New Roman"/>
              </a:rPr>
              <a:t> </a:t>
            </a:r>
            <a:r>
              <a:rPr sz="2400" dirty="0">
                <a:latin typeface="Times New Roman"/>
                <a:cs typeface="Times New Roman"/>
              </a:rPr>
              <a:t>code,</a:t>
            </a:r>
            <a:r>
              <a:rPr sz="2400" spc="15" dirty="0">
                <a:latin typeface="Times New Roman"/>
                <a:cs typeface="Times New Roman"/>
              </a:rPr>
              <a:t> </a:t>
            </a:r>
            <a:r>
              <a:rPr sz="2400" dirty="0">
                <a:latin typeface="Times New Roman"/>
                <a:cs typeface="Times New Roman"/>
              </a:rPr>
              <a:t>different</a:t>
            </a:r>
            <a:r>
              <a:rPr sz="2400" spc="10" dirty="0">
                <a:latin typeface="Times New Roman"/>
                <a:cs typeface="Times New Roman"/>
              </a:rPr>
              <a:t> </a:t>
            </a:r>
            <a:r>
              <a:rPr sz="2400" dirty="0">
                <a:latin typeface="Times New Roman"/>
                <a:cs typeface="Times New Roman"/>
              </a:rPr>
              <a:t>errors</a:t>
            </a:r>
            <a:r>
              <a:rPr sz="2400" spc="10" dirty="0">
                <a:latin typeface="Times New Roman"/>
                <a:cs typeface="Times New Roman"/>
              </a:rPr>
              <a:t> </a:t>
            </a:r>
            <a:r>
              <a:rPr sz="2400" dirty="0">
                <a:latin typeface="Times New Roman"/>
                <a:cs typeface="Times New Roman"/>
              </a:rPr>
              <a:t>can</a:t>
            </a:r>
            <a:r>
              <a:rPr sz="2400" spc="10" dirty="0">
                <a:latin typeface="Times New Roman"/>
                <a:cs typeface="Times New Roman"/>
              </a:rPr>
              <a:t> </a:t>
            </a:r>
            <a:r>
              <a:rPr sz="2400" dirty="0">
                <a:latin typeface="Times New Roman"/>
                <a:cs typeface="Times New Roman"/>
              </a:rPr>
              <a:t>occur:</a:t>
            </a:r>
            <a:r>
              <a:rPr sz="2400" spc="5" dirty="0">
                <a:latin typeface="Times New Roman"/>
                <a:cs typeface="Times New Roman"/>
              </a:rPr>
              <a:t> </a:t>
            </a:r>
            <a:r>
              <a:rPr sz="2400" dirty="0">
                <a:latin typeface="Times New Roman"/>
                <a:cs typeface="Times New Roman"/>
              </a:rPr>
              <a:t>coding</a:t>
            </a:r>
            <a:r>
              <a:rPr sz="2400" spc="20" dirty="0">
                <a:latin typeface="Times New Roman"/>
                <a:cs typeface="Times New Roman"/>
              </a:rPr>
              <a:t> </a:t>
            </a:r>
            <a:r>
              <a:rPr sz="2400" dirty="0">
                <a:latin typeface="Times New Roman"/>
                <a:cs typeface="Times New Roman"/>
              </a:rPr>
              <a:t>errors</a:t>
            </a:r>
            <a:r>
              <a:rPr sz="2400" spc="5" dirty="0">
                <a:latin typeface="Times New Roman"/>
                <a:cs typeface="Times New Roman"/>
              </a:rPr>
              <a:t> </a:t>
            </a:r>
            <a:r>
              <a:rPr sz="2400" dirty="0">
                <a:latin typeface="Times New Roman"/>
                <a:cs typeface="Times New Roman"/>
              </a:rPr>
              <a:t>made</a:t>
            </a:r>
            <a:r>
              <a:rPr sz="2400" spc="15" dirty="0">
                <a:latin typeface="Times New Roman"/>
                <a:cs typeface="Times New Roman"/>
              </a:rPr>
              <a:t> </a:t>
            </a:r>
            <a:r>
              <a:rPr sz="2400" dirty="0">
                <a:latin typeface="Times New Roman"/>
                <a:cs typeface="Times New Roman"/>
              </a:rPr>
              <a:t>by</a:t>
            </a:r>
            <a:r>
              <a:rPr sz="2400" spc="5"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spc="-10" dirty="0">
                <a:latin typeface="Times New Roman"/>
                <a:cs typeface="Times New Roman"/>
              </a:rPr>
              <a:t>programmer,</a:t>
            </a:r>
            <a:endParaRPr sz="2400" dirty="0">
              <a:latin typeface="Times New Roman"/>
              <a:cs typeface="Times New Roman"/>
            </a:endParaRPr>
          </a:p>
          <a:p>
            <a:pPr marL="355600" algn="just">
              <a:lnSpc>
                <a:spcPct val="100000"/>
              </a:lnSpc>
              <a:spcBef>
                <a:spcPts val="5"/>
              </a:spcBef>
            </a:pPr>
            <a:r>
              <a:rPr sz="2400" dirty="0">
                <a:latin typeface="Times New Roman"/>
                <a:cs typeface="Times New Roman"/>
              </a:rPr>
              <a:t>errors</a:t>
            </a:r>
            <a:r>
              <a:rPr sz="2400" spc="-40" dirty="0">
                <a:latin typeface="Times New Roman"/>
                <a:cs typeface="Times New Roman"/>
              </a:rPr>
              <a:t> </a:t>
            </a:r>
            <a:r>
              <a:rPr sz="2400" dirty="0">
                <a:latin typeface="Times New Roman"/>
                <a:cs typeface="Times New Roman"/>
              </a:rPr>
              <a:t>due</a:t>
            </a:r>
            <a:r>
              <a:rPr sz="2400" spc="-25" dirty="0">
                <a:latin typeface="Times New Roman"/>
                <a:cs typeface="Times New Roman"/>
              </a:rPr>
              <a:t> </a:t>
            </a:r>
            <a:r>
              <a:rPr sz="2400" dirty="0">
                <a:latin typeface="Times New Roman"/>
                <a:cs typeface="Times New Roman"/>
              </a:rPr>
              <a:t>to wrong</a:t>
            </a:r>
            <a:r>
              <a:rPr sz="2400" spc="-20" dirty="0">
                <a:latin typeface="Times New Roman"/>
                <a:cs typeface="Times New Roman"/>
              </a:rPr>
              <a:t> </a:t>
            </a:r>
            <a:r>
              <a:rPr sz="2400" dirty="0">
                <a:latin typeface="Times New Roman"/>
                <a:cs typeface="Times New Roman"/>
              </a:rPr>
              <a:t>input,</a:t>
            </a:r>
            <a:r>
              <a:rPr sz="2400" spc="-25" dirty="0">
                <a:latin typeface="Times New Roman"/>
                <a:cs typeface="Times New Roman"/>
              </a:rPr>
              <a:t> </a:t>
            </a:r>
            <a:r>
              <a:rPr sz="2400" dirty="0">
                <a:latin typeface="Times New Roman"/>
                <a:cs typeface="Times New Roman"/>
              </a:rPr>
              <a:t>or</a:t>
            </a:r>
            <a:r>
              <a:rPr sz="2400" spc="-15" dirty="0">
                <a:latin typeface="Times New Roman"/>
                <a:cs typeface="Times New Roman"/>
              </a:rPr>
              <a:t> </a:t>
            </a:r>
            <a:r>
              <a:rPr sz="2400" dirty="0">
                <a:latin typeface="Times New Roman"/>
                <a:cs typeface="Times New Roman"/>
              </a:rPr>
              <a:t>other</a:t>
            </a:r>
            <a:r>
              <a:rPr sz="2400" spc="-15" dirty="0">
                <a:latin typeface="Times New Roman"/>
                <a:cs typeface="Times New Roman"/>
              </a:rPr>
              <a:t> </a:t>
            </a:r>
            <a:r>
              <a:rPr sz="2400" dirty="0">
                <a:latin typeface="Times New Roman"/>
                <a:cs typeface="Times New Roman"/>
              </a:rPr>
              <a:t>unforeseeable</a:t>
            </a:r>
            <a:r>
              <a:rPr sz="2400" spc="-35" dirty="0">
                <a:latin typeface="Times New Roman"/>
                <a:cs typeface="Times New Roman"/>
              </a:rPr>
              <a:t> </a:t>
            </a:r>
            <a:r>
              <a:rPr sz="2400" spc="-10" dirty="0">
                <a:latin typeface="Times New Roman"/>
                <a:cs typeface="Times New Roman"/>
              </a:rPr>
              <a:t>things.</a:t>
            </a:r>
            <a:endParaRPr sz="2400" dirty="0">
              <a:latin typeface="Times New Roman"/>
              <a:cs typeface="Times New Roman"/>
            </a:endParaRPr>
          </a:p>
          <a:p>
            <a:pPr marL="355600" indent="-342900" algn="just">
              <a:lnSpc>
                <a:spcPct val="100000"/>
              </a:lnSpc>
              <a:buFont typeface="Arial MT"/>
              <a:buChar char="•"/>
              <a:tabLst>
                <a:tab pos="355600" algn="l"/>
              </a:tabLst>
            </a:pP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technical</a:t>
            </a:r>
            <a:r>
              <a:rPr sz="2400" spc="-30" dirty="0">
                <a:latin typeface="Times New Roman"/>
                <a:cs typeface="Times New Roman"/>
              </a:rPr>
              <a:t> </a:t>
            </a:r>
            <a:r>
              <a:rPr sz="2400" dirty="0">
                <a:latin typeface="Times New Roman"/>
                <a:cs typeface="Times New Roman"/>
              </a:rPr>
              <a:t>term</a:t>
            </a:r>
            <a:r>
              <a:rPr sz="2400" spc="-20" dirty="0">
                <a:latin typeface="Times New Roman"/>
                <a:cs typeface="Times New Roman"/>
              </a:rPr>
              <a:t> </a:t>
            </a:r>
            <a:r>
              <a:rPr sz="2400" dirty="0">
                <a:latin typeface="Times New Roman"/>
                <a:cs typeface="Times New Roman"/>
              </a:rPr>
              <a:t>for</a:t>
            </a:r>
            <a:r>
              <a:rPr sz="2400" spc="-30" dirty="0">
                <a:latin typeface="Times New Roman"/>
                <a:cs typeface="Times New Roman"/>
              </a:rPr>
              <a:t> </a:t>
            </a:r>
            <a:r>
              <a:rPr sz="2400" dirty="0">
                <a:latin typeface="Times New Roman"/>
                <a:cs typeface="Times New Roman"/>
              </a:rPr>
              <a:t>this</a:t>
            </a:r>
            <a:r>
              <a:rPr sz="2400" spc="-30"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C++</a:t>
            </a:r>
            <a:r>
              <a:rPr sz="2400" spc="-5" dirty="0">
                <a:latin typeface="Times New Roman"/>
                <a:cs typeface="Times New Roman"/>
              </a:rPr>
              <a:t> </a:t>
            </a:r>
            <a:r>
              <a:rPr sz="2400" dirty="0">
                <a:latin typeface="Times New Roman"/>
                <a:cs typeface="Times New Roman"/>
              </a:rPr>
              <a:t>will</a:t>
            </a:r>
            <a:r>
              <a:rPr sz="2400" spc="-25" dirty="0">
                <a:latin typeface="Times New Roman"/>
                <a:cs typeface="Times New Roman"/>
              </a:rPr>
              <a:t> </a:t>
            </a:r>
            <a:r>
              <a:rPr sz="2400" dirty="0">
                <a:latin typeface="Times New Roman"/>
                <a:cs typeface="Times New Roman"/>
              </a:rPr>
              <a:t>throw</a:t>
            </a:r>
            <a:r>
              <a:rPr sz="2400" spc="-35" dirty="0">
                <a:latin typeface="Times New Roman"/>
                <a:cs typeface="Times New Roman"/>
              </a:rPr>
              <a:t> </a:t>
            </a:r>
            <a:r>
              <a:rPr sz="2400" dirty="0">
                <a:latin typeface="Times New Roman"/>
                <a:cs typeface="Times New Roman"/>
              </a:rPr>
              <a:t>an</a:t>
            </a:r>
            <a:r>
              <a:rPr sz="2400" spc="-5" dirty="0">
                <a:latin typeface="Times New Roman"/>
                <a:cs typeface="Times New Roman"/>
              </a:rPr>
              <a:t> </a:t>
            </a:r>
            <a:r>
              <a:rPr sz="2400" b="1" dirty="0">
                <a:latin typeface="Times New Roman"/>
                <a:cs typeface="Times New Roman"/>
              </a:rPr>
              <a:t>exception</a:t>
            </a:r>
            <a:r>
              <a:rPr sz="2400" b="1" spc="-35" dirty="0">
                <a:latin typeface="Times New Roman"/>
                <a:cs typeface="Times New Roman"/>
              </a:rPr>
              <a:t> </a:t>
            </a:r>
            <a:r>
              <a:rPr sz="2400" dirty="0">
                <a:latin typeface="Times New Roman"/>
                <a:cs typeface="Times New Roman"/>
              </a:rPr>
              <a:t>(throw</a:t>
            </a:r>
            <a:r>
              <a:rPr sz="2400" spc="-40" dirty="0">
                <a:latin typeface="Times New Roman"/>
                <a:cs typeface="Times New Roman"/>
              </a:rPr>
              <a:t> </a:t>
            </a:r>
            <a:r>
              <a:rPr sz="2400" dirty="0">
                <a:latin typeface="Times New Roman"/>
                <a:cs typeface="Times New Roman"/>
              </a:rPr>
              <a:t>an</a:t>
            </a:r>
            <a:r>
              <a:rPr sz="2400" spc="-10" dirty="0">
                <a:latin typeface="Times New Roman"/>
                <a:cs typeface="Times New Roman"/>
              </a:rPr>
              <a:t> error).</a:t>
            </a:r>
            <a:endParaRPr sz="2400" dirty="0">
              <a:latin typeface="Times New Roman"/>
              <a:cs typeface="Times New Roman"/>
            </a:endParaRPr>
          </a:p>
          <a:p>
            <a:pPr marL="355600" indent="-342900" algn="just">
              <a:lnSpc>
                <a:spcPct val="100000"/>
              </a:lnSpc>
              <a:buFont typeface="Arial MT"/>
              <a:buChar char="•"/>
              <a:tabLst>
                <a:tab pos="355600" algn="l"/>
              </a:tabLst>
            </a:pPr>
            <a:r>
              <a:rPr sz="2400" dirty="0">
                <a:latin typeface="Times New Roman"/>
                <a:cs typeface="Times New Roman"/>
              </a:rPr>
              <a:t>An</a:t>
            </a:r>
            <a:r>
              <a:rPr sz="2400" spc="-10" dirty="0">
                <a:latin typeface="Times New Roman"/>
                <a:cs typeface="Times New Roman"/>
              </a:rPr>
              <a:t> </a:t>
            </a:r>
            <a:r>
              <a:rPr sz="2400" b="1" dirty="0">
                <a:latin typeface="Times New Roman"/>
                <a:cs typeface="Times New Roman"/>
              </a:rPr>
              <a:t>exception</a:t>
            </a:r>
            <a:r>
              <a:rPr sz="2400" b="1" spc="-4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an</a:t>
            </a:r>
            <a:r>
              <a:rPr sz="2400" spc="-10" dirty="0">
                <a:latin typeface="Times New Roman"/>
                <a:cs typeface="Times New Roman"/>
              </a:rPr>
              <a:t> </a:t>
            </a:r>
            <a:r>
              <a:rPr sz="2400" dirty="0">
                <a:latin typeface="Times New Roman"/>
                <a:cs typeface="Times New Roman"/>
              </a:rPr>
              <a:t>indication</a:t>
            </a:r>
            <a:r>
              <a:rPr sz="2400" spc="-4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problem</a:t>
            </a:r>
            <a:r>
              <a:rPr sz="2400" spc="-60" dirty="0">
                <a:latin typeface="Times New Roman"/>
                <a:cs typeface="Times New Roman"/>
              </a:rPr>
              <a:t> </a:t>
            </a:r>
            <a:r>
              <a:rPr sz="2400" dirty="0">
                <a:latin typeface="Times New Roman"/>
                <a:cs typeface="Times New Roman"/>
              </a:rPr>
              <a:t>that</a:t>
            </a:r>
            <a:r>
              <a:rPr sz="2400" spc="-20" dirty="0">
                <a:latin typeface="Times New Roman"/>
                <a:cs typeface="Times New Roman"/>
              </a:rPr>
              <a:t> </a:t>
            </a:r>
            <a:r>
              <a:rPr sz="2400" dirty="0">
                <a:latin typeface="Times New Roman"/>
                <a:cs typeface="Times New Roman"/>
              </a:rPr>
              <a:t>occurs</a:t>
            </a:r>
            <a:r>
              <a:rPr sz="2400" spc="-30" dirty="0">
                <a:latin typeface="Times New Roman"/>
                <a:cs typeface="Times New Roman"/>
              </a:rPr>
              <a:t> </a:t>
            </a:r>
            <a:r>
              <a:rPr sz="2400" dirty="0">
                <a:latin typeface="Times New Roman"/>
                <a:cs typeface="Times New Roman"/>
              </a:rPr>
              <a:t>during</a:t>
            </a:r>
            <a:r>
              <a:rPr sz="2400" spc="-40" dirty="0">
                <a:latin typeface="Times New Roman"/>
                <a:cs typeface="Times New Roman"/>
              </a:rPr>
              <a:t> </a:t>
            </a:r>
            <a:r>
              <a:rPr sz="2400" dirty="0">
                <a:latin typeface="Times New Roman"/>
                <a:cs typeface="Times New Roman"/>
              </a:rPr>
              <a:t>a </a:t>
            </a:r>
            <a:r>
              <a:rPr sz="2400" spc="-10" dirty="0">
                <a:latin typeface="Times New Roman"/>
                <a:cs typeface="Times New Roman"/>
              </a:rPr>
              <a:t>program’s</a:t>
            </a:r>
            <a:r>
              <a:rPr sz="2400" spc="-30" dirty="0">
                <a:latin typeface="Times New Roman"/>
                <a:cs typeface="Times New Roman"/>
              </a:rPr>
              <a:t> </a:t>
            </a:r>
            <a:r>
              <a:rPr sz="2400" spc="-10" dirty="0">
                <a:latin typeface="Times New Roman"/>
                <a:cs typeface="Times New Roman"/>
              </a:rPr>
              <a:t>execution.</a:t>
            </a:r>
            <a:endParaRPr sz="2400" dirty="0">
              <a:latin typeface="Times New Roman"/>
              <a:cs typeface="Times New Roman"/>
            </a:endParaRPr>
          </a:p>
          <a:p>
            <a:pPr marL="355600" indent="-342900" algn="just">
              <a:lnSpc>
                <a:spcPct val="100000"/>
              </a:lnSpc>
              <a:buFont typeface="Arial MT"/>
              <a:buChar char="•"/>
              <a:tabLst>
                <a:tab pos="355600" algn="l"/>
              </a:tabLst>
            </a:pPr>
            <a:r>
              <a:rPr sz="2400" dirty="0">
                <a:latin typeface="Times New Roman"/>
                <a:cs typeface="Times New Roman"/>
              </a:rPr>
              <a:t>When</a:t>
            </a:r>
            <a:r>
              <a:rPr sz="2400" spc="-25" dirty="0">
                <a:latin typeface="Times New Roman"/>
                <a:cs typeface="Times New Roman"/>
              </a:rPr>
              <a:t> </a:t>
            </a:r>
            <a:r>
              <a:rPr sz="2400" dirty="0">
                <a:latin typeface="Times New Roman"/>
                <a:cs typeface="Times New Roman"/>
              </a:rPr>
              <a:t>you</a:t>
            </a:r>
            <a:r>
              <a:rPr sz="2400" spc="-20" dirty="0">
                <a:latin typeface="Times New Roman"/>
                <a:cs typeface="Times New Roman"/>
              </a:rPr>
              <a:t> </a:t>
            </a:r>
            <a:r>
              <a:rPr sz="2400" dirty="0">
                <a:latin typeface="Times New Roman"/>
                <a:cs typeface="Times New Roman"/>
              </a:rPr>
              <a:t>refer</a:t>
            </a:r>
            <a:r>
              <a:rPr sz="2400" spc="-35"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variable</a:t>
            </a:r>
            <a:r>
              <a:rPr sz="2400" spc="-35" dirty="0">
                <a:latin typeface="Times New Roman"/>
                <a:cs typeface="Times New Roman"/>
              </a:rPr>
              <a:t> </a:t>
            </a:r>
            <a:r>
              <a:rPr sz="2400" dirty="0">
                <a:latin typeface="Times New Roman"/>
                <a:cs typeface="Times New Roman"/>
              </a:rPr>
              <a:t>by</a:t>
            </a:r>
            <a:r>
              <a:rPr sz="2400" spc="-10" dirty="0">
                <a:latin typeface="Times New Roman"/>
                <a:cs typeface="Times New Roman"/>
              </a:rPr>
              <a:t> </a:t>
            </a:r>
            <a:r>
              <a:rPr sz="2400" dirty="0">
                <a:latin typeface="Times New Roman"/>
                <a:cs typeface="Times New Roman"/>
              </a:rPr>
              <a:t>name in</a:t>
            </a:r>
            <a:r>
              <a:rPr sz="2400" spc="-20" dirty="0">
                <a:latin typeface="Times New Roman"/>
                <a:cs typeface="Times New Roman"/>
              </a:rPr>
              <a:t> </a:t>
            </a:r>
            <a:r>
              <a:rPr sz="2400" dirty="0">
                <a:latin typeface="Times New Roman"/>
                <a:cs typeface="Times New Roman"/>
              </a:rPr>
              <a:t>your</a:t>
            </a:r>
            <a:r>
              <a:rPr sz="2400" spc="-15" dirty="0">
                <a:latin typeface="Times New Roman"/>
                <a:cs typeface="Times New Roman"/>
              </a:rPr>
              <a:t> </a:t>
            </a:r>
            <a:r>
              <a:rPr sz="2400" dirty="0">
                <a:latin typeface="Times New Roman"/>
                <a:cs typeface="Times New Roman"/>
              </a:rPr>
              <a:t>code,</a:t>
            </a:r>
            <a:r>
              <a:rPr sz="2400" spc="-2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computer</a:t>
            </a:r>
            <a:r>
              <a:rPr sz="2400" spc="-20" dirty="0">
                <a:latin typeface="Times New Roman"/>
                <a:cs typeface="Times New Roman"/>
              </a:rPr>
              <a:t> </a:t>
            </a:r>
            <a:r>
              <a:rPr sz="2400" dirty="0">
                <a:latin typeface="Times New Roman"/>
                <a:cs typeface="Times New Roman"/>
              </a:rPr>
              <a:t>must</a:t>
            </a:r>
            <a:r>
              <a:rPr sz="2400" spc="-15" dirty="0">
                <a:latin typeface="Times New Roman"/>
                <a:cs typeface="Times New Roman"/>
              </a:rPr>
              <a:t> </a:t>
            </a:r>
            <a:r>
              <a:rPr sz="2400" dirty="0">
                <a:latin typeface="Times New Roman"/>
                <a:cs typeface="Times New Roman"/>
              </a:rPr>
              <a:t>take</a:t>
            </a:r>
            <a:r>
              <a:rPr sz="2400" spc="-10" dirty="0">
                <a:latin typeface="Times New Roman"/>
                <a:cs typeface="Times New Roman"/>
              </a:rPr>
              <a:t> </a:t>
            </a:r>
            <a:r>
              <a:rPr sz="2400" b="1" dirty="0">
                <a:latin typeface="Times New Roman"/>
                <a:cs typeface="Times New Roman"/>
              </a:rPr>
              <a:t>two</a:t>
            </a:r>
            <a:r>
              <a:rPr sz="2400" b="1" spc="-5" dirty="0">
                <a:latin typeface="Times New Roman"/>
                <a:cs typeface="Times New Roman"/>
              </a:rPr>
              <a:t> </a:t>
            </a:r>
            <a:r>
              <a:rPr sz="2400" b="1" spc="-10" dirty="0">
                <a:latin typeface="Times New Roman"/>
                <a:cs typeface="Times New Roman"/>
              </a:rPr>
              <a:t>steps:</a:t>
            </a:r>
            <a:endParaRPr sz="2400" dirty="0">
              <a:latin typeface="Times New Roman"/>
              <a:cs typeface="Times New Roman"/>
            </a:endParaRPr>
          </a:p>
          <a:p>
            <a:pPr marL="927100" lvl="1" indent="-457200" algn="just">
              <a:lnSpc>
                <a:spcPct val="100000"/>
              </a:lnSpc>
              <a:buAutoNum type="arabicPeriod"/>
              <a:tabLst>
                <a:tab pos="927100" algn="l"/>
              </a:tabLst>
            </a:pPr>
            <a:r>
              <a:rPr sz="2400" dirty="0">
                <a:latin typeface="Times New Roman"/>
                <a:cs typeface="Times New Roman"/>
              </a:rPr>
              <a:t>Ignore</a:t>
            </a:r>
            <a:r>
              <a:rPr sz="2400" spc="-25" dirty="0">
                <a:latin typeface="Times New Roman"/>
                <a:cs typeface="Times New Roman"/>
              </a:rPr>
              <a:t> </a:t>
            </a:r>
            <a:r>
              <a:rPr sz="2400" spc="-20" dirty="0">
                <a:latin typeface="Times New Roman"/>
                <a:cs typeface="Times New Roman"/>
              </a:rPr>
              <a:t>them.</a:t>
            </a:r>
            <a:endParaRPr sz="2400" dirty="0">
              <a:latin typeface="Times New Roman"/>
              <a:cs typeface="Times New Roman"/>
            </a:endParaRPr>
          </a:p>
          <a:p>
            <a:pPr marL="927100" lvl="1" indent="-457200" algn="just">
              <a:lnSpc>
                <a:spcPct val="100000"/>
              </a:lnSpc>
              <a:buAutoNum type="arabicPeriod"/>
              <a:tabLst>
                <a:tab pos="927100" algn="l"/>
              </a:tabLst>
            </a:pPr>
            <a:r>
              <a:rPr sz="2400" dirty="0">
                <a:latin typeface="Times New Roman"/>
                <a:cs typeface="Times New Roman"/>
              </a:rPr>
              <a:t>Abort</a:t>
            </a:r>
            <a:r>
              <a:rPr sz="2400" spc="-40" dirty="0">
                <a:latin typeface="Times New Roman"/>
                <a:cs typeface="Times New Roman"/>
              </a:rPr>
              <a:t> </a:t>
            </a:r>
            <a:r>
              <a:rPr sz="2400" dirty="0">
                <a:latin typeface="Times New Roman"/>
                <a:cs typeface="Times New Roman"/>
              </a:rPr>
              <a:t>processing</a:t>
            </a:r>
            <a:r>
              <a:rPr sz="2400" spc="-35" dirty="0">
                <a:latin typeface="Times New Roman"/>
                <a:cs typeface="Times New Roman"/>
              </a:rPr>
              <a:t> </a:t>
            </a:r>
            <a:r>
              <a:rPr sz="2400" dirty="0">
                <a:latin typeface="Times New Roman"/>
                <a:cs typeface="Times New Roman"/>
              </a:rPr>
              <a:t>– detect</a:t>
            </a:r>
            <a:r>
              <a:rPr sz="2400" spc="-20" dirty="0">
                <a:latin typeface="Times New Roman"/>
                <a:cs typeface="Times New Roman"/>
              </a:rPr>
              <a:t> </a:t>
            </a:r>
            <a:r>
              <a:rPr sz="2400" dirty="0">
                <a:latin typeface="Times New Roman"/>
                <a:cs typeface="Times New Roman"/>
              </a:rPr>
              <a:t>but</a:t>
            </a:r>
            <a:r>
              <a:rPr sz="2400" spc="-25" dirty="0">
                <a:latin typeface="Times New Roman"/>
                <a:cs typeface="Times New Roman"/>
              </a:rPr>
              <a:t> </a:t>
            </a:r>
            <a:r>
              <a:rPr sz="2400" dirty="0">
                <a:latin typeface="Times New Roman"/>
                <a:cs typeface="Times New Roman"/>
              </a:rPr>
              <a:t>don’t</a:t>
            </a:r>
            <a:r>
              <a:rPr sz="2400" spc="-35" dirty="0">
                <a:latin typeface="Times New Roman"/>
                <a:cs typeface="Times New Roman"/>
              </a:rPr>
              <a:t> </a:t>
            </a:r>
            <a:r>
              <a:rPr sz="2400" dirty="0">
                <a:latin typeface="Times New Roman"/>
                <a:cs typeface="Times New Roman"/>
              </a:rPr>
              <a:t>try</a:t>
            </a:r>
            <a:r>
              <a:rPr sz="2400" spc="-15"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spc="-10" dirty="0">
                <a:latin typeface="Times New Roman"/>
                <a:cs typeface="Times New Roman"/>
              </a:rPr>
              <a:t>recover.</a:t>
            </a:r>
            <a:endParaRPr sz="2400" dirty="0">
              <a:latin typeface="Times New Roman"/>
              <a:cs typeface="Times New Roman"/>
            </a:endParaRPr>
          </a:p>
          <a:p>
            <a:pPr marL="927100" lvl="1" indent="-457200" algn="just">
              <a:lnSpc>
                <a:spcPct val="100000"/>
              </a:lnSpc>
              <a:buAutoNum type="arabicPeriod"/>
              <a:tabLst>
                <a:tab pos="927100" algn="l"/>
              </a:tabLst>
            </a:pPr>
            <a:r>
              <a:rPr sz="2400" dirty="0">
                <a:latin typeface="Times New Roman"/>
                <a:cs typeface="Times New Roman"/>
              </a:rPr>
              <a:t>Have</a:t>
            </a:r>
            <a:r>
              <a:rPr sz="2400" spc="-10" dirty="0">
                <a:latin typeface="Times New Roman"/>
                <a:cs typeface="Times New Roman"/>
              </a:rPr>
              <a:t> </a:t>
            </a:r>
            <a:r>
              <a:rPr sz="2400" dirty="0">
                <a:latin typeface="Times New Roman"/>
                <a:cs typeface="Times New Roman"/>
              </a:rPr>
              <a:t>proper</a:t>
            </a:r>
            <a:r>
              <a:rPr sz="2400" spc="-35" dirty="0">
                <a:latin typeface="Times New Roman"/>
                <a:cs typeface="Times New Roman"/>
              </a:rPr>
              <a:t> </a:t>
            </a:r>
            <a:r>
              <a:rPr sz="2400" dirty="0">
                <a:latin typeface="Times New Roman"/>
                <a:cs typeface="Times New Roman"/>
              </a:rPr>
              <a:t>codes</a:t>
            </a:r>
            <a:r>
              <a:rPr sz="2400" spc="-15"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handle</a:t>
            </a:r>
            <a:r>
              <a:rPr sz="2400" spc="-15" dirty="0">
                <a:latin typeface="Times New Roman"/>
                <a:cs typeface="Times New Roman"/>
              </a:rPr>
              <a:t> </a:t>
            </a:r>
            <a:r>
              <a:rPr sz="2400" spc="-10" dirty="0">
                <a:latin typeface="Times New Roman"/>
                <a:cs typeface="Times New Roman"/>
              </a:rPr>
              <a:t>error.</a:t>
            </a:r>
            <a:endParaRPr sz="2400" dirty="0">
              <a:latin typeface="Times New Roman"/>
              <a:cs typeface="Times New Roman"/>
            </a:endParaRPr>
          </a:p>
        </p:txBody>
      </p:sp>
      <p:sp>
        <p:nvSpPr>
          <p:cNvPr id="8" name="Date Placeholder 7">
            <a:extLst>
              <a:ext uri="{FF2B5EF4-FFF2-40B4-BE49-F238E27FC236}">
                <a16:creationId xmlns:a16="http://schemas.microsoft.com/office/drawing/2014/main" id="{2FD39819-BB74-67DF-0214-A563490D0E97}"/>
              </a:ext>
            </a:extLst>
          </p:cNvPr>
          <p:cNvSpPr>
            <a:spLocks noGrp="1"/>
          </p:cNvSpPr>
          <p:nvPr>
            <p:ph type="dt" sz="half" idx="10"/>
          </p:nvPr>
        </p:nvSpPr>
        <p:spPr/>
        <p:txBody>
          <a:bodyPr/>
          <a:lstStyle/>
          <a:p>
            <a:fld id="{8B278DA6-833E-4C43-8ACC-288E1694494B}" type="datetime1">
              <a:rPr lang="en-US" smtClean="0"/>
              <a:t>11/17/2025</a:t>
            </a:fld>
            <a:endParaRPr lang="en-US"/>
          </a:p>
        </p:txBody>
      </p:sp>
      <p:sp>
        <p:nvSpPr>
          <p:cNvPr id="10" name="Slide Number Placeholder 9">
            <a:extLst>
              <a:ext uri="{FF2B5EF4-FFF2-40B4-BE49-F238E27FC236}">
                <a16:creationId xmlns:a16="http://schemas.microsoft.com/office/drawing/2014/main" id="{347B1855-388D-38A3-1BA3-E0AB3C09DE62}"/>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92915"/>
            <a:ext cx="10515600" cy="1069982"/>
          </a:xfrm>
          <a:prstGeom prst="rect">
            <a:avLst/>
          </a:prstGeom>
        </p:spPr>
        <p:txBody>
          <a:bodyPr vert="horz" wrap="square" lIns="0" tIns="450034" rIns="0" bIns="0" rtlCol="0">
            <a:spAutoFit/>
          </a:bodyPr>
          <a:lstStyle/>
          <a:p>
            <a:pPr marL="12700" algn="ctr">
              <a:lnSpc>
                <a:spcPct val="100000"/>
              </a:lnSpc>
              <a:spcBef>
                <a:spcPts val="95"/>
              </a:spcBef>
            </a:pPr>
            <a:r>
              <a:rPr spc="-10" dirty="0">
                <a:latin typeface="Algerian" panose="04020705040A02060702" pitchFamily="82" charset="0"/>
              </a:rPr>
              <a:t>Exception</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7" name="object 7"/>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8</a:t>
            </a:r>
            <a:endParaRPr sz="2400">
              <a:latin typeface="Times New Roman"/>
              <a:cs typeface="Times New Roman"/>
            </a:endParaRPr>
          </a:p>
        </p:txBody>
      </p:sp>
      <p:sp>
        <p:nvSpPr>
          <p:cNvPr id="8" name="object 8"/>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9" name="object 9"/>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8" y="1714576"/>
            <a:ext cx="5483861" cy="752129"/>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400" dirty="0">
                <a:solidFill>
                  <a:srgbClr val="FF0000"/>
                </a:solidFill>
                <a:latin typeface="Times New Roman"/>
                <a:cs typeface="Times New Roman"/>
              </a:rPr>
              <a:t>Program</a:t>
            </a:r>
            <a:r>
              <a:rPr sz="2400" spc="-40" dirty="0">
                <a:solidFill>
                  <a:srgbClr val="FF0000"/>
                </a:solidFill>
                <a:latin typeface="Times New Roman"/>
                <a:cs typeface="Times New Roman"/>
              </a:rPr>
              <a:t> </a:t>
            </a:r>
            <a:r>
              <a:rPr sz="2400" dirty="0">
                <a:solidFill>
                  <a:srgbClr val="FF0000"/>
                </a:solidFill>
                <a:latin typeface="Times New Roman"/>
                <a:cs typeface="Times New Roman"/>
              </a:rPr>
              <a:t>execution</a:t>
            </a:r>
            <a:r>
              <a:rPr sz="2400" spc="-10" dirty="0">
                <a:solidFill>
                  <a:srgbClr val="FF0000"/>
                </a:solidFill>
                <a:latin typeface="Times New Roman"/>
                <a:cs typeface="Times New Roman"/>
              </a:rPr>
              <a:t> </a:t>
            </a:r>
            <a:r>
              <a:rPr sz="2400" dirty="0">
                <a:solidFill>
                  <a:srgbClr val="FF0000"/>
                </a:solidFill>
                <a:latin typeface="Times New Roman"/>
                <a:cs typeface="Times New Roman"/>
              </a:rPr>
              <a:t>will</a:t>
            </a:r>
            <a:r>
              <a:rPr sz="2400" spc="-30" dirty="0">
                <a:solidFill>
                  <a:srgbClr val="FF0000"/>
                </a:solidFill>
                <a:latin typeface="Times New Roman"/>
                <a:cs typeface="Times New Roman"/>
              </a:rPr>
              <a:t> </a:t>
            </a:r>
            <a:r>
              <a:rPr sz="2400" dirty="0">
                <a:solidFill>
                  <a:srgbClr val="FF0000"/>
                </a:solidFill>
                <a:latin typeface="Times New Roman"/>
                <a:cs typeface="Times New Roman"/>
              </a:rPr>
              <a:t>be</a:t>
            </a:r>
            <a:r>
              <a:rPr sz="2400" spc="-15" dirty="0">
                <a:solidFill>
                  <a:srgbClr val="FF0000"/>
                </a:solidFill>
                <a:latin typeface="Times New Roman"/>
                <a:cs typeface="Times New Roman"/>
              </a:rPr>
              <a:t> </a:t>
            </a:r>
            <a:r>
              <a:rPr sz="2400" dirty="0">
                <a:solidFill>
                  <a:srgbClr val="FF0000"/>
                </a:solidFill>
                <a:latin typeface="Times New Roman"/>
                <a:cs typeface="Times New Roman"/>
              </a:rPr>
              <a:t>terminated</a:t>
            </a:r>
            <a:r>
              <a:rPr sz="2400" spc="-15" dirty="0">
                <a:solidFill>
                  <a:srgbClr val="FF0000"/>
                </a:solidFill>
                <a:latin typeface="Times New Roman"/>
                <a:cs typeface="Times New Roman"/>
              </a:rPr>
              <a:t> </a:t>
            </a:r>
            <a:r>
              <a:rPr sz="2400" spc="-25" dirty="0">
                <a:solidFill>
                  <a:srgbClr val="FF0000"/>
                </a:solidFill>
                <a:latin typeface="Times New Roman"/>
                <a:cs typeface="Times New Roman"/>
              </a:rPr>
              <a:t>and</a:t>
            </a:r>
            <a:endParaRPr sz="2400" dirty="0">
              <a:solidFill>
                <a:srgbClr val="FF0000"/>
              </a:solidFill>
              <a:latin typeface="Times New Roman"/>
              <a:cs typeface="Times New Roman"/>
            </a:endParaRPr>
          </a:p>
          <a:p>
            <a:pPr marL="355600">
              <a:lnSpc>
                <a:spcPct val="100000"/>
              </a:lnSpc>
              <a:spcBef>
                <a:spcPts val="5"/>
              </a:spcBef>
            </a:pPr>
            <a:r>
              <a:rPr sz="2400" dirty="0">
                <a:solidFill>
                  <a:srgbClr val="FF0000"/>
                </a:solidFill>
                <a:latin typeface="Times New Roman"/>
                <a:cs typeface="Times New Roman"/>
              </a:rPr>
              <a:t>will</a:t>
            </a:r>
            <a:r>
              <a:rPr sz="2400" spc="-30" dirty="0">
                <a:solidFill>
                  <a:srgbClr val="FF0000"/>
                </a:solidFill>
                <a:latin typeface="Times New Roman"/>
                <a:cs typeface="Times New Roman"/>
              </a:rPr>
              <a:t> </a:t>
            </a:r>
            <a:r>
              <a:rPr sz="2400" dirty="0">
                <a:solidFill>
                  <a:srgbClr val="FF0000"/>
                </a:solidFill>
                <a:latin typeface="Times New Roman"/>
                <a:cs typeface="Times New Roman"/>
              </a:rPr>
              <a:t>show</a:t>
            </a:r>
            <a:r>
              <a:rPr sz="2400" spc="-20" dirty="0">
                <a:solidFill>
                  <a:srgbClr val="FF0000"/>
                </a:solidFill>
                <a:latin typeface="Times New Roman"/>
                <a:cs typeface="Times New Roman"/>
              </a:rPr>
              <a:t> </a:t>
            </a:r>
            <a:r>
              <a:rPr sz="2400" dirty="0">
                <a:solidFill>
                  <a:srgbClr val="FF0000"/>
                </a:solidFill>
                <a:latin typeface="Times New Roman"/>
                <a:cs typeface="Times New Roman"/>
              </a:rPr>
              <a:t>an</a:t>
            </a:r>
            <a:r>
              <a:rPr sz="2400" spc="-15" dirty="0">
                <a:solidFill>
                  <a:srgbClr val="FF0000"/>
                </a:solidFill>
                <a:latin typeface="Times New Roman"/>
                <a:cs typeface="Times New Roman"/>
              </a:rPr>
              <a:t> </a:t>
            </a:r>
            <a:r>
              <a:rPr sz="2400" spc="-10" dirty="0">
                <a:solidFill>
                  <a:srgbClr val="FF0000"/>
                </a:solidFill>
                <a:latin typeface="Times New Roman"/>
                <a:cs typeface="Times New Roman"/>
              </a:rPr>
              <a:t>error</a:t>
            </a:r>
            <a:r>
              <a:rPr sz="2000" spc="-10" dirty="0">
                <a:solidFill>
                  <a:srgbClr val="FF0000"/>
                </a:solidFill>
                <a:latin typeface="Times New Roman"/>
                <a:cs typeface="Times New Roman"/>
              </a:rPr>
              <a:t>.</a:t>
            </a:r>
            <a:endParaRPr sz="2000" dirty="0">
              <a:solidFill>
                <a:srgbClr val="FF0000"/>
              </a:solidFill>
              <a:latin typeface="Times New Roman"/>
              <a:cs typeface="Times New Roman"/>
            </a:endParaRPr>
          </a:p>
        </p:txBody>
      </p:sp>
      <p:sp>
        <p:nvSpPr>
          <p:cNvPr id="4" name="object 4"/>
          <p:cNvSpPr txBox="1"/>
          <p:nvPr/>
        </p:nvSpPr>
        <p:spPr>
          <a:xfrm>
            <a:off x="6851395" y="1429003"/>
            <a:ext cx="3898900" cy="337947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int</a:t>
            </a:r>
            <a:r>
              <a:rPr sz="2000" spc="-15" dirty="0">
                <a:latin typeface="Times New Roman"/>
                <a:cs typeface="Times New Roman"/>
              </a:rPr>
              <a:t> </a:t>
            </a:r>
            <a:r>
              <a:rPr sz="2000" spc="-10" dirty="0">
                <a:latin typeface="Times New Roman"/>
                <a:cs typeface="Times New Roman"/>
              </a:rPr>
              <a:t>main()</a:t>
            </a:r>
            <a:endParaRPr sz="2000" dirty="0">
              <a:latin typeface="Times New Roman"/>
              <a:cs typeface="Times New Roman"/>
            </a:endParaRPr>
          </a:p>
          <a:p>
            <a:pPr marL="12700">
              <a:lnSpc>
                <a:spcPct val="100000"/>
              </a:lnSpc>
            </a:pPr>
            <a:r>
              <a:rPr sz="2000" spc="-50" dirty="0">
                <a:latin typeface="Times New Roman"/>
                <a:cs typeface="Times New Roman"/>
              </a:rPr>
              <a:t>{</a:t>
            </a:r>
            <a:endParaRPr sz="2000" dirty="0">
              <a:latin typeface="Times New Roman"/>
              <a:cs typeface="Times New Roman"/>
            </a:endParaRPr>
          </a:p>
          <a:p>
            <a:pPr marL="266700" marR="1267460">
              <a:lnSpc>
                <a:spcPct val="100000"/>
              </a:lnSpc>
            </a:pPr>
            <a:r>
              <a:rPr sz="2000" dirty="0">
                <a:latin typeface="Times New Roman"/>
                <a:cs typeface="Times New Roman"/>
              </a:rPr>
              <a:t>float</a:t>
            </a:r>
            <a:r>
              <a:rPr sz="2000" spc="-50" dirty="0">
                <a:latin typeface="Times New Roman"/>
                <a:cs typeface="Times New Roman"/>
              </a:rPr>
              <a:t> </a:t>
            </a:r>
            <a:r>
              <a:rPr sz="2000" dirty="0">
                <a:latin typeface="Times New Roman"/>
                <a:cs typeface="Times New Roman"/>
              </a:rPr>
              <a:t>numerator</a:t>
            </a:r>
            <a:r>
              <a:rPr sz="2000" spc="-25" dirty="0">
                <a:latin typeface="Times New Roman"/>
                <a:cs typeface="Times New Roman"/>
              </a:rPr>
              <a:t> </a:t>
            </a:r>
            <a:r>
              <a:rPr sz="2000" dirty="0">
                <a:latin typeface="Times New Roman"/>
                <a:cs typeface="Times New Roman"/>
              </a:rPr>
              <a:t>=</a:t>
            </a:r>
            <a:r>
              <a:rPr sz="2000" spc="-25" dirty="0">
                <a:latin typeface="Times New Roman"/>
                <a:cs typeface="Times New Roman"/>
              </a:rPr>
              <a:t> </a:t>
            </a:r>
            <a:r>
              <a:rPr sz="2000" spc="-20" dirty="0">
                <a:latin typeface="Times New Roman"/>
                <a:cs typeface="Times New Roman"/>
              </a:rPr>
              <a:t>12.5; </a:t>
            </a:r>
            <a:r>
              <a:rPr sz="2000" dirty="0">
                <a:latin typeface="Times New Roman"/>
                <a:cs typeface="Times New Roman"/>
              </a:rPr>
              <a:t>float</a:t>
            </a:r>
            <a:r>
              <a:rPr sz="2000" spc="-50" dirty="0">
                <a:latin typeface="Times New Roman"/>
                <a:cs typeface="Times New Roman"/>
              </a:rPr>
              <a:t> </a:t>
            </a:r>
            <a:r>
              <a:rPr sz="2000" dirty="0">
                <a:latin typeface="Times New Roman"/>
                <a:cs typeface="Times New Roman"/>
              </a:rPr>
              <a:t>denominator</a:t>
            </a:r>
            <a:r>
              <a:rPr sz="2000" spc="-35"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sz="2000" spc="-25" dirty="0">
                <a:latin typeface="Times New Roman"/>
                <a:cs typeface="Times New Roman"/>
              </a:rPr>
              <a:t>0; </a:t>
            </a:r>
            <a:r>
              <a:rPr sz="2000" dirty="0">
                <a:latin typeface="Times New Roman"/>
                <a:cs typeface="Times New Roman"/>
              </a:rPr>
              <a:t>float</a:t>
            </a:r>
            <a:r>
              <a:rPr sz="2000" spc="-35" dirty="0">
                <a:latin typeface="Times New Roman"/>
                <a:cs typeface="Times New Roman"/>
              </a:rPr>
              <a:t> </a:t>
            </a:r>
            <a:r>
              <a:rPr sz="2000" spc="-10" dirty="0">
                <a:latin typeface="Times New Roman"/>
                <a:cs typeface="Times New Roman"/>
              </a:rPr>
              <a:t>result;</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266700">
              <a:lnSpc>
                <a:spcPct val="100000"/>
              </a:lnSpc>
            </a:pPr>
            <a:r>
              <a:rPr sz="2000" dirty="0">
                <a:latin typeface="Times New Roman"/>
                <a:cs typeface="Times New Roman"/>
              </a:rPr>
              <a:t>result</a:t>
            </a:r>
            <a:r>
              <a:rPr sz="2000" spc="-40"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spc="-10" dirty="0">
                <a:latin typeface="Times New Roman"/>
                <a:cs typeface="Times New Roman"/>
              </a:rPr>
              <a:t>numerator/denominator;</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266700">
              <a:lnSpc>
                <a:spcPct val="100000"/>
              </a:lnSpc>
              <a:spcBef>
                <a:spcPts val="5"/>
              </a:spcBef>
            </a:pPr>
            <a:r>
              <a:rPr sz="2000" dirty="0">
                <a:latin typeface="Times New Roman"/>
                <a:cs typeface="Times New Roman"/>
              </a:rPr>
              <a:t>cout</a:t>
            </a:r>
            <a:r>
              <a:rPr sz="2000" spc="-20" dirty="0">
                <a:latin typeface="Times New Roman"/>
                <a:cs typeface="Times New Roman"/>
              </a:rPr>
              <a:t> </a:t>
            </a:r>
            <a:r>
              <a:rPr sz="2000" dirty="0">
                <a:latin typeface="Times New Roman"/>
                <a:cs typeface="Times New Roman"/>
              </a:rPr>
              <a:t>&lt;&lt;</a:t>
            </a:r>
            <a:r>
              <a:rPr sz="2000" spc="-10" dirty="0">
                <a:latin typeface="Times New Roman"/>
                <a:cs typeface="Times New Roman"/>
              </a:rPr>
              <a:t> </a:t>
            </a:r>
            <a:r>
              <a:rPr sz="2000" dirty="0">
                <a:latin typeface="Times New Roman"/>
                <a:cs typeface="Times New Roman"/>
              </a:rPr>
              <a:t>"The quotient</a:t>
            </a:r>
            <a:r>
              <a:rPr sz="2000" spc="-45"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12.5/0</a:t>
            </a:r>
            <a:r>
              <a:rPr sz="2000" spc="-30"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spc="-50" dirty="0">
                <a:latin typeface="Times New Roman"/>
                <a:cs typeface="Times New Roman"/>
              </a:rPr>
              <a:t>"</a:t>
            </a:r>
            <a:endParaRPr sz="2000" dirty="0">
              <a:latin typeface="Times New Roman"/>
              <a:cs typeface="Times New Roman"/>
            </a:endParaRPr>
          </a:p>
          <a:p>
            <a:pPr marL="266700" marR="1471930" indent="316865">
              <a:lnSpc>
                <a:spcPct val="100000"/>
              </a:lnSpc>
            </a:pPr>
            <a:r>
              <a:rPr sz="2000" dirty="0">
                <a:latin typeface="Times New Roman"/>
                <a:cs typeface="Times New Roman"/>
              </a:rPr>
              <a:t>&lt;&lt;</a:t>
            </a:r>
            <a:r>
              <a:rPr sz="2000" spc="-10" dirty="0">
                <a:latin typeface="Times New Roman"/>
                <a:cs typeface="Times New Roman"/>
              </a:rPr>
              <a:t> </a:t>
            </a:r>
            <a:r>
              <a:rPr sz="2000" dirty="0">
                <a:latin typeface="Times New Roman"/>
                <a:cs typeface="Times New Roman"/>
              </a:rPr>
              <a:t>result</a:t>
            </a:r>
            <a:r>
              <a:rPr sz="2000" spc="-25" dirty="0">
                <a:latin typeface="Times New Roman"/>
                <a:cs typeface="Times New Roman"/>
              </a:rPr>
              <a:t> </a:t>
            </a:r>
            <a:r>
              <a:rPr sz="2000" dirty="0">
                <a:latin typeface="Times New Roman"/>
                <a:cs typeface="Times New Roman"/>
              </a:rPr>
              <a:t>&lt;&lt;</a:t>
            </a:r>
            <a:r>
              <a:rPr sz="2000" spc="-5" dirty="0">
                <a:latin typeface="Times New Roman"/>
                <a:cs typeface="Times New Roman"/>
              </a:rPr>
              <a:t> </a:t>
            </a:r>
            <a:r>
              <a:rPr sz="2000" spc="-10" dirty="0">
                <a:latin typeface="Times New Roman"/>
                <a:cs typeface="Times New Roman"/>
              </a:rPr>
              <a:t>endl; </a:t>
            </a:r>
            <a:r>
              <a:rPr sz="2000" dirty="0">
                <a:latin typeface="Times New Roman"/>
                <a:cs typeface="Times New Roman"/>
              </a:rPr>
              <a:t>return</a:t>
            </a:r>
            <a:r>
              <a:rPr sz="2000" spc="-35" dirty="0">
                <a:latin typeface="Times New Roman"/>
                <a:cs typeface="Times New Roman"/>
              </a:rPr>
              <a:t> </a:t>
            </a:r>
            <a:r>
              <a:rPr sz="2000" spc="-25" dirty="0">
                <a:latin typeface="Times New Roman"/>
                <a:cs typeface="Times New Roman"/>
              </a:rPr>
              <a:t>0;</a:t>
            </a:r>
            <a:endParaRPr sz="2000" dirty="0">
              <a:latin typeface="Times New Roman"/>
              <a:cs typeface="Times New Roman"/>
            </a:endParaRPr>
          </a:p>
        </p:txBody>
      </p:sp>
      <p:sp>
        <p:nvSpPr>
          <p:cNvPr id="5" name="object 5"/>
          <p:cNvSpPr txBox="1"/>
          <p:nvPr/>
        </p:nvSpPr>
        <p:spPr>
          <a:xfrm>
            <a:off x="6851395" y="4782134"/>
            <a:ext cx="147955" cy="331470"/>
          </a:xfrm>
          <a:prstGeom prst="rect">
            <a:avLst/>
          </a:prstGeom>
        </p:spPr>
        <p:txBody>
          <a:bodyPr vert="horz" wrap="square" lIns="0" tIns="13335" rIns="0" bIns="0" rtlCol="0">
            <a:spAutoFit/>
          </a:bodyPr>
          <a:lstStyle/>
          <a:p>
            <a:pPr marL="12700">
              <a:lnSpc>
                <a:spcPct val="100000"/>
              </a:lnSpc>
              <a:spcBef>
                <a:spcPts val="105"/>
              </a:spcBef>
            </a:pPr>
            <a:r>
              <a:rPr sz="2000" spc="-50" dirty="0">
                <a:latin typeface="Times New Roman"/>
                <a:cs typeface="Times New Roman"/>
              </a:rPr>
              <a:t>}</a:t>
            </a:r>
            <a:endParaRPr sz="2000">
              <a:latin typeface="Times New Roman"/>
              <a:cs typeface="Times New Roman"/>
            </a:endParaRPr>
          </a:p>
        </p:txBody>
      </p:sp>
      <p:sp>
        <p:nvSpPr>
          <p:cNvPr id="10" name="Date Placeholder 9">
            <a:extLst>
              <a:ext uri="{FF2B5EF4-FFF2-40B4-BE49-F238E27FC236}">
                <a16:creationId xmlns:a16="http://schemas.microsoft.com/office/drawing/2014/main" id="{473B2D9A-B4B9-FF96-EC5C-73AD5EB7F1BC}"/>
              </a:ext>
            </a:extLst>
          </p:cNvPr>
          <p:cNvSpPr>
            <a:spLocks noGrp="1"/>
          </p:cNvSpPr>
          <p:nvPr>
            <p:ph type="dt" sz="half" idx="6"/>
          </p:nvPr>
        </p:nvSpPr>
        <p:spPr/>
        <p:txBody>
          <a:bodyPr/>
          <a:lstStyle/>
          <a:p>
            <a:fld id="{CBDAD167-A6D8-4F3A-988D-06322B056CD5}" type="datetime1">
              <a:rPr lang="en-US" smtClean="0"/>
              <a:t>11/17/2025</a:t>
            </a:fld>
            <a:endParaRPr lang="en-US"/>
          </a:p>
        </p:txBody>
      </p:sp>
      <p:sp>
        <p:nvSpPr>
          <p:cNvPr id="12" name="Slide Number Placeholder 11">
            <a:extLst>
              <a:ext uri="{FF2B5EF4-FFF2-40B4-BE49-F238E27FC236}">
                <a16:creationId xmlns:a16="http://schemas.microsoft.com/office/drawing/2014/main" id="{8AB60164-B315-3B53-BA13-73BE254E69B4}"/>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7EA81-021C-99E8-CC25-C0F0E7E1562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5550353-5EF3-D86C-7316-6D84CB660694}"/>
              </a:ext>
            </a:extLst>
          </p:cNvPr>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gn="ctr">
              <a:lnSpc>
                <a:spcPct val="100000"/>
              </a:lnSpc>
              <a:spcBef>
                <a:spcPts val="95"/>
              </a:spcBef>
            </a:pPr>
            <a:r>
              <a:rPr spc="-10" dirty="0">
                <a:latin typeface="Algerian" panose="04020705040A02060702" pitchFamily="82" charset="0"/>
              </a:rPr>
              <a:t>Exception</a:t>
            </a:r>
          </a:p>
        </p:txBody>
      </p:sp>
      <p:sp>
        <p:nvSpPr>
          <p:cNvPr id="4" name="object 4">
            <a:extLst>
              <a:ext uri="{FF2B5EF4-FFF2-40B4-BE49-F238E27FC236}">
                <a16:creationId xmlns:a16="http://schemas.microsoft.com/office/drawing/2014/main" id="{F0A74DC6-D72A-6477-3B62-DAEBB3C49C22}"/>
              </a:ext>
            </a:extLst>
          </p:cNvPr>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5" name="object 5">
            <a:extLst>
              <a:ext uri="{FF2B5EF4-FFF2-40B4-BE49-F238E27FC236}">
                <a16:creationId xmlns:a16="http://schemas.microsoft.com/office/drawing/2014/main" id="{E1BA3A51-39DC-D57B-C556-027792E105D9}"/>
              </a:ext>
            </a:extLst>
          </p:cNvPr>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latin typeface="Times New Roman"/>
              <a:cs typeface="Times New Roman"/>
            </a:endParaRPr>
          </a:p>
        </p:txBody>
      </p:sp>
      <p:sp>
        <p:nvSpPr>
          <p:cNvPr id="6" name="object 6">
            <a:extLst>
              <a:ext uri="{FF2B5EF4-FFF2-40B4-BE49-F238E27FC236}">
                <a16:creationId xmlns:a16="http://schemas.microsoft.com/office/drawing/2014/main" id="{1F9BB648-EB2D-93A4-C48C-E6D122D7D76F}"/>
              </a:ext>
            </a:extLst>
          </p:cNvPr>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a:extLst>
              <a:ext uri="{FF2B5EF4-FFF2-40B4-BE49-F238E27FC236}">
                <a16:creationId xmlns:a16="http://schemas.microsoft.com/office/drawing/2014/main" id="{3745F181-5792-7CA6-A7F5-AF9DCC95887D}"/>
              </a:ext>
            </a:extLst>
          </p:cNvPr>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a:extLst>
              <a:ext uri="{FF2B5EF4-FFF2-40B4-BE49-F238E27FC236}">
                <a16:creationId xmlns:a16="http://schemas.microsoft.com/office/drawing/2014/main" id="{A31D84AB-39D0-00FF-5663-981B74284C3C}"/>
              </a:ext>
            </a:extLst>
          </p:cNvPr>
          <p:cNvSpPr txBox="1"/>
          <p:nvPr/>
        </p:nvSpPr>
        <p:spPr>
          <a:xfrm>
            <a:off x="916939" y="1714576"/>
            <a:ext cx="9993630" cy="3301545"/>
          </a:xfrm>
          <a:prstGeom prst="rect">
            <a:avLst/>
          </a:prstGeom>
        </p:spPr>
        <p:txBody>
          <a:bodyPr vert="horz" wrap="square" lIns="0" tIns="13335" rIns="0" bIns="0" rtlCol="0">
            <a:spAutoFit/>
          </a:bodyPr>
          <a:lstStyle/>
          <a:p>
            <a:pPr marL="12700" algn="just">
              <a:lnSpc>
                <a:spcPct val="100000"/>
              </a:lnSpc>
              <a:spcBef>
                <a:spcPts val="105"/>
              </a:spcBef>
              <a:tabLst>
                <a:tab pos="355600" algn="l"/>
              </a:tabLst>
            </a:pPr>
            <a:r>
              <a:rPr lang="en-US" sz="2800" dirty="0"/>
              <a:t>Exception handling in C++ is a mechanism to detect and manage runtime errors (errors that occur during program execution</a:t>
            </a:r>
            <a:r>
              <a:rPr lang="en-US" sz="2800" b="1" dirty="0"/>
              <a:t>)</a:t>
            </a:r>
            <a:r>
              <a:rPr lang="en-US" sz="2800" dirty="0"/>
              <a:t> in a structured way. </a:t>
            </a:r>
          </a:p>
          <a:p>
            <a:pPr marL="12700" algn="just">
              <a:lnSpc>
                <a:spcPct val="100000"/>
              </a:lnSpc>
              <a:spcBef>
                <a:spcPts val="105"/>
              </a:spcBef>
              <a:tabLst>
                <a:tab pos="355600" algn="l"/>
              </a:tabLst>
            </a:pPr>
            <a:r>
              <a:rPr lang="en-US" sz="2800" b="1" dirty="0"/>
              <a:t>Examples of runtime errors are: </a:t>
            </a:r>
          </a:p>
          <a:p>
            <a:pPr marL="285750" indent="-285750" fontAlgn="base">
              <a:buFont typeface="Wingdings" panose="05000000000000000000" pitchFamily="2" charset="2"/>
              <a:buChar char="Ø"/>
            </a:pPr>
            <a:r>
              <a:rPr lang="en-US" sz="2400" dirty="0"/>
              <a:t>Division by zero</a:t>
            </a:r>
          </a:p>
          <a:p>
            <a:pPr marL="285750" indent="-285750" fontAlgn="base">
              <a:buFont typeface="Wingdings" panose="05000000000000000000" pitchFamily="2" charset="2"/>
              <a:buChar char="Ø"/>
            </a:pPr>
            <a:r>
              <a:rPr lang="en-US" sz="2400" dirty="0"/>
              <a:t>Accessing invalid memory</a:t>
            </a:r>
          </a:p>
          <a:p>
            <a:pPr marL="285750" indent="-285750" fontAlgn="base">
              <a:buFont typeface="Wingdings" panose="05000000000000000000" pitchFamily="2" charset="2"/>
              <a:buChar char="Ø"/>
            </a:pPr>
            <a:r>
              <a:rPr lang="en-US" sz="2400" dirty="0"/>
              <a:t>File I/O failures</a:t>
            </a:r>
          </a:p>
          <a:p>
            <a:pPr marL="527050" indent="-514350" algn="just">
              <a:lnSpc>
                <a:spcPct val="100000"/>
              </a:lnSpc>
              <a:spcBef>
                <a:spcPts val="105"/>
              </a:spcBef>
              <a:buFont typeface="+mj-lt"/>
              <a:buAutoNum type="arabicPeriod"/>
              <a:tabLst>
                <a:tab pos="355600" algn="l"/>
              </a:tabLst>
            </a:pPr>
            <a:endParaRPr sz="2800" b="1" dirty="0">
              <a:latin typeface="Times New Roman"/>
              <a:cs typeface="Times New Roman"/>
            </a:endParaRPr>
          </a:p>
        </p:txBody>
      </p:sp>
      <p:sp>
        <p:nvSpPr>
          <p:cNvPr id="8" name="Date Placeholder 7">
            <a:extLst>
              <a:ext uri="{FF2B5EF4-FFF2-40B4-BE49-F238E27FC236}">
                <a16:creationId xmlns:a16="http://schemas.microsoft.com/office/drawing/2014/main" id="{A3744204-4A91-0860-6B9A-994020334A6E}"/>
              </a:ext>
            </a:extLst>
          </p:cNvPr>
          <p:cNvSpPr>
            <a:spLocks noGrp="1"/>
          </p:cNvSpPr>
          <p:nvPr>
            <p:ph type="dt" sz="half" idx="10"/>
          </p:nvPr>
        </p:nvSpPr>
        <p:spPr/>
        <p:txBody>
          <a:bodyPr/>
          <a:lstStyle/>
          <a:p>
            <a:fld id="{0782298D-EAAA-4D17-87E4-7AE077DA6E03}" type="datetime1">
              <a:rPr lang="en-US" smtClean="0"/>
              <a:t>11/17/2025</a:t>
            </a:fld>
            <a:endParaRPr lang="en-US"/>
          </a:p>
        </p:txBody>
      </p:sp>
      <p:sp>
        <p:nvSpPr>
          <p:cNvPr id="10" name="Slide Number Placeholder 9">
            <a:extLst>
              <a:ext uri="{FF2B5EF4-FFF2-40B4-BE49-F238E27FC236}">
                <a16:creationId xmlns:a16="http://schemas.microsoft.com/office/drawing/2014/main" id="{A9F906D3-B8D3-90BE-38F8-C11DED23F6A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a:t>
            </a:fld>
            <a:endParaRPr spc="-25" dirty="0"/>
          </a:p>
        </p:txBody>
      </p:sp>
    </p:spTree>
    <p:extLst>
      <p:ext uri="{BB962C8B-B14F-4D97-AF65-F5344CB8AC3E}">
        <p14:creationId xmlns:p14="http://schemas.microsoft.com/office/powerpoint/2010/main" val="1772764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9FDF1-C537-166A-D91F-FD843A4125B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924A4DA-9C92-2083-30A8-C20C342FFF71}"/>
              </a:ext>
            </a:extLst>
          </p:cNvPr>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gn="ctr">
              <a:lnSpc>
                <a:spcPct val="100000"/>
              </a:lnSpc>
              <a:spcBef>
                <a:spcPts val="95"/>
              </a:spcBef>
            </a:pPr>
            <a:r>
              <a:rPr spc="-10" dirty="0">
                <a:latin typeface="Algerian" panose="04020705040A02060702" pitchFamily="82" charset="0"/>
              </a:rPr>
              <a:t>Exception</a:t>
            </a:r>
            <a:r>
              <a:rPr lang="en-US" spc="-10" dirty="0">
                <a:latin typeface="Algerian" panose="04020705040A02060702" pitchFamily="82" charset="0"/>
              </a:rPr>
              <a:t> VS ERROR</a:t>
            </a:r>
            <a:endParaRPr spc="-10" dirty="0">
              <a:latin typeface="Algerian" panose="04020705040A02060702" pitchFamily="82" charset="0"/>
            </a:endParaRPr>
          </a:p>
        </p:txBody>
      </p:sp>
      <p:sp>
        <p:nvSpPr>
          <p:cNvPr id="4" name="object 4">
            <a:extLst>
              <a:ext uri="{FF2B5EF4-FFF2-40B4-BE49-F238E27FC236}">
                <a16:creationId xmlns:a16="http://schemas.microsoft.com/office/drawing/2014/main" id="{860DD7AF-D40A-70DF-3770-C89D69786D23}"/>
              </a:ext>
            </a:extLst>
          </p:cNvPr>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5" name="object 5">
            <a:extLst>
              <a:ext uri="{FF2B5EF4-FFF2-40B4-BE49-F238E27FC236}">
                <a16:creationId xmlns:a16="http://schemas.microsoft.com/office/drawing/2014/main" id="{007EA030-69D0-1B9D-00AF-A8864FEAB25C}"/>
              </a:ext>
            </a:extLst>
          </p:cNvPr>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latin typeface="Times New Roman"/>
              <a:cs typeface="Times New Roman"/>
            </a:endParaRPr>
          </a:p>
        </p:txBody>
      </p:sp>
      <p:sp>
        <p:nvSpPr>
          <p:cNvPr id="6" name="object 6">
            <a:extLst>
              <a:ext uri="{FF2B5EF4-FFF2-40B4-BE49-F238E27FC236}">
                <a16:creationId xmlns:a16="http://schemas.microsoft.com/office/drawing/2014/main" id="{36F40FA8-0517-C094-51DD-9319C2E1BC78}"/>
              </a:ext>
            </a:extLst>
          </p:cNvPr>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a:extLst>
              <a:ext uri="{FF2B5EF4-FFF2-40B4-BE49-F238E27FC236}">
                <a16:creationId xmlns:a16="http://schemas.microsoft.com/office/drawing/2014/main" id="{EA3A48A4-3FF2-1363-6356-C93FF11CB989}"/>
              </a:ext>
            </a:extLst>
          </p:cNvPr>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9924BF2C-E680-668E-AB4F-2DCECBA59871}"/>
              </a:ext>
            </a:extLst>
          </p:cNvPr>
          <p:cNvSpPr>
            <a:spLocks noGrp="1"/>
          </p:cNvSpPr>
          <p:nvPr>
            <p:ph type="dt" sz="half" idx="10"/>
          </p:nvPr>
        </p:nvSpPr>
        <p:spPr/>
        <p:txBody>
          <a:bodyPr/>
          <a:lstStyle/>
          <a:p>
            <a:fld id="{ED260456-7165-4D61-8739-295CD4F2BC7F}" type="datetime1">
              <a:rPr lang="en-US" smtClean="0"/>
              <a:t>11/17/2025</a:t>
            </a:fld>
            <a:endParaRPr lang="en-US"/>
          </a:p>
        </p:txBody>
      </p:sp>
      <p:pic>
        <p:nvPicPr>
          <p:cNvPr id="10" name="Picture 9">
            <a:extLst>
              <a:ext uri="{FF2B5EF4-FFF2-40B4-BE49-F238E27FC236}">
                <a16:creationId xmlns:a16="http://schemas.microsoft.com/office/drawing/2014/main" id="{9B5161F8-BEBB-6267-BC9B-A70C3F856C7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00201" y="1605579"/>
            <a:ext cx="9220200" cy="4338022"/>
          </a:xfrm>
          <a:prstGeom prst="rect">
            <a:avLst/>
          </a:prstGeom>
        </p:spPr>
      </p:pic>
      <p:sp>
        <p:nvSpPr>
          <p:cNvPr id="9" name="Slide Number Placeholder 8">
            <a:extLst>
              <a:ext uri="{FF2B5EF4-FFF2-40B4-BE49-F238E27FC236}">
                <a16:creationId xmlns:a16="http://schemas.microsoft.com/office/drawing/2014/main" id="{EA5F0EEF-5011-DC00-D8D7-D40327755F7B}"/>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a:t>
            </a:fld>
            <a:endParaRPr spc="-25" dirty="0"/>
          </a:p>
        </p:txBody>
      </p:sp>
    </p:spTree>
    <p:extLst>
      <p:ext uri="{BB962C8B-B14F-4D97-AF65-F5344CB8AC3E}">
        <p14:creationId xmlns:p14="http://schemas.microsoft.com/office/powerpoint/2010/main" val="2528663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E03F4-A12C-BA3D-5BBC-E4F1F7C795E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A741697-15FB-F873-B4DE-725FA8857A11}"/>
              </a:ext>
            </a:extLst>
          </p:cNvPr>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gn="ctr">
              <a:lnSpc>
                <a:spcPct val="100000"/>
              </a:lnSpc>
              <a:spcBef>
                <a:spcPts val="95"/>
              </a:spcBef>
            </a:pPr>
            <a:r>
              <a:rPr spc="-10" dirty="0">
                <a:latin typeface="Algerian" panose="04020705040A02060702" pitchFamily="82" charset="0"/>
              </a:rPr>
              <a:t>Exception</a:t>
            </a:r>
            <a:r>
              <a:rPr lang="en-US" spc="-10" dirty="0">
                <a:latin typeface="Algerian" panose="04020705040A02060702" pitchFamily="82" charset="0"/>
              </a:rPr>
              <a:t> VS ERROR</a:t>
            </a:r>
            <a:endParaRPr spc="-10" dirty="0">
              <a:latin typeface="Algerian" panose="04020705040A02060702" pitchFamily="82" charset="0"/>
            </a:endParaRPr>
          </a:p>
        </p:txBody>
      </p:sp>
      <p:sp>
        <p:nvSpPr>
          <p:cNvPr id="4" name="object 4">
            <a:extLst>
              <a:ext uri="{FF2B5EF4-FFF2-40B4-BE49-F238E27FC236}">
                <a16:creationId xmlns:a16="http://schemas.microsoft.com/office/drawing/2014/main" id="{364E51A3-DC67-10CB-AFDB-FB17394A9107}"/>
              </a:ext>
            </a:extLst>
          </p:cNvPr>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5" name="object 5">
            <a:extLst>
              <a:ext uri="{FF2B5EF4-FFF2-40B4-BE49-F238E27FC236}">
                <a16:creationId xmlns:a16="http://schemas.microsoft.com/office/drawing/2014/main" id="{D97C23BC-B30D-9923-6A5B-8B0B0DE80917}"/>
              </a:ext>
            </a:extLst>
          </p:cNvPr>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latin typeface="Times New Roman"/>
              <a:cs typeface="Times New Roman"/>
            </a:endParaRPr>
          </a:p>
        </p:txBody>
      </p:sp>
      <p:sp>
        <p:nvSpPr>
          <p:cNvPr id="6" name="object 6">
            <a:extLst>
              <a:ext uri="{FF2B5EF4-FFF2-40B4-BE49-F238E27FC236}">
                <a16:creationId xmlns:a16="http://schemas.microsoft.com/office/drawing/2014/main" id="{1F3A6D34-66D7-67A9-0F9E-A6C8E351AD09}"/>
              </a:ext>
            </a:extLst>
          </p:cNvPr>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a:extLst>
              <a:ext uri="{FF2B5EF4-FFF2-40B4-BE49-F238E27FC236}">
                <a16:creationId xmlns:a16="http://schemas.microsoft.com/office/drawing/2014/main" id="{01C41518-A03D-12C0-36A7-296419A10637}"/>
              </a:ext>
            </a:extLst>
          </p:cNvPr>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EF4F05D9-24A3-FA38-C2E6-C683612D7E5D}"/>
              </a:ext>
            </a:extLst>
          </p:cNvPr>
          <p:cNvSpPr>
            <a:spLocks noGrp="1"/>
          </p:cNvSpPr>
          <p:nvPr>
            <p:ph type="dt" sz="half" idx="10"/>
          </p:nvPr>
        </p:nvSpPr>
        <p:spPr/>
        <p:txBody>
          <a:bodyPr/>
          <a:lstStyle/>
          <a:p>
            <a:fld id="{FB7E9F3D-24EE-42A4-8EA9-F78133E05834}" type="datetime1">
              <a:rPr lang="en-US" smtClean="0"/>
              <a:t>11/17/2025</a:t>
            </a:fld>
            <a:endParaRPr lang="en-US"/>
          </a:p>
        </p:txBody>
      </p:sp>
      <p:pic>
        <p:nvPicPr>
          <p:cNvPr id="10" name="Picture 9">
            <a:extLst>
              <a:ext uri="{FF2B5EF4-FFF2-40B4-BE49-F238E27FC236}">
                <a16:creationId xmlns:a16="http://schemas.microsoft.com/office/drawing/2014/main" id="{CE59583C-DEBF-1E98-A0C9-2C96AC24A7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09800" y="1605578"/>
            <a:ext cx="7924800" cy="4947621"/>
          </a:xfrm>
          <a:prstGeom prst="rect">
            <a:avLst/>
          </a:prstGeom>
        </p:spPr>
      </p:pic>
      <p:sp>
        <p:nvSpPr>
          <p:cNvPr id="9" name="Slide Number Placeholder 8">
            <a:extLst>
              <a:ext uri="{FF2B5EF4-FFF2-40B4-BE49-F238E27FC236}">
                <a16:creationId xmlns:a16="http://schemas.microsoft.com/office/drawing/2014/main" id="{43F39BA3-319D-CCFB-2211-8BC6B6E0026B}"/>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7</a:t>
            </a:fld>
            <a:endParaRPr spc="-25" dirty="0"/>
          </a:p>
        </p:txBody>
      </p:sp>
    </p:spTree>
    <p:extLst>
      <p:ext uri="{BB962C8B-B14F-4D97-AF65-F5344CB8AC3E}">
        <p14:creationId xmlns:p14="http://schemas.microsoft.com/office/powerpoint/2010/main" val="231061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666648"/>
            <a:ext cx="5791199" cy="627736"/>
          </a:xfrm>
          <a:prstGeom prst="rect">
            <a:avLst/>
          </a:prstGeom>
        </p:spPr>
        <p:txBody>
          <a:bodyPr vert="horz" wrap="square" lIns="0" tIns="12065" rIns="0" bIns="0" rtlCol="0">
            <a:spAutoFit/>
          </a:bodyPr>
          <a:lstStyle/>
          <a:p>
            <a:pPr marL="12700">
              <a:lnSpc>
                <a:spcPct val="100000"/>
              </a:lnSpc>
              <a:spcBef>
                <a:spcPts val="95"/>
              </a:spcBef>
            </a:pPr>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 </a:t>
            </a:r>
            <a:endParaRPr spc="-10" dirty="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9" name="object 9"/>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9</a:t>
            </a:r>
            <a:endParaRPr sz="2400">
              <a:latin typeface="Times New Roman"/>
              <a:cs typeface="Times New Roman"/>
            </a:endParaRPr>
          </a:p>
        </p:txBody>
      </p:sp>
      <p:sp>
        <p:nvSpPr>
          <p:cNvPr id="10" name="object 10"/>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1" name="object 11"/>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2" name="Date Placeholder 11">
            <a:extLst>
              <a:ext uri="{FF2B5EF4-FFF2-40B4-BE49-F238E27FC236}">
                <a16:creationId xmlns:a16="http://schemas.microsoft.com/office/drawing/2014/main" id="{ECD60773-0C20-E23D-B818-81D2CCB20AAD}"/>
              </a:ext>
            </a:extLst>
          </p:cNvPr>
          <p:cNvSpPr>
            <a:spLocks noGrp="1"/>
          </p:cNvSpPr>
          <p:nvPr>
            <p:ph type="dt" sz="half" idx="6"/>
          </p:nvPr>
        </p:nvSpPr>
        <p:spPr/>
        <p:txBody>
          <a:bodyPr/>
          <a:lstStyle/>
          <a:p>
            <a:fld id="{AF93E107-E6DC-40F9-9E90-7EEE08D86678}" type="datetime1">
              <a:rPr lang="en-US" smtClean="0"/>
              <a:t>11/17/2025</a:t>
            </a:fld>
            <a:endParaRPr lang="en-US"/>
          </a:p>
        </p:txBody>
      </p:sp>
      <p:sp>
        <p:nvSpPr>
          <p:cNvPr id="13" name="TextBox 12">
            <a:extLst>
              <a:ext uri="{FF2B5EF4-FFF2-40B4-BE49-F238E27FC236}">
                <a16:creationId xmlns:a16="http://schemas.microsoft.com/office/drawing/2014/main" id="{5FCB12B4-CF28-C445-22F2-D7C96F36A614}"/>
              </a:ext>
            </a:extLst>
          </p:cNvPr>
          <p:cNvSpPr txBox="1"/>
          <p:nvPr/>
        </p:nvSpPr>
        <p:spPr>
          <a:xfrm>
            <a:off x="228600" y="1981200"/>
            <a:ext cx="11658600" cy="954107"/>
          </a:xfrm>
          <a:prstGeom prst="rect">
            <a:avLst/>
          </a:prstGeom>
          <a:noFill/>
        </p:spPr>
        <p:txBody>
          <a:bodyPr wrap="square" rtlCol="0">
            <a:spAutoFit/>
          </a:bodyPr>
          <a:lstStyle/>
          <a:p>
            <a:pPr algn="just"/>
            <a:r>
              <a:rPr lang="en-US" sz="2800" dirty="0"/>
              <a:t>Instead of terminating the program abruptly when an error occurs, C++ allows you to </a:t>
            </a:r>
            <a:r>
              <a:rPr lang="en-US" sz="2800" b="1" dirty="0"/>
              <a:t>throw</a:t>
            </a:r>
            <a:r>
              <a:rPr lang="en-US" sz="2800" dirty="0"/>
              <a:t> exceptions and </a:t>
            </a:r>
            <a:r>
              <a:rPr lang="en-US" sz="2800" b="1" dirty="0"/>
              <a:t>catch</a:t>
            </a:r>
            <a:r>
              <a:rPr lang="en-US" sz="2800" dirty="0"/>
              <a:t> them for graceful handling.</a:t>
            </a:r>
          </a:p>
        </p:txBody>
      </p:sp>
      <p:sp>
        <p:nvSpPr>
          <p:cNvPr id="14" name="TextBox 13">
            <a:extLst>
              <a:ext uri="{FF2B5EF4-FFF2-40B4-BE49-F238E27FC236}">
                <a16:creationId xmlns:a16="http://schemas.microsoft.com/office/drawing/2014/main" id="{4F3B24DE-B83A-06EF-8C3E-FE754D3AB74C}"/>
              </a:ext>
            </a:extLst>
          </p:cNvPr>
          <p:cNvSpPr txBox="1"/>
          <p:nvPr/>
        </p:nvSpPr>
        <p:spPr>
          <a:xfrm>
            <a:off x="228600" y="3200400"/>
            <a:ext cx="5564477" cy="830997"/>
          </a:xfrm>
          <a:prstGeom prst="rect">
            <a:avLst/>
          </a:prstGeom>
          <a:noFill/>
        </p:spPr>
        <p:txBody>
          <a:bodyPr wrap="square" rtlCol="0">
            <a:spAutoFit/>
          </a:bodyPr>
          <a:lstStyle/>
          <a:p>
            <a:r>
              <a:rPr lang="en-US" sz="2400" b="1" u="sng" dirty="0"/>
              <a:t>How Exception Handling Works in C++</a:t>
            </a:r>
          </a:p>
          <a:p>
            <a:endParaRPr lang="en-US" sz="2400" u="sng" dirty="0"/>
          </a:p>
        </p:txBody>
      </p:sp>
      <p:sp>
        <p:nvSpPr>
          <p:cNvPr id="15" name="TextBox 14">
            <a:extLst>
              <a:ext uri="{FF2B5EF4-FFF2-40B4-BE49-F238E27FC236}">
                <a16:creationId xmlns:a16="http://schemas.microsoft.com/office/drawing/2014/main" id="{A575C37E-9667-E558-2D4A-5D79CEEE4C9C}"/>
              </a:ext>
            </a:extLst>
          </p:cNvPr>
          <p:cNvSpPr txBox="1"/>
          <p:nvPr/>
        </p:nvSpPr>
        <p:spPr>
          <a:xfrm>
            <a:off x="152400" y="4031397"/>
            <a:ext cx="16002000" cy="2215991"/>
          </a:xfrm>
          <a:prstGeom prst="rect">
            <a:avLst/>
          </a:prstGeom>
          <a:noFill/>
        </p:spPr>
        <p:txBody>
          <a:bodyPr wrap="square" rtlCol="0">
            <a:spAutoFit/>
          </a:bodyPr>
          <a:lstStyle/>
          <a:p>
            <a:pPr marL="285750" indent="-285750" algn="just" fontAlgn="base">
              <a:buFont typeface="Wingdings" panose="05000000000000000000" pitchFamily="2" charset="2"/>
              <a:buChar char="§"/>
            </a:pPr>
            <a:r>
              <a:rPr lang="en-US" sz="2000" b="1" dirty="0"/>
              <a:t>Throwing an Exception: </a:t>
            </a:r>
            <a:r>
              <a:rPr lang="en-US" sz="2000" dirty="0"/>
              <a:t>When an error or unexpected situation occurs, the program uses the throw keyword to </a:t>
            </a:r>
          </a:p>
          <a:p>
            <a:pPr algn="just" fontAlgn="base"/>
            <a:r>
              <a:rPr lang="en-US" sz="2000" dirty="0"/>
              <a:t>			signal an exception.</a:t>
            </a:r>
          </a:p>
          <a:p>
            <a:pPr marL="285750" indent="-285750" algn="just" fontAlgn="base">
              <a:buFont typeface="Wingdings" panose="05000000000000000000" pitchFamily="2" charset="2"/>
              <a:buChar char="§"/>
            </a:pPr>
            <a:r>
              <a:rPr lang="en-US" sz="2000" b="1" dirty="0"/>
              <a:t>Catching an Exception: </a:t>
            </a:r>
            <a:r>
              <a:rPr lang="en-US" sz="2000" dirty="0"/>
              <a:t>The program searches for a matching catch block to intercept and handle the thrown  </a:t>
            </a:r>
          </a:p>
          <a:p>
            <a:pPr algn="just" fontAlgn="base"/>
            <a:r>
              <a:rPr lang="en-US" sz="2000" dirty="0"/>
              <a:t>			exception.</a:t>
            </a:r>
          </a:p>
          <a:p>
            <a:pPr marL="285750" indent="-285750" algn="just" fontAlgn="base">
              <a:buFont typeface="Wingdings" panose="05000000000000000000" pitchFamily="2" charset="2"/>
              <a:buChar char="§"/>
            </a:pPr>
            <a:r>
              <a:rPr lang="en-US" sz="2000" b="1" dirty="0"/>
              <a:t>Handling the Exception: </a:t>
            </a:r>
            <a:r>
              <a:rPr lang="en-US" sz="2000" dirty="0"/>
              <a:t>The catch block contains the logic to respond to the error, allowing the program to </a:t>
            </a:r>
          </a:p>
          <a:p>
            <a:pPr algn="just" fontAlgn="base"/>
            <a:r>
              <a:rPr lang="en-US" sz="2000" dirty="0"/>
              <a:t>			recover or terminate gracefully.</a:t>
            </a:r>
          </a:p>
          <a:p>
            <a:endParaRPr lang="en-US" dirty="0"/>
          </a:p>
        </p:txBody>
      </p:sp>
      <p:sp>
        <p:nvSpPr>
          <p:cNvPr id="4" name="Slide Number Placeholder 3">
            <a:extLst>
              <a:ext uri="{FF2B5EF4-FFF2-40B4-BE49-F238E27FC236}">
                <a16:creationId xmlns:a16="http://schemas.microsoft.com/office/drawing/2014/main" id="{3AF0B8D3-9A69-DAC7-D1EA-630CD17AFE50}"/>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11C67-B4F8-D4DE-CD57-3FF40C1693E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3A04F18-A5CC-1AE9-E8AA-F039A43DB752}"/>
              </a:ext>
            </a:extLst>
          </p:cNvPr>
          <p:cNvSpPr txBox="1">
            <a:spLocks noGrp="1"/>
          </p:cNvSpPr>
          <p:nvPr>
            <p:ph type="title"/>
          </p:nvPr>
        </p:nvSpPr>
        <p:spPr>
          <a:xfrm>
            <a:off x="916939" y="666648"/>
            <a:ext cx="5560061" cy="627736"/>
          </a:xfrm>
          <a:prstGeom prst="rect">
            <a:avLst/>
          </a:prstGeom>
        </p:spPr>
        <p:txBody>
          <a:bodyPr vert="horz" wrap="square" lIns="0" tIns="12065" rIns="0" bIns="0" rtlCol="0">
            <a:spAutoFit/>
          </a:bodyPr>
          <a:lstStyle/>
          <a:p>
            <a:pPr marL="12700">
              <a:lnSpc>
                <a:spcPct val="100000"/>
              </a:lnSpc>
              <a:spcBef>
                <a:spcPts val="95"/>
              </a:spcBef>
            </a:pPr>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a:t>
            </a:r>
            <a:endParaRPr spc="-10" dirty="0"/>
          </a:p>
        </p:txBody>
      </p:sp>
      <p:sp>
        <p:nvSpPr>
          <p:cNvPr id="8" name="object 8">
            <a:extLst>
              <a:ext uri="{FF2B5EF4-FFF2-40B4-BE49-F238E27FC236}">
                <a16:creationId xmlns:a16="http://schemas.microsoft.com/office/drawing/2014/main" id="{8AE82EF3-A021-39BC-9C6E-A8B440EB512A}"/>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9" name="object 9">
            <a:extLst>
              <a:ext uri="{FF2B5EF4-FFF2-40B4-BE49-F238E27FC236}">
                <a16:creationId xmlns:a16="http://schemas.microsoft.com/office/drawing/2014/main" id="{951F758D-07A8-A54C-26FC-E4EDA85DEC7F}"/>
              </a:ext>
            </a:extLst>
          </p:cNvPr>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9</a:t>
            </a:r>
            <a:endParaRPr sz="2400">
              <a:latin typeface="Times New Roman"/>
              <a:cs typeface="Times New Roman"/>
            </a:endParaRPr>
          </a:p>
        </p:txBody>
      </p:sp>
      <p:sp>
        <p:nvSpPr>
          <p:cNvPr id="10" name="object 10">
            <a:extLst>
              <a:ext uri="{FF2B5EF4-FFF2-40B4-BE49-F238E27FC236}">
                <a16:creationId xmlns:a16="http://schemas.microsoft.com/office/drawing/2014/main" id="{22570056-F61A-171D-AE10-8467A7BE4CA8}"/>
              </a:ext>
            </a:extLst>
          </p:cNvPr>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1" name="object 11">
            <a:extLst>
              <a:ext uri="{FF2B5EF4-FFF2-40B4-BE49-F238E27FC236}">
                <a16:creationId xmlns:a16="http://schemas.microsoft.com/office/drawing/2014/main" id="{8CB55436-B89D-960A-2454-074581A3B4DD}"/>
              </a:ext>
            </a:extLst>
          </p:cNvPr>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a:extLst>
              <a:ext uri="{FF2B5EF4-FFF2-40B4-BE49-F238E27FC236}">
                <a16:creationId xmlns:a16="http://schemas.microsoft.com/office/drawing/2014/main" id="{B374BAE3-484B-6BCC-046A-98A82D3ED56B}"/>
              </a:ext>
            </a:extLst>
          </p:cNvPr>
          <p:cNvSpPr txBox="1"/>
          <p:nvPr/>
        </p:nvSpPr>
        <p:spPr>
          <a:xfrm>
            <a:off x="916939" y="2203780"/>
            <a:ext cx="4217670" cy="185610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Can</a:t>
            </a:r>
            <a:r>
              <a:rPr sz="2000" spc="-15" dirty="0">
                <a:latin typeface="Times New Roman"/>
                <a:cs typeface="Times New Roman"/>
              </a:rPr>
              <a:t> </a:t>
            </a:r>
            <a:r>
              <a:rPr sz="2000" dirty="0">
                <a:latin typeface="Times New Roman"/>
                <a:cs typeface="Times New Roman"/>
              </a:rPr>
              <a:t>resolve</a:t>
            </a:r>
            <a:r>
              <a:rPr sz="2000" spc="-30" dirty="0">
                <a:latin typeface="Times New Roman"/>
                <a:cs typeface="Times New Roman"/>
              </a:rPr>
              <a:t> </a:t>
            </a:r>
            <a:r>
              <a:rPr sz="2000" spc="-10" dirty="0">
                <a:latin typeface="Times New Roman"/>
                <a:cs typeface="Times New Roman"/>
              </a:rPr>
              <a:t>exceptions:</a:t>
            </a:r>
            <a:endParaRPr sz="2000">
              <a:latin typeface="Times New Roman"/>
              <a:cs typeface="Times New Roman"/>
            </a:endParaRPr>
          </a:p>
          <a:p>
            <a:pPr marL="355600" marR="5080" indent="-343535">
              <a:lnSpc>
                <a:spcPct val="100000"/>
              </a:lnSpc>
              <a:spcBef>
                <a:spcPts val="5"/>
              </a:spcBef>
              <a:buFont typeface="Arial MT"/>
              <a:buChar char="•"/>
              <a:tabLst>
                <a:tab pos="355600" algn="l"/>
                <a:tab pos="1285240" algn="l"/>
                <a:tab pos="1689100" algn="l"/>
                <a:tab pos="2839720" algn="l"/>
                <a:tab pos="3330575" algn="l"/>
              </a:tabLst>
            </a:pPr>
            <a:r>
              <a:rPr sz="2000" spc="-10" dirty="0">
                <a:latin typeface="Times New Roman"/>
                <a:cs typeface="Times New Roman"/>
              </a:rPr>
              <a:t>Allow</a:t>
            </a:r>
            <a:r>
              <a:rPr sz="2000" dirty="0">
                <a:latin typeface="Times New Roman"/>
                <a:cs typeface="Times New Roman"/>
              </a:rPr>
              <a:t>	</a:t>
            </a:r>
            <a:r>
              <a:rPr sz="2000" spc="-50" dirty="0">
                <a:latin typeface="Times New Roman"/>
                <a:cs typeface="Times New Roman"/>
              </a:rPr>
              <a:t>a</a:t>
            </a:r>
            <a:r>
              <a:rPr sz="2000" dirty="0">
                <a:latin typeface="Times New Roman"/>
                <a:cs typeface="Times New Roman"/>
              </a:rPr>
              <a:t>	</a:t>
            </a:r>
            <a:r>
              <a:rPr sz="2000" spc="-10" dirty="0">
                <a:latin typeface="Times New Roman"/>
                <a:cs typeface="Times New Roman"/>
              </a:rPr>
              <a:t>program</a:t>
            </a:r>
            <a:r>
              <a:rPr sz="2000" dirty="0">
                <a:latin typeface="Times New Roman"/>
                <a:cs typeface="Times New Roman"/>
              </a:rPr>
              <a:t>	</a:t>
            </a:r>
            <a:r>
              <a:rPr sz="2000" spc="-25" dirty="0">
                <a:latin typeface="Times New Roman"/>
                <a:cs typeface="Times New Roman"/>
              </a:rPr>
              <a:t>to</a:t>
            </a:r>
            <a:r>
              <a:rPr sz="2000" dirty="0">
                <a:latin typeface="Times New Roman"/>
                <a:cs typeface="Times New Roman"/>
              </a:rPr>
              <a:t>	</a:t>
            </a:r>
            <a:r>
              <a:rPr sz="2000" spc="-10" dirty="0">
                <a:latin typeface="Times New Roman"/>
                <a:cs typeface="Times New Roman"/>
              </a:rPr>
              <a:t>continue </a:t>
            </a:r>
            <a:r>
              <a:rPr sz="2000" dirty="0">
                <a:latin typeface="Times New Roman"/>
                <a:cs typeface="Times New Roman"/>
              </a:rPr>
              <a:t>executing</a:t>
            </a:r>
            <a:r>
              <a:rPr sz="2000" spc="-20" dirty="0">
                <a:latin typeface="Times New Roman"/>
                <a:cs typeface="Times New Roman"/>
              </a:rPr>
              <a:t> </a:t>
            </a:r>
            <a:r>
              <a:rPr sz="2000" spc="-25" dirty="0">
                <a:latin typeface="Times New Roman"/>
                <a:cs typeface="Times New Roman"/>
              </a:rPr>
              <a:t>or</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Notify</a:t>
            </a:r>
            <a:r>
              <a:rPr sz="2000" spc="-3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user</a:t>
            </a:r>
            <a:r>
              <a:rPr sz="2000" spc="-1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problem</a:t>
            </a:r>
            <a:r>
              <a:rPr sz="2000" spc="-50" dirty="0">
                <a:latin typeface="Times New Roman"/>
                <a:cs typeface="Times New Roman"/>
              </a:rPr>
              <a:t> </a:t>
            </a:r>
            <a:r>
              <a:rPr sz="2000" spc="-25" dirty="0">
                <a:latin typeface="Times New Roman"/>
                <a:cs typeface="Times New Roman"/>
              </a:rPr>
              <a:t>and</a:t>
            </a:r>
            <a:endParaRPr sz="2000">
              <a:latin typeface="Times New Roman"/>
              <a:cs typeface="Times New Roman"/>
            </a:endParaRPr>
          </a:p>
          <a:p>
            <a:pPr marL="355600" indent="-342900">
              <a:lnSpc>
                <a:spcPct val="100000"/>
              </a:lnSpc>
              <a:buFont typeface="Arial MT"/>
              <a:buChar char="•"/>
              <a:tabLst>
                <a:tab pos="355600" algn="l"/>
              </a:tabLst>
            </a:pPr>
            <a:r>
              <a:rPr sz="2000" spc="-10" dirty="0">
                <a:latin typeface="Times New Roman"/>
                <a:cs typeface="Times New Roman"/>
              </a:rPr>
              <a:t>Terminate</a:t>
            </a:r>
            <a:r>
              <a:rPr sz="2000" spc="-40" dirty="0">
                <a:latin typeface="Times New Roman"/>
                <a:cs typeface="Times New Roman"/>
              </a:rPr>
              <a:t> </a:t>
            </a:r>
            <a:r>
              <a:rPr sz="2000" dirty="0">
                <a:latin typeface="Times New Roman"/>
                <a:cs typeface="Times New Roman"/>
              </a:rPr>
              <a:t>the</a:t>
            </a:r>
            <a:r>
              <a:rPr sz="2000" spc="-45" dirty="0">
                <a:latin typeface="Times New Roman"/>
                <a:cs typeface="Times New Roman"/>
              </a:rPr>
              <a:t> </a:t>
            </a:r>
            <a:r>
              <a:rPr sz="2000" dirty="0">
                <a:latin typeface="Times New Roman"/>
                <a:cs typeface="Times New Roman"/>
              </a:rPr>
              <a:t>program</a:t>
            </a:r>
            <a:r>
              <a:rPr sz="2000" spc="-45"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a</a:t>
            </a:r>
            <a:r>
              <a:rPr sz="2000" spc="-25" dirty="0">
                <a:latin typeface="Times New Roman"/>
                <a:cs typeface="Times New Roman"/>
              </a:rPr>
              <a:t> </a:t>
            </a:r>
            <a:r>
              <a:rPr sz="2000" spc="-10" dirty="0">
                <a:latin typeface="Times New Roman"/>
                <a:cs typeface="Times New Roman"/>
              </a:rPr>
              <a:t>controlled</a:t>
            </a:r>
            <a:endParaRPr sz="2000">
              <a:latin typeface="Times New Roman"/>
              <a:cs typeface="Times New Roman"/>
            </a:endParaRPr>
          </a:p>
          <a:p>
            <a:pPr marL="355600">
              <a:lnSpc>
                <a:spcPct val="100000"/>
              </a:lnSpc>
            </a:pPr>
            <a:r>
              <a:rPr sz="2000" spc="-10" dirty="0">
                <a:latin typeface="Times New Roman"/>
                <a:cs typeface="Times New Roman"/>
              </a:rPr>
              <a:t>manner</a:t>
            </a:r>
            <a:endParaRPr sz="2000">
              <a:latin typeface="Times New Roman"/>
              <a:cs typeface="Times New Roman"/>
            </a:endParaRPr>
          </a:p>
        </p:txBody>
      </p:sp>
      <p:sp>
        <p:nvSpPr>
          <p:cNvPr id="4" name="object 4">
            <a:extLst>
              <a:ext uri="{FF2B5EF4-FFF2-40B4-BE49-F238E27FC236}">
                <a16:creationId xmlns:a16="http://schemas.microsoft.com/office/drawing/2014/main" id="{501778C2-6B9E-6F5E-0BCE-042D29F62490}"/>
              </a:ext>
            </a:extLst>
          </p:cNvPr>
          <p:cNvSpPr txBox="1"/>
          <p:nvPr/>
        </p:nvSpPr>
        <p:spPr>
          <a:xfrm>
            <a:off x="916939" y="4643120"/>
            <a:ext cx="746760" cy="330835"/>
          </a:xfrm>
          <a:prstGeom prst="rect">
            <a:avLst/>
          </a:prstGeom>
        </p:spPr>
        <p:txBody>
          <a:bodyPr vert="horz" wrap="square" lIns="0" tIns="12700" rIns="0" bIns="0" rtlCol="0">
            <a:spAutoFit/>
          </a:bodyPr>
          <a:lstStyle/>
          <a:p>
            <a:pPr marL="12700">
              <a:lnSpc>
                <a:spcPct val="100000"/>
              </a:lnSpc>
              <a:spcBef>
                <a:spcPts val="100"/>
              </a:spcBef>
            </a:pPr>
            <a:r>
              <a:rPr sz="2000" b="1" spc="-10" dirty="0">
                <a:latin typeface="Times New Roman"/>
                <a:cs typeface="Times New Roman"/>
              </a:rPr>
              <a:t>Makes</a:t>
            </a:r>
            <a:endParaRPr sz="2000">
              <a:latin typeface="Times New Roman"/>
              <a:cs typeface="Times New Roman"/>
            </a:endParaRPr>
          </a:p>
        </p:txBody>
      </p:sp>
      <p:sp>
        <p:nvSpPr>
          <p:cNvPr id="5" name="object 5">
            <a:extLst>
              <a:ext uri="{FF2B5EF4-FFF2-40B4-BE49-F238E27FC236}">
                <a16:creationId xmlns:a16="http://schemas.microsoft.com/office/drawing/2014/main" id="{8B1A597E-F3EB-C945-E735-4D760A8C6046}"/>
              </a:ext>
            </a:extLst>
          </p:cNvPr>
          <p:cNvSpPr txBox="1"/>
          <p:nvPr/>
        </p:nvSpPr>
        <p:spPr>
          <a:xfrm>
            <a:off x="1816354" y="4643120"/>
            <a:ext cx="3317240" cy="330835"/>
          </a:xfrm>
          <a:prstGeom prst="rect">
            <a:avLst/>
          </a:prstGeom>
        </p:spPr>
        <p:txBody>
          <a:bodyPr vert="horz" wrap="square" lIns="0" tIns="12700" rIns="0" bIns="0" rtlCol="0">
            <a:spAutoFit/>
          </a:bodyPr>
          <a:lstStyle/>
          <a:p>
            <a:pPr marL="12700">
              <a:lnSpc>
                <a:spcPct val="100000"/>
              </a:lnSpc>
              <a:spcBef>
                <a:spcPts val="100"/>
              </a:spcBef>
              <a:tabLst>
                <a:tab pos="1245235" algn="l"/>
                <a:tab pos="2123440" algn="l"/>
                <a:tab pos="2713355" algn="l"/>
              </a:tabLst>
            </a:pPr>
            <a:r>
              <a:rPr sz="2000" b="1" spc="-10" dirty="0">
                <a:latin typeface="Times New Roman"/>
                <a:cs typeface="Times New Roman"/>
              </a:rPr>
              <a:t>programs</a:t>
            </a:r>
            <a:r>
              <a:rPr sz="2000" b="1" dirty="0">
                <a:latin typeface="Times New Roman"/>
                <a:cs typeface="Times New Roman"/>
              </a:rPr>
              <a:t>	</a:t>
            </a:r>
            <a:r>
              <a:rPr sz="2000" b="1" spc="-10" dirty="0">
                <a:latin typeface="Times New Roman"/>
                <a:cs typeface="Times New Roman"/>
              </a:rPr>
              <a:t>robust</a:t>
            </a:r>
            <a:r>
              <a:rPr sz="2000" b="1" dirty="0">
                <a:latin typeface="Times New Roman"/>
                <a:cs typeface="Times New Roman"/>
              </a:rPr>
              <a:t>	</a:t>
            </a:r>
            <a:r>
              <a:rPr sz="2000" b="1" spc="-25" dirty="0">
                <a:latin typeface="Times New Roman"/>
                <a:cs typeface="Times New Roman"/>
              </a:rPr>
              <a:t>and</a:t>
            </a:r>
            <a:r>
              <a:rPr sz="2000" b="1" dirty="0">
                <a:latin typeface="Times New Roman"/>
                <a:cs typeface="Times New Roman"/>
              </a:rPr>
              <a:t>	</a:t>
            </a:r>
            <a:r>
              <a:rPr sz="2000" b="1" spc="-10" dirty="0">
                <a:latin typeface="Times New Roman"/>
                <a:cs typeface="Times New Roman"/>
              </a:rPr>
              <a:t>fault-</a:t>
            </a:r>
            <a:endParaRPr sz="2000">
              <a:latin typeface="Times New Roman"/>
              <a:cs typeface="Times New Roman"/>
            </a:endParaRPr>
          </a:p>
        </p:txBody>
      </p:sp>
      <p:sp>
        <p:nvSpPr>
          <p:cNvPr id="6" name="object 6">
            <a:extLst>
              <a:ext uri="{FF2B5EF4-FFF2-40B4-BE49-F238E27FC236}">
                <a16:creationId xmlns:a16="http://schemas.microsoft.com/office/drawing/2014/main" id="{90F111C0-38C8-D352-B112-57500A4CD826}"/>
              </a:ext>
            </a:extLst>
          </p:cNvPr>
          <p:cNvSpPr txBox="1"/>
          <p:nvPr/>
        </p:nvSpPr>
        <p:spPr>
          <a:xfrm>
            <a:off x="916939" y="4947615"/>
            <a:ext cx="953769" cy="331470"/>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Times New Roman"/>
                <a:cs typeface="Times New Roman"/>
              </a:rPr>
              <a:t>tolerant.</a:t>
            </a:r>
            <a:endParaRPr sz="2000">
              <a:latin typeface="Times New Roman"/>
              <a:cs typeface="Times New Roman"/>
            </a:endParaRPr>
          </a:p>
        </p:txBody>
      </p:sp>
      <p:sp>
        <p:nvSpPr>
          <p:cNvPr id="7" name="object 7">
            <a:extLst>
              <a:ext uri="{FF2B5EF4-FFF2-40B4-BE49-F238E27FC236}">
                <a16:creationId xmlns:a16="http://schemas.microsoft.com/office/drawing/2014/main" id="{5EB0EAD6-F37B-CE75-B94B-926F527A1EF7}"/>
              </a:ext>
            </a:extLst>
          </p:cNvPr>
          <p:cNvSpPr txBox="1"/>
          <p:nvPr/>
        </p:nvSpPr>
        <p:spPr>
          <a:xfrm>
            <a:off x="6294882" y="1251026"/>
            <a:ext cx="4977130" cy="496506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int </a:t>
            </a:r>
            <a:r>
              <a:rPr sz="1800" spc="-10" dirty="0">
                <a:latin typeface="Times New Roman"/>
                <a:cs typeface="Times New Roman"/>
              </a:rPr>
              <a:t>main()</a:t>
            </a:r>
            <a:endParaRPr sz="1800">
              <a:latin typeface="Times New Roman"/>
              <a:cs typeface="Times New Roman"/>
            </a:endParaRPr>
          </a:p>
          <a:p>
            <a:pPr marL="12700">
              <a:lnSpc>
                <a:spcPct val="100000"/>
              </a:lnSpc>
              <a:spcBef>
                <a:spcPts val="5"/>
              </a:spcBef>
            </a:pPr>
            <a:r>
              <a:rPr sz="1800" spc="-50" dirty="0">
                <a:latin typeface="Times New Roman"/>
                <a:cs typeface="Times New Roman"/>
              </a:rPr>
              <a:t>{</a:t>
            </a:r>
            <a:endParaRPr sz="1800">
              <a:latin typeface="Times New Roman"/>
              <a:cs typeface="Times New Roman"/>
            </a:endParaRPr>
          </a:p>
          <a:p>
            <a:pPr marL="240665" marR="2605405">
              <a:lnSpc>
                <a:spcPct val="100000"/>
              </a:lnSpc>
            </a:pPr>
            <a:r>
              <a:rPr sz="1800" dirty="0">
                <a:latin typeface="Times New Roman"/>
                <a:cs typeface="Times New Roman"/>
              </a:rPr>
              <a:t>float</a:t>
            </a:r>
            <a:r>
              <a:rPr sz="1800" spc="-40" dirty="0">
                <a:latin typeface="Times New Roman"/>
                <a:cs typeface="Times New Roman"/>
              </a:rPr>
              <a:t> </a:t>
            </a:r>
            <a:r>
              <a:rPr sz="1800" dirty="0">
                <a:latin typeface="Times New Roman"/>
                <a:cs typeface="Times New Roman"/>
              </a:rPr>
              <a:t>numerator</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12.5; </a:t>
            </a:r>
            <a:r>
              <a:rPr sz="1800" dirty="0">
                <a:latin typeface="Times New Roman"/>
                <a:cs typeface="Times New Roman"/>
              </a:rPr>
              <a:t>float</a:t>
            </a:r>
            <a:r>
              <a:rPr sz="1800" spc="-55" dirty="0">
                <a:latin typeface="Times New Roman"/>
                <a:cs typeface="Times New Roman"/>
              </a:rPr>
              <a:t> </a:t>
            </a:r>
            <a:r>
              <a:rPr sz="1800" dirty="0">
                <a:latin typeface="Times New Roman"/>
                <a:cs typeface="Times New Roman"/>
              </a:rPr>
              <a:t>denominator</a:t>
            </a:r>
            <a:r>
              <a:rPr sz="1800" spc="-35"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spc="-25" dirty="0">
                <a:latin typeface="Times New Roman"/>
                <a:cs typeface="Times New Roman"/>
              </a:rPr>
              <a:t>0; </a:t>
            </a:r>
            <a:r>
              <a:rPr sz="1800" dirty="0">
                <a:latin typeface="Times New Roman"/>
                <a:cs typeface="Times New Roman"/>
              </a:rPr>
              <a:t>float</a:t>
            </a:r>
            <a:r>
              <a:rPr sz="1800" spc="-40" dirty="0">
                <a:latin typeface="Times New Roman"/>
                <a:cs typeface="Times New Roman"/>
              </a:rPr>
              <a:t> </a:t>
            </a:r>
            <a:r>
              <a:rPr sz="1800" spc="-10" dirty="0">
                <a:latin typeface="Times New Roman"/>
                <a:cs typeface="Times New Roman"/>
              </a:rPr>
              <a:t>result;</a:t>
            </a:r>
            <a:endParaRPr sz="1800">
              <a:latin typeface="Times New Roman"/>
              <a:cs typeface="Times New Roman"/>
            </a:endParaRPr>
          </a:p>
          <a:p>
            <a:pPr marL="240665">
              <a:lnSpc>
                <a:spcPct val="100000"/>
              </a:lnSpc>
            </a:pPr>
            <a:r>
              <a:rPr sz="1800" dirty="0">
                <a:latin typeface="Times New Roman"/>
                <a:cs typeface="Times New Roman"/>
              </a:rPr>
              <a:t>try</a:t>
            </a:r>
            <a:r>
              <a:rPr sz="1800" spc="-10" dirty="0">
                <a:latin typeface="Times New Roman"/>
                <a:cs typeface="Times New Roman"/>
              </a:rPr>
              <a:t> </a:t>
            </a:r>
            <a:r>
              <a:rPr sz="1800" spc="-60" dirty="0">
                <a:latin typeface="Times New Roman"/>
                <a:cs typeface="Times New Roman"/>
              </a:rPr>
              <a:t>{</a:t>
            </a:r>
            <a:endParaRPr sz="1800">
              <a:latin typeface="Times New Roman"/>
              <a:cs typeface="Times New Roman"/>
            </a:endParaRPr>
          </a:p>
          <a:p>
            <a:pPr marL="640080">
              <a:lnSpc>
                <a:spcPct val="100000"/>
              </a:lnSpc>
            </a:pPr>
            <a:r>
              <a:rPr sz="1800" dirty="0">
                <a:latin typeface="Times New Roman"/>
                <a:cs typeface="Times New Roman"/>
              </a:rPr>
              <a:t>if</a:t>
            </a:r>
            <a:r>
              <a:rPr sz="1800" spc="-20" dirty="0">
                <a:latin typeface="Times New Roman"/>
                <a:cs typeface="Times New Roman"/>
              </a:rPr>
              <a:t> </a:t>
            </a:r>
            <a:r>
              <a:rPr sz="1800" dirty="0">
                <a:latin typeface="Times New Roman"/>
                <a:cs typeface="Times New Roman"/>
              </a:rPr>
              <a:t>(denominator</a:t>
            </a:r>
            <a:r>
              <a:rPr sz="1800" spc="-25" dirty="0">
                <a:latin typeface="Times New Roman"/>
                <a:cs typeface="Times New Roman"/>
              </a:rPr>
              <a:t> </a:t>
            </a:r>
            <a:r>
              <a:rPr sz="1800" dirty="0">
                <a:latin typeface="Times New Roman"/>
                <a:cs typeface="Times New Roman"/>
              </a:rPr>
              <a:t>!=</a:t>
            </a:r>
            <a:r>
              <a:rPr sz="1800" spc="-40" dirty="0">
                <a:latin typeface="Times New Roman"/>
                <a:cs typeface="Times New Roman"/>
              </a:rPr>
              <a:t> </a:t>
            </a:r>
            <a:r>
              <a:rPr sz="1800" dirty="0">
                <a:latin typeface="Times New Roman"/>
                <a:cs typeface="Times New Roman"/>
              </a:rPr>
              <a:t>0)</a:t>
            </a:r>
            <a:r>
              <a:rPr sz="1800" spc="-2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7865" marR="1008380">
              <a:lnSpc>
                <a:spcPct val="100000"/>
              </a:lnSpc>
            </a:pPr>
            <a:r>
              <a:rPr sz="1800" dirty="0">
                <a:latin typeface="Times New Roman"/>
                <a:cs typeface="Times New Roman"/>
              </a:rPr>
              <a:t>result</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numerator/denominator; </a:t>
            </a:r>
            <a:r>
              <a:rPr sz="1800" dirty="0">
                <a:latin typeface="Times New Roman"/>
                <a:cs typeface="Times New Roman"/>
              </a:rPr>
              <a:t>cout</a:t>
            </a:r>
            <a:r>
              <a:rPr sz="1800" spc="-20" dirty="0">
                <a:latin typeface="Times New Roman"/>
                <a:cs typeface="Times New Roman"/>
              </a:rPr>
              <a:t> </a:t>
            </a: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quotient</a:t>
            </a:r>
            <a:r>
              <a:rPr sz="1800" spc="-15"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dirty="0">
                <a:latin typeface="Times New Roman"/>
                <a:cs typeface="Times New Roman"/>
              </a:rPr>
              <a:t>12.5/0</a:t>
            </a:r>
            <a:r>
              <a:rPr sz="1800" spc="-15" dirty="0">
                <a:latin typeface="Times New Roman"/>
                <a:cs typeface="Times New Roman"/>
              </a:rPr>
              <a:t> </a:t>
            </a:r>
            <a:r>
              <a:rPr sz="1800" dirty="0">
                <a:latin typeface="Times New Roman"/>
                <a:cs typeface="Times New Roman"/>
              </a:rPr>
              <a:t>is</a:t>
            </a:r>
            <a:r>
              <a:rPr sz="1800" spc="-2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1155065">
              <a:lnSpc>
                <a:spcPct val="100000"/>
              </a:lnSpc>
            </a:pP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result</a:t>
            </a:r>
            <a:r>
              <a:rPr sz="1800" spc="-15"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spc="-10" dirty="0">
                <a:latin typeface="Times New Roman"/>
                <a:cs typeface="Times New Roman"/>
              </a:rPr>
              <a:t>endl;</a:t>
            </a:r>
            <a:endParaRPr sz="1800">
              <a:latin typeface="Times New Roman"/>
              <a:cs typeface="Times New Roman"/>
            </a:endParaRPr>
          </a:p>
          <a:p>
            <a:pPr marL="469265">
              <a:lnSpc>
                <a:spcPct val="100000"/>
              </a:lnSpc>
            </a:pP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else</a:t>
            </a:r>
            <a:r>
              <a:rPr sz="1800" spc="-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7865">
              <a:lnSpc>
                <a:spcPct val="100000"/>
              </a:lnSpc>
              <a:spcBef>
                <a:spcPts val="5"/>
              </a:spcBef>
            </a:pPr>
            <a:r>
              <a:rPr sz="1800" dirty="0">
                <a:latin typeface="Times New Roman"/>
                <a:cs typeface="Times New Roman"/>
              </a:rPr>
              <a:t>throw</a:t>
            </a:r>
            <a:r>
              <a:rPr sz="1800" spc="-55" dirty="0">
                <a:latin typeface="Times New Roman"/>
                <a:cs typeface="Times New Roman"/>
              </a:rPr>
              <a:t> </a:t>
            </a:r>
            <a:r>
              <a:rPr sz="1800" spc="-10" dirty="0">
                <a:latin typeface="Times New Roman"/>
                <a:cs typeface="Times New Roman"/>
              </a:rPr>
              <a:t>(denominator);</a:t>
            </a:r>
            <a:endParaRPr sz="1800">
              <a:latin typeface="Times New Roman"/>
              <a:cs typeface="Times New Roman"/>
            </a:endParaRPr>
          </a:p>
          <a:p>
            <a:pPr marL="469265">
              <a:lnSpc>
                <a:spcPct val="100000"/>
              </a:lnSpc>
            </a:pPr>
            <a:r>
              <a:rPr sz="1800" spc="-50" dirty="0">
                <a:latin typeface="Times New Roman"/>
                <a:cs typeface="Times New Roman"/>
              </a:rPr>
              <a:t>}</a:t>
            </a:r>
            <a:endParaRPr sz="1800">
              <a:latin typeface="Times New Roman"/>
              <a:cs typeface="Times New Roman"/>
            </a:endParaRPr>
          </a:p>
          <a:p>
            <a:pPr marL="240665">
              <a:lnSpc>
                <a:spcPct val="100000"/>
              </a:lnSpc>
            </a:pP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catch</a:t>
            </a:r>
            <a:r>
              <a:rPr sz="1800" spc="-25" dirty="0">
                <a:latin typeface="Times New Roman"/>
                <a:cs typeface="Times New Roman"/>
              </a:rPr>
              <a:t> </a:t>
            </a:r>
            <a:r>
              <a:rPr sz="1800" dirty="0">
                <a:latin typeface="Times New Roman"/>
                <a:cs typeface="Times New Roman"/>
              </a:rPr>
              <a:t>(float</a:t>
            </a:r>
            <a:r>
              <a:rPr sz="1800" spc="-25" dirty="0">
                <a:latin typeface="Times New Roman"/>
                <a:cs typeface="Times New Roman"/>
              </a:rPr>
              <a:t> </a:t>
            </a:r>
            <a:r>
              <a:rPr sz="1800" dirty="0">
                <a:latin typeface="Times New Roman"/>
                <a:cs typeface="Times New Roman"/>
              </a:rPr>
              <a:t>i)</a:t>
            </a:r>
            <a:r>
              <a:rPr sz="1800" spc="-1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469265">
              <a:lnSpc>
                <a:spcPct val="100000"/>
              </a:lnSpc>
            </a:pPr>
            <a:r>
              <a:rPr sz="1800" dirty="0">
                <a:latin typeface="Times New Roman"/>
                <a:cs typeface="Times New Roman"/>
              </a:rPr>
              <a:t>cout</a:t>
            </a:r>
            <a:r>
              <a:rPr sz="1800" spc="-25" dirty="0">
                <a:latin typeface="Times New Roman"/>
                <a:cs typeface="Times New Roman"/>
              </a:rPr>
              <a:t> </a:t>
            </a:r>
            <a:r>
              <a:rPr sz="1800" dirty="0">
                <a:latin typeface="Times New Roman"/>
                <a:cs typeface="Times New Roman"/>
              </a:rPr>
              <a:t>&lt;&lt;</a:t>
            </a:r>
            <a:r>
              <a:rPr sz="1800" spc="-35" dirty="0">
                <a:latin typeface="Times New Roman"/>
                <a:cs typeface="Times New Roman"/>
              </a:rPr>
              <a:t> </a:t>
            </a:r>
            <a:r>
              <a:rPr sz="1800" dirty="0">
                <a:latin typeface="Times New Roman"/>
                <a:cs typeface="Times New Roman"/>
              </a:rPr>
              <a:t>"Answer is</a:t>
            </a:r>
            <a:r>
              <a:rPr sz="1800" spc="-30" dirty="0">
                <a:latin typeface="Times New Roman"/>
                <a:cs typeface="Times New Roman"/>
              </a:rPr>
              <a:t> </a:t>
            </a:r>
            <a:r>
              <a:rPr sz="1800" dirty="0">
                <a:latin typeface="Times New Roman"/>
                <a:cs typeface="Times New Roman"/>
              </a:rPr>
              <a:t>infinite</a:t>
            </a:r>
            <a:r>
              <a:rPr sz="1800" spc="-35" dirty="0">
                <a:latin typeface="Times New Roman"/>
                <a:cs typeface="Times New Roman"/>
              </a:rPr>
              <a:t> </a:t>
            </a:r>
            <a:r>
              <a:rPr sz="1800" dirty="0">
                <a:latin typeface="Times New Roman"/>
                <a:cs typeface="Times New Roman"/>
              </a:rPr>
              <a:t>because</a:t>
            </a:r>
            <a:r>
              <a:rPr sz="1800" spc="-25" dirty="0">
                <a:latin typeface="Times New Roman"/>
                <a:cs typeface="Times New Roman"/>
              </a:rPr>
              <a:t> </a:t>
            </a:r>
            <a:r>
              <a:rPr sz="1800" dirty="0">
                <a:latin typeface="Times New Roman"/>
                <a:cs typeface="Times New Roman"/>
              </a:rPr>
              <a:t>a-b</a:t>
            </a:r>
            <a:r>
              <a:rPr sz="1800" spc="-30" dirty="0">
                <a:latin typeface="Times New Roman"/>
                <a:cs typeface="Times New Roman"/>
              </a:rPr>
              <a:t> </a:t>
            </a:r>
            <a:r>
              <a:rPr sz="1800" dirty="0">
                <a:latin typeface="Times New Roman"/>
                <a:cs typeface="Times New Roman"/>
              </a:rPr>
              <a:t>is:"</a:t>
            </a:r>
            <a:r>
              <a:rPr sz="1800" spc="-30"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spc="-25" dirty="0">
                <a:latin typeface="Times New Roman"/>
                <a:cs typeface="Times New Roman"/>
              </a:rPr>
              <a:t>i;</a:t>
            </a:r>
            <a:endParaRPr sz="1800">
              <a:latin typeface="Times New Roman"/>
              <a:cs typeface="Times New Roman"/>
            </a:endParaRPr>
          </a:p>
          <a:p>
            <a:pPr marL="240665">
              <a:lnSpc>
                <a:spcPct val="100000"/>
              </a:lnSpc>
            </a:pPr>
            <a:r>
              <a:rPr sz="1800" spc="-50" dirty="0">
                <a:latin typeface="Times New Roman"/>
                <a:cs typeface="Times New Roman"/>
              </a:rPr>
              <a:t>}</a:t>
            </a:r>
            <a:endParaRPr sz="1800">
              <a:latin typeface="Times New Roman"/>
              <a:cs typeface="Times New Roman"/>
            </a:endParaRPr>
          </a:p>
          <a:p>
            <a:pPr marL="297180">
              <a:lnSpc>
                <a:spcPct val="100000"/>
              </a:lnSpc>
            </a:pPr>
            <a:r>
              <a:rPr sz="1800" dirty="0">
                <a:latin typeface="Times New Roman"/>
                <a:cs typeface="Times New Roman"/>
              </a:rPr>
              <a:t>return</a:t>
            </a:r>
            <a:r>
              <a:rPr sz="1800" spc="-45" dirty="0">
                <a:latin typeface="Times New Roman"/>
                <a:cs typeface="Times New Roman"/>
              </a:rPr>
              <a:t> </a:t>
            </a:r>
            <a:r>
              <a:rPr sz="1800" spc="-25" dirty="0">
                <a:latin typeface="Times New Roman"/>
                <a:cs typeface="Times New Roman"/>
              </a:rPr>
              <a:t>0;</a:t>
            </a:r>
            <a:endParaRPr sz="1800">
              <a:latin typeface="Times New Roman"/>
              <a:cs typeface="Times New Roman"/>
            </a:endParaRPr>
          </a:p>
          <a:p>
            <a:pPr marL="12700">
              <a:lnSpc>
                <a:spcPct val="100000"/>
              </a:lnSpc>
            </a:pPr>
            <a:r>
              <a:rPr sz="1800" spc="-50" dirty="0">
                <a:latin typeface="Times New Roman"/>
                <a:cs typeface="Times New Roman"/>
              </a:rPr>
              <a:t>}</a:t>
            </a:r>
            <a:endParaRPr sz="1800">
              <a:latin typeface="Times New Roman"/>
              <a:cs typeface="Times New Roman"/>
            </a:endParaRPr>
          </a:p>
        </p:txBody>
      </p:sp>
      <p:sp>
        <p:nvSpPr>
          <p:cNvPr id="12" name="Date Placeholder 11">
            <a:extLst>
              <a:ext uri="{FF2B5EF4-FFF2-40B4-BE49-F238E27FC236}">
                <a16:creationId xmlns:a16="http://schemas.microsoft.com/office/drawing/2014/main" id="{8BC7ADC0-3FFE-2E9C-E336-640FECB12ABC}"/>
              </a:ext>
            </a:extLst>
          </p:cNvPr>
          <p:cNvSpPr>
            <a:spLocks noGrp="1"/>
          </p:cNvSpPr>
          <p:nvPr>
            <p:ph type="dt" sz="half" idx="6"/>
          </p:nvPr>
        </p:nvSpPr>
        <p:spPr/>
        <p:txBody>
          <a:bodyPr/>
          <a:lstStyle/>
          <a:p>
            <a:fld id="{58239843-D803-4804-BB85-457BBDAAC494}" type="datetime1">
              <a:rPr lang="en-US" smtClean="0"/>
              <a:t>11/17/2025</a:t>
            </a:fld>
            <a:endParaRPr lang="en-US"/>
          </a:p>
        </p:txBody>
      </p:sp>
      <p:sp>
        <p:nvSpPr>
          <p:cNvPr id="14" name="Slide Number Placeholder 13">
            <a:extLst>
              <a:ext uri="{FF2B5EF4-FFF2-40B4-BE49-F238E27FC236}">
                <a16:creationId xmlns:a16="http://schemas.microsoft.com/office/drawing/2014/main" id="{18953A5F-2059-DCD0-5D4E-2ED2F604A87B}"/>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9</a:t>
            </a:fld>
            <a:endParaRPr spc="-25" dirty="0"/>
          </a:p>
        </p:txBody>
      </p:sp>
    </p:spTree>
    <p:extLst>
      <p:ext uri="{BB962C8B-B14F-4D97-AF65-F5344CB8AC3E}">
        <p14:creationId xmlns:p14="http://schemas.microsoft.com/office/powerpoint/2010/main" val="2189653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09AC8-F021-761E-BC2B-A64B59ECD5A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2DEE7F0-8B15-F916-7504-74CB37310D96}"/>
              </a:ext>
            </a:extLst>
          </p:cNvPr>
          <p:cNvSpPr txBox="1">
            <a:spLocks noGrp="1"/>
          </p:cNvSpPr>
          <p:nvPr>
            <p:ph type="title"/>
          </p:nvPr>
        </p:nvSpPr>
        <p:spPr>
          <a:xfrm>
            <a:off x="916939" y="666648"/>
            <a:ext cx="5407661" cy="627736"/>
          </a:xfrm>
          <a:prstGeom prst="rect">
            <a:avLst/>
          </a:prstGeom>
        </p:spPr>
        <p:txBody>
          <a:bodyPr vert="horz" wrap="square" lIns="0" tIns="12065" rIns="0" bIns="0" rtlCol="0">
            <a:spAutoFit/>
          </a:bodyPr>
          <a:lstStyle/>
          <a:p>
            <a:pPr marL="12700">
              <a:lnSpc>
                <a:spcPct val="100000"/>
              </a:lnSpc>
              <a:spcBef>
                <a:spcPts val="95"/>
              </a:spcBef>
            </a:pPr>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a:t>
            </a:r>
            <a:endParaRPr spc="-10" dirty="0"/>
          </a:p>
        </p:txBody>
      </p:sp>
      <p:sp>
        <p:nvSpPr>
          <p:cNvPr id="8" name="object 8">
            <a:extLst>
              <a:ext uri="{FF2B5EF4-FFF2-40B4-BE49-F238E27FC236}">
                <a16:creationId xmlns:a16="http://schemas.microsoft.com/office/drawing/2014/main" id="{20612E82-EAED-AABC-D771-73222C58A43E}"/>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9" name="object 9">
            <a:extLst>
              <a:ext uri="{FF2B5EF4-FFF2-40B4-BE49-F238E27FC236}">
                <a16:creationId xmlns:a16="http://schemas.microsoft.com/office/drawing/2014/main" id="{BA1679CA-20CD-6C89-6324-D89C6398B700}"/>
              </a:ext>
            </a:extLst>
          </p:cNvPr>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9</a:t>
            </a:r>
            <a:endParaRPr sz="2400">
              <a:latin typeface="Times New Roman"/>
              <a:cs typeface="Times New Roman"/>
            </a:endParaRPr>
          </a:p>
        </p:txBody>
      </p:sp>
      <p:sp>
        <p:nvSpPr>
          <p:cNvPr id="10" name="object 10">
            <a:extLst>
              <a:ext uri="{FF2B5EF4-FFF2-40B4-BE49-F238E27FC236}">
                <a16:creationId xmlns:a16="http://schemas.microsoft.com/office/drawing/2014/main" id="{8EE1CCB0-21D9-A978-51D8-C71482BD46B6}"/>
              </a:ext>
            </a:extLst>
          </p:cNvPr>
          <p:cNvSpPr txBox="1"/>
          <p:nvPr/>
        </p:nvSpPr>
        <p:spPr>
          <a:xfrm>
            <a:off x="99679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1" name="object 11">
            <a:extLst>
              <a:ext uri="{FF2B5EF4-FFF2-40B4-BE49-F238E27FC236}">
                <a16:creationId xmlns:a16="http://schemas.microsoft.com/office/drawing/2014/main" id="{C46B7499-FF5C-858F-E419-B3FDFE43EDBC}"/>
              </a:ext>
            </a:extLst>
          </p:cNvPr>
          <p:cNvSpPr txBox="1"/>
          <p:nvPr/>
        </p:nvSpPr>
        <p:spPr>
          <a:xfrm>
            <a:off x="103565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2" name="Date Placeholder 11">
            <a:extLst>
              <a:ext uri="{FF2B5EF4-FFF2-40B4-BE49-F238E27FC236}">
                <a16:creationId xmlns:a16="http://schemas.microsoft.com/office/drawing/2014/main" id="{F4A10F0F-E8A0-3EF4-3A49-1612E5575CD5}"/>
              </a:ext>
            </a:extLst>
          </p:cNvPr>
          <p:cNvSpPr>
            <a:spLocks noGrp="1"/>
          </p:cNvSpPr>
          <p:nvPr>
            <p:ph type="dt" sz="half" idx="6"/>
          </p:nvPr>
        </p:nvSpPr>
        <p:spPr/>
        <p:txBody>
          <a:bodyPr/>
          <a:lstStyle/>
          <a:p>
            <a:fld id="{B9364773-1BB4-49A9-83C8-A0AB1DF14506}" type="datetime1">
              <a:rPr lang="en-US" smtClean="0"/>
              <a:t>11/17/2025</a:t>
            </a:fld>
            <a:endParaRPr lang="en-US"/>
          </a:p>
        </p:txBody>
      </p:sp>
      <p:pic>
        <p:nvPicPr>
          <p:cNvPr id="14" name="Picture 13">
            <a:extLst>
              <a:ext uri="{FF2B5EF4-FFF2-40B4-BE49-F238E27FC236}">
                <a16:creationId xmlns:a16="http://schemas.microsoft.com/office/drawing/2014/main" id="{0DB1E3FA-D658-8E93-8FC0-F9A82E3878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7161" y="1267822"/>
            <a:ext cx="7621736" cy="5081158"/>
          </a:xfrm>
          <a:prstGeom prst="rect">
            <a:avLst/>
          </a:prstGeom>
        </p:spPr>
      </p:pic>
      <p:sp>
        <p:nvSpPr>
          <p:cNvPr id="4" name="Slide Number Placeholder 3">
            <a:extLst>
              <a:ext uri="{FF2B5EF4-FFF2-40B4-BE49-F238E27FC236}">
                <a16:creationId xmlns:a16="http://schemas.microsoft.com/office/drawing/2014/main" id="{33AA1C0E-876C-28FB-BE0A-CF236D66964B}"/>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10</a:t>
            </a:fld>
            <a:endParaRPr spc="-25" dirty="0"/>
          </a:p>
        </p:txBody>
      </p:sp>
    </p:spTree>
    <p:extLst>
      <p:ext uri="{BB962C8B-B14F-4D97-AF65-F5344CB8AC3E}">
        <p14:creationId xmlns:p14="http://schemas.microsoft.com/office/powerpoint/2010/main" val="4281764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66648"/>
            <a:ext cx="5643118" cy="627736"/>
          </a:xfrm>
          <a:prstGeom prst="rect">
            <a:avLst/>
          </a:prstGeom>
        </p:spPr>
        <p:txBody>
          <a:bodyPr vert="horz" wrap="square" lIns="0" tIns="12065" rIns="0" bIns="0" rtlCol="0">
            <a:spAutoFit/>
          </a:bodyPr>
          <a:lstStyle/>
          <a:p>
            <a:pPr marL="12700">
              <a:lnSpc>
                <a:spcPct val="100000"/>
              </a:lnSpc>
              <a:spcBef>
                <a:spcPts val="95"/>
              </a:spcBef>
            </a:pPr>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a:t>
            </a:r>
            <a:endParaRPr spc="-1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6" name="object 6"/>
          <p:cNvSpPr txBox="1"/>
          <p:nvPr/>
        </p:nvSpPr>
        <p:spPr>
          <a:xfrm>
            <a:off x="5431916" y="6368253"/>
            <a:ext cx="18180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25" dirty="0">
                <a:solidFill>
                  <a:srgbClr val="FFFFFF"/>
                </a:solidFill>
                <a:latin typeface="Times New Roman"/>
                <a:cs typeface="Times New Roman"/>
              </a:rPr>
              <a:t>10</a:t>
            </a:r>
            <a:endParaRPr sz="2400">
              <a:latin typeface="Times New Roman"/>
              <a:cs typeface="Times New Roman"/>
            </a:endParaRPr>
          </a:p>
        </p:txBody>
      </p:sp>
      <p:sp>
        <p:nvSpPr>
          <p:cNvPr id="7" name="object 7"/>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8" name="object 8"/>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2126272"/>
            <a:ext cx="3949065" cy="2787015"/>
          </a:xfrm>
          <a:prstGeom prst="rect">
            <a:avLst/>
          </a:prstGeom>
        </p:spPr>
        <p:txBody>
          <a:bodyPr vert="horz" wrap="square" lIns="0" tIns="74295" rIns="0" bIns="0" rtlCol="0">
            <a:spAutoFit/>
          </a:bodyPr>
          <a:lstStyle/>
          <a:p>
            <a:pPr marL="12700">
              <a:lnSpc>
                <a:spcPct val="100000"/>
              </a:lnSpc>
              <a:spcBef>
                <a:spcPts val="585"/>
              </a:spcBef>
            </a:pPr>
            <a:r>
              <a:rPr sz="2000" b="1" spc="-10" dirty="0">
                <a:latin typeface="Courier New"/>
                <a:cs typeface="Courier New"/>
              </a:rPr>
              <a:t>try</a:t>
            </a:r>
            <a:r>
              <a:rPr sz="2000" b="1" spc="-690" dirty="0">
                <a:latin typeface="Courier New"/>
                <a:cs typeface="Courier New"/>
              </a:rPr>
              <a:t> </a:t>
            </a:r>
            <a:r>
              <a:rPr sz="2000" b="1" spc="-10" dirty="0">
                <a:latin typeface="Times New Roman"/>
                <a:cs typeface="Times New Roman"/>
              </a:rPr>
              <a:t>Blocks:</a:t>
            </a:r>
            <a:endParaRPr sz="2000" b="1" dirty="0">
              <a:latin typeface="Times New Roman"/>
              <a:cs typeface="Times New Roman"/>
            </a:endParaRPr>
          </a:p>
          <a:p>
            <a:pPr marL="355600" marR="120650" indent="-343535">
              <a:lnSpc>
                <a:spcPct val="100000"/>
              </a:lnSpc>
              <a:spcBef>
                <a:spcPts val="480"/>
              </a:spcBef>
              <a:buChar char="•"/>
              <a:tabLst>
                <a:tab pos="355600" algn="l"/>
              </a:tabLst>
            </a:pPr>
            <a:r>
              <a:rPr sz="2000" dirty="0">
                <a:latin typeface="Times New Roman"/>
                <a:cs typeface="Times New Roman"/>
              </a:rPr>
              <a:t>Keyword</a:t>
            </a:r>
            <a:r>
              <a:rPr sz="2000" spc="-20" dirty="0">
                <a:latin typeface="Times New Roman"/>
                <a:cs typeface="Times New Roman"/>
              </a:rPr>
              <a:t> </a:t>
            </a:r>
            <a:r>
              <a:rPr sz="2000" b="1" spc="-10" dirty="0">
                <a:latin typeface="Courier New"/>
                <a:cs typeface="Courier New"/>
              </a:rPr>
              <a:t>try</a:t>
            </a:r>
            <a:r>
              <a:rPr sz="2000" b="1" spc="-695" dirty="0">
                <a:latin typeface="Courier New"/>
                <a:cs typeface="Courier New"/>
              </a:rPr>
              <a:t> </a:t>
            </a:r>
            <a:r>
              <a:rPr sz="2000" dirty="0">
                <a:latin typeface="Times New Roman"/>
                <a:cs typeface="Times New Roman"/>
              </a:rPr>
              <a:t>followed</a:t>
            </a:r>
            <a:r>
              <a:rPr sz="2000" spc="-25" dirty="0">
                <a:latin typeface="Times New Roman"/>
                <a:cs typeface="Times New Roman"/>
              </a:rPr>
              <a:t> </a:t>
            </a:r>
            <a:r>
              <a:rPr sz="2000" dirty="0">
                <a:latin typeface="Times New Roman"/>
                <a:cs typeface="Times New Roman"/>
              </a:rPr>
              <a:t>by</a:t>
            </a:r>
            <a:r>
              <a:rPr sz="2000" spc="-5" dirty="0">
                <a:latin typeface="Times New Roman"/>
                <a:cs typeface="Times New Roman"/>
              </a:rPr>
              <a:t> </a:t>
            </a:r>
            <a:r>
              <a:rPr sz="2000" spc="-10" dirty="0">
                <a:latin typeface="Times New Roman"/>
                <a:cs typeface="Times New Roman"/>
              </a:rPr>
              <a:t>braces </a:t>
            </a:r>
            <a:r>
              <a:rPr sz="2000" spc="-20" dirty="0">
                <a:latin typeface="Times New Roman"/>
                <a:cs typeface="Times New Roman"/>
              </a:rPr>
              <a:t>(</a:t>
            </a:r>
            <a:r>
              <a:rPr sz="2000" b="1" spc="-20" dirty="0">
                <a:latin typeface="Courier New"/>
                <a:cs typeface="Courier New"/>
              </a:rPr>
              <a:t>{}</a:t>
            </a:r>
            <a:r>
              <a:rPr sz="2000" spc="-20" dirty="0">
                <a:latin typeface="Times New Roman"/>
                <a:cs typeface="Times New Roman"/>
              </a:rPr>
              <a:t>)</a:t>
            </a:r>
            <a:endParaRPr sz="2000" dirty="0">
              <a:latin typeface="Times New Roman"/>
              <a:cs typeface="Times New Roman"/>
            </a:endParaRPr>
          </a:p>
          <a:p>
            <a:pPr marL="355600" indent="-342900">
              <a:lnSpc>
                <a:spcPct val="100000"/>
              </a:lnSpc>
              <a:spcBef>
                <a:spcPts val="615"/>
              </a:spcBef>
              <a:buChar char="•"/>
              <a:tabLst>
                <a:tab pos="355600" algn="l"/>
              </a:tabLst>
            </a:pPr>
            <a:r>
              <a:rPr sz="2000" dirty="0">
                <a:latin typeface="Times New Roman"/>
                <a:cs typeface="Times New Roman"/>
              </a:rPr>
              <a:t>Should</a:t>
            </a:r>
            <a:r>
              <a:rPr sz="2000" spc="-20" dirty="0">
                <a:latin typeface="Times New Roman"/>
                <a:cs typeface="Times New Roman"/>
              </a:rPr>
              <a:t> </a:t>
            </a:r>
            <a:r>
              <a:rPr sz="2000" spc="-10" dirty="0">
                <a:latin typeface="Times New Roman"/>
                <a:cs typeface="Times New Roman"/>
              </a:rPr>
              <a:t>enclose</a:t>
            </a:r>
            <a:endParaRPr sz="2000" dirty="0">
              <a:latin typeface="Times New Roman"/>
              <a:cs typeface="Times New Roman"/>
            </a:endParaRPr>
          </a:p>
          <a:p>
            <a:pPr marL="756285" lvl="1" indent="-286385">
              <a:lnSpc>
                <a:spcPct val="100000"/>
              </a:lnSpc>
              <a:spcBef>
                <a:spcPts val="480"/>
              </a:spcBef>
              <a:buChar char="–"/>
              <a:tabLst>
                <a:tab pos="756285" algn="l"/>
              </a:tabLst>
            </a:pPr>
            <a:r>
              <a:rPr sz="2000" dirty="0">
                <a:latin typeface="Times New Roman"/>
                <a:cs typeface="Times New Roman"/>
              </a:rPr>
              <a:t>Statements</a:t>
            </a:r>
            <a:r>
              <a:rPr sz="2000" spc="-40" dirty="0">
                <a:latin typeface="Times New Roman"/>
                <a:cs typeface="Times New Roman"/>
              </a:rPr>
              <a:t> </a:t>
            </a:r>
            <a:r>
              <a:rPr sz="2000" dirty="0">
                <a:latin typeface="Times New Roman"/>
                <a:cs typeface="Times New Roman"/>
              </a:rPr>
              <a:t>that</a:t>
            </a:r>
            <a:r>
              <a:rPr sz="2000" spc="-60" dirty="0">
                <a:latin typeface="Times New Roman"/>
                <a:cs typeface="Times New Roman"/>
              </a:rPr>
              <a:t> </a:t>
            </a:r>
            <a:r>
              <a:rPr sz="2000" dirty="0">
                <a:latin typeface="Times New Roman"/>
                <a:cs typeface="Times New Roman"/>
              </a:rPr>
              <a:t>might</a:t>
            </a:r>
            <a:r>
              <a:rPr sz="2000" spc="-20" dirty="0">
                <a:latin typeface="Times New Roman"/>
                <a:cs typeface="Times New Roman"/>
              </a:rPr>
              <a:t> </a:t>
            </a:r>
            <a:r>
              <a:rPr sz="2000" spc="-10" dirty="0">
                <a:latin typeface="Times New Roman"/>
                <a:cs typeface="Times New Roman"/>
              </a:rPr>
              <a:t>cause</a:t>
            </a:r>
            <a:endParaRPr sz="2000" dirty="0">
              <a:latin typeface="Times New Roman"/>
              <a:cs typeface="Times New Roman"/>
            </a:endParaRPr>
          </a:p>
          <a:p>
            <a:pPr marL="756285">
              <a:lnSpc>
                <a:spcPct val="100000"/>
              </a:lnSpc>
            </a:pPr>
            <a:r>
              <a:rPr sz="2000" spc="-10" dirty="0">
                <a:latin typeface="Times New Roman"/>
                <a:cs typeface="Times New Roman"/>
              </a:rPr>
              <a:t>exceptions</a:t>
            </a:r>
            <a:endParaRPr sz="2000" dirty="0">
              <a:latin typeface="Times New Roman"/>
              <a:cs typeface="Times New Roman"/>
            </a:endParaRPr>
          </a:p>
          <a:p>
            <a:pPr marL="756285" marR="5080" lvl="1" indent="-287020">
              <a:lnSpc>
                <a:spcPct val="100000"/>
              </a:lnSpc>
              <a:spcBef>
                <a:spcPts val="480"/>
              </a:spcBef>
              <a:buChar char="–"/>
              <a:tabLst>
                <a:tab pos="756285" algn="l"/>
              </a:tabLst>
            </a:pPr>
            <a:r>
              <a:rPr sz="2000" dirty="0">
                <a:latin typeface="Times New Roman"/>
                <a:cs typeface="Times New Roman"/>
              </a:rPr>
              <a:t>Statements</a:t>
            </a:r>
            <a:r>
              <a:rPr sz="2000" spc="-20" dirty="0">
                <a:latin typeface="Times New Roman"/>
                <a:cs typeface="Times New Roman"/>
              </a:rPr>
              <a:t> </a:t>
            </a:r>
            <a:r>
              <a:rPr sz="2000" dirty="0">
                <a:latin typeface="Times New Roman"/>
                <a:cs typeface="Times New Roman"/>
              </a:rPr>
              <a:t>that</a:t>
            </a:r>
            <a:r>
              <a:rPr sz="2000" spc="-40" dirty="0">
                <a:latin typeface="Times New Roman"/>
                <a:cs typeface="Times New Roman"/>
              </a:rPr>
              <a:t> </a:t>
            </a:r>
            <a:r>
              <a:rPr sz="2000" dirty="0">
                <a:latin typeface="Times New Roman"/>
                <a:cs typeface="Times New Roman"/>
              </a:rPr>
              <a:t>should</a:t>
            </a:r>
            <a:r>
              <a:rPr sz="2000" spc="-40" dirty="0">
                <a:latin typeface="Times New Roman"/>
                <a:cs typeface="Times New Roman"/>
              </a:rPr>
              <a:t> </a:t>
            </a:r>
            <a:r>
              <a:rPr sz="2000" spc="-25" dirty="0">
                <a:latin typeface="Times New Roman"/>
                <a:cs typeface="Times New Roman"/>
              </a:rPr>
              <a:t>be </a:t>
            </a:r>
            <a:r>
              <a:rPr sz="2000" dirty="0">
                <a:latin typeface="Times New Roman"/>
                <a:cs typeface="Times New Roman"/>
              </a:rPr>
              <a:t>skipped</a:t>
            </a:r>
            <a:r>
              <a:rPr sz="2000" spc="-40"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case</a:t>
            </a:r>
            <a:r>
              <a:rPr sz="2000" spc="-15" dirty="0">
                <a:latin typeface="Times New Roman"/>
                <a:cs typeface="Times New Roman"/>
              </a:rPr>
              <a:t> </a:t>
            </a:r>
            <a:r>
              <a:rPr sz="2000" dirty="0">
                <a:latin typeface="Times New Roman"/>
                <a:cs typeface="Times New Roman"/>
              </a:rPr>
              <a:t>of an </a:t>
            </a:r>
            <a:r>
              <a:rPr sz="2000" spc="-10" dirty="0">
                <a:latin typeface="Times New Roman"/>
                <a:cs typeface="Times New Roman"/>
              </a:rPr>
              <a:t>exception</a:t>
            </a:r>
            <a:endParaRPr sz="2000" dirty="0">
              <a:latin typeface="Times New Roman"/>
              <a:cs typeface="Times New Roman"/>
            </a:endParaRPr>
          </a:p>
        </p:txBody>
      </p:sp>
      <p:sp>
        <p:nvSpPr>
          <p:cNvPr id="4" name="object 4"/>
          <p:cNvSpPr txBox="1"/>
          <p:nvPr/>
        </p:nvSpPr>
        <p:spPr>
          <a:xfrm>
            <a:off x="6560057" y="1251026"/>
            <a:ext cx="4977130" cy="496506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int </a:t>
            </a:r>
            <a:r>
              <a:rPr sz="1800" spc="-10" dirty="0">
                <a:latin typeface="Times New Roman"/>
                <a:cs typeface="Times New Roman"/>
              </a:rPr>
              <a:t>main()</a:t>
            </a:r>
            <a:endParaRPr sz="1800">
              <a:latin typeface="Times New Roman"/>
              <a:cs typeface="Times New Roman"/>
            </a:endParaRPr>
          </a:p>
          <a:p>
            <a:pPr marL="12700">
              <a:lnSpc>
                <a:spcPct val="100000"/>
              </a:lnSpc>
              <a:spcBef>
                <a:spcPts val="5"/>
              </a:spcBef>
            </a:pPr>
            <a:r>
              <a:rPr sz="1800" spc="-50" dirty="0">
                <a:latin typeface="Times New Roman"/>
                <a:cs typeface="Times New Roman"/>
              </a:rPr>
              <a:t>{</a:t>
            </a:r>
            <a:endParaRPr sz="1800">
              <a:latin typeface="Times New Roman"/>
              <a:cs typeface="Times New Roman"/>
            </a:endParaRPr>
          </a:p>
          <a:p>
            <a:pPr marL="241300" marR="2604770">
              <a:lnSpc>
                <a:spcPct val="100000"/>
              </a:lnSpc>
            </a:pPr>
            <a:r>
              <a:rPr sz="1800" dirty="0">
                <a:latin typeface="Times New Roman"/>
                <a:cs typeface="Times New Roman"/>
              </a:rPr>
              <a:t>float</a:t>
            </a:r>
            <a:r>
              <a:rPr sz="1800" spc="-40" dirty="0">
                <a:latin typeface="Times New Roman"/>
                <a:cs typeface="Times New Roman"/>
              </a:rPr>
              <a:t> </a:t>
            </a:r>
            <a:r>
              <a:rPr sz="1800" dirty="0">
                <a:latin typeface="Times New Roman"/>
                <a:cs typeface="Times New Roman"/>
              </a:rPr>
              <a:t>numerator</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12.5; </a:t>
            </a:r>
            <a:r>
              <a:rPr sz="1800" dirty="0">
                <a:latin typeface="Times New Roman"/>
                <a:cs typeface="Times New Roman"/>
              </a:rPr>
              <a:t>float</a:t>
            </a:r>
            <a:r>
              <a:rPr sz="1800" spc="-55" dirty="0">
                <a:latin typeface="Times New Roman"/>
                <a:cs typeface="Times New Roman"/>
              </a:rPr>
              <a:t> </a:t>
            </a:r>
            <a:r>
              <a:rPr sz="1800" dirty="0">
                <a:latin typeface="Times New Roman"/>
                <a:cs typeface="Times New Roman"/>
              </a:rPr>
              <a:t>denominator</a:t>
            </a:r>
            <a:r>
              <a:rPr sz="1800" spc="-35"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spc="-25" dirty="0">
                <a:latin typeface="Times New Roman"/>
                <a:cs typeface="Times New Roman"/>
              </a:rPr>
              <a:t>0; </a:t>
            </a:r>
            <a:r>
              <a:rPr sz="1800" dirty="0">
                <a:latin typeface="Times New Roman"/>
                <a:cs typeface="Times New Roman"/>
              </a:rPr>
              <a:t>float</a:t>
            </a:r>
            <a:r>
              <a:rPr sz="1800" spc="-40" dirty="0">
                <a:latin typeface="Times New Roman"/>
                <a:cs typeface="Times New Roman"/>
              </a:rPr>
              <a:t> </a:t>
            </a:r>
            <a:r>
              <a:rPr sz="1800" spc="-10" dirty="0">
                <a:latin typeface="Times New Roman"/>
                <a:cs typeface="Times New Roman"/>
              </a:rPr>
              <a:t>result;</a:t>
            </a:r>
            <a:endParaRPr sz="1800">
              <a:latin typeface="Times New Roman"/>
              <a:cs typeface="Times New Roman"/>
            </a:endParaRPr>
          </a:p>
          <a:p>
            <a:pPr marL="241300">
              <a:lnSpc>
                <a:spcPct val="100000"/>
              </a:lnSpc>
            </a:pPr>
            <a:r>
              <a:rPr sz="1800" dirty="0">
                <a:latin typeface="Times New Roman"/>
                <a:cs typeface="Times New Roman"/>
              </a:rPr>
              <a:t>try</a:t>
            </a:r>
            <a:r>
              <a:rPr sz="1800" spc="-10" dirty="0">
                <a:latin typeface="Times New Roman"/>
                <a:cs typeface="Times New Roman"/>
              </a:rPr>
              <a:t> </a:t>
            </a:r>
            <a:r>
              <a:rPr sz="1800" spc="-60" dirty="0">
                <a:latin typeface="Times New Roman"/>
                <a:cs typeface="Times New Roman"/>
              </a:rPr>
              <a:t>{</a:t>
            </a:r>
            <a:endParaRPr sz="1800">
              <a:latin typeface="Times New Roman"/>
              <a:cs typeface="Times New Roman"/>
            </a:endParaRPr>
          </a:p>
          <a:p>
            <a:pPr marL="640080">
              <a:lnSpc>
                <a:spcPct val="100000"/>
              </a:lnSpc>
            </a:pPr>
            <a:r>
              <a:rPr sz="1800" dirty="0">
                <a:latin typeface="Times New Roman"/>
                <a:cs typeface="Times New Roman"/>
              </a:rPr>
              <a:t>if</a:t>
            </a:r>
            <a:r>
              <a:rPr sz="1800" spc="-20" dirty="0">
                <a:latin typeface="Times New Roman"/>
                <a:cs typeface="Times New Roman"/>
              </a:rPr>
              <a:t> </a:t>
            </a:r>
            <a:r>
              <a:rPr sz="1800" dirty="0">
                <a:latin typeface="Times New Roman"/>
                <a:cs typeface="Times New Roman"/>
              </a:rPr>
              <a:t>(denominator</a:t>
            </a:r>
            <a:r>
              <a:rPr sz="1800" spc="-25" dirty="0">
                <a:latin typeface="Times New Roman"/>
                <a:cs typeface="Times New Roman"/>
              </a:rPr>
              <a:t> </a:t>
            </a:r>
            <a:r>
              <a:rPr sz="1800" dirty="0">
                <a:latin typeface="Times New Roman"/>
                <a:cs typeface="Times New Roman"/>
              </a:rPr>
              <a:t>!=</a:t>
            </a:r>
            <a:r>
              <a:rPr sz="1800" spc="-40" dirty="0">
                <a:latin typeface="Times New Roman"/>
                <a:cs typeface="Times New Roman"/>
              </a:rPr>
              <a:t> </a:t>
            </a:r>
            <a:r>
              <a:rPr sz="1800" dirty="0">
                <a:latin typeface="Times New Roman"/>
                <a:cs typeface="Times New Roman"/>
              </a:rPr>
              <a:t>0)</a:t>
            </a:r>
            <a:r>
              <a:rPr sz="1800" spc="-2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marR="1008380">
              <a:lnSpc>
                <a:spcPct val="100000"/>
              </a:lnSpc>
            </a:pPr>
            <a:r>
              <a:rPr sz="1800" dirty="0">
                <a:latin typeface="Times New Roman"/>
                <a:cs typeface="Times New Roman"/>
              </a:rPr>
              <a:t>result</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numerator/denominator; </a:t>
            </a:r>
            <a:r>
              <a:rPr sz="1800" dirty="0">
                <a:latin typeface="Times New Roman"/>
                <a:cs typeface="Times New Roman"/>
              </a:rPr>
              <a:t>cout</a:t>
            </a:r>
            <a:r>
              <a:rPr sz="1800" spc="-20" dirty="0">
                <a:latin typeface="Times New Roman"/>
                <a:cs typeface="Times New Roman"/>
              </a:rPr>
              <a:t> </a:t>
            </a: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quotient</a:t>
            </a:r>
            <a:r>
              <a:rPr sz="1800" spc="-15"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dirty="0">
                <a:latin typeface="Times New Roman"/>
                <a:cs typeface="Times New Roman"/>
              </a:rPr>
              <a:t>12.5/0</a:t>
            </a:r>
            <a:r>
              <a:rPr sz="1800" spc="-15" dirty="0">
                <a:latin typeface="Times New Roman"/>
                <a:cs typeface="Times New Roman"/>
              </a:rPr>
              <a:t> </a:t>
            </a:r>
            <a:r>
              <a:rPr sz="1800" dirty="0">
                <a:latin typeface="Times New Roman"/>
                <a:cs typeface="Times New Roman"/>
              </a:rPr>
              <a:t>is</a:t>
            </a:r>
            <a:r>
              <a:rPr sz="1800" spc="-2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1155700">
              <a:lnSpc>
                <a:spcPct val="100000"/>
              </a:lnSpc>
            </a:pP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result</a:t>
            </a:r>
            <a:r>
              <a:rPr sz="1800" spc="-15"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spc="-10" dirty="0">
                <a:latin typeface="Times New Roman"/>
                <a:cs typeface="Times New Roman"/>
              </a:rPr>
              <a:t>endl;</a:t>
            </a:r>
            <a:endParaRPr sz="1800">
              <a:latin typeface="Times New Roman"/>
              <a:cs typeface="Times New Roman"/>
            </a:endParaRPr>
          </a:p>
          <a:p>
            <a:pPr marL="469900">
              <a:lnSpc>
                <a:spcPct val="100000"/>
              </a:lnSpc>
            </a:pP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else</a:t>
            </a:r>
            <a:r>
              <a:rPr sz="1800" spc="-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a:lnSpc>
                <a:spcPct val="100000"/>
              </a:lnSpc>
              <a:spcBef>
                <a:spcPts val="5"/>
              </a:spcBef>
            </a:pPr>
            <a:r>
              <a:rPr sz="1800" dirty="0">
                <a:latin typeface="Times New Roman"/>
                <a:cs typeface="Times New Roman"/>
              </a:rPr>
              <a:t>throw</a:t>
            </a:r>
            <a:r>
              <a:rPr sz="1800" spc="-55" dirty="0">
                <a:latin typeface="Times New Roman"/>
                <a:cs typeface="Times New Roman"/>
              </a:rPr>
              <a:t> </a:t>
            </a:r>
            <a:r>
              <a:rPr sz="1800" spc="-10" dirty="0">
                <a:latin typeface="Times New Roman"/>
                <a:cs typeface="Times New Roman"/>
              </a:rPr>
              <a:t>(denominator);</a:t>
            </a:r>
            <a:endParaRPr sz="1800">
              <a:latin typeface="Times New Roman"/>
              <a:cs typeface="Times New Roman"/>
            </a:endParaRPr>
          </a:p>
          <a:p>
            <a:pPr marL="469900">
              <a:lnSpc>
                <a:spcPct val="100000"/>
              </a:lnSpc>
            </a:pPr>
            <a:r>
              <a:rPr sz="1800" spc="-50" dirty="0">
                <a:latin typeface="Times New Roman"/>
                <a:cs typeface="Times New Roman"/>
              </a:rPr>
              <a:t>}</a:t>
            </a:r>
            <a:endParaRPr sz="1800">
              <a:latin typeface="Times New Roman"/>
              <a:cs typeface="Times New Roman"/>
            </a:endParaRPr>
          </a:p>
          <a:p>
            <a:pPr marL="241300">
              <a:lnSpc>
                <a:spcPct val="100000"/>
              </a:lnSpc>
            </a:pP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catch</a:t>
            </a:r>
            <a:r>
              <a:rPr sz="1800" spc="-25" dirty="0">
                <a:latin typeface="Times New Roman"/>
                <a:cs typeface="Times New Roman"/>
              </a:rPr>
              <a:t> </a:t>
            </a:r>
            <a:r>
              <a:rPr sz="1800" dirty="0">
                <a:latin typeface="Times New Roman"/>
                <a:cs typeface="Times New Roman"/>
              </a:rPr>
              <a:t>(float</a:t>
            </a:r>
            <a:r>
              <a:rPr sz="1800" spc="-25" dirty="0">
                <a:latin typeface="Times New Roman"/>
                <a:cs typeface="Times New Roman"/>
              </a:rPr>
              <a:t> </a:t>
            </a:r>
            <a:r>
              <a:rPr sz="1800" dirty="0">
                <a:latin typeface="Times New Roman"/>
                <a:cs typeface="Times New Roman"/>
              </a:rPr>
              <a:t>i)</a:t>
            </a:r>
            <a:r>
              <a:rPr sz="1800" spc="-1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469900">
              <a:lnSpc>
                <a:spcPct val="100000"/>
              </a:lnSpc>
            </a:pPr>
            <a:r>
              <a:rPr sz="1800" dirty="0">
                <a:latin typeface="Times New Roman"/>
                <a:cs typeface="Times New Roman"/>
              </a:rPr>
              <a:t>cout</a:t>
            </a:r>
            <a:r>
              <a:rPr sz="1800" spc="-25" dirty="0">
                <a:latin typeface="Times New Roman"/>
                <a:cs typeface="Times New Roman"/>
              </a:rPr>
              <a:t> </a:t>
            </a:r>
            <a:r>
              <a:rPr sz="1800" dirty="0">
                <a:latin typeface="Times New Roman"/>
                <a:cs typeface="Times New Roman"/>
              </a:rPr>
              <a:t>&lt;&lt;</a:t>
            </a:r>
            <a:r>
              <a:rPr sz="1800" spc="-35" dirty="0">
                <a:latin typeface="Times New Roman"/>
                <a:cs typeface="Times New Roman"/>
              </a:rPr>
              <a:t> </a:t>
            </a:r>
            <a:r>
              <a:rPr sz="1800" dirty="0">
                <a:latin typeface="Times New Roman"/>
                <a:cs typeface="Times New Roman"/>
              </a:rPr>
              <a:t>"Answer is</a:t>
            </a:r>
            <a:r>
              <a:rPr sz="1800" spc="-30" dirty="0">
                <a:latin typeface="Times New Roman"/>
                <a:cs typeface="Times New Roman"/>
              </a:rPr>
              <a:t> </a:t>
            </a:r>
            <a:r>
              <a:rPr sz="1800" dirty="0">
                <a:latin typeface="Times New Roman"/>
                <a:cs typeface="Times New Roman"/>
              </a:rPr>
              <a:t>infinite</a:t>
            </a:r>
            <a:r>
              <a:rPr sz="1800" spc="-35" dirty="0">
                <a:latin typeface="Times New Roman"/>
                <a:cs typeface="Times New Roman"/>
              </a:rPr>
              <a:t> </a:t>
            </a:r>
            <a:r>
              <a:rPr sz="1800" dirty="0">
                <a:latin typeface="Times New Roman"/>
                <a:cs typeface="Times New Roman"/>
              </a:rPr>
              <a:t>because</a:t>
            </a:r>
            <a:r>
              <a:rPr sz="1800" spc="-25" dirty="0">
                <a:latin typeface="Times New Roman"/>
                <a:cs typeface="Times New Roman"/>
              </a:rPr>
              <a:t> </a:t>
            </a:r>
            <a:r>
              <a:rPr sz="1800" dirty="0">
                <a:latin typeface="Times New Roman"/>
                <a:cs typeface="Times New Roman"/>
              </a:rPr>
              <a:t>a-b</a:t>
            </a:r>
            <a:r>
              <a:rPr sz="1800" spc="-30" dirty="0">
                <a:latin typeface="Times New Roman"/>
                <a:cs typeface="Times New Roman"/>
              </a:rPr>
              <a:t> </a:t>
            </a:r>
            <a:r>
              <a:rPr sz="1800" dirty="0">
                <a:latin typeface="Times New Roman"/>
                <a:cs typeface="Times New Roman"/>
              </a:rPr>
              <a:t>is:"</a:t>
            </a:r>
            <a:r>
              <a:rPr sz="1800" spc="-30" dirty="0">
                <a:latin typeface="Times New Roman"/>
                <a:cs typeface="Times New Roman"/>
              </a:rPr>
              <a:t> </a:t>
            </a:r>
            <a:r>
              <a:rPr sz="1800" dirty="0">
                <a:latin typeface="Times New Roman"/>
                <a:cs typeface="Times New Roman"/>
              </a:rPr>
              <a:t>&lt;&lt;</a:t>
            </a:r>
            <a:r>
              <a:rPr sz="1800" spc="-20" dirty="0">
                <a:latin typeface="Times New Roman"/>
                <a:cs typeface="Times New Roman"/>
              </a:rPr>
              <a:t> </a:t>
            </a:r>
            <a:r>
              <a:rPr sz="1800" spc="-25" dirty="0">
                <a:latin typeface="Times New Roman"/>
                <a:cs typeface="Times New Roman"/>
              </a:rPr>
              <a:t>i;</a:t>
            </a:r>
            <a:endParaRPr sz="1800">
              <a:latin typeface="Times New Roman"/>
              <a:cs typeface="Times New Roman"/>
            </a:endParaRPr>
          </a:p>
          <a:p>
            <a:pPr marL="241300">
              <a:lnSpc>
                <a:spcPct val="100000"/>
              </a:lnSpc>
            </a:pPr>
            <a:r>
              <a:rPr sz="1800" spc="-50" dirty="0">
                <a:latin typeface="Times New Roman"/>
                <a:cs typeface="Times New Roman"/>
              </a:rPr>
              <a:t>}</a:t>
            </a:r>
            <a:endParaRPr sz="1800">
              <a:latin typeface="Times New Roman"/>
              <a:cs typeface="Times New Roman"/>
            </a:endParaRPr>
          </a:p>
          <a:p>
            <a:pPr marL="297180">
              <a:lnSpc>
                <a:spcPct val="100000"/>
              </a:lnSpc>
            </a:pPr>
            <a:r>
              <a:rPr sz="1800" dirty="0">
                <a:latin typeface="Times New Roman"/>
                <a:cs typeface="Times New Roman"/>
              </a:rPr>
              <a:t>return</a:t>
            </a:r>
            <a:r>
              <a:rPr sz="1800" spc="-40" dirty="0">
                <a:latin typeface="Times New Roman"/>
                <a:cs typeface="Times New Roman"/>
              </a:rPr>
              <a:t> </a:t>
            </a:r>
            <a:r>
              <a:rPr sz="1800" spc="-25" dirty="0">
                <a:latin typeface="Times New Roman"/>
                <a:cs typeface="Times New Roman"/>
              </a:rPr>
              <a:t>0;</a:t>
            </a:r>
            <a:endParaRPr sz="1800">
              <a:latin typeface="Times New Roman"/>
              <a:cs typeface="Times New Roman"/>
            </a:endParaRPr>
          </a:p>
          <a:p>
            <a:pPr marL="12700">
              <a:lnSpc>
                <a:spcPct val="100000"/>
              </a:lnSpc>
            </a:pPr>
            <a:r>
              <a:rPr sz="1800" spc="-50" dirty="0">
                <a:latin typeface="Times New Roman"/>
                <a:cs typeface="Times New Roman"/>
              </a:rPr>
              <a:t>}</a:t>
            </a:r>
            <a:endParaRPr sz="1800">
              <a:latin typeface="Times New Roman"/>
              <a:cs typeface="Times New Roman"/>
            </a:endParaRPr>
          </a:p>
        </p:txBody>
      </p:sp>
      <p:sp>
        <p:nvSpPr>
          <p:cNvPr id="9" name="Date Placeholder 8">
            <a:extLst>
              <a:ext uri="{FF2B5EF4-FFF2-40B4-BE49-F238E27FC236}">
                <a16:creationId xmlns:a16="http://schemas.microsoft.com/office/drawing/2014/main" id="{446512A2-25C3-0EBF-F4E8-56F434DD9ED4}"/>
              </a:ext>
            </a:extLst>
          </p:cNvPr>
          <p:cNvSpPr>
            <a:spLocks noGrp="1"/>
          </p:cNvSpPr>
          <p:nvPr>
            <p:ph type="dt" sz="half" idx="6"/>
          </p:nvPr>
        </p:nvSpPr>
        <p:spPr/>
        <p:txBody>
          <a:bodyPr/>
          <a:lstStyle/>
          <a:p>
            <a:fld id="{A27ADAD3-DDF6-4B7A-A21F-1B3B88B61014}" type="datetime1">
              <a:rPr lang="en-US" smtClean="0"/>
              <a:t>11/17/2025</a:t>
            </a:fld>
            <a:endParaRPr lang="en-US"/>
          </a:p>
        </p:txBody>
      </p:sp>
      <p:sp>
        <p:nvSpPr>
          <p:cNvPr id="11" name="Slide Number Placeholder 10">
            <a:extLst>
              <a:ext uri="{FF2B5EF4-FFF2-40B4-BE49-F238E27FC236}">
                <a16:creationId xmlns:a16="http://schemas.microsoft.com/office/drawing/2014/main" id="{C1EA49D6-DD2F-70B2-E4A4-7506A8C413B8}"/>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11</a:t>
            </a:fld>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66648"/>
            <a:ext cx="5643118" cy="627736"/>
          </a:xfrm>
          <a:prstGeom prst="rect">
            <a:avLst/>
          </a:prstGeom>
        </p:spPr>
        <p:txBody>
          <a:bodyPr vert="horz" wrap="square" lIns="0" tIns="12065" rIns="0" bIns="0" rtlCol="0">
            <a:spAutoFit/>
          </a:bodyPr>
          <a:lstStyle/>
          <a:p>
            <a:pPr marL="12700">
              <a:lnSpc>
                <a:spcPct val="100000"/>
              </a:lnSpc>
              <a:spcBef>
                <a:spcPts val="95"/>
              </a:spcBef>
            </a:pPr>
            <a:r>
              <a:rPr dirty="0">
                <a:latin typeface="Stencil" panose="040409050D0802020404" pitchFamily="82" charset="0"/>
              </a:rPr>
              <a:t>Exception</a:t>
            </a:r>
            <a:r>
              <a:rPr spc="-185" dirty="0">
                <a:latin typeface="Stencil" panose="040409050D0802020404" pitchFamily="82" charset="0"/>
              </a:rPr>
              <a:t> </a:t>
            </a:r>
            <a:r>
              <a:rPr spc="-10" dirty="0">
                <a:latin typeface="Stencil" panose="040409050D0802020404" pitchFamily="82" charset="0"/>
              </a:rPr>
              <a:t>Handling</a:t>
            </a:r>
          </a:p>
        </p:txBody>
      </p:sp>
      <p:sp>
        <p:nvSpPr>
          <p:cNvPr id="3" name="object 3"/>
          <p:cNvSpPr txBox="1">
            <a:spLocks noGrp="1"/>
          </p:cNvSpPr>
          <p:nvPr>
            <p:ph sz="half" idx="2"/>
          </p:nvPr>
        </p:nvSpPr>
        <p:spPr>
          <a:xfrm>
            <a:off x="916939" y="1637069"/>
            <a:ext cx="5019675" cy="4101764"/>
          </a:xfrm>
          <a:prstGeom prst="rect">
            <a:avLst/>
          </a:prstGeom>
        </p:spPr>
        <p:txBody>
          <a:bodyPr vert="horz" wrap="square" lIns="0" tIns="74295" rIns="0" bIns="0" rtlCol="0">
            <a:spAutoFit/>
          </a:bodyPr>
          <a:lstStyle/>
          <a:p>
            <a:pPr marL="12700">
              <a:lnSpc>
                <a:spcPct val="100000"/>
              </a:lnSpc>
              <a:spcBef>
                <a:spcPts val="585"/>
              </a:spcBef>
            </a:pPr>
            <a:r>
              <a:rPr b="1" spc="-10" dirty="0">
                <a:latin typeface="Courier New"/>
                <a:cs typeface="Courier New"/>
              </a:rPr>
              <a:t>catch</a:t>
            </a:r>
            <a:r>
              <a:rPr b="1" spc="-670" dirty="0">
                <a:latin typeface="Courier New"/>
                <a:cs typeface="Courier New"/>
              </a:rPr>
              <a:t> </a:t>
            </a:r>
            <a:r>
              <a:rPr b="1" spc="-10" dirty="0"/>
              <a:t>Blocks:</a:t>
            </a:r>
          </a:p>
          <a:p>
            <a:pPr marL="355600" indent="-342900">
              <a:lnSpc>
                <a:spcPct val="100000"/>
              </a:lnSpc>
              <a:spcBef>
                <a:spcPts val="480"/>
              </a:spcBef>
              <a:buChar char="•"/>
              <a:tabLst>
                <a:tab pos="355600" algn="l"/>
              </a:tabLst>
            </a:pPr>
            <a:r>
              <a:rPr dirty="0"/>
              <a:t>Immediately</a:t>
            </a:r>
            <a:r>
              <a:rPr spc="-35" dirty="0"/>
              <a:t> </a:t>
            </a:r>
            <a:r>
              <a:rPr dirty="0"/>
              <a:t>follow</a:t>
            </a:r>
            <a:r>
              <a:rPr spc="-40" dirty="0"/>
              <a:t> </a:t>
            </a:r>
            <a:r>
              <a:rPr dirty="0"/>
              <a:t>a</a:t>
            </a:r>
            <a:r>
              <a:rPr spc="-10" dirty="0"/>
              <a:t> </a:t>
            </a:r>
            <a:r>
              <a:rPr b="1" spc="-10" dirty="0">
                <a:latin typeface="Courier New"/>
                <a:cs typeface="Courier New"/>
              </a:rPr>
              <a:t>try</a:t>
            </a:r>
            <a:r>
              <a:rPr b="1" spc="-700" dirty="0">
                <a:latin typeface="Courier New"/>
                <a:cs typeface="Courier New"/>
              </a:rPr>
              <a:t> </a:t>
            </a:r>
            <a:r>
              <a:rPr spc="-20" dirty="0"/>
              <a:t>block</a:t>
            </a:r>
          </a:p>
          <a:p>
            <a:pPr marL="756285" lvl="1" indent="-286385">
              <a:lnSpc>
                <a:spcPct val="100000"/>
              </a:lnSpc>
              <a:spcBef>
                <a:spcPts val="480"/>
              </a:spcBef>
              <a:buChar char="–"/>
              <a:tabLst>
                <a:tab pos="756285" algn="l"/>
              </a:tabLst>
            </a:pPr>
            <a:r>
              <a:rPr sz="2000" dirty="0">
                <a:latin typeface="Times New Roman"/>
                <a:cs typeface="Times New Roman"/>
              </a:rPr>
              <a:t>One</a:t>
            </a:r>
            <a:r>
              <a:rPr sz="2000" spc="-10" dirty="0">
                <a:latin typeface="Times New Roman"/>
                <a:cs typeface="Times New Roman"/>
              </a:rPr>
              <a:t> </a:t>
            </a:r>
            <a:r>
              <a:rPr sz="2000" dirty="0">
                <a:latin typeface="Times New Roman"/>
                <a:cs typeface="Times New Roman"/>
              </a:rPr>
              <a:t>or</a:t>
            </a:r>
            <a:r>
              <a:rPr sz="2000" spc="-15" dirty="0">
                <a:latin typeface="Times New Roman"/>
                <a:cs typeface="Times New Roman"/>
              </a:rPr>
              <a:t> </a:t>
            </a:r>
            <a:r>
              <a:rPr sz="2000" dirty="0">
                <a:latin typeface="Times New Roman"/>
                <a:cs typeface="Times New Roman"/>
              </a:rPr>
              <a:t>more</a:t>
            </a:r>
            <a:r>
              <a:rPr sz="2000" spc="-5" dirty="0">
                <a:latin typeface="Times New Roman"/>
                <a:cs typeface="Times New Roman"/>
              </a:rPr>
              <a:t> </a:t>
            </a:r>
            <a:r>
              <a:rPr sz="2000" b="1" spc="-10" dirty="0">
                <a:latin typeface="Courier New"/>
                <a:cs typeface="Courier New"/>
              </a:rPr>
              <a:t>catch</a:t>
            </a:r>
            <a:r>
              <a:rPr sz="2000" b="1" spc="-700" dirty="0">
                <a:latin typeface="Courier New"/>
                <a:cs typeface="Courier New"/>
              </a:rPr>
              <a:t> </a:t>
            </a:r>
            <a:r>
              <a:rPr sz="2000" dirty="0">
                <a:latin typeface="Times New Roman"/>
                <a:cs typeface="Times New Roman"/>
              </a:rPr>
              <a:t>handlers</a:t>
            </a:r>
            <a:r>
              <a:rPr sz="2000" spc="-40" dirty="0">
                <a:latin typeface="Times New Roman"/>
                <a:cs typeface="Times New Roman"/>
              </a:rPr>
              <a:t> </a:t>
            </a:r>
            <a:r>
              <a:rPr sz="2000" dirty="0">
                <a:latin typeface="Times New Roman"/>
                <a:cs typeface="Times New Roman"/>
              </a:rPr>
              <a:t>for</a:t>
            </a:r>
            <a:r>
              <a:rPr sz="2000" spc="-10" dirty="0">
                <a:latin typeface="Times New Roman"/>
                <a:cs typeface="Times New Roman"/>
              </a:rPr>
              <a:t> </a:t>
            </a:r>
            <a:r>
              <a:rPr sz="2000" spc="-20" dirty="0">
                <a:latin typeface="Times New Roman"/>
                <a:cs typeface="Times New Roman"/>
              </a:rPr>
              <a:t>each</a:t>
            </a:r>
            <a:endParaRPr sz="2000" dirty="0">
              <a:latin typeface="Times New Roman"/>
              <a:cs typeface="Times New Roman"/>
            </a:endParaRPr>
          </a:p>
          <a:p>
            <a:pPr marL="756285">
              <a:lnSpc>
                <a:spcPct val="100000"/>
              </a:lnSpc>
            </a:pPr>
            <a:r>
              <a:rPr b="1" spc="-10" dirty="0">
                <a:latin typeface="Courier New"/>
                <a:cs typeface="Courier New"/>
              </a:rPr>
              <a:t>try</a:t>
            </a:r>
            <a:r>
              <a:rPr b="1" spc="-680" dirty="0">
                <a:latin typeface="Courier New"/>
                <a:cs typeface="Courier New"/>
              </a:rPr>
              <a:t> </a:t>
            </a:r>
            <a:r>
              <a:rPr spc="-10" dirty="0"/>
              <a:t>block</a:t>
            </a:r>
          </a:p>
          <a:p>
            <a:pPr marL="355600" indent="-342900">
              <a:lnSpc>
                <a:spcPct val="100000"/>
              </a:lnSpc>
              <a:spcBef>
                <a:spcPts val="615"/>
              </a:spcBef>
              <a:buChar char="•"/>
              <a:tabLst>
                <a:tab pos="355600" algn="l"/>
              </a:tabLst>
            </a:pPr>
            <a:r>
              <a:rPr dirty="0"/>
              <a:t>Exception</a:t>
            </a:r>
            <a:r>
              <a:rPr spc="-40" dirty="0"/>
              <a:t> </a:t>
            </a:r>
            <a:r>
              <a:rPr dirty="0"/>
              <a:t>parameter</a:t>
            </a:r>
            <a:r>
              <a:rPr spc="-35" dirty="0"/>
              <a:t> </a:t>
            </a:r>
            <a:r>
              <a:rPr dirty="0"/>
              <a:t>enclosed</a:t>
            </a:r>
            <a:r>
              <a:rPr spc="-45" dirty="0"/>
              <a:t> </a:t>
            </a:r>
            <a:r>
              <a:rPr dirty="0"/>
              <a:t>in</a:t>
            </a:r>
            <a:r>
              <a:rPr spc="-20" dirty="0"/>
              <a:t> </a:t>
            </a:r>
            <a:r>
              <a:rPr spc="-10" dirty="0"/>
              <a:t>parentheses</a:t>
            </a:r>
          </a:p>
          <a:p>
            <a:pPr marL="756285" marR="683895" lvl="1" indent="-287020">
              <a:lnSpc>
                <a:spcPct val="100000"/>
              </a:lnSpc>
              <a:spcBef>
                <a:spcPts val="480"/>
              </a:spcBef>
              <a:buChar char="–"/>
              <a:tabLst>
                <a:tab pos="756285" algn="l"/>
              </a:tabLst>
            </a:pPr>
            <a:r>
              <a:rPr sz="2000" dirty="0">
                <a:latin typeface="Times New Roman"/>
                <a:cs typeface="Times New Roman"/>
              </a:rPr>
              <a:t>Represents</a:t>
            </a:r>
            <a:r>
              <a:rPr sz="2000" spc="-4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type</a:t>
            </a:r>
            <a:r>
              <a:rPr sz="2000" spc="-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exception</a:t>
            </a:r>
            <a:r>
              <a:rPr sz="2000" spc="-25" dirty="0">
                <a:latin typeface="Times New Roman"/>
                <a:cs typeface="Times New Roman"/>
              </a:rPr>
              <a:t> to </a:t>
            </a:r>
            <a:r>
              <a:rPr sz="2000" spc="-10" dirty="0">
                <a:latin typeface="Times New Roman"/>
                <a:cs typeface="Times New Roman"/>
              </a:rPr>
              <a:t>process</a:t>
            </a:r>
            <a:endParaRPr sz="2000" dirty="0">
              <a:latin typeface="Times New Roman"/>
              <a:cs typeface="Times New Roman"/>
            </a:endParaRPr>
          </a:p>
          <a:p>
            <a:pPr marL="355600" indent="-342900">
              <a:lnSpc>
                <a:spcPts val="2335"/>
              </a:lnSpc>
              <a:spcBef>
                <a:spcPts val="480"/>
              </a:spcBef>
              <a:buChar char="•"/>
              <a:tabLst>
                <a:tab pos="355600" algn="l"/>
              </a:tabLst>
            </a:pPr>
            <a:r>
              <a:rPr dirty="0"/>
              <a:t>Executes</a:t>
            </a:r>
            <a:r>
              <a:rPr spc="-30" dirty="0"/>
              <a:t> </a:t>
            </a:r>
            <a:r>
              <a:rPr dirty="0"/>
              <a:t>if</a:t>
            </a:r>
            <a:r>
              <a:rPr spc="-35" dirty="0"/>
              <a:t> </a:t>
            </a:r>
            <a:r>
              <a:rPr dirty="0"/>
              <a:t>exception</a:t>
            </a:r>
            <a:r>
              <a:rPr spc="-35" dirty="0"/>
              <a:t> </a:t>
            </a:r>
            <a:r>
              <a:rPr dirty="0"/>
              <a:t>parameter</a:t>
            </a:r>
            <a:r>
              <a:rPr spc="-30" dirty="0"/>
              <a:t> </a:t>
            </a:r>
            <a:r>
              <a:rPr dirty="0"/>
              <a:t>type</a:t>
            </a:r>
            <a:r>
              <a:rPr spc="-10" dirty="0"/>
              <a:t> matches</a:t>
            </a:r>
          </a:p>
          <a:p>
            <a:pPr marL="355600">
              <a:lnSpc>
                <a:spcPts val="2335"/>
              </a:lnSpc>
            </a:pPr>
            <a:r>
              <a:rPr dirty="0"/>
              <a:t>the</a:t>
            </a:r>
            <a:r>
              <a:rPr spc="-15" dirty="0"/>
              <a:t> </a:t>
            </a:r>
            <a:r>
              <a:rPr dirty="0"/>
              <a:t>exception</a:t>
            </a:r>
            <a:r>
              <a:rPr spc="-40" dirty="0"/>
              <a:t> </a:t>
            </a:r>
            <a:r>
              <a:rPr dirty="0"/>
              <a:t>thrown</a:t>
            </a:r>
            <a:r>
              <a:rPr spc="-25" dirty="0"/>
              <a:t> </a:t>
            </a:r>
            <a:r>
              <a:rPr dirty="0"/>
              <a:t>in</a:t>
            </a:r>
            <a:r>
              <a:rPr spc="-10" dirty="0"/>
              <a:t> </a:t>
            </a:r>
            <a:r>
              <a:rPr dirty="0"/>
              <a:t>the</a:t>
            </a:r>
            <a:r>
              <a:rPr spc="5" dirty="0"/>
              <a:t> </a:t>
            </a:r>
            <a:r>
              <a:rPr b="1" spc="-10" dirty="0">
                <a:latin typeface="Courier New"/>
                <a:cs typeface="Courier New"/>
              </a:rPr>
              <a:t>try</a:t>
            </a:r>
            <a:r>
              <a:rPr b="1" spc="-710" dirty="0">
                <a:latin typeface="Courier New"/>
                <a:cs typeface="Courier New"/>
              </a:rPr>
              <a:t> </a:t>
            </a:r>
            <a:r>
              <a:rPr spc="-10" dirty="0"/>
              <a:t>block</a:t>
            </a:r>
          </a:p>
          <a:p>
            <a:pPr marL="756285" marR="651510" lvl="1" indent="-287020">
              <a:lnSpc>
                <a:spcPct val="100000"/>
              </a:lnSpc>
              <a:spcBef>
                <a:spcPts val="615"/>
              </a:spcBef>
              <a:buChar char="–"/>
              <a:tabLst>
                <a:tab pos="756285" algn="l"/>
              </a:tabLst>
            </a:pPr>
            <a:r>
              <a:rPr sz="2000" dirty="0">
                <a:latin typeface="Times New Roman"/>
                <a:cs typeface="Times New Roman"/>
              </a:rPr>
              <a:t>Could</a:t>
            </a:r>
            <a:r>
              <a:rPr sz="2000" spc="-30" dirty="0">
                <a:latin typeface="Times New Roman"/>
                <a:cs typeface="Times New Roman"/>
              </a:rPr>
              <a:t> </a:t>
            </a:r>
            <a:r>
              <a:rPr sz="2000" dirty="0">
                <a:latin typeface="Times New Roman"/>
                <a:cs typeface="Times New Roman"/>
              </a:rPr>
              <a:t>be a</a:t>
            </a:r>
            <a:r>
              <a:rPr sz="2000" spc="-5" dirty="0">
                <a:latin typeface="Times New Roman"/>
                <a:cs typeface="Times New Roman"/>
              </a:rPr>
              <a:t> </a:t>
            </a:r>
            <a:r>
              <a:rPr sz="2000" dirty="0">
                <a:latin typeface="Times New Roman"/>
                <a:cs typeface="Times New Roman"/>
              </a:rPr>
              <a:t>base</a:t>
            </a:r>
            <a:r>
              <a:rPr sz="2000" spc="-25" dirty="0">
                <a:latin typeface="Times New Roman"/>
                <a:cs typeface="Times New Roman"/>
              </a:rPr>
              <a:t> </a:t>
            </a:r>
            <a:r>
              <a:rPr sz="2000" dirty="0">
                <a:latin typeface="Times New Roman"/>
                <a:cs typeface="Times New Roman"/>
              </a:rPr>
              <a:t>class</a:t>
            </a:r>
            <a:r>
              <a:rPr sz="2000" spc="-1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the</a:t>
            </a:r>
            <a:r>
              <a:rPr sz="2000" spc="-10" dirty="0">
                <a:latin typeface="Times New Roman"/>
                <a:cs typeface="Times New Roman"/>
              </a:rPr>
              <a:t> thrown exception’s</a:t>
            </a:r>
            <a:r>
              <a:rPr sz="2000" spc="-45" dirty="0">
                <a:latin typeface="Times New Roman"/>
                <a:cs typeface="Times New Roman"/>
              </a:rPr>
              <a:t> </a:t>
            </a:r>
            <a:r>
              <a:rPr sz="2000" spc="-10" dirty="0">
                <a:latin typeface="Times New Roman"/>
                <a:cs typeface="Times New Roman"/>
              </a:rPr>
              <a:t>class</a:t>
            </a:r>
            <a:endParaRPr sz="20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6" name="object 6"/>
          <p:cNvSpPr txBox="1"/>
          <p:nvPr/>
        </p:nvSpPr>
        <p:spPr>
          <a:xfrm>
            <a:off x="5431916" y="6368253"/>
            <a:ext cx="1796414"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0" dirty="0">
                <a:solidFill>
                  <a:srgbClr val="FFFFFF"/>
                </a:solidFill>
                <a:latin typeface="Times New Roman"/>
                <a:cs typeface="Times New Roman"/>
              </a:rPr>
              <a:t> </a:t>
            </a:r>
            <a:r>
              <a:rPr sz="2400" dirty="0">
                <a:solidFill>
                  <a:srgbClr val="FFFFFF"/>
                </a:solidFill>
                <a:latin typeface="Times New Roman"/>
                <a:cs typeface="Times New Roman"/>
              </a:rPr>
              <a:t>7</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65" dirty="0">
                <a:solidFill>
                  <a:srgbClr val="FFFFFF"/>
                </a:solidFill>
                <a:latin typeface="Times New Roman"/>
                <a:cs typeface="Times New Roman"/>
              </a:rPr>
              <a:t>11</a:t>
            </a:r>
            <a:endParaRPr sz="2400">
              <a:latin typeface="Times New Roman"/>
              <a:cs typeface="Times New Roman"/>
            </a:endParaRPr>
          </a:p>
        </p:txBody>
      </p:sp>
      <p:sp>
        <p:nvSpPr>
          <p:cNvPr id="7" name="object 7"/>
          <p:cNvSpPr txBox="1"/>
          <p:nvPr/>
        </p:nvSpPr>
        <p:spPr>
          <a:xfrm>
            <a:off x="10109707"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8" name="object 8"/>
          <p:cNvSpPr txBox="1"/>
          <p:nvPr/>
        </p:nvSpPr>
        <p:spPr>
          <a:xfrm>
            <a:off x="10496804" y="6368253"/>
            <a:ext cx="132715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1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4" name="object 4"/>
          <p:cNvSpPr txBox="1"/>
          <p:nvPr/>
        </p:nvSpPr>
        <p:spPr>
          <a:xfrm>
            <a:off x="6560057" y="1251026"/>
            <a:ext cx="4977130" cy="496506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int </a:t>
            </a:r>
            <a:r>
              <a:rPr sz="1800" spc="-10" dirty="0">
                <a:latin typeface="Times New Roman"/>
                <a:cs typeface="Times New Roman"/>
              </a:rPr>
              <a:t>main()</a:t>
            </a:r>
            <a:endParaRPr sz="1800">
              <a:latin typeface="Times New Roman"/>
              <a:cs typeface="Times New Roman"/>
            </a:endParaRPr>
          </a:p>
          <a:p>
            <a:pPr marL="12700">
              <a:lnSpc>
                <a:spcPct val="100000"/>
              </a:lnSpc>
              <a:spcBef>
                <a:spcPts val="5"/>
              </a:spcBef>
            </a:pPr>
            <a:r>
              <a:rPr sz="1800" spc="-50" dirty="0">
                <a:latin typeface="Times New Roman"/>
                <a:cs typeface="Times New Roman"/>
              </a:rPr>
              <a:t>{</a:t>
            </a:r>
            <a:endParaRPr sz="1800">
              <a:latin typeface="Times New Roman"/>
              <a:cs typeface="Times New Roman"/>
            </a:endParaRPr>
          </a:p>
          <a:p>
            <a:pPr marL="241300" marR="2604770">
              <a:lnSpc>
                <a:spcPct val="100000"/>
              </a:lnSpc>
            </a:pPr>
            <a:r>
              <a:rPr sz="1800" dirty="0">
                <a:latin typeface="Times New Roman"/>
                <a:cs typeface="Times New Roman"/>
              </a:rPr>
              <a:t>float</a:t>
            </a:r>
            <a:r>
              <a:rPr sz="1800" spc="-40" dirty="0">
                <a:latin typeface="Times New Roman"/>
                <a:cs typeface="Times New Roman"/>
              </a:rPr>
              <a:t> </a:t>
            </a:r>
            <a:r>
              <a:rPr sz="1800" dirty="0">
                <a:latin typeface="Times New Roman"/>
                <a:cs typeface="Times New Roman"/>
              </a:rPr>
              <a:t>numerator</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12.5; </a:t>
            </a:r>
            <a:r>
              <a:rPr sz="1800" dirty="0">
                <a:latin typeface="Times New Roman"/>
                <a:cs typeface="Times New Roman"/>
              </a:rPr>
              <a:t>float</a:t>
            </a:r>
            <a:r>
              <a:rPr sz="1800" spc="-55" dirty="0">
                <a:latin typeface="Times New Roman"/>
                <a:cs typeface="Times New Roman"/>
              </a:rPr>
              <a:t> </a:t>
            </a:r>
            <a:r>
              <a:rPr sz="1800" dirty="0">
                <a:latin typeface="Times New Roman"/>
                <a:cs typeface="Times New Roman"/>
              </a:rPr>
              <a:t>denominator</a:t>
            </a:r>
            <a:r>
              <a:rPr sz="1800" spc="-35"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spc="-25" dirty="0">
                <a:latin typeface="Times New Roman"/>
                <a:cs typeface="Times New Roman"/>
              </a:rPr>
              <a:t>0; </a:t>
            </a:r>
            <a:r>
              <a:rPr sz="1800" dirty="0">
                <a:latin typeface="Times New Roman"/>
                <a:cs typeface="Times New Roman"/>
              </a:rPr>
              <a:t>float</a:t>
            </a:r>
            <a:r>
              <a:rPr sz="1800" spc="-40" dirty="0">
                <a:latin typeface="Times New Roman"/>
                <a:cs typeface="Times New Roman"/>
              </a:rPr>
              <a:t> </a:t>
            </a:r>
            <a:r>
              <a:rPr sz="1800" spc="-10" dirty="0">
                <a:latin typeface="Times New Roman"/>
                <a:cs typeface="Times New Roman"/>
              </a:rPr>
              <a:t>result;</a:t>
            </a:r>
            <a:endParaRPr sz="1800">
              <a:latin typeface="Times New Roman"/>
              <a:cs typeface="Times New Roman"/>
            </a:endParaRPr>
          </a:p>
          <a:p>
            <a:pPr marL="241300">
              <a:lnSpc>
                <a:spcPct val="100000"/>
              </a:lnSpc>
            </a:pPr>
            <a:r>
              <a:rPr sz="1800" dirty="0">
                <a:latin typeface="Times New Roman"/>
                <a:cs typeface="Times New Roman"/>
              </a:rPr>
              <a:t>try</a:t>
            </a:r>
            <a:r>
              <a:rPr sz="1800" spc="-10" dirty="0">
                <a:latin typeface="Times New Roman"/>
                <a:cs typeface="Times New Roman"/>
              </a:rPr>
              <a:t> </a:t>
            </a:r>
            <a:r>
              <a:rPr sz="1800" spc="-60" dirty="0">
                <a:latin typeface="Times New Roman"/>
                <a:cs typeface="Times New Roman"/>
              </a:rPr>
              <a:t>{</a:t>
            </a:r>
            <a:endParaRPr sz="1800">
              <a:latin typeface="Times New Roman"/>
              <a:cs typeface="Times New Roman"/>
            </a:endParaRPr>
          </a:p>
          <a:p>
            <a:pPr marL="640080">
              <a:lnSpc>
                <a:spcPct val="100000"/>
              </a:lnSpc>
            </a:pPr>
            <a:r>
              <a:rPr sz="1800" dirty="0">
                <a:latin typeface="Times New Roman"/>
                <a:cs typeface="Times New Roman"/>
              </a:rPr>
              <a:t>if</a:t>
            </a:r>
            <a:r>
              <a:rPr sz="1800" spc="-20" dirty="0">
                <a:latin typeface="Times New Roman"/>
                <a:cs typeface="Times New Roman"/>
              </a:rPr>
              <a:t> </a:t>
            </a:r>
            <a:r>
              <a:rPr sz="1800" dirty="0">
                <a:latin typeface="Times New Roman"/>
                <a:cs typeface="Times New Roman"/>
              </a:rPr>
              <a:t>(denominator</a:t>
            </a:r>
            <a:r>
              <a:rPr sz="1800" spc="-25" dirty="0">
                <a:latin typeface="Times New Roman"/>
                <a:cs typeface="Times New Roman"/>
              </a:rPr>
              <a:t> </a:t>
            </a:r>
            <a:r>
              <a:rPr sz="1800" dirty="0">
                <a:latin typeface="Times New Roman"/>
                <a:cs typeface="Times New Roman"/>
              </a:rPr>
              <a:t>!=</a:t>
            </a:r>
            <a:r>
              <a:rPr sz="1800" spc="-40" dirty="0">
                <a:latin typeface="Times New Roman"/>
                <a:cs typeface="Times New Roman"/>
              </a:rPr>
              <a:t> </a:t>
            </a:r>
            <a:r>
              <a:rPr sz="1800" dirty="0">
                <a:latin typeface="Times New Roman"/>
                <a:cs typeface="Times New Roman"/>
              </a:rPr>
              <a:t>0)</a:t>
            </a:r>
            <a:r>
              <a:rPr sz="1800" spc="-2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marR="1008380">
              <a:lnSpc>
                <a:spcPct val="100000"/>
              </a:lnSpc>
            </a:pPr>
            <a:r>
              <a:rPr sz="1800" dirty="0">
                <a:latin typeface="Times New Roman"/>
                <a:cs typeface="Times New Roman"/>
              </a:rPr>
              <a:t>result</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numerator/denominator; </a:t>
            </a:r>
            <a:r>
              <a:rPr sz="1800" dirty="0">
                <a:latin typeface="Times New Roman"/>
                <a:cs typeface="Times New Roman"/>
              </a:rPr>
              <a:t>cout</a:t>
            </a:r>
            <a:r>
              <a:rPr sz="1800" spc="-20" dirty="0">
                <a:latin typeface="Times New Roman"/>
                <a:cs typeface="Times New Roman"/>
              </a:rPr>
              <a:t> </a:t>
            </a: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quotient</a:t>
            </a:r>
            <a:r>
              <a:rPr sz="1800" spc="-15"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dirty="0">
                <a:latin typeface="Times New Roman"/>
                <a:cs typeface="Times New Roman"/>
              </a:rPr>
              <a:t>12.5/0</a:t>
            </a:r>
            <a:r>
              <a:rPr sz="1800" spc="-15" dirty="0">
                <a:latin typeface="Times New Roman"/>
                <a:cs typeface="Times New Roman"/>
              </a:rPr>
              <a:t> </a:t>
            </a:r>
            <a:r>
              <a:rPr sz="1800" dirty="0">
                <a:latin typeface="Times New Roman"/>
                <a:cs typeface="Times New Roman"/>
              </a:rPr>
              <a:t>is</a:t>
            </a:r>
            <a:r>
              <a:rPr sz="1800" spc="-2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1155700">
              <a:lnSpc>
                <a:spcPct val="100000"/>
              </a:lnSpc>
            </a:pP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result</a:t>
            </a:r>
            <a:r>
              <a:rPr sz="1800" spc="-15"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spc="-10" dirty="0">
                <a:latin typeface="Times New Roman"/>
                <a:cs typeface="Times New Roman"/>
              </a:rPr>
              <a:t>endl;</a:t>
            </a:r>
            <a:endParaRPr sz="1800">
              <a:latin typeface="Times New Roman"/>
              <a:cs typeface="Times New Roman"/>
            </a:endParaRPr>
          </a:p>
          <a:p>
            <a:pPr marL="469900">
              <a:lnSpc>
                <a:spcPct val="100000"/>
              </a:lnSpc>
            </a:pP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else</a:t>
            </a:r>
            <a:r>
              <a:rPr sz="1800" spc="-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a:lnSpc>
                <a:spcPct val="100000"/>
              </a:lnSpc>
              <a:spcBef>
                <a:spcPts val="5"/>
              </a:spcBef>
            </a:pPr>
            <a:r>
              <a:rPr sz="1800" dirty="0">
                <a:latin typeface="Times New Roman"/>
                <a:cs typeface="Times New Roman"/>
              </a:rPr>
              <a:t>throw</a:t>
            </a:r>
            <a:r>
              <a:rPr sz="1800" spc="-55" dirty="0">
                <a:latin typeface="Times New Roman"/>
                <a:cs typeface="Times New Roman"/>
              </a:rPr>
              <a:t> </a:t>
            </a:r>
            <a:r>
              <a:rPr sz="1800" spc="-10" dirty="0">
                <a:latin typeface="Times New Roman"/>
                <a:cs typeface="Times New Roman"/>
              </a:rPr>
              <a:t>(denominator);</a:t>
            </a:r>
            <a:endParaRPr sz="1800">
              <a:latin typeface="Times New Roman"/>
              <a:cs typeface="Times New Roman"/>
            </a:endParaRPr>
          </a:p>
          <a:p>
            <a:pPr marL="469900">
              <a:lnSpc>
                <a:spcPct val="100000"/>
              </a:lnSpc>
            </a:pPr>
            <a:r>
              <a:rPr sz="1800" spc="-50" dirty="0">
                <a:latin typeface="Times New Roman"/>
                <a:cs typeface="Times New Roman"/>
              </a:rPr>
              <a:t>}</a:t>
            </a:r>
            <a:endParaRPr sz="1800">
              <a:latin typeface="Times New Roman"/>
              <a:cs typeface="Times New Roman"/>
            </a:endParaRPr>
          </a:p>
          <a:p>
            <a:pPr marL="241300">
              <a:lnSpc>
                <a:spcPct val="100000"/>
              </a:lnSpc>
            </a:pP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catch</a:t>
            </a:r>
            <a:r>
              <a:rPr sz="1800" spc="-25" dirty="0">
                <a:latin typeface="Times New Roman"/>
                <a:cs typeface="Times New Roman"/>
              </a:rPr>
              <a:t> </a:t>
            </a:r>
            <a:r>
              <a:rPr sz="1800" dirty="0">
                <a:latin typeface="Times New Roman"/>
                <a:cs typeface="Times New Roman"/>
              </a:rPr>
              <a:t>(float</a:t>
            </a:r>
            <a:r>
              <a:rPr sz="1800" spc="-25" dirty="0">
                <a:latin typeface="Times New Roman"/>
                <a:cs typeface="Times New Roman"/>
              </a:rPr>
              <a:t> </a:t>
            </a:r>
            <a:r>
              <a:rPr sz="1800" dirty="0">
                <a:latin typeface="Times New Roman"/>
                <a:cs typeface="Times New Roman"/>
              </a:rPr>
              <a:t>i)</a:t>
            </a:r>
            <a:r>
              <a:rPr sz="1800" spc="-1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469900">
              <a:lnSpc>
                <a:spcPct val="100000"/>
              </a:lnSpc>
            </a:pPr>
            <a:r>
              <a:rPr sz="1800" dirty="0">
                <a:latin typeface="Times New Roman"/>
                <a:cs typeface="Times New Roman"/>
              </a:rPr>
              <a:t>cout</a:t>
            </a:r>
            <a:r>
              <a:rPr sz="1800" spc="-25" dirty="0">
                <a:latin typeface="Times New Roman"/>
                <a:cs typeface="Times New Roman"/>
              </a:rPr>
              <a:t> </a:t>
            </a:r>
            <a:r>
              <a:rPr sz="1800" dirty="0">
                <a:latin typeface="Times New Roman"/>
                <a:cs typeface="Times New Roman"/>
              </a:rPr>
              <a:t>&lt;&lt;</a:t>
            </a:r>
            <a:r>
              <a:rPr sz="1800" spc="-35" dirty="0">
                <a:latin typeface="Times New Roman"/>
                <a:cs typeface="Times New Roman"/>
              </a:rPr>
              <a:t> </a:t>
            </a:r>
            <a:r>
              <a:rPr sz="1800" dirty="0">
                <a:latin typeface="Times New Roman"/>
                <a:cs typeface="Times New Roman"/>
              </a:rPr>
              <a:t>"Answer is</a:t>
            </a:r>
            <a:r>
              <a:rPr sz="1800" spc="-30" dirty="0">
                <a:latin typeface="Times New Roman"/>
                <a:cs typeface="Times New Roman"/>
              </a:rPr>
              <a:t> </a:t>
            </a:r>
            <a:r>
              <a:rPr sz="1800" dirty="0">
                <a:latin typeface="Times New Roman"/>
                <a:cs typeface="Times New Roman"/>
              </a:rPr>
              <a:t>infinite</a:t>
            </a:r>
            <a:r>
              <a:rPr sz="1800" spc="-35" dirty="0">
                <a:latin typeface="Times New Roman"/>
                <a:cs typeface="Times New Roman"/>
              </a:rPr>
              <a:t> </a:t>
            </a:r>
            <a:r>
              <a:rPr sz="1800" dirty="0">
                <a:latin typeface="Times New Roman"/>
                <a:cs typeface="Times New Roman"/>
              </a:rPr>
              <a:t>because</a:t>
            </a:r>
            <a:r>
              <a:rPr sz="1800" spc="-25" dirty="0">
                <a:latin typeface="Times New Roman"/>
                <a:cs typeface="Times New Roman"/>
              </a:rPr>
              <a:t> </a:t>
            </a:r>
            <a:r>
              <a:rPr sz="1800" dirty="0">
                <a:latin typeface="Times New Roman"/>
                <a:cs typeface="Times New Roman"/>
              </a:rPr>
              <a:t>a-b</a:t>
            </a:r>
            <a:r>
              <a:rPr sz="1800" spc="-30" dirty="0">
                <a:latin typeface="Times New Roman"/>
                <a:cs typeface="Times New Roman"/>
              </a:rPr>
              <a:t> </a:t>
            </a:r>
            <a:r>
              <a:rPr sz="1800" dirty="0">
                <a:latin typeface="Times New Roman"/>
                <a:cs typeface="Times New Roman"/>
              </a:rPr>
              <a:t>is:"</a:t>
            </a:r>
            <a:r>
              <a:rPr sz="1800" spc="-30" dirty="0">
                <a:latin typeface="Times New Roman"/>
                <a:cs typeface="Times New Roman"/>
              </a:rPr>
              <a:t> </a:t>
            </a:r>
            <a:r>
              <a:rPr sz="1800" dirty="0">
                <a:latin typeface="Times New Roman"/>
                <a:cs typeface="Times New Roman"/>
              </a:rPr>
              <a:t>&lt;&lt;</a:t>
            </a:r>
            <a:r>
              <a:rPr sz="1800" spc="-20" dirty="0">
                <a:latin typeface="Times New Roman"/>
                <a:cs typeface="Times New Roman"/>
              </a:rPr>
              <a:t> </a:t>
            </a:r>
            <a:r>
              <a:rPr sz="1800" spc="-25" dirty="0">
                <a:latin typeface="Times New Roman"/>
                <a:cs typeface="Times New Roman"/>
              </a:rPr>
              <a:t>i;</a:t>
            </a:r>
            <a:endParaRPr sz="1800">
              <a:latin typeface="Times New Roman"/>
              <a:cs typeface="Times New Roman"/>
            </a:endParaRPr>
          </a:p>
          <a:p>
            <a:pPr marL="241300">
              <a:lnSpc>
                <a:spcPct val="100000"/>
              </a:lnSpc>
            </a:pPr>
            <a:r>
              <a:rPr sz="1800" spc="-50" dirty="0">
                <a:latin typeface="Times New Roman"/>
                <a:cs typeface="Times New Roman"/>
              </a:rPr>
              <a:t>}</a:t>
            </a:r>
            <a:endParaRPr sz="1800">
              <a:latin typeface="Times New Roman"/>
              <a:cs typeface="Times New Roman"/>
            </a:endParaRPr>
          </a:p>
          <a:p>
            <a:pPr marL="297180">
              <a:lnSpc>
                <a:spcPct val="100000"/>
              </a:lnSpc>
            </a:pPr>
            <a:r>
              <a:rPr sz="1800" dirty="0">
                <a:latin typeface="Times New Roman"/>
                <a:cs typeface="Times New Roman"/>
              </a:rPr>
              <a:t>return</a:t>
            </a:r>
            <a:r>
              <a:rPr sz="1800" spc="-40" dirty="0">
                <a:latin typeface="Times New Roman"/>
                <a:cs typeface="Times New Roman"/>
              </a:rPr>
              <a:t> </a:t>
            </a:r>
            <a:r>
              <a:rPr sz="1800" spc="-25" dirty="0">
                <a:latin typeface="Times New Roman"/>
                <a:cs typeface="Times New Roman"/>
              </a:rPr>
              <a:t>0;</a:t>
            </a:r>
            <a:endParaRPr sz="1800">
              <a:latin typeface="Times New Roman"/>
              <a:cs typeface="Times New Roman"/>
            </a:endParaRPr>
          </a:p>
          <a:p>
            <a:pPr marL="12700">
              <a:lnSpc>
                <a:spcPct val="100000"/>
              </a:lnSpc>
            </a:pPr>
            <a:r>
              <a:rPr sz="1800" spc="-50" dirty="0">
                <a:latin typeface="Times New Roman"/>
                <a:cs typeface="Times New Roman"/>
              </a:rPr>
              <a:t>}</a:t>
            </a:r>
            <a:endParaRPr sz="1800">
              <a:latin typeface="Times New Roman"/>
              <a:cs typeface="Times New Roman"/>
            </a:endParaRPr>
          </a:p>
        </p:txBody>
      </p:sp>
      <p:sp>
        <p:nvSpPr>
          <p:cNvPr id="9" name="Date Placeholder 8">
            <a:extLst>
              <a:ext uri="{FF2B5EF4-FFF2-40B4-BE49-F238E27FC236}">
                <a16:creationId xmlns:a16="http://schemas.microsoft.com/office/drawing/2014/main" id="{654CF6A7-4A16-1C5D-6E46-9FA896059B35}"/>
              </a:ext>
            </a:extLst>
          </p:cNvPr>
          <p:cNvSpPr>
            <a:spLocks noGrp="1"/>
          </p:cNvSpPr>
          <p:nvPr>
            <p:ph type="dt" sz="half" idx="6"/>
          </p:nvPr>
        </p:nvSpPr>
        <p:spPr/>
        <p:txBody>
          <a:bodyPr/>
          <a:lstStyle/>
          <a:p>
            <a:fld id="{7EE24E71-47EB-421B-B5A8-674424B52B69}" type="datetime1">
              <a:rPr lang="en-US" smtClean="0"/>
              <a:t>11/17/2025</a:t>
            </a:fld>
            <a:endParaRPr lang="en-US"/>
          </a:p>
        </p:txBody>
      </p:sp>
      <p:sp>
        <p:nvSpPr>
          <p:cNvPr id="11" name="Slide Number Placeholder 10">
            <a:extLst>
              <a:ext uri="{FF2B5EF4-FFF2-40B4-BE49-F238E27FC236}">
                <a16:creationId xmlns:a16="http://schemas.microsoft.com/office/drawing/2014/main" id="{863F6A02-4343-3BCC-44AE-FB06FAAB483E}"/>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12</a:t>
            </a:fld>
            <a:endParaRPr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66648"/>
            <a:ext cx="6398261" cy="627736"/>
          </a:xfrm>
          <a:prstGeom prst="rect">
            <a:avLst/>
          </a:prstGeom>
        </p:spPr>
        <p:txBody>
          <a:bodyPr vert="horz" wrap="square" lIns="0" tIns="12065" rIns="0" bIns="0" rtlCol="0">
            <a:spAutoFit/>
          </a:bodyPr>
          <a:lstStyle/>
          <a:p>
            <a:pPr marL="12700">
              <a:lnSpc>
                <a:spcPct val="100000"/>
              </a:lnSpc>
              <a:spcBef>
                <a:spcPts val="95"/>
              </a:spcBef>
            </a:pPr>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a:t>
            </a:r>
            <a:endParaRPr spc="-10" dirty="0">
              <a:latin typeface="Forte" panose="03060902040502070203" pitchFamily="66" charset="0"/>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7" name="object 7"/>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8" name="object 8"/>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1670617"/>
            <a:ext cx="5012690" cy="3058160"/>
          </a:xfrm>
          <a:prstGeom prst="rect">
            <a:avLst/>
          </a:prstGeom>
        </p:spPr>
        <p:txBody>
          <a:bodyPr vert="horz" wrap="square" lIns="0" tIns="57150" rIns="0" bIns="0" rtlCol="0">
            <a:spAutoFit/>
          </a:bodyPr>
          <a:lstStyle/>
          <a:p>
            <a:pPr marL="12700" algn="just">
              <a:lnSpc>
                <a:spcPct val="100000"/>
              </a:lnSpc>
              <a:spcBef>
                <a:spcPts val="450"/>
              </a:spcBef>
            </a:pPr>
            <a:r>
              <a:rPr sz="2000" b="1" dirty="0">
                <a:latin typeface="Times New Roman"/>
                <a:cs typeface="Times New Roman"/>
              </a:rPr>
              <a:t>Throwing</a:t>
            </a:r>
            <a:r>
              <a:rPr sz="2000" b="1" spc="-40" dirty="0">
                <a:latin typeface="Times New Roman"/>
                <a:cs typeface="Times New Roman"/>
              </a:rPr>
              <a:t> </a:t>
            </a:r>
            <a:r>
              <a:rPr sz="2000" b="1" dirty="0">
                <a:latin typeface="Times New Roman"/>
                <a:cs typeface="Times New Roman"/>
              </a:rPr>
              <a:t>an</a:t>
            </a:r>
            <a:r>
              <a:rPr sz="2000" b="1" spc="-35" dirty="0">
                <a:latin typeface="Times New Roman"/>
                <a:cs typeface="Times New Roman"/>
              </a:rPr>
              <a:t> </a:t>
            </a:r>
            <a:r>
              <a:rPr sz="2000" b="1" spc="-10" dirty="0">
                <a:latin typeface="Times New Roman"/>
                <a:cs typeface="Times New Roman"/>
              </a:rPr>
              <a:t>Exception</a:t>
            </a:r>
            <a:r>
              <a:rPr sz="2000" spc="-10" dirty="0">
                <a:latin typeface="Times New Roman"/>
                <a:cs typeface="Times New Roman"/>
              </a:rPr>
              <a:t>:</a:t>
            </a:r>
            <a:endParaRPr sz="2000">
              <a:latin typeface="Times New Roman"/>
              <a:cs typeface="Times New Roman"/>
            </a:endParaRPr>
          </a:p>
          <a:p>
            <a:pPr marL="355600" marR="5080" indent="-343535" algn="just">
              <a:lnSpc>
                <a:spcPct val="105500"/>
              </a:lnSpc>
              <a:spcBef>
                <a:spcPts val="220"/>
              </a:spcBef>
              <a:buChar char="•"/>
              <a:tabLst>
                <a:tab pos="355600" algn="l"/>
              </a:tabLst>
            </a:pPr>
            <a:r>
              <a:rPr sz="2000" dirty="0">
                <a:latin typeface="Times New Roman"/>
                <a:cs typeface="Times New Roman"/>
              </a:rPr>
              <a:t>Use</a:t>
            </a:r>
            <a:r>
              <a:rPr sz="2000" spc="-125" dirty="0">
                <a:latin typeface="Times New Roman"/>
                <a:cs typeface="Times New Roman"/>
              </a:rPr>
              <a:t> </a:t>
            </a:r>
            <a:r>
              <a:rPr sz="2000" dirty="0">
                <a:latin typeface="Times New Roman"/>
                <a:cs typeface="Times New Roman"/>
              </a:rPr>
              <a:t>keyword</a:t>
            </a:r>
            <a:r>
              <a:rPr sz="2000" spc="-125" dirty="0">
                <a:latin typeface="Times New Roman"/>
                <a:cs typeface="Times New Roman"/>
              </a:rPr>
              <a:t> </a:t>
            </a:r>
            <a:r>
              <a:rPr sz="2000" b="1" spc="-110" dirty="0">
                <a:latin typeface="Courier New"/>
                <a:cs typeface="Courier New"/>
              </a:rPr>
              <a:t>throw</a:t>
            </a:r>
            <a:r>
              <a:rPr sz="2000" b="1" spc="-190" dirty="0">
                <a:latin typeface="Courier New"/>
                <a:cs typeface="Courier New"/>
              </a:rPr>
              <a:t> </a:t>
            </a:r>
            <a:r>
              <a:rPr sz="2000" dirty="0">
                <a:latin typeface="Times New Roman"/>
                <a:cs typeface="Times New Roman"/>
              </a:rPr>
              <a:t>followed by</a:t>
            </a:r>
            <a:r>
              <a:rPr sz="2000" spc="75" dirty="0">
                <a:latin typeface="Times New Roman"/>
                <a:cs typeface="Times New Roman"/>
              </a:rPr>
              <a:t> </a:t>
            </a:r>
            <a:r>
              <a:rPr sz="2000" dirty="0">
                <a:latin typeface="Times New Roman"/>
                <a:cs typeface="Times New Roman"/>
              </a:rPr>
              <a:t>an</a:t>
            </a:r>
            <a:r>
              <a:rPr sz="2000" spc="85" dirty="0">
                <a:latin typeface="Times New Roman"/>
                <a:cs typeface="Times New Roman"/>
              </a:rPr>
              <a:t> </a:t>
            </a:r>
            <a:r>
              <a:rPr sz="2000" spc="-10" dirty="0">
                <a:latin typeface="Times New Roman"/>
                <a:cs typeface="Times New Roman"/>
              </a:rPr>
              <a:t>operand </a:t>
            </a:r>
            <a:r>
              <a:rPr sz="2000" dirty="0">
                <a:latin typeface="Times New Roman"/>
                <a:cs typeface="Times New Roman"/>
              </a:rPr>
              <a:t>representing</a:t>
            </a:r>
            <a:r>
              <a:rPr sz="2000" spc="-45"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dirty="0">
                <a:latin typeface="Times New Roman"/>
                <a:cs typeface="Times New Roman"/>
              </a:rPr>
              <a:t>type</a:t>
            </a:r>
            <a:r>
              <a:rPr sz="2000" spc="-5"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spc="-10" dirty="0">
                <a:latin typeface="Times New Roman"/>
                <a:cs typeface="Times New Roman"/>
              </a:rPr>
              <a:t>exception</a:t>
            </a:r>
            <a:endParaRPr sz="2000">
              <a:latin typeface="Times New Roman"/>
              <a:cs typeface="Times New Roman"/>
            </a:endParaRPr>
          </a:p>
          <a:p>
            <a:pPr marL="755650" lvl="1" indent="-285750" algn="just">
              <a:lnSpc>
                <a:spcPct val="100000"/>
              </a:lnSpc>
              <a:spcBef>
                <a:spcPts val="350"/>
              </a:spcBef>
              <a:buChar char="–"/>
              <a:tabLst>
                <a:tab pos="755650" algn="l"/>
              </a:tabLst>
            </a:pPr>
            <a:r>
              <a:rPr sz="2000" dirty="0">
                <a:latin typeface="Times New Roman"/>
                <a:cs typeface="Times New Roman"/>
              </a:rPr>
              <a:t>The</a:t>
            </a:r>
            <a:r>
              <a:rPr sz="2000" spc="-10" dirty="0">
                <a:latin typeface="Times New Roman"/>
                <a:cs typeface="Times New Roman"/>
              </a:rPr>
              <a:t> </a:t>
            </a:r>
            <a:r>
              <a:rPr sz="2000" b="1" spc="-10" dirty="0">
                <a:latin typeface="Courier New"/>
                <a:cs typeface="Courier New"/>
              </a:rPr>
              <a:t>throw</a:t>
            </a:r>
            <a:r>
              <a:rPr sz="2000" b="1" spc="-695" dirty="0">
                <a:latin typeface="Courier New"/>
                <a:cs typeface="Courier New"/>
              </a:rPr>
              <a:t> </a:t>
            </a:r>
            <a:r>
              <a:rPr sz="2000" dirty="0">
                <a:latin typeface="Times New Roman"/>
                <a:cs typeface="Times New Roman"/>
              </a:rPr>
              <a:t>operand</a:t>
            </a:r>
            <a:r>
              <a:rPr sz="2000" spc="-35" dirty="0">
                <a:latin typeface="Times New Roman"/>
                <a:cs typeface="Times New Roman"/>
              </a:rPr>
              <a:t> </a:t>
            </a:r>
            <a:r>
              <a:rPr sz="2000" dirty="0">
                <a:latin typeface="Times New Roman"/>
                <a:cs typeface="Times New Roman"/>
              </a:rPr>
              <a:t>can</a:t>
            </a:r>
            <a:r>
              <a:rPr sz="2000" spc="5" dirty="0">
                <a:latin typeface="Times New Roman"/>
                <a:cs typeface="Times New Roman"/>
              </a:rPr>
              <a:t> </a:t>
            </a:r>
            <a:r>
              <a:rPr sz="2000" dirty="0">
                <a:latin typeface="Times New Roman"/>
                <a:cs typeface="Times New Roman"/>
              </a:rPr>
              <a:t>be</a:t>
            </a:r>
            <a:r>
              <a:rPr sz="2000" spc="5"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any </a:t>
            </a:r>
            <a:r>
              <a:rPr sz="2000" spc="-20" dirty="0">
                <a:latin typeface="Times New Roman"/>
                <a:cs typeface="Times New Roman"/>
              </a:rPr>
              <a:t>type</a:t>
            </a:r>
            <a:endParaRPr sz="2000">
              <a:latin typeface="Times New Roman"/>
              <a:cs typeface="Times New Roman"/>
            </a:endParaRPr>
          </a:p>
          <a:p>
            <a:pPr marL="755650" lvl="1" indent="-285750" algn="just">
              <a:lnSpc>
                <a:spcPct val="100000"/>
              </a:lnSpc>
              <a:spcBef>
                <a:spcPts val="480"/>
              </a:spcBef>
              <a:buChar char="–"/>
              <a:tabLst>
                <a:tab pos="755650" algn="l"/>
              </a:tabLst>
            </a:pPr>
            <a:r>
              <a:rPr sz="2000" dirty="0">
                <a:latin typeface="Times New Roman"/>
                <a:cs typeface="Times New Roman"/>
              </a:rPr>
              <a:t>If</a:t>
            </a:r>
            <a:r>
              <a:rPr sz="2000" spc="-1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b="1" spc="-10" dirty="0">
                <a:latin typeface="Courier New"/>
                <a:cs typeface="Courier New"/>
              </a:rPr>
              <a:t>throw</a:t>
            </a:r>
            <a:r>
              <a:rPr sz="2000" b="1" spc="-695" dirty="0">
                <a:latin typeface="Courier New"/>
                <a:cs typeface="Courier New"/>
              </a:rPr>
              <a:t> </a:t>
            </a:r>
            <a:r>
              <a:rPr sz="2000" dirty="0">
                <a:latin typeface="Times New Roman"/>
                <a:cs typeface="Times New Roman"/>
              </a:rPr>
              <a:t>operand</a:t>
            </a:r>
            <a:r>
              <a:rPr sz="2000" spc="-35"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dirty="0">
                <a:latin typeface="Times New Roman"/>
                <a:cs typeface="Times New Roman"/>
              </a:rPr>
              <a:t>an object,</a:t>
            </a:r>
            <a:r>
              <a:rPr sz="2000" spc="-40" dirty="0">
                <a:latin typeface="Times New Roman"/>
                <a:cs typeface="Times New Roman"/>
              </a:rPr>
              <a:t> </a:t>
            </a:r>
            <a:r>
              <a:rPr sz="2000" dirty="0">
                <a:latin typeface="Times New Roman"/>
                <a:cs typeface="Times New Roman"/>
              </a:rPr>
              <a:t>it</a:t>
            </a:r>
            <a:r>
              <a:rPr sz="2000" spc="-10" dirty="0">
                <a:latin typeface="Times New Roman"/>
                <a:cs typeface="Times New Roman"/>
              </a:rPr>
              <a:t> </a:t>
            </a:r>
            <a:r>
              <a:rPr sz="2000" spc="-25" dirty="0">
                <a:latin typeface="Times New Roman"/>
                <a:cs typeface="Times New Roman"/>
              </a:rPr>
              <a:t>is</a:t>
            </a:r>
            <a:endParaRPr sz="2000">
              <a:latin typeface="Times New Roman"/>
              <a:cs typeface="Times New Roman"/>
            </a:endParaRPr>
          </a:p>
          <a:p>
            <a:pPr marL="756285" algn="just">
              <a:lnSpc>
                <a:spcPct val="100000"/>
              </a:lnSpc>
            </a:pPr>
            <a:r>
              <a:rPr sz="2000" dirty="0">
                <a:latin typeface="Times New Roman"/>
                <a:cs typeface="Times New Roman"/>
              </a:rPr>
              <a:t>called</a:t>
            </a:r>
            <a:r>
              <a:rPr sz="2000" spc="10" dirty="0">
                <a:latin typeface="Times New Roman"/>
                <a:cs typeface="Times New Roman"/>
              </a:rPr>
              <a:t> </a:t>
            </a:r>
            <a:r>
              <a:rPr sz="2000" dirty="0">
                <a:latin typeface="Times New Roman"/>
                <a:cs typeface="Times New Roman"/>
              </a:rPr>
              <a:t>an</a:t>
            </a:r>
            <a:r>
              <a:rPr sz="2000" spc="-15" dirty="0">
                <a:latin typeface="Times New Roman"/>
                <a:cs typeface="Times New Roman"/>
              </a:rPr>
              <a:t> </a:t>
            </a:r>
            <a:r>
              <a:rPr sz="2000" b="1" spc="-10" dirty="0">
                <a:latin typeface="Courier New"/>
                <a:cs typeface="Courier New"/>
              </a:rPr>
              <a:t>exception</a:t>
            </a:r>
            <a:r>
              <a:rPr sz="2000" b="1" spc="-685" dirty="0">
                <a:latin typeface="Courier New"/>
                <a:cs typeface="Courier New"/>
              </a:rPr>
              <a:t> </a:t>
            </a:r>
            <a:r>
              <a:rPr sz="2000" spc="-10" dirty="0">
                <a:latin typeface="Times New Roman"/>
                <a:cs typeface="Times New Roman"/>
              </a:rPr>
              <a:t>object</a:t>
            </a:r>
            <a:endParaRPr sz="2000">
              <a:latin typeface="Times New Roman"/>
              <a:cs typeface="Times New Roman"/>
            </a:endParaRPr>
          </a:p>
          <a:p>
            <a:pPr marL="355600" marR="73660" indent="-343535" algn="just">
              <a:lnSpc>
                <a:spcPct val="102800"/>
              </a:lnSpc>
              <a:spcBef>
                <a:spcPts val="414"/>
              </a:spcBef>
              <a:buChar char="•"/>
              <a:tabLst>
                <a:tab pos="355600" algn="l"/>
              </a:tabLst>
            </a:pPr>
            <a:r>
              <a:rPr sz="2000" dirty="0">
                <a:latin typeface="Times New Roman"/>
                <a:cs typeface="Times New Roman"/>
              </a:rPr>
              <a:t>The</a:t>
            </a:r>
            <a:r>
              <a:rPr sz="2000" spc="-125" dirty="0">
                <a:latin typeface="Times New Roman"/>
                <a:cs typeface="Times New Roman"/>
              </a:rPr>
              <a:t> </a:t>
            </a:r>
            <a:r>
              <a:rPr sz="2000" b="1" spc="-110" dirty="0">
                <a:latin typeface="Courier New"/>
                <a:cs typeface="Courier New"/>
              </a:rPr>
              <a:t>throw</a:t>
            </a:r>
            <a:r>
              <a:rPr sz="2000" b="1" spc="-190" dirty="0">
                <a:latin typeface="Courier New"/>
                <a:cs typeface="Courier New"/>
              </a:rPr>
              <a:t> </a:t>
            </a:r>
            <a:r>
              <a:rPr sz="2000" dirty="0">
                <a:latin typeface="Times New Roman"/>
                <a:cs typeface="Times New Roman"/>
              </a:rPr>
              <a:t>operand</a:t>
            </a:r>
            <a:r>
              <a:rPr sz="2000" spc="-114" dirty="0">
                <a:latin typeface="Times New Roman"/>
                <a:cs typeface="Times New Roman"/>
              </a:rPr>
              <a:t> </a:t>
            </a:r>
            <a:r>
              <a:rPr sz="2000" dirty="0">
                <a:latin typeface="Times New Roman"/>
                <a:cs typeface="Times New Roman"/>
              </a:rPr>
              <a:t>initializes</a:t>
            </a:r>
            <a:r>
              <a:rPr sz="2000" spc="60" dirty="0">
                <a:latin typeface="Times New Roman"/>
                <a:cs typeface="Times New Roman"/>
              </a:rPr>
              <a:t> </a:t>
            </a:r>
            <a:r>
              <a:rPr sz="2000" dirty="0">
                <a:latin typeface="Times New Roman"/>
                <a:cs typeface="Times New Roman"/>
              </a:rPr>
              <a:t>the</a:t>
            </a:r>
            <a:r>
              <a:rPr sz="2000" spc="100" dirty="0">
                <a:latin typeface="Times New Roman"/>
                <a:cs typeface="Times New Roman"/>
              </a:rPr>
              <a:t> </a:t>
            </a:r>
            <a:r>
              <a:rPr sz="2000" spc="-10" dirty="0">
                <a:latin typeface="Times New Roman"/>
                <a:cs typeface="Times New Roman"/>
              </a:rPr>
              <a:t>exception </a:t>
            </a:r>
            <a:r>
              <a:rPr sz="2000" dirty="0">
                <a:latin typeface="Times New Roman"/>
                <a:cs typeface="Times New Roman"/>
              </a:rPr>
              <a:t>parameter</a:t>
            </a:r>
            <a:r>
              <a:rPr sz="2000" spc="-135" dirty="0">
                <a:latin typeface="Times New Roman"/>
                <a:cs typeface="Times New Roman"/>
              </a:rPr>
              <a:t> </a:t>
            </a:r>
            <a:r>
              <a:rPr sz="2000" dirty="0">
                <a:latin typeface="Times New Roman"/>
                <a:cs typeface="Times New Roman"/>
              </a:rPr>
              <a:t>in</a:t>
            </a:r>
            <a:r>
              <a:rPr sz="2000" spc="-125" dirty="0">
                <a:latin typeface="Times New Roman"/>
                <a:cs typeface="Times New Roman"/>
              </a:rPr>
              <a:t> </a:t>
            </a:r>
            <a:r>
              <a:rPr sz="2000" dirty="0">
                <a:latin typeface="Times New Roman"/>
                <a:cs typeface="Times New Roman"/>
              </a:rPr>
              <a:t>the</a:t>
            </a:r>
            <a:r>
              <a:rPr sz="2000" spc="-45" dirty="0">
                <a:latin typeface="Times New Roman"/>
                <a:cs typeface="Times New Roman"/>
              </a:rPr>
              <a:t> </a:t>
            </a:r>
            <a:r>
              <a:rPr sz="2000" dirty="0">
                <a:latin typeface="Times New Roman"/>
                <a:cs typeface="Times New Roman"/>
              </a:rPr>
              <a:t>matching</a:t>
            </a:r>
            <a:r>
              <a:rPr sz="2000" spc="60" dirty="0">
                <a:latin typeface="Times New Roman"/>
                <a:cs typeface="Times New Roman"/>
              </a:rPr>
              <a:t> </a:t>
            </a:r>
            <a:r>
              <a:rPr sz="2000" b="1" spc="-110" dirty="0">
                <a:latin typeface="Courier New"/>
                <a:cs typeface="Courier New"/>
              </a:rPr>
              <a:t>catch</a:t>
            </a:r>
            <a:r>
              <a:rPr sz="2000" b="1" spc="-190" dirty="0">
                <a:latin typeface="Courier New"/>
                <a:cs typeface="Courier New"/>
              </a:rPr>
              <a:t> </a:t>
            </a:r>
            <a:r>
              <a:rPr sz="2000" dirty="0">
                <a:latin typeface="Times New Roman"/>
                <a:cs typeface="Times New Roman"/>
              </a:rPr>
              <a:t>handler,</a:t>
            </a:r>
            <a:r>
              <a:rPr sz="2000" spc="35" dirty="0">
                <a:latin typeface="Times New Roman"/>
                <a:cs typeface="Times New Roman"/>
              </a:rPr>
              <a:t> </a:t>
            </a:r>
            <a:r>
              <a:rPr sz="2000" spc="-25" dirty="0">
                <a:latin typeface="Times New Roman"/>
                <a:cs typeface="Times New Roman"/>
              </a:rPr>
              <a:t>if </a:t>
            </a:r>
            <a:r>
              <a:rPr sz="2000" dirty="0">
                <a:latin typeface="Times New Roman"/>
                <a:cs typeface="Times New Roman"/>
              </a:rPr>
              <a:t>one</a:t>
            </a:r>
            <a:r>
              <a:rPr sz="2000" spc="-20" dirty="0">
                <a:latin typeface="Times New Roman"/>
                <a:cs typeface="Times New Roman"/>
              </a:rPr>
              <a:t> </a:t>
            </a:r>
            <a:r>
              <a:rPr sz="2000" dirty="0">
                <a:latin typeface="Times New Roman"/>
                <a:cs typeface="Times New Roman"/>
              </a:rPr>
              <a:t>is</a:t>
            </a:r>
            <a:r>
              <a:rPr sz="2000" spc="-5" dirty="0">
                <a:latin typeface="Times New Roman"/>
                <a:cs typeface="Times New Roman"/>
              </a:rPr>
              <a:t> </a:t>
            </a:r>
            <a:r>
              <a:rPr sz="2000" spc="-20" dirty="0">
                <a:latin typeface="Times New Roman"/>
                <a:cs typeface="Times New Roman"/>
              </a:rPr>
              <a:t>found</a:t>
            </a:r>
            <a:endParaRPr sz="2000">
              <a:latin typeface="Times New Roman"/>
              <a:cs typeface="Times New Roman"/>
            </a:endParaRPr>
          </a:p>
        </p:txBody>
      </p:sp>
      <p:sp>
        <p:nvSpPr>
          <p:cNvPr id="4" name="object 4"/>
          <p:cNvSpPr txBox="1"/>
          <p:nvPr/>
        </p:nvSpPr>
        <p:spPr>
          <a:xfrm>
            <a:off x="6560057" y="1251026"/>
            <a:ext cx="4977130" cy="496506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int </a:t>
            </a:r>
            <a:r>
              <a:rPr sz="1800" spc="-10" dirty="0">
                <a:latin typeface="Times New Roman"/>
                <a:cs typeface="Times New Roman"/>
              </a:rPr>
              <a:t>main()</a:t>
            </a:r>
            <a:endParaRPr sz="1800">
              <a:latin typeface="Times New Roman"/>
              <a:cs typeface="Times New Roman"/>
            </a:endParaRPr>
          </a:p>
          <a:p>
            <a:pPr marL="12700">
              <a:lnSpc>
                <a:spcPct val="100000"/>
              </a:lnSpc>
              <a:spcBef>
                <a:spcPts val="5"/>
              </a:spcBef>
            </a:pPr>
            <a:r>
              <a:rPr sz="1800" spc="-50" dirty="0">
                <a:latin typeface="Times New Roman"/>
                <a:cs typeface="Times New Roman"/>
              </a:rPr>
              <a:t>{</a:t>
            </a:r>
            <a:endParaRPr sz="1800">
              <a:latin typeface="Times New Roman"/>
              <a:cs typeface="Times New Roman"/>
            </a:endParaRPr>
          </a:p>
          <a:p>
            <a:pPr marL="241300" marR="2604770">
              <a:lnSpc>
                <a:spcPct val="100000"/>
              </a:lnSpc>
            </a:pPr>
            <a:r>
              <a:rPr sz="1800" dirty="0">
                <a:latin typeface="Times New Roman"/>
                <a:cs typeface="Times New Roman"/>
              </a:rPr>
              <a:t>float</a:t>
            </a:r>
            <a:r>
              <a:rPr sz="1800" spc="-40" dirty="0">
                <a:latin typeface="Times New Roman"/>
                <a:cs typeface="Times New Roman"/>
              </a:rPr>
              <a:t> </a:t>
            </a:r>
            <a:r>
              <a:rPr sz="1800" dirty="0">
                <a:latin typeface="Times New Roman"/>
                <a:cs typeface="Times New Roman"/>
              </a:rPr>
              <a:t>numerator</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12.5; </a:t>
            </a:r>
            <a:r>
              <a:rPr sz="1800" dirty="0">
                <a:latin typeface="Times New Roman"/>
                <a:cs typeface="Times New Roman"/>
              </a:rPr>
              <a:t>float</a:t>
            </a:r>
            <a:r>
              <a:rPr sz="1800" spc="-55" dirty="0">
                <a:latin typeface="Times New Roman"/>
                <a:cs typeface="Times New Roman"/>
              </a:rPr>
              <a:t> </a:t>
            </a:r>
            <a:r>
              <a:rPr sz="1800" dirty="0">
                <a:latin typeface="Times New Roman"/>
                <a:cs typeface="Times New Roman"/>
              </a:rPr>
              <a:t>denominator</a:t>
            </a:r>
            <a:r>
              <a:rPr sz="1800" spc="-35"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spc="-25" dirty="0">
                <a:latin typeface="Times New Roman"/>
                <a:cs typeface="Times New Roman"/>
              </a:rPr>
              <a:t>0; </a:t>
            </a:r>
            <a:r>
              <a:rPr sz="1800" dirty="0">
                <a:latin typeface="Times New Roman"/>
                <a:cs typeface="Times New Roman"/>
              </a:rPr>
              <a:t>float</a:t>
            </a:r>
            <a:r>
              <a:rPr sz="1800" spc="-40" dirty="0">
                <a:latin typeface="Times New Roman"/>
                <a:cs typeface="Times New Roman"/>
              </a:rPr>
              <a:t> </a:t>
            </a:r>
            <a:r>
              <a:rPr sz="1800" spc="-10" dirty="0">
                <a:latin typeface="Times New Roman"/>
                <a:cs typeface="Times New Roman"/>
              </a:rPr>
              <a:t>result;</a:t>
            </a:r>
            <a:endParaRPr sz="1800">
              <a:latin typeface="Times New Roman"/>
              <a:cs typeface="Times New Roman"/>
            </a:endParaRPr>
          </a:p>
          <a:p>
            <a:pPr marL="241300">
              <a:lnSpc>
                <a:spcPct val="100000"/>
              </a:lnSpc>
            </a:pPr>
            <a:r>
              <a:rPr sz="1800" dirty="0">
                <a:latin typeface="Times New Roman"/>
                <a:cs typeface="Times New Roman"/>
              </a:rPr>
              <a:t>try</a:t>
            </a:r>
            <a:r>
              <a:rPr sz="1800" spc="-10" dirty="0">
                <a:latin typeface="Times New Roman"/>
                <a:cs typeface="Times New Roman"/>
              </a:rPr>
              <a:t> </a:t>
            </a:r>
            <a:r>
              <a:rPr sz="1800" spc="-60" dirty="0">
                <a:latin typeface="Times New Roman"/>
                <a:cs typeface="Times New Roman"/>
              </a:rPr>
              <a:t>{</a:t>
            </a:r>
            <a:endParaRPr sz="1800">
              <a:latin typeface="Times New Roman"/>
              <a:cs typeface="Times New Roman"/>
            </a:endParaRPr>
          </a:p>
          <a:p>
            <a:pPr marL="640080">
              <a:lnSpc>
                <a:spcPct val="100000"/>
              </a:lnSpc>
            </a:pPr>
            <a:r>
              <a:rPr sz="1800" dirty="0">
                <a:latin typeface="Times New Roman"/>
                <a:cs typeface="Times New Roman"/>
              </a:rPr>
              <a:t>if</a:t>
            </a:r>
            <a:r>
              <a:rPr sz="1800" spc="-20" dirty="0">
                <a:latin typeface="Times New Roman"/>
                <a:cs typeface="Times New Roman"/>
              </a:rPr>
              <a:t> </a:t>
            </a:r>
            <a:r>
              <a:rPr sz="1800" dirty="0">
                <a:latin typeface="Times New Roman"/>
                <a:cs typeface="Times New Roman"/>
              </a:rPr>
              <a:t>(denominator</a:t>
            </a:r>
            <a:r>
              <a:rPr sz="1800" spc="-25" dirty="0">
                <a:latin typeface="Times New Roman"/>
                <a:cs typeface="Times New Roman"/>
              </a:rPr>
              <a:t> </a:t>
            </a:r>
            <a:r>
              <a:rPr sz="1800" dirty="0">
                <a:latin typeface="Times New Roman"/>
                <a:cs typeface="Times New Roman"/>
              </a:rPr>
              <a:t>!=</a:t>
            </a:r>
            <a:r>
              <a:rPr sz="1800" spc="-40" dirty="0">
                <a:latin typeface="Times New Roman"/>
                <a:cs typeface="Times New Roman"/>
              </a:rPr>
              <a:t> </a:t>
            </a:r>
            <a:r>
              <a:rPr sz="1800" dirty="0">
                <a:latin typeface="Times New Roman"/>
                <a:cs typeface="Times New Roman"/>
              </a:rPr>
              <a:t>0)</a:t>
            </a:r>
            <a:r>
              <a:rPr sz="1800" spc="-2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marR="1008380">
              <a:lnSpc>
                <a:spcPct val="100000"/>
              </a:lnSpc>
            </a:pPr>
            <a:r>
              <a:rPr sz="1800" dirty="0">
                <a:latin typeface="Times New Roman"/>
                <a:cs typeface="Times New Roman"/>
              </a:rPr>
              <a:t>result</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10" dirty="0">
                <a:latin typeface="Times New Roman"/>
                <a:cs typeface="Times New Roman"/>
              </a:rPr>
              <a:t>numerator/denominator; </a:t>
            </a:r>
            <a:r>
              <a:rPr sz="1800" dirty="0">
                <a:latin typeface="Times New Roman"/>
                <a:cs typeface="Times New Roman"/>
              </a:rPr>
              <a:t>cout</a:t>
            </a:r>
            <a:r>
              <a:rPr sz="1800" spc="-20" dirty="0">
                <a:latin typeface="Times New Roman"/>
                <a:cs typeface="Times New Roman"/>
              </a:rPr>
              <a:t> </a:t>
            </a: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quotient</a:t>
            </a:r>
            <a:r>
              <a:rPr sz="1800" spc="-15"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dirty="0">
                <a:latin typeface="Times New Roman"/>
                <a:cs typeface="Times New Roman"/>
              </a:rPr>
              <a:t>12.5/0</a:t>
            </a:r>
            <a:r>
              <a:rPr sz="1800" spc="-15" dirty="0">
                <a:latin typeface="Times New Roman"/>
                <a:cs typeface="Times New Roman"/>
              </a:rPr>
              <a:t> </a:t>
            </a:r>
            <a:r>
              <a:rPr sz="1800" dirty="0">
                <a:latin typeface="Times New Roman"/>
                <a:cs typeface="Times New Roman"/>
              </a:rPr>
              <a:t>is</a:t>
            </a:r>
            <a:r>
              <a:rPr sz="1800" spc="-2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1155700">
              <a:lnSpc>
                <a:spcPct val="100000"/>
              </a:lnSpc>
            </a:pP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result</a:t>
            </a:r>
            <a:r>
              <a:rPr sz="1800" spc="-15"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spc="-10" dirty="0">
                <a:latin typeface="Times New Roman"/>
                <a:cs typeface="Times New Roman"/>
              </a:rPr>
              <a:t>endl;</a:t>
            </a:r>
            <a:endParaRPr sz="1800">
              <a:latin typeface="Times New Roman"/>
              <a:cs typeface="Times New Roman"/>
            </a:endParaRPr>
          </a:p>
          <a:p>
            <a:pPr marL="469900">
              <a:lnSpc>
                <a:spcPct val="100000"/>
              </a:lnSpc>
            </a:pP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else</a:t>
            </a:r>
            <a:r>
              <a:rPr sz="1800" spc="-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98500">
              <a:lnSpc>
                <a:spcPct val="100000"/>
              </a:lnSpc>
              <a:spcBef>
                <a:spcPts val="5"/>
              </a:spcBef>
            </a:pPr>
            <a:r>
              <a:rPr sz="1800" dirty="0">
                <a:latin typeface="Times New Roman"/>
                <a:cs typeface="Times New Roman"/>
              </a:rPr>
              <a:t>throw</a:t>
            </a:r>
            <a:r>
              <a:rPr sz="1800" spc="-55" dirty="0">
                <a:latin typeface="Times New Roman"/>
                <a:cs typeface="Times New Roman"/>
              </a:rPr>
              <a:t> </a:t>
            </a:r>
            <a:r>
              <a:rPr sz="1800" spc="-10" dirty="0">
                <a:latin typeface="Times New Roman"/>
                <a:cs typeface="Times New Roman"/>
              </a:rPr>
              <a:t>(denominator);</a:t>
            </a:r>
            <a:endParaRPr sz="1800">
              <a:latin typeface="Times New Roman"/>
              <a:cs typeface="Times New Roman"/>
            </a:endParaRPr>
          </a:p>
          <a:p>
            <a:pPr marL="469900">
              <a:lnSpc>
                <a:spcPct val="100000"/>
              </a:lnSpc>
            </a:pPr>
            <a:r>
              <a:rPr sz="1800" spc="-50" dirty="0">
                <a:latin typeface="Times New Roman"/>
                <a:cs typeface="Times New Roman"/>
              </a:rPr>
              <a:t>}</a:t>
            </a:r>
            <a:endParaRPr sz="1800">
              <a:latin typeface="Times New Roman"/>
              <a:cs typeface="Times New Roman"/>
            </a:endParaRPr>
          </a:p>
          <a:p>
            <a:pPr marL="241300">
              <a:lnSpc>
                <a:spcPct val="100000"/>
              </a:lnSpc>
            </a:pP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catch</a:t>
            </a:r>
            <a:r>
              <a:rPr sz="1800" spc="-25" dirty="0">
                <a:latin typeface="Times New Roman"/>
                <a:cs typeface="Times New Roman"/>
              </a:rPr>
              <a:t> </a:t>
            </a:r>
            <a:r>
              <a:rPr sz="1800" dirty="0">
                <a:latin typeface="Times New Roman"/>
                <a:cs typeface="Times New Roman"/>
              </a:rPr>
              <a:t>(float</a:t>
            </a:r>
            <a:r>
              <a:rPr sz="1800" spc="-25" dirty="0">
                <a:latin typeface="Times New Roman"/>
                <a:cs typeface="Times New Roman"/>
              </a:rPr>
              <a:t> </a:t>
            </a:r>
            <a:r>
              <a:rPr sz="1800" dirty="0">
                <a:latin typeface="Times New Roman"/>
                <a:cs typeface="Times New Roman"/>
              </a:rPr>
              <a:t>i)</a:t>
            </a:r>
            <a:r>
              <a:rPr sz="1800" spc="-10"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469900">
              <a:lnSpc>
                <a:spcPct val="100000"/>
              </a:lnSpc>
            </a:pPr>
            <a:r>
              <a:rPr sz="1800" dirty="0">
                <a:latin typeface="Times New Roman"/>
                <a:cs typeface="Times New Roman"/>
              </a:rPr>
              <a:t>cout</a:t>
            </a:r>
            <a:r>
              <a:rPr sz="1800" spc="-25" dirty="0">
                <a:latin typeface="Times New Roman"/>
                <a:cs typeface="Times New Roman"/>
              </a:rPr>
              <a:t> </a:t>
            </a:r>
            <a:r>
              <a:rPr sz="1800" dirty="0">
                <a:latin typeface="Times New Roman"/>
                <a:cs typeface="Times New Roman"/>
              </a:rPr>
              <a:t>&lt;&lt;</a:t>
            </a:r>
            <a:r>
              <a:rPr sz="1800" spc="-35" dirty="0">
                <a:latin typeface="Times New Roman"/>
                <a:cs typeface="Times New Roman"/>
              </a:rPr>
              <a:t> </a:t>
            </a:r>
            <a:r>
              <a:rPr sz="1800" dirty="0">
                <a:latin typeface="Times New Roman"/>
                <a:cs typeface="Times New Roman"/>
              </a:rPr>
              <a:t>"Answer is</a:t>
            </a:r>
            <a:r>
              <a:rPr sz="1800" spc="-30" dirty="0">
                <a:latin typeface="Times New Roman"/>
                <a:cs typeface="Times New Roman"/>
              </a:rPr>
              <a:t> </a:t>
            </a:r>
            <a:r>
              <a:rPr sz="1800" dirty="0">
                <a:latin typeface="Times New Roman"/>
                <a:cs typeface="Times New Roman"/>
              </a:rPr>
              <a:t>infinite</a:t>
            </a:r>
            <a:r>
              <a:rPr sz="1800" spc="-35" dirty="0">
                <a:latin typeface="Times New Roman"/>
                <a:cs typeface="Times New Roman"/>
              </a:rPr>
              <a:t> </a:t>
            </a:r>
            <a:r>
              <a:rPr sz="1800" dirty="0">
                <a:latin typeface="Times New Roman"/>
                <a:cs typeface="Times New Roman"/>
              </a:rPr>
              <a:t>because</a:t>
            </a:r>
            <a:r>
              <a:rPr sz="1800" spc="-25" dirty="0">
                <a:latin typeface="Times New Roman"/>
                <a:cs typeface="Times New Roman"/>
              </a:rPr>
              <a:t> </a:t>
            </a:r>
            <a:r>
              <a:rPr sz="1800" dirty="0">
                <a:latin typeface="Times New Roman"/>
                <a:cs typeface="Times New Roman"/>
              </a:rPr>
              <a:t>a-b</a:t>
            </a:r>
            <a:r>
              <a:rPr sz="1800" spc="-30" dirty="0">
                <a:latin typeface="Times New Roman"/>
                <a:cs typeface="Times New Roman"/>
              </a:rPr>
              <a:t> </a:t>
            </a:r>
            <a:r>
              <a:rPr sz="1800" dirty="0">
                <a:latin typeface="Times New Roman"/>
                <a:cs typeface="Times New Roman"/>
              </a:rPr>
              <a:t>is:"</a:t>
            </a:r>
            <a:r>
              <a:rPr sz="1800" spc="-30" dirty="0">
                <a:latin typeface="Times New Roman"/>
                <a:cs typeface="Times New Roman"/>
              </a:rPr>
              <a:t> </a:t>
            </a:r>
            <a:r>
              <a:rPr sz="1800" dirty="0">
                <a:latin typeface="Times New Roman"/>
                <a:cs typeface="Times New Roman"/>
              </a:rPr>
              <a:t>&lt;&lt;</a:t>
            </a:r>
            <a:r>
              <a:rPr sz="1800" spc="-20" dirty="0">
                <a:latin typeface="Times New Roman"/>
                <a:cs typeface="Times New Roman"/>
              </a:rPr>
              <a:t> </a:t>
            </a:r>
            <a:r>
              <a:rPr sz="1800" spc="-25" dirty="0">
                <a:latin typeface="Times New Roman"/>
                <a:cs typeface="Times New Roman"/>
              </a:rPr>
              <a:t>i;</a:t>
            </a:r>
            <a:endParaRPr sz="1800">
              <a:latin typeface="Times New Roman"/>
              <a:cs typeface="Times New Roman"/>
            </a:endParaRPr>
          </a:p>
          <a:p>
            <a:pPr marL="241300">
              <a:lnSpc>
                <a:spcPct val="100000"/>
              </a:lnSpc>
            </a:pPr>
            <a:r>
              <a:rPr sz="1800" spc="-50" dirty="0">
                <a:latin typeface="Times New Roman"/>
                <a:cs typeface="Times New Roman"/>
              </a:rPr>
              <a:t>}</a:t>
            </a:r>
            <a:endParaRPr sz="1800">
              <a:latin typeface="Times New Roman"/>
              <a:cs typeface="Times New Roman"/>
            </a:endParaRPr>
          </a:p>
          <a:p>
            <a:pPr marL="297180">
              <a:lnSpc>
                <a:spcPct val="100000"/>
              </a:lnSpc>
            </a:pPr>
            <a:r>
              <a:rPr sz="1800" dirty="0">
                <a:latin typeface="Times New Roman"/>
                <a:cs typeface="Times New Roman"/>
              </a:rPr>
              <a:t>return</a:t>
            </a:r>
            <a:r>
              <a:rPr sz="1800" spc="-40" dirty="0">
                <a:latin typeface="Times New Roman"/>
                <a:cs typeface="Times New Roman"/>
              </a:rPr>
              <a:t> </a:t>
            </a:r>
            <a:r>
              <a:rPr sz="1800" spc="-25" dirty="0">
                <a:latin typeface="Times New Roman"/>
                <a:cs typeface="Times New Roman"/>
              </a:rPr>
              <a:t>0;</a:t>
            </a:r>
            <a:endParaRPr sz="1800">
              <a:latin typeface="Times New Roman"/>
              <a:cs typeface="Times New Roman"/>
            </a:endParaRPr>
          </a:p>
          <a:p>
            <a:pPr marL="12700">
              <a:lnSpc>
                <a:spcPct val="100000"/>
              </a:lnSpc>
            </a:pPr>
            <a:r>
              <a:rPr sz="1800" spc="-50" dirty="0">
                <a:latin typeface="Times New Roman"/>
                <a:cs typeface="Times New Roman"/>
              </a:rPr>
              <a:t>}</a:t>
            </a:r>
            <a:endParaRPr sz="1800">
              <a:latin typeface="Times New Roman"/>
              <a:cs typeface="Times New Roman"/>
            </a:endParaRPr>
          </a:p>
        </p:txBody>
      </p:sp>
      <p:sp>
        <p:nvSpPr>
          <p:cNvPr id="9" name="Date Placeholder 8">
            <a:extLst>
              <a:ext uri="{FF2B5EF4-FFF2-40B4-BE49-F238E27FC236}">
                <a16:creationId xmlns:a16="http://schemas.microsoft.com/office/drawing/2014/main" id="{F199BD99-5C9F-786A-9498-8E96542AA490}"/>
              </a:ext>
            </a:extLst>
          </p:cNvPr>
          <p:cNvSpPr>
            <a:spLocks noGrp="1"/>
          </p:cNvSpPr>
          <p:nvPr>
            <p:ph type="dt" sz="half" idx="6"/>
          </p:nvPr>
        </p:nvSpPr>
        <p:spPr/>
        <p:txBody>
          <a:bodyPr/>
          <a:lstStyle/>
          <a:p>
            <a:fld id="{7B134421-0310-4CF9-841C-B9E465FEB2D5}" type="datetime1">
              <a:rPr lang="en-US" smtClean="0"/>
              <a:t>11/17/2025</a:t>
            </a:fld>
            <a:endParaRPr lang="en-US"/>
          </a:p>
        </p:txBody>
      </p:sp>
      <p:sp>
        <p:nvSpPr>
          <p:cNvPr id="10" name="Slide Number Placeholder 9">
            <a:extLst>
              <a:ext uri="{FF2B5EF4-FFF2-40B4-BE49-F238E27FC236}">
                <a16:creationId xmlns:a16="http://schemas.microsoft.com/office/drawing/2014/main" id="{2C32DDE7-A979-8DF7-8372-01F5267E8B27}"/>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dirty="0">
                <a:latin typeface="Agency FB" panose="020B0503020202020204" pitchFamily="34" charset="0"/>
              </a:rPr>
              <a:t>Exception</a:t>
            </a:r>
            <a:r>
              <a:rPr spc="-185" dirty="0">
                <a:latin typeface="Agency FB" panose="020B0503020202020204" pitchFamily="34" charset="0"/>
              </a:rPr>
              <a:t> </a:t>
            </a:r>
            <a:r>
              <a:rPr spc="-10" dirty="0">
                <a:latin typeface="Agency FB" panose="020B0503020202020204" pitchFamily="34" charset="0"/>
              </a:rPr>
              <a:t>Handling</a:t>
            </a:r>
            <a:r>
              <a:rPr lang="en-US" spc="-10" dirty="0">
                <a:latin typeface="Agency FB" panose="020B0503020202020204" pitchFamily="34" charset="0"/>
              </a:rPr>
              <a:t>(Multiple Catch)</a:t>
            </a:r>
            <a:endParaRPr spc="-10" dirty="0">
              <a:latin typeface="Agency FB" panose="020B0503020202020204" pitchFamily="34" charset="0"/>
            </a:endParaRPr>
          </a:p>
        </p:txBody>
      </p:sp>
      <p:sp>
        <p:nvSpPr>
          <p:cNvPr id="3" name="object 3"/>
          <p:cNvSpPr txBox="1">
            <a:spLocks noGrp="1"/>
          </p:cNvSpPr>
          <p:nvPr>
            <p:ph idx="1"/>
          </p:nvPr>
        </p:nvSpPr>
        <p:spPr>
          <a:xfrm>
            <a:off x="838200" y="1825625"/>
            <a:ext cx="10515600" cy="4762842"/>
          </a:xfrm>
          <a:prstGeom prst="rect">
            <a:avLst/>
          </a:prstGeom>
        </p:spPr>
        <p:txBody>
          <a:bodyPr vert="horz" wrap="square" lIns="0" tIns="12700" rIns="0" bIns="0" rtlCol="0">
            <a:spAutoFit/>
          </a:bodyPr>
          <a:lstStyle/>
          <a:p>
            <a:pPr marL="1399539" indent="0">
              <a:lnSpc>
                <a:spcPct val="100000"/>
              </a:lnSpc>
              <a:spcBef>
                <a:spcPts val="100"/>
              </a:spcBef>
              <a:buNone/>
            </a:pPr>
            <a:r>
              <a:rPr sz="1200" b="1" dirty="0">
                <a:latin typeface="Courier New"/>
                <a:cs typeface="Courier New"/>
              </a:rPr>
              <a:t>try</a:t>
            </a:r>
            <a:r>
              <a:rPr sz="1200" b="1" spc="-25" dirty="0">
                <a:latin typeface="Courier New"/>
                <a:cs typeface="Courier New"/>
              </a:rPr>
              <a:t> </a:t>
            </a:r>
            <a:r>
              <a:rPr sz="1200" b="1" spc="-50" dirty="0">
                <a:latin typeface="Courier New"/>
                <a:cs typeface="Courier New"/>
              </a:rPr>
              <a:t>{</a:t>
            </a:r>
            <a:endParaRPr sz="1200" dirty="0">
              <a:latin typeface="Courier New"/>
              <a:cs typeface="Courier New"/>
            </a:endParaRPr>
          </a:p>
          <a:p>
            <a:pPr marL="1742439" indent="0">
              <a:lnSpc>
                <a:spcPct val="100000"/>
              </a:lnSpc>
              <a:buNone/>
            </a:pPr>
            <a:r>
              <a:rPr sz="1200" b="1" dirty="0">
                <a:latin typeface="Courier New"/>
                <a:cs typeface="Courier New"/>
              </a:rPr>
              <a:t>//</a:t>
            </a:r>
            <a:r>
              <a:rPr sz="1200" b="1" spc="-35" dirty="0">
                <a:latin typeface="Courier New"/>
                <a:cs typeface="Courier New"/>
              </a:rPr>
              <a:t> </a:t>
            </a:r>
            <a:r>
              <a:rPr sz="1200" b="1" dirty="0">
                <a:latin typeface="Courier New"/>
                <a:cs typeface="Courier New"/>
              </a:rPr>
              <a:t>code</a:t>
            </a:r>
            <a:r>
              <a:rPr sz="1200" b="1" spc="-30" dirty="0">
                <a:latin typeface="Courier New"/>
                <a:cs typeface="Courier New"/>
              </a:rPr>
              <a:t> </a:t>
            </a:r>
            <a:r>
              <a:rPr sz="1200" b="1" dirty="0">
                <a:latin typeface="Courier New"/>
                <a:cs typeface="Courier New"/>
              </a:rPr>
              <a:t>to</a:t>
            </a:r>
            <a:r>
              <a:rPr sz="1200" b="1" spc="-40" dirty="0">
                <a:latin typeface="Courier New"/>
                <a:cs typeface="Courier New"/>
              </a:rPr>
              <a:t> </a:t>
            </a:r>
            <a:r>
              <a:rPr sz="1200" b="1" spc="-25" dirty="0">
                <a:latin typeface="Courier New"/>
                <a:cs typeface="Courier New"/>
              </a:rPr>
              <a:t>try</a:t>
            </a:r>
            <a:endParaRPr sz="1200" dirty="0">
              <a:latin typeface="Courier New"/>
              <a:cs typeface="Courier New"/>
            </a:endParaRPr>
          </a:p>
          <a:p>
            <a:pPr marL="1399539" indent="0">
              <a:lnSpc>
                <a:spcPct val="100000"/>
              </a:lnSpc>
              <a:buNone/>
            </a:pPr>
            <a:r>
              <a:rPr sz="1200" b="1" spc="-50" dirty="0">
                <a:latin typeface="Courier New"/>
                <a:cs typeface="Courier New"/>
              </a:rPr>
              <a:t>}</a:t>
            </a:r>
            <a:endParaRPr sz="1200" dirty="0">
              <a:latin typeface="Courier New"/>
              <a:cs typeface="Courier New"/>
            </a:endParaRPr>
          </a:p>
          <a:p>
            <a:pPr marL="1399539" indent="0">
              <a:lnSpc>
                <a:spcPct val="100000"/>
              </a:lnSpc>
              <a:buNone/>
            </a:pPr>
            <a:r>
              <a:rPr sz="1200" b="1" dirty="0">
                <a:latin typeface="Courier New"/>
                <a:cs typeface="Courier New"/>
              </a:rPr>
              <a:t>catch</a:t>
            </a:r>
            <a:r>
              <a:rPr sz="1200" b="1" spc="-100" dirty="0">
                <a:latin typeface="Courier New"/>
                <a:cs typeface="Courier New"/>
              </a:rPr>
              <a:t> </a:t>
            </a:r>
            <a:r>
              <a:rPr sz="1200" b="1" dirty="0">
                <a:latin typeface="Courier New"/>
                <a:cs typeface="Courier New"/>
              </a:rPr>
              <a:t>(exceptionClass1</a:t>
            </a:r>
            <a:r>
              <a:rPr sz="1200" b="1" spc="-90" dirty="0">
                <a:latin typeface="Courier New"/>
                <a:cs typeface="Courier New"/>
              </a:rPr>
              <a:t> </a:t>
            </a:r>
            <a:r>
              <a:rPr sz="1200" b="1" dirty="0">
                <a:latin typeface="Courier New"/>
                <a:cs typeface="Courier New"/>
              </a:rPr>
              <a:t>&amp;name1)</a:t>
            </a:r>
            <a:r>
              <a:rPr sz="1200" b="1" spc="-90" dirty="0">
                <a:latin typeface="Courier New"/>
                <a:cs typeface="Courier New"/>
              </a:rPr>
              <a:t> </a:t>
            </a:r>
            <a:r>
              <a:rPr sz="1200" b="1" spc="-50" dirty="0">
                <a:latin typeface="Courier New"/>
                <a:cs typeface="Courier New"/>
              </a:rPr>
              <a:t>{</a:t>
            </a:r>
            <a:endParaRPr sz="1200" dirty="0">
              <a:latin typeface="Courier New"/>
              <a:cs typeface="Courier New"/>
            </a:endParaRPr>
          </a:p>
          <a:p>
            <a:pPr marL="1742439" indent="0">
              <a:lnSpc>
                <a:spcPct val="100000"/>
              </a:lnSpc>
              <a:buNone/>
            </a:pPr>
            <a:r>
              <a:rPr sz="1200" b="1" dirty="0">
                <a:latin typeface="Courier New"/>
                <a:cs typeface="Courier New"/>
              </a:rPr>
              <a:t>//</a:t>
            </a:r>
            <a:r>
              <a:rPr sz="1200" b="1" spc="-65" dirty="0">
                <a:latin typeface="Courier New"/>
                <a:cs typeface="Courier New"/>
              </a:rPr>
              <a:t> </a:t>
            </a:r>
            <a:r>
              <a:rPr sz="1200" b="1" dirty="0">
                <a:latin typeface="Courier New"/>
                <a:cs typeface="Courier New"/>
              </a:rPr>
              <a:t>handle</a:t>
            </a:r>
            <a:r>
              <a:rPr sz="1200" b="1" spc="-50" dirty="0">
                <a:latin typeface="Courier New"/>
                <a:cs typeface="Courier New"/>
              </a:rPr>
              <a:t> </a:t>
            </a:r>
            <a:r>
              <a:rPr sz="1200" b="1" dirty="0">
                <a:latin typeface="Courier New"/>
                <a:cs typeface="Courier New"/>
              </a:rPr>
              <a:t>exceptions</a:t>
            </a:r>
            <a:r>
              <a:rPr sz="1200" b="1" spc="-55" dirty="0">
                <a:latin typeface="Courier New"/>
                <a:cs typeface="Courier New"/>
              </a:rPr>
              <a:t> </a:t>
            </a:r>
            <a:r>
              <a:rPr sz="1200" b="1" dirty="0">
                <a:latin typeface="Courier New"/>
                <a:cs typeface="Courier New"/>
              </a:rPr>
              <a:t>of</a:t>
            </a:r>
            <a:r>
              <a:rPr sz="1200" b="1" spc="-40" dirty="0">
                <a:latin typeface="Courier New"/>
                <a:cs typeface="Courier New"/>
              </a:rPr>
              <a:t> </a:t>
            </a:r>
            <a:r>
              <a:rPr sz="1200" b="1" spc="-10" dirty="0">
                <a:latin typeface="Courier New"/>
                <a:cs typeface="Courier New"/>
              </a:rPr>
              <a:t>exceptionClass1</a:t>
            </a:r>
            <a:endParaRPr sz="1200" dirty="0">
              <a:latin typeface="Courier New"/>
              <a:cs typeface="Courier New"/>
            </a:endParaRPr>
          </a:p>
          <a:p>
            <a:pPr marL="1399539" indent="0">
              <a:lnSpc>
                <a:spcPct val="100000"/>
              </a:lnSpc>
              <a:buNone/>
            </a:pPr>
            <a:r>
              <a:rPr sz="1200" b="1" spc="-50" dirty="0">
                <a:latin typeface="Courier New"/>
                <a:cs typeface="Courier New"/>
              </a:rPr>
              <a:t>}</a:t>
            </a:r>
            <a:endParaRPr sz="1200" dirty="0">
              <a:latin typeface="Courier New"/>
              <a:cs typeface="Courier New"/>
            </a:endParaRPr>
          </a:p>
          <a:p>
            <a:pPr marL="1399539" indent="0">
              <a:lnSpc>
                <a:spcPct val="100000"/>
              </a:lnSpc>
              <a:buNone/>
            </a:pPr>
            <a:r>
              <a:rPr sz="1200" b="1" dirty="0">
                <a:latin typeface="Courier New"/>
                <a:cs typeface="Courier New"/>
              </a:rPr>
              <a:t>catch</a:t>
            </a:r>
            <a:r>
              <a:rPr sz="1200" b="1" spc="-100" dirty="0">
                <a:latin typeface="Courier New"/>
                <a:cs typeface="Courier New"/>
              </a:rPr>
              <a:t> </a:t>
            </a:r>
            <a:r>
              <a:rPr sz="1200" b="1" dirty="0">
                <a:latin typeface="Courier New"/>
                <a:cs typeface="Courier New"/>
              </a:rPr>
              <a:t>(exceptionClass2</a:t>
            </a:r>
            <a:r>
              <a:rPr sz="1200" b="1" spc="-100" dirty="0">
                <a:latin typeface="Courier New"/>
                <a:cs typeface="Courier New"/>
              </a:rPr>
              <a:t> </a:t>
            </a:r>
            <a:r>
              <a:rPr sz="1200" b="1" dirty="0">
                <a:latin typeface="Courier New"/>
                <a:cs typeface="Courier New"/>
              </a:rPr>
              <a:t>&amp;name2)</a:t>
            </a:r>
            <a:r>
              <a:rPr sz="1200" b="1" spc="-100" dirty="0">
                <a:latin typeface="Courier New"/>
                <a:cs typeface="Courier New"/>
              </a:rPr>
              <a:t> </a:t>
            </a:r>
            <a:r>
              <a:rPr sz="1200" b="1" spc="-50" dirty="0">
                <a:latin typeface="Courier New"/>
                <a:cs typeface="Courier New"/>
              </a:rPr>
              <a:t>{</a:t>
            </a:r>
            <a:endParaRPr sz="1200" dirty="0">
              <a:latin typeface="Courier New"/>
              <a:cs typeface="Courier New"/>
            </a:endParaRPr>
          </a:p>
          <a:p>
            <a:pPr marL="1742439" indent="0">
              <a:lnSpc>
                <a:spcPct val="100000"/>
              </a:lnSpc>
              <a:buNone/>
            </a:pPr>
            <a:r>
              <a:rPr sz="1200" b="1" dirty="0">
                <a:latin typeface="Courier New"/>
                <a:cs typeface="Courier New"/>
              </a:rPr>
              <a:t>//</a:t>
            </a:r>
            <a:r>
              <a:rPr sz="1200" b="1" spc="-65" dirty="0">
                <a:latin typeface="Courier New"/>
                <a:cs typeface="Courier New"/>
              </a:rPr>
              <a:t> </a:t>
            </a:r>
            <a:r>
              <a:rPr sz="1200" b="1" dirty="0">
                <a:latin typeface="Courier New"/>
                <a:cs typeface="Courier New"/>
              </a:rPr>
              <a:t>handle</a:t>
            </a:r>
            <a:r>
              <a:rPr sz="1200" b="1" spc="-50" dirty="0">
                <a:latin typeface="Courier New"/>
                <a:cs typeface="Courier New"/>
              </a:rPr>
              <a:t> </a:t>
            </a:r>
            <a:r>
              <a:rPr sz="1200" b="1" dirty="0">
                <a:latin typeface="Courier New"/>
                <a:cs typeface="Courier New"/>
              </a:rPr>
              <a:t>exceptions</a:t>
            </a:r>
            <a:r>
              <a:rPr sz="1200" b="1" spc="-55" dirty="0">
                <a:latin typeface="Courier New"/>
                <a:cs typeface="Courier New"/>
              </a:rPr>
              <a:t> </a:t>
            </a:r>
            <a:r>
              <a:rPr sz="1200" b="1" dirty="0">
                <a:latin typeface="Courier New"/>
                <a:cs typeface="Courier New"/>
              </a:rPr>
              <a:t>of</a:t>
            </a:r>
            <a:r>
              <a:rPr sz="1200" b="1" spc="-40" dirty="0">
                <a:latin typeface="Courier New"/>
                <a:cs typeface="Courier New"/>
              </a:rPr>
              <a:t> </a:t>
            </a:r>
            <a:r>
              <a:rPr sz="1200" b="1" spc="-10" dirty="0">
                <a:latin typeface="Courier New"/>
                <a:cs typeface="Courier New"/>
              </a:rPr>
              <a:t>exceptionClass2</a:t>
            </a:r>
            <a:endParaRPr sz="1200" dirty="0">
              <a:latin typeface="Courier New"/>
              <a:cs typeface="Courier New"/>
            </a:endParaRPr>
          </a:p>
          <a:p>
            <a:pPr marL="1399539" indent="0">
              <a:lnSpc>
                <a:spcPct val="100000"/>
              </a:lnSpc>
              <a:buNone/>
            </a:pPr>
            <a:r>
              <a:rPr sz="1200" b="1" spc="-50" dirty="0">
                <a:latin typeface="Courier New"/>
                <a:cs typeface="Courier New"/>
              </a:rPr>
              <a:t>}</a:t>
            </a:r>
            <a:endParaRPr sz="1200" dirty="0">
              <a:latin typeface="Courier New"/>
              <a:cs typeface="Courier New"/>
            </a:endParaRPr>
          </a:p>
          <a:p>
            <a:pPr marL="1399539" indent="0">
              <a:lnSpc>
                <a:spcPct val="100000"/>
              </a:lnSpc>
              <a:buNone/>
            </a:pPr>
            <a:r>
              <a:rPr sz="1200" b="1" dirty="0">
                <a:latin typeface="Courier New"/>
                <a:cs typeface="Courier New"/>
              </a:rPr>
              <a:t>catch</a:t>
            </a:r>
            <a:r>
              <a:rPr sz="1200" b="1" spc="-100" dirty="0">
                <a:latin typeface="Courier New"/>
                <a:cs typeface="Courier New"/>
              </a:rPr>
              <a:t> </a:t>
            </a:r>
            <a:r>
              <a:rPr sz="1200" b="1" dirty="0">
                <a:latin typeface="Courier New"/>
                <a:cs typeface="Courier New"/>
              </a:rPr>
              <a:t>(exceptionClass3</a:t>
            </a:r>
            <a:r>
              <a:rPr sz="1200" b="1" spc="-90" dirty="0">
                <a:latin typeface="Courier New"/>
                <a:cs typeface="Courier New"/>
              </a:rPr>
              <a:t> </a:t>
            </a:r>
            <a:r>
              <a:rPr sz="1200" b="1" dirty="0">
                <a:latin typeface="Courier New"/>
                <a:cs typeface="Courier New"/>
              </a:rPr>
              <a:t>&amp;name3)</a:t>
            </a:r>
            <a:r>
              <a:rPr sz="1200" b="1" spc="-90" dirty="0">
                <a:latin typeface="Courier New"/>
                <a:cs typeface="Courier New"/>
              </a:rPr>
              <a:t> </a:t>
            </a:r>
            <a:r>
              <a:rPr sz="1200" b="1" spc="-50" dirty="0">
                <a:latin typeface="Courier New"/>
                <a:cs typeface="Courier New"/>
              </a:rPr>
              <a:t>{</a:t>
            </a:r>
            <a:endParaRPr sz="1200" dirty="0">
              <a:latin typeface="Courier New"/>
              <a:cs typeface="Courier New"/>
            </a:endParaRPr>
          </a:p>
          <a:p>
            <a:pPr marL="1742439" indent="0">
              <a:lnSpc>
                <a:spcPct val="100000"/>
              </a:lnSpc>
              <a:buNone/>
            </a:pPr>
            <a:r>
              <a:rPr sz="1200" b="1" dirty="0">
                <a:latin typeface="Courier New"/>
                <a:cs typeface="Courier New"/>
              </a:rPr>
              <a:t>//</a:t>
            </a:r>
            <a:r>
              <a:rPr sz="1200" b="1" spc="-65" dirty="0">
                <a:latin typeface="Courier New"/>
                <a:cs typeface="Courier New"/>
              </a:rPr>
              <a:t> </a:t>
            </a:r>
            <a:r>
              <a:rPr sz="1200" b="1" dirty="0">
                <a:latin typeface="Courier New"/>
                <a:cs typeface="Courier New"/>
              </a:rPr>
              <a:t>handle</a:t>
            </a:r>
            <a:r>
              <a:rPr sz="1200" b="1" spc="-50" dirty="0">
                <a:latin typeface="Courier New"/>
                <a:cs typeface="Courier New"/>
              </a:rPr>
              <a:t> </a:t>
            </a:r>
            <a:r>
              <a:rPr sz="1200" b="1" dirty="0">
                <a:latin typeface="Courier New"/>
                <a:cs typeface="Courier New"/>
              </a:rPr>
              <a:t>exceptions</a:t>
            </a:r>
            <a:r>
              <a:rPr sz="1200" b="1" spc="-55" dirty="0">
                <a:latin typeface="Courier New"/>
                <a:cs typeface="Courier New"/>
              </a:rPr>
              <a:t> </a:t>
            </a:r>
            <a:r>
              <a:rPr sz="1200" b="1" dirty="0">
                <a:latin typeface="Courier New"/>
                <a:cs typeface="Courier New"/>
              </a:rPr>
              <a:t>of</a:t>
            </a:r>
            <a:r>
              <a:rPr sz="1200" b="1" spc="-40" dirty="0">
                <a:latin typeface="Courier New"/>
                <a:cs typeface="Courier New"/>
              </a:rPr>
              <a:t> </a:t>
            </a:r>
            <a:r>
              <a:rPr sz="1200" b="1" spc="-10" dirty="0">
                <a:latin typeface="Courier New"/>
                <a:cs typeface="Courier New"/>
              </a:rPr>
              <a:t>exceptionClass3</a:t>
            </a:r>
            <a:endParaRPr sz="1200" dirty="0">
              <a:latin typeface="Courier New"/>
              <a:cs typeface="Courier New"/>
            </a:endParaRPr>
          </a:p>
          <a:p>
            <a:pPr marL="1399539" indent="0">
              <a:lnSpc>
                <a:spcPct val="100000"/>
              </a:lnSpc>
              <a:buNone/>
            </a:pPr>
            <a:r>
              <a:rPr sz="1200" b="1" spc="-50" dirty="0">
                <a:latin typeface="Courier New"/>
                <a:cs typeface="Courier New"/>
              </a:rPr>
              <a:t>}</a:t>
            </a:r>
            <a:endParaRPr sz="1200" dirty="0">
              <a:latin typeface="Courier New"/>
              <a:cs typeface="Courier New"/>
            </a:endParaRPr>
          </a:p>
          <a:p>
            <a:pPr marL="1399539" indent="0">
              <a:lnSpc>
                <a:spcPct val="100000"/>
              </a:lnSpc>
              <a:spcBef>
                <a:spcPts val="5"/>
              </a:spcBef>
              <a:buNone/>
            </a:pPr>
            <a:r>
              <a:rPr sz="1200" b="1" spc="-25" dirty="0">
                <a:latin typeface="Courier New"/>
                <a:cs typeface="Courier New"/>
              </a:rPr>
              <a:t>...</a:t>
            </a:r>
            <a:endParaRPr sz="1200" dirty="0">
              <a:latin typeface="Courier New"/>
              <a:cs typeface="Courier New"/>
            </a:endParaRPr>
          </a:p>
          <a:p>
            <a:pPr marL="1628139">
              <a:lnSpc>
                <a:spcPct val="100000"/>
              </a:lnSpc>
            </a:pPr>
            <a:r>
              <a:rPr sz="1200" b="1" dirty="0">
                <a:latin typeface="Courier New"/>
                <a:cs typeface="Courier New"/>
              </a:rPr>
              <a:t>/*</a:t>
            </a:r>
            <a:r>
              <a:rPr sz="1200" b="1" spc="-50" dirty="0">
                <a:latin typeface="Courier New"/>
                <a:cs typeface="Courier New"/>
              </a:rPr>
              <a:t> </a:t>
            </a:r>
            <a:r>
              <a:rPr sz="1200" b="1" dirty="0">
                <a:latin typeface="Courier New"/>
                <a:cs typeface="Courier New"/>
              </a:rPr>
              <a:t>code</a:t>
            </a:r>
            <a:r>
              <a:rPr sz="1200" b="1" spc="-35" dirty="0">
                <a:latin typeface="Courier New"/>
                <a:cs typeface="Courier New"/>
              </a:rPr>
              <a:t> </a:t>
            </a:r>
            <a:r>
              <a:rPr sz="1200" b="1" dirty="0">
                <a:latin typeface="Courier New"/>
                <a:cs typeface="Courier New"/>
              </a:rPr>
              <a:t>to</a:t>
            </a:r>
            <a:r>
              <a:rPr sz="1200" b="1" spc="-50" dirty="0">
                <a:latin typeface="Courier New"/>
                <a:cs typeface="Courier New"/>
              </a:rPr>
              <a:t> </a:t>
            </a:r>
            <a:r>
              <a:rPr sz="1200" b="1" dirty="0">
                <a:latin typeface="Courier New"/>
                <a:cs typeface="Courier New"/>
              </a:rPr>
              <a:t>execute</a:t>
            </a:r>
            <a:r>
              <a:rPr sz="1200" b="1" spc="-35" dirty="0">
                <a:latin typeface="Courier New"/>
                <a:cs typeface="Courier New"/>
              </a:rPr>
              <a:t> </a:t>
            </a:r>
            <a:r>
              <a:rPr sz="1200" b="1" spc="-25" dirty="0">
                <a:latin typeface="Courier New"/>
                <a:cs typeface="Courier New"/>
              </a:rPr>
              <a:t>if</a:t>
            </a:r>
            <a:endParaRPr sz="1200" dirty="0">
              <a:latin typeface="Courier New"/>
              <a:cs typeface="Courier New"/>
            </a:endParaRPr>
          </a:p>
          <a:p>
            <a:pPr marL="2541905">
              <a:lnSpc>
                <a:spcPct val="100000"/>
              </a:lnSpc>
            </a:pPr>
            <a:r>
              <a:rPr sz="1200" b="1" dirty="0">
                <a:latin typeface="Courier New"/>
                <a:cs typeface="Courier New"/>
              </a:rPr>
              <a:t>no</a:t>
            </a:r>
            <a:r>
              <a:rPr sz="1200" b="1" spc="-70" dirty="0">
                <a:latin typeface="Courier New"/>
                <a:cs typeface="Courier New"/>
              </a:rPr>
              <a:t> </a:t>
            </a:r>
            <a:r>
              <a:rPr sz="1200" b="1" dirty="0">
                <a:latin typeface="Courier New"/>
                <a:cs typeface="Courier New"/>
              </a:rPr>
              <a:t>exception</a:t>
            </a:r>
            <a:r>
              <a:rPr sz="1200" b="1" spc="-45" dirty="0">
                <a:latin typeface="Courier New"/>
                <a:cs typeface="Courier New"/>
              </a:rPr>
              <a:t> </a:t>
            </a:r>
            <a:r>
              <a:rPr sz="1200" b="1" spc="-25" dirty="0">
                <a:latin typeface="Courier New"/>
                <a:cs typeface="Courier New"/>
              </a:rPr>
              <a:t>or</a:t>
            </a:r>
            <a:endParaRPr sz="1200" dirty="0">
              <a:latin typeface="Courier New"/>
              <a:cs typeface="Courier New"/>
            </a:endParaRPr>
          </a:p>
          <a:p>
            <a:pPr marL="2541905">
              <a:lnSpc>
                <a:spcPct val="100000"/>
              </a:lnSpc>
            </a:pPr>
            <a:r>
              <a:rPr sz="1200" b="1" dirty="0">
                <a:latin typeface="Courier New"/>
                <a:cs typeface="Courier New"/>
              </a:rPr>
              <a:t>catch</a:t>
            </a:r>
            <a:r>
              <a:rPr sz="1200" b="1" spc="-75" dirty="0">
                <a:latin typeface="Courier New"/>
                <a:cs typeface="Courier New"/>
              </a:rPr>
              <a:t> </a:t>
            </a:r>
            <a:r>
              <a:rPr sz="1200" b="1" dirty="0">
                <a:latin typeface="Courier New"/>
                <a:cs typeface="Courier New"/>
              </a:rPr>
              <a:t>handler</a:t>
            </a:r>
            <a:r>
              <a:rPr sz="1200" b="1" spc="-60" dirty="0">
                <a:latin typeface="Courier New"/>
                <a:cs typeface="Courier New"/>
              </a:rPr>
              <a:t> </a:t>
            </a:r>
            <a:r>
              <a:rPr sz="1200" b="1" dirty="0">
                <a:latin typeface="Courier New"/>
                <a:cs typeface="Courier New"/>
              </a:rPr>
              <a:t>handled</a:t>
            </a:r>
            <a:r>
              <a:rPr sz="1200" b="1" spc="-75" dirty="0">
                <a:latin typeface="Courier New"/>
                <a:cs typeface="Courier New"/>
              </a:rPr>
              <a:t> </a:t>
            </a:r>
            <a:r>
              <a:rPr sz="1200" b="1" spc="-10" dirty="0">
                <a:latin typeface="Courier New"/>
                <a:cs typeface="Courier New"/>
              </a:rPr>
              <a:t>exception*/</a:t>
            </a:r>
            <a:endParaRPr sz="1200" dirty="0">
              <a:latin typeface="Courier New"/>
              <a:cs typeface="Courier New"/>
            </a:endParaRP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dirty="0"/>
              <a:t>Mehedi Hasan</a:t>
            </a:r>
            <a:endParaRPr spc="-10" dirty="0"/>
          </a:p>
        </p:txBody>
      </p:sp>
      <p:sp>
        <p:nvSpPr>
          <p:cNvPr id="6" name="object 6"/>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8C28B4C2-CD9F-AADF-2361-D75AC6C872DB}"/>
              </a:ext>
            </a:extLst>
          </p:cNvPr>
          <p:cNvSpPr>
            <a:spLocks noGrp="1"/>
          </p:cNvSpPr>
          <p:nvPr>
            <p:ph type="dt" sz="half" idx="10"/>
          </p:nvPr>
        </p:nvSpPr>
        <p:spPr/>
        <p:txBody>
          <a:bodyPr/>
          <a:lstStyle/>
          <a:p>
            <a:fld id="{C6F00953-2CBD-4FA9-9FF7-EA5930DEBC7C}" type="datetime1">
              <a:rPr lang="en-US" smtClean="0"/>
              <a:t>11/17/2025</a:t>
            </a:fld>
            <a:endParaRPr lang="en-US"/>
          </a:p>
        </p:txBody>
      </p:sp>
      <p:sp>
        <p:nvSpPr>
          <p:cNvPr id="9" name="Slide Number Placeholder 8">
            <a:extLst>
              <a:ext uri="{FF2B5EF4-FFF2-40B4-BE49-F238E27FC236}">
                <a16:creationId xmlns:a16="http://schemas.microsoft.com/office/drawing/2014/main" id="{C12166CF-C208-E57F-FB91-E853A4A957FB}"/>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14</a:t>
            </a:fld>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D8186-7741-FCE6-F335-A0447B787F3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0288FEB-1D5F-C965-C3DA-59DCC226EC41}"/>
              </a:ext>
            </a:extLst>
          </p:cNvPr>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dirty="0"/>
              <a:t>Mehedi Hasan</a:t>
            </a:r>
            <a:endParaRPr spc="-10" dirty="0"/>
          </a:p>
        </p:txBody>
      </p:sp>
      <p:sp>
        <p:nvSpPr>
          <p:cNvPr id="6" name="object 6">
            <a:extLst>
              <a:ext uri="{FF2B5EF4-FFF2-40B4-BE49-F238E27FC236}">
                <a16:creationId xmlns:a16="http://schemas.microsoft.com/office/drawing/2014/main" id="{4593A447-0BE8-A691-C4F8-4F7BA26E1F26}"/>
              </a:ext>
            </a:extLst>
          </p:cNvPr>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a:extLst>
              <a:ext uri="{FF2B5EF4-FFF2-40B4-BE49-F238E27FC236}">
                <a16:creationId xmlns:a16="http://schemas.microsoft.com/office/drawing/2014/main" id="{B4BF27BF-E668-E176-F336-0F48EBCC9DCF}"/>
              </a:ext>
            </a:extLst>
          </p:cNvPr>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95421323-CFAE-7E4A-2038-DA8739F4B962}"/>
              </a:ext>
            </a:extLst>
          </p:cNvPr>
          <p:cNvSpPr>
            <a:spLocks noGrp="1"/>
          </p:cNvSpPr>
          <p:nvPr>
            <p:ph type="dt" sz="half" idx="10"/>
          </p:nvPr>
        </p:nvSpPr>
        <p:spPr/>
        <p:txBody>
          <a:bodyPr/>
          <a:lstStyle/>
          <a:p>
            <a:fld id="{CABD6BE0-0AB4-449E-9E6A-BA2E22FE7D1C}" type="datetime1">
              <a:rPr lang="en-US" smtClean="0"/>
              <a:t>11/17/2025</a:t>
            </a:fld>
            <a:endParaRPr lang="en-US"/>
          </a:p>
        </p:txBody>
      </p:sp>
      <p:pic>
        <p:nvPicPr>
          <p:cNvPr id="14" name="Picture 13">
            <a:extLst>
              <a:ext uri="{FF2B5EF4-FFF2-40B4-BE49-F238E27FC236}">
                <a16:creationId xmlns:a16="http://schemas.microsoft.com/office/drawing/2014/main" id="{D56AF482-DA73-8BE3-F6A3-1575F22FA0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36526"/>
            <a:ext cx="7924799" cy="4647746"/>
          </a:xfrm>
          <a:prstGeom prst="rect">
            <a:avLst/>
          </a:prstGeom>
        </p:spPr>
      </p:pic>
      <p:pic>
        <p:nvPicPr>
          <p:cNvPr id="16" name="Picture 15">
            <a:extLst>
              <a:ext uri="{FF2B5EF4-FFF2-40B4-BE49-F238E27FC236}">
                <a16:creationId xmlns:a16="http://schemas.microsoft.com/office/drawing/2014/main" id="{6214934D-A40B-9D88-E793-3AE4A11033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46655"/>
            <a:ext cx="7511143" cy="1948543"/>
          </a:xfrm>
          <a:prstGeom prst="rect">
            <a:avLst/>
          </a:prstGeom>
        </p:spPr>
      </p:pic>
      <p:sp>
        <p:nvSpPr>
          <p:cNvPr id="17" name="TextBox 16">
            <a:extLst>
              <a:ext uri="{FF2B5EF4-FFF2-40B4-BE49-F238E27FC236}">
                <a16:creationId xmlns:a16="http://schemas.microsoft.com/office/drawing/2014/main" id="{A74B65FE-7BA6-8266-8107-AB04B0BD422E}"/>
              </a:ext>
            </a:extLst>
          </p:cNvPr>
          <p:cNvSpPr txBox="1"/>
          <p:nvPr/>
        </p:nvSpPr>
        <p:spPr>
          <a:xfrm>
            <a:off x="9448800" y="0"/>
            <a:ext cx="3048000" cy="369332"/>
          </a:xfrm>
          <a:prstGeom prst="rect">
            <a:avLst/>
          </a:prstGeom>
          <a:noFill/>
        </p:spPr>
        <p:txBody>
          <a:bodyPr wrap="square" rtlCol="0">
            <a:spAutoFit/>
          </a:bodyPr>
          <a:lstStyle/>
          <a:p>
            <a:r>
              <a:rPr lang="en-US" dirty="0">
                <a:latin typeface="Stencil" panose="040409050D0802020404" pitchFamily="82" charset="0"/>
              </a:rPr>
              <a:t>Exception</a:t>
            </a:r>
            <a:r>
              <a:rPr lang="en-US" spc="-185" dirty="0">
                <a:latin typeface="Stencil" panose="040409050D0802020404" pitchFamily="82" charset="0"/>
              </a:rPr>
              <a:t> </a:t>
            </a:r>
            <a:r>
              <a:rPr lang="en-US" spc="-10" dirty="0">
                <a:latin typeface="Stencil" panose="040409050D0802020404" pitchFamily="82" charset="0"/>
              </a:rPr>
              <a:t>Handling</a:t>
            </a:r>
            <a:endParaRPr lang="en-US" dirty="0"/>
          </a:p>
        </p:txBody>
      </p:sp>
      <p:sp>
        <p:nvSpPr>
          <p:cNvPr id="3" name="Slide Number Placeholder 2">
            <a:extLst>
              <a:ext uri="{FF2B5EF4-FFF2-40B4-BE49-F238E27FC236}">
                <a16:creationId xmlns:a16="http://schemas.microsoft.com/office/drawing/2014/main" id="{9052EAFD-F99E-C231-E189-4D62F10DCBEA}"/>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15</a:t>
            </a:fld>
            <a:endParaRPr spc="-25" dirty="0"/>
          </a:p>
        </p:txBody>
      </p:sp>
    </p:spTree>
    <p:extLst>
      <p:ext uri="{BB962C8B-B14F-4D97-AF65-F5344CB8AC3E}">
        <p14:creationId xmlns:p14="http://schemas.microsoft.com/office/powerpoint/2010/main" val="3935300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spc="-10" dirty="0">
                <a:latin typeface="Agency FB" panose="020B0503020202020204" pitchFamily="34" charset="0"/>
              </a:rPr>
              <a:t>Exceptions</a:t>
            </a:r>
          </a:p>
        </p:txBody>
      </p:sp>
      <p:sp>
        <p:nvSpPr>
          <p:cNvPr id="26" name="object 2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684096"/>
            <a:ext cx="7995284" cy="331470"/>
          </a:xfrm>
          <a:prstGeom prst="rect">
            <a:avLst/>
          </a:prstGeom>
        </p:spPr>
        <p:txBody>
          <a:bodyPr vert="horz" wrap="square" lIns="0" tIns="13335" rIns="0" bIns="0" rtlCol="0">
            <a:spAutoFit/>
          </a:bodyPr>
          <a:lstStyle/>
          <a:p>
            <a:pPr marL="12700">
              <a:lnSpc>
                <a:spcPct val="100000"/>
              </a:lnSpc>
              <a:spcBef>
                <a:spcPts val="105"/>
              </a:spcBef>
              <a:tabLst>
                <a:tab pos="240665" algn="l"/>
              </a:tabLst>
            </a:pPr>
            <a:r>
              <a:rPr sz="2000" spc="-50" dirty="0">
                <a:latin typeface="Times New Roman"/>
                <a:cs typeface="Times New Roman"/>
              </a:rPr>
              <a:t>-</a:t>
            </a:r>
            <a:r>
              <a:rPr sz="2000" dirty="0">
                <a:latin typeface="Times New Roman"/>
                <a:cs typeface="Times New Roman"/>
              </a:rPr>
              <a:t>	All</a:t>
            </a:r>
            <a:r>
              <a:rPr sz="2000" spc="-20" dirty="0">
                <a:latin typeface="Times New Roman"/>
                <a:cs typeface="Times New Roman"/>
              </a:rPr>
              <a:t> </a:t>
            </a:r>
            <a:r>
              <a:rPr sz="2000" dirty="0">
                <a:latin typeface="Times New Roman"/>
                <a:cs typeface="Times New Roman"/>
              </a:rPr>
              <a:t>exceptions</a:t>
            </a:r>
            <a:r>
              <a:rPr sz="2000" spc="-45" dirty="0">
                <a:latin typeface="Times New Roman"/>
                <a:cs typeface="Times New Roman"/>
              </a:rPr>
              <a:t> </a:t>
            </a:r>
            <a:r>
              <a:rPr sz="2000" dirty="0">
                <a:latin typeface="Times New Roman"/>
                <a:cs typeface="Times New Roman"/>
              </a:rPr>
              <a:t>generated</a:t>
            </a:r>
            <a:r>
              <a:rPr sz="2000" spc="-35" dirty="0">
                <a:latin typeface="Times New Roman"/>
                <a:cs typeface="Times New Roman"/>
              </a:rPr>
              <a:t> </a:t>
            </a:r>
            <a:r>
              <a:rPr sz="2000" dirty="0">
                <a:latin typeface="Times New Roman"/>
                <a:cs typeface="Times New Roman"/>
              </a:rPr>
              <a:t>by</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standard</a:t>
            </a:r>
            <a:r>
              <a:rPr sz="2000" spc="-40" dirty="0">
                <a:latin typeface="Times New Roman"/>
                <a:cs typeface="Times New Roman"/>
              </a:rPr>
              <a:t> </a:t>
            </a:r>
            <a:r>
              <a:rPr sz="2000" dirty="0">
                <a:latin typeface="Times New Roman"/>
                <a:cs typeface="Times New Roman"/>
              </a:rPr>
              <a:t>library</a:t>
            </a:r>
            <a:r>
              <a:rPr sz="2000" spc="-30" dirty="0">
                <a:latin typeface="Times New Roman"/>
                <a:cs typeface="Times New Roman"/>
              </a:rPr>
              <a:t> </a:t>
            </a:r>
            <a:r>
              <a:rPr sz="2000" dirty="0">
                <a:latin typeface="Times New Roman"/>
                <a:cs typeface="Times New Roman"/>
              </a:rPr>
              <a:t>inherit</a:t>
            </a:r>
            <a:r>
              <a:rPr sz="2000" spc="-45" dirty="0">
                <a:latin typeface="Times New Roman"/>
                <a:cs typeface="Times New Roman"/>
              </a:rPr>
              <a:t> </a:t>
            </a:r>
            <a:r>
              <a:rPr sz="2000" dirty="0">
                <a:latin typeface="Times New Roman"/>
                <a:cs typeface="Times New Roman"/>
              </a:rPr>
              <a:t>from</a:t>
            </a:r>
            <a:r>
              <a:rPr sz="2000" spc="-15" dirty="0">
                <a:latin typeface="Times New Roman"/>
                <a:cs typeface="Times New Roman"/>
              </a:rPr>
              <a:t> </a:t>
            </a:r>
            <a:r>
              <a:rPr sz="2000" b="1" spc="-10" dirty="0">
                <a:latin typeface="Times New Roman"/>
                <a:cs typeface="Times New Roman"/>
              </a:rPr>
              <a:t>std::exception</a:t>
            </a:r>
            <a:endParaRPr sz="2000">
              <a:latin typeface="Times New Roman"/>
              <a:cs typeface="Times New Roman"/>
            </a:endParaRPr>
          </a:p>
        </p:txBody>
      </p:sp>
      <p:sp>
        <p:nvSpPr>
          <p:cNvPr id="4" name="object 4"/>
          <p:cNvSpPr txBox="1"/>
          <p:nvPr/>
        </p:nvSpPr>
        <p:spPr>
          <a:xfrm>
            <a:off x="5209687" y="2157519"/>
            <a:ext cx="1290955" cy="321310"/>
          </a:xfrm>
          <a:prstGeom prst="rect">
            <a:avLst/>
          </a:prstGeom>
          <a:ln w="3175">
            <a:solidFill>
              <a:srgbClr val="000000"/>
            </a:solidFill>
          </a:ln>
        </p:spPr>
        <p:txBody>
          <a:bodyPr vert="horz" wrap="square" lIns="0" tIns="76835" rIns="0" bIns="0" rtlCol="0">
            <a:spAutoFit/>
          </a:bodyPr>
          <a:lstStyle/>
          <a:p>
            <a:pPr marL="310515">
              <a:lnSpc>
                <a:spcPct val="100000"/>
              </a:lnSpc>
              <a:spcBef>
                <a:spcPts val="605"/>
              </a:spcBef>
            </a:pPr>
            <a:r>
              <a:rPr sz="950" b="1" i="1" spc="80" dirty="0">
                <a:latin typeface="Arial"/>
                <a:cs typeface="Arial"/>
              </a:rPr>
              <a:t>exception</a:t>
            </a:r>
            <a:endParaRPr sz="950">
              <a:latin typeface="Arial"/>
              <a:cs typeface="Arial"/>
            </a:endParaRPr>
          </a:p>
        </p:txBody>
      </p:sp>
      <p:sp>
        <p:nvSpPr>
          <p:cNvPr id="5" name="object 5"/>
          <p:cNvSpPr txBox="1"/>
          <p:nvPr/>
        </p:nvSpPr>
        <p:spPr>
          <a:xfrm>
            <a:off x="4010010" y="3681637"/>
            <a:ext cx="1105535" cy="321310"/>
          </a:xfrm>
          <a:prstGeom prst="rect">
            <a:avLst/>
          </a:prstGeom>
          <a:ln w="3175">
            <a:solidFill>
              <a:srgbClr val="000000"/>
            </a:solidFill>
          </a:ln>
        </p:spPr>
        <p:txBody>
          <a:bodyPr vert="horz" wrap="square" lIns="0" tIns="76835" rIns="0" bIns="0" rtlCol="0">
            <a:spAutoFit/>
          </a:bodyPr>
          <a:lstStyle/>
          <a:p>
            <a:pPr marL="176530">
              <a:lnSpc>
                <a:spcPct val="100000"/>
              </a:lnSpc>
              <a:spcBef>
                <a:spcPts val="605"/>
              </a:spcBef>
            </a:pPr>
            <a:r>
              <a:rPr sz="950" b="1" i="1" spc="70" dirty="0">
                <a:latin typeface="Arial"/>
                <a:cs typeface="Arial"/>
              </a:rPr>
              <a:t>logic_error</a:t>
            </a:r>
            <a:endParaRPr sz="950">
              <a:latin typeface="Arial"/>
              <a:cs typeface="Arial"/>
            </a:endParaRPr>
          </a:p>
        </p:txBody>
      </p:sp>
      <p:sp>
        <p:nvSpPr>
          <p:cNvPr id="6" name="object 6"/>
          <p:cNvSpPr txBox="1"/>
          <p:nvPr/>
        </p:nvSpPr>
        <p:spPr>
          <a:xfrm>
            <a:off x="7326570" y="3924337"/>
            <a:ext cx="1290320" cy="321310"/>
          </a:xfrm>
          <a:prstGeom prst="rect">
            <a:avLst/>
          </a:prstGeom>
          <a:ln w="3175">
            <a:solidFill>
              <a:srgbClr val="000000"/>
            </a:solidFill>
          </a:ln>
        </p:spPr>
        <p:txBody>
          <a:bodyPr vert="horz" wrap="square" lIns="0" tIns="76835" rIns="0" bIns="0" rtlCol="0">
            <a:spAutoFit/>
          </a:bodyPr>
          <a:lstStyle/>
          <a:p>
            <a:pPr marL="172720">
              <a:lnSpc>
                <a:spcPct val="100000"/>
              </a:lnSpc>
              <a:spcBef>
                <a:spcPts val="605"/>
              </a:spcBef>
            </a:pPr>
            <a:r>
              <a:rPr sz="950" b="1" i="1" spc="75" dirty="0">
                <a:latin typeface="Arial"/>
                <a:cs typeface="Arial"/>
              </a:rPr>
              <a:t>runtime_error</a:t>
            </a:r>
            <a:endParaRPr sz="950">
              <a:latin typeface="Arial"/>
              <a:cs typeface="Arial"/>
            </a:endParaRPr>
          </a:p>
        </p:txBody>
      </p:sp>
      <p:sp>
        <p:nvSpPr>
          <p:cNvPr id="7" name="object 7"/>
          <p:cNvSpPr txBox="1"/>
          <p:nvPr/>
        </p:nvSpPr>
        <p:spPr>
          <a:xfrm>
            <a:off x="2260224" y="4483645"/>
            <a:ext cx="1195070" cy="321310"/>
          </a:xfrm>
          <a:prstGeom prst="rect">
            <a:avLst/>
          </a:prstGeom>
          <a:ln w="3175">
            <a:solidFill>
              <a:srgbClr val="000000"/>
            </a:solidFill>
          </a:ln>
        </p:spPr>
        <p:txBody>
          <a:bodyPr vert="horz" wrap="square" lIns="0" tIns="76835" rIns="0" bIns="0" rtlCol="0">
            <a:spAutoFit/>
          </a:bodyPr>
          <a:lstStyle/>
          <a:p>
            <a:pPr marL="134620">
              <a:lnSpc>
                <a:spcPct val="100000"/>
              </a:lnSpc>
              <a:spcBef>
                <a:spcPts val="605"/>
              </a:spcBef>
            </a:pPr>
            <a:r>
              <a:rPr sz="950" b="1" i="1" spc="80" dirty="0">
                <a:latin typeface="Arial"/>
                <a:cs typeface="Arial"/>
              </a:rPr>
              <a:t>domain_error</a:t>
            </a:r>
            <a:endParaRPr sz="950">
              <a:latin typeface="Arial"/>
              <a:cs typeface="Arial"/>
            </a:endParaRPr>
          </a:p>
        </p:txBody>
      </p:sp>
      <p:sp>
        <p:nvSpPr>
          <p:cNvPr id="8" name="object 8"/>
          <p:cNvSpPr txBox="1"/>
          <p:nvPr/>
        </p:nvSpPr>
        <p:spPr>
          <a:xfrm>
            <a:off x="2858744" y="4967073"/>
            <a:ext cx="1517650" cy="321310"/>
          </a:xfrm>
          <a:prstGeom prst="rect">
            <a:avLst/>
          </a:prstGeom>
          <a:ln w="3175">
            <a:solidFill>
              <a:srgbClr val="000000"/>
            </a:solidFill>
          </a:ln>
        </p:spPr>
        <p:txBody>
          <a:bodyPr vert="horz" wrap="square" lIns="0" tIns="76835" rIns="0" bIns="0" rtlCol="0">
            <a:spAutoFit/>
          </a:bodyPr>
          <a:lstStyle/>
          <a:p>
            <a:pPr marL="165100">
              <a:lnSpc>
                <a:spcPct val="100000"/>
              </a:lnSpc>
              <a:spcBef>
                <a:spcPts val="605"/>
              </a:spcBef>
            </a:pPr>
            <a:r>
              <a:rPr sz="950" b="1" i="1" spc="80" dirty="0">
                <a:latin typeface="Arial"/>
                <a:cs typeface="Arial"/>
              </a:rPr>
              <a:t>invalid_argument</a:t>
            </a:r>
            <a:endParaRPr sz="950">
              <a:latin typeface="Arial"/>
              <a:cs typeface="Arial"/>
            </a:endParaRPr>
          </a:p>
        </p:txBody>
      </p:sp>
      <p:sp>
        <p:nvSpPr>
          <p:cNvPr id="9" name="object 9"/>
          <p:cNvSpPr/>
          <p:nvPr/>
        </p:nvSpPr>
        <p:spPr>
          <a:xfrm>
            <a:off x="4007557" y="5448420"/>
            <a:ext cx="1105535" cy="321310"/>
          </a:xfrm>
          <a:custGeom>
            <a:avLst/>
            <a:gdLst/>
            <a:ahLst/>
            <a:cxnLst/>
            <a:rect l="l" t="t" r="r" b="b"/>
            <a:pathLst>
              <a:path w="1105535" h="321310">
                <a:moveTo>
                  <a:pt x="0" y="320732"/>
                </a:moveTo>
                <a:lnTo>
                  <a:pt x="1105247" y="320732"/>
                </a:lnTo>
                <a:lnTo>
                  <a:pt x="1105247" y="0"/>
                </a:lnTo>
                <a:lnTo>
                  <a:pt x="0" y="0"/>
                </a:lnTo>
                <a:lnTo>
                  <a:pt x="0" y="320732"/>
                </a:lnTo>
                <a:close/>
              </a:path>
            </a:pathLst>
          </a:custGeom>
          <a:ln w="3175">
            <a:solidFill>
              <a:srgbClr val="000000"/>
            </a:solidFill>
          </a:ln>
        </p:spPr>
        <p:txBody>
          <a:bodyPr wrap="square" lIns="0" tIns="0" rIns="0" bIns="0" rtlCol="0"/>
          <a:lstStyle/>
          <a:p>
            <a:endParaRPr/>
          </a:p>
        </p:txBody>
      </p:sp>
      <p:sp>
        <p:nvSpPr>
          <p:cNvPr id="10" name="object 10"/>
          <p:cNvSpPr txBox="1"/>
          <p:nvPr/>
        </p:nvSpPr>
        <p:spPr>
          <a:xfrm>
            <a:off x="4008641" y="5508532"/>
            <a:ext cx="1103630" cy="175895"/>
          </a:xfrm>
          <a:prstGeom prst="rect">
            <a:avLst/>
          </a:prstGeom>
        </p:spPr>
        <p:txBody>
          <a:bodyPr vert="horz" wrap="square" lIns="0" tIns="17145" rIns="0" bIns="0" rtlCol="0">
            <a:spAutoFit/>
          </a:bodyPr>
          <a:lstStyle/>
          <a:p>
            <a:pPr marL="128905">
              <a:lnSpc>
                <a:spcPct val="100000"/>
              </a:lnSpc>
              <a:spcBef>
                <a:spcPts val="135"/>
              </a:spcBef>
            </a:pPr>
            <a:r>
              <a:rPr sz="950" b="1" i="1" spc="75" dirty="0">
                <a:latin typeface="Arial"/>
                <a:cs typeface="Arial"/>
              </a:rPr>
              <a:t>length_error</a:t>
            </a:r>
            <a:endParaRPr sz="950">
              <a:latin typeface="Arial"/>
              <a:cs typeface="Arial"/>
            </a:endParaRPr>
          </a:p>
        </p:txBody>
      </p:sp>
      <p:sp>
        <p:nvSpPr>
          <p:cNvPr id="11" name="object 11"/>
          <p:cNvSpPr txBox="1"/>
          <p:nvPr/>
        </p:nvSpPr>
        <p:spPr>
          <a:xfrm>
            <a:off x="4744389" y="5929518"/>
            <a:ext cx="1106170" cy="321310"/>
          </a:xfrm>
          <a:prstGeom prst="rect">
            <a:avLst/>
          </a:prstGeom>
          <a:ln w="3175">
            <a:solidFill>
              <a:srgbClr val="000000"/>
            </a:solidFill>
          </a:ln>
        </p:spPr>
        <p:txBody>
          <a:bodyPr vert="horz" wrap="square" lIns="0" tIns="77470" rIns="0" bIns="0" rtlCol="0">
            <a:spAutoFit/>
          </a:bodyPr>
          <a:lstStyle/>
          <a:p>
            <a:pPr marL="99060">
              <a:lnSpc>
                <a:spcPct val="100000"/>
              </a:lnSpc>
              <a:spcBef>
                <a:spcPts val="610"/>
              </a:spcBef>
            </a:pPr>
            <a:r>
              <a:rPr sz="950" b="1" i="1" spc="80" dirty="0">
                <a:latin typeface="Arial"/>
                <a:cs typeface="Arial"/>
              </a:rPr>
              <a:t>out_of_range</a:t>
            </a:r>
            <a:endParaRPr sz="950">
              <a:latin typeface="Arial"/>
              <a:cs typeface="Arial"/>
            </a:endParaRPr>
          </a:p>
        </p:txBody>
      </p:sp>
      <p:sp>
        <p:nvSpPr>
          <p:cNvPr id="12" name="object 12"/>
          <p:cNvSpPr txBox="1"/>
          <p:nvPr/>
        </p:nvSpPr>
        <p:spPr>
          <a:xfrm>
            <a:off x="3457540" y="3122276"/>
            <a:ext cx="921385" cy="321310"/>
          </a:xfrm>
          <a:prstGeom prst="rect">
            <a:avLst/>
          </a:prstGeom>
          <a:ln w="3175">
            <a:solidFill>
              <a:srgbClr val="000000"/>
            </a:solidFill>
          </a:ln>
        </p:spPr>
        <p:txBody>
          <a:bodyPr vert="horz" wrap="square" lIns="0" tIns="76835" rIns="0" bIns="0" rtlCol="0">
            <a:spAutoFit/>
          </a:bodyPr>
          <a:lstStyle/>
          <a:p>
            <a:pPr marL="149225">
              <a:lnSpc>
                <a:spcPct val="100000"/>
              </a:lnSpc>
              <a:spcBef>
                <a:spcPts val="605"/>
              </a:spcBef>
            </a:pPr>
            <a:r>
              <a:rPr sz="950" b="1" i="1" spc="85" dirty="0">
                <a:latin typeface="Arial"/>
                <a:cs typeface="Arial"/>
              </a:rPr>
              <a:t>bad_cast</a:t>
            </a:r>
            <a:endParaRPr sz="950">
              <a:latin typeface="Arial"/>
              <a:cs typeface="Arial"/>
            </a:endParaRPr>
          </a:p>
        </p:txBody>
      </p:sp>
      <p:sp>
        <p:nvSpPr>
          <p:cNvPr id="13" name="object 13"/>
          <p:cNvSpPr txBox="1"/>
          <p:nvPr/>
        </p:nvSpPr>
        <p:spPr>
          <a:xfrm>
            <a:off x="2352312" y="3122276"/>
            <a:ext cx="921385" cy="321310"/>
          </a:xfrm>
          <a:prstGeom prst="rect">
            <a:avLst/>
          </a:prstGeom>
          <a:ln w="3175">
            <a:solidFill>
              <a:srgbClr val="000000"/>
            </a:solidFill>
          </a:ln>
        </p:spPr>
        <p:txBody>
          <a:bodyPr vert="horz" wrap="square" lIns="0" tIns="76835" rIns="0" bIns="0" rtlCol="0">
            <a:spAutoFit/>
          </a:bodyPr>
          <a:lstStyle/>
          <a:p>
            <a:pPr marL="81915">
              <a:lnSpc>
                <a:spcPct val="100000"/>
              </a:lnSpc>
              <a:spcBef>
                <a:spcPts val="605"/>
              </a:spcBef>
            </a:pPr>
            <a:r>
              <a:rPr sz="950" b="1" i="1" spc="85" dirty="0">
                <a:latin typeface="Arial"/>
                <a:cs typeface="Arial"/>
              </a:rPr>
              <a:t>bad_typeid</a:t>
            </a:r>
            <a:endParaRPr sz="950">
              <a:latin typeface="Arial"/>
              <a:cs typeface="Arial"/>
            </a:endParaRPr>
          </a:p>
        </p:txBody>
      </p:sp>
      <p:sp>
        <p:nvSpPr>
          <p:cNvPr id="14" name="object 14"/>
          <p:cNvSpPr/>
          <p:nvPr/>
        </p:nvSpPr>
        <p:spPr>
          <a:xfrm>
            <a:off x="2812704" y="2478464"/>
            <a:ext cx="5804535" cy="1445895"/>
          </a:xfrm>
          <a:custGeom>
            <a:avLst/>
            <a:gdLst/>
            <a:ahLst/>
            <a:cxnLst/>
            <a:rect l="l" t="t" r="r" b="b"/>
            <a:pathLst>
              <a:path w="5804534" h="1445895">
                <a:moveTo>
                  <a:pt x="3042757" y="0"/>
                </a:moveTo>
                <a:lnTo>
                  <a:pt x="3042757" y="166714"/>
                </a:lnTo>
              </a:path>
              <a:path w="5804534" h="1445895">
                <a:moveTo>
                  <a:pt x="3042757" y="320714"/>
                </a:moveTo>
                <a:lnTo>
                  <a:pt x="1749980" y="320714"/>
                </a:lnTo>
                <a:lnTo>
                  <a:pt x="1749980" y="1203190"/>
                </a:lnTo>
              </a:path>
              <a:path w="5804534" h="1445895">
                <a:moveTo>
                  <a:pt x="3042757" y="320714"/>
                </a:moveTo>
                <a:lnTo>
                  <a:pt x="5158721" y="320714"/>
                </a:lnTo>
                <a:lnTo>
                  <a:pt x="5158721" y="1445837"/>
                </a:lnTo>
              </a:path>
              <a:path w="5804534" h="1445895">
                <a:moveTo>
                  <a:pt x="3042757" y="320714"/>
                </a:moveTo>
                <a:lnTo>
                  <a:pt x="5804496" y="320714"/>
                </a:lnTo>
                <a:lnTo>
                  <a:pt x="5804496" y="643829"/>
                </a:lnTo>
              </a:path>
              <a:path w="5804534" h="1445895">
                <a:moveTo>
                  <a:pt x="3042757" y="320714"/>
                </a:moveTo>
                <a:lnTo>
                  <a:pt x="1105227" y="320714"/>
                </a:lnTo>
                <a:lnTo>
                  <a:pt x="1105227" y="643829"/>
                </a:lnTo>
              </a:path>
              <a:path w="5804534" h="1445895">
                <a:moveTo>
                  <a:pt x="3042757" y="320714"/>
                </a:moveTo>
                <a:lnTo>
                  <a:pt x="0" y="320714"/>
                </a:lnTo>
                <a:lnTo>
                  <a:pt x="0" y="643829"/>
                </a:lnTo>
              </a:path>
              <a:path w="5804534" h="1445895">
                <a:moveTo>
                  <a:pt x="3042757" y="320714"/>
                </a:moveTo>
                <a:lnTo>
                  <a:pt x="4145552" y="320714"/>
                </a:lnTo>
                <a:lnTo>
                  <a:pt x="4145552" y="643829"/>
                </a:lnTo>
              </a:path>
              <a:path w="5804534" h="1445895">
                <a:moveTo>
                  <a:pt x="3042757" y="166714"/>
                </a:moveTo>
                <a:lnTo>
                  <a:pt x="2954460" y="320714"/>
                </a:lnTo>
                <a:lnTo>
                  <a:pt x="3131156" y="320714"/>
                </a:lnTo>
                <a:lnTo>
                  <a:pt x="3042757" y="166714"/>
                </a:lnTo>
              </a:path>
            </a:pathLst>
          </a:custGeom>
          <a:ln w="3175">
            <a:solidFill>
              <a:srgbClr val="000000"/>
            </a:solidFill>
          </a:ln>
        </p:spPr>
        <p:txBody>
          <a:bodyPr wrap="square" lIns="0" tIns="0" rIns="0" bIns="0" rtlCol="0"/>
          <a:lstStyle/>
          <a:p>
            <a:endParaRPr/>
          </a:p>
        </p:txBody>
      </p:sp>
      <p:sp>
        <p:nvSpPr>
          <p:cNvPr id="15" name="object 15"/>
          <p:cNvSpPr/>
          <p:nvPr/>
        </p:nvSpPr>
        <p:spPr>
          <a:xfrm>
            <a:off x="2858130" y="4002369"/>
            <a:ext cx="2439035" cy="1927225"/>
          </a:xfrm>
          <a:custGeom>
            <a:avLst/>
            <a:gdLst/>
            <a:ahLst/>
            <a:cxnLst/>
            <a:rect l="l" t="t" r="r" b="b"/>
            <a:pathLst>
              <a:path w="2439035" h="1927225">
                <a:moveTo>
                  <a:pt x="1704554" y="0"/>
                </a:moveTo>
                <a:lnTo>
                  <a:pt x="1704554" y="153910"/>
                </a:lnTo>
                <a:lnTo>
                  <a:pt x="1702101" y="153910"/>
                </a:lnTo>
                <a:lnTo>
                  <a:pt x="1702101" y="166714"/>
                </a:lnTo>
              </a:path>
              <a:path w="2439035" h="1927225">
                <a:moveTo>
                  <a:pt x="1702101" y="320892"/>
                </a:moveTo>
                <a:lnTo>
                  <a:pt x="0" y="320892"/>
                </a:lnTo>
                <a:lnTo>
                  <a:pt x="0" y="481293"/>
                </a:lnTo>
              </a:path>
              <a:path w="2439035" h="1927225">
                <a:moveTo>
                  <a:pt x="1702101" y="320892"/>
                </a:moveTo>
                <a:lnTo>
                  <a:pt x="760162" y="320892"/>
                </a:lnTo>
                <a:lnTo>
                  <a:pt x="760162" y="964721"/>
                </a:lnTo>
              </a:path>
              <a:path w="2439035" h="1927225">
                <a:moveTo>
                  <a:pt x="1702101" y="320892"/>
                </a:moveTo>
                <a:lnTo>
                  <a:pt x="1702101" y="1446015"/>
                </a:lnTo>
              </a:path>
              <a:path w="2439035" h="1927225">
                <a:moveTo>
                  <a:pt x="1702101" y="320892"/>
                </a:moveTo>
                <a:lnTo>
                  <a:pt x="2438728" y="320892"/>
                </a:lnTo>
                <a:lnTo>
                  <a:pt x="2438728" y="1927149"/>
                </a:lnTo>
              </a:path>
              <a:path w="2439035" h="1927225">
                <a:moveTo>
                  <a:pt x="1702101" y="320892"/>
                </a:moveTo>
                <a:lnTo>
                  <a:pt x="1517740" y="320892"/>
                </a:lnTo>
              </a:path>
              <a:path w="2439035" h="1927225">
                <a:moveTo>
                  <a:pt x="1702101" y="166714"/>
                </a:moveTo>
                <a:lnTo>
                  <a:pt x="1613497" y="320892"/>
                </a:lnTo>
                <a:lnTo>
                  <a:pt x="1790501" y="320892"/>
                </a:lnTo>
                <a:lnTo>
                  <a:pt x="1702101" y="166714"/>
                </a:lnTo>
              </a:path>
            </a:pathLst>
          </a:custGeom>
          <a:ln w="3175">
            <a:solidFill>
              <a:srgbClr val="000000"/>
            </a:solidFill>
          </a:ln>
        </p:spPr>
        <p:txBody>
          <a:bodyPr wrap="square" lIns="0" tIns="0" rIns="0" bIns="0" rtlCol="0"/>
          <a:lstStyle/>
          <a:p>
            <a:endParaRPr/>
          </a:p>
        </p:txBody>
      </p:sp>
      <p:sp>
        <p:nvSpPr>
          <p:cNvPr id="16" name="object 16"/>
          <p:cNvSpPr txBox="1"/>
          <p:nvPr/>
        </p:nvSpPr>
        <p:spPr>
          <a:xfrm>
            <a:off x="6497865" y="4726346"/>
            <a:ext cx="1197610" cy="321310"/>
          </a:xfrm>
          <a:prstGeom prst="rect">
            <a:avLst/>
          </a:prstGeom>
          <a:ln w="3175">
            <a:solidFill>
              <a:srgbClr val="000000"/>
            </a:solidFill>
          </a:ln>
        </p:spPr>
        <p:txBody>
          <a:bodyPr vert="horz" wrap="square" lIns="0" tIns="76835" rIns="0" bIns="0" rtlCol="0">
            <a:spAutoFit/>
          </a:bodyPr>
          <a:lstStyle/>
          <a:p>
            <a:pPr marL="194945">
              <a:lnSpc>
                <a:spcPct val="100000"/>
              </a:lnSpc>
              <a:spcBef>
                <a:spcPts val="605"/>
              </a:spcBef>
            </a:pPr>
            <a:r>
              <a:rPr sz="950" b="1" i="1" spc="75" dirty="0">
                <a:latin typeface="Arial"/>
                <a:cs typeface="Arial"/>
              </a:rPr>
              <a:t>range_error</a:t>
            </a:r>
            <a:endParaRPr sz="950">
              <a:latin typeface="Arial"/>
              <a:cs typeface="Arial"/>
            </a:endParaRPr>
          </a:p>
        </p:txBody>
      </p:sp>
      <p:sp>
        <p:nvSpPr>
          <p:cNvPr id="17" name="object 17"/>
          <p:cNvSpPr/>
          <p:nvPr/>
        </p:nvSpPr>
        <p:spPr>
          <a:xfrm>
            <a:off x="7142413" y="5207639"/>
            <a:ext cx="1292225" cy="321310"/>
          </a:xfrm>
          <a:custGeom>
            <a:avLst/>
            <a:gdLst/>
            <a:ahLst/>
            <a:cxnLst/>
            <a:rect l="l" t="t" r="r" b="b"/>
            <a:pathLst>
              <a:path w="1292225" h="321310">
                <a:moveTo>
                  <a:pt x="0" y="320945"/>
                </a:moveTo>
                <a:lnTo>
                  <a:pt x="1291857" y="320945"/>
                </a:lnTo>
                <a:lnTo>
                  <a:pt x="1291857" y="0"/>
                </a:lnTo>
                <a:lnTo>
                  <a:pt x="0" y="0"/>
                </a:lnTo>
                <a:lnTo>
                  <a:pt x="0" y="320945"/>
                </a:lnTo>
                <a:close/>
              </a:path>
            </a:pathLst>
          </a:custGeom>
          <a:ln w="3175">
            <a:solidFill>
              <a:srgbClr val="000000"/>
            </a:solidFill>
          </a:ln>
        </p:spPr>
        <p:txBody>
          <a:bodyPr wrap="square" lIns="0" tIns="0" rIns="0" bIns="0" rtlCol="0"/>
          <a:lstStyle/>
          <a:p>
            <a:endParaRPr/>
          </a:p>
        </p:txBody>
      </p:sp>
      <p:sp>
        <p:nvSpPr>
          <p:cNvPr id="18" name="object 18"/>
          <p:cNvSpPr txBox="1"/>
          <p:nvPr/>
        </p:nvSpPr>
        <p:spPr>
          <a:xfrm>
            <a:off x="7120193" y="5267761"/>
            <a:ext cx="1313180" cy="175895"/>
          </a:xfrm>
          <a:prstGeom prst="rect">
            <a:avLst/>
          </a:prstGeom>
        </p:spPr>
        <p:txBody>
          <a:bodyPr vert="horz" wrap="square" lIns="0" tIns="17145" rIns="0" bIns="0" rtlCol="0">
            <a:spAutoFit/>
          </a:bodyPr>
          <a:lstStyle/>
          <a:p>
            <a:pPr marL="164465">
              <a:lnSpc>
                <a:spcPct val="100000"/>
              </a:lnSpc>
              <a:spcBef>
                <a:spcPts val="135"/>
              </a:spcBef>
            </a:pPr>
            <a:r>
              <a:rPr sz="950" b="1" i="1" spc="75" dirty="0">
                <a:latin typeface="Arial"/>
                <a:cs typeface="Arial"/>
              </a:rPr>
              <a:t>overflow_error</a:t>
            </a:r>
            <a:endParaRPr sz="950">
              <a:latin typeface="Arial"/>
              <a:cs typeface="Arial"/>
            </a:endParaRPr>
          </a:p>
        </p:txBody>
      </p:sp>
      <p:sp>
        <p:nvSpPr>
          <p:cNvPr id="19" name="object 19"/>
          <p:cNvSpPr txBox="1"/>
          <p:nvPr/>
        </p:nvSpPr>
        <p:spPr>
          <a:xfrm>
            <a:off x="8155582" y="3122276"/>
            <a:ext cx="923290" cy="321310"/>
          </a:xfrm>
          <a:prstGeom prst="rect">
            <a:avLst/>
          </a:prstGeom>
          <a:ln w="3175">
            <a:solidFill>
              <a:srgbClr val="000000"/>
            </a:solidFill>
          </a:ln>
        </p:spPr>
        <p:txBody>
          <a:bodyPr vert="horz" wrap="square" lIns="0" tIns="76835" rIns="0" bIns="0" rtlCol="0">
            <a:spAutoFit/>
          </a:bodyPr>
          <a:lstStyle/>
          <a:p>
            <a:pPr marL="129539">
              <a:lnSpc>
                <a:spcPct val="100000"/>
              </a:lnSpc>
              <a:spcBef>
                <a:spcPts val="605"/>
              </a:spcBef>
            </a:pPr>
            <a:r>
              <a:rPr sz="950" b="1" i="1" spc="80" dirty="0">
                <a:latin typeface="Arial"/>
                <a:cs typeface="Arial"/>
              </a:rPr>
              <a:t>bad_alloc</a:t>
            </a:r>
            <a:endParaRPr sz="950">
              <a:latin typeface="Arial"/>
              <a:cs typeface="Arial"/>
            </a:endParaRPr>
          </a:p>
        </p:txBody>
      </p:sp>
      <p:sp>
        <p:nvSpPr>
          <p:cNvPr id="20" name="object 20"/>
          <p:cNvSpPr/>
          <p:nvPr/>
        </p:nvSpPr>
        <p:spPr>
          <a:xfrm>
            <a:off x="7095812" y="4245283"/>
            <a:ext cx="1429385" cy="1526540"/>
          </a:xfrm>
          <a:custGeom>
            <a:avLst/>
            <a:gdLst/>
            <a:ahLst/>
            <a:cxnLst/>
            <a:rect l="l" t="t" r="r" b="b"/>
            <a:pathLst>
              <a:path w="1429384" h="1526539">
                <a:moveTo>
                  <a:pt x="875613" y="0"/>
                </a:moveTo>
                <a:lnTo>
                  <a:pt x="875613" y="153910"/>
                </a:lnTo>
                <a:lnTo>
                  <a:pt x="878066" y="153910"/>
                </a:lnTo>
                <a:lnTo>
                  <a:pt x="878066" y="166714"/>
                </a:lnTo>
              </a:path>
              <a:path w="1429384" h="1526539">
                <a:moveTo>
                  <a:pt x="878066" y="320714"/>
                </a:moveTo>
                <a:lnTo>
                  <a:pt x="0" y="320714"/>
                </a:lnTo>
                <a:lnTo>
                  <a:pt x="0" y="481027"/>
                </a:lnTo>
              </a:path>
              <a:path w="1429384" h="1526539">
                <a:moveTo>
                  <a:pt x="878066" y="320714"/>
                </a:moveTo>
                <a:lnTo>
                  <a:pt x="692376" y="320714"/>
                </a:lnTo>
                <a:lnTo>
                  <a:pt x="692376" y="962409"/>
                </a:lnTo>
              </a:path>
              <a:path w="1429384" h="1526539">
                <a:moveTo>
                  <a:pt x="878066" y="320714"/>
                </a:moveTo>
                <a:lnTo>
                  <a:pt x="1429310" y="320714"/>
                </a:lnTo>
                <a:lnTo>
                  <a:pt x="1429310" y="1526011"/>
                </a:lnTo>
              </a:path>
              <a:path w="1429384" h="1526539">
                <a:moveTo>
                  <a:pt x="878066" y="320714"/>
                </a:moveTo>
                <a:lnTo>
                  <a:pt x="875613" y="320714"/>
                </a:lnTo>
              </a:path>
              <a:path w="1429384" h="1526539">
                <a:moveTo>
                  <a:pt x="878066" y="166714"/>
                </a:moveTo>
                <a:lnTo>
                  <a:pt x="789666" y="320714"/>
                </a:lnTo>
                <a:lnTo>
                  <a:pt x="966465" y="320714"/>
                </a:lnTo>
                <a:lnTo>
                  <a:pt x="878066" y="166714"/>
                </a:lnTo>
              </a:path>
            </a:pathLst>
          </a:custGeom>
          <a:ln w="3175">
            <a:solidFill>
              <a:srgbClr val="000000"/>
            </a:solidFill>
          </a:ln>
        </p:spPr>
        <p:txBody>
          <a:bodyPr wrap="square" lIns="0" tIns="0" rIns="0" bIns="0" rtlCol="0"/>
          <a:lstStyle/>
          <a:p>
            <a:endParaRPr/>
          </a:p>
        </p:txBody>
      </p:sp>
      <p:sp>
        <p:nvSpPr>
          <p:cNvPr id="21" name="object 21"/>
          <p:cNvSpPr txBox="1"/>
          <p:nvPr/>
        </p:nvSpPr>
        <p:spPr>
          <a:xfrm>
            <a:off x="7879347" y="5771295"/>
            <a:ext cx="1291590" cy="321310"/>
          </a:xfrm>
          <a:prstGeom prst="rect">
            <a:avLst/>
          </a:prstGeom>
          <a:ln w="3175">
            <a:solidFill>
              <a:srgbClr val="000000"/>
            </a:solidFill>
          </a:ln>
        </p:spPr>
        <p:txBody>
          <a:bodyPr vert="horz" wrap="square" lIns="0" tIns="76835" rIns="0" bIns="0" rtlCol="0">
            <a:spAutoFit/>
          </a:bodyPr>
          <a:lstStyle/>
          <a:p>
            <a:pPr marL="93980">
              <a:lnSpc>
                <a:spcPct val="100000"/>
              </a:lnSpc>
              <a:spcBef>
                <a:spcPts val="605"/>
              </a:spcBef>
            </a:pPr>
            <a:r>
              <a:rPr sz="950" b="1" i="1" spc="75" dirty="0">
                <a:latin typeface="Arial"/>
                <a:cs typeface="Arial"/>
              </a:rPr>
              <a:t>underflow_error</a:t>
            </a:r>
            <a:endParaRPr sz="950">
              <a:latin typeface="Arial"/>
              <a:cs typeface="Arial"/>
            </a:endParaRPr>
          </a:p>
        </p:txBody>
      </p:sp>
      <p:sp>
        <p:nvSpPr>
          <p:cNvPr id="22" name="object 22"/>
          <p:cNvSpPr/>
          <p:nvPr/>
        </p:nvSpPr>
        <p:spPr>
          <a:xfrm>
            <a:off x="4746842" y="3122276"/>
            <a:ext cx="1198245" cy="321310"/>
          </a:xfrm>
          <a:custGeom>
            <a:avLst/>
            <a:gdLst/>
            <a:ahLst/>
            <a:cxnLst/>
            <a:rect l="l" t="t" r="r" b="b"/>
            <a:pathLst>
              <a:path w="1198245" h="321310">
                <a:moveTo>
                  <a:pt x="1198245" y="0"/>
                </a:moveTo>
                <a:lnTo>
                  <a:pt x="0" y="0"/>
                </a:lnTo>
                <a:lnTo>
                  <a:pt x="0" y="320732"/>
                </a:lnTo>
                <a:lnTo>
                  <a:pt x="1198245" y="320732"/>
                </a:lnTo>
                <a:lnTo>
                  <a:pt x="1198245" y="0"/>
                </a:lnTo>
                <a:close/>
              </a:path>
            </a:pathLst>
          </a:custGeom>
          <a:solidFill>
            <a:srgbClr val="FFFFFF"/>
          </a:solidFill>
        </p:spPr>
        <p:txBody>
          <a:bodyPr wrap="square" lIns="0" tIns="0" rIns="0" bIns="0" rtlCol="0"/>
          <a:lstStyle/>
          <a:p>
            <a:endParaRPr/>
          </a:p>
        </p:txBody>
      </p:sp>
      <p:sp>
        <p:nvSpPr>
          <p:cNvPr id="23" name="object 23"/>
          <p:cNvSpPr txBox="1"/>
          <p:nvPr/>
        </p:nvSpPr>
        <p:spPr>
          <a:xfrm>
            <a:off x="4746842" y="3122276"/>
            <a:ext cx="1198245" cy="321310"/>
          </a:xfrm>
          <a:prstGeom prst="rect">
            <a:avLst/>
          </a:prstGeom>
          <a:ln w="3175">
            <a:solidFill>
              <a:srgbClr val="000000"/>
            </a:solidFill>
          </a:ln>
        </p:spPr>
        <p:txBody>
          <a:bodyPr vert="horz" wrap="square" lIns="0" tIns="76835" rIns="0" bIns="0" rtlCol="0">
            <a:spAutoFit/>
          </a:bodyPr>
          <a:lstStyle/>
          <a:p>
            <a:pPr marL="96520">
              <a:lnSpc>
                <a:spcPct val="100000"/>
              </a:lnSpc>
              <a:spcBef>
                <a:spcPts val="605"/>
              </a:spcBef>
            </a:pPr>
            <a:r>
              <a:rPr sz="950" b="1" i="1" spc="85" dirty="0">
                <a:latin typeface="Arial"/>
                <a:cs typeface="Arial"/>
              </a:rPr>
              <a:t>bad_exception</a:t>
            </a:r>
            <a:endParaRPr sz="950">
              <a:latin typeface="Arial"/>
              <a:cs typeface="Arial"/>
            </a:endParaRPr>
          </a:p>
        </p:txBody>
      </p:sp>
      <p:sp>
        <p:nvSpPr>
          <p:cNvPr id="24" name="object 24"/>
          <p:cNvSpPr txBox="1"/>
          <p:nvPr/>
        </p:nvSpPr>
        <p:spPr>
          <a:xfrm>
            <a:off x="6129244" y="3122276"/>
            <a:ext cx="1657985" cy="321310"/>
          </a:xfrm>
          <a:prstGeom prst="rect">
            <a:avLst/>
          </a:prstGeom>
          <a:ln w="3175">
            <a:solidFill>
              <a:srgbClr val="000000"/>
            </a:solidFill>
          </a:ln>
        </p:spPr>
        <p:txBody>
          <a:bodyPr vert="horz" wrap="square" lIns="0" tIns="76835" rIns="0" bIns="0" rtlCol="0">
            <a:spAutoFit/>
          </a:bodyPr>
          <a:lstStyle/>
          <a:p>
            <a:pPr marL="257810">
              <a:lnSpc>
                <a:spcPct val="100000"/>
              </a:lnSpc>
              <a:spcBef>
                <a:spcPts val="605"/>
              </a:spcBef>
            </a:pPr>
            <a:r>
              <a:rPr sz="950" b="1" i="1" spc="70" dirty="0">
                <a:latin typeface="Arial"/>
                <a:cs typeface="Arial"/>
              </a:rPr>
              <a:t>ios_base::failure</a:t>
            </a:r>
            <a:endParaRPr sz="950">
              <a:latin typeface="Arial"/>
              <a:cs typeface="Arial"/>
            </a:endParaRPr>
          </a:p>
        </p:txBody>
      </p:sp>
      <p:sp>
        <p:nvSpPr>
          <p:cNvPr id="25" name="object 25"/>
          <p:cNvSpPr/>
          <p:nvPr/>
        </p:nvSpPr>
        <p:spPr>
          <a:xfrm>
            <a:off x="5346015" y="2799179"/>
            <a:ext cx="0" cy="323215"/>
          </a:xfrm>
          <a:custGeom>
            <a:avLst/>
            <a:gdLst/>
            <a:ahLst/>
            <a:cxnLst/>
            <a:rect l="l" t="t" r="r" b="b"/>
            <a:pathLst>
              <a:path h="323214">
                <a:moveTo>
                  <a:pt x="0" y="0"/>
                </a:moveTo>
                <a:lnTo>
                  <a:pt x="0" y="323115"/>
                </a:lnTo>
              </a:path>
            </a:pathLst>
          </a:custGeom>
          <a:ln w="3175">
            <a:solidFill>
              <a:srgbClr val="000000"/>
            </a:solidFill>
          </a:ln>
        </p:spPr>
        <p:txBody>
          <a:bodyPr wrap="square" lIns="0" tIns="0" rIns="0" bIns="0" rtlCol="0"/>
          <a:lstStyle/>
          <a:p>
            <a:endParaRPr/>
          </a:p>
        </p:txBody>
      </p:sp>
      <p:sp>
        <p:nvSpPr>
          <p:cNvPr id="28" name="object 28"/>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29" name="object 29"/>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0" name="Date Placeholder 29">
            <a:extLst>
              <a:ext uri="{FF2B5EF4-FFF2-40B4-BE49-F238E27FC236}">
                <a16:creationId xmlns:a16="http://schemas.microsoft.com/office/drawing/2014/main" id="{30D2ACE8-D261-7AED-4901-4B0DBFC5D21E}"/>
              </a:ext>
            </a:extLst>
          </p:cNvPr>
          <p:cNvSpPr>
            <a:spLocks noGrp="1"/>
          </p:cNvSpPr>
          <p:nvPr>
            <p:ph type="dt" sz="half" idx="10"/>
          </p:nvPr>
        </p:nvSpPr>
        <p:spPr/>
        <p:txBody>
          <a:bodyPr/>
          <a:lstStyle/>
          <a:p>
            <a:fld id="{576EF691-4904-4E9B-9804-572802CE6BD5}" type="datetime1">
              <a:rPr lang="en-US" smtClean="0"/>
              <a:t>11/17/2025</a:t>
            </a:fld>
            <a:endParaRPr lang="en-US"/>
          </a:p>
        </p:txBody>
      </p:sp>
      <p:sp>
        <p:nvSpPr>
          <p:cNvPr id="31" name="Slide Number Placeholder 30">
            <a:extLst>
              <a:ext uri="{FF2B5EF4-FFF2-40B4-BE49-F238E27FC236}">
                <a16:creationId xmlns:a16="http://schemas.microsoft.com/office/drawing/2014/main" id="{51852D89-D9F9-828C-9B2C-05CC7CFECAAC}"/>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spc="-10" dirty="0">
                <a:latin typeface="Agency FB" panose="020B0503020202020204" pitchFamily="34" charset="0"/>
              </a:rPr>
              <a:t>Exceptions</a:t>
            </a:r>
          </a:p>
        </p:txBody>
      </p:sp>
      <p:sp>
        <p:nvSpPr>
          <p:cNvPr id="12" name="object 12"/>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14" name="object 14"/>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5" name="object 15"/>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1675892" y="2513457"/>
            <a:ext cx="2201545" cy="139763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invalid_argument</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domain_error</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length_error</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out_of_range</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future_error(C++11)</a:t>
            </a:r>
            <a:endParaRPr sz="1800">
              <a:latin typeface="Times New Roman"/>
              <a:cs typeface="Times New Roman"/>
            </a:endParaRPr>
          </a:p>
        </p:txBody>
      </p:sp>
      <p:sp>
        <p:nvSpPr>
          <p:cNvPr id="4" name="object 4"/>
          <p:cNvSpPr txBox="1"/>
          <p:nvPr/>
        </p:nvSpPr>
        <p:spPr>
          <a:xfrm>
            <a:off x="1218691" y="3885438"/>
            <a:ext cx="2999740" cy="574040"/>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bad_optional_access(C++17)</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runtime_error</a:t>
            </a:r>
            <a:endParaRPr sz="1800">
              <a:latin typeface="Times New Roman"/>
              <a:cs typeface="Times New Roman"/>
            </a:endParaRPr>
          </a:p>
        </p:txBody>
      </p:sp>
      <p:sp>
        <p:nvSpPr>
          <p:cNvPr id="5" name="object 5"/>
          <p:cNvSpPr txBox="1"/>
          <p:nvPr/>
        </p:nvSpPr>
        <p:spPr>
          <a:xfrm>
            <a:off x="1675892" y="4433773"/>
            <a:ext cx="3673475" cy="167195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range_error</a:t>
            </a:r>
            <a:endParaRPr sz="1800">
              <a:latin typeface="Times New Roman"/>
              <a:cs typeface="Times New Roman"/>
            </a:endParaRPr>
          </a:p>
          <a:p>
            <a:pPr marL="299085" indent="-286385">
              <a:lnSpc>
                <a:spcPct val="100000"/>
              </a:lnSpc>
              <a:spcBef>
                <a:spcPts val="5"/>
              </a:spcBef>
              <a:buFont typeface="Arial MT"/>
              <a:buChar char="•"/>
              <a:tabLst>
                <a:tab pos="299085" algn="l"/>
              </a:tabLst>
            </a:pPr>
            <a:r>
              <a:rPr sz="1800" spc="-10" dirty="0">
                <a:latin typeface="Times New Roman"/>
                <a:cs typeface="Times New Roman"/>
              </a:rPr>
              <a:t>overflow_error</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underflow_error</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regex_error(C++11)</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system_error(C++11)</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filesystem::filesystem_error(C++17)</a:t>
            </a:r>
            <a:endParaRPr sz="1800">
              <a:latin typeface="Times New Roman"/>
              <a:cs typeface="Times New Roman"/>
            </a:endParaRPr>
          </a:p>
        </p:txBody>
      </p:sp>
      <p:sp>
        <p:nvSpPr>
          <p:cNvPr id="6" name="object 6"/>
          <p:cNvSpPr txBox="1"/>
          <p:nvPr/>
        </p:nvSpPr>
        <p:spPr>
          <a:xfrm>
            <a:off x="916939" y="1684096"/>
            <a:ext cx="7995284" cy="855344"/>
          </a:xfrm>
          <a:prstGeom prst="rect">
            <a:avLst/>
          </a:prstGeom>
        </p:spPr>
        <p:txBody>
          <a:bodyPr vert="horz" wrap="square" lIns="0" tIns="13335" rIns="0" bIns="0" rtlCol="0">
            <a:spAutoFit/>
          </a:bodyPr>
          <a:lstStyle/>
          <a:p>
            <a:pPr marL="240665" indent="-227965">
              <a:lnSpc>
                <a:spcPct val="100000"/>
              </a:lnSpc>
              <a:spcBef>
                <a:spcPts val="105"/>
              </a:spcBef>
              <a:buChar char="-"/>
              <a:tabLst>
                <a:tab pos="240665" algn="l"/>
              </a:tabLst>
            </a:pPr>
            <a:r>
              <a:rPr sz="2000" dirty="0">
                <a:latin typeface="Times New Roman"/>
                <a:cs typeface="Times New Roman"/>
              </a:rPr>
              <a:t>All</a:t>
            </a:r>
            <a:r>
              <a:rPr sz="2000" spc="-20" dirty="0">
                <a:latin typeface="Times New Roman"/>
                <a:cs typeface="Times New Roman"/>
              </a:rPr>
              <a:t> </a:t>
            </a:r>
            <a:r>
              <a:rPr sz="2000" dirty="0">
                <a:latin typeface="Times New Roman"/>
                <a:cs typeface="Times New Roman"/>
              </a:rPr>
              <a:t>exceptions</a:t>
            </a:r>
            <a:r>
              <a:rPr sz="2000" spc="-45" dirty="0">
                <a:latin typeface="Times New Roman"/>
                <a:cs typeface="Times New Roman"/>
              </a:rPr>
              <a:t> </a:t>
            </a:r>
            <a:r>
              <a:rPr sz="2000" dirty="0">
                <a:latin typeface="Times New Roman"/>
                <a:cs typeface="Times New Roman"/>
              </a:rPr>
              <a:t>generated</a:t>
            </a:r>
            <a:r>
              <a:rPr sz="2000" spc="-35" dirty="0">
                <a:latin typeface="Times New Roman"/>
                <a:cs typeface="Times New Roman"/>
              </a:rPr>
              <a:t> </a:t>
            </a:r>
            <a:r>
              <a:rPr sz="2000" dirty="0">
                <a:latin typeface="Times New Roman"/>
                <a:cs typeface="Times New Roman"/>
              </a:rPr>
              <a:t>by</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standard</a:t>
            </a:r>
            <a:r>
              <a:rPr sz="2000" spc="-40" dirty="0">
                <a:latin typeface="Times New Roman"/>
                <a:cs typeface="Times New Roman"/>
              </a:rPr>
              <a:t> </a:t>
            </a:r>
            <a:r>
              <a:rPr sz="2000" dirty="0">
                <a:latin typeface="Times New Roman"/>
                <a:cs typeface="Times New Roman"/>
              </a:rPr>
              <a:t>library</a:t>
            </a:r>
            <a:r>
              <a:rPr sz="2000" spc="-30" dirty="0">
                <a:latin typeface="Times New Roman"/>
                <a:cs typeface="Times New Roman"/>
              </a:rPr>
              <a:t> </a:t>
            </a:r>
            <a:r>
              <a:rPr sz="2000" dirty="0">
                <a:latin typeface="Times New Roman"/>
                <a:cs typeface="Times New Roman"/>
              </a:rPr>
              <a:t>inherit</a:t>
            </a:r>
            <a:r>
              <a:rPr sz="2000" spc="-45" dirty="0">
                <a:latin typeface="Times New Roman"/>
                <a:cs typeface="Times New Roman"/>
              </a:rPr>
              <a:t> </a:t>
            </a:r>
            <a:r>
              <a:rPr sz="2000" dirty="0">
                <a:latin typeface="Times New Roman"/>
                <a:cs typeface="Times New Roman"/>
              </a:rPr>
              <a:t>from</a:t>
            </a:r>
            <a:r>
              <a:rPr sz="2000" spc="-15" dirty="0">
                <a:latin typeface="Times New Roman"/>
                <a:cs typeface="Times New Roman"/>
              </a:rPr>
              <a:t> </a:t>
            </a:r>
            <a:r>
              <a:rPr sz="2000" b="1" spc="-10" dirty="0">
                <a:latin typeface="Times New Roman"/>
                <a:cs typeface="Times New Roman"/>
              </a:rPr>
              <a:t>std::exception</a:t>
            </a:r>
            <a:endParaRPr sz="2000">
              <a:latin typeface="Times New Roman"/>
              <a:cs typeface="Times New Roman"/>
            </a:endParaRPr>
          </a:p>
          <a:p>
            <a:pPr marL="600710" lvl="1" indent="-286385">
              <a:lnSpc>
                <a:spcPct val="100000"/>
              </a:lnSpc>
              <a:spcBef>
                <a:spcPts val="1964"/>
              </a:spcBef>
              <a:buFont typeface="Arial MT"/>
              <a:buChar char="•"/>
              <a:tabLst>
                <a:tab pos="600710" algn="l"/>
                <a:tab pos="5743575" algn="l"/>
                <a:tab pos="6030595" algn="l"/>
              </a:tabLst>
            </a:pPr>
            <a:r>
              <a:rPr sz="1800" spc="-10" dirty="0">
                <a:latin typeface="Times New Roman"/>
                <a:cs typeface="Times New Roman"/>
              </a:rPr>
              <a:t>logic_error</a:t>
            </a:r>
            <a:r>
              <a:rPr sz="1800" dirty="0">
                <a:latin typeface="Times New Roman"/>
                <a:cs typeface="Times New Roman"/>
              </a:rPr>
              <a:t>	</a:t>
            </a:r>
            <a:r>
              <a:rPr sz="2700" spc="-75" baseline="3086" dirty="0">
                <a:latin typeface="Arial MT"/>
                <a:cs typeface="Arial MT"/>
              </a:rPr>
              <a:t>•</a:t>
            </a:r>
            <a:r>
              <a:rPr sz="2700" baseline="3086" dirty="0">
                <a:latin typeface="Arial MT"/>
                <a:cs typeface="Arial MT"/>
              </a:rPr>
              <a:t>	</a:t>
            </a:r>
            <a:r>
              <a:rPr sz="2700" spc="-15" baseline="3086" dirty="0">
                <a:latin typeface="Times New Roman"/>
                <a:cs typeface="Times New Roman"/>
              </a:rPr>
              <a:t>runtime_error</a:t>
            </a:r>
            <a:endParaRPr sz="2700" baseline="3086">
              <a:latin typeface="Times New Roman"/>
              <a:cs typeface="Times New Roman"/>
            </a:endParaRPr>
          </a:p>
        </p:txBody>
      </p:sp>
      <p:sp>
        <p:nvSpPr>
          <p:cNvPr id="7" name="object 7"/>
          <p:cNvSpPr txBox="1"/>
          <p:nvPr/>
        </p:nvSpPr>
        <p:spPr>
          <a:xfrm>
            <a:off x="7105650" y="2502534"/>
            <a:ext cx="3241040" cy="1122680"/>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tx_exception(TM</a:t>
            </a:r>
            <a:r>
              <a:rPr sz="1800" spc="25" dirty="0">
                <a:latin typeface="Times New Roman"/>
                <a:cs typeface="Times New Roman"/>
              </a:rPr>
              <a:t> </a:t>
            </a:r>
            <a:r>
              <a:rPr sz="1800" spc="-25" dirty="0">
                <a:latin typeface="Times New Roman"/>
                <a:cs typeface="Times New Roman"/>
              </a:rPr>
              <a:t>TS)</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nonexistent_local_time(C++20)</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ambiguous_local_time(C++20)</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format_error(C++20)</a:t>
            </a:r>
            <a:endParaRPr sz="1800">
              <a:latin typeface="Times New Roman"/>
              <a:cs typeface="Times New Roman"/>
            </a:endParaRPr>
          </a:p>
        </p:txBody>
      </p:sp>
      <p:sp>
        <p:nvSpPr>
          <p:cNvPr id="8" name="object 8"/>
          <p:cNvSpPr txBox="1"/>
          <p:nvPr/>
        </p:nvSpPr>
        <p:spPr>
          <a:xfrm>
            <a:off x="6648450" y="3599510"/>
            <a:ext cx="1332865" cy="57467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bad_typeid</a:t>
            </a:r>
            <a:endParaRPr sz="1800">
              <a:latin typeface="Times New Roman"/>
              <a:cs typeface="Times New Roman"/>
            </a:endParaRPr>
          </a:p>
          <a:p>
            <a:pPr marL="299085" indent="-286385">
              <a:lnSpc>
                <a:spcPct val="100000"/>
              </a:lnSpc>
              <a:spcBef>
                <a:spcPts val="5"/>
              </a:spcBef>
              <a:buFont typeface="Arial MT"/>
              <a:buChar char="•"/>
              <a:tabLst>
                <a:tab pos="299085" algn="l"/>
              </a:tabLst>
            </a:pPr>
            <a:r>
              <a:rPr sz="1800" spc="-10" dirty="0">
                <a:latin typeface="Times New Roman"/>
                <a:cs typeface="Times New Roman"/>
              </a:rPr>
              <a:t>bad_cast</a:t>
            </a:r>
            <a:endParaRPr sz="1800">
              <a:latin typeface="Times New Roman"/>
              <a:cs typeface="Times New Roman"/>
            </a:endParaRPr>
          </a:p>
        </p:txBody>
      </p:sp>
      <p:sp>
        <p:nvSpPr>
          <p:cNvPr id="9" name="object 9"/>
          <p:cNvSpPr txBox="1"/>
          <p:nvPr/>
        </p:nvSpPr>
        <p:spPr>
          <a:xfrm>
            <a:off x="7105650" y="4148708"/>
            <a:ext cx="2351405" cy="299720"/>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bad_any_cast(C++17)</a:t>
            </a:r>
            <a:endParaRPr sz="1800">
              <a:latin typeface="Times New Roman"/>
              <a:cs typeface="Times New Roman"/>
            </a:endParaRPr>
          </a:p>
        </p:txBody>
      </p:sp>
      <p:sp>
        <p:nvSpPr>
          <p:cNvPr id="10" name="object 10"/>
          <p:cNvSpPr txBox="1"/>
          <p:nvPr/>
        </p:nvSpPr>
        <p:spPr>
          <a:xfrm>
            <a:off x="6648450" y="4423029"/>
            <a:ext cx="2749550" cy="848994"/>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bad_weak_ptr(C++11)</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bad_function_call(C++11)</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bad_alloc</a:t>
            </a:r>
            <a:endParaRPr sz="1800">
              <a:latin typeface="Times New Roman"/>
              <a:cs typeface="Times New Roman"/>
            </a:endParaRPr>
          </a:p>
        </p:txBody>
      </p:sp>
      <p:sp>
        <p:nvSpPr>
          <p:cNvPr id="11" name="object 11"/>
          <p:cNvSpPr txBox="1"/>
          <p:nvPr/>
        </p:nvSpPr>
        <p:spPr>
          <a:xfrm>
            <a:off x="6648450" y="5246370"/>
            <a:ext cx="3651250" cy="574040"/>
          </a:xfrm>
          <a:prstGeom prst="rect">
            <a:avLst/>
          </a:prstGeom>
        </p:spPr>
        <p:txBody>
          <a:bodyPr vert="horz" wrap="square" lIns="0" tIns="12700" rIns="0" bIns="0" rtlCol="0">
            <a:spAutoFit/>
          </a:bodyPr>
          <a:lstStyle/>
          <a:p>
            <a:pPr marL="756285" indent="-286385">
              <a:lnSpc>
                <a:spcPct val="100000"/>
              </a:lnSpc>
              <a:spcBef>
                <a:spcPts val="100"/>
              </a:spcBef>
              <a:buFont typeface="Arial MT"/>
              <a:buChar char="•"/>
              <a:tabLst>
                <a:tab pos="756285" algn="l"/>
              </a:tabLst>
            </a:pPr>
            <a:r>
              <a:rPr sz="1800" spc="-10" dirty="0">
                <a:latin typeface="Times New Roman"/>
                <a:cs typeface="Times New Roman"/>
              </a:rPr>
              <a:t>bad_array_new_length(C++11)</a:t>
            </a:r>
            <a:endParaRPr sz="180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bad_exception</a:t>
            </a:r>
            <a:endParaRPr sz="1800">
              <a:latin typeface="Times New Roman"/>
              <a:cs typeface="Times New Roman"/>
            </a:endParaRPr>
          </a:p>
        </p:txBody>
      </p:sp>
      <p:sp>
        <p:nvSpPr>
          <p:cNvPr id="16" name="Date Placeholder 15">
            <a:extLst>
              <a:ext uri="{FF2B5EF4-FFF2-40B4-BE49-F238E27FC236}">
                <a16:creationId xmlns:a16="http://schemas.microsoft.com/office/drawing/2014/main" id="{E94BFBA7-3F4B-0EDF-24A2-4E1C6B6654B7}"/>
              </a:ext>
            </a:extLst>
          </p:cNvPr>
          <p:cNvSpPr>
            <a:spLocks noGrp="1"/>
          </p:cNvSpPr>
          <p:nvPr>
            <p:ph type="dt" sz="half" idx="10"/>
          </p:nvPr>
        </p:nvSpPr>
        <p:spPr/>
        <p:txBody>
          <a:bodyPr/>
          <a:lstStyle/>
          <a:p>
            <a:fld id="{2607D463-F3B4-4BF0-8AB8-CF29E6DDD839}" type="datetime1">
              <a:rPr lang="en-US" smtClean="0"/>
              <a:t>11/17/2025</a:t>
            </a:fld>
            <a:endParaRPr lang="en-US"/>
          </a:p>
        </p:txBody>
      </p:sp>
      <p:sp>
        <p:nvSpPr>
          <p:cNvPr id="17" name="Slide Number Placeholder 16">
            <a:extLst>
              <a:ext uri="{FF2B5EF4-FFF2-40B4-BE49-F238E27FC236}">
                <a16:creationId xmlns:a16="http://schemas.microsoft.com/office/drawing/2014/main" id="{C2A0B643-BAD9-F8C3-83E7-BCFCABF7B3E8}"/>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3D104-C70F-09D5-7947-20D764630C07}"/>
              </a:ext>
            </a:extLst>
          </p:cNvPr>
          <p:cNvSpPr>
            <a:spLocks noGrp="1"/>
          </p:cNvSpPr>
          <p:nvPr>
            <p:ph type="title"/>
          </p:nvPr>
        </p:nvSpPr>
        <p:spPr/>
        <p:txBody>
          <a:bodyPr/>
          <a:lstStyle/>
          <a:p>
            <a:r>
              <a:rPr lang="en-US" dirty="0">
                <a:latin typeface="Agency FB" panose="020B0503020202020204" pitchFamily="34" charset="0"/>
              </a:rPr>
              <a:t>Exceptions</a:t>
            </a:r>
          </a:p>
        </p:txBody>
      </p:sp>
      <p:pic>
        <p:nvPicPr>
          <p:cNvPr id="7" name="Content Placeholder 6">
            <a:extLst>
              <a:ext uri="{FF2B5EF4-FFF2-40B4-BE49-F238E27FC236}">
                <a16:creationId xmlns:a16="http://schemas.microsoft.com/office/drawing/2014/main" id="{C766E81F-EAC4-C700-4259-03E0B65064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9000" y="1273872"/>
            <a:ext cx="8763000" cy="4903091"/>
          </a:xfrm>
        </p:spPr>
      </p:pic>
      <p:sp>
        <p:nvSpPr>
          <p:cNvPr id="4" name="Date Placeholder 3">
            <a:extLst>
              <a:ext uri="{FF2B5EF4-FFF2-40B4-BE49-F238E27FC236}">
                <a16:creationId xmlns:a16="http://schemas.microsoft.com/office/drawing/2014/main" id="{511AF597-2F4D-49BB-4FE2-1461352927DA}"/>
              </a:ext>
            </a:extLst>
          </p:cNvPr>
          <p:cNvSpPr>
            <a:spLocks noGrp="1"/>
          </p:cNvSpPr>
          <p:nvPr>
            <p:ph type="dt" sz="half" idx="10"/>
          </p:nvPr>
        </p:nvSpPr>
        <p:spPr/>
        <p:txBody>
          <a:bodyPr/>
          <a:lstStyle/>
          <a:p>
            <a:fld id="{8FCDB884-38FA-4085-9599-79271AA53182}" type="datetime1">
              <a:rPr lang="en-US" smtClean="0"/>
              <a:t>11/17/2025</a:t>
            </a:fld>
            <a:endParaRPr lang="en-US"/>
          </a:p>
        </p:txBody>
      </p:sp>
      <p:sp>
        <p:nvSpPr>
          <p:cNvPr id="5" name="Footer Placeholder 4">
            <a:extLst>
              <a:ext uri="{FF2B5EF4-FFF2-40B4-BE49-F238E27FC236}">
                <a16:creationId xmlns:a16="http://schemas.microsoft.com/office/drawing/2014/main" id="{F142EC0A-6ABC-7231-ACFA-1B7CCE0B2352}"/>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a:extLst>
              <a:ext uri="{FF2B5EF4-FFF2-40B4-BE49-F238E27FC236}">
                <a16:creationId xmlns:a16="http://schemas.microsoft.com/office/drawing/2014/main" id="{D2E2CBCB-5E97-5735-3DDA-C50C0C339514}"/>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18</a:t>
            </a:fld>
            <a:endParaRPr spc="-25" dirty="0"/>
          </a:p>
        </p:txBody>
      </p:sp>
    </p:spTree>
    <p:extLst>
      <p:ext uri="{BB962C8B-B14F-4D97-AF65-F5344CB8AC3E}">
        <p14:creationId xmlns:p14="http://schemas.microsoft.com/office/powerpoint/2010/main" val="3087333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dirty="0">
                <a:latin typeface="Forte" panose="03060902040502070203" pitchFamily="66" charset="0"/>
              </a:rPr>
              <a:t>Defining</a:t>
            </a:r>
            <a:r>
              <a:rPr spc="-75" dirty="0">
                <a:latin typeface="Forte" panose="03060902040502070203" pitchFamily="66" charset="0"/>
              </a:rPr>
              <a:t> </a:t>
            </a:r>
            <a:r>
              <a:rPr dirty="0">
                <a:latin typeface="Forte" panose="03060902040502070203" pitchFamily="66" charset="0"/>
              </a:rPr>
              <a:t>an</a:t>
            </a:r>
            <a:r>
              <a:rPr spc="-70" dirty="0">
                <a:latin typeface="Forte" panose="03060902040502070203" pitchFamily="66" charset="0"/>
              </a:rPr>
              <a:t> </a:t>
            </a:r>
            <a:r>
              <a:rPr dirty="0">
                <a:latin typeface="Forte" panose="03060902040502070203" pitchFamily="66" charset="0"/>
              </a:rPr>
              <a:t>Exception</a:t>
            </a:r>
            <a:r>
              <a:rPr spc="-90" dirty="0">
                <a:latin typeface="Forte" panose="03060902040502070203" pitchFamily="66" charset="0"/>
              </a:rPr>
              <a:t> </a:t>
            </a:r>
            <a:r>
              <a:rPr spc="-10" dirty="0">
                <a:latin typeface="Forte" panose="03060902040502070203" pitchFamily="66" charset="0"/>
              </a:rPr>
              <a:t>Class</a:t>
            </a:r>
          </a:p>
        </p:txBody>
      </p:sp>
      <p:sp>
        <p:nvSpPr>
          <p:cNvPr id="3" name="object 3"/>
          <p:cNvSpPr txBox="1">
            <a:spLocks noGrp="1"/>
          </p:cNvSpPr>
          <p:nvPr>
            <p:ph idx="1"/>
          </p:nvPr>
        </p:nvSpPr>
        <p:spPr>
          <a:xfrm>
            <a:off x="838200" y="1825625"/>
            <a:ext cx="10515600" cy="4624343"/>
          </a:xfrm>
          <a:prstGeom prst="rect">
            <a:avLst/>
          </a:prstGeom>
        </p:spPr>
        <p:txBody>
          <a:bodyPr vert="horz" wrap="square" lIns="0" tIns="160020" rIns="0" bIns="0" rtlCol="0">
            <a:spAutoFit/>
          </a:bodyPr>
          <a:lstStyle/>
          <a:p>
            <a:pPr marL="356870" marR="5080" indent="-343535" algn="just">
              <a:lnSpc>
                <a:spcPct val="100000"/>
              </a:lnSpc>
              <a:spcBef>
                <a:spcPts val="105"/>
              </a:spcBef>
              <a:buFont typeface="Arial MT"/>
              <a:buChar char="•"/>
              <a:tabLst>
                <a:tab pos="357505" algn="l"/>
              </a:tabLst>
            </a:pPr>
            <a:r>
              <a:rPr dirty="0"/>
              <a:t>Because</a:t>
            </a:r>
            <a:r>
              <a:rPr spc="140" dirty="0"/>
              <a:t> </a:t>
            </a:r>
            <a:r>
              <a:rPr dirty="0"/>
              <a:t>a</a:t>
            </a:r>
            <a:r>
              <a:rPr spc="130" dirty="0"/>
              <a:t> </a:t>
            </a:r>
            <a:r>
              <a:rPr spc="-10" dirty="0"/>
              <a:t>throw-</a:t>
            </a:r>
            <a:r>
              <a:rPr dirty="0"/>
              <a:t>statement</a:t>
            </a:r>
            <a:r>
              <a:rPr spc="145" dirty="0"/>
              <a:t> </a:t>
            </a:r>
            <a:r>
              <a:rPr dirty="0"/>
              <a:t>can</a:t>
            </a:r>
            <a:r>
              <a:rPr spc="150" dirty="0"/>
              <a:t> </a:t>
            </a:r>
            <a:r>
              <a:rPr dirty="0"/>
              <a:t>throw</a:t>
            </a:r>
            <a:r>
              <a:rPr spc="140" dirty="0"/>
              <a:t> </a:t>
            </a:r>
            <a:r>
              <a:rPr dirty="0"/>
              <a:t>a</a:t>
            </a:r>
            <a:r>
              <a:rPr spc="130" dirty="0"/>
              <a:t> </a:t>
            </a:r>
            <a:r>
              <a:rPr dirty="0"/>
              <a:t>value</a:t>
            </a:r>
            <a:r>
              <a:rPr spc="140" dirty="0"/>
              <a:t> </a:t>
            </a:r>
            <a:r>
              <a:rPr dirty="0"/>
              <a:t>of</a:t>
            </a:r>
            <a:r>
              <a:rPr spc="150" dirty="0"/>
              <a:t> </a:t>
            </a:r>
            <a:r>
              <a:rPr dirty="0"/>
              <a:t>any</a:t>
            </a:r>
            <a:r>
              <a:rPr spc="145" dirty="0"/>
              <a:t> </a:t>
            </a:r>
            <a:r>
              <a:rPr dirty="0"/>
              <a:t>type,</a:t>
            </a:r>
            <a:r>
              <a:rPr spc="125" dirty="0"/>
              <a:t> </a:t>
            </a:r>
            <a:r>
              <a:rPr dirty="0"/>
              <a:t>it</a:t>
            </a:r>
            <a:r>
              <a:rPr spc="140" dirty="0"/>
              <a:t> </a:t>
            </a:r>
            <a:r>
              <a:rPr dirty="0"/>
              <a:t>is</a:t>
            </a:r>
            <a:r>
              <a:rPr spc="145" dirty="0"/>
              <a:t> </a:t>
            </a:r>
            <a:r>
              <a:rPr dirty="0"/>
              <a:t>common</a:t>
            </a:r>
            <a:r>
              <a:rPr spc="160" dirty="0"/>
              <a:t> </a:t>
            </a:r>
            <a:r>
              <a:rPr dirty="0"/>
              <a:t>to</a:t>
            </a:r>
            <a:r>
              <a:rPr spc="135" dirty="0"/>
              <a:t> </a:t>
            </a:r>
            <a:r>
              <a:rPr dirty="0"/>
              <a:t>define</a:t>
            </a:r>
            <a:r>
              <a:rPr spc="135" dirty="0"/>
              <a:t> </a:t>
            </a:r>
            <a:r>
              <a:rPr dirty="0"/>
              <a:t>a</a:t>
            </a:r>
            <a:r>
              <a:rPr spc="140" dirty="0"/>
              <a:t> </a:t>
            </a:r>
            <a:r>
              <a:rPr dirty="0"/>
              <a:t>class</a:t>
            </a:r>
            <a:r>
              <a:rPr spc="145" dirty="0"/>
              <a:t> </a:t>
            </a:r>
            <a:r>
              <a:rPr spc="-10" dirty="0"/>
              <a:t>whose </a:t>
            </a:r>
            <a:r>
              <a:rPr dirty="0"/>
              <a:t>objects</a:t>
            </a:r>
            <a:r>
              <a:rPr spc="-40" dirty="0"/>
              <a:t> </a:t>
            </a:r>
            <a:r>
              <a:rPr dirty="0"/>
              <a:t>can</a:t>
            </a:r>
            <a:r>
              <a:rPr spc="-5" dirty="0"/>
              <a:t> </a:t>
            </a:r>
            <a:r>
              <a:rPr dirty="0"/>
              <a:t>carry</a:t>
            </a:r>
            <a:r>
              <a:rPr spc="-10" dirty="0"/>
              <a:t> </a:t>
            </a:r>
            <a:r>
              <a:rPr dirty="0"/>
              <a:t>the</a:t>
            </a:r>
            <a:r>
              <a:rPr spc="-5" dirty="0"/>
              <a:t> </a:t>
            </a:r>
            <a:r>
              <a:rPr dirty="0"/>
              <a:t>kind</a:t>
            </a:r>
            <a:r>
              <a:rPr spc="-20" dirty="0"/>
              <a:t> </a:t>
            </a:r>
            <a:r>
              <a:rPr dirty="0"/>
              <a:t>of</a:t>
            </a:r>
            <a:r>
              <a:rPr spc="-20" dirty="0"/>
              <a:t> </a:t>
            </a:r>
            <a:r>
              <a:rPr dirty="0"/>
              <a:t>information</a:t>
            </a:r>
            <a:r>
              <a:rPr spc="-40" dirty="0"/>
              <a:t> </a:t>
            </a:r>
            <a:r>
              <a:rPr dirty="0"/>
              <a:t>you want</a:t>
            </a:r>
            <a:r>
              <a:rPr spc="-10" dirty="0"/>
              <a:t> </a:t>
            </a:r>
            <a:r>
              <a:rPr dirty="0"/>
              <a:t>thrown</a:t>
            </a:r>
            <a:r>
              <a:rPr spc="-35" dirty="0"/>
              <a:t> </a:t>
            </a:r>
            <a:r>
              <a:rPr dirty="0"/>
              <a:t>to the</a:t>
            </a:r>
            <a:r>
              <a:rPr spc="-10" dirty="0"/>
              <a:t> catch-block.</a:t>
            </a:r>
          </a:p>
          <a:p>
            <a:pPr marL="1270" algn="just">
              <a:lnSpc>
                <a:spcPct val="100000"/>
              </a:lnSpc>
              <a:spcBef>
                <a:spcPts val="100"/>
              </a:spcBef>
              <a:buFont typeface="Arial MT"/>
              <a:buChar char="•"/>
            </a:pPr>
            <a:endParaRPr spc="-10" dirty="0"/>
          </a:p>
          <a:p>
            <a:pPr marL="356870" marR="8255" indent="-343535" algn="just">
              <a:lnSpc>
                <a:spcPct val="100000"/>
              </a:lnSpc>
              <a:buFont typeface="Arial MT"/>
              <a:buChar char="•"/>
              <a:tabLst>
                <a:tab pos="357505" algn="l"/>
              </a:tabLst>
            </a:pPr>
            <a:r>
              <a:rPr dirty="0"/>
              <a:t>A</a:t>
            </a:r>
            <a:r>
              <a:rPr spc="35" dirty="0"/>
              <a:t> </a:t>
            </a:r>
            <a:r>
              <a:rPr dirty="0"/>
              <a:t>more</a:t>
            </a:r>
            <a:r>
              <a:rPr spc="140" dirty="0"/>
              <a:t> </a:t>
            </a:r>
            <a:r>
              <a:rPr dirty="0"/>
              <a:t>important</a:t>
            </a:r>
            <a:r>
              <a:rPr spc="125" dirty="0"/>
              <a:t> </a:t>
            </a:r>
            <a:r>
              <a:rPr dirty="0"/>
              <a:t>reason</a:t>
            </a:r>
            <a:r>
              <a:rPr spc="125" dirty="0"/>
              <a:t> </a:t>
            </a:r>
            <a:r>
              <a:rPr dirty="0"/>
              <a:t>for</a:t>
            </a:r>
            <a:r>
              <a:rPr spc="130" dirty="0"/>
              <a:t> </a:t>
            </a:r>
            <a:r>
              <a:rPr dirty="0"/>
              <a:t>a</a:t>
            </a:r>
            <a:r>
              <a:rPr spc="135" dirty="0"/>
              <a:t> </a:t>
            </a:r>
            <a:r>
              <a:rPr dirty="0"/>
              <a:t>specialized</a:t>
            </a:r>
            <a:r>
              <a:rPr spc="150" dirty="0"/>
              <a:t> </a:t>
            </a:r>
            <a:r>
              <a:rPr dirty="0"/>
              <a:t>exception</a:t>
            </a:r>
            <a:r>
              <a:rPr spc="150" dirty="0"/>
              <a:t> </a:t>
            </a:r>
            <a:r>
              <a:rPr dirty="0"/>
              <a:t>class</a:t>
            </a:r>
            <a:r>
              <a:rPr spc="105" dirty="0"/>
              <a:t> </a:t>
            </a:r>
            <a:r>
              <a:rPr dirty="0"/>
              <a:t>is</a:t>
            </a:r>
            <a:r>
              <a:rPr spc="140" dirty="0"/>
              <a:t> </a:t>
            </a:r>
            <a:r>
              <a:rPr dirty="0"/>
              <a:t>so</a:t>
            </a:r>
            <a:r>
              <a:rPr spc="145" dirty="0"/>
              <a:t> </a:t>
            </a:r>
            <a:r>
              <a:rPr dirty="0"/>
              <a:t>you</a:t>
            </a:r>
            <a:r>
              <a:rPr spc="145" dirty="0"/>
              <a:t> </a:t>
            </a:r>
            <a:r>
              <a:rPr dirty="0"/>
              <a:t>can</a:t>
            </a:r>
            <a:r>
              <a:rPr spc="135" dirty="0"/>
              <a:t> </a:t>
            </a:r>
            <a:r>
              <a:rPr dirty="0"/>
              <a:t>have</a:t>
            </a:r>
            <a:r>
              <a:rPr spc="120" dirty="0"/>
              <a:t> </a:t>
            </a:r>
            <a:r>
              <a:rPr dirty="0"/>
              <a:t>a</a:t>
            </a:r>
            <a:r>
              <a:rPr spc="135" dirty="0"/>
              <a:t> </a:t>
            </a:r>
            <a:r>
              <a:rPr dirty="0"/>
              <a:t>different</a:t>
            </a:r>
            <a:r>
              <a:rPr spc="130" dirty="0"/>
              <a:t> </a:t>
            </a:r>
            <a:r>
              <a:rPr dirty="0"/>
              <a:t>type</a:t>
            </a:r>
            <a:r>
              <a:rPr spc="145" dirty="0"/>
              <a:t> </a:t>
            </a:r>
            <a:r>
              <a:rPr spc="-25" dirty="0"/>
              <a:t>to </a:t>
            </a:r>
            <a:r>
              <a:rPr dirty="0"/>
              <a:t>identify</a:t>
            </a:r>
            <a:r>
              <a:rPr spc="-40" dirty="0"/>
              <a:t> </a:t>
            </a:r>
            <a:r>
              <a:rPr dirty="0"/>
              <a:t>each</a:t>
            </a:r>
            <a:r>
              <a:rPr spc="-5" dirty="0"/>
              <a:t> </a:t>
            </a:r>
            <a:r>
              <a:rPr dirty="0"/>
              <a:t>possible</a:t>
            </a:r>
            <a:r>
              <a:rPr spc="-30" dirty="0"/>
              <a:t> </a:t>
            </a:r>
            <a:r>
              <a:rPr dirty="0"/>
              <a:t>kind</a:t>
            </a:r>
            <a:r>
              <a:rPr spc="-20" dirty="0"/>
              <a:t> </a:t>
            </a:r>
            <a:r>
              <a:rPr dirty="0"/>
              <a:t>of</a:t>
            </a:r>
            <a:r>
              <a:rPr spc="-20" dirty="0"/>
              <a:t> </a:t>
            </a:r>
            <a:r>
              <a:rPr dirty="0"/>
              <a:t>exceptional</a:t>
            </a:r>
            <a:r>
              <a:rPr spc="-30" dirty="0"/>
              <a:t> </a:t>
            </a:r>
            <a:r>
              <a:rPr spc="-10" dirty="0"/>
              <a:t>situation.</a:t>
            </a:r>
          </a:p>
          <a:p>
            <a:pPr marL="1270" algn="just">
              <a:lnSpc>
                <a:spcPct val="100000"/>
              </a:lnSpc>
              <a:spcBef>
                <a:spcPts val="100"/>
              </a:spcBef>
              <a:buFont typeface="Arial MT"/>
              <a:buChar char="•"/>
            </a:pPr>
            <a:endParaRPr spc="-10" dirty="0"/>
          </a:p>
          <a:p>
            <a:pPr marL="356870" indent="-342900" algn="just">
              <a:lnSpc>
                <a:spcPct val="100000"/>
              </a:lnSpc>
              <a:spcBef>
                <a:spcPts val="5"/>
              </a:spcBef>
              <a:buFont typeface="Arial MT"/>
              <a:buChar char="•"/>
              <a:tabLst>
                <a:tab pos="357505" algn="l"/>
              </a:tabLst>
            </a:pPr>
            <a:r>
              <a:rPr dirty="0"/>
              <a:t>An</a:t>
            </a:r>
            <a:r>
              <a:rPr spc="-10" dirty="0"/>
              <a:t> </a:t>
            </a:r>
            <a:r>
              <a:rPr dirty="0"/>
              <a:t>exception</a:t>
            </a:r>
            <a:r>
              <a:rPr spc="-35" dirty="0"/>
              <a:t> </a:t>
            </a:r>
            <a:r>
              <a:rPr dirty="0"/>
              <a:t>class</a:t>
            </a:r>
            <a:r>
              <a:rPr spc="-10" dirty="0"/>
              <a:t> </a:t>
            </a:r>
            <a:r>
              <a:rPr dirty="0"/>
              <a:t>is</a:t>
            </a:r>
            <a:r>
              <a:rPr spc="-15" dirty="0"/>
              <a:t> </a:t>
            </a:r>
            <a:r>
              <a:rPr dirty="0"/>
              <a:t>just</a:t>
            </a:r>
            <a:r>
              <a:rPr spc="-30" dirty="0"/>
              <a:t> </a:t>
            </a:r>
            <a:r>
              <a:rPr dirty="0"/>
              <a:t>a</a:t>
            </a:r>
            <a:r>
              <a:rPr spc="-5" dirty="0"/>
              <a:t> </a:t>
            </a:r>
            <a:r>
              <a:rPr dirty="0"/>
              <a:t>class</a:t>
            </a:r>
            <a:r>
              <a:rPr spc="-10" dirty="0"/>
              <a:t> </a:t>
            </a:r>
            <a:r>
              <a:rPr dirty="0"/>
              <a:t>that</a:t>
            </a:r>
            <a:r>
              <a:rPr spc="-30" dirty="0"/>
              <a:t> </a:t>
            </a:r>
            <a:r>
              <a:rPr dirty="0"/>
              <a:t>happens</a:t>
            </a:r>
            <a:r>
              <a:rPr spc="-30" dirty="0"/>
              <a:t> </a:t>
            </a:r>
            <a:r>
              <a:rPr dirty="0"/>
              <a:t>to</a:t>
            </a:r>
            <a:r>
              <a:rPr spc="-20" dirty="0"/>
              <a:t> </a:t>
            </a:r>
            <a:r>
              <a:rPr dirty="0"/>
              <a:t>be</a:t>
            </a:r>
            <a:r>
              <a:rPr spc="-15" dirty="0"/>
              <a:t> </a:t>
            </a:r>
            <a:r>
              <a:rPr dirty="0"/>
              <a:t>used</a:t>
            </a:r>
            <a:r>
              <a:rPr spc="-15" dirty="0"/>
              <a:t> </a:t>
            </a:r>
            <a:r>
              <a:rPr dirty="0"/>
              <a:t>as</a:t>
            </a:r>
            <a:r>
              <a:rPr spc="-5" dirty="0"/>
              <a:t> </a:t>
            </a:r>
            <a:r>
              <a:rPr dirty="0"/>
              <a:t>an</a:t>
            </a:r>
            <a:r>
              <a:rPr spc="-15" dirty="0"/>
              <a:t> </a:t>
            </a:r>
            <a:r>
              <a:rPr dirty="0"/>
              <a:t>exception</a:t>
            </a:r>
            <a:r>
              <a:rPr spc="-20" dirty="0"/>
              <a:t> </a:t>
            </a:r>
            <a:r>
              <a:rPr spc="-10" dirty="0"/>
              <a:t>class</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6" name="object 6"/>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7" name="object 7"/>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B4E44E6B-3AF0-5739-37DE-5596DD47C6C9}"/>
              </a:ext>
            </a:extLst>
          </p:cNvPr>
          <p:cNvSpPr>
            <a:spLocks noGrp="1"/>
          </p:cNvSpPr>
          <p:nvPr>
            <p:ph type="dt" sz="half" idx="10"/>
          </p:nvPr>
        </p:nvSpPr>
        <p:spPr/>
        <p:txBody>
          <a:bodyPr/>
          <a:lstStyle/>
          <a:p>
            <a:fld id="{1B723906-9CE6-4D92-B0E5-65FDFC04E282}" type="datetime1">
              <a:rPr lang="en-US" smtClean="0"/>
              <a:t>11/17/2025</a:t>
            </a:fld>
            <a:endParaRPr lang="en-US"/>
          </a:p>
        </p:txBody>
      </p:sp>
      <p:sp>
        <p:nvSpPr>
          <p:cNvPr id="9" name="Slide Number Placeholder 8">
            <a:extLst>
              <a:ext uri="{FF2B5EF4-FFF2-40B4-BE49-F238E27FC236}">
                <a16:creationId xmlns:a16="http://schemas.microsoft.com/office/drawing/2014/main" id="{8E2909D6-A39E-74F8-3D32-ADB2A8F74ECB}"/>
              </a:ext>
            </a:extLst>
          </p:cNvPr>
          <p:cNvSpPr>
            <a:spLocks noGrp="1"/>
          </p:cNvSpPr>
          <p:nvPr>
            <p:ph type="sldNum" sz="quarter" idx="12"/>
          </p:nvPr>
        </p:nvSpPr>
        <p:spPr/>
        <p:txBody>
          <a:bodyPr/>
          <a:lstStyle/>
          <a:p>
            <a:pPr marL="12700">
              <a:lnSpc>
                <a:spcPts val="2720"/>
              </a:lnSpc>
              <a:tabLst>
                <a:tab pos="1499870" algn="l"/>
              </a:tabLst>
            </a:pPr>
            <a:r>
              <a:rPr lang="en-US" dirty="0"/>
              <a:t>Lecture</a:t>
            </a:r>
            <a:r>
              <a:rPr lang="en-US" spc="-25" dirty="0"/>
              <a:t> 3</a:t>
            </a:r>
            <a:r>
              <a:rPr lang="en-US" spc="-50" dirty="0"/>
              <a:t>-</a:t>
            </a:r>
            <a:r>
              <a:rPr lang="en-US" dirty="0"/>
              <a:t>	</a:t>
            </a:r>
            <a:fld id="{81D60167-4931-47E6-BA6A-407CBD079E47}" type="slidenum">
              <a:rPr spc="-25" smtClean="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lang="en-US" dirty="0">
                <a:latin typeface="Forte" panose="03060902040502070203" pitchFamily="66" charset="0"/>
              </a:rPr>
              <a:t>Defining</a:t>
            </a:r>
            <a:r>
              <a:rPr lang="en-US" spc="-75" dirty="0">
                <a:latin typeface="Forte" panose="03060902040502070203" pitchFamily="66" charset="0"/>
              </a:rPr>
              <a:t> </a:t>
            </a:r>
            <a:r>
              <a:rPr lang="en-US" dirty="0">
                <a:latin typeface="Forte" panose="03060902040502070203" pitchFamily="66" charset="0"/>
              </a:rPr>
              <a:t>an</a:t>
            </a:r>
            <a:r>
              <a:rPr lang="en-US" spc="-70" dirty="0">
                <a:latin typeface="Forte" panose="03060902040502070203" pitchFamily="66" charset="0"/>
              </a:rPr>
              <a:t> </a:t>
            </a:r>
            <a:r>
              <a:rPr lang="en-US" dirty="0">
                <a:latin typeface="Forte" panose="03060902040502070203" pitchFamily="66" charset="0"/>
              </a:rPr>
              <a:t>Exception</a:t>
            </a:r>
            <a:r>
              <a:rPr lang="en-US" spc="-90" dirty="0">
                <a:latin typeface="Forte" panose="03060902040502070203" pitchFamily="66" charset="0"/>
              </a:rPr>
              <a:t> </a:t>
            </a:r>
            <a:r>
              <a:rPr lang="en-US" spc="-10" dirty="0">
                <a:latin typeface="Forte" panose="03060902040502070203" pitchFamily="66" charset="0"/>
              </a:rPr>
              <a:t>Class</a:t>
            </a:r>
            <a:endParaRPr spc="-10" dirty="0"/>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795399"/>
            <a:ext cx="3799204" cy="3136265"/>
          </a:xfrm>
          <a:prstGeom prst="rect">
            <a:avLst/>
          </a:prstGeom>
        </p:spPr>
        <p:txBody>
          <a:bodyPr vert="horz" wrap="square" lIns="0" tIns="13335" rIns="0" bIns="0" rtlCol="0">
            <a:spAutoFit/>
          </a:bodyPr>
          <a:lstStyle/>
          <a:p>
            <a:pPr marL="355600" marR="5080" indent="-343535">
              <a:lnSpc>
                <a:spcPct val="100000"/>
              </a:lnSpc>
              <a:spcBef>
                <a:spcPts val="105"/>
              </a:spcBef>
              <a:buFont typeface="Arial MT"/>
              <a:buChar char="•"/>
              <a:tabLst>
                <a:tab pos="355600" algn="l"/>
              </a:tabLst>
            </a:pPr>
            <a:r>
              <a:rPr sz="1800" b="1" dirty="0">
                <a:latin typeface="Calibri"/>
                <a:cs typeface="Calibri"/>
              </a:rPr>
              <a:t>AClass</a:t>
            </a:r>
            <a:r>
              <a:rPr sz="2000" dirty="0">
                <a:latin typeface="Times New Roman"/>
                <a:cs typeface="Times New Roman"/>
              </a:rPr>
              <a:t>,</a:t>
            </a:r>
            <a:r>
              <a:rPr sz="2000" spc="-35" dirty="0">
                <a:latin typeface="Times New Roman"/>
                <a:cs typeface="Times New Roman"/>
              </a:rPr>
              <a:t> </a:t>
            </a:r>
            <a:r>
              <a:rPr sz="2000" dirty="0">
                <a:latin typeface="Times New Roman"/>
                <a:cs typeface="Times New Roman"/>
              </a:rPr>
              <a:t>which</a:t>
            </a:r>
            <a:r>
              <a:rPr sz="2000" spc="-40" dirty="0">
                <a:latin typeface="Times New Roman"/>
                <a:cs typeface="Times New Roman"/>
              </a:rPr>
              <a:t> </a:t>
            </a:r>
            <a:r>
              <a:rPr sz="2000" dirty="0">
                <a:latin typeface="Times New Roman"/>
                <a:cs typeface="Times New Roman"/>
              </a:rPr>
              <a:t>represents</a:t>
            </a:r>
            <a:r>
              <a:rPr sz="2000" spc="-60" dirty="0">
                <a:latin typeface="Times New Roman"/>
                <a:cs typeface="Times New Roman"/>
              </a:rPr>
              <a:t> </a:t>
            </a:r>
            <a:r>
              <a:rPr sz="2000" dirty="0">
                <a:latin typeface="Times New Roman"/>
                <a:cs typeface="Times New Roman"/>
              </a:rPr>
              <a:t>any</a:t>
            </a:r>
            <a:r>
              <a:rPr sz="2000" spc="-20" dirty="0">
                <a:latin typeface="Times New Roman"/>
                <a:cs typeface="Times New Roman"/>
              </a:rPr>
              <a:t> </a:t>
            </a:r>
            <a:r>
              <a:rPr sz="2000" spc="-10" dirty="0">
                <a:latin typeface="Times New Roman"/>
                <a:cs typeface="Times New Roman"/>
              </a:rPr>
              <a:t>class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which</a:t>
            </a:r>
            <a:r>
              <a:rPr sz="2000" spc="-25" dirty="0">
                <a:latin typeface="Times New Roman"/>
                <a:cs typeface="Times New Roman"/>
              </a:rPr>
              <a:t> </a:t>
            </a:r>
            <a:r>
              <a:rPr sz="2000" dirty="0">
                <a:latin typeface="Times New Roman"/>
                <a:cs typeface="Times New Roman"/>
              </a:rPr>
              <a:t>errors</a:t>
            </a:r>
            <a:r>
              <a:rPr sz="2000" spc="-55" dirty="0">
                <a:latin typeface="Times New Roman"/>
                <a:cs typeface="Times New Roman"/>
              </a:rPr>
              <a:t> </a:t>
            </a:r>
            <a:r>
              <a:rPr sz="2000" dirty="0">
                <a:latin typeface="Times New Roman"/>
                <a:cs typeface="Times New Roman"/>
              </a:rPr>
              <a:t>might</a:t>
            </a:r>
            <a:r>
              <a:rPr sz="2000" spc="-20" dirty="0">
                <a:latin typeface="Times New Roman"/>
                <a:cs typeface="Times New Roman"/>
              </a:rPr>
              <a:t> </a:t>
            </a:r>
            <a:r>
              <a:rPr sz="2000" spc="-10" dirty="0">
                <a:latin typeface="Times New Roman"/>
                <a:cs typeface="Times New Roman"/>
              </a:rPr>
              <a:t>occur.</a:t>
            </a:r>
            <a:endParaRPr sz="2000">
              <a:latin typeface="Times New Roman"/>
              <a:cs typeface="Times New Roman"/>
            </a:endParaRPr>
          </a:p>
          <a:p>
            <a:pPr marL="355600" marR="361950" indent="-343535">
              <a:lnSpc>
                <a:spcPct val="100000"/>
              </a:lnSpc>
              <a:buFont typeface="Arial MT"/>
              <a:buChar char="•"/>
              <a:tabLst>
                <a:tab pos="355600" algn="l"/>
              </a:tabLst>
            </a:pPr>
            <a:r>
              <a:rPr sz="2000" dirty="0">
                <a:latin typeface="Times New Roman"/>
                <a:cs typeface="Times New Roman"/>
              </a:rPr>
              <a:t>An</a:t>
            </a:r>
            <a:r>
              <a:rPr sz="2000" spc="-25" dirty="0">
                <a:latin typeface="Times New Roman"/>
                <a:cs typeface="Times New Roman"/>
              </a:rPr>
              <a:t> </a:t>
            </a:r>
            <a:r>
              <a:rPr sz="2000" dirty="0">
                <a:latin typeface="Times New Roman"/>
                <a:cs typeface="Times New Roman"/>
              </a:rPr>
              <a:t>exception</a:t>
            </a:r>
            <a:r>
              <a:rPr sz="2000" spc="-50" dirty="0">
                <a:latin typeface="Times New Roman"/>
                <a:cs typeface="Times New Roman"/>
              </a:rPr>
              <a:t> </a:t>
            </a:r>
            <a:r>
              <a:rPr sz="2000" dirty="0">
                <a:latin typeface="Times New Roman"/>
                <a:cs typeface="Times New Roman"/>
              </a:rPr>
              <a:t>class,</a:t>
            </a:r>
            <a:r>
              <a:rPr sz="2000" spc="-25" dirty="0">
                <a:latin typeface="Times New Roman"/>
                <a:cs typeface="Times New Roman"/>
              </a:rPr>
              <a:t> </a:t>
            </a:r>
            <a:r>
              <a:rPr sz="1800" b="1" dirty="0">
                <a:latin typeface="Calibri"/>
                <a:cs typeface="Calibri"/>
              </a:rPr>
              <a:t>AnError</a:t>
            </a:r>
            <a:r>
              <a:rPr sz="2000" dirty="0">
                <a:latin typeface="Times New Roman"/>
                <a:cs typeface="Times New Roman"/>
              </a:rPr>
              <a:t>,</a:t>
            </a:r>
            <a:r>
              <a:rPr sz="2000" spc="-45" dirty="0">
                <a:latin typeface="Times New Roman"/>
                <a:cs typeface="Times New Roman"/>
              </a:rPr>
              <a:t> </a:t>
            </a:r>
            <a:r>
              <a:rPr sz="2000" spc="-25" dirty="0">
                <a:latin typeface="Times New Roman"/>
                <a:cs typeface="Times New Roman"/>
              </a:rPr>
              <a:t>is </a:t>
            </a:r>
            <a:r>
              <a:rPr sz="2000" dirty="0">
                <a:latin typeface="Times New Roman"/>
                <a:cs typeface="Times New Roman"/>
              </a:rPr>
              <a:t>specified</a:t>
            </a:r>
            <a:r>
              <a:rPr sz="2000" spc="-3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public</a:t>
            </a:r>
            <a:r>
              <a:rPr sz="2000" spc="-25" dirty="0">
                <a:latin typeface="Times New Roman"/>
                <a:cs typeface="Times New Roman"/>
              </a:rPr>
              <a:t> </a:t>
            </a:r>
            <a:r>
              <a:rPr sz="2000" dirty="0">
                <a:latin typeface="Times New Roman"/>
                <a:cs typeface="Times New Roman"/>
              </a:rPr>
              <a:t>part</a:t>
            </a:r>
            <a:r>
              <a:rPr sz="2000" spc="-20" dirty="0">
                <a:latin typeface="Times New Roman"/>
                <a:cs typeface="Times New Roman"/>
              </a:rPr>
              <a:t> </a:t>
            </a:r>
            <a:r>
              <a:rPr sz="2000" spc="-25" dirty="0">
                <a:latin typeface="Times New Roman"/>
                <a:cs typeface="Times New Roman"/>
              </a:rPr>
              <a:t>of </a:t>
            </a:r>
            <a:r>
              <a:rPr sz="1800" b="1" spc="-10" dirty="0">
                <a:latin typeface="Calibri"/>
                <a:cs typeface="Calibri"/>
              </a:rPr>
              <a:t>AClass</a:t>
            </a:r>
            <a:r>
              <a:rPr sz="2000" spc="-10" dirty="0">
                <a:latin typeface="Times New Roman"/>
                <a:cs typeface="Times New Roman"/>
              </a:rPr>
              <a:t>.</a:t>
            </a:r>
            <a:endParaRPr sz="2000">
              <a:latin typeface="Times New Roman"/>
              <a:cs typeface="Times New Roman"/>
            </a:endParaRPr>
          </a:p>
          <a:p>
            <a:pPr marL="355600" indent="-342900">
              <a:lnSpc>
                <a:spcPts val="2865"/>
              </a:lnSpc>
              <a:buFont typeface="Arial MT"/>
              <a:buChar char="•"/>
              <a:tabLst>
                <a:tab pos="355600" algn="l"/>
              </a:tabLst>
            </a:pPr>
            <a:r>
              <a:rPr sz="2000" dirty="0">
                <a:latin typeface="Times New Roman"/>
                <a:cs typeface="Times New Roman"/>
              </a:rPr>
              <a:t>In</a:t>
            </a:r>
            <a:r>
              <a:rPr sz="2000" spc="-25" dirty="0">
                <a:latin typeface="Times New Roman"/>
                <a:cs typeface="Times New Roman"/>
              </a:rPr>
              <a:t> </a:t>
            </a:r>
            <a:r>
              <a:rPr sz="1800" b="1" spc="-25" dirty="0">
                <a:latin typeface="Calibri"/>
                <a:cs typeface="Calibri"/>
              </a:rPr>
              <a:t>AClass</a:t>
            </a:r>
            <a:r>
              <a:rPr sz="2400" b="1" spc="-25" dirty="0">
                <a:latin typeface="Times New Roman"/>
                <a:cs typeface="Times New Roman"/>
              </a:rPr>
              <a:t>’s</a:t>
            </a:r>
            <a:r>
              <a:rPr sz="2400" b="1" spc="-135" dirty="0">
                <a:latin typeface="Times New Roman"/>
                <a:cs typeface="Times New Roman"/>
              </a:rPr>
              <a:t> </a:t>
            </a:r>
            <a:r>
              <a:rPr sz="2000" dirty="0">
                <a:latin typeface="Times New Roman"/>
                <a:cs typeface="Times New Roman"/>
              </a:rPr>
              <a:t>member</a:t>
            </a:r>
            <a:r>
              <a:rPr sz="2000" spc="10" dirty="0">
                <a:latin typeface="Times New Roman"/>
                <a:cs typeface="Times New Roman"/>
              </a:rPr>
              <a:t> </a:t>
            </a:r>
            <a:r>
              <a:rPr sz="2000" dirty="0">
                <a:latin typeface="Times New Roman"/>
                <a:cs typeface="Times New Roman"/>
              </a:rPr>
              <a:t>functions</a:t>
            </a:r>
            <a:r>
              <a:rPr sz="2000" spc="-50" dirty="0">
                <a:latin typeface="Times New Roman"/>
                <a:cs typeface="Times New Roman"/>
              </a:rPr>
              <a:t> </a:t>
            </a:r>
            <a:r>
              <a:rPr sz="2000" spc="-25" dirty="0">
                <a:latin typeface="Times New Roman"/>
                <a:cs typeface="Times New Roman"/>
              </a:rPr>
              <a:t>we</a:t>
            </a:r>
            <a:endParaRPr sz="2000">
              <a:latin typeface="Times New Roman"/>
              <a:cs typeface="Times New Roman"/>
            </a:endParaRPr>
          </a:p>
          <a:p>
            <a:pPr marL="355600" marR="80010">
              <a:lnSpc>
                <a:spcPct val="100000"/>
              </a:lnSpc>
              <a:spcBef>
                <a:spcPts val="20"/>
              </a:spcBef>
            </a:pPr>
            <a:r>
              <a:rPr sz="2000" dirty="0">
                <a:latin typeface="Times New Roman"/>
                <a:cs typeface="Times New Roman"/>
              </a:rPr>
              <a:t>check</a:t>
            </a:r>
            <a:r>
              <a:rPr sz="2000" spc="-25" dirty="0">
                <a:latin typeface="Times New Roman"/>
                <a:cs typeface="Times New Roman"/>
              </a:rPr>
              <a:t> </a:t>
            </a:r>
            <a:r>
              <a:rPr sz="2000" dirty="0">
                <a:latin typeface="Times New Roman"/>
                <a:cs typeface="Times New Roman"/>
              </a:rPr>
              <a:t>for</a:t>
            </a:r>
            <a:r>
              <a:rPr sz="2000" spc="-20" dirty="0">
                <a:latin typeface="Times New Roman"/>
                <a:cs typeface="Times New Roman"/>
              </a:rPr>
              <a:t> </a:t>
            </a:r>
            <a:r>
              <a:rPr sz="2000" dirty="0">
                <a:latin typeface="Times New Roman"/>
                <a:cs typeface="Times New Roman"/>
              </a:rPr>
              <a:t>errors.</a:t>
            </a:r>
            <a:r>
              <a:rPr sz="2000" spc="-50" dirty="0">
                <a:latin typeface="Times New Roman"/>
                <a:cs typeface="Times New Roman"/>
              </a:rPr>
              <a:t> </a:t>
            </a:r>
            <a:r>
              <a:rPr sz="2000" dirty="0">
                <a:latin typeface="Times New Roman"/>
                <a:cs typeface="Times New Roman"/>
              </a:rPr>
              <a:t>If</a:t>
            </a:r>
            <a:r>
              <a:rPr sz="2000" spc="-5" dirty="0">
                <a:latin typeface="Times New Roman"/>
                <a:cs typeface="Times New Roman"/>
              </a:rPr>
              <a:t> </a:t>
            </a:r>
            <a:r>
              <a:rPr sz="2000" dirty="0">
                <a:latin typeface="Times New Roman"/>
                <a:cs typeface="Times New Roman"/>
              </a:rPr>
              <a:t>we</a:t>
            </a:r>
            <a:r>
              <a:rPr sz="2000" spc="-5" dirty="0">
                <a:latin typeface="Times New Roman"/>
                <a:cs typeface="Times New Roman"/>
              </a:rPr>
              <a:t> </a:t>
            </a:r>
            <a:r>
              <a:rPr sz="2000" dirty="0">
                <a:latin typeface="Times New Roman"/>
                <a:cs typeface="Times New Roman"/>
              </a:rPr>
              <a:t>find</a:t>
            </a:r>
            <a:r>
              <a:rPr sz="2000" spc="-30" dirty="0">
                <a:latin typeface="Times New Roman"/>
                <a:cs typeface="Times New Roman"/>
              </a:rPr>
              <a:t> </a:t>
            </a:r>
            <a:r>
              <a:rPr sz="2000" spc="-20" dirty="0">
                <a:latin typeface="Times New Roman"/>
                <a:cs typeface="Times New Roman"/>
              </a:rPr>
              <a:t>one, </a:t>
            </a:r>
            <a:r>
              <a:rPr sz="2000" dirty="0">
                <a:latin typeface="Times New Roman"/>
                <a:cs typeface="Times New Roman"/>
              </a:rPr>
              <a:t>we</a:t>
            </a:r>
            <a:r>
              <a:rPr sz="2000" spc="-15" dirty="0">
                <a:latin typeface="Times New Roman"/>
                <a:cs typeface="Times New Roman"/>
              </a:rPr>
              <a:t> </a:t>
            </a:r>
            <a:r>
              <a:rPr sz="2000" dirty="0">
                <a:latin typeface="Times New Roman"/>
                <a:cs typeface="Times New Roman"/>
              </a:rPr>
              <a:t>throw</a:t>
            </a:r>
            <a:r>
              <a:rPr sz="2000" spc="-20" dirty="0">
                <a:latin typeface="Times New Roman"/>
                <a:cs typeface="Times New Roman"/>
              </a:rPr>
              <a:t> </a:t>
            </a:r>
            <a:r>
              <a:rPr sz="2000" dirty="0">
                <a:latin typeface="Times New Roman"/>
                <a:cs typeface="Times New Roman"/>
              </a:rPr>
              <a:t>an</a:t>
            </a:r>
            <a:r>
              <a:rPr sz="2000" spc="-10" dirty="0">
                <a:latin typeface="Times New Roman"/>
                <a:cs typeface="Times New Roman"/>
              </a:rPr>
              <a:t> </a:t>
            </a:r>
            <a:r>
              <a:rPr sz="2000" dirty="0">
                <a:latin typeface="Times New Roman"/>
                <a:cs typeface="Times New Roman"/>
              </a:rPr>
              <a:t>exception,</a:t>
            </a:r>
            <a:r>
              <a:rPr sz="2000" spc="-50" dirty="0">
                <a:latin typeface="Times New Roman"/>
                <a:cs typeface="Times New Roman"/>
              </a:rPr>
              <a:t> </a:t>
            </a:r>
            <a:r>
              <a:rPr sz="2000" dirty="0">
                <a:latin typeface="Times New Roman"/>
                <a:cs typeface="Times New Roman"/>
              </a:rPr>
              <a:t>using</a:t>
            </a:r>
            <a:r>
              <a:rPr sz="2000" spc="-40" dirty="0">
                <a:latin typeface="Times New Roman"/>
                <a:cs typeface="Times New Roman"/>
              </a:rPr>
              <a:t> </a:t>
            </a:r>
            <a:r>
              <a:rPr sz="2000" spc="-25" dirty="0">
                <a:latin typeface="Times New Roman"/>
                <a:cs typeface="Times New Roman"/>
              </a:rPr>
              <a:t>the </a:t>
            </a:r>
            <a:r>
              <a:rPr sz="2000" dirty="0">
                <a:latin typeface="Times New Roman"/>
                <a:cs typeface="Times New Roman"/>
              </a:rPr>
              <a:t>keyword</a:t>
            </a:r>
            <a:r>
              <a:rPr sz="2000" spc="-50" dirty="0">
                <a:latin typeface="Times New Roman"/>
                <a:cs typeface="Times New Roman"/>
              </a:rPr>
              <a:t> </a:t>
            </a:r>
            <a:r>
              <a:rPr sz="1600" b="1" dirty="0">
                <a:latin typeface="Calibri"/>
                <a:cs typeface="Calibri"/>
              </a:rPr>
              <a:t>throw </a:t>
            </a:r>
            <a:r>
              <a:rPr sz="2000" dirty="0">
                <a:latin typeface="Times New Roman"/>
                <a:cs typeface="Times New Roman"/>
              </a:rPr>
              <a:t>followed</a:t>
            </a:r>
            <a:r>
              <a:rPr sz="2000" spc="-60" dirty="0">
                <a:latin typeface="Times New Roman"/>
                <a:cs typeface="Times New Roman"/>
              </a:rPr>
              <a:t> </a:t>
            </a:r>
            <a:r>
              <a:rPr sz="2000" dirty="0">
                <a:latin typeface="Times New Roman"/>
                <a:cs typeface="Times New Roman"/>
              </a:rPr>
              <a:t>by</a:t>
            </a:r>
            <a:r>
              <a:rPr sz="2000" spc="-35" dirty="0">
                <a:latin typeface="Times New Roman"/>
                <a:cs typeface="Times New Roman"/>
              </a:rPr>
              <a:t> </a:t>
            </a:r>
            <a:r>
              <a:rPr sz="2000" spc="-25" dirty="0">
                <a:latin typeface="Times New Roman"/>
                <a:cs typeface="Times New Roman"/>
              </a:rPr>
              <a:t>the </a:t>
            </a:r>
            <a:r>
              <a:rPr sz="2000" b="1" dirty="0">
                <a:latin typeface="Times New Roman"/>
                <a:cs typeface="Times New Roman"/>
              </a:rPr>
              <a:t>constructor</a:t>
            </a:r>
            <a:r>
              <a:rPr sz="2000" b="1" spc="-45" dirty="0">
                <a:latin typeface="Times New Roman"/>
                <a:cs typeface="Times New Roman"/>
              </a:rPr>
              <a:t> </a:t>
            </a:r>
            <a:r>
              <a:rPr sz="2000" dirty="0">
                <a:latin typeface="Times New Roman"/>
                <a:cs typeface="Times New Roman"/>
              </a:rPr>
              <a:t>for</a:t>
            </a:r>
            <a:r>
              <a:rPr sz="2000" spc="-2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error</a:t>
            </a:r>
            <a:r>
              <a:rPr sz="2000" spc="-40" dirty="0">
                <a:latin typeface="Times New Roman"/>
                <a:cs typeface="Times New Roman"/>
              </a:rPr>
              <a:t> </a:t>
            </a:r>
            <a:r>
              <a:rPr sz="2000" spc="-10" dirty="0">
                <a:latin typeface="Times New Roman"/>
                <a:cs typeface="Times New Roman"/>
              </a:rPr>
              <a:t>class:</a:t>
            </a:r>
            <a:endParaRPr sz="2000">
              <a:latin typeface="Times New Roman"/>
              <a:cs typeface="Times New Roman"/>
            </a:endParaRPr>
          </a:p>
        </p:txBody>
      </p:sp>
      <p:pic>
        <p:nvPicPr>
          <p:cNvPr id="4" name="object 4"/>
          <p:cNvPicPr/>
          <p:nvPr/>
        </p:nvPicPr>
        <p:blipFill>
          <a:blip r:embed="rId2" cstate="print"/>
          <a:stretch>
            <a:fillRect/>
          </a:stretch>
        </p:blipFill>
        <p:spPr>
          <a:xfrm>
            <a:off x="6911732" y="1984917"/>
            <a:ext cx="1476464" cy="473926"/>
          </a:xfrm>
          <a:prstGeom prst="rect">
            <a:avLst/>
          </a:prstGeom>
        </p:spPr>
      </p:pic>
      <p:pic>
        <p:nvPicPr>
          <p:cNvPr id="5" name="object 5"/>
          <p:cNvPicPr/>
          <p:nvPr/>
        </p:nvPicPr>
        <p:blipFill>
          <a:blip r:embed="rId3" cstate="print"/>
          <a:stretch>
            <a:fillRect/>
          </a:stretch>
        </p:blipFill>
        <p:spPr>
          <a:xfrm>
            <a:off x="7326452" y="2597558"/>
            <a:ext cx="3721023" cy="2723807"/>
          </a:xfrm>
          <a:prstGeom prst="rect">
            <a:avLst/>
          </a:prstGeom>
        </p:spPr>
      </p:pic>
      <p:sp>
        <p:nvSpPr>
          <p:cNvPr id="8" name="object 8"/>
          <p:cNvSpPr txBox="1"/>
          <p:nvPr/>
        </p:nvSpPr>
        <p:spPr>
          <a:xfrm>
            <a:off x="10120376" y="6367803"/>
            <a:ext cx="335915" cy="264496"/>
          </a:xfrm>
          <a:prstGeom prst="rect">
            <a:avLst/>
          </a:prstGeom>
        </p:spPr>
        <p:txBody>
          <a:bodyPr vert="horz" wrap="square" lIns="0" tIns="0" rIns="0" bIns="0" rtlCol="0">
            <a:spAutoFit/>
          </a:bodyPr>
          <a:lstStyle/>
          <a:p>
            <a:pPr marL="12700">
              <a:lnSpc>
                <a:spcPts val="2000"/>
              </a:lnSpc>
            </a:pPr>
            <a:r>
              <a:rPr lang="en-US" sz="3600" spc="-37" baseline="-16203" dirty="0">
                <a:solidFill>
                  <a:srgbClr val="FFFFFF"/>
                </a:solidFill>
                <a:latin typeface="Times New Roman"/>
                <a:cs typeface="Times New Roman"/>
              </a:rPr>
              <a:t>3</a:t>
            </a:r>
            <a:r>
              <a:rPr sz="1600" spc="-25" dirty="0">
                <a:solidFill>
                  <a:srgbClr val="FFFFFF"/>
                </a:solidFill>
                <a:latin typeface="Times New Roman"/>
                <a:cs typeface="Times New Roman"/>
              </a:rPr>
              <a:t>th</a:t>
            </a:r>
            <a:endParaRPr sz="1600" dirty="0">
              <a:latin typeface="Times New Roman"/>
              <a:cs typeface="Times New Roman"/>
            </a:endParaRPr>
          </a:p>
        </p:txBody>
      </p:sp>
      <p:sp>
        <p:nvSpPr>
          <p:cNvPr id="9" name="object 9"/>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54A17FCE-1511-DB92-3BD7-F1618F329050}"/>
              </a:ext>
            </a:extLst>
          </p:cNvPr>
          <p:cNvSpPr>
            <a:spLocks noGrp="1"/>
          </p:cNvSpPr>
          <p:nvPr>
            <p:ph type="dt" sz="half" idx="10"/>
          </p:nvPr>
        </p:nvSpPr>
        <p:spPr/>
        <p:txBody>
          <a:bodyPr/>
          <a:lstStyle/>
          <a:p>
            <a:fld id="{CD501C02-A037-43A7-B191-D8A5B060C4C0}" type="datetime1">
              <a:rPr lang="en-US" smtClean="0"/>
              <a:t>11/17/2025</a:t>
            </a:fld>
            <a:endParaRPr lang="en-US"/>
          </a:p>
        </p:txBody>
      </p:sp>
      <p:sp>
        <p:nvSpPr>
          <p:cNvPr id="11" name="Slide Number Placeholder 10">
            <a:extLst>
              <a:ext uri="{FF2B5EF4-FFF2-40B4-BE49-F238E27FC236}">
                <a16:creationId xmlns:a16="http://schemas.microsoft.com/office/drawing/2014/main" id="{65A5B98F-F9A9-FBD5-A82D-4F8D2A6E2980}"/>
              </a:ext>
            </a:extLst>
          </p:cNvPr>
          <p:cNvSpPr>
            <a:spLocks noGrp="1"/>
          </p:cNvSpPr>
          <p:nvPr>
            <p:ph type="sldNum" sz="quarter" idx="12"/>
          </p:nvPr>
        </p:nvSpPr>
        <p:spPr/>
        <p:txBody>
          <a:bodyPr/>
          <a:lstStyle/>
          <a:p>
            <a:pPr marL="12700">
              <a:lnSpc>
                <a:spcPts val="2720"/>
              </a:lnSpc>
              <a:tabLst>
                <a:tab pos="1499870" algn="l"/>
              </a:tabLst>
            </a:pPr>
            <a:r>
              <a:rPr lang="en-US" dirty="0"/>
              <a:t>Lecture</a:t>
            </a:r>
            <a:r>
              <a:rPr lang="en-US" spc="-25" dirty="0"/>
              <a:t> 3</a:t>
            </a:r>
            <a:r>
              <a:rPr lang="en-US" spc="-50" dirty="0"/>
              <a:t>-</a:t>
            </a:r>
            <a:r>
              <a:rPr lang="en-US" dirty="0"/>
              <a:t>	</a:t>
            </a:r>
            <a:fld id="{81D60167-4931-47E6-BA6A-407CBD079E47}" type="slidenum">
              <a:rPr spc="-25" smtClean="0"/>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lang="en-US" dirty="0">
                <a:latin typeface="Forte" panose="03060902040502070203" pitchFamily="66" charset="0"/>
              </a:rPr>
              <a:t>Defining</a:t>
            </a:r>
            <a:r>
              <a:rPr lang="en-US" spc="-75" dirty="0">
                <a:latin typeface="Forte" panose="03060902040502070203" pitchFamily="66" charset="0"/>
              </a:rPr>
              <a:t> </a:t>
            </a:r>
            <a:r>
              <a:rPr lang="en-US" dirty="0">
                <a:latin typeface="Forte" panose="03060902040502070203" pitchFamily="66" charset="0"/>
              </a:rPr>
              <a:t>an</a:t>
            </a:r>
            <a:r>
              <a:rPr lang="en-US" spc="-70" dirty="0">
                <a:latin typeface="Forte" panose="03060902040502070203" pitchFamily="66" charset="0"/>
              </a:rPr>
              <a:t> </a:t>
            </a:r>
            <a:r>
              <a:rPr lang="en-US" dirty="0">
                <a:latin typeface="Forte" panose="03060902040502070203" pitchFamily="66" charset="0"/>
              </a:rPr>
              <a:t>Exception</a:t>
            </a:r>
            <a:r>
              <a:rPr lang="en-US" spc="-90" dirty="0">
                <a:latin typeface="Forte" panose="03060902040502070203" pitchFamily="66" charset="0"/>
              </a:rPr>
              <a:t> </a:t>
            </a:r>
            <a:r>
              <a:rPr lang="en-US" spc="-10" dirty="0">
                <a:latin typeface="Forte" panose="03060902040502070203" pitchFamily="66" charset="0"/>
              </a:rPr>
              <a:t>Class</a:t>
            </a:r>
            <a:endParaRPr spc="-10" dirty="0"/>
          </a:p>
        </p:txBody>
      </p:sp>
      <p:sp>
        <p:nvSpPr>
          <p:cNvPr id="7" name="object 7"/>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645107"/>
            <a:ext cx="10622915" cy="941069"/>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b="1" dirty="0">
                <a:latin typeface="Times New Roman"/>
                <a:cs typeface="Times New Roman"/>
              </a:rPr>
              <a:t>main()</a:t>
            </a:r>
            <a:r>
              <a:rPr sz="2000" b="1" spc="-50" dirty="0">
                <a:latin typeface="Times New Roman"/>
                <a:cs typeface="Times New Roman"/>
              </a:rPr>
              <a:t> </a:t>
            </a:r>
            <a:r>
              <a:rPr sz="2000" dirty="0">
                <a:latin typeface="Times New Roman"/>
                <a:cs typeface="Times New Roman"/>
              </a:rPr>
              <a:t>part</a:t>
            </a:r>
            <a:r>
              <a:rPr sz="2000" spc="-1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program</a:t>
            </a:r>
            <a:r>
              <a:rPr sz="2000" spc="-55" dirty="0">
                <a:latin typeface="Times New Roman"/>
                <a:cs typeface="Times New Roman"/>
              </a:rPr>
              <a:t> </a:t>
            </a:r>
            <a:r>
              <a:rPr sz="2000" dirty="0">
                <a:latin typeface="Times New Roman"/>
                <a:cs typeface="Times New Roman"/>
              </a:rPr>
              <a:t>we</a:t>
            </a:r>
            <a:r>
              <a:rPr sz="2000" spc="-15" dirty="0">
                <a:latin typeface="Times New Roman"/>
                <a:cs typeface="Times New Roman"/>
              </a:rPr>
              <a:t> </a:t>
            </a:r>
            <a:r>
              <a:rPr sz="2000" dirty="0">
                <a:latin typeface="Times New Roman"/>
                <a:cs typeface="Times New Roman"/>
              </a:rPr>
              <a:t>enclose</a:t>
            </a:r>
            <a:r>
              <a:rPr sz="2000" spc="-20" dirty="0">
                <a:latin typeface="Times New Roman"/>
                <a:cs typeface="Times New Roman"/>
              </a:rPr>
              <a:t> </a:t>
            </a:r>
            <a:r>
              <a:rPr sz="2000" dirty="0">
                <a:latin typeface="Times New Roman"/>
                <a:cs typeface="Times New Roman"/>
              </a:rPr>
              <a:t>any</a:t>
            </a:r>
            <a:r>
              <a:rPr sz="2000" spc="-20" dirty="0">
                <a:latin typeface="Times New Roman"/>
                <a:cs typeface="Times New Roman"/>
              </a:rPr>
              <a:t> </a:t>
            </a:r>
            <a:r>
              <a:rPr sz="2000" dirty="0">
                <a:latin typeface="Times New Roman"/>
                <a:cs typeface="Times New Roman"/>
              </a:rPr>
              <a:t>statements</a:t>
            </a:r>
            <a:r>
              <a:rPr sz="2000" spc="-20" dirty="0">
                <a:latin typeface="Times New Roman"/>
                <a:cs typeface="Times New Roman"/>
              </a:rPr>
              <a:t> </a:t>
            </a:r>
            <a:r>
              <a:rPr sz="2000" dirty="0">
                <a:latin typeface="Times New Roman"/>
                <a:cs typeface="Times New Roman"/>
              </a:rPr>
              <a:t>that</a:t>
            </a:r>
            <a:r>
              <a:rPr sz="2000" spc="-40" dirty="0">
                <a:latin typeface="Times New Roman"/>
                <a:cs typeface="Times New Roman"/>
              </a:rPr>
              <a:t> </a:t>
            </a:r>
            <a:r>
              <a:rPr sz="2000" dirty="0">
                <a:latin typeface="Times New Roman"/>
                <a:cs typeface="Times New Roman"/>
              </a:rPr>
              <a:t>interact</a:t>
            </a:r>
            <a:r>
              <a:rPr sz="2000" spc="-35" dirty="0">
                <a:latin typeface="Times New Roman"/>
                <a:cs typeface="Times New Roman"/>
              </a:rPr>
              <a:t> </a:t>
            </a:r>
            <a:r>
              <a:rPr sz="2000" dirty="0">
                <a:latin typeface="Times New Roman"/>
                <a:cs typeface="Times New Roman"/>
              </a:rPr>
              <a:t>with</a:t>
            </a:r>
            <a:r>
              <a:rPr sz="2000" spc="15" dirty="0">
                <a:latin typeface="Times New Roman"/>
                <a:cs typeface="Times New Roman"/>
              </a:rPr>
              <a:t> </a:t>
            </a:r>
            <a:r>
              <a:rPr sz="2000" b="1" dirty="0">
                <a:latin typeface="Times New Roman"/>
                <a:cs typeface="Times New Roman"/>
              </a:rPr>
              <a:t>AClass</a:t>
            </a:r>
            <a:r>
              <a:rPr sz="2000" b="1" spc="-40"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spc="-10" dirty="0">
                <a:latin typeface="Times New Roman"/>
                <a:cs typeface="Times New Roman"/>
              </a:rPr>
              <a:t>try-block.</a:t>
            </a:r>
            <a:endParaRPr sz="2000">
              <a:latin typeface="Times New Roman"/>
              <a:cs typeface="Times New Roman"/>
            </a:endParaRPr>
          </a:p>
          <a:p>
            <a:pPr marL="355600" marR="5080" indent="-343535">
              <a:lnSpc>
                <a:spcPct val="100000"/>
              </a:lnSpc>
              <a:buFont typeface="Arial MT"/>
              <a:buChar char="•"/>
              <a:tabLst>
                <a:tab pos="355600" algn="l"/>
              </a:tabLst>
            </a:pPr>
            <a:r>
              <a:rPr sz="2000" dirty="0">
                <a:latin typeface="Times New Roman"/>
                <a:cs typeface="Times New Roman"/>
              </a:rPr>
              <a:t>If</a:t>
            </a:r>
            <a:r>
              <a:rPr sz="2000" spc="-25" dirty="0">
                <a:latin typeface="Times New Roman"/>
                <a:cs typeface="Times New Roman"/>
              </a:rPr>
              <a:t> </a:t>
            </a:r>
            <a:r>
              <a:rPr sz="2000" dirty="0">
                <a:latin typeface="Times New Roman"/>
                <a:cs typeface="Times New Roman"/>
              </a:rPr>
              <a:t>any</a:t>
            </a:r>
            <a:r>
              <a:rPr sz="2000" spc="-20"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these</a:t>
            </a:r>
            <a:r>
              <a:rPr sz="2000" spc="-35" dirty="0">
                <a:latin typeface="Times New Roman"/>
                <a:cs typeface="Times New Roman"/>
              </a:rPr>
              <a:t> </a:t>
            </a:r>
            <a:r>
              <a:rPr sz="2000" dirty="0">
                <a:latin typeface="Times New Roman"/>
                <a:cs typeface="Times New Roman"/>
              </a:rPr>
              <a:t>statements</a:t>
            </a:r>
            <a:r>
              <a:rPr sz="2000" spc="-20" dirty="0">
                <a:latin typeface="Times New Roman"/>
                <a:cs typeface="Times New Roman"/>
              </a:rPr>
              <a:t> </a:t>
            </a:r>
            <a:r>
              <a:rPr sz="2000" dirty="0">
                <a:latin typeface="Times New Roman"/>
                <a:cs typeface="Times New Roman"/>
              </a:rPr>
              <a:t>causes</a:t>
            </a:r>
            <a:r>
              <a:rPr sz="2000" spc="-25" dirty="0">
                <a:latin typeface="Times New Roman"/>
                <a:cs typeface="Times New Roman"/>
              </a:rPr>
              <a:t> </a:t>
            </a:r>
            <a:r>
              <a:rPr sz="2000" dirty="0">
                <a:latin typeface="Times New Roman"/>
                <a:cs typeface="Times New Roman"/>
              </a:rPr>
              <a:t>an</a:t>
            </a:r>
            <a:r>
              <a:rPr sz="2000" spc="-10" dirty="0">
                <a:latin typeface="Times New Roman"/>
                <a:cs typeface="Times New Roman"/>
              </a:rPr>
              <a:t> </a:t>
            </a:r>
            <a:r>
              <a:rPr sz="2000" dirty="0">
                <a:latin typeface="Times New Roman"/>
                <a:cs typeface="Times New Roman"/>
              </a:rPr>
              <a:t>error</a:t>
            </a:r>
            <a:r>
              <a:rPr sz="2000" spc="-50"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be</a:t>
            </a:r>
            <a:r>
              <a:rPr sz="2000" spc="-10" dirty="0">
                <a:latin typeface="Times New Roman"/>
                <a:cs typeface="Times New Roman"/>
              </a:rPr>
              <a:t> </a:t>
            </a:r>
            <a:r>
              <a:rPr sz="2000" dirty="0">
                <a:latin typeface="Times New Roman"/>
                <a:cs typeface="Times New Roman"/>
              </a:rPr>
              <a:t>detected</a:t>
            </a:r>
            <a:r>
              <a:rPr sz="2000" spc="-2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an </a:t>
            </a:r>
            <a:r>
              <a:rPr sz="2000" b="1" dirty="0">
                <a:latin typeface="Times New Roman"/>
                <a:cs typeface="Times New Roman"/>
              </a:rPr>
              <a:t>AClass</a:t>
            </a:r>
            <a:r>
              <a:rPr sz="2000" b="1" spc="-35" dirty="0">
                <a:latin typeface="Times New Roman"/>
                <a:cs typeface="Times New Roman"/>
              </a:rPr>
              <a:t> </a:t>
            </a:r>
            <a:r>
              <a:rPr sz="2000" dirty="0">
                <a:latin typeface="Times New Roman"/>
                <a:cs typeface="Times New Roman"/>
              </a:rPr>
              <a:t>member</a:t>
            </a:r>
            <a:r>
              <a:rPr sz="2000" spc="5" dirty="0">
                <a:latin typeface="Times New Roman"/>
                <a:cs typeface="Times New Roman"/>
              </a:rPr>
              <a:t> </a:t>
            </a:r>
            <a:r>
              <a:rPr sz="2000" dirty="0">
                <a:latin typeface="Times New Roman"/>
                <a:cs typeface="Times New Roman"/>
              </a:rPr>
              <a:t>function,</a:t>
            </a:r>
            <a:r>
              <a:rPr sz="2000" spc="-60" dirty="0">
                <a:latin typeface="Times New Roman"/>
                <a:cs typeface="Times New Roman"/>
              </a:rPr>
              <a:t> </a:t>
            </a:r>
            <a:r>
              <a:rPr sz="2000" dirty="0">
                <a:latin typeface="Times New Roman"/>
                <a:cs typeface="Times New Roman"/>
              </a:rPr>
              <a:t>an</a:t>
            </a:r>
            <a:r>
              <a:rPr sz="2000" spc="-5" dirty="0">
                <a:latin typeface="Times New Roman"/>
                <a:cs typeface="Times New Roman"/>
              </a:rPr>
              <a:t> </a:t>
            </a:r>
            <a:r>
              <a:rPr sz="2000" spc="-10" dirty="0">
                <a:latin typeface="Times New Roman"/>
                <a:cs typeface="Times New Roman"/>
              </a:rPr>
              <a:t>exception </a:t>
            </a:r>
            <a:r>
              <a:rPr sz="2000" dirty="0">
                <a:latin typeface="Times New Roman"/>
                <a:cs typeface="Times New Roman"/>
              </a:rPr>
              <a:t>will</a:t>
            </a:r>
            <a:r>
              <a:rPr sz="2000" spc="-30" dirty="0">
                <a:latin typeface="Times New Roman"/>
                <a:cs typeface="Times New Roman"/>
              </a:rPr>
              <a:t> </a:t>
            </a:r>
            <a:r>
              <a:rPr sz="2000" dirty="0">
                <a:latin typeface="Times New Roman"/>
                <a:cs typeface="Times New Roman"/>
              </a:rPr>
              <a:t>be</a:t>
            </a:r>
            <a:r>
              <a:rPr sz="2000" spc="-5" dirty="0">
                <a:latin typeface="Times New Roman"/>
                <a:cs typeface="Times New Roman"/>
              </a:rPr>
              <a:t> </a:t>
            </a:r>
            <a:r>
              <a:rPr sz="2000" dirty="0">
                <a:latin typeface="Times New Roman"/>
                <a:cs typeface="Times New Roman"/>
              </a:rPr>
              <a:t>thrown</a:t>
            </a:r>
            <a:r>
              <a:rPr sz="2000" spc="-5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control</a:t>
            </a:r>
            <a:r>
              <a:rPr sz="2000" spc="-50" dirty="0">
                <a:latin typeface="Times New Roman"/>
                <a:cs typeface="Times New Roman"/>
              </a:rPr>
              <a:t> </a:t>
            </a:r>
            <a:r>
              <a:rPr sz="2000" dirty="0">
                <a:latin typeface="Times New Roman"/>
                <a:cs typeface="Times New Roman"/>
              </a:rPr>
              <a:t>will</a:t>
            </a:r>
            <a:r>
              <a:rPr sz="2000" spc="-30" dirty="0">
                <a:latin typeface="Times New Roman"/>
                <a:cs typeface="Times New Roman"/>
              </a:rPr>
              <a:t> </a:t>
            </a:r>
            <a:r>
              <a:rPr sz="2000" dirty="0">
                <a:latin typeface="Times New Roman"/>
                <a:cs typeface="Times New Roman"/>
              </a:rPr>
              <a:t>go</a:t>
            </a:r>
            <a:r>
              <a:rPr sz="2000" spc="-5" dirty="0">
                <a:latin typeface="Times New Roman"/>
                <a:cs typeface="Times New Roman"/>
              </a:rPr>
              <a:t> </a:t>
            </a:r>
            <a:r>
              <a:rPr sz="2000" dirty="0">
                <a:latin typeface="Times New Roman"/>
                <a:cs typeface="Times New Roman"/>
              </a:rPr>
              <a:t>to</a:t>
            </a:r>
            <a:r>
              <a:rPr sz="2000" spc="-3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catch</a:t>
            </a:r>
            <a:r>
              <a:rPr sz="2000" spc="-10" dirty="0">
                <a:latin typeface="Times New Roman"/>
                <a:cs typeface="Times New Roman"/>
              </a:rPr>
              <a:t> </a:t>
            </a:r>
            <a:r>
              <a:rPr sz="2000" dirty="0">
                <a:latin typeface="Times New Roman"/>
                <a:cs typeface="Times New Roman"/>
              </a:rPr>
              <a:t>block</a:t>
            </a:r>
            <a:r>
              <a:rPr sz="2000" spc="-35" dirty="0">
                <a:latin typeface="Times New Roman"/>
                <a:cs typeface="Times New Roman"/>
              </a:rPr>
              <a:t> </a:t>
            </a:r>
            <a:r>
              <a:rPr sz="2000" dirty="0">
                <a:latin typeface="Times New Roman"/>
                <a:cs typeface="Times New Roman"/>
              </a:rPr>
              <a:t>that</a:t>
            </a:r>
            <a:r>
              <a:rPr sz="2000" spc="-20" dirty="0">
                <a:latin typeface="Times New Roman"/>
                <a:cs typeface="Times New Roman"/>
              </a:rPr>
              <a:t> </a:t>
            </a:r>
            <a:r>
              <a:rPr sz="2000" dirty="0">
                <a:latin typeface="Times New Roman"/>
                <a:cs typeface="Times New Roman"/>
              </a:rPr>
              <a:t>immediately</a:t>
            </a:r>
            <a:r>
              <a:rPr sz="2000" spc="-5" dirty="0">
                <a:latin typeface="Times New Roman"/>
                <a:cs typeface="Times New Roman"/>
              </a:rPr>
              <a:t> </a:t>
            </a:r>
            <a:r>
              <a:rPr sz="2000" dirty="0">
                <a:latin typeface="Times New Roman"/>
                <a:cs typeface="Times New Roman"/>
              </a:rPr>
              <a:t>follows</a:t>
            </a:r>
            <a:r>
              <a:rPr sz="2000" spc="-40"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catch</a:t>
            </a:r>
            <a:r>
              <a:rPr sz="2000" spc="-5" dirty="0">
                <a:latin typeface="Times New Roman"/>
                <a:cs typeface="Times New Roman"/>
              </a:rPr>
              <a:t> </a:t>
            </a:r>
            <a:r>
              <a:rPr sz="2000" spc="-10" dirty="0">
                <a:latin typeface="Times New Roman"/>
                <a:cs typeface="Times New Roman"/>
              </a:rPr>
              <a:t>block.</a:t>
            </a:r>
            <a:endParaRPr sz="2000">
              <a:latin typeface="Times New Roman"/>
              <a:cs typeface="Times New Roman"/>
            </a:endParaRPr>
          </a:p>
        </p:txBody>
      </p:sp>
      <p:pic>
        <p:nvPicPr>
          <p:cNvPr id="4" name="object 4"/>
          <p:cNvPicPr/>
          <p:nvPr/>
        </p:nvPicPr>
        <p:blipFill>
          <a:blip r:embed="rId2" cstate="print"/>
          <a:stretch>
            <a:fillRect/>
          </a:stretch>
        </p:blipFill>
        <p:spPr>
          <a:xfrm>
            <a:off x="1375107" y="3303102"/>
            <a:ext cx="1208016" cy="386724"/>
          </a:xfrm>
          <a:prstGeom prst="rect">
            <a:avLst/>
          </a:prstGeom>
        </p:spPr>
      </p:pic>
      <p:pic>
        <p:nvPicPr>
          <p:cNvPr id="5" name="object 5"/>
          <p:cNvPicPr/>
          <p:nvPr/>
        </p:nvPicPr>
        <p:blipFill>
          <a:blip r:embed="rId3" cstate="print"/>
          <a:stretch>
            <a:fillRect/>
          </a:stretch>
        </p:blipFill>
        <p:spPr>
          <a:xfrm>
            <a:off x="1724027" y="3788774"/>
            <a:ext cx="2808348" cy="2055183"/>
          </a:xfrm>
          <a:prstGeom prst="rect">
            <a:avLst/>
          </a:prstGeom>
        </p:spPr>
      </p:pic>
      <p:pic>
        <p:nvPicPr>
          <p:cNvPr id="6" name="object 6"/>
          <p:cNvPicPr/>
          <p:nvPr/>
        </p:nvPicPr>
        <p:blipFill>
          <a:blip r:embed="rId4" cstate="print"/>
          <a:stretch>
            <a:fillRect/>
          </a:stretch>
        </p:blipFill>
        <p:spPr>
          <a:xfrm>
            <a:off x="8220313" y="3103705"/>
            <a:ext cx="2892694" cy="2860911"/>
          </a:xfrm>
          <a:prstGeom prst="rect">
            <a:avLst/>
          </a:prstGeom>
        </p:spPr>
      </p:pic>
      <p:sp>
        <p:nvSpPr>
          <p:cNvPr id="9" name="object 9"/>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0" name="object 10"/>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1" name="Date Placeholder 10">
            <a:extLst>
              <a:ext uri="{FF2B5EF4-FFF2-40B4-BE49-F238E27FC236}">
                <a16:creationId xmlns:a16="http://schemas.microsoft.com/office/drawing/2014/main" id="{719B43E9-5C73-FB7A-B61F-5E0FABD4485F}"/>
              </a:ext>
            </a:extLst>
          </p:cNvPr>
          <p:cNvSpPr>
            <a:spLocks noGrp="1"/>
          </p:cNvSpPr>
          <p:nvPr>
            <p:ph type="dt" sz="half" idx="10"/>
          </p:nvPr>
        </p:nvSpPr>
        <p:spPr/>
        <p:txBody>
          <a:bodyPr/>
          <a:lstStyle/>
          <a:p>
            <a:fld id="{A6DCCB34-8872-4F81-9EF1-018151ECD74F}" type="datetime1">
              <a:rPr lang="en-US" smtClean="0"/>
              <a:t>11/17/2025</a:t>
            </a:fld>
            <a:endParaRPr lang="en-US"/>
          </a:p>
        </p:txBody>
      </p:sp>
      <p:sp>
        <p:nvSpPr>
          <p:cNvPr id="12" name="Slide Number Placeholder 11">
            <a:extLst>
              <a:ext uri="{FF2B5EF4-FFF2-40B4-BE49-F238E27FC236}">
                <a16:creationId xmlns:a16="http://schemas.microsoft.com/office/drawing/2014/main" id="{1A192F4F-B912-9723-48DE-4CB75270CAB2}"/>
              </a:ext>
            </a:extLst>
          </p:cNvPr>
          <p:cNvSpPr>
            <a:spLocks noGrp="1"/>
          </p:cNvSpPr>
          <p:nvPr>
            <p:ph type="sldNum" sz="quarter" idx="12"/>
          </p:nvPr>
        </p:nvSpPr>
        <p:spPr/>
        <p:txBody>
          <a:bodyPr/>
          <a:lstStyle/>
          <a:p>
            <a:pPr marL="12700">
              <a:lnSpc>
                <a:spcPts val="2720"/>
              </a:lnSpc>
              <a:tabLst>
                <a:tab pos="1499870" algn="l"/>
              </a:tabLst>
            </a:pPr>
            <a:r>
              <a:rPr lang="en-US" dirty="0"/>
              <a:t>Lecture</a:t>
            </a:r>
            <a:r>
              <a:rPr lang="en-US" spc="-25" dirty="0"/>
              <a:t> 3</a:t>
            </a:r>
            <a:r>
              <a:rPr lang="en-US" spc="-50" dirty="0"/>
              <a:t>-</a:t>
            </a:r>
            <a:r>
              <a:rPr lang="en-US" dirty="0"/>
              <a:t>	</a:t>
            </a:r>
            <a:fld id="{81D60167-4931-47E6-BA6A-407CBD079E47}" type="slidenum">
              <a:rPr spc="-25" smtClean="0"/>
              <a:t>21</a:t>
            </a:fld>
            <a:endParaRPr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7923200" y="308831"/>
            <a:ext cx="2596157" cy="5919444"/>
          </a:xfrm>
          <a:prstGeom prst="rect">
            <a:avLst/>
          </a:prstGeom>
        </p:spPr>
      </p:pic>
      <p:pic>
        <p:nvPicPr>
          <p:cNvPr id="4" name="object 4"/>
          <p:cNvPicPr/>
          <p:nvPr/>
        </p:nvPicPr>
        <p:blipFill>
          <a:blip r:embed="rId3" cstate="print"/>
          <a:stretch>
            <a:fillRect/>
          </a:stretch>
        </p:blipFill>
        <p:spPr>
          <a:xfrm>
            <a:off x="908700" y="1719833"/>
            <a:ext cx="3363418" cy="2847975"/>
          </a:xfrm>
          <a:prstGeom prst="rect">
            <a:avLst/>
          </a:prstGeom>
        </p:spPr>
      </p:pic>
      <p:pic>
        <p:nvPicPr>
          <p:cNvPr id="5" name="object 5"/>
          <p:cNvPicPr/>
          <p:nvPr/>
        </p:nvPicPr>
        <p:blipFill>
          <a:blip r:embed="rId4" cstate="print"/>
          <a:stretch>
            <a:fillRect/>
          </a:stretch>
        </p:blipFill>
        <p:spPr>
          <a:xfrm>
            <a:off x="927750" y="1469202"/>
            <a:ext cx="1495766" cy="133581"/>
          </a:xfrm>
          <a:prstGeom prst="rect">
            <a:avLst/>
          </a:prstGeom>
        </p:spPr>
      </p:pic>
      <p:pic>
        <p:nvPicPr>
          <p:cNvPr id="6" name="object 6"/>
          <p:cNvPicPr/>
          <p:nvPr/>
        </p:nvPicPr>
        <p:blipFill>
          <a:blip r:embed="rId5" cstate="print"/>
          <a:stretch>
            <a:fillRect/>
          </a:stretch>
        </p:blipFill>
        <p:spPr>
          <a:xfrm>
            <a:off x="1156335" y="4672565"/>
            <a:ext cx="4981575" cy="1485200"/>
          </a:xfrm>
          <a:prstGeom prst="rect">
            <a:avLst/>
          </a:prstGeom>
        </p:spPr>
      </p:pic>
      <p:sp>
        <p:nvSpPr>
          <p:cNvPr id="9" name="object 9"/>
          <p:cNvSpPr txBox="1"/>
          <p:nvPr/>
        </p:nvSpPr>
        <p:spPr>
          <a:xfrm>
            <a:off x="10120376" y="6367803"/>
            <a:ext cx="33591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4</a:t>
            </a:r>
            <a:r>
              <a:rPr sz="1600" spc="-25" dirty="0">
                <a:solidFill>
                  <a:srgbClr val="FFFFFF"/>
                </a:solidFill>
                <a:latin typeface="Times New Roman"/>
                <a:cs typeface="Times New Roman"/>
              </a:rPr>
              <a:t>th</a:t>
            </a:r>
            <a:endParaRPr sz="1600">
              <a:latin typeface="Times New Roman"/>
              <a:cs typeface="Times New Roman"/>
            </a:endParaRPr>
          </a:p>
        </p:txBody>
      </p:sp>
      <p:sp>
        <p:nvSpPr>
          <p:cNvPr id="10" name="object 10"/>
          <p:cNvSpPr txBox="1"/>
          <p:nvPr/>
        </p:nvSpPr>
        <p:spPr>
          <a:xfrm>
            <a:off x="105089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1" name="Date Placeholder 10">
            <a:extLst>
              <a:ext uri="{FF2B5EF4-FFF2-40B4-BE49-F238E27FC236}">
                <a16:creationId xmlns:a16="http://schemas.microsoft.com/office/drawing/2014/main" id="{E73344DB-6EE3-A095-D1A5-BA106C1D31EC}"/>
              </a:ext>
            </a:extLst>
          </p:cNvPr>
          <p:cNvSpPr>
            <a:spLocks noGrp="1"/>
          </p:cNvSpPr>
          <p:nvPr>
            <p:ph type="dt" sz="half" idx="10"/>
          </p:nvPr>
        </p:nvSpPr>
        <p:spPr/>
        <p:txBody>
          <a:bodyPr/>
          <a:lstStyle/>
          <a:p>
            <a:fld id="{6B4940EA-62B4-4880-A639-884060C5EBA7}" type="datetime1">
              <a:rPr lang="en-US" smtClean="0"/>
              <a:t>11/17/2025</a:t>
            </a:fld>
            <a:endParaRPr lang="en-US"/>
          </a:p>
        </p:txBody>
      </p:sp>
      <p:sp>
        <p:nvSpPr>
          <p:cNvPr id="8" name="TextBox 7">
            <a:extLst>
              <a:ext uri="{FF2B5EF4-FFF2-40B4-BE49-F238E27FC236}">
                <a16:creationId xmlns:a16="http://schemas.microsoft.com/office/drawing/2014/main" id="{C42E1E97-3049-5A39-DF9A-33CD8644C443}"/>
              </a:ext>
            </a:extLst>
          </p:cNvPr>
          <p:cNvSpPr txBox="1"/>
          <p:nvPr/>
        </p:nvSpPr>
        <p:spPr>
          <a:xfrm>
            <a:off x="1524000" y="308831"/>
            <a:ext cx="5104795" cy="584775"/>
          </a:xfrm>
          <a:prstGeom prst="rect">
            <a:avLst/>
          </a:prstGeom>
          <a:noFill/>
        </p:spPr>
        <p:txBody>
          <a:bodyPr wrap="none" rtlCol="0">
            <a:spAutoFit/>
          </a:bodyPr>
          <a:lstStyle/>
          <a:p>
            <a:r>
              <a:rPr lang="en-US" sz="3200" dirty="0">
                <a:latin typeface="Forte" panose="03060902040502070203" pitchFamily="66" charset="0"/>
              </a:rPr>
              <a:t>Defining</a:t>
            </a:r>
            <a:r>
              <a:rPr lang="en-US" sz="3200" spc="-75" dirty="0">
                <a:latin typeface="Forte" panose="03060902040502070203" pitchFamily="66" charset="0"/>
              </a:rPr>
              <a:t> </a:t>
            </a:r>
            <a:r>
              <a:rPr lang="en-US" sz="3200" dirty="0">
                <a:latin typeface="Forte" panose="03060902040502070203" pitchFamily="66" charset="0"/>
              </a:rPr>
              <a:t>an</a:t>
            </a:r>
            <a:r>
              <a:rPr lang="en-US" sz="3200" spc="-70" dirty="0">
                <a:latin typeface="Forte" panose="03060902040502070203" pitchFamily="66" charset="0"/>
              </a:rPr>
              <a:t> </a:t>
            </a:r>
            <a:r>
              <a:rPr lang="en-US" sz="3200" dirty="0">
                <a:latin typeface="Forte" panose="03060902040502070203" pitchFamily="66" charset="0"/>
              </a:rPr>
              <a:t>Exception</a:t>
            </a:r>
            <a:r>
              <a:rPr lang="en-US" sz="3200" spc="-90" dirty="0">
                <a:latin typeface="Forte" panose="03060902040502070203" pitchFamily="66" charset="0"/>
              </a:rPr>
              <a:t> </a:t>
            </a:r>
            <a:r>
              <a:rPr lang="en-US" sz="3200" spc="-10" dirty="0">
                <a:latin typeface="Forte" panose="03060902040502070203" pitchFamily="66" charset="0"/>
              </a:rPr>
              <a:t>Class</a:t>
            </a:r>
            <a:endParaRPr lang="en-US" sz="3200" dirty="0"/>
          </a:p>
        </p:txBody>
      </p:sp>
      <p:sp>
        <p:nvSpPr>
          <p:cNvPr id="13" name="Slide Number Placeholder 12">
            <a:extLst>
              <a:ext uri="{FF2B5EF4-FFF2-40B4-BE49-F238E27FC236}">
                <a16:creationId xmlns:a16="http://schemas.microsoft.com/office/drawing/2014/main" id="{43D0C1FB-DEA5-E539-54B9-36C9C769EA2E}"/>
              </a:ext>
            </a:extLst>
          </p:cNvPr>
          <p:cNvSpPr>
            <a:spLocks noGrp="1"/>
          </p:cNvSpPr>
          <p:nvPr>
            <p:ph type="sldNum" sz="quarter" idx="12"/>
          </p:nvPr>
        </p:nvSpPr>
        <p:spPr/>
        <p:txBody>
          <a:bodyPr/>
          <a:lstStyle/>
          <a:p>
            <a:pPr marL="12700">
              <a:lnSpc>
                <a:spcPts val="2720"/>
              </a:lnSpc>
              <a:tabLst>
                <a:tab pos="1499870" algn="l"/>
              </a:tabLst>
            </a:pPr>
            <a:r>
              <a:rPr lang="en-US" dirty="0"/>
              <a:t>Lecture</a:t>
            </a:r>
            <a:r>
              <a:rPr lang="en-US" spc="-25" dirty="0"/>
              <a:t> 3</a:t>
            </a:r>
            <a:r>
              <a:rPr lang="en-US" spc="-50" dirty="0"/>
              <a:t>-</a:t>
            </a:r>
            <a:r>
              <a:rPr lang="en-US" dirty="0"/>
              <a:t>	</a:t>
            </a:r>
            <a:fld id="{81D60167-4931-47E6-BA6A-407CBD079E47}" type="slidenum">
              <a:rPr spc="-25" smtClean="0"/>
              <a:t>22</a:t>
            </a:fld>
            <a:endParaRPr spc="-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6717" y="2282534"/>
            <a:ext cx="8334375" cy="1941557"/>
          </a:xfrm>
          <a:prstGeom prst="rect">
            <a:avLst/>
          </a:prstGeom>
        </p:spPr>
        <p:txBody>
          <a:bodyPr vert="horz" wrap="square" lIns="0" tIns="210820" rIns="0" bIns="0" rtlCol="0">
            <a:spAutoFit/>
          </a:bodyPr>
          <a:lstStyle/>
          <a:p>
            <a:pPr marL="6350" algn="ctr">
              <a:lnSpc>
                <a:spcPct val="100000"/>
              </a:lnSpc>
              <a:spcBef>
                <a:spcPts val="1660"/>
              </a:spcBef>
            </a:pPr>
            <a:r>
              <a:rPr sz="6000" spc="-10" dirty="0"/>
              <a:t>CSE-</a:t>
            </a:r>
            <a:r>
              <a:rPr sz="6000" spc="-20" dirty="0"/>
              <a:t>21</a:t>
            </a:r>
            <a:r>
              <a:rPr lang="en-US" sz="6000" spc="-20" dirty="0"/>
              <a:t>03</a:t>
            </a:r>
            <a:endParaRPr sz="6000" dirty="0"/>
          </a:p>
          <a:p>
            <a:pPr algn="ctr">
              <a:lnSpc>
                <a:spcPct val="100000"/>
              </a:lnSpc>
              <a:spcBef>
                <a:spcPts val="1035"/>
              </a:spcBef>
            </a:pPr>
            <a:r>
              <a:rPr dirty="0"/>
              <a:t>Object</a:t>
            </a:r>
            <a:r>
              <a:rPr spc="-140" dirty="0"/>
              <a:t> </a:t>
            </a:r>
            <a:r>
              <a:rPr dirty="0"/>
              <a:t>Oriented</a:t>
            </a:r>
            <a:r>
              <a:rPr spc="-155" dirty="0"/>
              <a:t> </a:t>
            </a:r>
            <a:r>
              <a:rPr dirty="0"/>
              <a:t>Programming</a:t>
            </a:r>
            <a:endParaRPr spc="-10" dirty="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1</a:t>
            </a:r>
            <a:endParaRPr sz="2400">
              <a:latin typeface="Times New Roman"/>
              <a:cs typeface="Times New Roman"/>
            </a:endParaRPr>
          </a:p>
        </p:txBody>
      </p:sp>
      <p:sp>
        <p:nvSpPr>
          <p:cNvPr id="5" name="object 5"/>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6" name="object 6"/>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7" name="Date Placeholder 6">
            <a:extLst>
              <a:ext uri="{FF2B5EF4-FFF2-40B4-BE49-F238E27FC236}">
                <a16:creationId xmlns:a16="http://schemas.microsoft.com/office/drawing/2014/main" id="{C70D1765-0187-A3BC-FF24-A0A8F2BF079C}"/>
              </a:ext>
            </a:extLst>
          </p:cNvPr>
          <p:cNvSpPr>
            <a:spLocks noGrp="1"/>
          </p:cNvSpPr>
          <p:nvPr>
            <p:ph type="dt" sz="half" idx="10"/>
          </p:nvPr>
        </p:nvSpPr>
        <p:spPr/>
        <p:txBody>
          <a:bodyPr/>
          <a:lstStyle/>
          <a:p>
            <a:fld id="{DF5DD551-A1CB-4DE7-8804-746AA9CD101A}" type="datetime1">
              <a:rPr lang="en-US" smtClean="0"/>
              <a:t>11/17/2025</a:t>
            </a:fld>
            <a:endParaRPr lang="en-US"/>
          </a:p>
        </p:txBody>
      </p:sp>
      <p:sp>
        <p:nvSpPr>
          <p:cNvPr id="9" name="Slide Number Placeholder 8">
            <a:extLst>
              <a:ext uri="{FF2B5EF4-FFF2-40B4-BE49-F238E27FC236}">
                <a16:creationId xmlns:a16="http://schemas.microsoft.com/office/drawing/2014/main" id="{F88AA8E6-5B9C-F400-6DF2-E785583ED6C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23</a:t>
            </a:fld>
            <a:endParaRPr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7464" y="2488390"/>
            <a:ext cx="7037070" cy="1486535"/>
          </a:xfrm>
          <a:prstGeom prst="rect">
            <a:avLst/>
          </a:prstGeom>
        </p:spPr>
        <p:txBody>
          <a:bodyPr vert="horz" wrap="square" lIns="0" tIns="12700" rIns="0" bIns="0" rtlCol="0">
            <a:spAutoFit/>
          </a:bodyPr>
          <a:lstStyle/>
          <a:p>
            <a:pPr marL="3021330" marR="5080" indent="-3009265">
              <a:lnSpc>
                <a:spcPct val="108900"/>
              </a:lnSpc>
              <a:spcBef>
                <a:spcPts val="100"/>
              </a:spcBef>
            </a:pPr>
            <a:r>
              <a:rPr sz="4400" dirty="0"/>
              <a:t>The</a:t>
            </a:r>
            <a:r>
              <a:rPr sz="4400" spc="-120" dirty="0"/>
              <a:t> </a:t>
            </a:r>
            <a:r>
              <a:rPr sz="4400" dirty="0"/>
              <a:t>Standard</a:t>
            </a:r>
            <a:r>
              <a:rPr sz="4400" spc="-175" dirty="0"/>
              <a:t> </a:t>
            </a:r>
            <a:r>
              <a:rPr sz="4400" spc="-10" dirty="0"/>
              <a:t>Template</a:t>
            </a:r>
            <a:r>
              <a:rPr sz="4400" spc="-105" dirty="0"/>
              <a:t> </a:t>
            </a:r>
            <a:r>
              <a:rPr sz="4400" spc="-10" dirty="0"/>
              <a:t>Library </a:t>
            </a:r>
            <a:r>
              <a:rPr sz="4400" spc="-25" dirty="0"/>
              <a:t>STL</a:t>
            </a:r>
            <a:endParaRPr sz="4400" dirty="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2</a:t>
            </a:r>
            <a:endParaRPr sz="2400">
              <a:latin typeface="Times New Roman"/>
              <a:cs typeface="Times New Roman"/>
            </a:endParaRPr>
          </a:p>
        </p:txBody>
      </p:sp>
      <p:sp>
        <p:nvSpPr>
          <p:cNvPr id="5" name="object 5"/>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6" name="object 6"/>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7" name="Date Placeholder 6">
            <a:extLst>
              <a:ext uri="{FF2B5EF4-FFF2-40B4-BE49-F238E27FC236}">
                <a16:creationId xmlns:a16="http://schemas.microsoft.com/office/drawing/2014/main" id="{9B443AA8-60D9-B036-6079-CDFC49FC44A5}"/>
              </a:ext>
            </a:extLst>
          </p:cNvPr>
          <p:cNvSpPr>
            <a:spLocks noGrp="1"/>
          </p:cNvSpPr>
          <p:nvPr>
            <p:ph type="dt" sz="half" idx="10"/>
          </p:nvPr>
        </p:nvSpPr>
        <p:spPr/>
        <p:txBody>
          <a:bodyPr/>
          <a:lstStyle/>
          <a:p>
            <a:fld id="{40681C11-8190-4A5B-899B-60C506FE1F3E}" type="datetime1">
              <a:rPr lang="en-US" smtClean="0"/>
              <a:t>11/17/2025</a:t>
            </a:fld>
            <a:endParaRPr lang="en-US"/>
          </a:p>
        </p:txBody>
      </p:sp>
      <p:sp>
        <p:nvSpPr>
          <p:cNvPr id="9" name="Slide Number Placeholder 8">
            <a:extLst>
              <a:ext uri="{FF2B5EF4-FFF2-40B4-BE49-F238E27FC236}">
                <a16:creationId xmlns:a16="http://schemas.microsoft.com/office/drawing/2014/main" id="{697DFF7C-50F6-148C-B927-56F3824E9F7C}"/>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24</a:t>
            </a:fld>
            <a:endParaRPr spc="-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25" dirty="0"/>
              <a:t> </a:t>
            </a:r>
            <a:r>
              <a:rPr dirty="0"/>
              <a:t>Standard</a:t>
            </a:r>
            <a:r>
              <a:rPr spc="-180" dirty="0"/>
              <a:t> </a:t>
            </a:r>
            <a:r>
              <a:rPr spc="-30" dirty="0"/>
              <a:t>Template</a:t>
            </a:r>
            <a:r>
              <a:rPr spc="-140" dirty="0"/>
              <a:t> </a:t>
            </a:r>
            <a:r>
              <a:rPr spc="-10" dirty="0"/>
              <a:t>Library</a:t>
            </a:r>
          </a:p>
        </p:txBody>
      </p:sp>
      <p:sp>
        <p:nvSpPr>
          <p:cNvPr id="12" name="object 12"/>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786255"/>
            <a:ext cx="10361295" cy="2160270"/>
          </a:xfrm>
          <a:prstGeom prst="rect">
            <a:avLst/>
          </a:prstGeom>
        </p:spPr>
        <p:txBody>
          <a:bodyPr vert="horz" wrap="square" lIns="0" tIns="13335" rIns="0" bIns="0" rtlCol="0">
            <a:spAutoFit/>
          </a:bodyPr>
          <a:lstStyle/>
          <a:p>
            <a:pPr marL="351790" marR="5715"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Standard</a:t>
            </a:r>
            <a:r>
              <a:rPr sz="2000" spc="25" dirty="0">
                <a:latin typeface="Times New Roman"/>
                <a:cs typeface="Times New Roman"/>
              </a:rPr>
              <a:t> </a:t>
            </a:r>
            <a:r>
              <a:rPr sz="2000" spc="-10" dirty="0">
                <a:latin typeface="Times New Roman"/>
                <a:cs typeface="Times New Roman"/>
              </a:rPr>
              <a:t>Template</a:t>
            </a:r>
            <a:r>
              <a:rPr sz="2000" spc="30" dirty="0">
                <a:latin typeface="Times New Roman"/>
                <a:cs typeface="Times New Roman"/>
              </a:rPr>
              <a:t> </a:t>
            </a:r>
            <a:r>
              <a:rPr sz="2000" dirty="0">
                <a:latin typeface="Times New Roman"/>
                <a:cs typeface="Times New Roman"/>
              </a:rPr>
              <a:t>Library</a:t>
            </a:r>
            <a:r>
              <a:rPr sz="2000" spc="15" dirty="0">
                <a:latin typeface="Times New Roman"/>
                <a:cs typeface="Times New Roman"/>
              </a:rPr>
              <a:t> </a:t>
            </a:r>
            <a:r>
              <a:rPr sz="2000" dirty="0">
                <a:latin typeface="Times New Roman"/>
                <a:cs typeface="Times New Roman"/>
              </a:rPr>
              <a:t>(STL),</a:t>
            </a:r>
            <a:r>
              <a:rPr sz="2000" spc="3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was</a:t>
            </a:r>
            <a:r>
              <a:rPr sz="2000" spc="25" dirty="0">
                <a:latin typeface="Times New Roman"/>
                <a:cs typeface="Times New Roman"/>
              </a:rPr>
              <a:t> </a:t>
            </a:r>
            <a:r>
              <a:rPr sz="2000" dirty="0">
                <a:latin typeface="Times New Roman"/>
                <a:cs typeface="Times New Roman"/>
              </a:rPr>
              <a:t>developed</a:t>
            </a:r>
            <a:r>
              <a:rPr sz="2000" spc="20" dirty="0">
                <a:latin typeface="Times New Roman"/>
                <a:cs typeface="Times New Roman"/>
              </a:rPr>
              <a:t> </a:t>
            </a:r>
            <a:r>
              <a:rPr sz="2000" dirty="0">
                <a:latin typeface="Times New Roman"/>
                <a:cs typeface="Times New Roman"/>
              </a:rPr>
              <a:t>by</a:t>
            </a:r>
            <a:r>
              <a:rPr sz="2000" spc="25" dirty="0">
                <a:latin typeface="Times New Roman"/>
                <a:cs typeface="Times New Roman"/>
              </a:rPr>
              <a:t> </a:t>
            </a:r>
            <a:r>
              <a:rPr sz="2000" dirty="0">
                <a:latin typeface="Times New Roman"/>
                <a:cs typeface="Times New Roman"/>
              </a:rPr>
              <a:t>Alexander</a:t>
            </a:r>
            <a:r>
              <a:rPr sz="2000" spc="25" dirty="0">
                <a:latin typeface="Times New Roman"/>
                <a:cs typeface="Times New Roman"/>
              </a:rPr>
              <a:t> </a:t>
            </a:r>
            <a:r>
              <a:rPr sz="2000" dirty="0">
                <a:latin typeface="Times New Roman"/>
                <a:cs typeface="Times New Roman"/>
              </a:rPr>
              <a:t>Stepanov</a:t>
            </a:r>
            <a:r>
              <a:rPr sz="2000" spc="3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Meng</a:t>
            </a:r>
            <a:r>
              <a:rPr sz="2000" spc="30" dirty="0">
                <a:latin typeface="Times New Roman"/>
                <a:cs typeface="Times New Roman"/>
              </a:rPr>
              <a:t> </a:t>
            </a:r>
            <a:r>
              <a:rPr sz="2000" spc="-25" dirty="0">
                <a:latin typeface="Times New Roman"/>
                <a:cs typeface="Times New Roman"/>
              </a:rPr>
              <a:t>Lee 	</a:t>
            </a:r>
            <a:r>
              <a:rPr sz="2000" dirty="0">
                <a:latin typeface="Times New Roman"/>
                <a:cs typeface="Times New Roman"/>
              </a:rPr>
              <a:t>of</a:t>
            </a:r>
            <a:r>
              <a:rPr sz="2000" spc="-35" dirty="0">
                <a:latin typeface="Times New Roman"/>
                <a:cs typeface="Times New Roman"/>
              </a:rPr>
              <a:t> </a:t>
            </a:r>
            <a:r>
              <a:rPr sz="2000" dirty="0">
                <a:latin typeface="Times New Roman"/>
                <a:cs typeface="Times New Roman"/>
              </a:rPr>
              <a:t>Hewlett</a:t>
            </a:r>
            <a:r>
              <a:rPr sz="2000" spc="-35" dirty="0">
                <a:latin typeface="Times New Roman"/>
                <a:cs typeface="Times New Roman"/>
              </a:rPr>
              <a:t> </a:t>
            </a:r>
            <a:r>
              <a:rPr sz="2000" spc="-10" dirty="0">
                <a:latin typeface="Times New Roman"/>
                <a:cs typeface="Times New Roman"/>
              </a:rPr>
              <a:t>Packard.</a:t>
            </a:r>
            <a:endParaRPr sz="2000">
              <a:latin typeface="Times New Roman"/>
              <a:cs typeface="Times New Roman"/>
            </a:endParaRPr>
          </a:p>
          <a:p>
            <a:pPr marL="351790" marR="9525" indent="-339725" algn="just">
              <a:lnSpc>
                <a:spcPct val="100000"/>
              </a:lnSpc>
              <a:buFont typeface="Arial MT"/>
              <a:buChar char="•"/>
              <a:tabLst>
                <a:tab pos="355600" algn="l"/>
              </a:tabLst>
            </a:pPr>
            <a:r>
              <a:rPr sz="2000" dirty="0">
                <a:latin typeface="Times New Roman"/>
                <a:cs typeface="Times New Roman"/>
              </a:rPr>
              <a:t>The</a:t>
            </a:r>
            <a:r>
              <a:rPr sz="2000" spc="245" dirty="0">
                <a:latin typeface="Times New Roman"/>
                <a:cs typeface="Times New Roman"/>
              </a:rPr>
              <a:t> </a:t>
            </a:r>
            <a:r>
              <a:rPr sz="2000" dirty="0">
                <a:latin typeface="Times New Roman"/>
                <a:cs typeface="Times New Roman"/>
              </a:rPr>
              <a:t>STL</a:t>
            </a:r>
            <a:r>
              <a:rPr sz="2000" spc="180" dirty="0">
                <a:latin typeface="Times New Roman"/>
                <a:cs typeface="Times New Roman"/>
              </a:rPr>
              <a:t> </a:t>
            </a:r>
            <a:r>
              <a:rPr sz="2000" dirty="0">
                <a:latin typeface="Times New Roman"/>
                <a:cs typeface="Times New Roman"/>
              </a:rPr>
              <a:t>is</a:t>
            </a:r>
            <a:r>
              <a:rPr sz="2000" spc="245" dirty="0">
                <a:latin typeface="Times New Roman"/>
                <a:cs typeface="Times New Roman"/>
              </a:rPr>
              <a:t> </a:t>
            </a:r>
            <a:r>
              <a:rPr sz="2000" dirty="0">
                <a:latin typeface="Times New Roman"/>
                <a:cs typeface="Times New Roman"/>
              </a:rPr>
              <a:t>part</a:t>
            </a:r>
            <a:r>
              <a:rPr sz="2000" spc="245" dirty="0">
                <a:latin typeface="Times New Roman"/>
                <a:cs typeface="Times New Roman"/>
              </a:rPr>
              <a:t> </a:t>
            </a:r>
            <a:r>
              <a:rPr sz="2000" dirty="0">
                <a:latin typeface="Times New Roman"/>
                <a:cs typeface="Times New Roman"/>
              </a:rPr>
              <a:t>of</a:t>
            </a:r>
            <a:r>
              <a:rPr sz="2000" spc="250" dirty="0">
                <a:latin typeface="Times New Roman"/>
                <a:cs typeface="Times New Roman"/>
              </a:rPr>
              <a:t> </a:t>
            </a:r>
            <a:r>
              <a:rPr sz="2000" dirty="0">
                <a:latin typeface="Times New Roman"/>
                <a:cs typeface="Times New Roman"/>
              </a:rPr>
              <a:t>the</a:t>
            </a:r>
            <a:r>
              <a:rPr sz="2000" spc="254" dirty="0">
                <a:latin typeface="Times New Roman"/>
                <a:cs typeface="Times New Roman"/>
              </a:rPr>
              <a:t> </a:t>
            </a:r>
            <a:r>
              <a:rPr sz="2000" dirty="0">
                <a:latin typeface="Times New Roman"/>
                <a:cs typeface="Times New Roman"/>
              </a:rPr>
              <a:t>Standard</a:t>
            </a:r>
            <a:r>
              <a:rPr sz="2000" spc="265" dirty="0">
                <a:latin typeface="Times New Roman"/>
                <a:cs typeface="Times New Roman"/>
              </a:rPr>
              <a:t> </a:t>
            </a:r>
            <a:r>
              <a:rPr sz="2000" dirty="0">
                <a:latin typeface="Times New Roman"/>
                <a:cs typeface="Times New Roman"/>
              </a:rPr>
              <a:t>C++</a:t>
            </a:r>
            <a:r>
              <a:rPr sz="2000" spc="245" dirty="0">
                <a:latin typeface="Times New Roman"/>
                <a:cs typeface="Times New Roman"/>
              </a:rPr>
              <a:t> </a:t>
            </a:r>
            <a:r>
              <a:rPr sz="2000" dirty="0">
                <a:latin typeface="Times New Roman"/>
                <a:cs typeface="Times New Roman"/>
              </a:rPr>
              <a:t>class</a:t>
            </a:r>
            <a:r>
              <a:rPr sz="2000" spc="245" dirty="0">
                <a:latin typeface="Times New Roman"/>
                <a:cs typeface="Times New Roman"/>
              </a:rPr>
              <a:t> </a:t>
            </a:r>
            <a:r>
              <a:rPr sz="2000" dirty="0">
                <a:latin typeface="Times New Roman"/>
                <a:cs typeface="Times New Roman"/>
              </a:rPr>
              <a:t>library,</a:t>
            </a:r>
            <a:r>
              <a:rPr sz="2000" spc="250" dirty="0">
                <a:latin typeface="Times New Roman"/>
                <a:cs typeface="Times New Roman"/>
              </a:rPr>
              <a:t> </a:t>
            </a:r>
            <a:r>
              <a:rPr sz="2000" dirty="0">
                <a:latin typeface="Times New Roman"/>
                <a:cs typeface="Times New Roman"/>
              </a:rPr>
              <a:t>and</a:t>
            </a:r>
            <a:r>
              <a:rPr sz="2000" spc="260" dirty="0">
                <a:latin typeface="Times New Roman"/>
                <a:cs typeface="Times New Roman"/>
              </a:rPr>
              <a:t> </a:t>
            </a:r>
            <a:r>
              <a:rPr sz="2000" dirty="0">
                <a:latin typeface="Times New Roman"/>
                <a:cs typeface="Times New Roman"/>
              </a:rPr>
              <a:t>can</a:t>
            </a:r>
            <a:r>
              <a:rPr sz="2000" spc="250" dirty="0">
                <a:latin typeface="Times New Roman"/>
                <a:cs typeface="Times New Roman"/>
              </a:rPr>
              <a:t> </a:t>
            </a:r>
            <a:r>
              <a:rPr sz="2000" dirty="0">
                <a:latin typeface="Times New Roman"/>
                <a:cs typeface="Times New Roman"/>
              </a:rPr>
              <a:t>be</a:t>
            </a:r>
            <a:r>
              <a:rPr sz="2000" spc="229" dirty="0">
                <a:latin typeface="Times New Roman"/>
                <a:cs typeface="Times New Roman"/>
              </a:rPr>
              <a:t> </a:t>
            </a:r>
            <a:r>
              <a:rPr sz="2000" dirty="0">
                <a:latin typeface="Times New Roman"/>
                <a:cs typeface="Times New Roman"/>
              </a:rPr>
              <a:t>used</a:t>
            </a:r>
            <a:r>
              <a:rPr sz="2000" spc="254" dirty="0">
                <a:latin typeface="Times New Roman"/>
                <a:cs typeface="Times New Roman"/>
              </a:rPr>
              <a:t> </a:t>
            </a:r>
            <a:r>
              <a:rPr sz="2000" dirty="0">
                <a:latin typeface="Times New Roman"/>
                <a:cs typeface="Times New Roman"/>
              </a:rPr>
              <a:t>as</a:t>
            </a:r>
            <a:r>
              <a:rPr sz="2000" spc="235" dirty="0">
                <a:latin typeface="Times New Roman"/>
                <a:cs typeface="Times New Roman"/>
              </a:rPr>
              <a:t> </a:t>
            </a:r>
            <a:r>
              <a:rPr sz="2000" dirty="0">
                <a:latin typeface="Times New Roman"/>
                <a:cs typeface="Times New Roman"/>
              </a:rPr>
              <a:t>a</a:t>
            </a:r>
            <a:r>
              <a:rPr sz="2000" spc="254" dirty="0">
                <a:latin typeface="Times New Roman"/>
                <a:cs typeface="Times New Roman"/>
              </a:rPr>
              <a:t> </a:t>
            </a:r>
            <a:r>
              <a:rPr sz="2000" dirty="0">
                <a:latin typeface="Times New Roman"/>
                <a:cs typeface="Times New Roman"/>
              </a:rPr>
              <a:t>standard</a:t>
            </a:r>
            <a:r>
              <a:rPr sz="2000" spc="254" dirty="0">
                <a:latin typeface="Times New Roman"/>
                <a:cs typeface="Times New Roman"/>
              </a:rPr>
              <a:t> </a:t>
            </a:r>
            <a:r>
              <a:rPr sz="2000" dirty="0">
                <a:latin typeface="Times New Roman"/>
                <a:cs typeface="Times New Roman"/>
              </a:rPr>
              <a:t>approach</a:t>
            </a:r>
            <a:r>
              <a:rPr sz="2000" spc="235" dirty="0">
                <a:latin typeface="Times New Roman"/>
                <a:cs typeface="Times New Roman"/>
              </a:rPr>
              <a:t> </a:t>
            </a:r>
            <a:r>
              <a:rPr sz="2000" spc="-25" dirty="0">
                <a:latin typeface="Times New Roman"/>
                <a:cs typeface="Times New Roman"/>
              </a:rPr>
              <a:t>to 	</a:t>
            </a:r>
            <a:r>
              <a:rPr sz="2000" dirty="0">
                <a:latin typeface="Times New Roman"/>
                <a:cs typeface="Times New Roman"/>
              </a:rPr>
              <a:t>storing</a:t>
            </a:r>
            <a:r>
              <a:rPr sz="2000" spc="-4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processing</a:t>
            </a:r>
            <a:r>
              <a:rPr sz="2000" spc="-30" dirty="0">
                <a:latin typeface="Times New Roman"/>
                <a:cs typeface="Times New Roman"/>
              </a:rPr>
              <a:t> </a:t>
            </a:r>
            <a:r>
              <a:rPr sz="2000" spc="-10" dirty="0">
                <a:latin typeface="Times New Roman"/>
                <a:cs typeface="Times New Roman"/>
              </a:rPr>
              <a:t>data.</a:t>
            </a:r>
            <a:endParaRPr sz="2000">
              <a:latin typeface="Times New Roman"/>
              <a:cs typeface="Times New Roman"/>
            </a:endParaRPr>
          </a:p>
          <a:p>
            <a:pPr marL="351790" marR="5080" indent="-339725" algn="just">
              <a:lnSpc>
                <a:spcPct val="100000"/>
              </a:lnSpc>
              <a:buFont typeface="Arial MT"/>
              <a:buChar char="•"/>
              <a:tabLst>
                <a:tab pos="355600" algn="l"/>
              </a:tabLst>
            </a:pPr>
            <a:r>
              <a:rPr sz="2000" dirty="0">
                <a:latin typeface="Times New Roman"/>
                <a:cs typeface="Times New Roman"/>
              </a:rPr>
              <a:t>The</a:t>
            </a:r>
            <a:r>
              <a:rPr sz="2000" spc="100" dirty="0">
                <a:latin typeface="Times New Roman"/>
                <a:cs typeface="Times New Roman"/>
              </a:rPr>
              <a:t> </a:t>
            </a:r>
            <a:r>
              <a:rPr sz="2000" dirty="0">
                <a:latin typeface="Times New Roman"/>
                <a:cs typeface="Times New Roman"/>
              </a:rPr>
              <a:t>STL</a:t>
            </a:r>
            <a:r>
              <a:rPr sz="2000" spc="20" dirty="0">
                <a:latin typeface="Times New Roman"/>
                <a:cs typeface="Times New Roman"/>
              </a:rPr>
              <a:t> </a:t>
            </a:r>
            <a:r>
              <a:rPr sz="2000" dirty="0">
                <a:latin typeface="Times New Roman"/>
                <a:cs typeface="Times New Roman"/>
              </a:rPr>
              <a:t>is</a:t>
            </a:r>
            <a:r>
              <a:rPr sz="2000" spc="95" dirty="0">
                <a:latin typeface="Times New Roman"/>
                <a:cs typeface="Times New Roman"/>
              </a:rPr>
              <a:t> </a:t>
            </a:r>
            <a:r>
              <a:rPr sz="2000" dirty="0">
                <a:latin typeface="Times New Roman"/>
                <a:cs typeface="Times New Roman"/>
              </a:rPr>
              <a:t>a</a:t>
            </a:r>
            <a:r>
              <a:rPr sz="2000" spc="85" dirty="0">
                <a:latin typeface="Times New Roman"/>
                <a:cs typeface="Times New Roman"/>
              </a:rPr>
              <a:t> </a:t>
            </a:r>
            <a:r>
              <a:rPr sz="2000" dirty="0">
                <a:latin typeface="Times New Roman"/>
                <a:cs typeface="Times New Roman"/>
              </a:rPr>
              <a:t>powerful</a:t>
            </a:r>
            <a:r>
              <a:rPr sz="2000" spc="95" dirty="0">
                <a:latin typeface="Times New Roman"/>
                <a:cs typeface="Times New Roman"/>
              </a:rPr>
              <a:t> </a:t>
            </a:r>
            <a:r>
              <a:rPr sz="2000" dirty="0">
                <a:latin typeface="Times New Roman"/>
                <a:cs typeface="Times New Roman"/>
              </a:rPr>
              <a:t>set</a:t>
            </a:r>
            <a:r>
              <a:rPr sz="2000" spc="80" dirty="0">
                <a:latin typeface="Times New Roman"/>
                <a:cs typeface="Times New Roman"/>
              </a:rPr>
              <a:t> </a:t>
            </a:r>
            <a:r>
              <a:rPr sz="2000" dirty="0">
                <a:latin typeface="Times New Roman"/>
                <a:cs typeface="Times New Roman"/>
              </a:rPr>
              <a:t>of</a:t>
            </a:r>
            <a:r>
              <a:rPr sz="2000" spc="110" dirty="0">
                <a:latin typeface="Times New Roman"/>
                <a:cs typeface="Times New Roman"/>
              </a:rPr>
              <a:t> </a:t>
            </a:r>
            <a:r>
              <a:rPr sz="2000" dirty="0">
                <a:latin typeface="Times New Roman"/>
                <a:cs typeface="Times New Roman"/>
              </a:rPr>
              <a:t>C++</a:t>
            </a:r>
            <a:r>
              <a:rPr sz="2000" spc="80" dirty="0">
                <a:latin typeface="Times New Roman"/>
                <a:cs typeface="Times New Roman"/>
              </a:rPr>
              <a:t> </a:t>
            </a:r>
            <a:r>
              <a:rPr sz="2000" dirty="0">
                <a:latin typeface="Times New Roman"/>
                <a:cs typeface="Times New Roman"/>
              </a:rPr>
              <a:t>template</a:t>
            </a:r>
            <a:r>
              <a:rPr sz="2000" spc="105" dirty="0">
                <a:latin typeface="Times New Roman"/>
                <a:cs typeface="Times New Roman"/>
              </a:rPr>
              <a:t> </a:t>
            </a:r>
            <a:r>
              <a:rPr sz="2000" dirty="0">
                <a:latin typeface="Times New Roman"/>
                <a:cs typeface="Times New Roman"/>
              </a:rPr>
              <a:t>classes</a:t>
            </a:r>
            <a:r>
              <a:rPr sz="2000" spc="95" dirty="0">
                <a:latin typeface="Times New Roman"/>
                <a:cs typeface="Times New Roman"/>
              </a:rPr>
              <a:t> </a:t>
            </a:r>
            <a:r>
              <a:rPr sz="2000" dirty="0">
                <a:latin typeface="Times New Roman"/>
                <a:cs typeface="Times New Roman"/>
              </a:rPr>
              <a:t>that</a:t>
            </a:r>
            <a:r>
              <a:rPr sz="2000" spc="80" dirty="0">
                <a:latin typeface="Times New Roman"/>
                <a:cs typeface="Times New Roman"/>
              </a:rPr>
              <a:t> </a:t>
            </a:r>
            <a:r>
              <a:rPr sz="2000" dirty="0">
                <a:latin typeface="Times New Roman"/>
                <a:cs typeface="Times New Roman"/>
              </a:rPr>
              <a:t>implement</a:t>
            </a:r>
            <a:r>
              <a:rPr sz="2000" spc="105" dirty="0">
                <a:latin typeface="Times New Roman"/>
                <a:cs typeface="Times New Roman"/>
              </a:rPr>
              <a:t> </a:t>
            </a:r>
            <a:r>
              <a:rPr sz="2000" dirty="0">
                <a:latin typeface="Times New Roman"/>
                <a:cs typeface="Times New Roman"/>
              </a:rPr>
              <a:t>many</a:t>
            </a:r>
            <a:r>
              <a:rPr sz="2000" spc="100" dirty="0">
                <a:latin typeface="Times New Roman"/>
                <a:cs typeface="Times New Roman"/>
              </a:rPr>
              <a:t> </a:t>
            </a:r>
            <a:r>
              <a:rPr sz="2000" dirty="0">
                <a:latin typeface="Times New Roman"/>
                <a:cs typeface="Times New Roman"/>
              </a:rPr>
              <a:t>popular</a:t>
            </a:r>
            <a:r>
              <a:rPr sz="2000" spc="110" dirty="0">
                <a:latin typeface="Times New Roman"/>
                <a:cs typeface="Times New Roman"/>
              </a:rPr>
              <a:t> </a:t>
            </a:r>
            <a:r>
              <a:rPr sz="2000" dirty="0">
                <a:latin typeface="Times New Roman"/>
                <a:cs typeface="Times New Roman"/>
              </a:rPr>
              <a:t>and</a:t>
            </a:r>
            <a:r>
              <a:rPr sz="2000" spc="85" dirty="0">
                <a:latin typeface="Times New Roman"/>
                <a:cs typeface="Times New Roman"/>
              </a:rPr>
              <a:t> </a:t>
            </a:r>
            <a:r>
              <a:rPr sz="2000" spc="-10" dirty="0">
                <a:latin typeface="Times New Roman"/>
                <a:cs typeface="Times New Roman"/>
              </a:rPr>
              <a:t>commonly 	</a:t>
            </a:r>
            <a:r>
              <a:rPr sz="2000" dirty="0">
                <a:latin typeface="Times New Roman"/>
                <a:cs typeface="Times New Roman"/>
              </a:rPr>
              <a:t>used</a:t>
            </a:r>
            <a:r>
              <a:rPr sz="2000" spc="75" dirty="0">
                <a:latin typeface="Times New Roman"/>
                <a:cs typeface="Times New Roman"/>
              </a:rPr>
              <a:t> </a:t>
            </a:r>
            <a:r>
              <a:rPr sz="2000" dirty="0">
                <a:latin typeface="Times New Roman"/>
                <a:cs typeface="Times New Roman"/>
              </a:rPr>
              <a:t>algorithms</a:t>
            </a:r>
            <a:r>
              <a:rPr sz="2000" spc="80" dirty="0">
                <a:latin typeface="Times New Roman"/>
                <a:cs typeface="Times New Roman"/>
              </a:rPr>
              <a:t> </a:t>
            </a:r>
            <a:r>
              <a:rPr sz="2000" dirty="0">
                <a:latin typeface="Times New Roman"/>
                <a:cs typeface="Times New Roman"/>
              </a:rPr>
              <a:t>and</a:t>
            </a:r>
            <a:r>
              <a:rPr sz="2000" spc="65" dirty="0">
                <a:latin typeface="Times New Roman"/>
                <a:cs typeface="Times New Roman"/>
              </a:rPr>
              <a:t> </a:t>
            </a:r>
            <a:r>
              <a:rPr sz="2000" dirty="0">
                <a:latin typeface="Times New Roman"/>
                <a:cs typeface="Times New Roman"/>
              </a:rPr>
              <a:t>data</a:t>
            </a:r>
            <a:r>
              <a:rPr sz="2000" spc="70" dirty="0">
                <a:latin typeface="Times New Roman"/>
                <a:cs typeface="Times New Roman"/>
              </a:rPr>
              <a:t> </a:t>
            </a:r>
            <a:r>
              <a:rPr sz="2000" dirty="0">
                <a:latin typeface="Times New Roman"/>
                <a:cs typeface="Times New Roman"/>
              </a:rPr>
              <a:t>structures,</a:t>
            </a:r>
            <a:r>
              <a:rPr sz="2000" spc="75" dirty="0">
                <a:latin typeface="Times New Roman"/>
                <a:cs typeface="Times New Roman"/>
              </a:rPr>
              <a:t> </a:t>
            </a:r>
            <a:r>
              <a:rPr sz="2000" dirty="0">
                <a:latin typeface="Times New Roman"/>
                <a:cs typeface="Times New Roman"/>
              </a:rPr>
              <a:t>also</a:t>
            </a:r>
            <a:r>
              <a:rPr sz="2000" spc="60" dirty="0">
                <a:latin typeface="Times New Roman"/>
                <a:cs typeface="Times New Roman"/>
              </a:rPr>
              <a:t> </a:t>
            </a:r>
            <a:r>
              <a:rPr sz="2000" dirty="0">
                <a:latin typeface="Times New Roman"/>
                <a:cs typeface="Times New Roman"/>
              </a:rPr>
              <a:t>provide</a:t>
            </a:r>
            <a:r>
              <a:rPr sz="2000" spc="60" dirty="0">
                <a:latin typeface="Times New Roman"/>
                <a:cs typeface="Times New Roman"/>
              </a:rPr>
              <a:t> </a:t>
            </a:r>
            <a:r>
              <a:rPr sz="2000" dirty="0">
                <a:latin typeface="Times New Roman"/>
                <a:cs typeface="Times New Roman"/>
              </a:rPr>
              <a:t>generic</a:t>
            </a:r>
            <a:r>
              <a:rPr sz="2000" spc="55" dirty="0">
                <a:latin typeface="Times New Roman"/>
                <a:cs typeface="Times New Roman"/>
              </a:rPr>
              <a:t> </a:t>
            </a:r>
            <a:r>
              <a:rPr sz="2000" dirty="0">
                <a:latin typeface="Times New Roman"/>
                <a:cs typeface="Times New Roman"/>
              </a:rPr>
              <a:t>classes</a:t>
            </a:r>
            <a:r>
              <a:rPr sz="2000" spc="75" dirty="0">
                <a:latin typeface="Times New Roman"/>
                <a:cs typeface="Times New Roman"/>
              </a:rPr>
              <a:t> </a:t>
            </a:r>
            <a:r>
              <a:rPr sz="2000" dirty="0">
                <a:latin typeface="Times New Roman"/>
                <a:cs typeface="Times New Roman"/>
              </a:rPr>
              <a:t>and</a:t>
            </a:r>
            <a:r>
              <a:rPr sz="2000" spc="70" dirty="0">
                <a:latin typeface="Times New Roman"/>
                <a:cs typeface="Times New Roman"/>
              </a:rPr>
              <a:t> </a:t>
            </a:r>
            <a:r>
              <a:rPr sz="2000" dirty="0">
                <a:latin typeface="Times New Roman"/>
                <a:cs typeface="Times New Roman"/>
              </a:rPr>
              <a:t>function</a:t>
            </a:r>
            <a:r>
              <a:rPr sz="2000" spc="75" dirty="0">
                <a:latin typeface="Times New Roman"/>
                <a:cs typeface="Times New Roman"/>
              </a:rPr>
              <a:t> </a:t>
            </a:r>
            <a:r>
              <a:rPr sz="2000" dirty="0">
                <a:latin typeface="Times New Roman"/>
                <a:cs typeface="Times New Roman"/>
              </a:rPr>
              <a:t>that</a:t>
            </a:r>
            <a:r>
              <a:rPr sz="2000" spc="60" dirty="0">
                <a:latin typeface="Times New Roman"/>
                <a:cs typeface="Times New Roman"/>
              </a:rPr>
              <a:t> </a:t>
            </a:r>
            <a:r>
              <a:rPr sz="2000" dirty="0">
                <a:latin typeface="Times New Roman"/>
                <a:cs typeface="Times New Roman"/>
              </a:rPr>
              <a:t>can</a:t>
            </a:r>
            <a:r>
              <a:rPr sz="2000" spc="60" dirty="0">
                <a:latin typeface="Times New Roman"/>
                <a:cs typeface="Times New Roman"/>
              </a:rPr>
              <a:t> </a:t>
            </a:r>
            <a:r>
              <a:rPr sz="2000" dirty="0">
                <a:latin typeface="Times New Roman"/>
                <a:cs typeface="Times New Roman"/>
              </a:rPr>
              <a:t>be</a:t>
            </a:r>
            <a:r>
              <a:rPr sz="2000" spc="70" dirty="0">
                <a:latin typeface="Times New Roman"/>
                <a:cs typeface="Times New Roman"/>
              </a:rPr>
              <a:t> </a:t>
            </a:r>
            <a:r>
              <a:rPr sz="2000" dirty="0">
                <a:latin typeface="Times New Roman"/>
                <a:cs typeface="Times New Roman"/>
              </a:rPr>
              <a:t>used</a:t>
            </a:r>
            <a:r>
              <a:rPr sz="2000" spc="70" dirty="0">
                <a:latin typeface="Times New Roman"/>
                <a:cs typeface="Times New Roman"/>
              </a:rPr>
              <a:t> </a:t>
            </a:r>
            <a:r>
              <a:rPr sz="2000" spc="-25" dirty="0">
                <a:latin typeface="Times New Roman"/>
                <a:cs typeface="Times New Roman"/>
              </a:rPr>
              <a:t>to 	</a:t>
            </a:r>
            <a:r>
              <a:rPr sz="2000" dirty="0">
                <a:latin typeface="Times New Roman"/>
                <a:cs typeface="Times New Roman"/>
              </a:rPr>
              <a:t>manipulate</a:t>
            </a:r>
            <a:r>
              <a:rPr sz="2000" spc="-50" dirty="0">
                <a:latin typeface="Times New Roman"/>
                <a:cs typeface="Times New Roman"/>
              </a:rPr>
              <a:t> </a:t>
            </a:r>
            <a:r>
              <a:rPr sz="2000" spc="-10" dirty="0">
                <a:latin typeface="Times New Roman"/>
                <a:cs typeface="Times New Roman"/>
              </a:rPr>
              <a:t>data.</a:t>
            </a:r>
            <a:endParaRPr sz="2000">
              <a:latin typeface="Times New Roman"/>
              <a:cs typeface="Times New Roman"/>
            </a:endParaRPr>
          </a:p>
        </p:txBody>
      </p:sp>
      <p:grpSp>
        <p:nvGrpSpPr>
          <p:cNvPr id="4" name="object 4"/>
          <p:cNvGrpSpPr/>
          <p:nvPr/>
        </p:nvGrpSpPr>
        <p:grpSpPr>
          <a:xfrm>
            <a:off x="4664964" y="4267200"/>
            <a:ext cx="2147570" cy="598170"/>
            <a:chOff x="4664964" y="4267200"/>
            <a:chExt cx="2147570" cy="598170"/>
          </a:xfrm>
        </p:grpSpPr>
        <p:sp>
          <p:nvSpPr>
            <p:cNvPr id="5" name="object 5"/>
            <p:cNvSpPr/>
            <p:nvPr/>
          </p:nvSpPr>
          <p:spPr>
            <a:xfrm>
              <a:off x="4664964" y="4267200"/>
              <a:ext cx="2147570" cy="544195"/>
            </a:xfrm>
            <a:custGeom>
              <a:avLst/>
              <a:gdLst/>
              <a:ahLst/>
              <a:cxnLst/>
              <a:rect l="l" t="t" r="r" b="b"/>
              <a:pathLst>
                <a:path w="2147570" h="544195">
                  <a:moveTo>
                    <a:pt x="2147316" y="0"/>
                  </a:moveTo>
                  <a:lnTo>
                    <a:pt x="0" y="0"/>
                  </a:lnTo>
                  <a:lnTo>
                    <a:pt x="0" y="544068"/>
                  </a:lnTo>
                  <a:lnTo>
                    <a:pt x="2147316" y="544068"/>
                  </a:lnTo>
                  <a:lnTo>
                    <a:pt x="2147316" y="0"/>
                  </a:lnTo>
                  <a:close/>
                </a:path>
              </a:pathLst>
            </a:custGeom>
            <a:solidFill>
              <a:srgbClr val="5B9BD4"/>
            </a:solidFill>
          </p:spPr>
          <p:txBody>
            <a:bodyPr wrap="square" lIns="0" tIns="0" rIns="0" bIns="0" rtlCol="0"/>
            <a:lstStyle/>
            <a:p>
              <a:endParaRPr/>
            </a:p>
          </p:txBody>
        </p:sp>
        <p:pic>
          <p:nvPicPr>
            <p:cNvPr id="6" name="object 6"/>
            <p:cNvPicPr/>
            <p:nvPr/>
          </p:nvPicPr>
          <p:blipFill>
            <a:blip r:embed="rId2" cstate="print"/>
            <a:stretch>
              <a:fillRect/>
            </a:stretch>
          </p:blipFill>
          <p:spPr>
            <a:xfrm>
              <a:off x="5347716" y="4297680"/>
              <a:ext cx="791717" cy="567690"/>
            </a:xfrm>
            <a:prstGeom prst="rect">
              <a:avLst/>
            </a:prstGeom>
          </p:spPr>
        </p:pic>
      </p:grpSp>
      <p:sp>
        <p:nvSpPr>
          <p:cNvPr id="7" name="object 7"/>
          <p:cNvSpPr txBox="1"/>
          <p:nvPr/>
        </p:nvSpPr>
        <p:spPr>
          <a:xfrm>
            <a:off x="4664964" y="4267200"/>
            <a:ext cx="2147570" cy="544195"/>
          </a:xfrm>
          <a:prstGeom prst="rect">
            <a:avLst/>
          </a:prstGeom>
          <a:ln w="12700">
            <a:solidFill>
              <a:srgbClr val="41709C"/>
            </a:solidFill>
          </a:ln>
        </p:spPr>
        <p:txBody>
          <a:bodyPr vert="horz" wrap="square" lIns="0" tIns="111760" rIns="0" bIns="0" rtlCol="0">
            <a:spAutoFit/>
          </a:bodyPr>
          <a:lstStyle/>
          <a:p>
            <a:pPr marL="635" algn="ctr">
              <a:lnSpc>
                <a:spcPct val="100000"/>
              </a:lnSpc>
              <a:spcBef>
                <a:spcPts val="880"/>
              </a:spcBef>
            </a:pPr>
            <a:r>
              <a:rPr sz="2000" spc="-25" dirty="0">
                <a:latin typeface="Times New Roman"/>
                <a:cs typeface="Times New Roman"/>
              </a:rPr>
              <a:t>STL</a:t>
            </a:r>
            <a:endParaRPr sz="2000">
              <a:latin typeface="Times New Roman"/>
              <a:cs typeface="Times New Roman"/>
            </a:endParaRPr>
          </a:p>
        </p:txBody>
      </p:sp>
      <p:sp>
        <p:nvSpPr>
          <p:cNvPr id="8" name="object 8"/>
          <p:cNvSpPr txBox="1"/>
          <p:nvPr/>
        </p:nvSpPr>
        <p:spPr>
          <a:xfrm>
            <a:off x="1994916" y="5452871"/>
            <a:ext cx="2146300" cy="544195"/>
          </a:xfrm>
          <a:prstGeom prst="rect">
            <a:avLst/>
          </a:prstGeom>
          <a:solidFill>
            <a:srgbClr val="5B9BD4"/>
          </a:solidFill>
          <a:ln w="12700">
            <a:solidFill>
              <a:srgbClr val="41709C"/>
            </a:solidFill>
          </a:ln>
        </p:spPr>
        <p:txBody>
          <a:bodyPr vert="horz" wrap="square" lIns="0" tIns="112395" rIns="0" bIns="0" rtlCol="0">
            <a:spAutoFit/>
          </a:bodyPr>
          <a:lstStyle/>
          <a:p>
            <a:pPr marL="571500">
              <a:lnSpc>
                <a:spcPct val="100000"/>
              </a:lnSpc>
              <a:spcBef>
                <a:spcPts val="885"/>
              </a:spcBef>
            </a:pPr>
            <a:r>
              <a:rPr sz="2000" spc="-10" dirty="0">
                <a:latin typeface="Times New Roman"/>
                <a:cs typeface="Times New Roman"/>
              </a:rPr>
              <a:t>Container</a:t>
            </a:r>
            <a:endParaRPr sz="2000">
              <a:latin typeface="Times New Roman"/>
              <a:cs typeface="Times New Roman"/>
            </a:endParaRPr>
          </a:p>
        </p:txBody>
      </p:sp>
      <p:sp>
        <p:nvSpPr>
          <p:cNvPr id="9" name="object 9"/>
          <p:cNvSpPr txBox="1"/>
          <p:nvPr/>
        </p:nvSpPr>
        <p:spPr>
          <a:xfrm>
            <a:off x="4664964" y="5452871"/>
            <a:ext cx="2147570" cy="544195"/>
          </a:xfrm>
          <a:prstGeom prst="rect">
            <a:avLst/>
          </a:prstGeom>
          <a:solidFill>
            <a:srgbClr val="5B9BD4"/>
          </a:solidFill>
          <a:ln w="12700">
            <a:solidFill>
              <a:srgbClr val="41709C"/>
            </a:solidFill>
          </a:ln>
        </p:spPr>
        <p:txBody>
          <a:bodyPr vert="horz" wrap="square" lIns="0" tIns="112395" rIns="0" bIns="0" rtlCol="0">
            <a:spAutoFit/>
          </a:bodyPr>
          <a:lstStyle/>
          <a:p>
            <a:pPr marL="494030">
              <a:lnSpc>
                <a:spcPct val="100000"/>
              </a:lnSpc>
              <a:spcBef>
                <a:spcPts val="885"/>
              </a:spcBef>
            </a:pPr>
            <a:r>
              <a:rPr sz="2000" spc="-10" dirty="0">
                <a:latin typeface="Times New Roman"/>
                <a:cs typeface="Times New Roman"/>
              </a:rPr>
              <a:t>Algorithms</a:t>
            </a:r>
            <a:endParaRPr sz="2000">
              <a:latin typeface="Times New Roman"/>
              <a:cs typeface="Times New Roman"/>
            </a:endParaRPr>
          </a:p>
        </p:txBody>
      </p:sp>
      <p:sp>
        <p:nvSpPr>
          <p:cNvPr id="10" name="object 10"/>
          <p:cNvSpPr txBox="1"/>
          <p:nvPr/>
        </p:nvSpPr>
        <p:spPr>
          <a:xfrm>
            <a:off x="7335011" y="5452871"/>
            <a:ext cx="2147570" cy="544195"/>
          </a:xfrm>
          <a:prstGeom prst="rect">
            <a:avLst/>
          </a:prstGeom>
          <a:solidFill>
            <a:srgbClr val="5B9BD4"/>
          </a:solidFill>
          <a:ln w="12700">
            <a:solidFill>
              <a:srgbClr val="41709C"/>
            </a:solidFill>
          </a:ln>
        </p:spPr>
        <p:txBody>
          <a:bodyPr vert="horz" wrap="square" lIns="0" tIns="112395" rIns="0" bIns="0" rtlCol="0">
            <a:spAutoFit/>
          </a:bodyPr>
          <a:lstStyle/>
          <a:p>
            <a:pPr marL="650240">
              <a:lnSpc>
                <a:spcPct val="100000"/>
              </a:lnSpc>
              <a:spcBef>
                <a:spcPts val="885"/>
              </a:spcBef>
            </a:pPr>
            <a:r>
              <a:rPr sz="2000" spc="-10" dirty="0">
                <a:latin typeface="Times New Roman"/>
                <a:cs typeface="Times New Roman"/>
              </a:rPr>
              <a:t>Iterators</a:t>
            </a:r>
            <a:endParaRPr sz="2000">
              <a:latin typeface="Times New Roman"/>
              <a:cs typeface="Times New Roman"/>
            </a:endParaRPr>
          </a:p>
        </p:txBody>
      </p:sp>
      <p:sp>
        <p:nvSpPr>
          <p:cNvPr id="11" name="object 11"/>
          <p:cNvSpPr/>
          <p:nvPr/>
        </p:nvSpPr>
        <p:spPr>
          <a:xfrm>
            <a:off x="3068574" y="4798186"/>
            <a:ext cx="5340350" cy="678180"/>
          </a:xfrm>
          <a:custGeom>
            <a:avLst/>
            <a:gdLst/>
            <a:ahLst/>
            <a:cxnLst/>
            <a:rect l="l" t="t" r="r" b="b"/>
            <a:pathLst>
              <a:path w="5340350" h="678179">
                <a:moveTo>
                  <a:pt x="5340350" y="656590"/>
                </a:moveTo>
                <a:lnTo>
                  <a:pt x="5337022" y="653796"/>
                </a:lnTo>
                <a:lnTo>
                  <a:pt x="5267071" y="594868"/>
                </a:lnTo>
                <a:lnTo>
                  <a:pt x="5260378" y="622642"/>
                </a:lnTo>
                <a:lnTo>
                  <a:pt x="2673350" y="0"/>
                </a:lnTo>
                <a:lnTo>
                  <a:pt x="2670175" y="13322"/>
                </a:lnTo>
                <a:lnTo>
                  <a:pt x="2667000" y="0"/>
                </a:lnTo>
                <a:lnTo>
                  <a:pt x="79971" y="622668"/>
                </a:lnTo>
                <a:lnTo>
                  <a:pt x="73279" y="594868"/>
                </a:lnTo>
                <a:lnTo>
                  <a:pt x="0" y="656590"/>
                </a:lnTo>
                <a:lnTo>
                  <a:pt x="93345" y="678180"/>
                </a:lnTo>
                <a:lnTo>
                  <a:pt x="87464" y="653796"/>
                </a:lnTo>
                <a:lnTo>
                  <a:pt x="86664" y="650455"/>
                </a:lnTo>
                <a:lnTo>
                  <a:pt x="2655697" y="32004"/>
                </a:lnTo>
                <a:lnTo>
                  <a:pt x="2655697" y="570865"/>
                </a:lnTo>
                <a:lnTo>
                  <a:pt x="2627122" y="570865"/>
                </a:lnTo>
                <a:lnTo>
                  <a:pt x="2670048" y="656590"/>
                </a:lnTo>
                <a:lnTo>
                  <a:pt x="2705735" y="585089"/>
                </a:lnTo>
                <a:lnTo>
                  <a:pt x="2712847" y="570865"/>
                </a:lnTo>
                <a:lnTo>
                  <a:pt x="2684272" y="570865"/>
                </a:lnTo>
                <a:lnTo>
                  <a:pt x="2684272" y="31915"/>
                </a:lnTo>
                <a:lnTo>
                  <a:pt x="5253672" y="650455"/>
                </a:lnTo>
                <a:lnTo>
                  <a:pt x="5247005" y="678180"/>
                </a:lnTo>
                <a:lnTo>
                  <a:pt x="5340350" y="656590"/>
                </a:lnTo>
                <a:close/>
              </a:path>
            </a:pathLst>
          </a:custGeom>
          <a:solidFill>
            <a:srgbClr val="000000"/>
          </a:solidFill>
        </p:spPr>
        <p:txBody>
          <a:bodyPr wrap="square" lIns="0" tIns="0" rIns="0" bIns="0" rtlCol="0"/>
          <a:lstStyle/>
          <a:p>
            <a:endParaRPr/>
          </a:p>
        </p:txBody>
      </p:sp>
      <p:sp>
        <p:nvSpPr>
          <p:cNvPr id="13" name="object 13"/>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3</a:t>
            </a:r>
            <a:endParaRPr sz="2400">
              <a:latin typeface="Times New Roman"/>
              <a:cs typeface="Times New Roman"/>
            </a:endParaRPr>
          </a:p>
        </p:txBody>
      </p:sp>
      <p:sp>
        <p:nvSpPr>
          <p:cNvPr id="14" name="object 14"/>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5" name="object 15"/>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6" name="Date Placeholder 15">
            <a:extLst>
              <a:ext uri="{FF2B5EF4-FFF2-40B4-BE49-F238E27FC236}">
                <a16:creationId xmlns:a16="http://schemas.microsoft.com/office/drawing/2014/main" id="{FA0B4801-5F85-800C-6AF5-5A91352A5340}"/>
              </a:ext>
            </a:extLst>
          </p:cNvPr>
          <p:cNvSpPr>
            <a:spLocks noGrp="1"/>
          </p:cNvSpPr>
          <p:nvPr>
            <p:ph type="dt" sz="half" idx="10"/>
          </p:nvPr>
        </p:nvSpPr>
        <p:spPr/>
        <p:txBody>
          <a:bodyPr/>
          <a:lstStyle/>
          <a:p>
            <a:fld id="{E4DE2EE7-ED14-4A64-8CD1-C74845799A2F}" type="datetime1">
              <a:rPr lang="en-US" smtClean="0"/>
              <a:t>11/17/2025</a:t>
            </a:fld>
            <a:endParaRPr lang="en-US"/>
          </a:p>
        </p:txBody>
      </p:sp>
      <p:sp>
        <p:nvSpPr>
          <p:cNvPr id="18" name="Slide Number Placeholder 17">
            <a:extLst>
              <a:ext uri="{FF2B5EF4-FFF2-40B4-BE49-F238E27FC236}">
                <a16:creationId xmlns:a16="http://schemas.microsoft.com/office/drawing/2014/main" id="{F1C7E4B5-6408-9D16-6F1A-89EC529BA9A1}"/>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25</a:t>
            </a:fld>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25" dirty="0"/>
              <a:t> </a:t>
            </a:r>
            <a:r>
              <a:rPr dirty="0"/>
              <a:t>Standard</a:t>
            </a:r>
            <a:r>
              <a:rPr spc="-180" dirty="0"/>
              <a:t> </a:t>
            </a:r>
            <a:r>
              <a:rPr spc="-30" dirty="0"/>
              <a:t>Template</a:t>
            </a:r>
            <a:r>
              <a:rPr spc="-140" dirty="0"/>
              <a:t> </a:t>
            </a:r>
            <a:r>
              <a:rPr spc="-10" dirty="0"/>
              <a:t>Library</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2981917" y="1517213"/>
            <a:ext cx="6193240" cy="4655395"/>
          </a:xfrm>
          <a:prstGeom prst="rect">
            <a:avLst/>
          </a:prstGeom>
        </p:spPr>
      </p:pic>
      <p:sp>
        <p:nvSpPr>
          <p:cNvPr id="5" name="object 5"/>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4</a:t>
            </a:r>
            <a:endParaRPr sz="2400">
              <a:latin typeface="Times New Roman"/>
              <a:cs typeface="Times New Roman"/>
            </a:endParaRPr>
          </a:p>
        </p:txBody>
      </p:sp>
      <p:sp>
        <p:nvSpPr>
          <p:cNvPr id="6" name="object 6"/>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7" name="object 7"/>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8" name="Date Placeholder 7">
            <a:extLst>
              <a:ext uri="{FF2B5EF4-FFF2-40B4-BE49-F238E27FC236}">
                <a16:creationId xmlns:a16="http://schemas.microsoft.com/office/drawing/2014/main" id="{7732B262-7615-82CF-6558-B5F82D5FDCB0}"/>
              </a:ext>
            </a:extLst>
          </p:cNvPr>
          <p:cNvSpPr>
            <a:spLocks noGrp="1"/>
          </p:cNvSpPr>
          <p:nvPr>
            <p:ph type="dt" sz="half" idx="10"/>
          </p:nvPr>
        </p:nvSpPr>
        <p:spPr/>
        <p:txBody>
          <a:bodyPr/>
          <a:lstStyle/>
          <a:p>
            <a:fld id="{C7FDC502-764A-4FC7-9F64-D3B5FF879221}" type="datetime1">
              <a:rPr lang="en-US" smtClean="0"/>
              <a:t>11/17/2025</a:t>
            </a:fld>
            <a:endParaRPr lang="en-US"/>
          </a:p>
        </p:txBody>
      </p:sp>
      <p:sp>
        <p:nvSpPr>
          <p:cNvPr id="10" name="Slide Number Placeholder 9">
            <a:extLst>
              <a:ext uri="{FF2B5EF4-FFF2-40B4-BE49-F238E27FC236}">
                <a16:creationId xmlns:a16="http://schemas.microsoft.com/office/drawing/2014/main" id="{173813EC-2118-D61F-020C-114FC5B61697}"/>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26</a:t>
            </a:fld>
            <a:endParaRPr spc="-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5" dirty="0"/>
              <a:t> </a:t>
            </a:r>
            <a:r>
              <a:rPr spc="-10" dirty="0"/>
              <a:t>Container</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836166"/>
            <a:ext cx="5911215" cy="2769870"/>
          </a:xfrm>
          <a:prstGeom prst="rect">
            <a:avLst/>
          </a:prstGeom>
        </p:spPr>
        <p:txBody>
          <a:bodyPr vert="horz" wrap="square" lIns="0" tIns="13335" rIns="0" bIns="0" rtlCol="0">
            <a:spAutoFit/>
          </a:bodyPr>
          <a:lstStyle/>
          <a:p>
            <a:pPr marL="351790" marR="5080" indent="-339725" algn="just">
              <a:lnSpc>
                <a:spcPct val="100000"/>
              </a:lnSpc>
              <a:spcBef>
                <a:spcPts val="105"/>
              </a:spcBef>
              <a:buFont typeface="Arial MT"/>
              <a:buChar char="•"/>
              <a:tabLst>
                <a:tab pos="355600" algn="l"/>
              </a:tabLst>
            </a:pPr>
            <a:r>
              <a:rPr sz="2000" dirty="0">
                <a:latin typeface="Times New Roman"/>
                <a:cs typeface="Times New Roman"/>
              </a:rPr>
              <a:t>A</a:t>
            </a:r>
            <a:r>
              <a:rPr sz="2000" spc="165" dirty="0">
                <a:latin typeface="Times New Roman"/>
                <a:cs typeface="Times New Roman"/>
              </a:rPr>
              <a:t> </a:t>
            </a:r>
            <a:r>
              <a:rPr sz="2000" dirty="0">
                <a:latin typeface="Times New Roman"/>
                <a:cs typeface="Times New Roman"/>
              </a:rPr>
              <a:t>container</a:t>
            </a:r>
            <a:r>
              <a:rPr sz="2000" spc="265" dirty="0">
                <a:latin typeface="Times New Roman"/>
                <a:cs typeface="Times New Roman"/>
              </a:rPr>
              <a:t> </a:t>
            </a:r>
            <a:r>
              <a:rPr sz="2000" dirty="0">
                <a:latin typeface="Times New Roman"/>
                <a:cs typeface="Times New Roman"/>
              </a:rPr>
              <a:t>is</a:t>
            </a:r>
            <a:r>
              <a:rPr sz="2000" spc="265" dirty="0">
                <a:latin typeface="Times New Roman"/>
                <a:cs typeface="Times New Roman"/>
              </a:rPr>
              <a:t> </a:t>
            </a:r>
            <a:r>
              <a:rPr sz="2000" dirty="0">
                <a:latin typeface="Times New Roman"/>
                <a:cs typeface="Times New Roman"/>
              </a:rPr>
              <a:t>a</a:t>
            </a:r>
            <a:r>
              <a:rPr sz="2000" spc="270" dirty="0">
                <a:latin typeface="Times New Roman"/>
                <a:cs typeface="Times New Roman"/>
              </a:rPr>
              <a:t> </a:t>
            </a:r>
            <a:r>
              <a:rPr sz="2000" dirty="0">
                <a:latin typeface="Times New Roman"/>
                <a:cs typeface="Times New Roman"/>
              </a:rPr>
              <a:t>way</a:t>
            </a:r>
            <a:r>
              <a:rPr sz="2000" spc="254" dirty="0">
                <a:latin typeface="Times New Roman"/>
                <a:cs typeface="Times New Roman"/>
              </a:rPr>
              <a:t> </a:t>
            </a:r>
            <a:r>
              <a:rPr sz="2000" dirty="0">
                <a:latin typeface="Times New Roman"/>
                <a:cs typeface="Times New Roman"/>
              </a:rPr>
              <a:t>to</a:t>
            </a:r>
            <a:r>
              <a:rPr sz="2000" spc="265" dirty="0">
                <a:latin typeface="Times New Roman"/>
                <a:cs typeface="Times New Roman"/>
              </a:rPr>
              <a:t> </a:t>
            </a:r>
            <a:r>
              <a:rPr sz="2000" dirty="0">
                <a:latin typeface="Times New Roman"/>
                <a:cs typeface="Times New Roman"/>
              </a:rPr>
              <a:t>store</a:t>
            </a:r>
            <a:r>
              <a:rPr sz="2000" spc="270" dirty="0">
                <a:latin typeface="Times New Roman"/>
                <a:cs typeface="Times New Roman"/>
              </a:rPr>
              <a:t> </a:t>
            </a:r>
            <a:r>
              <a:rPr sz="2000" dirty="0">
                <a:latin typeface="Times New Roman"/>
                <a:cs typeface="Times New Roman"/>
              </a:rPr>
              <a:t>data,</a:t>
            </a:r>
            <a:r>
              <a:rPr sz="2000" spc="275" dirty="0">
                <a:latin typeface="Times New Roman"/>
                <a:cs typeface="Times New Roman"/>
              </a:rPr>
              <a:t> </a:t>
            </a:r>
            <a:r>
              <a:rPr sz="2000" dirty="0">
                <a:latin typeface="Times New Roman"/>
                <a:cs typeface="Times New Roman"/>
              </a:rPr>
              <a:t>whether</a:t>
            </a:r>
            <a:r>
              <a:rPr sz="2000" spc="280" dirty="0">
                <a:latin typeface="Times New Roman"/>
                <a:cs typeface="Times New Roman"/>
              </a:rPr>
              <a:t> </a:t>
            </a:r>
            <a:r>
              <a:rPr sz="2000" dirty="0">
                <a:latin typeface="Times New Roman"/>
                <a:cs typeface="Times New Roman"/>
              </a:rPr>
              <a:t>the</a:t>
            </a:r>
            <a:r>
              <a:rPr sz="2000" spc="265" dirty="0">
                <a:latin typeface="Times New Roman"/>
                <a:cs typeface="Times New Roman"/>
              </a:rPr>
              <a:t> </a:t>
            </a:r>
            <a:r>
              <a:rPr sz="2000" spc="-20" dirty="0">
                <a:latin typeface="Times New Roman"/>
                <a:cs typeface="Times New Roman"/>
              </a:rPr>
              <a:t>data 	</a:t>
            </a:r>
            <a:r>
              <a:rPr sz="2000" dirty="0">
                <a:latin typeface="Times New Roman"/>
                <a:cs typeface="Times New Roman"/>
              </a:rPr>
              <a:t>consists</a:t>
            </a:r>
            <a:r>
              <a:rPr sz="2000" spc="30" dirty="0">
                <a:latin typeface="Times New Roman"/>
                <a:cs typeface="Times New Roman"/>
              </a:rPr>
              <a:t> </a:t>
            </a:r>
            <a:r>
              <a:rPr sz="2000" dirty="0">
                <a:latin typeface="Times New Roman"/>
                <a:cs typeface="Times New Roman"/>
              </a:rPr>
              <a:t>of</a:t>
            </a:r>
            <a:r>
              <a:rPr sz="2000" spc="40" dirty="0">
                <a:latin typeface="Times New Roman"/>
                <a:cs typeface="Times New Roman"/>
              </a:rPr>
              <a:t> </a:t>
            </a:r>
            <a:r>
              <a:rPr sz="2000" spc="-10" dirty="0">
                <a:latin typeface="Times New Roman"/>
                <a:cs typeface="Times New Roman"/>
              </a:rPr>
              <a:t>built-</a:t>
            </a:r>
            <a:r>
              <a:rPr sz="2000" dirty="0">
                <a:latin typeface="Times New Roman"/>
                <a:cs typeface="Times New Roman"/>
              </a:rPr>
              <a:t>in</a:t>
            </a:r>
            <a:r>
              <a:rPr sz="2000" spc="40" dirty="0">
                <a:latin typeface="Times New Roman"/>
                <a:cs typeface="Times New Roman"/>
              </a:rPr>
              <a:t> </a:t>
            </a:r>
            <a:r>
              <a:rPr sz="2000" dirty="0">
                <a:latin typeface="Times New Roman"/>
                <a:cs typeface="Times New Roman"/>
              </a:rPr>
              <a:t>types</a:t>
            </a:r>
            <a:r>
              <a:rPr sz="2000" spc="50" dirty="0">
                <a:latin typeface="Times New Roman"/>
                <a:cs typeface="Times New Roman"/>
              </a:rPr>
              <a:t> </a:t>
            </a:r>
            <a:r>
              <a:rPr sz="2000" dirty="0">
                <a:latin typeface="Times New Roman"/>
                <a:cs typeface="Times New Roman"/>
              </a:rPr>
              <a:t>such</a:t>
            </a:r>
            <a:r>
              <a:rPr sz="2000" spc="40" dirty="0">
                <a:latin typeface="Times New Roman"/>
                <a:cs typeface="Times New Roman"/>
              </a:rPr>
              <a:t> </a:t>
            </a:r>
            <a:r>
              <a:rPr sz="2000" dirty="0">
                <a:latin typeface="Times New Roman"/>
                <a:cs typeface="Times New Roman"/>
              </a:rPr>
              <a:t>as</a:t>
            </a:r>
            <a:r>
              <a:rPr sz="2000" spc="35" dirty="0">
                <a:latin typeface="Times New Roman"/>
                <a:cs typeface="Times New Roman"/>
              </a:rPr>
              <a:t> </a:t>
            </a:r>
            <a:r>
              <a:rPr sz="2000" dirty="0">
                <a:latin typeface="Times New Roman"/>
                <a:cs typeface="Times New Roman"/>
              </a:rPr>
              <a:t>int</a:t>
            </a:r>
            <a:r>
              <a:rPr sz="2000" spc="45" dirty="0">
                <a:latin typeface="Times New Roman"/>
                <a:cs typeface="Times New Roman"/>
              </a:rPr>
              <a:t> </a:t>
            </a:r>
            <a:r>
              <a:rPr sz="2000" dirty="0">
                <a:latin typeface="Times New Roman"/>
                <a:cs typeface="Times New Roman"/>
              </a:rPr>
              <a:t>and</a:t>
            </a:r>
            <a:r>
              <a:rPr sz="2000" spc="35" dirty="0">
                <a:latin typeface="Times New Roman"/>
                <a:cs typeface="Times New Roman"/>
              </a:rPr>
              <a:t> </a:t>
            </a:r>
            <a:r>
              <a:rPr sz="2000" dirty="0">
                <a:latin typeface="Times New Roman"/>
                <a:cs typeface="Times New Roman"/>
              </a:rPr>
              <a:t>float,</a:t>
            </a:r>
            <a:r>
              <a:rPr sz="2000" spc="35" dirty="0">
                <a:latin typeface="Times New Roman"/>
                <a:cs typeface="Times New Roman"/>
              </a:rPr>
              <a:t> </a:t>
            </a:r>
            <a:r>
              <a:rPr sz="2000" dirty="0">
                <a:latin typeface="Times New Roman"/>
                <a:cs typeface="Times New Roman"/>
              </a:rPr>
              <a:t>or</a:t>
            </a:r>
            <a:r>
              <a:rPr sz="2000" spc="60" dirty="0">
                <a:latin typeface="Times New Roman"/>
                <a:cs typeface="Times New Roman"/>
              </a:rPr>
              <a:t> </a:t>
            </a:r>
            <a:r>
              <a:rPr sz="2000" spc="-10" dirty="0">
                <a:latin typeface="Times New Roman"/>
                <a:cs typeface="Times New Roman"/>
              </a:rPr>
              <a:t>class 	</a:t>
            </a:r>
            <a:r>
              <a:rPr sz="2000" dirty="0">
                <a:latin typeface="Times New Roman"/>
                <a:cs typeface="Times New Roman"/>
              </a:rPr>
              <a:t>objects.</a:t>
            </a:r>
            <a:r>
              <a:rPr sz="2000" spc="-50" dirty="0">
                <a:latin typeface="Times New Roman"/>
                <a:cs typeface="Times New Roman"/>
              </a:rPr>
              <a:t> </a:t>
            </a:r>
            <a:r>
              <a:rPr sz="2000" dirty="0">
                <a:latin typeface="Times New Roman"/>
                <a:cs typeface="Times New Roman"/>
              </a:rPr>
              <a:t>For</a:t>
            </a:r>
            <a:r>
              <a:rPr sz="2000" spc="-15" dirty="0">
                <a:latin typeface="Times New Roman"/>
                <a:cs typeface="Times New Roman"/>
              </a:rPr>
              <a:t> </a:t>
            </a:r>
            <a:r>
              <a:rPr sz="2000" dirty="0">
                <a:latin typeface="Times New Roman"/>
                <a:cs typeface="Times New Roman"/>
              </a:rPr>
              <a:t>example</a:t>
            </a:r>
            <a:r>
              <a:rPr sz="2000" spc="-10" dirty="0">
                <a:latin typeface="Times New Roman"/>
                <a:cs typeface="Times New Roman"/>
              </a:rPr>
              <a:t> array.</a:t>
            </a:r>
            <a:endParaRPr sz="2000">
              <a:latin typeface="Times New Roman"/>
              <a:cs typeface="Times New Roman"/>
            </a:endParaRPr>
          </a:p>
          <a:p>
            <a:pPr marL="351790" marR="6350" indent="-339725" algn="just">
              <a:lnSpc>
                <a:spcPct val="100000"/>
              </a:lnSpc>
              <a:buFont typeface="Arial MT"/>
              <a:buChar char="•"/>
              <a:tabLst>
                <a:tab pos="355600" algn="l"/>
              </a:tabLst>
            </a:pPr>
            <a:r>
              <a:rPr sz="2000" dirty="0">
                <a:latin typeface="Times New Roman"/>
                <a:cs typeface="Times New Roman"/>
              </a:rPr>
              <a:t>The</a:t>
            </a:r>
            <a:r>
              <a:rPr sz="2000" spc="80" dirty="0">
                <a:latin typeface="Times New Roman"/>
                <a:cs typeface="Times New Roman"/>
              </a:rPr>
              <a:t>  </a:t>
            </a:r>
            <a:r>
              <a:rPr sz="2000" dirty="0">
                <a:latin typeface="Times New Roman"/>
                <a:cs typeface="Times New Roman"/>
              </a:rPr>
              <a:t>STL</a:t>
            </a:r>
            <a:r>
              <a:rPr sz="2000" spc="40" dirty="0">
                <a:latin typeface="Times New Roman"/>
                <a:cs typeface="Times New Roman"/>
              </a:rPr>
              <a:t>  </a:t>
            </a:r>
            <a:r>
              <a:rPr sz="2000" dirty="0">
                <a:latin typeface="Times New Roman"/>
                <a:cs typeface="Times New Roman"/>
              </a:rPr>
              <a:t>containers</a:t>
            </a:r>
            <a:r>
              <a:rPr sz="2000" spc="80" dirty="0">
                <a:latin typeface="Times New Roman"/>
                <a:cs typeface="Times New Roman"/>
              </a:rPr>
              <a:t>  </a:t>
            </a:r>
            <a:r>
              <a:rPr sz="2000" dirty="0">
                <a:latin typeface="Times New Roman"/>
                <a:cs typeface="Times New Roman"/>
              </a:rPr>
              <a:t>are</a:t>
            </a:r>
            <a:r>
              <a:rPr sz="2000" spc="75" dirty="0">
                <a:latin typeface="Times New Roman"/>
                <a:cs typeface="Times New Roman"/>
              </a:rPr>
              <a:t>  </a:t>
            </a:r>
            <a:r>
              <a:rPr sz="2000" dirty="0">
                <a:latin typeface="Times New Roman"/>
                <a:cs typeface="Times New Roman"/>
              </a:rPr>
              <a:t>implemented</a:t>
            </a:r>
            <a:r>
              <a:rPr sz="2000" spc="80" dirty="0">
                <a:latin typeface="Times New Roman"/>
                <a:cs typeface="Times New Roman"/>
              </a:rPr>
              <a:t>  </a:t>
            </a:r>
            <a:r>
              <a:rPr sz="2000" dirty="0">
                <a:latin typeface="Times New Roman"/>
                <a:cs typeface="Times New Roman"/>
              </a:rPr>
              <a:t>by</a:t>
            </a:r>
            <a:r>
              <a:rPr sz="2000" spc="70" dirty="0">
                <a:latin typeface="Times New Roman"/>
                <a:cs typeface="Times New Roman"/>
              </a:rPr>
              <a:t>  </a:t>
            </a:r>
            <a:r>
              <a:rPr sz="2000" spc="-10" dirty="0">
                <a:latin typeface="Times New Roman"/>
                <a:cs typeface="Times New Roman"/>
              </a:rPr>
              <a:t>template 	</a:t>
            </a:r>
            <a:r>
              <a:rPr sz="2000" dirty="0">
                <a:latin typeface="Times New Roman"/>
                <a:cs typeface="Times New Roman"/>
              </a:rPr>
              <a:t>classes,</a:t>
            </a:r>
            <a:r>
              <a:rPr sz="2000" spc="40" dirty="0">
                <a:latin typeface="Times New Roman"/>
                <a:cs typeface="Times New Roman"/>
              </a:rPr>
              <a:t>  </a:t>
            </a:r>
            <a:r>
              <a:rPr sz="2000" dirty="0">
                <a:latin typeface="Times New Roman"/>
                <a:cs typeface="Times New Roman"/>
              </a:rPr>
              <a:t>so</a:t>
            </a:r>
            <a:r>
              <a:rPr sz="2000" spc="50" dirty="0">
                <a:latin typeface="Times New Roman"/>
                <a:cs typeface="Times New Roman"/>
              </a:rPr>
              <a:t>  </a:t>
            </a:r>
            <a:r>
              <a:rPr sz="2000" dirty="0">
                <a:latin typeface="Times New Roman"/>
                <a:cs typeface="Times New Roman"/>
              </a:rPr>
              <a:t>they</a:t>
            </a:r>
            <a:r>
              <a:rPr sz="2000" spc="40" dirty="0">
                <a:latin typeface="Times New Roman"/>
                <a:cs typeface="Times New Roman"/>
              </a:rPr>
              <a:t>  </a:t>
            </a:r>
            <a:r>
              <a:rPr sz="2000" dirty="0">
                <a:latin typeface="Times New Roman"/>
                <a:cs typeface="Times New Roman"/>
              </a:rPr>
              <a:t>can</a:t>
            </a:r>
            <a:r>
              <a:rPr sz="2000" spc="45" dirty="0">
                <a:latin typeface="Times New Roman"/>
                <a:cs typeface="Times New Roman"/>
              </a:rPr>
              <a:t>  </a:t>
            </a:r>
            <a:r>
              <a:rPr sz="2000" dirty="0">
                <a:latin typeface="Times New Roman"/>
                <a:cs typeface="Times New Roman"/>
              </a:rPr>
              <a:t>be</a:t>
            </a:r>
            <a:r>
              <a:rPr sz="2000" spc="40" dirty="0">
                <a:latin typeface="Times New Roman"/>
                <a:cs typeface="Times New Roman"/>
              </a:rPr>
              <a:t>  </a:t>
            </a:r>
            <a:r>
              <a:rPr sz="2000" dirty="0">
                <a:latin typeface="Times New Roman"/>
                <a:cs typeface="Times New Roman"/>
              </a:rPr>
              <a:t>easily</a:t>
            </a:r>
            <a:r>
              <a:rPr sz="2000" spc="45" dirty="0">
                <a:latin typeface="Times New Roman"/>
                <a:cs typeface="Times New Roman"/>
              </a:rPr>
              <a:t>  </a:t>
            </a:r>
            <a:r>
              <a:rPr sz="2000" dirty="0">
                <a:latin typeface="Times New Roman"/>
                <a:cs typeface="Times New Roman"/>
              </a:rPr>
              <a:t>customized</a:t>
            </a:r>
            <a:r>
              <a:rPr sz="2000" spc="50" dirty="0">
                <a:latin typeface="Times New Roman"/>
                <a:cs typeface="Times New Roman"/>
              </a:rPr>
              <a:t>  </a:t>
            </a:r>
            <a:r>
              <a:rPr sz="2000" dirty="0">
                <a:latin typeface="Times New Roman"/>
                <a:cs typeface="Times New Roman"/>
              </a:rPr>
              <a:t>to</a:t>
            </a:r>
            <a:r>
              <a:rPr sz="2000" spc="45" dirty="0">
                <a:latin typeface="Times New Roman"/>
                <a:cs typeface="Times New Roman"/>
              </a:rPr>
              <a:t>  </a:t>
            </a:r>
            <a:r>
              <a:rPr sz="2000" spc="-20" dirty="0">
                <a:latin typeface="Times New Roman"/>
                <a:cs typeface="Times New Roman"/>
              </a:rPr>
              <a:t>hold 	</a:t>
            </a:r>
            <a:r>
              <a:rPr sz="2000" dirty="0">
                <a:latin typeface="Times New Roman"/>
                <a:cs typeface="Times New Roman"/>
              </a:rPr>
              <a:t>different</a:t>
            </a:r>
            <a:r>
              <a:rPr sz="2000" spc="-45" dirty="0">
                <a:latin typeface="Times New Roman"/>
                <a:cs typeface="Times New Roman"/>
              </a:rPr>
              <a:t> </a:t>
            </a:r>
            <a:r>
              <a:rPr sz="2000" dirty="0">
                <a:latin typeface="Times New Roman"/>
                <a:cs typeface="Times New Roman"/>
              </a:rPr>
              <a:t>kinds</a:t>
            </a:r>
            <a:r>
              <a:rPr sz="2000" spc="-35" dirty="0">
                <a:latin typeface="Times New Roman"/>
                <a:cs typeface="Times New Roman"/>
              </a:rPr>
              <a:t> </a:t>
            </a:r>
            <a:r>
              <a:rPr sz="2000" dirty="0">
                <a:latin typeface="Times New Roman"/>
                <a:cs typeface="Times New Roman"/>
              </a:rPr>
              <a:t>of</a:t>
            </a:r>
            <a:r>
              <a:rPr sz="2000" spc="-30" dirty="0">
                <a:latin typeface="Times New Roman"/>
                <a:cs typeface="Times New Roman"/>
              </a:rPr>
              <a:t> </a:t>
            </a:r>
            <a:r>
              <a:rPr sz="2000" spc="-10" dirty="0">
                <a:latin typeface="Times New Roman"/>
                <a:cs typeface="Times New Roman"/>
              </a:rPr>
              <a:t>data.</a:t>
            </a:r>
            <a:endParaRPr sz="2000">
              <a:latin typeface="Times New Roman"/>
              <a:cs typeface="Times New Roman"/>
            </a:endParaRPr>
          </a:p>
          <a:p>
            <a:pPr marL="351790" marR="5715" indent="-339725" algn="just">
              <a:lnSpc>
                <a:spcPct val="100000"/>
              </a:lnSpc>
              <a:buFont typeface="Arial MT"/>
              <a:buChar char="•"/>
              <a:tabLst>
                <a:tab pos="355600" algn="l"/>
              </a:tabLst>
            </a:pPr>
            <a:r>
              <a:rPr sz="2000" dirty="0">
                <a:latin typeface="Times New Roman"/>
                <a:cs typeface="Times New Roman"/>
              </a:rPr>
              <a:t>Containers</a:t>
            </a:r>
            <a:r>
              <a:rPr sz="2000" spc="130" dirty="0">
                <a:latin typeface="Times New Roman"/>
                <a:cs typeface="Times New Roman"/>
              </a:rPr>
              <a:t> </a:t>
            </a:r>
            <a:r>
              <a:rPr sz="2000" dirty="0">
                <a:latin typeface="Times New Roman"/>
                <a:cs typeface="Times New Roman"/>
              </a:rPr>
              <a:t>help</a:t>
            </a:r>
            <a:r>
              <a:rPr sz="2000" spc="140" dirty="0">
                <a:latin typeface="Times New Roman"/>
                <a:cs typeface="Times New Roman"/>
              </a:rPr>
              <a:t> </a:t>
            </a:r>
            <a:r>
              <a:rPr sz="2000" dirty="0">
                <a:latin typeface="Times New Roman"/>
                <a:cs typeface="Times New Roman"/>
              </a:rPr>
              <a:t>us</a:t>
            </a:r>
            <a:r>
              <a:rPr sz="2000" spc="135" dirty="0">
                <a:latin typeface="Times New Roman"/>
                <a:cs typeface="Times New Roman"/>
              </a:rPr>
              <a:t> </a:t>
            </a:r>
            <a:r>
              <a:rPr sz="2000" dirty="0">
                <a:latin typeface="Times New Roman"/>
                <a:cs typeface="Times New Roman"/>
              </a:rPr>
              <a:t>to</a:t>
            </a:r>
            <a:r>
              <a:rPr sz="2000" spc="145" dirty="0">
                <a:latin typeface="Times New Roman"/>
                <a:cs typeface="Times New Roman"/>
              </a:rPr>
              <a:t> </a:t>
            </a:r>
            <a:r>
              <a:rPr sz="2000" dirty="0">
                <a:latin typeface="Times New Roman"/>
                <a:cs typeface="Times New Roman"/>
              </a:rPr>
              <a:t>implement</a:t>
            </a:r>
            <a:r>
              <a:rPr sz="2000" spc="135" dirty="0">
                <a:latin typeface="Times New Roman"/>
                <a:cs typeface="Times New Roman"/>
              </a:rPr>
              <a:t> </a:t>
            </a:r>
            <a:r>
              <a:rPr sz="2000" dirty="0">
                <a:latin typeface="Times New Roman"/>
                <a:cs typeface="Times New Roman"/>
              </a:rPr>
              <a:t>and</a:t>
            </a:r>
            <a:r>
              <a:rPr sz="2000" spc="130" dirty="0">
                <a:latin typeface="Times New Roman"/>
                <a:cs typeface="Times New Roman"/>
              </a:rPr>
              <a:t> </a:t>
            </a:r>
            <a:r>
              <a:rPr sz="2000" dirty="0">
                <a:latin typeface="Times New Roman"/>
                <a:cs typeface="Times New Roman"/>
              </a:rPr>
              <a:t>replicate</a:t>
            </a:r>
            <a:r>
              <a:rPr sz="2000" spc="140" dirty="0">
                <a:latin typeface="Times New Roman"/>
                <a:cs typeface="Times New Roman"/>
              </a:rPr>
              <a:t> </a:t>
            </a:r>
            <a:r>
              <a:rPr sz="2000" spc="-10" dirty="0">
                <a:latin typeface="Times New Roman"/>
                <a:cs typeface="Times New Roman"/>
              </a:rPr>
              <a:t>simple 	</a:t>
            </a:r>
            <a:r>
              <a:rPr sz="2000" dirty="0">
                <a:latin typeface="Times New Roman"/>
                <a:cs typeface="Times New Roman"/>
              </a:rPr>
              <a:t>and</a:t>
            </a:r>
            <a:r>
              <a:rPr sz="2000" spc="375" dirty="0">
                <a:latin typeface="Times New Roman"/>
                <a:cs typeface="Times New Roman"/>
              </a:rPr>
              <a:t> </a:t>
            </a:r>
            <a:r>
              <a:rPr sz="2000" dirty="0">
                <a:latin typeface="Times New Roman"/>
                <a:cs typeface="Times New Roman"/>
              </a:rPr>
              <a:t>complex</a:t>
            </a:r>
            <a:r>
              <a:rPr sz="2000" spc="365" dirty="0">
                <a:latin typeface="Times New Roman"/>
                <a:cs typeface="Times New Roman"/>
              </a:rPr>
              <a:t> </a:t>
            </a:r>
            <a:r>
              <a:rPr sz="2000" dirty="0">
                <a:latin typeface="Times New Roman"/>
                <a:cs typeface="Times New Roman"/>
              </a:rPr>
              <a:t>data</a:t>
            </a:r>
            <a:r>
              <a:rPr sz="2000" spc="370" dirty="0">
                <a:latin typeface="Times New Roman"/>
                <a:cs typeface="Times New Roman"/>
              </a:rPr>
              <a:t> </a:t>
            </a:r>
            <a:r>
              <a:rPr sz="2000" dirty="0">
                <a:latin typeface="Times New Roman"/>
                <a:cs typeface="Times New Roman"/>
              </a:rPr>
              <a:t>structures</a:t>
            </a:r>
            <a:r>
              <a:rPr sz="2000" spc="360" dirty="0">
                <a:latin typeface="Times New Roman"/>
                <a:cs typeface="Times New Roman"/>
              </a:rPr>
              <a:t> </a:t>
            </a:r>
            <a:r>
              <a:rPr sz="2000" dirty="0">
                <a:latin typeface="Times New Roman"/>
                <a:cs typeface="Times New Roman"/>
              </a:rPr>
              <a:t>very</a:t>
            </a:r>
            <a:r>
              <a:rPr sz="2000" spc="370" dirty="0">
                <a:latin typeface="Times New Roman"/>
                <a:cs typeface="Times New Roman"/>
              </a:rPr>
              <a:t> </a:t>
            </a:r>
            <a:r>
              <a:rPr sz="2000" dirty="0">
                <a:latin typeface="Times New Roman"/>
                <a:cs typeface="Times New Roman"/>
              </a:rPr>
              <a:t>easily</a:t>
            </a:r>
            <a:r>
              <a:rPr sz="2000" spc="365" dirty="0">
                <a:latin typeface="Times New Roman"/>
                <a:cs typeface="Times New Roman"/>
              </a:rPr>
              <a:t> </a:t>
            </a:r>
            <a:r>
              <a:rPr sz="2000" dirty="0">
                <a:latin typeface="Times New Roman"/>
                <a:cs typeface="Times New Roman"/>
              </a:rPr>
              <a:t>like</a:t>
            </a:r>
            <a:r>
              <a:rPr sz="2000" spc="375" dirty="0">
                <a:latin typeface="Times New Roman"/>
                <a:cs typeface="Times New Roman"/>
              </a:rPr>
              <a:t> </a:t>
            </a:r>
            <a:r>
              <a:rPr sz="2000" spc="-10" dirty="0">
                <a:latin typeface="Times New Roman"/>
                <a:cs typeface="Times New Roman"/>
              </a:rPr>
              <a:t>arrays, 	</a:t>
            </a:r>
            <a:r>
              <a:rPr sz="2000" dirty="0">
                <a:latin typeface="Times New Roman"/>
                <a:cs typeface="Times New Roman"/>
              </a:rPr>
              <a:t>list,</a:t>
            </a:r>
            <a:r>
              <a:rPr sz="2000" spc="-45" dirty="0">
                <a:latin typeface="Times New Roman"/>
                <a:cs typeface="Times New Roman"/>
              </a:rPr>
              <a:t> </a:t>
            </a:r>
            <a:r>
              <a:rPr sz="2000" dirty="0">
                <a:latin typeface="Times New Roman"/>
                <a:cs typeface="Times New Roman"/>
              </a:rPr>
              <a:t>vector,</a:t>
            </a:r>
            <a:r>
              <a:rPr sz="2000" spc="-40" dirty="0">
                <a:latin typeface="Times New Roman"/>
                <a:cs typeface="Times New Roman"/>
              </a:rPr>
              <a:t> </a:t>
            </a:r>
            <a:r>
              <a:rPr sz="2000" dirty="0">
                <a:latin typeface="Times New Roman"/>
                <a:cs typeface="Times New Roman"/>
              </a:rPr>
              <a:t>associative</a:t>
            </a:r>
            <a:r>
              <a:rPr sz="2000" spc="-55" dirty="0">
                <a:latin typeface="Times New Roman"/>
                <a:cs typeface="Times New Roman"/>
              </a:rPr>
              <a:t> </a:t>
            </a:r>
            <a:r>
              <a:rPr sz="2000" dirty="0">
                <a:latin typeface="Times New Roman"/>
                <a:cs typeface="Times New Roman"/>
              </a:rPr>
              <a:t>arrays</a:t>
            </a:r>
            <a:r>
              <a:rPr sz="2000" spc="-50"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many</a:t>
            </a:r>
            <a:r>
              <a:rPr sz="2000" spc="-20" dirty="0">
                <a:latin typeface="Times New Roman"/>
                <a:cs typeface="Times New Roman"/>
              </a:rPr>
              <a:t> </a:t>
            </a:r>
            <a:r>
              <a:rPr sz="2000" spc="-10" dirty="0">
                <a:latin typeface="Times New Roman"/>
                <a:cs typeface="Times New Roman"/>
              </a:rPr>
              <a:t>more.</a:t>
            </a:r>
            <a:endParaRPr sz="2000">
              <a:latin typeface="Times New Roman"/>
              <a:cs typeface="Times New Roman"/>
            </a:endParaRPr>
          </a:p>
        </p:txBody>
      </p:sp>
      <p:pic>
        <p:nvPicPr>
          <p:cNvPr id="4" name="object 4"/>
          <p:cNvPicPr/>
          <p:nvPr/>
        </p:nvPicPr>
        <p:blipFill>
          <a:blip r:embed="rId2" cstate="print"/>
          <a:stretch>
            <a:fillRect/>
          </a:stretch>
        </p:blipFill>
        <p:spPr>
          <a:xfrm>
            <a:off x="6905243" y="1546860"/>
            <a:ext cx="5140452" cy="3936491"/>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5</a:t>
            </a:r>
            <a:endParaRPr sz="2400">
              <a:latin typeface="Times New Roman"/>
              <a:cs typeface="Times New Roman"/>
            </a:endParaRPr>
          </a:p>
        </p:txBody>
      </p:sp>
      <p:sp>
        <p:nvSpPr>
          <p:cNvPr id="7" name="object 7"/>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59B0F34B-5182-AE88-3B48-BDCA5CD211D5}"/>
              </a:ext>
            </a:extLst>
          </p:cNvPr>
          <p:cNvSpPr>
            <a:spLocks noGrp="1"/>
          </p:cNvSpPr>
          <p:nvPr>
            <p:ph type="dt" sz="half" idx="10"/>
          </p:nvPr>
        </p:nvSpPr>
        <p:spPr/>
        <p:txBody>
          <a:bodyPr/>
          <a:lstStyle/>
          <a:p>
            <a:fld id="{EF451156-4969-4043-92D1-D45BAA93D361}" type="datetime1">
              <a:rPr lang="en-US" smtClean="0"/>
              <a:t>11/17/2025</a:t>
            </a:fld>
            <a:endParaRPr lang="en-US"/>
          </a:p>
        </p:txBody>
      </p:sp>
      <p:sp>
        <p:nvSpPr>
          <p:cNvPr id="11" name="Slide Number Placeholder 10">
            <a:extLst>
              <a:ext uri="{FF2B5EF4-FFF2-40B4-BE49-F238E27FC236}">
                <a16:creationId xmlns:a16="http://schemas.microsoft.com/office/drawing/2014/main" id="{8B008BB8-4BD8-1AFB-98E7-0BEAF17C7444}"/>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27</a:t>
            </a:fld>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Sequence</a:t>
            </a:r>
            <a:r>
              <a:rPr spc="-170" dirty="0"/>
              <a:t> </a:t>
            </a:r>
            <a:r>
              <a:rPr spc="-10" dirty="0"/>
              <a:t>Containers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698751"/>
            <a:ext cx="3740785" cy="4471035"/>
          </a:xfrm>
          <a:prstGeom prst="rect">
            <a:avLst/>
          </a:prstGeom>
        </p:spPr>
        <p:txBody>
          <a:bodyPr vert="horz" wrap="square" lIns="0" tIns="13335" rIns="0" bIns="0" rtlCol="0">
            <a:spAutoFit/>
          </a:bodyPr>
          <a:lstStyle/>
          <a:p>
            <a:pPr marL="355600" marR="5080" indent="-343535">
              <a:lnSpc>
                <a:spcPct val="100000"/>
              </a:lnSpc>
              <a:spcBef>
                <a:spcPts val="105"/>
              </a:spcBef>
              <a:buChar char="•"/>
              <a:tabLst>
                <a:tab pos="355600" algn="l"/>
              </a:tabLst>
            </a:pPr>
            <a:r>
              <a:rPr sz="2000" dirty="0">
                <a:latin typeface="Times New Roman"/>
                <a:cs typeface="Times New Roman"/>
              </a:rPr>
              <a:t>Sequence</a:t>
            </a:r>
            <a:r>
              <a:rPr sz="2000" spc="-30" dirty="0">
                <a:latin typeface="Times New Roman"/>
                <a:cs typeface="Times New Roman"/>
              </a:rPr>
              <a:t> </a:t>
            </a:r>
            <a:r>
              <a:rPr sz="2000" dirty="0">
                <a:latin typeface="Times New Roman"/>
                <a:cs typeface="Times New Roman"/>
              </a:rPr>
              <a:t>container</a:t>
            </a:r>
            <a:r>
              <a:rPr sz="2000" spc="-30" dirty="0">
                <a:latin typeface="Times New Roman"/>
                <a:cs typeface="Times New Roman"/>
              </a:rPr>
              <a:t> </a:t>
            </a:r>
            <a:r>
              <a:rPr sz="2000" dirty="0">
                <a:latin typeface="Times New Roman"/>
                <a:cs typeface="Times New Roman"/>
              </a:rPr>
              <a:t>stores</a:t>
            </a:r>
            <a:r>
              <a:rPr sz="2000" spc="-30"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spc="-25" dirty="0">
                <a:latin typeface="Times New Roman"/>
                <a:cs typeface="Times New Roman"/>
              </a:rPr>
              <a:t>set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elements</a:t>
            </a:r>
            <a:r>
              <a:rPr sz="2000" spc="-25"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what</a:t>
            </a:r>
            <a:r>
              <a:rPr sz="2000" spc="-30" dirty="0">
                <a:latin typeface="Times New Roman"/>
                <a:cs typeface="Times New Roman"/>
              </a:rPr>
              <a:t> </a:t>
            </a:r>
            <a:r>
              <a:rPr sz="2000" dirty="0">
                <a:latin typeface="Times New Roman"/>
                <a:cs typeface="Times New Roman"/>
              </a:rPr>
              <a:t>you</a:t>
            </a:r>
            <a:r>
              <a:rPr sz="2000" spc="-10" dirty="0">
                <a:latin typeface="Times New Roman"/>
                <a:cs typeface="Times New Roman"/>
              </a:rPr>
              <a:t> </a:t>
            </a:r>
            <a:r>
              <a:rPr sz="2000" spc="-25" dirty="0">
                <a:latin typeface="Times New Roman"/>
                <a:cs typeface="Times New Roman"/>
              </a:rPr>
              <a:t>can </a:t>
            </a:r>
            <a:r>
              <a:rPr sz="2000" dirty="0">
                <a:latin typeface="Times New Roman"/>
                <a:cs typeface="Times New Roman"/>
              </a:rPr>
              <a:t>visualize</a:t>
            </a:r>
            <a:r>
              <a:rPr sz="2000" spc="-40" dirty="0">
                <a:latin typeface="Times New Roman"/>
                <a:cs typeface="Times New Roman"/>
              </a:rPr>
              <a:t> </a:t>
            </a:r>
            <a:r>
              <a:rPr sz="2000" dirty="0">
                <a:latin typeface="Times New Roman"/>
                <a:cs typeface="Times New Roman"/>
              </a:rPr>
              <a:t>as</a:t>
            </a:r>
            <a:r>
              <a:rPr sz="2000" spc="-10" dirty="0">
                <a:latin typeface="Times New Roman"/>
                <a:cs typeface="Times New Roman"/>
              </a:rPr>
              <a:t> </a:t>
            </a:r>
            <a:r>
              <a:rPr sz="2000" dirty="0">
                <a:latin typeface="Times New Roman"/>
                <a:cs typeface="Times New Roman"/>
              </a:rPr>
              <a:t>a line,</a:t>
            </a:r>
            <a:r>
              <a:rPr sz="2000" spc="-20" dirty="0">
                <a:latin typeface="Times New Roman"/>
                <a:cs typeface="Times New Roman"/>
              </a:rPr>
              <a:t> </a:t>
            </a:r>
            <a:r>
              <a:rPr sz="2000" dirty="0">
                <a:latin typeface="Times New Roman"/>
                <a:cs typeface="Times New Roman"/>
              </a:rPr>
              <a:t>like houses</a:t>
            </a:r>
            <a:r>
              <a:rPr sz="2000" spc="-35" dirty="0">
                <a:latin typeface="Times New Roman"/>
                <a:cs typeface="Times New Roman"/>
              </a:rPr>
              <a:t> </a:t>
            </a:r>
            <a:r>
              <a:rPr sz="2000" spc="-25" dirty="0">
                <a:latin typeface="Times New Roman"/>
                <a:cs typeface="Times New Roman"/>
              </a:rPr>
              <a:t>on </a:t>
            </a:r>
            <a:r>
              <a:rPr sz="2000" dirty="0">
                <a:latin typeface="Times New Roman"/>
                <a:cs typeface="Times New Roman"/>
              </a:rPr>
              <a:t>a </a:t>
            </a:r>
            <a:r>
              <a:rPr sz="2000" spc="-10" dirty="0">
                <a:latin typeface="Times New Roman"/>
                <a:cs typeface="Times New Roman"/>
              </a:rPr>
              <a:t>street.</a:t>
            </a:r>
            <a:endParaRPr sz="2000">
              <a:latin typeface="Times New Roman"/>
              <a:cs typeface="Times New Roman"/>
            </a:endParaRPr>
          </a:p>
          <a:p>
            <a:pPr marL="355600" marR="385445" indent="-343535" algn="just">
              <a:lnSpc>
                <a:spcPct val="100000"/>
              </a:lnSpc>
              <a:spcBef>
                <a:spcPts val="480"/>
              </a:spcBef>
              <a:buChar char="•"/>
              <a:tabLst>
                <a:tab pos="355600" algn="l"/>
              </a:tabLst>
            </a:pPr>
            <a:r>
              <a:rPr sz="2000" dirty="0">
                <a:latin typeface="Times New Roman"/>
                <a:cs typeface="Times New Roman"/>
              </a:rPr>
              <a:t>Each</a:t>
            </a:r>
            <a:r>
              <a:rPr sz="2000" spc="-15" dirty="0">
                <a:latin typeface="Times New Roman"/>
                <a:cs typeface="Times New Roman"/>
              </a:rPr>
              <a:t> </a:t>
            </a:r>
            <a:r>
              <a:rPr sz="2000" dirty="0">
                <a:latin typeface="Times New Roman"/>
                <a:cs typeface="Times New Roman"/>
              </a:rPr>
              <a:t>element</a:t>
            </a:r>
            <a:r>
              <a:rPr sz="2000" spc="-10" dirty="0">
                <a:latin typeface="Times New Roman"/>
                <a:cs typeface="Times New Roman"/>
              </a:rPr>
              <a:t> </a:t>
            </a:r>
            <a:r>
              <a:rPr sz="2000" dirty="0">
                <a:latin typeface="Times New Roman"/>
                <a:cs typeface="Times New Roman"/>
              </a:rPr>
              <a:t>is</a:t>
            </a:r>
            <a:r>
              <a:rPr sz="2000" spc="-25" dirty="0">
                <a:latin typeface="Times New Roman"/>
                <a:cs typeface="Times New Roman"/>
              </a:rPr>
              <a:t> </a:t>
            </a:r>
            <a:r>
              <a:rPr sz="2000" dirty="0">
                <a:latin typeface="Times New Roman"/>
                <a:cs typeface="Times New Roman"/>
              </a:rPr>
              <a:t>related</a:t>
            </a:r>
            <a:r>
              <a:rPr sz="2000" spc="-25" dirty="0">
                <a:latin typeface="Times New Roman"/>
                <a:cs typeface="Times New Roman"/>
              </a:rPr>
              <a:t> </a:t>
            </a:r>
            <a:r>
              <a:rPr sz="2000" dirty="0">
                <a:latin typeface="Times New Roman"/>
                <a:cs typeface="Times New Roman"/>
              </a:rPr>
              <a:t>to</a:t>
            </a:r>
            <a:r>
              <a:rPr sz="2000" spc="-25" dirty="0">
                <a:latin typeface="Times New Roman"/>
                <a:cs typeface="Times New Roman"/>
              </a:rPr>
              <a:t> the </a:t>
            </a:r>
            <a:r>
              <a:rPr sz="2000" dirty="0">
                <a:latin typeface="Times New Roman"/>
                <a:cs typeface="Times New Roman"/>
              </a:rPr>
              <a:t>other</a:t>
            </a:r>
            <a:r>
              <a:rPr sz="2000" spc="-45" dirty="0">
                <a:latin typeface="Times New Roman"/>
                <a:cs typeface="Times New Roman"/>
              </a:rPr>
              <a:t> </a:t>
            </a:r>
            <a:r>
              <a:rPr sz="2000" dirty="0">
                <a:latin typeface="Times New Roman"/>
                <a:cs typeface="Times New Roman"/>
              </a:rPr>
              <a:t>elements</a:t>
            </a:r>
            <a:r>
              <a:rPr sz="2000" spc="-10" dirty="0">
                <a:latin typeface="Times New Roman"/>
                <a:cs typeface="Times New Roman"/>
              </a:rPr>
              <a:t> </a:t>
            </a:r>
            <a:r>
              <a:rPr sz="2000" dirty="0">
                <a:latin typeface="Times New Roman"/>
                <a:cs typeface="Times New Roman"/>
              </a:rPr>
              <a:t>by</a:t>
            </a:r>
            <a:r>
              <a:rPr sz="2000" spc="-25" dirty="0">
                <a:latin typeface="Times New Roman"/>
                <a:cs typeface="Times New Roman"/>
              </a:rPr>
              <a:t> </a:t>
            </a:r>
            <a:r>
              <a:rPr sz="2000" dirty="0">
                <a:latin typeface="Times New Roman"/>
                <a:cs typeface="Times New Roman"/>
              </a:rPr>
              <a:t>its</a:t>
            </a:r>
            <a:r>
              <a:rPr sz="2000" spc="-20" dirty="0">
                <a:latin typeface="Times New Roman"/>
                <a:cs typeface="Times New Roman"/>
              </a:rPr>
              <a:t> </a:t>
            </a:r>
            <a:r>
              <a:rPr sz="2000" spc="-10" dirty="0">
                <a:latin typeface="Times New Roman"/>
                <a:cs typeface="Times New Roman"/>
              </a:rPr>
              <a:t>position </a:t>
            </a:r>
            <a:r>
              <a:rPr sz="2000" dirty="0">
                <a:latin typeface="Times New Roman"/>
                <a:cs typeface="Times New Roman"/>
              </a:rPr>
              <a:t>along</a:t>
            </a:r>
            <a:r>
              <a:rPr sz="2000" spc="-3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spc="-20" dirty="0">
                <a:latin typeface="Times New Roman"/>
                <a:cs typeface="Times New Roman"/>
              </a:rPr>
              <a:t>line.</a:t>
            </a:r>
            <a:endParaRPr sz="2000">
              <a:latin typeface="Times New Roman"/>
              <a:cs typeface="Times New Roman"/>
            </a:endParaRPr>
          </a:p>
          <a:p>
            <a:pPr marL="355600" marR="13335" indent="-343535" algn="just">
              <a:lnSpc>
                <a:spcPct val="100000"/>
              </a:lnSpc>
              <a:spcBef>
                <a:spcPts val="484"/>
              </a:spcBef>
              <a:buChar char="•"/>
              <a:tabLst>
                <a:tab pos="355600" algn="l"/>
              </a:tabLst>
            </a:pPr>
            <a:r>
              <a:rPr sz="2000" dirty="0">
                <a:latin typeface="Times New Roman"/>
                <a:cs typeface="Times New Roman"/>
              </a:rPr>
              <a:t>An</a:t>
            </a:r>
            <a:r>
              <a:rPr sz="2000" spc="-10" dirty="0">
                <a:latin typeface="Times New Roman"/>
                <a:cs typeface="Times New Roman"/>
              </a:rPr>
              <a:t> </a:t>
            </a:r>
            <a:r>
              <a:rPr sz="2000" dirty="0">
                <a:latin typeface="Times New Roman"/>
                <a:cs typeface="Times New Roman"/>
              </a:rPr>
              <a:t>ordinary</a:t>
            </a:r>
            <a:r>
              <a:rPr sz="2000" spc="-45" dirty="0">
                <a:latin typeface="Times New Roman"/>
                <a:cs typeface="Times New Roman"/>
              </a:rPr>
              <a:t> </a:t>
            </a:r>
            <a:r>
              <a:rPr sz="2000" dirty="0">
                <a:latin typeface="Times New Roman"/>
                <a:cs typeface="Times New Roman"/>
              </a:rPr>
              <a:t>C++</a:t>
            </a:r>
            <a:r>
              <a:rPr sz="2000" spc="-10" dirty="0">
                <a:latin typeface="Times New Roman"/>
                <a:cs typeface="Times New Roman"/>
              </a:rPr>
              <a:t> </a:t>
            </a:r>
            <a:r>
              <a:rPr sz="2000" dirty="0">
                <a:latin typeface="Times New Roman"/>
                <a:cs typeface="Times New Roman"/>
              </a:rPr>
              <a:t>array</a:t>
            </a:r>
            <a:r>
              <a:rPr sz="2000" spc="-35"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spc="-25" dirty="0">
                <a:latin typeface="Times New Roman"/>
                <a:cs typeface="Times New Roman"/>
              </a:rPr>
              <a:t>an </a:t>
            </a:r>
            <a:r>
              <a:rPr sz="2000" dirty="0">
                <a:latin typeface="Times New Roman"/>
                <a:cs typeface="Times New Roman"/>
              </a:rPr>
              <a:t>example</a:t>
            </a:r>
            <a:r>
              <a:rPr sz="2000" spc="-1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sequence</a:t>
            </a:r>
            <a:r>
              <a:rPr sz="2000" spc="-35"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4965" indent="-342265" algn="just">
              <a:lnSpc>
                <a:spcPct val="100000"/>
              </a:lnSpc>
              <a:spcBef>
                <a:spcPts val="480"/>
              </a:spcBef>
              <a:buChar char="•"/>
              <a:tabLst>
                <a:tab pos="354965" algn="l"/>
              </a:tabLst>
            </a:pPr>
            <a:r>
              <a:rPr sz="2000" dirty="0">
                <a:latin typeface="Times New Roman"/>
                <a:cs typeface="Times New Roman"/>
              </a:rPr>
              <a:t>Instantiating</a:t>
            </a:r>
            <a:r>
              <a:rPr sz="2000" spc="-55" dirty="0">
                <a:latin typeface="Times New Roman"/>
                <a:cs typeface="Times New Roman"/>
              </a:rPr>
              <a:t> </a:t>
            </a:r>
            <a:r>
              <a:rPr sz="2000" dirty="0">
                <a:latin typeface="Times New Roman"/>
                <a:cs typeface="Times New Roman"/>
              </a:rPr>
              <a:t>an</a:t>
            </a:r>
            <a:r>
              <a:rPr sz="2000" spc="-20" dirty="0">
                <a:latin typeface="Times New Roman"/>
                <a:cs typeface="Times New Roman"/>
              </a:rPr>
              <a:t> </a:t>
            </a:r>
            <a:r>
              <a:rPr sz="2000" dirty="0">
                <a:latin typeface="Times New Roman"/>
                <a:cs typeface="Times New Roman"/>
              </a:rPr>
              <a:t>STL</a:t>
            </a:r>
            <a:r>
              <a:rPr sz="2000" spc="-95"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12700" marR="1816735" indent="342900">
              <a:lnSpc>
                <a:spcPct val="100000"/>
              </a:lnSpc>
            </a:pPr>
            <a:r>
              <a:rPr sz="2000" dirty="0">
                <a:latin typeface="Times New Roman"/>
                <a:cs typeface="Times New Roman"/>
              </a:rPr>
              <a:t>object</a:t>
            </a:r>
            <a:r>
              <a:rPr sz="2000" spc="-35" dirty="0">
                <a:latin typeface="Times New Roman"/>
                <a:cs typeface="Times New Roman"/>
              </a:rPr>
              <a:t> </a:t>
            </a:r>
            <a:r>
              <a:rPr sz="2000" dirty="0">
                <a:latin typeface="Times New Roman"/>
                <a:cs typeface="Times New Roman"/>
              </a:rPr>
              <a:t>is</a:t>
            </a:r>
            <a:r>
              <a:rPr sz="2000" spc="-5" dirty="0">
                <a:latin typeface="Times New Roman"/>
                <a:cs typeface="Times New Roman"/>
              </a:rPr>
              <a:t> </a:t>
            </a:r>
            <a:r>
              <a:rPr sz="2000" spc="-20" dirty="0">
                <a:latin typeface="Times New Roman"/>
                <a:cs typeface="Times New Roman"/>
              </a:rPr>
              <a:t>easy. </a:t>
            </a:r>
            <a:r>
              <a:rPr sz="2000" b="1" dirty="0">
                <a:latin typeface="Calibri"/>
                <a:cs typeface="Calibri"/>
              </a:rPr>
              <a:t>vector&lt;int&gt;</a:t>
            </a:r>
            <a:r>
              <a:rPr sz="2000" b="1" spc="-90" dirty="0">
                <a:latin typeface="Calibri"/>
                <a:cs typeface="Calibri"/>
              </a:rPr>
              <a:t> </a:t>
            </a:r>
            <a:r>
              <a:rPr sz="2000" spc="-25" dirty="0">
                <a:latin typeface="Calibri"/>
                <a:cs typeface="Calibri"/>
              </a:rPr>
              <a:t>aVect; </a:t>
            </a:r>
            <a:r>
              <a:rPr sz="2000" spc="-25" dirty="0">
                <a:latin typeface="Times New Roman"/>
                <a:cs typeface="Times New Roman"/>
              </a:rPr>
              <a:t>or</a:t>
            </a:r>
            <a:endParaRPr sz="2000">
              <a:latin typeface="Times New Roman"/>
              <a:cs typeface="Times New Roman"/>
            </a:endParaRPr>
          </a:p>
          <a:p>
            <a:pPr marL="12700">
              <a:lnSpc>
                <a:spcPts val="2350"/>
              </a:lnSpc>
            </a:pPr>
            <a:r>
              <a:rPr sz="2000" b="1" dirty="0">
                <a:latin typeface="Calibri"/>
                <a:cs typeface="Calibri"/>
              </a:rPr>
              <a:t>list&lt;airtime&gt;</a:t>
            </a:r>
            <a:r>
              <a:rPr sz="2000" b="1" spc="-100" dirty="0">
                <a:latin typeface="Calibri"/>
                <a:cs typeface="Calibri"/>
              </a:rPr>
              <a:t> </a:t>
            </a:r>
            <a:r>
              <a:rPr sz="2000" spc="-10" dirty="0">
                <a:latin typeface="Calibri"/>
                <a:cs typeface="Calibri"/>
              </a:rPr>
              <a:t>departure_list;</a:t>
            </a:r>
            <a:endParaRPr sz="2000">
              <a:latin typeface="Calibri"/>
              <a:cs typeface="Calibri"/>
            </a:endParaRPr>
          </a:p>
        </p:txBody>
      </p:sp>
      <p:pic>
        <p:nvPicPr>
          <p:cNvPr id="4" name="object 4"/>
          <p:cNvPicPr/>
          <p:nvPr/>
        </p:nvPicPr>
        <p:blipFill>
          <a:blip r:embed="rId2" cstate="print"/>
          <a:stretch>
            <a:fillRect/>
          </a:stretch>
        </p:blipFill>
        <p:spPr>
          <a:xfrm>
            <a:off x="5056632" y="1720602"/>
            <a:ext cx="6619495" cy="2076809"/>
          </a:xfrm>
          <a:prstGeom prst="rect">
            <a:avLst/>
          </a:prstGeom>
        </p:spPr>
      </p:pic>
      <p:pic>
        <p:nvPicPr>
          <p:cNvPr id="5" name="object 5"/>
          <p:cNvPicPr/>
          <p:nvPr/>
        </p:nvPicPr>
        <p:blipFill>
          <a:blip r:embed="rId3" cstate="print"/>
          <a:stretch>
            <a:fillRect/>
          </a:stretch>
        </p:blipFill>
        <p:spPr>
          <a:xfrm>
            <a:off x="5079491" y="4001655"/>
            <a:ext cx="6591300" cy="1886307"/>
          </a:xfrm>
          <a:prstGeom prst="rect">
            <a:avLst/>
          </a:prstGeom>
        </p:spPr>
      </p:pic>
      <p:sp>
        <p:nvSpPr>
          <p:cNvPr id="7" name="object 7"/>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6</a:t>
            </a:r>
            <a:endParaRPr sz="2400">
              <a:latin typeface="Times New Roman"/>
              <a:cs typeface="Times New Roman"/>
            </a:endParaRPr>
          </a:p>
        </p:txBody>
      </p:sp>
      <p:sp>
        <p:nvSpPr>
          <p:cNvPr id="8" name="object 8"/>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25495E9B-E264-0139-AC09-CADF5DC4BC1B}"/>
              </a:ext>
            </a:extLst>
          </p:cNvPr>
          <p:cNvSpPr>
            <a:spLocks noGrp="1"/>
          </p:cNvSpPr>
          <p:nvPr>
            <p:ph type="dt" sz="half" idx="10"/>
          </p:nvPr>
        </p:nvSpPr>
        <p:spPr/>
        <p:txBody>
          <a:bodyPr/>
          <a:lstStyle/>
          <a:p>
            <a:fld id="{B8ECD6A7-55DE-46B8-8390-5DC069DBC7A0}" type="datetime1">
              <a:rPr lang="en-US" smtClean="0"/>
              <a:t>11/17/2025</a:t>
            </a:fld>
            <a:endParaRPr lang="en-US"/>
          </a:p>
        </p:txBody>
      </p:sp>
      <p:sp>
        <p:nvSpPr>
          <p:cNvPr id="12" name="Slide Number Placeholder 11">
            <a:extLst>
              <a:ext uri="{FF2B5EF4-FFF2-40B4-BE49-F238E27FC236}">
                <a16:creationId xmlns:a16="http://schemas.microsoft.com/office/drawing/2014/main" id="{FFCD5908-E68E-A153-990E-A53653BDE8D3}"/>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28</a:t>
            </a:fld>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5871"/>
            <a:ext cx="2207261" cy="689291"/>
          </a:xfrm>
          <a:prstGeom prst="rect">
            <a:avLst/>
          </a:prstGeom>
        </p:spPr>
        <p:txBody>
          <a:bodyPr vert="horz" wrap="square" lIns="0" tIns="12065" rIns="0" bIns="0" rtlCol="0">
            <a:spAutoFit/>
          </a:bodyPr>
          <a:lstStyle/>
          <a:p>
            <a:pPr marL="12700">
              <a:lnSpc>
                <a:spcPct val="100000"/>
              </a:lnSpc>
              <a:spcBef>
                <a:spcPts val="95"/>
              </a:spcBef>
            </a:pPr>
            <a:r>
              <a:rPr spc="-65" dirty="0"/>
              <a:t>Vecto</a:t>
            </a:r>
            <a:r>
              <a:rPr lang="en-US" spc="-65" dirty="0"/>
              <a:t>r</a:t>
            </a:r>
            <a:r>
              <a:rPr spc="-65" dirty="0"/>
              <a:t>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859661"/>
            <a:ext cx="7194550" cy="3562350"/>
          </a:xfrm>
          <a:prstGeom prst="rect">
            <a:avLst/>
          </a:prstGeom>
        </p:spPr>
        <p:txBody>
          <a:bodyPr vert="horz" wrap="square" lIns="0" tIns="13335" rIns="0" bIns="0" rtlCol="0">
            <a:spAutoFit/>
          </a:bodyPr>
          <a:lstStyle/>
          <a:p>
            <a:pPr marL="355600" marR="5080" indent="-343535" algn="just">
              <a:lnSpc>
                <a:spcPct val="100000"/>
              </a:lnSpc>
              <a:spcBef>
                <a:spcPts val="105"/>
              </a:spcBef>
              <a:buChar char="•"/>
              <a:tabLst>
                <a:tab pos="355600" algn="l"/>
              </a:tabLst>
            </a:pPr>
            <a:r>
              <a:rPr sz="2000" dirty="0">
                <a:latin typeface="Times New Roman"/>
                <a:cs typeface="Times New Roman"/>
              </a:rPr>
              <a:t>Vectors</a:t>
            </a:r>
            <a:r>
              <a:rPr sz="2000" spc="170" dirty="0">
                <a:latin typeface="Times New Roman"/>
                <a:cs typeface="Times New Roman"/>
              </a:rPr>
              <a:t> </a:t>
            </a:r>
            <a:r>
              <a:rPr sz="2000" dirty="0">
                <a:latin typeface="Times New Roman"/>
                <a:cs typeface="Times New Roman"/>
              </a:rPr>
              <a:t>as</a:t>
            </a:r>
            <a:r>
              <a:rPr sz="2000" spc="175" dirty="0">
                <a:latin typeface="Times New Roman"/>
                <a:cs typeface="Times New Roman"/>
              </a:rPr>
              <a:t> </a:t>
            </a:r>
            <a:r>
              <a:rPr sz="2000" dirty="0">
                <a:latin typeface="Times New Roman"/>
                <a:cs typeface="Times New Roman"/>
              </a:rPr>
              <a:t>smart</a:t>
            </a:r>
            <a:r>
              <a:rPr sz="2000" spc="170" dirty="0">
                <a:latin typeface="Times New Roman"/>
                <a:cs typeface="Times New Roman"/>
              </a:rPr>
              <a:t> </a:t>
            </a:r>
            <a:r>
              <a:rPr sz="2000" dirty="0">
                <a:latin typeface="Times New Roman"/>
                <a:cs typeface="Times New Roman"/>
              </a:rPr>
              <a:t>arrays.</a:t>
            </a:r>
            <a:r>
              <a:rPr sz="2000" spc="175" dirty="0">
                <a:latin typeface="Times New Roman"/>
                <a:cs typeface="Times New Roman"/>
              </a:rPr>
              <a:t> </a:t>
            </a:r>
            <a:r>
              <a:rPr sz="2000" dirty="0">
                <a:latin typeface="Times New Roman"/>
                <a:cs typeface="Times New Roman"/>
              </a:rPr>
              <a:t>They</a:t>
            </a:r>
            <a:r>
              <a:rPr sz="2000" spc="180" dirty="0">
                <a:latin typeface="Times New Roman"/>
                <a:cs typeface="Times New Roman"/>
              </a:rPr>
              <a:t> </a:t>
            </a:r>
            <a:r>
              <a:rPr sz="2000" dirty="0">
                <a:latin typeface="Times New Roman"/>
                <a:cs typeface="Times New Roman"/>
              </a:rPr>
              <a:t>manage</a:t>
            </a:r>
            <a:r>
              <a:rPr sz="2000" spc="175" dirty="0">
                <a:latin typeface="Times New Roman"/>
                <a:cs typeface="Times New Roman"/>
              </a:rPr>
              <a:t> </a:t>
            </a:r>
            <a:r>
              <a:rPr sz="2000" dirty="0">
                <a:latin typeface="Times New Roman"/>
                <a:cs typeface="Times New Roman"/>
              </a:rPr>
              <a:t>storage</a:t>
            </a:r>
            <a:r>
              <a:rPr sz="2000" spc="175" dirty="0">
                <a:latin typeface="Times New Roman"/>
                <a:cs typeface="Times New Roman"/>
              </a:rPr>
              <a:t> </a:t>
            </a:r>
            <a:r>
              <a:rPr sz="2000" dirty="0">
                <a:latin typeface="Times New Roman"/>
                <a:cs typeface="Times New Roman"/>
              </a:rPr>
              <a:t>allocation</a:t>
            </a:r>
            <a:r>
              <a:rPr sz="2000" spc="180" dirty="0">
                <a:latin typeface="Times New Roman"/>
                <a:cs typeface="Times New Roman"/>
              </a:rPr>
              <a:t> </a:t>
            </a:r>
            <a:r>
              <a:rPr sz="2000" dirty="0">
                <a:latin typeface="Times New Roman"/>
                <a:cs typeface="Times New Roman"/>
              </a:rPr>
              <a:t>for</a:t>
            </a:r>
            <a:r>
              <a:rPr sz="2000" spc="175" dirty="0">
                <a:latin typeface="Times New Roman"/>
                <a:cs typeface="Times New Roman"/>
              </a:rPr>
              <a:t> </a:t>
            </a:r>
            <a:r>
              <a:rPr sz="2000" spc="-20" dirty="0">
                <a:latin typeface="Times New Roman"/>
                <a:cs typeface="Times New Roman"/>
              </a:rPr>
              <a:t>you, </a:t>
            </a:r>
            <a:r>
              <a:rPr sz="2000" dirty="0">
                <a:latin typeface="Times New Roman"/>
                <a:cs typeface="Times New Roman"/>
              </a:rPr>
              <a:t>expanding</a:t>
            </a:r>
            <a:r>
              <a:rPr sz="2000" spc="240" dirty="0">
                <a:latin typeface="Times New Roman"/>
                <a:cs typeface="Times New Roman"/>
              </a:rPr>
              <a:t> </a:t>
            </a:r>
            <a:r>
              <a:rPr sz="2000" dirty="0">
                <a:latin typeface="Times New Roman"/>
                <a:cs typeface="Times New Roman"/>
              </a:rPr>
              <a:t>and</a:t>
            </a:r>
            <a:r>
              <a:rPr sz="2000" spc="215" dirty="0">
                <a:latin typeface="Times New Roman"/>
                <a:cs typeface="Times New Roman"/>
              </a:rPr>
              <a:t> </a:t>
            </a:r>
            <a:r>
              <a:rPr sz="2000" dirty="0">
                <a:latin typeface="Times New Roman"/>
                <a:cs typeface="Times New Roman"/>
              </a:rPr>
              <a:t>contracting</a:t>
            </a:r>
            <a:r>
              <a:rPr sz="2000" spc="240"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dirty="0">
                <a:latin typeface="Times New Roman"/>
                <a:cs typeface="Times New Roman"/>
              </a:rPr>
              <a:t>size</a:t>
            </a:r>
            <a:r>
              <a:rPr sz="2000" spc="215" dirty="0">
                <a:latin typeface="Times New Roman"/>
                <a:cs typeface="Times New Roman"/>
              </a:rPr>
              <a:t> </a:t>
            </a:r>
            <a:r>
              <a:rPr sz="2000" dirty="0">
                <a:latin typeface="Times New Roman"/>
                <a:cs typeface="Times New Roman"/>
              </a:rPr>
              <a:t>of</a:t>
            </a:r>
            <a:r>
              <a:rPr sz="2000" spc="215" dirty="0">
                <a:latin typeface="Times New Roman"/>
                <a:cs typeface="Times New Roman"/>
              </a:rPr>
              <a:t> </a:t>
            </a:r>
            <a:r>
              <a:rPr sz="2000" dirty="0">
                <a:latin typeface="Times New Roman"/>
                <a:cs typeface="Times New Roman"/>
              </a:rPr>
              <a:t>the</a:t>
            </a:r>
            <a:r>
              <a:rPr sz="2000" spc="215" dirty="0">
                <a:latin typeface="Times New Roman"/>
                <a:cs typeface="Times New Roman"/>
              </a:rPr>
              <a:t> </a:t>
            </a:r>
            <a:r>
              <a:rPr sz="2000" dirty="0">
                <a:latin typeface="Times New Roman"/>
                <a:cs typeface="Times New Roman"/>
              </a:rPr>
              <a:t>vector</a:t>
            </a:r>
            <a:r>
              <a:rPr sz="2000" spc="229" dirty="0">
                <a:latin typeface="Times New Roman"/>
                <a:cs typeface="Times New Roman"/>
              </a:rPr>
              <a:t> </a:t>
            </a:r>
            <a:r>
              <a:rPr sz="2000" dirty="0">
                <a:latin typeface="Times New Roman"/>
                <a:cs typeface="Times New Roman"/>
              </a:rPr>
              <a:t>as</a:t>
            </a:r>
            <a:r>
              <a:rPr sz="2000" spc="225" dirty="0">
                <a:latin typeface="Times New Roman"/>
                <a:cs typeface="Times New Roman"/>
              </a:rPr>
              <a:t> </a:t>
            </a:r>
            <a:r>
              <a:rPr sz="2000" dirty="0">
                <a:latin typeface="Times New Roman"/>
                <a:cs typeface="Times New Roman"/>
              </a:rPr>
              <a:t>you</a:t>
            </a:r>
            <a:r>
              <a:rPr sz="2000" spc="235" dirty="0">
                <a:latin typeface="Times New Roman"/>
                <a:cs typeface="Times New Roman"/>
              </a:rPr>
              <a:t> </a:t>
            </a:r>
            <a:r>
              <a:rPr sz="2000" dirty="0">
                <a:latin typeface="Times New Roman"/>
                <a:cs typeface="Times New Roman"/>
              </a:rPr>
              <a:t>insert</a:t>
            </a:r>
            <a:r>
              <a:rPr sz="2000" spc="220" dirty="0">
                <a:latin typeface="Times New Roman"/>
                <a:cs typeface="Times New Roman"/>
              </a:rPr>
              <a:t> </a:t>
            </a:r>
            <a:r>
              <a:rPr sz="2000" spc="-25" dirty="0">
                <a:latin typeface="Times New Roman"/>
                <a:cs typeface="Times New Roman"/>
              </a:rPr>
              <a:t>or </a:t>
            </a:r>
            <a:r>
              <a:rPr sz="2000" dirty="0">
                <a:latin typeface="Times New Roman"/>
                <a:cs typeface="Times New Roman"/>
              </a:rPr>
              <a:t>erase</a:t>
            </a:r>
            <a:r>
              <a:rPr sz="2000" spc="-20" dirty="0">
                <a:latin typeface="Times New Roman"/>
                <a:cs typeface="Times New Roman"/>
              </a:rPr>
              <a:t> data.</a:t>
            </a:r>
            <a:endParaRPr sz="2000">
              <a:latin typeface="Times New Roman"/>
              <a:cs typeface="Times New Roman"/>
            </a:endParaRPr>
          </a:p>
          <a:p>
            <a:pPr marL="354330" marR="5080" indent="-342265" algn="just">
              <a:lnSpc>
                <a:spcPct val="100000"/>
              </a:lnSpc>
              <a:spcBef>
                <a:spcPts val="475"/>
              </a:spcBef>
              <a:buChar char="•"/>
              <a:tabLst>
                <a:tab pos="355600" algn="l"/>
              </a:tabLst>
            </a:pPr>
            <a:r>
              <a:rPr sz="2000" spc="-10" dirty="0">
                <a:latin typeface="Times New Roman"/>
                <a:cs typeface="Times New Roman"/>
              </a:rPr>
              <a:t>Vectors</a:t>
            </a:r>
            <a:r>
              <a:rPr sz="2000" spc="55" dirty="0">
                <a:latin typeface="Times New Roman"/>
                <a:cs typeface="Times New Roman"/>
              </a:rPr>
              <a:t> </a:t>
            </a:r>
            <a:r>
              <a:rPr sz="2000" dirty="0">
                <a:latin typeface="Times New Roman"/>
                <a:cs typeface="Times New Roman"/>
              </a:rPr>
              <a:t>are</a:t>
            </a:r>
            <a:r>
              <a:rPr sz="2000" spc="45" dirty="0">
                <a:latin typeface="Times New Roman"/>
                <a:cs typeface="Times New Roman"/>
              </a:rPr>
              <a:t> </a:t>
            </a:r>
            <a:r>
              <a:rPr sz="2000" dirty="0">
                <a:latin typeface="Times New Roman"/>
                <a:cs typeface="Times New Roman"/>
              </a:rPr>
              <a:t>same</a:t>
            </a:r>
            <a:r>
              <a:rPr sz="2000" spc="60" dirty="0">
                <a:latin typeface="Times New Roman"/>
                <a:cs typeface="Times New Roman"/>
              </a:rPr>
              <a:t> </a:t>
            </a:r>
            <a:r>
              <a:rPr sz="2000" dirty="0">
                <a:latin typeface="Times New Roman"/>
                <a:cs typeface="Times New Roman"/>
              </a:rPr>
              <a:t>as</a:t>
            </a:r>
            <a:r>
              <a:rPr sz="2000" spc="55" dirty="0">
                <a:latin typeface="Times New Roman"/>
                <a:cs typeface="Times New Roman"/>
              </a:rPr>
              <a:t> </a:t>
            </a:r>
            <a:r>
              <a:rPr sz="2000" dirty="0">
                <a:latin typeface="Times New Roman"/>
                <a:cs typeface="Times New Roman"/>
              </a:rPr>
              <a:t>dynamic</a:t>
            </a:r>
            <a:r>
              <a:rPr sz="2000" spc="55" dirty="0">
                <a:latin typeface="Times New Roman"/>
                <a:cs typeface="Times New Roman"/>
              </a:rPr>
              <a:t> </a:t>
            </a:r>
            <a:r>
              <a:rPr sz="2000" dirty="0">
                <a:latin typeface="Times New Roman"/>
                <a:cs typeface="Times New Roman"/>
              </a:rPr>
              <a:t>arrays</a:t>
            </a:r>
            <a:r>
              <a:rPr sz="2000" spc="50" dirty="0">
                <a:latin typeface="Times New Roman"/>
                <a:cs typeface="Times New Roman"/>
              </a:rPr>
              <a:t> </a:t>
            </a:r>
            <a:r>
              <a:rPr sz="2000" dirty="0">
                <a:latin typeface="Times New Roman"/>
                <a:cs typeface="Times New Roman"/>
              </a:rPr>
              <a:t>with</a:t>
            </a:r>
            <a:r>
              <a:rPr sz="2000" spc="65" dirty="0">
                <a:latin typeface="Times New Roman"/>
                <a:cs typeface="Times New Roman"/>
              </a:rPr>
              <a:t> </a:t>
            </a:r>
            <a:r>
              <a:rPr sz="2000" dirty="0">
                <a:latin typeface="Times New Roman"/>
                <a:cs typeface="Times New Roman"/>
              </a:rPr>
              <a:t>the</a:t>
            </a:r>
            <a:r>
              <a:rPr sz="2000" spc="55" dirty="0">
                <a:latin typeface="Times New Roman"/>
                <a:cs typeface="Times New Roman"/>
              </a:rPr>
              <a:t> </a:t>
            </a:r>
            <a:r>
              <a:rPr sz="2000" dirty="0">
                <a:latin typeface="Times New Roman"/>
                <a:cs typeface="Times New Roman"/>
              </a:rPr>
              <a:t>ability</a:t>
            </a:r>
            <a:r>
              <a:rPr sz="2000" spc="50" dirty="0">
                <a:latin typeface="Times New Roman"/>
                <a:cs typeface="Times New Roman"/>
              </a:rPr>
              <a:t> </a:t>
            </a:r>
            <a:r>
              <a:rPr sz="2000" dirty="0">
                <a:latin typeface="Times New Roman"/>
                <a:cs typeface="Times New Roman"/>
              </a:rPr>
              <a:t>to</a:t>
            </a:r>
            <a:r>
              <a:rPr sz="2000" spc="55" dirty="0">
                <a:latin typeface="Times New Roman"/>
                <a:cs typeface="Times New Roman"/>
              </a:rPr>
              <a:t> </a:t>
            </a:r>
            <a:r>
              <a:rPr sz="2000" dirty="0">
                <a:latin typeface="Times New Roman"/>
                <a:cs typeface="Times New Roman"/>
              </a:rPr>
              <a:t>resize</a:t>
            </a:r>
            <a:r>
              <a:rPr sz="2000" spc="55" dirty="0">
                <a:latin typeface="Times New Roman"/>
                <a:cs typeface="Times New Roman"/>
              </a:rPr>
              <a:t> </a:t>
            </a:r>
            <a:r>
              <a:rPr sz="2000" spc="-10" dirty="0">
                <a:latin typeface="Times New Roman"/>
                <a:cs typeface="Times New Roman"/>
              </a:rPr>
              <a:t>itself 	</a:t>
            </a:r>
            <a:r>
              <a:rPr sz="2000" dirty="0">
                <a:latin typeface="Times New Roman"/>
                <a:cs typeface="Times New Roman"/>
              </a:rPr>
              <a:t>automatically</a:t>
            </a:r>
            <a:r>
              <a:rPr sz="2000" spc="295" dirty="0">
                <a:latin typeface="Times New Roman"/>
                <a:cs typeface="Times New Roman"/>
              </a:rPr>
              <a:t> </a:t>
            </a:r>
            <a:r>
              <a:rPr sz="2000" dirty="0">
                <a:latin typeface="Times New Roman"/>
                <a:cs typeface="Times New Roman"/>
              </a:rPr>
              <a:t>when</a:t>
            </a:r>
            <a:r>
              <a:rPr sz="2000" spc="325" dirty="0">
                <a:latin typeface="Times New Roman"/>
                <a:cs typeface="Times New Roman"/>
              </a:rPr>
              <a:t> </a:t>
            </a:r>
            <a:r>
              <a:rPr sz="2000" dirty="0">
                <a:latin typeface="Times New Roman"/>
                <a:cs typeface="Times New Roman"/>
              </a:rPr>
              <a:t>an</a:t>
            </a:r>
            <a:r>
              <a:rPr sz="2000" spc="315" dirty="0">
                <a:latin typeface="Times New Roman"/>
                <a:cs typeface="Times New Roman"/>
              </a:rPr>
              <a:t> </a:t>
            </a:r>
            <a:r>
              <a:rPr sz="2000" dirty="0">
                <a:latin typeface="Times New Roman"/>
                <a:cs typeface="Times New Roman"/>
              </a:rPr>
              <a:t>element</a:t>
            </a:r>
            <a:r>
              <a:rPr sz="2000" spc="310" dirty="0">
                <a:latin typeface="Times New Roman"/>
                <a:cs typeface="Times New Roman"/>
              </a:rPr>
              <a:t> </a:t>
            </a:r>
            <a:r>
              <a:rPr sz="2000" dirty="0">
                <a:latin typeface="Times New Roman"/>
                <a:cs typeface="Times New Roman"/>
              </a:rPr>
              <a:t>is</a:t>
            </a:r>
            <a:r>
              <a:rPr sz="2000" spc="310" dirty="0">
                <a:latin typeface="Times New Roman"/>
                <a:cs typeface="Times New Roman"/>
              </a:rPr>
              <a:t> </a:t>
            </a:r>
            <a:r>
              <a:rPr sz="2000" dirty="0">
                <a:latin typeface="Times New Roman"/>
                <a:cs typeface="Times New Roman"/>
              </a:rPr>
              <a:t>inserted</a:t>
            </a:r>
            <a:r>
              <a:rPr sz="2000" spc="320" dirty="0">
                <a:latin typeface="Times New Roman"/>
                <a:cs typeface="Times New Roman"/>
              </a:rPr>
              <a:t> </a:t>
            </a:r>
            <a:r>
              <a:rPr sz="2000" dirty="0">
                <a:latin typeface="Times New Roman"/>
                <a:cs typeface="Times New Roman"/>
              </a:rPr>
              <a:t>or</a:t>
            </a:r>
            <a:r>
              <a:rPr sz="2000" spc="305" dirty="0">
                <a:latin typeface="Times New Roman"/>
                <a:cs typeface="Times New Roman"/>
              </a:rPr>
              <a:t> </a:t>
            </a:r>
            <a:r>
              <a:rPr sz="2000" dirty="0">
                <a:latin typeface="Times New Roman"/>
                <a:cs typeface="Times New Roman"/>
              </a:rPr>
              <a:t>deleted,</a:t>
            </a:r>
            <a:r>
              <a:rPr sz="2000" spc="320" dirty="0">
                <a:latin typeface="Times New Roman"/>
                <a:cs typeface="Times New Roman"/>
              </a:rPr>
              <a:t> </a:t>
            </a:r>
            <a:r>
              <a:rPr sz="2000" dirty="0">
                <a:latin typeface="Times New Roman"/>
                <a:cs typeface="Times New Roman"/>
              </a:rPr>
              <a:t>with</a:t>
            </a:r>
            <a:r>
              <a:rPr sz="2000" spc="315" dirty="0">
                <a:latin typeface="Times New Roman"/>
                <a:cs typeface="Times New Roman"/>
              </a:rPr>
              <a:t> </a:t>
            </a:r>
            <a:r>
              <a:rPr sz="2000" spc="-10" dirty="0">
                <a:latin typeface="Times New Roman"/>
                <a:cs typeface="Times New Roman"/>
              </a:rPr>
              <a:t>their 	</a:t>
            </a:r>
            <a:r>
              <a:rPr sz="2000" dirty="0">
                <a:latin typeface="Times New Roman"/>
                <a:cs typeface="Times New Roman"/>
              </a:rPr>
              <a:t>storage</a:t>
            </a:r>
            <a:r>
              <a:rPr sz="2000" spc="-55" dirty="0">
                <a:latin typeface="Times New Roman"/>
                <a:cs typeface="Times New Roman"/>
              </a:rPr>
              <a:t> </a:t>
            </a:r>
            <a:r>
              <a:rPr sz="2000" dirty="0">
                <a:latin typeface="Times New Roman"/>
                <a:cs typeface="Times New Roman"/>
              </a:rPr>
              <a:t>being</a:t>
            </a:r>
            <a:r>
              <a:rPr sz="2000" spc="-30" dirty="0">
                <a:latin typeface="Times New Roman"/>
                <a:cs typeface="Times New Roman"/>
              </a:rPr>
              <a:t> </a:t>
            </a:r>
            <a:r>
              <a:rPr sz="2000" dirty="0">
                <a:latin typeface="Times New Roman"/>
                <a:cs typeface="Times New Roman"/>
              </a:rPr>
              <a:t>handled</a:t>
            </a:r>
            <a:r>
              <a:rPr sz="2000" spc="-30" dirty="0">
                <a:latin typeface="Times New Roman"/>
                <a:cs typeface="Times New Roman"/>
              </a:rPr>
              <a:t> </a:t>
            </a:r>
            <a:r>
              <a:rPr sz="2000" dirty="0">
                <a:latin typeface="Times New Roman"/>
                <a:cs typeface="Times New Roman"/>
              </a:rPr>
              <a:t>automatically</a:t>
            </a:r>
            <a:r>
              <a:rPr sz="2000" spc="-25" dirty="0">
                <a:latin typeface="Times New Roman"/>
                <a:cs typeface="Times New Roman"/>
              </a:rPr>
              <a:t> </a:t>
            </a:r>
            <a:r>
              <a:rPr sz="2000" dirty="0">
                <a:latin typeface="Times New Roman"/>
                <a:cs typeface="Times New Roman"/>
              </a:rPr>
              <a:t>by</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5600" indent="-342900" algn="just">
              <a:lnSpc>
                <a:spcPct val="100000"/>
              </a:lnSpc>
              <a:spcBef>
                <a:spcPts val="484"/>
              </a:spcBef>
              <a:buChar char="•"/>
              <a:tabLst>
                <a:tab pos="355600" algn="l"/>
              </a:tabLst>
            </a:pPr>
            <a:r>
              <a:rPr sz="2000" spc="-10" dirty="0">
                <a:latin typeface="Times New Roman"/>
                <a:cs typeface="Times New Roman"/>
              </a:rPr>
              <a:t>You</a:t>
            </a:r>
            <a:r>
              <a:rPr sz="2000" spc="45" dirty="0">
                <a:latin typeface="Times New Roman"/>
                <a:cs typeface="Times New Roman"/>
              </a:rPr>
              <a:t> </a:t>
            </a:r>
            <a:r>
              <a:rPr sz="2000" dirty="0">
                <a:latin typeface="Times New Roman"/>
                <a:cs typeface="Times New Roman"/>
              </a:rPr>
              <a:t>can</a:t>
            </a:r>
            <a:r>
              <a:rPr sz="2000" spc="30" dirty="0">
                <a:latin typeface="Times New Roman"/>
                <a:cs typeface="Times New Roman"/>
              </a:rPr>
              <a:t> </a:t>
            </a:r>
            <a:r>
              <a:rPr sz="2000" dirty="0">
                <a:latin typeface="Times New Roman"/>
                <a:cs typeface="Times New Roman"/>
              </a:rPr>
              <a:t>use</a:t>
            </a:r>
            <a:r>
              <a:rPr sz="2000" spc="20" dirty="0">
                <a:latin typeface="Times New Roman"/>
                <a:cs typeface="Times New Roman"/>
              </a:rPr>
              <a:t> </a:t>
            </a:r>
            <a:r>
              <a:rPr sz="2000" dirty="0">
                <a:latin typeface="Times New Roman"/>
                <a:cs typeface="Times New Roman"/>
              </a:rPr>
              <a:t>vectors</a:t>
            </a:r>
            <a:r>
              <a:rPr sz="2000" spc="40" dirty="0">
                <a:latin typeface="Times New Roman"/>
                <a:cs typeface="Times New Roman"/>
              </a:rPr>
              <a:t> </a:t>
            </a:r>
            <a:r>
              <a:rPr sz="2000" dirty="0">
                <a:latin typeface="Times New Roman"/>
                <a:cs typeface="Times New Roman"/>
              </a:rPr>
              <a:t>much</a:t>
            </a:r>
            <a:r>
              <a:rPr sz="2000" spc="35" dirty="0">
                <a:latin typeface="Times New Roman"/>
                <a:cs typeface="Times New Roman"/>
              </a:rPr>
              <a:t> </a:t>
            </a:r>
            <a:r>
              <a:rPr sz="2000" dirty="0">
                <a:latin typeface="Times New Roman"/>
                <a:cs typeface="Times New Roman"/>
              </a:rPr>
              <a:t>like</a:t>
            </a:r>
            <a:r>
              <a:rPr sz="2000" spc="40" dirty="0">
                <a:latin typeface="Times New Roman"/>
                <a:cs typeface="Times New Roman"/>
              </a:rPr>
              <a:t> </a:t>
            </a:r>
            <a:r>
              <a:rPr sz="2000" dirty="0">
                <a:latin typeface="Times New Roman"/>
                <a:cs typeface="Times New Roman"/>
              </a:rPr>
              <a:t>arrays,</a:t>
            </a:r>
            <a:r>
              <a:rPr sz="2000" spc="40" dirty="0">
                <a:latin typeface="Times New Roman"/>
                <a:cs typeface="Times New Roman"/>
              </a:rPr>
              <a:t> </a:t>
            </a:r>
            <a:r>
              <a:rPr sz="2000" dirty="0">
                <a:latin typeface="Times New Roman"/>
                <a:cs typeface="Times New Roman"/>
              </a:rPr>
              <a:t>accessing</a:t>
            </a:r>
            <a:r>
              <a:rPr sz="2000" spc="50" dirty="0">
                <a:latin typeface="Times New Roman"/>
                <a:cs typeface="Times New Roman"/>
              </a:rPr>
              <a:t> </a:t>
            </a:r>
            <a:r>
              <a:rPr sz="2000" dirty="0">
                <a:latin typeface="Times New Roman"/>
                <a:cs typeface="Times New Roman"/>
              </a:rPr>
              <a:t>elements</a:t>
            </a:r>
            <a:r>
              <a:rPr sz="2000" spc="30" dirty="0">
                <a:latin typeface="Times New Roman"/>
                <a:cs typeface="Times New Roman"/>
              </a:rPr>
              <a:t> </a:t>
            </a:r>
            <a:r>
              <a:rPr sz="2000" dirty="0">
                <a:latin typeface="Times New Roman"/>
                <a:cs typeface="Times New Roman"/>
              </a:rPr>
              <a:t>with</a:t>
            </a:r>
            <a:r>
              <a:rPr sz="2000" spc="35" dirty="0">
                <a:latin typeface="Times New Roman"/>
                <a:cs typeface="Times New Roman"/>
              </a:rPr>
              <a:t> </a:t>
            </a:r>
            <a:r>
              <a:rPr sz="2000" spc="-25" dirty="0">
                <a:latin typeface="Times New Roman"/>
                <a:cs typeface="Times New Roman"/>
              </a:rPr>
              <a:t>the</a:t>
            </a:r>
            <a:endParaRPr sz="2000">
              <a:latin typeface="Times New Roman"/>
              <a:cs typeface="Times New Roman"/>
            </a:endParaRPr>
          </a:p>
          <a:p>
            <a:pPr marL="355600" algn="just">
              <a:lnSpc>
                <a:spcPct val="100000"/>
              </a:lnSpc>
            </a:pPr>
            <a:r>
              <a:rPr sz="2000" dirty="0">
                <a:latin typeface="Times New Roman"/>
                <a:cs typeface="Times New Roman"/>
              </a:rPr>
              <a:t>[]</a:t>
            </a:r>
            <a:r>
              <a:rPr sz="2000" spc="-25" dirty="0">
                <a:latin typeface="Times New Roman"/>
                <a:cs typeface="Times New Roman"/>
              </a:rPr>
              <a:t> </a:t>
            </a:r>
            <a:r>
              <a:rPr sz="2000" spc="-10" dirty="0">
                <a:latin typeface="Times New Roman"/>
                <a:cs typeface="Times New Roman"/>
              </a:rPr>
              <a:t>operator.</a:t>
            </a:r>
            <a:r>
              <a:rPr sz="2000" spc="-50" dirty="0">
                <a:latin typeface="Times New Roman"/>
                <a:cs typeface="Times New Roman"/>
              </a:rPr>
              <a:t> </a:t>
            </a:r>
            <a:r>
              <a:rPr sz="2000" dirty="0">
                <a:latin typeface="Times New Roman"/>
                <a:cs typeface="Times New Roman"/>
              </a:rPr>
              <a:t>Such</a:t>
            </a:r>
            <a:r>
              <a:rPr sz="2000" spc="-20" dirty="0">
                <a:latin typeface="Times New Roman"/>
                <a:cs typeface="Times New Roman"/>
              </a:rPr>
              <a:t> </a:t>
            </a:r>
            <a:r>
              <a:rPr sz="2000" dirty="0">
                <a:latin typeface="Times New Roman"/>
                <a:cs typeface="Times New Roman"/>
              </a:rPr>
              <a:t>random</a:t>
            </a:r>
            <a:r>
              <a:rPr sz="2000" spc="-40" dirty="0">
                <a:latin typeface="Times New Roman"/>
                <a:cs typeface="Times New Roman"/>
              </a:rPr>
              <a:t> </a:t>
            </a:r>
            <a:r>
              <a:rPr sz="2000" dirty="0">
                <a:latin typeface="Times New Roman"/>
                <a:cs typeface="Times New Roman"/>
              </a:rPr>
              <a:t>access</a:t>
            </a:r>
            <a:r>
              <a:rPr sz="2000" spc="-20"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dirty="0">
                <a:latin typeface="Times New Roman"/>
                <a:cs typeface="Times New Roman"/>
              </a:rPr>
              <a:t>very</a:t>
            </a:r>
            <a:r>
              <a:rPr sz="2000" spc="-15" dirty="0">
                <a:latin typeface="Times New Roman"/>
                <a:cs typeface="Times New Roman"/>
              </a:rPr>
              <a:t> </a:t>
            </a:r>
            <a:r>
              <a:rPr sz="2000" dirty="0">
                <a:latin typeface="Times New Roman"/>
                <a:cs typeface="Times New Roman"/>
              </a:rPr>
              <a:t>fast</a:t>
            </a:r>
            <a:r>
              <a:rPr sz="2000" spc="-30" dirty="0">
                <a:latin typeface="Times New Roman"/>
                <a:cs typeface="Times New Roman"/>
              </a:rPr>
              <a:t> </a:t>
            </a:r>
            <a:r>
              <a:rPr sz="2000" dirty="0">
                <a:latin typeface="Times New Roman"/>
                <a:cs typeface="Times New Roman"/>
              </a:rPr>
              <a:t>with</a:t>
            </a:r>
            <a:r>
              <a:rPr sz="2000" spc="-20" dirty="0">
                <a:latin typeface="Times New Roman"/>
                <a:cs typeface="Times New Roman"/>
              </a:rPr>
              <a:t> </a:t>
            </a:r>
            <a:r>
              <a:rPr sz="2000" spc="-10" dirty="0">
                <a:latin typeface="Times New Roman"/>
                <a:cs typeface="Times New Roman"/>
              </a:rPr>
              <a:t>vectors.</a:t>
            </a:r>
            <a:endParaRPr sz="2000">
              <a:latin typeface="Times New Roman"/>
              <a:cs typeface="Times New Roman"/>
            </a:endParaRPr>
          </a:p>
          <a:p>
            <a:pPr marL="355600" marR="5080" indent="-343535" algn="just">
              <a:lnSpc>
                <a:spcPct val="100000"/>
              </a:lnSpc>
              <a:spcBef>
                <a:spcPts val="480"/>
              </a:spcBef>
              <a:buChar char="•"/>
              <a:tabLst>
                <a:tab pos="355600" algn="l"/>
              </a:tabLst>
            </a:pPr>
            <a:r>
              <a:rPr sz="2000" dirty="0">
                <a:latin typeface="Times New Roman"/>
                <a:cs typeface="Times New Roman"/>
              </a:rPr>
              <a:t>It’s</a:t>
            </a:r>
            <a:r>
              <a:rPr sz="2000" spc="245" dirty="0">
                <a:latin typeface="Times New Roman"/>
                <a:cs typeface="Times New Roman"/>
              </a:rPr>
              <a:t> </a:t>
            </a:r>
            <a:r>
              <a:rPr sz="2000" dirty="0">
                <a:latin typeface="Times New Roman"/>
                <a:cs typeface="Times New Roman"/>
              </a:rPr>
              <a:t>also</a:t>
            </a:r>
            <a:r>
              <a:rPr sz="2000" spc="254" dirty="0">
                <a:latin typeface="Times New Roman"/>
                <a:cs typeface="Times New Roman"/>
              </a:rPr>
              <a:t> </a:t>
            </a:r>
            <a:r>
              <a:rPr sz="2000" dirty="0">
                <a:latin typeface="Times New Roman"/>
                <a:cs typeface="Times New Roman"/>
              </a:rPr>
              <a:t>fast</a:t>
            </a:r>
            <a:r>
              <a:rPr sz="2000" spc="240" dirty="0">
                <a:latin typeface="Times New Roman"/>
                <a:cs typeface="Times New Roman"/>
              </a:rPr>
              <a:t> </a:t>
            </a:r>
            <a:r>
              <a:rPr sz="2000" dirty="0">
                <a:latin typeface="Times New Roman"/>
                <a:cs typeface="Times New Roman"/>
              </a:rPr>
              <a:t>to</a:t>
            </a:r>
            <a:r>
              <a:rPr sz="2000" spc="270" dirty="0">
                <a:latin typeface="Times New Roman"/>
                <a:cs typeface="Times New Roman"/>
              </a:rPr>
              <a:t> </a:t>
            </a:r>
            <a:r>
              <a:rPr sz="2000" dirty="0">
                <a:latin typeface="Times New Roman"/>
                <a:cs typeface="Times New Roman"/>
              </a:rPr>
              <a:t>add</a:t>
            </a:r>
            <a:r>
              <a:rPr sz="2000" spc="245" dirty="0">
                <a:latin typeface="Times New Roman"/>
                <a:cs typeface="Times New Roman"/>
              </a:rPr>
              <a:t> </a:t>
            </a:r>
            <a:r>
              <a:rPr sz="2000" dirty="0">
                <a:latin typeface="Times New Roman"/>
                <a:cs typeface="Times New Roman"/>
              </a:rPr>
              <a:t>(or</a:t>
            </a:r>
            <a:r>
              <a:rPr sz="2000" spc="254" dirty="0">
                <a:latin typeface="Times New Roman"/>
                <a:cs typeface="Times New Roman"/>
              </a:rPr>
              <a:t> </a:t>
            </a:r>
            <a:r>
              <a:rPr sz="2000" dirty="0">
                <a:latin typeface="Times New Roman"/>
                <a:cs typeface="Times New Roman"/>
              </a:rPr>
              <a:t>push)</a:t>
            </a:r>
            <a:r>
              <a:rPr sz="2000" spc="254" dirty="0">
                <a:latin typeface="Times New Roman"/>
                <a:cs typeface="Times New Roman"/>
              </a:rPr>
              <a:t> </a:t>
            </a:r>
            <a:r>
              <a:rPr sz="2000" dirty="0">
                <a:latin typeface="Times New Roman"/>
                <a:cs typeface="Times New Roman"/>
              </a:rPr>
              <a:t>a</a:t>
            </a:r>
            <a:r>
              <a:rPr sz="2000" spc="250" dirty="0">
                <a:latin typeface="Times New Roman"/>
                <a:cs typeface="Times New Roman"/>
              </a:rPr>
              <a:t> </a:t>
            </a:r>
            <a:r>
              <a:rPr sz="2000" dirty="0">
                <a:latin typeface="Times New Roman"/>
                <a:cs typeface="Times New Roman"/>
              </a:rPr>
              <a:t>new</a:t>
            </a:r>
            <a:r>
              <a:rPr sz="2000" spc="254" dirty="0">
                <a:latin typeface="Times New Roman"/>
                <a:cs typeface="Times New Roman"/>
              </a:rPr>
              <a:t> </a:t>
            </a:r>
            <a:r>
              <a:rPr sz="2000" dirty="0">
                <a:latin typeface="Times New Roman"/>
                <a:cs typeface="Times New Roman"/>
              </a:rPr>
              <a:t>data</a:t>
            </a:r>
            <a:r>
              <a:rPr sz="2000" spc="245" dirty="0">
                <a:latin typeface="Times New Roman"/>
                <a:cs typeface="Times New Roman"/>
              </a:rPr>
              <a:t> </a:t>
            </a:r>
            <a:r>
              <a:rPr sz="2000" dirty="0">
                <a:latin typeface="Times New Roman"/>
                <a:cs typeface="Times New Roman"/>
              </a:rPr>
              <a:t>item</a:t>
            </a:r>
            <a:r>
              <a:rPr sz="2000" spc="235" dirty="0">
                <a:latin typeface="Times New Roman"/>
                <a:cs typeface="Times New Roman"/>
              </a:rPr>
              <a:t> </a:t>
            </a:r>
            <a:r>
              <a:rPr sz="2000" dirty="0">
                <a:latin typeface="Times New Roman"/>
                <a:cs typeface="Times New Roman"/>
              </a:rPr>
              <a:t>onto</a:t>
            </a:r>
            <a:r>
              <a:rPr sz="2000" spc="250" dirty="0">
                <a:latin typeface="Times New Roman"/>
                <a:cs typeface="Times New Roman"/>
              </a:rPr>
              <a:t> </a:t>
            </a:r>
            <a:r>
              <a:rPr sz="2000" dirty="0">
                <a:latin typeface="Times New Roman"/>
                <a:cs typeface="Times New Roman"/>
              </a:rPr>
              <a:t>the</a:t>
            </a:r>
            <a:r>
              <a:rPr sz="2000" spc="245" dirty="0">
                <a:latin typeface="Times New Roman"/>
                <a:cs typeface="Times New Roman"/>
              </a:rPr>
              <a:t> </a:t>
            </a:r>
            <a:r>
              <a:rPr sz="2000" dirty="0">
                <a:latin typeface="Times New Roman"/>
                <a:cs typeface="Times New Roman"/>
              </a:rPr>
              <a:t>end</a:t>
            </a:r>
            <a:r>
              <a:rPr sz="2000" spc="254" dirty="0">
                <a:latin typeface="Times New Roman"/>
                <a:cs typeface="Times New Roman"/>
              </a:rPr>
              <a:t> </a:t>
            </a:r>
            <a:r>
              <a:rPr sz="2000" spc="-20" dirty="0">
                <a:latin typeface="Times New Roman"/>
                <a:cs typeface="Times New Roman"/>
              </a:rPr>
              <a:t>(the </a:t>
            </a:r>
            <a:r>
              <a:rPr sz="2000" dirty="0">
                <a:latin typeface="Times New Roman"/>
                <a:cs typeface="Times New Roman"/>
              </a:rPr>
              <a:t>back)</a:t>
            </a:r>
            <a:r>
              <a:rPr sz="2000" spc="70" dirty="0">
                <a:latin typeface="Times New Roman"/>
                <a:cs typeface="Times New Roman"/>
              </a:rPr>
              <a:t>  </a:t>
            </a:r>
            <a:r>
              <a:rPr sz="2000" dirty="0">
                <a:latin typeface="Times New Roman"/>
                <a:cs typeface="Times New Roman"/>
              </a:rPr>
              <a:t>of</a:t>
            </a:r>
            <a:r>
              <a:rPr sz="2000" spc="80" dirty="0">
                <a:latin typeface="Times New Roman"/>
                <a:cs typeface="Times New Roman"/>
              </a:rPr>
              <a:t>  </a:t>
            </a:r>
            <a:r>
              <a:rPr sz="2000" dirty="0">
                <a:latin typeface="Times New Roman"/>
                <a:cs typeface="Times New Roman"/>
              </a:rPr>
              <a:t>the</a:t>
            </a:r>
            <a:r>
              <a:rPr sz="2000" spc="75" dirty="0">
                <a:latin typeface="Times New Roman"/>
                <a:cs typeface="Times New Roman"/>
              </a:rPr>
              <a:t>  </a:t>
            </a:r>
            <a:r>
              <a:rPr sz="2000" dirty="0">
                <a:latin typeface="Times New Roman"/>
                <a:cs typeface="Times New Roman"/>
              </a:rPr>
              <a:t>vector.</a:t>
            </a:r>
            <a:r>
              <a:rPr sz="2000" spc="75" dirty="0">
                <a:latin typeface="Times New Roman"/>
                <a:cs typeface="Times New Roman"/>
              </a:rPr>
              <a:t>  </a:t>
            </a:r>
            <a:r>
              <a:rPr sz="2000" dirty="0">
                <a:latin typeface="Times New Roman"/>
                <a:cs typeface="Times New Roman"/>
              </a:rPr>
              <a:t>When</a:t>
            </a:r>
            <a:r>
              <a:rPr sz="2000" spc="80" dirty="0">
                <a:latin typeface="Times New Roman"/>
                <a:cs typeface="Times New Roman"/>
              </a:rPr>
              <a:t>  </a:t>
            </a:r>
            <a:r>
              <a:rPr sz="2000" dirty="0">
                <a:latin typeface="Times New Roman"/>
                <a:cs typeface="Times New Roman"/>
              </a:rPr>
              <a:t>this</a:t>
            </a:r>
            <a:r>
              <a:rPr sz="2000" spc="75" dirty="0">
                <a:latin typeface="Times New Roman"/>
                <a:cs typeface="Times New Roman"/>
              </a:rPr>
              <a:t>  </a:t>
            </a:r>
            <a:r>
              <a:rPr sz="2000" dirty="0">
                <a:latin typeface="Times New Roman"/>
                <a:cs typeface="Times New Roman"/>
              </a:rPr>
              <a:t>happens,</a:t>
            </a:r>
            <a:r>
              <a:rPr sz="2000" spc="80" dirty="0">
                <a:latin typeface="Times New Roman"/>
                <a:cs typeface="Times New Roman"/>
              </a:rPr>
              <a:t>  </a:t>
            </a:r>
            <a:r>
              <a:rPr sz="2000" dirty="0">
                <a:latin typeface="Times New Roman"/>
                <a:cs typeface="Times New Roman"/>
              </a:rPr>
              <a:t>the</a:t>
            </a:r>
            <a:r>
              <a:rPr sz="2000" spc="75" dirty="0">
                <a:latin typeface="Times New Roman"/>
                <a:cs typeface="Times New Roman"/>
              </a:rPr>
              <a:t>  </a:t>
            </a:r>
            <a:r>
              <a:rPr sz="2000" dirty="0">
                <a:latin typeface="Times New Roman"/>
                <a:cs typeface="Times New Roman"/>
              </a:rPr>
              <a:t>vector’s</a:t>
            </a:r>
            <a:r>
              <a:rPr sz="2000" spc="70" dirty="0">
                <a:latin typeface="Times New Roman"/>
                <a:cs typeface="Times New Roman"/>
              </a:rPr>
              <a:t>  </a:t>
            </a:r>
            <a:r>
              <a:rPr sz="2000" dirty="0">
                <a:latin typeface="Times New Roman"/>
                <a:cs typeface="Times New Roman"/>
              </a:rPr>
              <a:t>size</a:t>
            </a:r>
            <a:r>
              <a:rPr sz="2000" spc="80" dirty="0">
                <a:latin typeface="Times New Roman"/>
                <a:cs typeface="Times New Roman"/>
              </a:rPr>
              <a:t>  </a:t>
            </a:r>
            <a:r>
              <a:rPr sz="2000" spc="-25" dirty="0">
                <a:latin typeface="Times New Roman"/>
                <a:cs typeface="Times New Roman"/>
              </a:rPr>
              <a:t>is </a:t>
            </a:r>
            <a:r>
              <a:rPr sz="2000" dirty="0">
                <a:latin typeface="Times New Roman"/>
                <a:cs typeface="Times New Roman"/>
              </a:rPr>
              <a:t>automatically</a:t>
            </a:r>
            <a:r>
              <a:rPr sz="2000" spc="-40" dirty="0">
                <a:latin typeface="Times New Roman"/>
                <a:cs typeface="Times New Roman"/>
              </a:rPr>
              <a:t> </a:t>
            </a:r>
            <a:r>
              <a:rPr sz="2000" dirty="0">
                <a:latin typeface="Times New Roman"/>
                <a:cs typeface="Times New Roman"/>
              </a:rPr>
              <a:t>increased</a:t>
            </a:r>
            <a:r>
              <a:rPr sz="2000" spc="-35"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hold</a:t>
            </a:r>
            <a:r>
              <a:rPr sz="2000" spc="-30"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new</a:t>
            </a:r>
            <a:r>
              <a:rPr sz="2000" spc="-5" dirty="0">
                <a:latin typeface="Times New Roman"/>
                <a:cs typeface="Times New Roman"/>
              </a:rPr>
              <a:t> </a:t>
            </a:r>
            <a:r>
              <a:rPr sz="2000" spc="-10" dirty="0">
                <a:latin typeface="Times New Roman"/>
                <a:cs typeface="Times New Roman"/>
              </a:rPr>
              <a:t>item.</a:t>
            </a:r>
            <a:endParaRPr sz="2000">
              <a:latin typeface="Times New Roman"/>
              <a:cs typeface="Times New Roman"/>
            </a:endParaRPr>
          </a:p>
        </p:txBody>
      </p:sp>
      <p:pic>
        <p:nvPicPr>
          <p:cNvPr id="4" name="object 4"/>
          <p:cNvPicPr/>
          <p:nvPr/>
        </p:nvPicPr>
        <p:blipFill>
          <a:blip r:embed="rId2" cstate="print"/>
          <a:stretch>
            <a:fillRect/>
          </a:stretch>
        </p:blipFill>
        <p:spPr>
          <a:xfrm>
            <a:off x="8610858" y="1973874"/>
            <a:ext cx="3302119" cy="3346182"/>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latin typeface="Times New Roman"/>
              <a:cs typeface="Times New Roman"/>
            </a:endParaRPr>
          </a:p>
        </p:txBody>
      </p:sp>
      <p:sp>
        <p:nvSpPr>
          <p:cNvPr id="7" name="object 7"/>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C98BBACE-DC4C-CACB-C10C-F07B4CAB91AD}"/>
              </a:ext>
            </a:extLst>
          </p:cNvPr>
          <p:cNvSpPr>
            <a:spLocks noGrp="1"/>
          </p:cNvSpPr>
          <p:nvPr>
            <p:ph type="dt" sz="half" idx="10"/>
          </p:nvPr>
        </p:nvSpPr>
        <p:spPr/>
        <p:txBody>
          <a:bodyPr/>
          <a:lstStyle/>
          <a:p>
            <a:fld id="{5336803D-2167-46B8-ABED-C06AD7D4145A}" type="datetime1">
              <a:rPr lang="en-US" smtClean="0"/>
              <a:t>11/17/2025</a:t>
            </a:fld>
            <a:endParaRPr lang="en-US"/>
          </a:p>
        </p:txBody>
      </p:sp>
      <p:sp>
        <p:nvSpPr>
          <p:cNvPr id="11" name="Slide Number Placeholder 10">
            <a:extLst>
              <a:ext uri="{FF2B5EF4-FFF2-40B4-BE49-F238E27FC236}">
                <a16:creationId xmlns:a16="http://schemas.microsoft.com/office/drawing/2014/main" id="{8FE74637-101C-E5BF-AF80-4B782B4C2598}"/>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29</a:t>
            </a:fld>
            <a:endParaRPr spc="-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5871"/>
            <a:ext cx="1750061" cy="689291"/>
          </a:xfrm>
          <a:prstGeom prst="rect">
            <a:avLst/>
          </a:prstGeom>
        </p:spPr>
        <p:txBody>
          <a:bodyPr vert="horz" wrap="square" lIns="0" tIns="12065" rIns="0" bIns="0" rtlCol="0">
            <a:spAutoFit/>
          </a:bodyPr>
          <a:lstStyle/>
          <a:p>
            <a:pPr marL="12700">
              <a:lnSpc>
                <a:spcPct val="100000"/>
              </a:lnSpc>
              <a:spcBef>
                <a:spcPts val="95"/>
              </a:spcBef>
            </a:pPr>
            <a:r>
              <a:rPr lang="en-US" spc="-65" dirty="0"/>
              <a:t>Vectors</a:t>
            </a:r>
            <a:endParaRPr spc="-65" dirty="0"/>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859661"/>
            <a:ext cx="5653405" cy="3074670"/>
          </a:xfrm>
          <a:prstGeom prst="rect">
            <a:avLst/>
          </a:prstGeom>
        </p:spPr>
        <p:txBody>
          <a:bodyPr vert="horz" wrap="square" lIns="0" tIns="13335" rIns="0" bIns="0" rtlCol="0">
            <a:spAutoFit/>
          </a:bodyPr>
          <a:lstStyle/>
          <a:p>
            <a:pPr marL="12700" marR="5080" algn="just">
              <a:lnSpc>
                <a:spcPct val="100000"/>
              </a:lnSpc>
              <a:spcBef>
                <a:spcPts val="105"/>
              </a:spcBef>
            </a:pPr>
            <a:r>
              <a:rPr sz="2000" dirty="0">
                <a:latin typeface="Times New Roman"/>
                <a:cs typeface="Times New Roman"/>
              </a:rPr>
              <a:t>The</a:t>
            </a:r>
            <a:r>
              <a:rPr sz="2000" spc="15" dirty="0">
                <a:latin typeface="Times New Roman"/>
                <a:cs typeface="Times New Roman"/>
              </a:rPr>
              <a:t> </a:t>
            </a:r>
            <a:r>
              <a:rPr sz="2000" b="1" dirty="0">
                <a:latin typeface="Times New Roman"/>
                <a:cs typeface="Times New Roman"/>
              </a:rPr>
              <a:t>push_back()</a:t>
            </a:r>
            <a:r>
              <a:rPr sz="2000" b="1" spc="15" dirty="0">
                <a:latin typeface="Times New Roman"/>
                <a:cs typeface="Times New Roman"/>
              </a:rPr>
              <a:t> </a:t>
            </a:r>
            <a:r>
              <a:rPr sz="2000" dirty="0">
                <a:latin typeface="Times New Roman"/>
                <a:cs typeface="Times New Roman"/>
              </a:rPr>
              <a:t>member</a:t>
            </a:r>
            <a:r>
              <a:rPr sz="2000" spc="30" dirty="0">
                <a:latin typeface="Times New Roman"/>
                <a:cs typeface="Times New Roman"/>
              </a:rPr>
              <a:t> </a:t>
            </a:r>
            <a:r>
              <a:rPr sz="2000" dirty="0">
                <a:latin typeface="Times New Roman"/>
                <a:cs typeface="Times New Roman"/>
              </a:rPr>
              <a:t>function</a:t>
            </a:r>
            <a:r>
              <a:rPr sz="2000" spc="25" dirty="0">
                <a:latin typeface="Times New Roman"/>
                <a:cs typeface="Times New Roman"/>
              </a:rPr>
              <a:t> </a:t>
            </a:r>
            <a:r>
              <a:rPr sz="2000" dirty="0">
                <a:latin typeface="Times New Roman"/>
                <a:cs typeface="Times New Roman"/>
              </a:rPr>
              <a:t>inserts</a:t>
            </a:r>
            <a:r>
              <a:rPr sz="2000" spc="2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value</a:t>
            </a:r>
            <a:r>
              <a:rPr sz="2000" spc="20" dirty="0">
                <a:latin typeface="Times New Roman"/>
                <a:cs typeface="Times New Roman"/>
              </a:rPr>
              <a:t> </a:t>
            </a:r>
            <a:r>
              <a:rPr sz="2000" spc="-25" dirty="0">
                <a:latin typeface="Times New Roman"/>
                <a:cs typeface="Times New Roman"/>
              </a:rPr>
              <a:t>of </a:t>
            </a:r>
            <a:r>
              <a:rPr sz="2000" dirty="0">
                <a:latin typeface="Times New Roman"/>
                <a:cs typeface="Times New Roman"/>
              </a:rPr>
              <a:t>its</a:t>
            </a:r>
            <a:r>
              <a:rPr sz="2000" spc="225" dirty="0">
                <a:latin typeface="Times New Roman"/>
                <a:cs typeface="Times New Roman"/>
              </a:rPr>
              <a:t> </a:t>
            </a:r>
            <a:r>
              <a:rPr sz="2000" dirty="0">
                <a:latin typeface="Times New Roman"/>
                <a:cs typeface="Times New Roman"/>
              </a:rPr>
              <a:t>argument</a:t>
            </a:r>
            <a:r>
              <a:rPr sz="2000" spc="215" dirty="0">
                <a:latin typeface="Times New Roman"/>
                <a:cs typeface="Times New Roman"/>
              </a:rPr>
              <a:t> </a:t>
            </a:r>
            <a:r>
              <a:rPr sz="2000" dirty="0">
                <a:latin typeface="Times New Roman"/>
                <a:cs typeface="Times New Roman"/>
              </a:rPr>
              <a:t>at</a:t>
            </a:r>
            <a:r>
              <a:rPr sz="2000" spc="220"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dirty="0">
                <a:latin typeface="Times New Roman"/>
                <a:cs typeface="Times New Roman"/>
              </a:rPr>
              <a:t>back</a:t>
            </a:r>
            <a:r>
              <a:rPr sz="2000" spc="220" dirty="0">
                <a:latin typeface="Times New Roman"/>
                <a:cs typeface="Times New Roman"/>
              </a:rPr>
              <a:t> </a:t>
            </a:r>
            <a:r>
              <a:rPr sz="2000" dirty="0">
                <a:latin typeface="Times New Roman"/>
                <a:cs typeface="Times New Roman"/>
              </a:rPr>
              <a:t>of</a:t>
            </a:r>
            <a:r>
              <a:rPr sz="2000" spc="229" dirty="0">
                <a:latin typeface="Times New Roman"/>
                <a:cs typeface="Times New Roman"/>
              </a:rPr>
              <a:t> </a:t>
            </a:r>
            <a:r>
              <a:rPr sz="2000" dirty="0">
                <a:latin typeface="Times New Roman"/>
                <a:cs typeface="Times New Roman"/>
              </a:rPr>
              <a:t>the</a:t>
            </a:r>
            <a:r>
              <a:rPr sz="2000" spc="215" dirty="0">
                <a:latin typeface="Times New Roman"/>
                <a:cs typeface="Times New Roman"/>
              </a:rPr>
              <a:t> </a:t>
            </a:r>
            <a:r>
              <a:rPr sz="2000" dirty="0">
                <a:latin typeface="Times New Roman"/>
                <a:cs typeface="Times New Roman"/>
              </a:rPr>
              <a:t>vector.</a:t>
            </a:r>
            <a:r>
              <a:rPr sz="2000" spc="220" dirty="0">
                <a:latin typeface="Times New Roman"/>
                <a:cs typeface="Times New Roman"/>
              </a:rPr>
              <a:t> </a:t>
            </a:r>
            <a:r>
              <a:rPr sz="2000" dirty="0">
                <a:latin typeface="Times New Roman"/>
                <a:cs typeface="Times New Roman"/>
              </a:rPr>
              <a:t>The</a:t>
            </a:r>
            <a:r>
              <a:rPr sz="2000" spc="215" dirty="0">
                <a:latin typeface="Times New Roman"/>
                <a:cs typeface="Times New Roman"/>
              </a:rPr>
              <a:t> </a:t>
            </a:r>
            <a:r>
              <a:rPr sz="2000" dirty="0">
                <a:latin typeface="Times New Roman"/>
                <a:cs typeface="Times New Roman"/>
              </a:rPr>
              <a:t>front</a:t>
            </a:r>
            <a:r>
              <a:rPr sz="2000" spc="215" dirty="0">
                <a:latin typeface="Times New Roman"/>
                <a:cs typeface="Times New Roman"/>
              </a:rPr>
              <a:t> </a:t>
            </a:r>
            <a:r>
              <a:rPr sz="2000" dirty="0">
                <a:latin typeface="Times New Roman"/>
                <a:cs typeface="Times New Roman"/>
              </a:rPr>
              <a:t>of</a:t>
            </a:r>
            <a:r>
              <a:rPr sz="2000" spc="229" dirty="0">
                <a:latin typeface="Times New Roman"/>
                <a:cs typeface="Times New Roman"/>
              </a:rPr>
              <a:t> </a:t>
            </a:r>
            <a:r>
              <a:rPr sz="2000" spc="-50" dirty="0">
                <a:latin typeface="Times New Roman"/>
                <a:cs typeface="Times New Roman"/>
              </a:rPr>
              <a:t>a </a:t>
            </a:r>
            <a:r>
              <a:rPr sz="2000" dirty="0">
                <a:latin typeface="Times New Roman"/>
                <a:cs typeface="Times New Roman"/>
              </a:rPr>
              <a:t>vector</a:t>
            </a:r>
            <a:r>
              <a:rPr sz="2000" spc="200"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dirty="0">
                <a:latin typeface="Times New Roman"/>
                <a:cs typeface="Times New Roman"/>
              </a:rPr>
              <a:t>element</a:t>
            </a:r>
            <a:r>
              <a:rPr sz="2000" spc="215" dirty="0">
                <a:latin typeface="Times New Roman"/>
                <a:cs typeface="Times New Roman"/>
              </a:rPr>
              <a:t> </a:t>
            </a:r>
            <a:r>
              <a:rPr sz="2000" dirty="0">
                <a:latin typeface="Times New Roman"/>
                <a:cs typeface="Times New Roman"/>
              </a:rPr>
              <a:t>with</a:t>
            </a:r>
            <a:r>
              <a:rPr sz="2000" spc="204" dirty="0">
                <a:latin typeface="Times New Roman"/>
                <a:cs typeface="Times New Roman"/>
              </a:rPr>
              <a:t> </a:t>
            </a:r>
            <a:r>
              <a:rPr sz="2000" dirty="0">
                <a:latin typeface="Times New Roman"/>
                <a:cs typeface="Times New Roman"/>
              </a:rPr>
              <a:t>index</a:t>
            </a:r>
            <a:r>
              <a:rPr sz="2000" spc="210" dirty="0">
                <a:latin typeface="Times New Roman"/>
                <a:cs typeface="Times New Roman"/>
              </a:rPr>
              <a:t> </a:t>
            </a:r>
            <a:r>
              <a:rPr sz="2000" dirty="0">
                <a:latin typeface="Times New Roman"/>
                <a:cs typeface="Times New Roman"/>
              </a:rPr>
              <a:t>0),</a:t>
            </a:r>
            <a:r>
              <a:rPr sz="2000" spc="220" dirty="0">
                <a:latin typeface="Times New Roman"/>
                <a:cs typeface="Times New Roman"/>
              </a:rPr>
              <a:t> </a:t>
            </a:r>
            <a:r>
              <a:rPr sz="2000" dirty="0">
                <a:latin typeface="Times New Roman"/>
                <a:cs typeface="Times New Roman"/>
              </a:rPr>
              <a:t>cannot</a:t>
            </a:r>
            <a:r>
              <a:rPr sz="2000" spc="200" dirty="0">
                <a:latin typeface="Times New Roman"/>
                <a:cs typeface="Times New Roman"/>
              </a:rPr>
              <a:t> </a:t>
            </a:r>
            <a:r>
              <a:rPr sz="2000" dirty="0">
                <a:latin typeface="Times New Roman"/>
                <a:cs typeface="Times New Roman"/>
              </a:rPr>
              <a:t>be</a:t>
            </a:r>
            <a:r>
              <a:rPr sz="2000" spc="200" dirty="0">
                <a:latin typeface="Times New Roman"/>
                <a:cs typeface="Times New Roman"/>
              </a:rPr>
              <a:t> </a:t>
            </a:r>
            <a:r>
              <a:rPr sz="2000" dirty="0">
                <a:latin typeface="Times New Roman"/>
                <a:cs typeface="Times New Roman"/>
              </a:rPr>
              <a:t>used</a:t>
            </a:r>
            <a:r>
              <a:rPr sz="2000" spc="215" dirty="0">
                <a:latin typeface="Times New Roman"/>
                <a:cs typeface="Times New Roman"/>
              </a:rPr>
              <a:t> </a:t>
            </a:r>
            <a:r>
              <a:rPr sz="2000" spc="-25" dirty="0">
                <a:latin typeface="Times New Roman"/>
                <a:cs typeface="Times New Roman"/>
              </a:rPr>
              <a:t>for </a:t>
            </a:r>
            <a:r>
              <a:rPr sz="2000" dirty="0">
                <a:latin typeface="Times New Roman"/>
                <a:cs typeface="Times New Roman"/>
              </a:rPr>
              <a:t>inserting</a:t>
            </a:r>
            <a:r>
              <a:rPr sz="2000" spc="280" dirty="0">
                <a:latin typeface="Times New Roman"/>
                <a:cs typeface="Times New Roman"/>
              </a:rPr>
              <a:t> </a:t>
            </a:r>
            <a:r>
              <a:rPr sz="2000" dirty="0">
                <a:latin typeface="Times New Roman"/>
                <a:cs typeface="Times New Roman"/>
              </a:rPr>
              <a:t>new</a:t>
            </a:r>
            <a:r>
              <a:rPr sz="2000" spc="275" dirty="0">
                <a:latin typeface="Times New Roman"/>
                <a:cs typeface="Times New Roman"/>
              </a:rPr>
              <a:t> </a:t>
            </a:r>
            <a:r>
              <a:rPr sz="2000" dirty="0">
                <a:latin typeface="Times New Roman"/>
                <a:cs typeface="Times New Roman"/>
              </a:rPr>
              <a:t>elements.</a:t>
            </a:r>
            <a:r>
              <a:rPr sz="2000" spc="270" dirty="0">
                <a:latin typeface="Times New Roman"/>
                <a:cs typeface="Times New Roman"/>
              </a:rPr>
              <a:t> </a:t>
            </a:r>
            <a:r>
              <a:rPr sz="2000" dirty="0">
                <a:latin typeface="Times New Roman"/>
                <a:cs typeface="Times New Roman"/>
              </a:rPr>
              <a:t>Here</a:t>
            </a:r>
            <a:r>
              <a:rPr sz="2000" spc="260" dirty="0">
                <a:latin typeface="Times New Roman"/>
                <a:cs typeface="Times New Roman"/>
              </a:rPr>
              <a:t> </a:t>
            </a:r>
            <a:r>
              <a:rPr sz="2000" dirty="0">
                <a:latin typeface="Times New Roman"/>
                <a:cs typeface="Times New Roman"/>
              </a:rPr>
              <a:t>we</a:t>
            </a:r>
            <a:r>
              <a:rPr sz="2000" spc="270" dirty="0">
                <a:latin typeface="Times New Roman"/>
                <a:cs typeface="Times New Roman"/>
              </a:rPr>
              <a:t> </a:t>
            </a:r>
            <a:r>
              <a:rPr sz="2000" dirty="0">
                <a:latin typeface="Times New Roman"/>
                <a:cs typeface="Times New Roman"/>
              </a:rPr>
              <a:t>push</a:t>
            </a:r>
            <a:r>
              <a:rPr sz="2000" spc="270" dirty="0">
                <a:latin typeface="Times New Roman"/>
                <a:cs typeface="Times New Roman"/>
              </a:rPr>
              <a:t> </a:t>
            </a:r>
            <a:r>
              <a:rPr sz="2000" dirty="0">
                <a:latin typeface="Times New Roman"/>
                <a:cs typeface="Times New Roman"/>
              </a:rPr>
              <a:t>the</a:t>
            </a:r>
            <a:r>
              <a:rPr sz="2000" spc="260" dirty="0">
                <a:latin typeface="Times New Roman"/>
                <a:cs typeface="Times New Roman"/>
              </a:rPr>
              <a:t> </a:t>
            </a:r>
            <a:r>
              <a:rPr sz="2000" dirty="0">
                <a:latin typeface="Times New Roman"/>
                <a:cs typeface="Times New Roman"/>
              </a:rPr>
              <a:t>values</a:t>
            </a:r>
            <a:r>
              <a:rPr sz="2000" spc="260" dirty="0">
                <a:latin typeface="Times New Roman"/>
                <a:cs typeface="Times New Roman"/>
              </a:rPr>
              <a:t> </a:t>
            </a:r>
            <a:r>
              <a:rPr sz="2000" spc="-25" dirty="0">
                <a:latin typeface="Times New Roman"/>
                <a:cs typeface="Times New Roman"/>
              </a:rPr>
              <a:t>10, </a:t>
            </a:r>
            <a:r>
              <a:rPr sz="2000" dirty="0">
                <a:latin typeface="Times New Roman"/>
                <a:cs typeface="Times New Roman"/>
              </a:rPr>
              <a:t>11,</a:t>
            </a:r>
            <a:r>
              <a:rPr sz="2000" spc="145" dirty="0">
                <a:latin typeface="Times New Roman"/>
                <a:cs typeface="Times New Roman"/>
              </a:rPr>
              <a:t> </a:t>
            </a:r>
            <a:r>
              <a:rPr sz="2000" dirty="0">
                <a:latin typeface="Times New Roman"/>
                <a:cs typeface="Times New Roman"/>
              </a:rPr>
              <a:t>12,</a:t>
            </a:r>
            <a:r>
              <a:rPr sz="2000" spc="155" dirty="0">
                <a:latin typeface="Times New Roman"/>
                <a:cs typeface="Times New Roman"/>
              </a:rPr>
              <a:t> </a:t>
            </a:r>
            <a:r>
              <a:rPr sz="2000" dirty="0">
                <a:latin typeface="Times New Roman"/>
                <a:cs typeface="Times New Roman"/>
              </a:rPr>
              <a:t>and</a:t>
            </a:r>
            <a:r>
              <a:rPr sz="2000" spc="145" dirty="0">
                <a:latin typeface="Times New Roman"/>
                <a:cs typeface="Times New Roman"/>
              </a:rPr>
              <a:t> </a:t>
            </a:r>
            <a:r>
              <a:rPr sz="2000" dirty="0">
                <a:latin typeface="Times New Roman"/>
                <a:cs typeface="Times New Roman"/>
              </a:rPr>
              <a:t>13,</a:t>
            </a:r>
            <a:r>
              <a:rPr sz="2000" spc="165" dirty="0">
                <a:latin typeface="Times New Roman"/>
                <a:cs typeface="Times New Roman"/>
              </a:rPr>
              <a:t> </a:t>
            </a:r>
            <a:r>
              <a:rPr sz="2000" dirty="0">
                <a:latin typeface="Times New Roman"/>
                <a:cs typeface="Times New Roman"/>
              </a:rPr>
              <a:t>so</a:t>
            </a:r>
            <a:r>
              <a:rPr sz="2000" spc="155" dirty="0">
                <a:latin typeface="Times New Roman"/>
                <a:cs typeface="Times New Roman"/>
              </a:rPr>
              <a:t> </a:t>
            </a:r>
            <a:r>
              <a:rPr sz="2000" dirty="0">
                <a:latin typeface="Times New Roman"/>
                <a:cs typeface="Times New Roman"/>
              </a:rPr>
              <a:t>that</a:t>
            </a:r>
            <a:r>
              <a:rPr sz="2000" spc="145" dirty="0">
                <a:latin typeface="Times New Roman"/>
                <a:cs typeface="Times New Roman"/>
              </a:rPr>
              <a:t> </a:t>
            </a:r>
            <a:r>
              <a:rPr sz="2000" dirty="0">
                <a:latin typeface="Times New Roman"/>
                <a:cs typeface="Times New Roman"/>
              </a:rPr>
              <a:t>v[0]</a:t>
            </a:r>
            <a:r>
              <a:rPr sz="2000" spc="155" dirty="0">
                <a:latin typeface="Times New Roman"/>
                <a:cs typeface="Times New Roman"/>
              </a:rPr>
              <a:t> </a:t>
            </a:r>
            <a:r>
              <a:rPr sz="2000" dirty="0">
                <a:latin typeface="Times New Roman"/>
                <a:cs typeface="Times New Roman"/>
              </a:rPr>
              <a:t>contains</a:t>
            </a:r>
            <a:r>
              <a:rPr sz="2000" spc="145" dirty="0">
                <a:latin typeface="Times New Roman"/>
                <a:cs typeface="Times New Roman"/>
              </a:rPr>
              <a:t> </a:t>
            </a:r>
            <a:r>
              <a:rPr sz="2000" dirty="0">
                <a:latin typeface="Times New Roman"/>
                <a:cs typeface="Times New Roman"/>
              </a:rPr>
              <a:t>10,</a:t>
            </a:r>
            <a:r>
              <a:rPr sz="2000" spc="155" dirty="0">
                <a:latin typeface="Times New Roman"/>
                <a:cs typeface="Times New Roman"/>
              </a:rPr>
              <a:t> </a:t>
            </a:r>
            <a:r>
              <a:rPr sz="2000" dirty="0">
                <a:latin typeface="Times New Roman"/>
                <a:cs typeface="Times New Roman"/>
              </a:rPr>
              <a:t>v[1]</a:t>
            </a:r>
            <a:r>
              <a:rPr sz="2000" spc="155" dirty="0">
                <a:latin typeface="Times New Roman"/>
                <a:cs typeface="Times New Roman"/>
              </a:rPr>
              <a:t> </a:t>
            </a:r>
            <a:r>
              <a:rPr sz="2000" spc="-10" dirty="0">
                <a:latin typeface="Times New Roman"/>
                <a:cs typeface="Times New Roman"/>
              </a:rPr>
              <a:t>contains</a:t>
            </a:r>
            <a:endParaRPr sz="2000">
              <a:latin typeface="Times New Roman"/>
              <a:cs typeface="Times New Roman"/>
            </a:endParaRPr>
          </a:p>
          <a:p>
            <a:pPr marL="12700" algn="just">
              <a:lnSpc>
                <a:spcPct val="100000"/>
              </a:lnSpc>
            </a:pPr>
            <a:r>
              <a:rPr sz="2000" dirty="0">
                <a:latin typeface="Times New Roman"/>
                <a:cs typeface="Times New Roman"/>
              </a:rPr>
              <a:t>11,</a:t>
            </a:r>
            <a:r>
              <a:rPr sz="2000" spc="-30" dirty="0">
                <a:latin typeface="Times New Roman"/>
                <a:cs typeface="Times New Roman"/>
              </a:rPr>
              <a:t> </a:t>
            </a:r>
            <a:r>
              <a:rPr sz="2000" dirty="0">
                <a:latin typeface="Times New Roman"/>
                <a:cs typeface="Times New Roman"/>
              </a:rPr>
              <a:t>v[2]</a:t>
            </a:r>
            <a:r>
              <a:rPr sz="2000" spc="-35" dirty="0">
                <a:latin typeface="Times New Roman"/>
                <a:cs typeface="Times New Roman"/>
              </a:rPr>
              <a:t> </a:t>
            </a:r>
            <a:r>
              <a:rPr sz="2000" dirty="0">
                <a:latin typeface="Times New Roman"/>
                <a:cs typeface="Times New Roman"/>
              </a:rPr>
              <a:t>contains</a:t>
            </a:r>
            <a:r>
              <a:rPr sz="2000" spc="-50" dirty="0">
                <a:latin typeface="Times New Roman"/>
                <a:cs typeface="Times New Roman"/>
              </a:rPr>
              <a:t> </a:t>
            </a:r>
            <a:r>
              <a:rPr sz="2000" dirty="0">
                <a:latin typeface="Times New Roman"/>
                <a:cs typeface="Times New Roman"/>
              </a:rPr>
              <a:t>12,</a:t>
            </a:r>
            <a:r>
              <a:rPr sz="2000" spc="-25"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v[3]</a:t>
            </a:r>
            <a:r>
              <a:rPr sz="2000" spc="-45" dirty="0">
                <a:latin typeface="Times New Roman"/>
                <a:cs typeface="Times New Roman"/>
              </a:rPr>
              <a:t> </a:t>
            </a:r>
            <a:r>
              <a:rPr sz="2000" dirty="0">
                <a:latin typeface="Times New Roman"/>
                <a:cs typeface="Times New Roman"/>
              </a:rPr>
              <a:t>contains</a:t>
            </a:r>
            <a:r>
              <a:rPr sz="2000" spc="-35" dirty="0">
                <a:latin typeface="Times New Roman"/>
                <a:cs typeface="Times New Roman"/>
              </a:rPr>
              <a:t> </a:t>
            </a:r>
            <a:r>
              <a:rPr sz="2000" spc="-25" dirty="0">
                <a:latin typeface="Times New Roman"/>
                <a:cs typeface="Times New Roman"/>
              </a:rPr>
              <a:t>13.</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a:lnSpc>
                <a:spcPct val="100000"/>
              </a:lnSpc>
              <a:tabLst>
                <a:tab pos="550545" algn="l"/>
                <a:tab pos="1254760" algn="l"/>
                <a:tab pos="2226945" algn="l"/>
                <a:tab pos="3213100" algn="l"/>
                <a:tab pos="4060825" algn="l"/>
                <a:tab pos="4510405" algn="l"/>
                <a:tab pos="5427980" algn="l"/>
              </a:tabLst>
            </a:pPr>
            <a:r>
              <a:rPr sz="2000" spc="-25" dirty="0">
                <a:latin typeface="Times New Roman"/>
                <a:cs typeface="Times New Roman"/>
              </a:rPr>
              <a:t>The</a:t>
            </a:r>
            <a:r>
              <a:rPr sz="2000" dirty="0">
                <a:latin typeface="Times New Roman"/>
                <a:cs typeface="Times New Roman"/>
              </a:rPr>
              <a:t>	</a:t>
            </a:r>
            <a:r>
              <a:rPr sz="2000" b="1" spc="-10" dirty="0">
                <a:latin typeface="Times New Roman"/>
                <a:cs typeface="Times New Roman"/>
              </a:rPr>
              <a:t>size()</a:t>
            </a:r>
            <a:r>
              <a:rPr sz="2000" b="1" dirty="0">
                <a:latin typeface="Times New Roman"/>
                <a:cs typeface="Times New Roman"/>
              </a:rPr>
              <a:t>	</a:t>
            </a:r>
            <a:r>
              <a:rPr sz="2000" spc="-10" dirty="0">
                <a:latin typeface="Times New Roman"/>
                <a:cs typeface="Times New Roman"/>
              </a:rPr>
              <a:t>member</a:t>
            </a:r>
            <a:r>
              <a:rPr sz="2000" dirty="0">
                <a:latin typeface="Times New Roman"/>
                <a:cs typeface="Times New Roman"/>
              </a:rPr>
              <a:t>	</a:t>
            </a:r>
            <a:r>
              <a:rPr sz="2000" spc="-10" dirty="0">
                <a:latin typeface="Times New Roman"/>
                <a:cs typeface="Times New Roman"/>
              </a:rPr>
              <a:t>function</a:t>
            </a:r>
            <a:r>
              <a:rPr sz="2000" dirty="0">
                <a:latin typeface="Times New Roman"/>
                <a:cs typeface="Times New Roman"/>
              </a:rPr>
              <a:t>	</a:t>
            </a:r>
            <a:r>
              <a:rPr sz="2000" spc="-10" dirty="0">
                <a:latin typeface="Times New Roman"/>
                <a:cs typeface="Times New Roman"/>
              </a:rPr>
              <a:t>returns</a:t>
            </a:r>
            <a:r>
              <a:rPr sz="2000" dirty="0">
                <a:latin typeface="Times New Roman"/>
                <a:cs typeface="Times New Roman"/>
              </a:rPr>
              <a:t>	</a:t>
            </a:r>
            <a:r>
              <a:rPr sz="2000" spc="-25" dirty="0">
                <a:latin typeface="Times New Roman"/>
                <a:cs typeface="Times New Roman"/>
              </a:rPr>
              <a:t>the</a:t>
            </a:r>
            <a:r>
              <a:rPr sz="2000" dirty="0">
                <a:latin typeface="Times New Roman"/>
                <a:cs typeface="Times New Roman"/>
              </a:rPr>
              <a:t>	</a:t>
            </a:r>
            <a:r>
              <a:rPr sz="2000" spc="-10" dirty="0">
                <a:latin typeface="Times New Roman"/>
                <a:cs typeface="Times New Roman"/>
              </a:rPr>
              <a:t>number</a:t>
            </a:r>
            <a:r>
              <a:rPr sz="2000" dirty="0">
                <a:latin typeface="Times New Roman"/>
                <a:cs typeface="Times New Roman"/>
              </a:rPr>
              <a:t>	</a:t>
            </a:r>
            <a:r>
              <a:rPr sz="2000" spc="-25" dirty="0">
                <a:latin typeface="Times New Roman"/>
                <a:cs typeface="Times New Roman"/>
              </a:rPr>
              <a:t>of</a:t>
            </a:r>
            <a:endParaRPr sz="2000">
              <a:latin typeface="Times New Roman"/>
              <a:cs typeface="Times New Roman"/>
            </a:endParaRPr>
          </a:p>
          <a:p>
            <a:pPr marL="12700" marR="1374775">
              <a:lnSpc>
                <a:spcPct val="100000"/>
              </a:lnSpc>
              <a:spcBef>
                <a:spcPts val="5"/>
              </a:spcBef>
            </a:pPr>
            <a:r>
              <a:rPr sz="2000" dirty="0">
                <a:latin typeface="Times New Roman"/>
                <a:cs typeface="Times New Roman"/>
              </a:rPr>
              <a:t>elements</a:t>
            </a:r>
            <a:r>
              <a:rPr sz="2000" spc="-15" dirty="0">
                <a:latin typeface="Times New Roman"/>
                <a:cs typeface="Times New Roman"/>
              </a:rPr>
              <a:t> </a:t>
            </a:r>
            <a:r>
              <a:rPr sz="2000" dirty="0">
                <a:latin typeface="Times New Roman"/>
                <a:cs typeface="Times New Roman"/>
              </a:rPr>
              <a:t>currently</a:t>
            </a:r>
            <a:r>
              <a:rPr sz="2000" spc="-40"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spc="-10" dirty="0">
                <a:latin typeface="Times New Roman"/>
                <a:cs typeface="Times New Roman"/>
              </a:rPr>
              <a:t>container,</a:t>
            </a:r>
            <a:r>
              <a:rPr sz="2000" spc="-45" dirty="0">
                <a:latin typeface="Times New Roman"/>
                <a:cs typeface="Times New Roman"/>
              </a:rPr>
              <a:t> </a:t>
            </a:r>
            <a:r>
              <a:rPr sz="2000" spc="-10" dirty="0">
                <a:latin typeface="Times New Roman"/>
                <a:cs typeface="Times New Roman"/>
              </a:rPr>
              <a:t>which </a:t>
            </a:r>
            <a:r>
              <a:rPr sz="2000" dirty="0">
                <a:latin typeface="Times New Roman"/>
                <a:cs typeface="Times New Roman"/>
              </a:rPr>
              <a:t>in</a:t>
            </a:r>
            <a:r>
              <a:rPr sz="2000" spc="-85" dirty="0">
                <a:latin typeface="Times New Roman"/>
                <a:cs typeface="Times New Roman"/>
              </a:rPr>
              <a:t> </a:t>
            </a:r>
            <a:r>
              <a:rPr sz="2000" dirty="0">
                <a:latin typeface="Times New Roman"/>
                <a:cs typeface="Times New Roman"/>
              </a:rPr>
              <a:t>VECTOR</a:t>
            </a:r>
            <a:r>
              <a:rPr sz="2000" spc="-50" dirty="0">
                <a:latin typeface="Times New Roman"/>
                <a:cs typeface="Times New Roman"/>
              </a:rPr>
              <a:t> </a:t>
            </a:r>
            <a:r>
              <a:rPr sz="2000" dirty="0">
                <a:latin typeface="Times New Roman"/>
                <a:cs typeface="Times New Roman"/>
              </a:rPr>
              <a:t>is</a:t>
            </a:r>
            <a:r>
              <a:rPr sz="2000" spc="-60" dirty="0">
                <a:latin typeface="Times New Roman"/>
                <a:cs typeface="Times New Roman"/>
              </a:rPr>
              <a:t> </a:t>
            </a:r>
            <a:r>
              <a:rPr sz="2000" spc="-25" dirty="0">
                <a:latin typeface="Times New Roman"/>
                <a:cs typeface="Times New Roman"/>
              </a:rPr>
              <a:t>4.</a:t>
            </a:r>
            <a:endParaRPr sz="2000">
              <a:latin typeface="Times New Roman"/>
              <a:cs typeface="Times New Roman"/>
            </a:endParaRPr>
          </a:p>
        </p:txBody>
      </p:sp>
      <p:pic>
        <p:nvPicPr>
          <p:cNvPr id="4" name="object 4"/>
          <p:cNvPicPr/>
          <p:nvPr/>
        </p:nvPicPr>
        <p:blipFill>
          <a:blip r:embed="rId2" cstate="print"/>
          <a:stretch>
            <a:fillRect/>
          </a:stretch>
        </p:blipFill>
        <p:spPr>
          <a:xfrm>
            <a:off x="7369196" y="1193725"/>
            <a:ext cx="3306843" cy="4754668"/>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8</a:t>
            </a:r>
            <a:endParaRPr sz="2400">
              <a:latin typeface="Times New Roman"/>
              <a:cs typeface="Times New Roman"/>
            </a:endParaRPr>
          </a:p>
        </p:txBody>
      </p:sp>
      <p:sp>
        <p:nvSpPr>
          <p:cNvPr id="7" name="object 7"/>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7C7A651D-5DA9-971D-0B2D-9B2C6DB9E338}"/>
              </a:ext>
            </a:extLst>
          </p:cNvPr>
          <p:cNvSpPr>
            <a:spLocks noGrp="1"/>
          </p:cNvSpPr>
          <p:nvPr>
            <p:ph type="dt" sz="half" idx="10"/>
          </p:nvPr>
        </p:nvSpPr>
        <p:spPr/>
        <p:txBody>
          <a:bodyPr/>
          <a:lstStyle/>
          <a:p>
            <a:fld id="{E3B8FD00-8A86-429C-A918-CD32B02F1C34}" type="datetime1">
              <a:rPr lang="en-US" smtClean="0"/>
              <a:t>11/17/2025</a:t>
            </a:fld>
            <a:endParaRPr lang="en-US"/>
          </a:p>
        </p:txBody>
      </p:sp>
      <p:sp>
        <p:nvSpPr>
          <p:cNvPr id="11" name="Slide Number Placeholder 10">
            <a:extLst>
              <a:ext uri="{FF2B5EF4-FFF2-40B4-BE49-F238E27FC236}">
                <a16:creationId xmlns:a16="http://schemas.microsoft.com/office/drawing/2014/main" id="{0614C523-C882-9EDC-8ACB-24A9102C88CC}"/>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30</a:t>
            </a:fld>
            <a:endParaRPr spc="-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65" dirty="0"/>
              <a:t>Vectors</a:t>
            </a:r>
            <a:endParaRPr lang="en-US" dirty="0"/>
          </a:p>
        </p:txBody>
      </p:sp>
      <p:sp>
        <p:nvSpPr>
          <p:cNvPr id="4" name="Date Placeholder 3"/>
          <p:cNvSpPr>
            <a:spLocks noGrp="1"/>
          </p:cNvSpPr>
          <p:nvPr>
            <p:ph type="dt" sz="half" idx="10"/>
          </p:nvPr>
        </p:nvSpPr>
        <p:spPr/>
        <p:txBody>
          <a:bodyPr/>
          <a:lstStyle/>
          <a:p>
            <a:fld id="{8966A560-332D-47A2-A6E0-4B9952C44143}" type="datetime1">
              <a:rPr lang="en-US" smtClean="0"/>
              <a:t>11/17/2025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31</a:t>
            </a:fld>
            <a:endParaRPr spc="-25" dirty="0"/>
          </a:p>
        </p:txBody>
      </p:sp>
      <p:sp>
        <p:nvSpPr>
          <p:cNvPr id="7" name="Rectangle 1"/>
          <p:cNvSpPr>
            <a:spLocks noGrp="1" noChangeArrowheads="1"/>
          </p:cNvSpPr>
          <p:nvPr>
            <p:ph idx="1"/>
          </p:nvPr>
        </p:nvSpPr>
        <p:spPr bwMode="auto">
          <a:xfrm>
            <a:off x="0" y="237585"/>
            <a:ext cx="6477000"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sz="2400" dirty="0">
              <a:solidFill>
                <a:srgbClr val="000000"/>
              </a:solidFill>
              <a:latin typeface="Segoe UI" panose="020B0502040204020203" pitchFamily="34" charset="0"/>
              <a:cs typeface="Segoe UI" panose="020B0502040204020203"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sz="2400" dirty="0">
              <a:solidFill>
                <a:srgbClr val="000000"/>
              </a:solidFill>
              <a:latin typeface="Segoe UI" panose="020B0502040204020203" pitchFamily="34" charset="0"/>
              <a:cs typeface="Segoe UI" panose="020B0502040204020203"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One advantage of using the vector library, is that it includes many useful functions. For example, you can access the first or the last element of a vector with</a:t>
            </a:r>
            <a:r>
              <a:rPr lang="en-US" sz="2400" dirty="0">
                <a:solidFill>
                  <a:srgbClr val="000000"/>
                </a:solidFill>
                <a:latin typeface="Segoe UI" panose="020B0502040204020203" pitchFamily="34" charset="0"/>
                <a:cs typeface="Segoe UI" panose="020B0502040204020203" pitchFamily="34" charset="0"/>
              </a:rPr>
              <a:t> </a:t>
            </a: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the </a:t>
            </a:r>
            <a:r>
              <a:rPr kumimoji="0" lang="en-US" sz="2400" b="0" i="0" u="none" strike="noStrike" cap="none" normalizeH="0" baseline="0" dirty="0">
                <a:ln>
                  <a:noFill/>
                </a:ln>
                <a:solidFill>
                  <a:srgbClr val="DC143C"/>
                </a:solidFill>
                <a:effectLst/>
                <a:latin typeface="Consolas" panose="020B0609020204030204" pitchFamily="49" charset="0"/>
              </a:rPr>
              <a:t>.front()</a:t>
            </a: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and  </a:t>
            </a:r>
          </a:p>
          <a:p>
            <a:pPr marL="0" lvl="0" indent="0">
              <a:lnSpc>
                <a:spcPct val="100000"/>
              </a:lnSpc>
              <a:buNone/>
            </a:pPr>
            <a:r>
              <a:rPr kumimoji="0" lang="en-US" sz="2400" b="0" i="0" u="none" strike="noStrike" cap="none" normalizeH="0" baseline="0" dirty="0">
                <a:ln>
                  <a:noFill/>
                </a:ln>
                <a:solidFill>
                  <a:srgbClr val="DC143C"/>
                </a:solidFill>
                <a:effectLst/>
                <a:latin typeface="Consolas" panose="020B0609020204030204" pitchFamily="49" charset="0"/>
              </a:rPr>
              <a:t>.back()</a:t>
            </a: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functions:</a:t>
            </a:r>
            <a:r>
              <a:rPr lang="en-US" sz="2400" dirty="0"/>
              <a:t> </a:t>
            </a:r>
          </a:p>
          <a:p>
            <a:pPr marL="0" lvl="0" indent="0">
              <a:lnSpc>
                <a:spcPct val="100000"/>
              </a:lnSpc>
              <a:buNone/>
            </a:pPr>
            <a:endParaRPr lang="en-US" sz="2400" dirty="0"/>
          </a:p>
          <a:p>
            <a:pPr marL="0" lvl="0" indent="0">
              <a:lnSpc>
                <a:spcPct val="100000"/>
              </a:lnSpc>
              <a:buNone/>
            </a:pPr>
            <a:endParaRPr lang="en-US" sz="2400" dirty="0"/>
          </a:p>
          <a:p>
            <a:pPr marL="0" lvl="0" indent="0">
              <a:lnSpc>
                <a:spcPct val="100000"/>
              </a:lnSpc>
              <a:buNone/>
            </a:pPr>
            <a:r>
              <a:rPr lang="en-US" sz="2400" dirty="0"/>
              <a:t>To access an element at a specified index, you can use the .at() function and specify the index number:</a:t>
            </a:r>
          </a:p>
          <a:p>
            <a:pPr marL="0" marR="0" lvl="0" indent="0"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endParaRPr lang="en-US" sz="2400" dirty="0"/>
          </a:p>
          <a:p>
            <a:pPr marL="0" marR="0" lvl="0" indent="0"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1600" y="1905000"/>
            <a:ext cx="3834599" cy="4038599"/>
          </a:xfrm>
          <a:prstGeom prst="rect">
            <a:avLst/>
          </a:prstGeom>
        </p:spPr>
      </p:pic>
    </p:spTree>
    <p:extLst>
      <p:ext uri="{BB962C8B-B14F-4D97-AF65-F5344CB8AC3E}">
        <p14:creationId xmlns:p14="http://schemas.microsoft.com/office/powerpoint/2010/main" val="207393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5871"/>
            <a:ext cx="1826261" cy="689291"/>
          </a:xfrm>
          <a:prstGeom prst="rect">
            <a:avLst/>
          </a:prstGeom>
        </p:spPr>
        <p:txBody>
          <a:bodyPr vert="horz" wrap="square" lIns="0" tIns="12065" rIns="0" bIns="0" rtlCol="0">
            <a:spAutoFit/>
          </a:bodyPr>
          <a:lstStyle/>
          <a:p>
            <a:pPr marL="12700">
              <a:lnSpc>
                <a:spcPct val="100000"/>
              </a:lnSpc>
              <a:spcBef>
                <a:spcPts val="95"/>
              </a:spcBef>
            </a:pPr>
            <a:r>
              <a:rPr lang="en-US" spc="-65" dirty="0"/>
              <a:t>Vectors</a:t>
            </a:r>
            <a:endParaRPr spc="-65" dirty="0"/>
          </a:p>
        </p:txBody>
      </p:sp>
      <p:sp>
        <p:nvSpPr>
          <p:cNvPr id="9" name="object 9"/>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838200" y="1325162"/>
            <a:ext cx="5732779" cy="5284139"/>
          </a:xfrm>
          <a:prstGeom prst="rect">
            <a:avLst/>
          </a:prstGeom>
        </p:spPr>
        <p:txBody>
          <a:bodyPr vert="horz" wrap="square" lIns="0" tIns="13335" rIns="0" bIns="0" rtlCol="0">
            <a:spAutoFit/>
          </a:bodyPr>
          <a:lstStyle/>
          <a:p>
            <a:pPr marL="12700" marR="6350" algn="just">
              <a:lnSpc>
                <a:spcPct val="100000"/>
              </a:lnSpc>
              <a:spcBef>
                <a:spcPts val="105"/>
              </a:spcBef>
            </a:pP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first</a:t>
            </a:r>
            <a:r>
              <a:rPr sz="2000" spc="15" dirty="0">
                <a:latin typeface="Times New Roman"/>
                <a:cs typeface="Times New Roman"/>
              </a:rPr>
              <a:t>  </a:t>
            </a:r>
            <a:r>
              <a:rPr sz="2000" dirty="0">
                <a:latin typeface="Times New Roman"/>
                <a:cs typeface="Times New Roman"/>
              </a:rPr>
              <a:t>vector</a:t>
            </a:r>
            <a:r>
              <a:rPr sz="2000" spc="20" dirty="0">
                <a:latin typeface="Times New Roman"/>
                <a:cs typeface="Times New Roman"/>
              </a:rPr>
              <a:t>  </a:t>
            </a:r>
            <a:r>
              <a:rPr sz="2000" dirty="0">
                <a:latin typeface="Times New Roman"/>
                <a:cs typeface="Times New Roman"/>
              </a:rPr>
              <a:t>v1</a:t>
            </a:r>
            <a:r>
              <a:rPr sz="2000" spc="25" dirty="0">
                <a:latin typeface="Times New Roman"/>
                <a:cs typeface="Times New Roman"/>
              </a:rPr>
              <a:t>  </a:t>
            </a:r>
            <a:r>
              <a:rPr sz="2000" dirty="0">
                <a:latin typeface="Times New Roman"/>
                <a:cs typeface="Times New Roman"/>
              </a:rPr>
              <a:t>initializes</a:t>
            </a:r>
            <a:r>
              <a:rPr sz="2000" spc="25" dirty="0">
                <a:latin typeface="Times New Roman"/>
                <a:cs typeface="Times New Roman"/>
              </a:rPr>
              <a:t>  </a:t>
            </a:r>
            <a:r>
              <a:rPr sz="2000" dirty="0">
                <a:latin typeface="Times New Roman"/>
                <a:cs typeface="Times New Roman"/>
              </a:rPr>
              <a:t>with</a:t>
            </a:r>
            <a:r>
              <a:rPr sz="2000" spc="2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values</a:t>
            </a:r>
            <a:r>
              <a:rPr sz="2000" spc="20"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spc="-50" dirty="0">
                <a:latin typeface="Times New Roman"/>
                <a:cs typeface="Times New Roman"/>
              </a:rPr>
              <a:t>a </a:t>
            </a:r>
            <a:r>
              <a:rPr sz="2000" dirty="0">
                <a:latin typeface="Times New Roman"/>
                <a:cs typeface="Times New Roman"/>
              </a:rPr>
              <a:t>normal</a:t>
            </a:r>
            <a:r>
              <a:rPr sz="2000" spc="229" dirty="0">
                <a:latin typeface="Times New Roman"/>
                <a:cs typeface="Times New Roman"/>
              </a:rPr>
              <a:t>  </a:t>
            </a:r>
            <a:r>
              <a:rPr sz="2000" dirty="0">
                <a:latin typeface="Times New Roman"/>
                <a:cs typeface="Times New Roman"/>
              </a:rPr>
              <a:t>array</a:t>
            </a:r>
            <a:r>
              <a:rPr sz="2000" spc="225" dirty="0">
                <a:latin typeface="Times New Roman"/>
                <a:cs typeface="Times New Roman"/>
              </a:rPr>
              <a:t>  </a:t>
            </a:r>
            <a:r>
              <a:rPr sz="2000" dirty="0">
                <a:latin typeface="Times New Roman"/>
                <a:cs typeface="Times New Roman"/>
              </a:rPr>
              <a:t>passed</a:t>
            </a:r>
            <a:r>
              <a:rPr sz="2000" spc="229" dirty="0">
                <a:latin typeface="Times New Roman"/>
                <a:cs typeface="Times New Roman"/>
              </a:rPr>
              <a:t>  </a:t>
            </a:r>
            <a:r>
              <a:rPr sz="2000" dirty="0">
                <a:latin typeface="Times New Roman"/>
                <a:cs typeface="Times New Roman"/>
              </a:rPr>
              <a:t>to</a:t>
            </a:r>
            <a:r>
              <a:rPr sz="2000" spc="235" dirty="0">
                <a:latin typeface="Times New Roman"/>
                <a:cs typeface="Times New Roman"/>
              </a:rPr>
              <a:t>  </a:t>
            </a:r>
            <a:r>
              <a:rPr sz="2000" dirty="0">
                <a:latin typeface="Times New Roman"/>
                <a:cs typeface="Times New Roman"/>
              </a:rPr>
              <a:t>it</a:t>
            </a:r>
            <a:r>
              <a:rPr sz="2000" spc="229" dirty="0">
                <a:latin typeface="Times New Roman"/>
                <a:cs typeface="Times New Roman"/>
              </a:rPr>
              <a:t>  </a:t>
            </a:r>
            <a:r>
              <a:rPr sz="2000" dirty="0">
                <a:latin typeface="Times New Roman"/>
                <a:cs typeface="Times New Roman"/>
              </a:rPr>
              <a:t>as</a:t>
            </a:r>
            <a:r>
              <a:rPr sz="2000" spc="235" dirty="0">
                <a:latin typeface="Times New Roman"/>
                <a:cs typeface="Times New Roman"/>
              </a:rPr>
              <a:t>  </a:t>
            </a:r>
            <a:r>
              <a:rPr sz="2000" dirty="0">
                <a:latin typeface="Times New Roman"/>
                <a:cs typeface="Times New Roman"/>
              </a:rPr>
              <a:t>an</a:t>
            </a:r>
            <a:r>
              <a:rPr sz="2000" spc="229" dirty="0">
                <a:latin typeface="Times New Roman"/>
                <a:cs typeface="Times New Roman"/>
              </a:rPr>
              <a:t>  </a:t>
            </a:r>
            <a:r>
              <a:rPr sz="2000" dirty="0">
                <a:latin typeface="Times New Roman"/>
                <a:cs typeface="Times New Roman"/>
              </a:rPr>
              <a:t>argument.</a:t>
            </a:r>
            <a:r>
              <a:rPr sz="2000" spc="235" dirty="0">
                <a:latin typeface="Times New Roman"/>
                <a:cs typeface="Times New Roman"/>
              </a:rPr>
              <a:t>  </a:t>
            </a:r>
            <a:r>
              <a:rPr sz="2000" spc="-25" dirty="0">
                <a:latin typeface="Times New Roman"/>
                <a:cs typeface="Times New Roman"/>
              </a:rPr>
              <a:t>The </a:t>
            </a:r>
            <a:r>
              <a:rPr sz="2000" dirty="0">
                <a:latin typeface="Times New Roman"/>
                <a:cs typeface="Times New Roman"/>
              </a:rPr>
              <a:t>arguments</a:t>
            </a:r>
            <a:r>
              <a:rPr sz="2000" spc="-1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this</a:t>
            </a:r>
            <a:r>
              <a:rPr sz="2000" spc="-10" dirty="0">
                <a:latin typeface="Times New Roman"/>
                <a:cs typeface="Times New Roman"/>
              </a:rPr>
              <a:t> </a:t>
            </a:r>
            <a:r>
              <a:rPr sz="2000" dirty="0">
                <a:latin typeface="Times New Roman"/>
                <a:cs typeface="Times New Roman"/>
              </a:rPr>
              <a:t>constructor</a:t>
            </a:r>
            <a:r>
              <a:rPr sz="2000" spc="-5" dirty="0">
                <a:latin typeface="Times New Roman"/>
                <a:cs typeface="Times New Roman"/>
              </a:rPr>
              <a:t> </a:t>
            </a:r>
            <a:r>
              <a:rPr sz="2000" dirty="0">
                <a:latin typeface="Times New Roman"/>
                <a:cs typeface="Times New Roman"/>
              </a:rPr>
              <a:t>are</a:t>
            </a:r>
            <a:r>
              <a:rPr sz="2000" spc="-15" dirty="0">
                <a:latin typeface="Times New Roman"/>
                <a:cs typeface="Times New Roman"/>
              </a:rPr>
              <a:t> </a:t>
            </a:r>
            <a:r>
              <a:rPr sz="2000" dirty="0">
                <a:latin typeface="Times New Roman"/>
                <a:cs typeface="Times New Roman"/>
              </a:rPr>
              <a:t>pointers</a:t>
            </a:r>
            <a:r>
              <a:rPr sz="2000" spc="-5"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start</a:t>
            </a:r>
            <a:r>
              <a:rPr sz="2000" spc="-10" dirty="0">
                <a:latin typeface="Times New Roman"/>
                <a:cs typeface="Times New Roman"/>
              </a:rPr>
              <a:t> </a:t>
            </a:r>
            <a:r>
              <a:rPr sz="2000" spc="-25" dirty="0">
                <a:latin typeface="Times New Roman"/>
                <a:cs typeface="Times New Roman"/>
              </a:rPr>
              <a:t>of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array</a:t>
            </a:r>
            <a:r>
              <a:rPr sz="2000" spc="-3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element one</a:t>
            </a:r>
            <a:r>
              <a:rPr sz="2000" spc="-25" dirty="0">
                <a:latin typeface="Times New Roman"/>
                <a:cs typeface="Times New Roman"/>
              </a:rPr>
              <a:t> </a:t>
            </a:r>
            <a:r>
              <a:rPr sz="2000" dirty="0">
                <a:latin typeface="Times New Roman"/>
                <a:cs typeface="Times New Roman"/>
              </a:rPr>
              <a:t>past</a:t>
            </a:r>
            <a:r>
              <a:rPr sz="2000" spc="-3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spc="-20" dirty="0">
                <a:latin typeface="Times New Roman"/>
                <a:cs typeface="Times New Roman"/>
              </a:rPr>
              <a:t>end.</a:t>
            </a:r>
            <a:endParaRPr sz="2000" dirty="0">
              <a:latin typeface="Times New Roman"/>
              <a:cs typeface="Times New Roman"/>
            </a:endParaRPr>
          </a:p>
          <a:p>
            <a:pPr>
              <a:lnSpc>
                <a:spcPct val="100000"/>
              </a:lnSpc>
              <a:spcBef>
                <a:spcPts val="105"/>
              </a:spcBef>
            </a:pPr>
            <a:endParaRPr sz="2000" dirty="0">
              <a:latin typeface="Times New Roman"/>
              <a:cs typeface="Times New Roman"/>
            </a:endParaRPr>
          </a:p>
          <a:p>
            <a:pPr marL="12700" marR="5080" algn="just">
              <a:lnSpc>
                <a:spcPct val="100000"/>
              </a:lnSpc>
            </a:pPr>
            <a:r>
              <a:rPr sz="2000" dirty="0">
                <a:latin typeface="Times New Roman"/>
                <a:cs typeface="Times New Roman"/>
              </a:rPr>
              <a:t>The</a:t>
            </a:r>
            <a:r>
              <a:rPr sz="2000" spc="70" dirty="0">
                <a:latin typeface="Times New Roman"/>
                <a:cs typeface="Times New Roman"/>
              </a:rPr>
              <a:t> </a:t>
            </a:r>
            <a:r>
              <a:rPr sz="2000" b="1" dirty="0">
                <a:latin typeface="Times New Roman"/>
                <a:cs typeface="Times New Roman"/>
              </a:rPr>
              <a:t>swap()</a:t>
            </a:r>
            <a:r>
              <a:rPr sz="2000" b="1" spc="75" dirty="0">
                <a:latin typeface="Times New Roman"/>
                <a:cs typeface="Times New Roman"/>
              </a:rPr>
              <a:t> </a:t>
            </a:r>
            <a:r>
              <a:rPr sz="2000" dirty="0">
                <a:latin typeface="Times New Roman"/>
                <a:cs typeface="Times New Roman"/>
              </a:rPr>
              <a:t>member</a:t>
            </a:r>
            <a:r>
              <a:rPr sz="2000" spc="80" dirty="0">
                <a:latin typeface="Times New Roman"/>
                <a:cs typeface="Times New Roman"/>
              </a:rPr>
              <a:t> </a:t>
            </a:r>
            <a:r>
              <a:rPr sz="2000" dirty="0">
                <a:latin typeface="Times New Roman"/>
                <a:cs typeface="Times New Roman"/>
              </a:rPr>
              <a:t>function</a:t>
            </a:r>
            <a:r>
              <a:rPr sz="2000" spc="75" dirty="0">
                <a:latin typeface="Times New Roman"/>
                <a:cs typeface="Times New Roman"/>
              </a:rPr>
              <a:t> </a:t>
            </a:r>
            <a:r>
              <a:rPr sz="2000" dirty="0">
                <a:latin typeface="Times New Roman"/>
                <a:cs typeface="Times New Roman"/>
              </a:rPr>
              <a:t>exchanges</a:t>
            </a:r>
            <a:r>
              <a:rPr sz="2000" spc="70" dirty="0">
                <a:latin typeface="Times New Roman"/>
                <a:cs typeface="Times New Roman"/>
              </a:rPr>
              <a:t> </a:t>
            </a:r>
            <a:r>
              <a:rPr sz="2000" dirty="0">
                <a:latin typeface="Times New Roman"/>
                <a:cs typeface="Times New Roman"/>
              </a:rPr>
              <a:t>all</a:t>
            </a:r>
            <a:r>
              <a:rPr sz="2000" spc="50" dirty="0">
                <a:latin typeface="Times New Roman"/>
                <a:cs typeface="Times New Roman"/>
              </a:rPr>
              <a:t> </a:t>
            </a:r>
            <a:r>
              <a:rPr sz="2000" dirty="0">
                <a:latin typeface="Times New Roman"/>
                <a:cs typeface="Times New Roman"/>
              </a:rPr>
              <a:t>the</a:t>
            </a:r>
            <a:r>
              <a:rPr sz="2000" spc="60" dirty="0">
                <a:latin typeface="Times New Roman"/>
                <a:cs typeface="Times New Roman"/>
              </a:rPr>
              <a:t> </a:t>
            </a:r>
            <a:r>
              <a:rPr sz="2000" dirty="0">
                <a:latin typeface="Times New Roman"/>
                <a:cs typeface="Times New Roman"/>
              </a:rPr>
              <a:t>data</a:t>
            </a:r>
            <a:r>
              <a:rPr sz="2000" spc="70" dirty="0">
                <a:latin typeface="Times New Roman"/>
                <a:cs typeface="Times New Roman"/>
              </a:rPr>
              <a:t> </a:t>
            </a:r>
            <a:r>
              <a:rPr sz="2000" spc="-25" dirty="0">
                <a:latin typeface="Times New Roman"/>
                <a:cs typeface="Times New Roman"/>
              </a:rPr>
              <a:t>in </a:t>
            </a:r>
            <a:r>
              <a:rPr sz="2000" dirty="0">
                <a:latin typeface="Times New Roman"/>
                <a:cs typeface="Times New Roman"/>
              </a:rPr>
              <a:t>one</a:t>
            </a:r>
            <a:r>
              <a:rPr sz="2000" spc="395" dirty="0">
                <a:latin typeface="Times New Roman"/>
                <a:cs typeface="Times New Roman"/>
              </a:rPr>
              <a:t> </a:t>
            </a:r>
            <a:r>
              <a:rPr sz="2000" dirty="0">
                <a:latin typeface="Times New Roman"/>
                <a:cs typeface="Times New Roman"/>
              </a:rPr>
              <a:t>vector</a:t>
            </a:r>
            <a:r>
              <a:rPr sz="2000" spc="405" dirty="0">
                <a:latin typeface="Times New Roman"/>
                <a:cs typeface="Times New Roman"/>
              </a:rPr>
              <a:t> </a:t>
            </a:r>
            <a:r>
              <a:rPr sz="2000" dirty="0">
                <a:latin typeface="Times New Roman"/>
                <a:cs typeface="Times New Roman"/>
              </a:rPr>
              <a:t>with</a:t>
            </a:r>
            <a:r>
              <a:rPr sz="2000" spc="415" dirty="0">
                <a:latin typeface="Times New Roman"/>
                <a:cs typeface="Times New Roman"/>
              </a:rPr>
              <a:t> </a:t>
            </a:r>
            <a:r>
              <a:rPr sz="2000" dirty="0">
                <a:latin typeface="Times New Roman"/>
                <a:cs typeface="Times New Roman"/>
              </a:rPr>
              <a:t>all</a:t>
            </a:r>
            <a:r>
              <a:rPr sz="2000" spc="405" dirty="0">
                <a:latin typeface="Times New Roman"/>
                <a:cs typeface="Times New Roman"/>
              </a:rPr>
              <a:t> </a:t>
            </a:r>
            <a:r>
              <a:rPr sz="2000" dirty="0">
                <a:latin typeface="Times New Roman"/>
                <a:cs typeface="Times New Roman"/>
              </a:rPr>
              <a:t>the</a:t>
            </a:r>
            <a:r>
              <a:rPr sz="2000" spc="405" dirty="0">
                <a:latin typeface="Times New Roman"/>
                <a:cs typeface="Times New Roman"/>
              </a:rPr>
              <a:t> </a:t>
            </a:r>
            <a:r>
              <a:rPr sz="2000" dirty="0">
                <a:latin typeface="Times New Roman"/>
                <a:cs typeface="Times New Roman"/>
              </a:rPr>
              <a:t>data</a:t>
            </a:r>
            <a:r>
              <a:rPr sz="2000" spc="400" dirty="0">
                <a:latin typeface="Times New Roman"/>
                <a:cs typeface="Times New Roman"/>
              </a:rPr>
              <a:t> </a:t>
            </a:r>
            <a:r>
              <a:rPr sz="2000" dirty="0">
                <a:latin typeface="Times New Roman"/>
                <a:cs typeface="Times New Roman"/>
              </a:rPr>
              <a:t>in</a:t>
            </a:r>
            <a:r>
              <a:rPr sz="2000" spc="420" dirty="0">
                <a:latin typeface="Times New Roman"/>
                <a:cs typeface="Times New Roman"/>
              </a:rPr>
              <a:t> </a:t>
            </a:r>
            <a:r>
              <a:rPr sz="2000" dirty="0">
                <a:latin typeface="Times New Roman"/>
                <a:cs typeface="Times New Roman"/>
              </a:rPr>
              <a:t>another,</a:t>
            </a:r>
            <a:r>
              <a:rPr sz="2000" spc="400" dirty="0">
                <a:latin typeface="Times New Roman"/>
                <a:cs typeface="Times New Roman"/>
              </a:rPr>
              <a:t> </a:t>
            </a:r>
            <a:r>
              <a:rPr sz="2000" dirty="0">
                <a:latin typeface="Times New Roman"/>
                <a:cs typeface="Times New Roman"/>
              </a:rPr>
              <a:t>keeping</a:t>
            </a:r>
            <a:r>
              <a:rPr sz="2000" spc="415" dirty="0">
                <a:latin typeface="Times New Roman"/>
                <a:cs typeface="Times New Roman"/>
              </a:rPr>
              <a:t> </a:t>
            </a:r>
            <a:r>
              <a:rPr sz="2000" spc="-25" dirty="0">
                <a:latin typeface="Times New Roman"/>
                <a:cs typeface="Times New Roman"/>
              </a:rPr>
              <a:t>the </a:t>
            </a:r>
            <a:r>
              <a:rPr sz="2000" dirty="0">
                <a:latin typeface="Times New Roman"/>
                <a:cs typeface="Times New Roman"/>
              </a:rPr>
              <a:t>elements</a:t>
            </a:r>
            <a:r>
              <a:rPr sz="2000" spc="-3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dirty="0">
                <a:latin typeface="Times New Roman"/>
                <a:cs typeface="Times New Roman"/>
              </a:rPr>
              <a:t>same</a:t>
            </a:r>
            <a:r>
              <a:rPr sz="2000" spc="-15" dirty="0">
                <a:latin typeface="Times New Roman"/>
                <a:cs typeface="Times New Roman"/>
              </a:rPr>
              <a:t> </a:t>
            </a:r>
            <a:r>
              <a:rPr sz="2000" spc="-10" dirty="0">
                <a:latin typeface="Times New Roman"/>
                <a:cs typeface="Times New Roman"/>
              </a:rPr>
              <a:t>order.</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12700" algn="just">
              <a:lnSpc>
                <a:spcPct val="100000"/>
              </a:lnSpc>
            </a:pPr>
            <a:r>
              <a:rPr sz="2000" dirty="0">
                <a:latin typeface="Times New Roman"/>
                <a:cs typeface="Times New Roman"/>
              </a:rPr>
              <a:t>The</a:t>
            </a:r>
            <a:r>
              <a:rPr sz="2000" spc="245" dirty="0">
                <a:latin typeface="Times New Roman"/>
                <a:cs typeface="Times New Roman"/>
              </a:rPr>
              <a:t> </a:t>
            </a:r>
            <a:r>
              <a:rPr sz="2000" b="1" dirty="0">
                <a:latin typeface="Times New Roman"/>
                <a:cs typeface="Times New Roman"/>
              </a:rPr>
              <a:t>back()</a:t>
            </a:r>
            <a:r>
              <a:rPr sz="2000" b="1" spc="250" dirty="0">
                <a:latin typeface="Times New Roman"/>
                <a:cs typeface="Times New Roman"/>
              </a:rPr>
              <a:t> </a:t>
            </a:r>
            <a:r>
              <a:rPr sz="2000" dirty="0">
                <a:latin typeface="Times New Roman"/>
                <a:cs typeface="Times New Roman"/>
              </a:rPr>
              <a:t>member</a:t>
            </a:r>
            <a:r>
              <a:rPr sz="2000" spc="245" dirty="0">
                <a:latin typeface="Times New Roman"/>
                <a:cs typeface="Times New Roman"/>
              </a:rPr>
              <a:t> </a:t>
            </a:r>
            <a:r>
              <a:rPr sz="2000" dirty="0">
                <a:latin typeface="Times New Roman"/>
                <a:cs typeface="Times New Roman"/>
              </a:rPr>
              <a:t>function</a:t>
            </a:r>
            <a:r>
              <a:rPr sz="2000" spc="250" dirty="0">
                <a:latin typeface="Times New Roman"/>
                <a:cs typeface="Times New Roman"/>
              </a:rPr>
              <a:t> </a:t>
            </a:r>
            <a:r>
              <a:rPr sz="2000" dirty="0">
                <a:latin typeface="Times New Roman"/>
                <a:cs typeface="Times New Roman"/>
              </a:rPr>
              <a:t>returns</a:t>
            </a:r>
            <a:r>
              <a:rPr sz="2000" spc="245" dirty="0">
                <a:latin typeface="Times New Roman"/>
                <a:cs typeface="Times New Roman"/>
              </a:rPr>
              <a:t> </a:t>
            </a:r>
            <a:r>
              <a:rPr sz="2000" dirty="0">
                <a:latin typeface="Times New Roman"/>
                <a:cs typeface="Times New Roman"/>
              </a:rPr>
              <a:t>the</a:t>
            </a:r>
            <a:r>
              <a:rPr sz="2000" spc="229" dirty="0">
                <a:latin typeface="Times New Roman"/>
                <a:cs typeface="Times New Roman"/>
              </a:rPr>
              <a:t> </a:t>
            </a:r>
            <a:r>
              <a:rPr sz="2000" dirty="0">
                <a:latin typeface="Times New Roman"/>
                <a:cs typeface="Times New Roman"/>
              </a:rPr>
              <a:t>value</a:t>
            </a:r>
            <a:r>
              <a:rPr sz="2000" spc="235" dirty="0">
                <a:latin typeface="Times New Roman"/>
                <a:cs typeface="Times New Roman"/>
              </a:rPr>
              <a:t> </a:t>
            </a:r>
            <a:r>
              <a:rPr sz="2000" dirty="0">
                <a:latin typeface="Times New Roman"/>
                <a:cs typeface="Times New Roman"/>
              </a:rPr>
              <a:t>of</a:t>
            </a:r>
            <a:r>
              <a:rPr sz="2000" spc="245" dirty="0">
                <a:latin typeface="Times New Roman"/>
                <a:cs typeface="Times New Roman"/>
              </a:rPr>
              <a:t> </a:t>
            </a:r>
            <a:r>
              <a:rPr sz="2000" spc="-25" dirty="0">
                <a:latin typeface="Times New Roman"/>
                <a:cs typeface="Times New Roman"/>
              </a:rPr>
              <a:t>the</a:t>
            </a:r>
            <a:endParaRPr sz="2000" dirty="0">
              <a:latin typeface="Times New Roman"/>
              <a:cs typeface="Times New Roman"/>
            </a:endParaRPr>
          </a:p>
          <a:p>
            <a:pPr marL="12700" algn="just">
              <a:lnSpc>
                <a:spcPct val="100000"/>
              </a:lnSpc>
            </a:pPr>
            <a:r>
              <a:rPr sz="2000" dirty="0">
                <a:latin typeface="Times New Roman"/>
                <a:cs typeface="Times New Roman"/>
              </a:rPr>
              <a:t>last</a:t>
            </a:r>
            <a:r>
              <a:rPr sz="2000" spc="-30" dirty="0">
                <a:latin typeface="Times New Roman"/>
                <a:cs typeface="Times New Roman"/>
              </a:rPr>
              <a:t> </a:t>
            </a:r>
            <a:r>
              <a:rPr sz="2000" dirty="0">
                <a:latin typeface="Times New Roman"/>
                <a:cs typeface="Times New Roman"/>
              </a:rPr>
              <a:t>element</a:t>
            </a:r>
            <a:r>
              <a:rPr sz="2000" spc="-15" dirty="0">
                <a:latin typeface="Times New Roman"/>
                <a:cs typeface="Times New Roman"/>
              </a:rPr>
              <a:t> </a:t>
            </a:r>
            <a:r>
              <a:rPr sz="2000" dirty="0">
                <a:latin typeface="Times New Roman"/>
                <a:cs typeface="Times New Roman"/>
              </a:rPr>
              <a:t>in</a:t>
            </a:r>
            <a:r>
              <a:rPr sz="2000" spc="-30"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spc="-10" dirty="0">
                <a:latin typeface="Times New Roman"/>
                <a:cs typeface="Times New Roman"/>
              </a:rPr>
              <a:t>vector.</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a:p>
            <a:pPr marL="12700" algn="just">
              <a:lnSpc>
                <a:spcPct val="100000"/>
              </a:lnSpc>
              <a:spcBef>
                <a:spcPts val="5"/>
              </a:spcBef>
            </a:pPr>
            <a:r>
              <a:rPr sz="2000" dirty="0">
                <a:latin typeface="Times New Roman"/>
                <a:cs typeface="Times New Roman"/>
              </a:rPr>
              <a:t>The</a:t>
            </a:r>
            <a:r>
              <a:rPr sz="2000" spc="15" dirty="0">
                <a:latin typeface="Times New Roman"/>
                <a:cs typeface="Times New Roman"/>
              </a:rPr>
              <a:t>  </a:t>
            </a:r>
            <a:r>
              <a:rPr sz="2000" b="1" dirty="0">
                <a:latin typeface="Times New Roman"/>
                <a:cs typeface="Times New Roman"/>
              </a:rPr>
              <a:t>pop_back()</a:t>
            </a:r>
            <a:r>
              <a:rPr sz="2000" b="1" spc="20" dirty="0">
                <a:latin typeface="Times New Roman"/>
                <a:cs typeface="Times New Roman"/>
              </a:rPr>
              <a:t>  </a:t>
            </a:r>
            <a:r>
              <a:rPr sz="2000" dirty="0">
                <a:latin typeface="Times New Roman"/>
                <a:cs typeface="Times New Roman"/>
              </a:rPr>
              <a:t>member</a:t>
            </a:r>
            <a:r>
              <a:rPr sz="2000" spc="25" dirty="0">
                <a:latin typeface="Times New Roman"/>
                <a:cs typeface="Times New Roman"/>
              </a:rPr>
              <a:t>  </a:t>
            </a:r>
            <a:r>
              <a:rPr sz="2000" dirty="0">
                <a:latin typeface="Times New Roman"/>
                <a:cs typeface="Times New Roman"/>
              </a:rPr>
              <a:t>function</a:t>
            </a:r>
            <a:r>
              <a:rPr sz="2000" spc="15" dirty="0">
                <a:latin typeface="Times New Roman"/>
                <a:cs typeface="Times New Roman"/>
              </a:rPr>
              <a:t>  </a:t>
            </a:r>
            <a:r>
              <a:rPr sz="2000" dirty="0">
                <a:latin typeface="Times New Roman"/>
                <a:cs typeface="Times New Roman"/>
              </a:rPr>
              <a:t>removes</a:t>
            </a:r>
            <a:r>
              <a:rPr sz="2000" spc="20"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spc="-20" dirty="0">
                <a:latin typeface="Times New Roman"/>
                <a:cs typeface="Times New Roman"/>
              </a:rPr>
              <a:t>last</a:t>
            </a:r>
            <a:endParaRPr sz="2000" dirty="0">
              <a:latin typeface="Times New Roman"/>
              <a:cs typeface="Times New Roman"/>
            </a:endParaRPr>
          </a:p>
          <a:p>
            <a:pPr marL="12700" algn="just">
              <a:lnSpc>
                <a:spcPct val="100000"/>
              </a:lnSpc>
            </a:pPr>
            <a:r>
              <a:rPr sz="2000" dirty="0">
                <a:latin typeface="Times New Roman"/>
                <a:cs typeface="Times New Roman"/>
              </a:rPr>
              <a:t>element</a:t>
            </a:r>
            <a:r>
              <a:rPr sz="2000" spc="-2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a:t>
            </a:r>
            <a:r>
              <a:rPr sz="2000" spc="-40" dirty="0">
                <a:latin typeface="Times New Roman"/>
                <a:cs typeface="Times New Roman"/>
              </a:rPr>
              <a:t> </a:t>
            </a:r>
            <a:r>
              <a:rPr sz="2000" spc="-10" dirty="0">
                <a:latin typeface="Times New Roman"/>
                <a:cs typeface="Times New Roman"/>
              </a:rPr>
              <a:t>vector.</a:t>
            </a:r>
            <a:r>
              <a:rPr lang="en-US" sz="2000" spc="-10" dirty="0">
                <a:latin typeface="Times New Roman"/>
                <a:cs typeface="Times New Roman"/>
              </a:rPr>
              <a:t> </a:t>
            </a:r>
          </a:p>
          <a:p>
            <a:pPr marL="12700" algn="just">
              <a:lnSpc>
                <a:spcPct val="100000"/>
              </a:lnSpc>
            </a:pPr>
            <a:r>
              <a:rPr lang="en-US" sz="2000" spc="-10" dirty="0">
                <a:latin typeface="Times New Roman"/>
                <a:cs typeface="Times New Roman"/>
              </a:rPr>
              <a:t>The </a:t>
            </a:r>
            <a:r>
              <a:rPr lang="en-US" sz="2000" b="1" spc="-10" dirty="0">
                <a:latin typeface="Times New Roman"/>
                <a:cs typeface="Times New Roman"/>
              </a:rPr>
              <a:t>.empty() </a:t>
            </a:r>
            <a:r>
              <a:rPr lang="en-US" sz="2000" spc="-10" dirty="0">
                <a:latin typeface="Times New Roman"/>
                <a:cs typeface="Times New Roman"/>
              </a:rPr>
              <a:t>function returns 1 (true) if the vector is empty and 0 (false) if it contains one or more elements:</a:t>
            </a:r>
          </a:p>
          <a:p>
            <a:pPr marL="12700" algn="just">
              <a:lnSpc>
                <a:spcPct val="100000"/>
              </a:lnSpc>
            </a:pPr>
            <a:endParaRPr sz="2000" dirty="0">
              <a:latin typeface="Times New Roman"/>
              <a:cs typeface="Times New Roman"/>
            </a:endParaRPr>
          </a:p>
        </p:txBody>
      </p:sp>
      <p:grpSp>
        <p:nvGrpSpPr>
          <p:cNvPr id="4" name="object 4"/>
          <p:cNvGrpSpPr/>
          <p:nvPr/>
        </p:nvGrpSpPr>
        <p:grpSpPr>
          <a:xfrm>
            <a:off x="7315341" y="1387898"/>
            <a:ext cx="4352925" cy="4703445"/>
            <a:chOff x="7315341" y="1387898"/>
            <a:chExt cx="4352925" cy="4703445"/>
          </a:xfrm>
        </p:grpSpPr>
        <p:pic>
          <p:nvPicPr>
            <p:cNvPr id="5" name="object 5"/>
            <p:cNvPicPr/>
            <p:nvPr/>
          </p:nvPicPr>
          <p:blipFill>
            <a:blip r:embed="rId2" cstate="print"/>
            <a:stretch>
              <a:fillRect/>
            </a:stretch>
          </p:blipFill>
          <p:spPr>
            <a:xfrm>
              <a:off x="7315341" y="1387898"/>
              <a:ext cx="4267058" cy="4702935"/>
            </a:xfrm>
            <a:prstGeom prst="rect">
              <a:avLst/>
            </a:prstGeom>
          </p:spPr>
        </p:pic>
        <p:sp>
          <p:nvSpPr>
            <p:cNvPr id="6" name="object 6"/>
            <p:cNvSpPr/>
            <p:nvPr/>
          </p:nvSpPr>
          <p:spPr>
            <a:xfrm>
              <a:off x="10786872" y="3127247"/>
              <a:ext cx="875030" cy="2372995"/>
            </a:xfrm>
            <a:custGeom>
              <a:avLst/>
              <a:gdLst/>
              <a:ahLst/>
              <a:cxnLst/>
              <a:rect l="l" t="t" r="r" b="b"/>
              <a:pathLst>
                <a:path w="875029" h="2372995">
                  <a:moveTo>
                    <a:pt x="0" y="2372867"/>
                  </a:moveTo>
                  <a:lnTo>
                    <a:pt x="874776" y="2372867"/>
                  </a:lnTo>
                  <a:lnTo>
                    <a:pt x="874776" y="0"/>
                  </a:lnTo>
                  <a:lnTo>
                    <a:pt x="0" y="0"/>
                  </a:lnTo>
                  <a:lnTo>
                    <a:pt x="0" y="2372867"/>
                  </a:lnTo>
                  <a:close/>
                </a:path>
              </a:pathLst>
            </a:custGeom>
            <a:ln w="12700">
              <a:solidFill>
                <a:srgbClr val="FFFFFF"/>
              </a:solidFill>
            </a:ln>
          </p:spPr>
          <p:txBody>
            <a:bodyPr wrap="square" lIns="0" tIns="0" rIns="0" bIns="0" rtlCol="0"/>
            <a:lstStyle/>
            <a:p>
              <a:endParaRPr/>
            </a:p>
          </p:txBody>
        </p:sp>
        <p:sp>
          <p:nvSpPr>
            <p:cNvPr id="7" name="object 7"/>
            <p:cNvSpPr/>
            <p:nvPr/>
          </p:nvSpPr>
          <p:spPr>
            <a:xfrm>
              <a:off x="10933176" y="2490216"/>
              <a:ext cx="728980" cy="200025"/>
            </a:xfrm>
            <a:custGeom>
              <a:avLst/>
              <a:gdLst/>
              <a:ahLst/>
              <a:cxnLst/>
              <a:rect l="l" t="t" r="r" b="b"/>
              <a:pathLst>
                <a:path w="728979" h="200025">
                  <a:moveTo>
                    <a:pt x="728472" y="0"/>
                  </a:moveTo>
                  <a:lnTo>
                    <a:pt x="0" y="0"/>
                  </a:lnTo>
                  <a:lnTo>
                    <a:pt x="0" y="199644"/>
                  </a:lnTo>
                  <a:lnTo>
                    <a:pt x="728472" y="199644"/>
                  </a:lnTo>
                  <a:lnTo>
                    <a:pt x="728472" y="0"/>
                  </a:lnTo>
                  <a:close/>
                </a:path>
              </a:pathLst>
            </a:custGeom>
            <a:solidFill>
              <a:srgbClr val="FFFFFF"/>
            </a:solidFill>
          </p:spPr>
          <p:txBody>
            <a:bodyPr wrap="square" lIns="0" tIns="0" rIns="0" bIns="0" rtlCol="0"/>
            <a:lstStyle/>
            <a:p>
              <a:endParaRPr/>
            </a:p>
          </p:txBody>
        </p:sp>
        <p:sp>
          <p:nvSpPr>
            <p:cNvPr id="8" name="object 8"/>
            <p:cNvSpPr/>
            <p:nvPr/>
          </p:nvSpPr>
          <p:spPr>
            <a:xfrm>
              <a:off x="10933176" y="2490216"/>
              <a:ext cx="728980" cy="200025"/>
            </a:xfrm>
            <a:custGeom>
              <a:avLst/>
              <a:gdLst/>
              <a:ahLst/>
              <a:cxnLst/>
              <a:rect l="l" t="t" r="r" b="b"/>
              <a:pathLst>
                <a:path w="728979" h="200025">
                  <a:moveTo>
                    <a:pt x="0" y="199644"/>
                  </a:moveTo>
                  <a:lnTo>
                    <a:pt x="728472" y="199644"/>
                  </a:lnTo>
                  <a:lnTo>
                    <a:pt x="728472" y="0"/>
                  </a:lnTo>
                  <a:lnTo>
                    <a:pt x="0" y="0"/>
                  </a:lnTo>
                  <a:lnTo>
                    <a:pt x="0" y="199644"/>
                  </a:lnTo>
                  <a:close/>
                </a:path>
              </a:pathLst>
            </a:custGeom>
            <a:ln w="12700">
              <a:solidFill>
                <a:srgbClr val="FFFFFF"/>
              </a:solidFill>
            </a:ln>
          </p:spPr>
          <p:txBody>
            <a:bodyPr wrap="square" lIns="0" tIns="0" rIns="0" bIns="0" rtlCol="0"/>
            <a:lstStyle/>
            <a:p>
              <a:endParaRPr/>
            </a:p>
          </p:txBody>
        </p:sp>
      </p:grpSp>
      <p:sp>
        <p:nvSpPr>
          <p:cNvPr id="10" name="object 10"/>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9</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9</a:t>
            </a:r>
            <a:endParaRPr sz="2400">
              <a:latin typeface="Times New Roman"/>
              <a:cs typeface="Times New Roman"/>
            </a:endParaRPr>
          </a:p>
        </p:txBody>
      </p:sp>
      <p:sp>
        <p:nvSpPr>
          <p:cNvPr id="11" name="object 11"/>
          <p:cNvSpPr txBox="1"/>
          <p:nvPr/>
        </p:nvSpPr>
        <p:spPr>
          <a:xfrm>
            <a:off x="98917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2" name="object 12"/>
          <p:cNvSpPr txBox="1"/>
          <p:nvPr/>
        </p:nvSpPr>
        <p:spPr>
          <a:xfrm>
            <a:off x="102575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3" name="Date Placeholder 12">
            <a:extLst>
              <a:ext uri="{FF2B5EF4-FFF2-40B4-BE49-F238E27FC236}">
                <a16:creationId xmlns:a16="http://schemas.microsoft.com/office/drawing/2014/main" id="{E49C6D2D-F677-8BC2-E5A7-466FAD84B109}"/>
              </a:ext>
            </a:extLst>
          </p:cNvPr>
          <p:cNvSpPr>
            <a:spLocks noGrp="1"/>
          </p:cNvSpPr>
          <p:nvPr>
            <p:ph type="dt" sz="half" idx="10"/>
          </p:nvPr>
        </p:nvSpPr>
        <p:spPr/>
        <p:txBody>
          <a:bodyPr/>
          <a:lstStyle/>
          <a:p>
            <a:fld id="{DE872322-19B0-4626-B3D6-64C0A10AE7D5}" type="datetime1">
              <a:rPr lang="en-US" smtClean="0"/>
              <a:t>11/17/2025</a:t>
            </a:fld>
            <a:endParaRPr lang="en-US"/>
          </a:p>
        </p:txBody>
      </p:sp>
      <p:sp>
        <p:nvSpPr>
          <p:cNvPr id="15" name="Slide Number Placeholder 14">
            <a:extLst>
              <a:ext uri="{FF2B5EF4-FFF2-40B4-BE49-F238E27FC236}">
                <a16:creationId xmlns:a16="http://schemas.microsoft.com/office/drawing/2014/main" id="{CA4C7F56-AB22-49F5-F1E5-4D1B6AA097B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32</a:t>
            </a:fld>
            <a:endParaRPr spc="-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Vectors: Loop Through a Vector</a:t>
            </a:r>
          </a:p>
        </p:txBody>
      </p:sp>
      <p:sp>
        <p:nvSpPr>
          <p:cNvPr id="4" name="Date Placeholder 3"/>
          <p:cNvSpPr>
            <a:spLocks noGrp="1"/>
          </p:cNvSpPr>
          <p:nvPr>
            <p:ph type="dt" sz="half" idx="10"/>
          </p:nvPr>
        </p:nvSpPr>
        <p:spPr/>
        <p:txBody>
          <a:bodyPr/>
          <a:lstStyle/>
          <a:p>
            <a:fld id="{8966A560-332D-47A2-A6E0-4B9952C44143}" type="datetime1">
              <a:rPr lang="en-US" smtClean="0"/>
              <a:t>11/17/2025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33</a:t>
            </a:fld>
            <a:endParaRPr spc="-25" dirty="0"/>
          </a:p>
        </p:txBody>
      </p:sp>
      <p:sp>
        <p:nvSpPr>
          <p:cNvPr id="7" name="Rectangle 1"/>
          <p:cNvSpPr>
            <a:spLocks noGrp="1" noChangeArrowheads="1"/>
          </p:cNvSpPr>
          <p:nvPr>
            <p:ph idx="1"/>
          </p:nvPr>
        </p:nvSpPr>
        <p:spPr bwMode="auto">
          <a:xfrm>
            <a:off x="838200" y="1739137"/>
            <a:ext cx="46482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You can loop through the vector elements by using a </a:t>
            </a:r>
            <a:r>
              <a:rPr kumimoji="0" lang="en-US" sz="2400" b="0" i="0" u="none" strike="noStrike" cap="none" normalizeH="0" baseline="0" dirty="0">
                <a:ln>
                  <a:noFill/>
                </a:ln>
                <a:solidFill>
                  <a:srgbClr val="DC143C"/>
                </a:solidFill>
                <a:effectLst/>
                <a:latin typeface="Consolas" panose="020B0609020204030204" pitchFamily="49" charset="0"/>
              </a:rPr>
              <a:t>for</a:t>
            </a: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loop combined with the </a:t>
            </a:r>
            <a:r>
              <a:rPr kumimoji="0" lang="en-US" sz="2400" b="0" i="0" u="none" strike="noStrike" cap="none" normalizeH="0" baseline="0" dirty="0">
                <a:ln>
                  <a:noFill/>
                </a:ln>
                <a:solidFill>
                  <a:srgbClr val="DC143C"/>
                </a:solidFill>
                <a:effectLst/>
                <a:latin typeface="Consolas" panose="020B0609020204030204" pitchFamily="49" charset="0"/>
              </a:rPr>
              <a:t>.size()</a:t>
            </a:r>
            <a:r>
              <a:rPr kumimoji="0" 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function:</a:t>
            </a:r>
            <a:r>
              <a:rPr kumimoji="0" lang="en-US" sz="2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endParaRPr>
          </a:p>
          <a:p>
            <a:pPr marL="0" lvl="0" indent="0">
              <a:lnSpc>
                <a:spcPct val="100000"/>
              </a:lnSpc>
              <a:buNone/>
            </a:pPr>
            <a:r>
              <a:rPr lang="en-US" sz="2400" dirty="0"/>
              <a:t>You can also use a </a:t>
            </a:r>
            <a:r>
              <a:rPr lang="en-US" sz="2400" b="1" dirty="0"/>
              <a:t>for-each loop</a:t>
            </a:r>
            <a:r>
              <a:rPr lang="en-US" sz="2400" dirty="0"/>
              <a:t> (introduced in C++ version 11 (2011), which is cleaner and more readable:</a:t>
            </a:r>
          </a:p>
          <a:p>
            <a:pPr marL="0" lvl="0" indent="0">
              <a:lnSpc>
                <a:spcPct val="100000"/>
              </a:lnSpc>
              <a:buNone/>
            </a:pPr>
            <a:endParaRPr kumimoji="0" lang="en-US" sz="2400" b="0" i="0" u="none" strike="noStrike" cap="none" normalizeH="0" baseline="0" dirty="0">
              <a:ln>
                <a:noFill/>
              </a:ln>
              <a:solidFill>
                <a:schemeClr val="tx1"/>
              </a:solidFill>
              <a:effectLst/>
            </a:endParaRPr>
          </a:p>
          <a:p>
            <a:pPr marL="0" lvl="0" indent="0">
              <a:lnSpc>
                <a:spcPct val="100000"/>
              </a:lnSpc>
              <a:buNone/>
            </a:pPr>
            <a:endParaRPr kumimoji="0" lang="en-US" sz="2400" b="0" i="0" u="none" strike="noStrike" cap="none" normalizeH="0" baseline="0" dirty="0">
              <a:ln>
                <a:noFill/>
              </a:ln>
              <a:solidFill>
                <a:schemeClr val="tx1"/>
              </a:solidFill>
              <a:effectLst/>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0" y="1219200"/>
            <a:ext cx="5182323" cy="2581635"/>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0" y="3883030"/>
            <a:ext cx="5277587" cy="2276793"/>
          </a:xfrm>
          <a:prstGeom prst="rect">
            <a:avLst/>
          </a:prstGeom>
        </p:spPr>
      </p:pic>
    </p:spTree>
    <p:extLst>
      <p:ext uri="{BB962C8B-B14F-4D97-AF65-F5344CB8AC3E}">
        <p14:creationId xmlns:p14="http://schemas.microsoft.com/office/powerpoint/2010/main" val="3808001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5871"/>
            <a:ext cx="1673861" cy="689291"/>
          </a:xfrm>
          <a:prstGeom prst="rect">
            <a:avLst/>
          </a:prstGeom>
        </p:spPr>
        <p:txBody>
          <a:bodyPr vert="horz" wrap="square" lIns="0" tIns="12065" rIns="0" bIns="0" rtlCol="0">
            <a:spAutoFit/>
          </a:bodyPr>
          <a:lstStyle/>
          <a:p>
            <a:pPr marL="12700">
              <a:lnSpc>
                <a:spcPct val="100000"/>
              </a:lnSpc>
              <a:spcBef>
                <a:spcPts val="95"/>
              </a:spcBef>
            </a:pPr>
            <a:r>
              <a:rPr lang="en-US" spc="-65" dirty="0"/>
              <a:t>Vectors</a:t>
            </a:r>
            <a:endParaRPr spc="-65" dirty="0"/>
          </a:p>
        </p:txBody>
      </p:sp>
      <p:sp>
        <p:nvSpPr>
          <p:cNvPr id="14" name="object 1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4196" y="1536319"/>
            <a:ext cx="5653405" cy="3684904"/>
          </a:xfrm>
          <a:prstGeom prst="rect">
            <a:avLst/>
          </a:prstGeom>
        </p:spPr>
        <p:txBody>
          <a:bodyPr vert="horz" wrap="square" lIns="0" tIns="13335" rIns="0" bIns="0" rtlCol="0">
            <a:spAutoFit/>
          </a:bodyPr>
          <a:lstStyle/>
          <a:p>
            <a:pPr marL="352425" marR="6350"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95" dirty="0">
                <a:latin typeface="Times New Roman"/>
                <a:cs typeface="Times New Roman"/>
              </a:rPr>
              <a:t> </a:t>
            </a:r>
            <a:r>
              <a:rPr sz="2000" dirty="0">
                <a:latin typeface="Times New Roman"/>
                <a:cs typeface="Times New Roman"/>
              </a:rPr>
              <a:t>insert()</a:t>
            </a:r>
            <a:r>
              <a:rPr sz="2000" spc="100" dirty="0">
                <a:latin typeface="Times New Roman"/>
                <a:cs typeface="Times New Roman"/>
              </a:rPr>
              <a:t> </a:t>
            </a:r>
            <a:r>
              <a:rPr sz="2000" dirty="0">
                <a:latin typeface="Times New Roman"/>
                <a:cs typeface="Times New Roman"/>
              </a:rPr>
              <a:t>and</a:t>
            </a:r>
            <a:r>
              <a:rPr sz="2000" spc="100" dirty="0">
                <a:latin typeface="Times New Roman"/>
                <a:cs typeface="Times New Roman"/>
              </a:rPr>
              <a:t> </a:t>
            </a:r>
            <a:r>
              <a:rPr sz="2000" dirty="0">
                <a:latin typeface="Times New Roman"/>
                <a:cs typeface="Times New Roman"/>
              </a:rPr>
              <a:t>erase()</a:t>
            </a:r>
            <a:r>
              <a:rPr sz="2000" spc="95" dirty="0">
                <a:latin typeface="Times New Roman"/>
                <a:cs typeface="Times New Roman"/>
              </a:rPr>
              <a:t> </a:t>
            </a:r>
            <a:r>
              <a:rPr sz="2000" dirty="0">
                <a:latin typeface="Times New Roman"/>
                <a:cs typeface="Times New Roman"/>
              </a:rPr>
              <a:t>member</a:t>
            </a:r>
            <a:r>
              <a:rPr sz="2000" spc="100" dirty="0">
                <a:latin typeface="Times New Roman"/>
                <a:cs typeface="Times New Roman"/>
              </a:rPr>
              <a:t> </a:t>
            </a:r>
            <a:r>
              <a:rPr sz="2000" dirty="0">
                <a:latin typeface="Times New Roman"/>
                <a:cs typeface="Times New Roman"/>
              </a:rPr>
              <a:t>functions</a:t>
            </a:r>
            <a:r>
              <a:rPr sz="2000" spc="95" dirty="0">
                <a:latin typeface="Times New Roman"/>
                <a:cs typeface="Times New Roman"/>
              </a:rPr>
              <a:t> </a:t>
            </a:r>
            <a:r>
              <a:rPr sz="2000" dirty="0">
                <a:latin typeface="Times New Roman"/>
                <a:cs typeface="Times New Roman"/>
              </a:rPr>
              <a:t>insert</a:t>
            </a:r>
            <a:r>
              <a:rPr sz="2000" spc="85" dirty="0">
                <a:latin typeface="Times New Roman"/>
                <a:cs typeface="Times New Roman"/>
              </a:rPr>
              <a:t> </a:t>
            </a:r>
            <a:r>
              <a:rPr sz="2000" spc="-25" dirty="0">
                <a:latin typeface="Times New Roman"/>
                <a:cs typeface="Times New Roman"/>
              </a:rPr>
              <a:t>or 	</a:t>
            </a:r>
            <a:r>
              <a:rPr sz="2000" dirty="0">
                <a:latin typeface="Times New Roman"/>
                <a:cs typeface="Times New Roman"/>
              </a:rPr>
              <a:t>remove</a:t>
            </a:r>
            <a:r>
              <a:rPr sz="2000" spc="210" dirty="0">
                <a:latin typeface="Times New Roman"/>
                <a:cs typeface="Times New Roman"/>
              </a:rPr>
              <a:t> </a:t>
            </a:r>
            <a:r>
              <a:rPr sz="2000" dirty="0">
                <a:latin typeface="Times New Roman"/>
                <a:cs typeface="Times New Roman"/>
              </a:rPr>
              <a:t>an</a:t>
            </a:r>
            <a:r>
              <a:rPr sz="2000" spc="215" dirty="0">
                <a:latin typeface="Times New Roman"/>
                <a:cs typeface="Times New Roman"/>
              </a:rPr>
              <a:t> </a:t>
            </a:r>
            <a:r>
              <a:rPr sz="2000" dirty="0">
                <a:latin typeface="Times New Roman"/>
                <a:cs typeface="Times New Roman"/>
              </a:rPr>
              <a:t>element</a:t>
            </a:r>
            <a:r>
              <a:rPr sz="2000" spc="225" dirty="0">
                <a:latin typeface="Times New Roman"/>
                <a:cs typeface="Times New Roman"/>
              </a:rPr>
              <a:t> </a:t>
            </a:r>
            <a:r>
              <a:rPr sz="2000" dirty="0">
                <a:latin typeface="Times New Roman"/>
                <a:cs typeface="Times New Roman"/>
              </a:rPr>
              <a:t>from</a:t>
            </a:r>
            <a:r>
              <a:rPr sz="2000" spc="204" dirty="0">
                <a:latin typeface="Times New Roman"/>
                <a:cs typeface="Times New Roman"/>
              </a:rPr>
              <a:t> </a:t>
            </a:r>
            <a:r>
              <a:rPr sz="2000" dirty="0">
                <a:latin typeface="Times New Roman"/>
                <a:cs typeface="Times New Roman"/>
              </a:rPr>
              <a:t>an</a:t>
            </a:r>
            <a:r>
              <a:rPr sz="2000" spc="204" dirty="0">
                <a:latin typeface="Times New Roman"/>
                <a:cs typeface="Times New Roman"/>
              </a:rPr>
              <a:t> </a:t>
            </a:r>
            <a:r>
              <a:rPr sz="2000" dirty="0">
                <a:latin typeface="Times New Roman"/>
                <a:cs typeface="Times New Roman"/>
              </a:rPr>
              <a:t>arbitrary</a:t>
            </a:r>
            <a:r>
              <a:rPr sz="2000" spc="204" dirty="0">
                <a:latin typeface="Times New Roman"/>
                <a:cs typeface="Times New Roman"/>
              </a:rPr>
              <a:t> </a:t>
            </a:r>
            <a:r>
              <a:rPr sz="2000" dirty="0">
                <a:latin typeface="Times New Roman"/>
                <a:cs typeface="Times New Roman"/>
              </a:rPr>
              <a:t>location</a:t>
            </a:r>
            <a:r>
              <a:rPr sz="2000" spc="229" dirty="0">
                <a:latin typeface="Times New Roman"/>
                <a:cs typeface="Times New Roman"/>
              </a:rPr>
              <a:t> </a:t>
            </a:r>
            <a:r>
              <a:rPr sz="2000" dirty="0">
                <a:latin typeface="Times New Roman"/>
                <a:cs typeface="Times New Roman"/>
              </a:rPr>
              <a:t>in</a:t>
            </a:r>
            <a:r>
              <a:rPr sz="2000" spc="229" dirty="0">
                <a:latin typeface="Times New Roman"/>
                <a:cs typeface="Times New Roman"/>
              </a:rPr>
              <a:t> </a:t>
            </a:r>
            <a:r>
              <a:rPr sz="2000" spc="-50" dirty="0">
                <a:latin typeface="Times New Roman"/>
                <a:cs typeface="Times New Roman"/>
              </a:rPr>
              <a:t>a 	</a:t>
            </a:r>
            <a:r>
              <a:rPr sz="2000" spc="-10" dirty="0">
                <a:latin typeface="Times New Roman"/>
                <a:cs typeface="Times New Roman"/>
              </a:rPr>
              <a:t>container.</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These</a:t>
            </a:r>
            <a:r>
              <a:rPr sz="2000" spc="254" dirty="0">
                <a:latin typeface="Times New Roman"/>
                <a:cs typeface="Times New Roman"/>
              </a:rPr>
              <a:t> </a:t>
            </a:r>
            <a:r>
              <a:rPr sz="2000" dirty="0">
                <a:latin typeface="Times New Roman"/>
                <a:cs typeface="Times New Roman"/>
              </a:rPr>
              <a:t>functions</a:t>
            </a:r>
            <a:r>
              <a:rPr sz="2000" spc="280" dirty="0">
                <a:latin typeface="Times New Roman"/>
                <a:cs typeface="Times New Roman"/>
              </a:rPr>
              <a:t> </a:t>
            </a:r>
            <a:r>
              <a:rPr sz="2000" dirty="0">
                <a:latin typeface="Times New Roman"/>
                <a:cs typeface="Times New Roman"/>
              </a:rPr>
              <a:t>aren’t</a:t>
            </a:r>
            <a:r>
              <a:rPr sz="2000" spc="254" dirty="0">
                <a:latin typeface="Times New Roman"/>
                <a:cs typeface="Times New Roman"/>
              </a:rPr>
              <a:t> </a:t>
            </a:r>
            <a:r>
              <a:rPr sz="2000" dirty="0">
                <a:latin typeface="Times New Roman"/>
                <a:cs typeface="Times New Roman"/>
              </a:rPr>
              <a:t>very</a:t>
            </a:r>
            <a:r>
              <a:rPr sz="2000" spc="265" dirty="0">
                <a:latin typeface="Times New Roman"/>
                <a:cs typeface="Times New Roman"/>
              </a:rPr>
              <a:t> </a:t>
            </a:r>
            <a:r>
              <a:rPr sz="2000" dirty="0">
                <a:latin typeface="Times New Roman"/>
                <a:cs typeface="Times New Roman"/>
              </a:rPr>
              <a:t>efficient</a:t>
            </a:r>
            <a:r>
              <a:rPr sz="2000" spc="275" dirty="0">
                <a:latin typeface="Times New Roman"/>
                <a:cs typeface="Times New Roman"/>
              </a:rPr>
              <a:t> </a:t>
            </a:r>
            <a:r>
              <a:rPr sz="2000" dirty="0">
                <a:latin typeface="Times New Roman"/>
                <a:cs typeface="Times New Roman"/>
              </a:rPr>
              <a:t>with</a:t>
            </a:r>
            <a:r>
              <a:rPr sz="2000" spc="265" dirty="0">
                <a:latin typeface="Times New Roman"/>
                <a:cs typeface="Times New Roman"/>
              </a:rPr>
              <a:t> </a:t>
            </a:r>
            <a:r>
              <a:rPr sz="2000" spc="-10" dirty="0">
                <a:latin typeface="Times New Roman"/>
                <a:cs typeface="Times New Roman"/>
              </a:rPr>
              <a:t>vectors, 	</a:t>
            </a:r>
            <a:r>
              <a:rPr sz="2000" dirty="0">
                <a:latin typeface="Times New Roman"/>
                <a:cs typeface="Times New Roman"/>
              </a:rPr>
              <a:t>since</a:t>
            </a:r>
            <a:r>
              <a:rPr sz="2000" spc="15" dirty="0">
                <a:latin typeface="Times New Roman"/>
                <a:cs typeface="Times New Roman"/>
              </a:rPr>
              <a:t> </a:t>
            </a:r>
            <a:r>
              <a:rPr sz="2000" dirty="0">
                <a:latin typeface="Times New Roman"/>
                <a:cs typeface="Times New Roman"/>
              </a:rPr>
              <a:t>all</a:t>
            </a:r>
            <a:r>
              <a:rPr sz="2000" spc="20"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elements</a:t>
            </a:r>
            <a:r>
              <a:rPr sz="2000" spc="35" dirty="0">
                <a:latin typeface="Times New Roman"/>
                <a:cs typeface="Times New Roman"/>
              </a:rPr>
              <a:t> </a:t>
            </a:r>
            <a:r>
              <a:rPr sz="2000" dirty="0">
                <a:latin typeface="Times New Roman"/>
                <a:cs typeface="Times New Roman"/>
              </a:rPr>
              <a:t>above</a:t>
            </a:r>
            <a:r>
              <a:rPr sz="2000" spc="20"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insertion</a:t>
            </a:r>
            <a:r>
              <a:rPr sz="2000" spc="30" dirty="0">
                <a:latin typeface="Times New Roman"/>
                <a:cs typeface="Times New Roman"/>
              </a:rPr>
              <a:t> </a:t>
            </a:r>
            <a:r>
              <a:rPr sz="2000" dirty="0">
                <a:latin typeface="Times New Roman"/>
                <a:cs typeface="Times New Roman"/>
              </a:rPr>
              <a:t>or</a:t>
            </a:r>
            <a:r>
              <a:rPr sz="2000" spc="10" dirty="0">
                <a:latin typeface="Times New Roman"/>
                <a:cs typeface="Times New Roman"/>
              </a:rPr>
              <a:t> </a:t>
            </a:r>
            <a:r>
              <a:rPr sz="2000" spc="-10" dirty="0">
                <a:latin typeface="Times New Roman"/>
                <a:cs typeface="Times New Roman"/>
              </a:rPr>
              <a:t>erasure 	</a:t>
            </a:r>
            <a:r>
              <a:rPr sz="2000" dirty="0">
                <a:latin typeface="Times New Roman"/>
                <a:cs typeface="Times New Roman"/>
              </a:rPr>
              <a:t>must</a:t>
            </a:r>
            <a:r>
              <a:rPr sz="2000" spc="114" dirty="0">
                <a:latin typeface="Times New Roman"/>
                <a:cs typeface="Times New Roman"/>
              </a:rPr>
              <a:t> </a:t>
            </a:r>
            <a:r>
              <a:rPr sz="2000" dirty="0">
                <a:latin typeface="Times New Roman"/>
                <a:cs typeface="Times New Roman"/>
              </a:rPr>
              <a:t>be</a:t>
            </a:r>
            <a:r>
              <a:rPr sz="2000" spc="105" dirty="0">
                <a:latin typeface="Times New Roman"/>
                <a:cs typeface="Times New Roman"/>
              </a:rPr>
              <a:t> </a:t>
            </a:r>
            <a:r>
              <a:rPr sz="2000" dirty="0">
                <a:latin typeface="Times New Roman"/>
                <a:cs typeface="Times New Roman"/>
              </a:rPr>
              <a:t>moved</a:t>
            </a:r>
            <a:r>
              <a:rPr sz="2000" spc="130" dirty="0">
                <a:latin typeface="Times New Roman"/>
                <a:cs typeface="Times New Roman"/>
              </a:rPr>
              <a:t> </a:t>
            </a:r>
            <a:r>
              <a:rPr sz="2000" dirty="0">
                <a:latin typeface="Times New Roman"/>
                <a:cs typeface="Times New Roman"/>
              </a:rPr>
              <a:t>to</a:t>
            </a:r>
            <a:r>
              <a:rPr sz="2000" spc="114" dirty="0">
                <a:latin typeface="Times New Roman"/>
                <a:cs typeface="Times New Roman"/>
              </a:rPr>
              <a:t> </a:t>
            </a:r>
            <a:r>
              <a:rPr sz="2000" dirty="0">
                <a:latin typeface="Times New Roman"/>
                <a:cs typeface="Times New Roman"/>
              </a:rPr>
              <a:t>make</a:t>
            </a:r>
            <a:r>
              <a:rPr sz="2000" spc="130" dirty="0">
                <a:latin typeface="Times New Roman"/>
                <a:cs typeface="Times New Roman"/>
              </a:rPr>
              <a:t> </a:t>
            </a:r>
            <a:r>
              <a:rPr sz="2000" dirty="0">
                <a:latin typeface="Times New Roman"/>
                <a:cs typeface="Times New Roman"/>
              </a:rPr>
              <a:t>space</a:t>
            </a:r>
            <a:r>
              <a:rPr sz="2000" spc="114" dirty="0">
                <a:latin typeface="Times New Roman"/>
                <a:cs typeface="Times New Roman"/>
              </a:rPr>
              <a:t> </a:t>
            </a:r>
            <a:r>
              <a:rPr sz="2000" dirty="0">
                <a:latin typeface="Times New Roman"/>
                <a:cs typeface="Times New Roman"/>
              </a:rPr>
              <a:t>for</a:t>
            </a:r>
            <a:r>
              <a:rPr sz="2000" spc="105" dirty="0">
                <a:latin typeface="Times New Roman"/>
                <a:cs typeface="Times New Roman"/>
              </a:rPr>
              <a:t> </a:t>
            </a:r>
            <a:r>
              <a:rPr sz="2000" dirty="0">
                <a:latin typeface="Times New Roman"/>
                <a:cs typeface="Times New Roman"/>
              </a:rPr>
              <a:t>the</a:t>
            </a:r>
            <a:r>
              <a:rPr sz="2000" spc="95" dirty="0">
                <a:latin typeface="Times New Roman"/>
                <a:cs typeface="Times New Roman"/>
              </a:rPr>
              <a:t> </a:t>
            </a:r>
            <a:r>
              <a:rPr sz="2000" dirty="0">
                <a:latin typeface="Times New Roman"/>
                <a:cs typeface="Times New Roman"/>
              </a:rPr>
              <a:t>new</a:t>
            </a:r>
            <a:r>
              <a:rPr sz="2000" spc="125" dirty="0">
                <a:latin typeface="Times New Roman"/>
                <a:cs typeface="Times New Roman"/>
              </a:rPr>
              <a:t> </a:t>
            </a:r>
            <a:r>
              <a:rPr sz="2000" spc="-10" dirty="0">
                <a:latin typeface="Times New Roman"/>
                <a:cs typeface="Times New Roman"/>
              </a:rPr>
              <a:t>element 	</a:t>
            </a:r>
            <a:r>
              <a:rPr sz="2000" dirty="0">
                <a:latin typeface="Times New Roman"/>
                <a:cs typeface="Times New Roman"/>
              </a:rPr>
              <a:t>or</a:t>
            </a:r>
            <a:r>
              <a:rPr sz="2000" spc="-25" dirty="0">
                <a:latin typeface="Times New Roman"/>
                <a:cs typeface="Times New Roman"/>
              </a:rPr>
              <a:t> </a:t>
            </a:r>
            <a:r>
              <a:rPr sz="2000" dirty="0">
                <a:latin typeface="Times New Roman"/>
                <a:cs typeface="Times New Roman"/>
              </a:rPr>
              <a:t>close</a:t>
            </a:r>
            <a:r>
              <a:rPr sz="2000" spc="-10" dirty="0">
                <a:latin typeface="Times New Roman"/>
                <a:cs typeface="Times New Roman"/>
              </a:rPr>
              <a:t> </a:t>
            </a:r>
            <a:r>
              <a:rPr sz="2000" dirty="0">
                <a:latin typeface="Times New Roman"/>
                <a:cs typeface="Times New Roman"/>
              </a:rPr>
              <a:t>up</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space</a:t>
            </a:r>
            <a:r>
              <a:rPr sz="2000" spc="-20" dirty="0">
                <a:latin typeface="Times New Roman"/>
                <a:cs typeface="Times New Roman"/>
              </a:rPr>
              <a:t> </a:t>
            </a:r>
            <a:r>
              <a:rPr sz="2000" dirty="0">
                <a:latin typeface="Times New Roman"/>
                <a:cs typeface="Times New Roman"/>
              </a:rPr>
              <a:t>where</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erased</a:t>
            </a:r>
            <a:r>
              <a:rPr sz="2000" spc="-15" dirty="0">
                <a:latin typeface="Times New Roman"/>
                <a:cs typeface="Times New Roman"/>
              </a:rPr>
              <a:t> </a:t>
            </a:r>
            <a:r>
              <a:rPr sz="2000" dirty="0">
                <a:latin typeface="Times New Roman"/>
                <a:cs typeface="Times New Roman"/>
              </a:rPr>
              <a:t>item</a:t>
            </a:r>
            <a:r>
              <a:rPr sz="2000" spc="-20" dirty="0">
                <a:latin typeface="Times New Roman"/>
                <a:cs typeface="Times New Roman"/>
              </a:rPr>
              <a:t> was.</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The</a:t>
            </a:r>
            <a:r>
              <a:rPr sz="2000" spc="5" dirty="0">
                <a:latin typeface="Times New Roman"/>
                <a:cs typeface="Times New Roman"/>
              </a:rPr>
              <a:t> </a:t>
            </a:r>
            <a:r>
              <a:rPr sz="2000" b="1" dirty="0">
                <a:latin typeface="Times New Roman"/>
                <a:cs typeface="Times New Roman"/>
              </a:rPr>
              <a:t>insert()</a:t>
            </a:r>
            <a:r>
              <a:rPr sz="2000" b="1" spc="5" dirty="0">
                <a:latin typeface="Times New Roman"/>
                <a:cs typeface="Times New Roman"/>
              </a:rPr>
              <a:t> </a:t>
            </a:r>
            <a:r>
              <a:rPr sz="2000" dirty="0">
                <a:latin typeface="Times New Roman"/>
                <a:cs typeface="Times New Roman"/>
              </a:rPr>
              <a:t>member</a:t>
            </a:r>
            <a:r>
              <a:rPr sz="2000" spc="10" dirty="0">
                <a:latin typeface="Times New Roman"/>
                <a:cs typeface="Times New Roman"/>
              </a:rPr>
              <a:t> </a:t>
            </a:r>
            <a:r>
              <a:rPr sz="2000" dirty="0">
                <a:latin typeface="Times New Roman"/>
                <a:cs typeface="Times New Roman"/>
              </a:rPr>
              <a:t>function</a:t>
            </a:r>
            <a:r>
              <a:rPr sz="2000" spc="5" dirty="0">
                <a:latin typeface="Times New Roman"/>
                <a:cs typeface="Times New Roman"/>
              </a:rPr>
              <a:t> </a:t>
            </a:r>
            <a:r>
              <a:rPr sz="2000" dirty="0">
                <a:latin typeface="Times New Roman"/>
                <a:cs typeface="Times New Roman"/>
              </a:rPr>
              <a:t>takes</a:t>
            </a:r>
            <a:r>
              <a:rPr sz="2000" spc="-5" dirty="0">
                <a:latin typeface="Times New Roman"/>
                <a:cs typeface="Times New Roman"/>
              </a:rPr>
              <a:t> </a:t>
            </a:r>
            <a:r>
              <a:rPr sz="2000" dirty="0">
                <a:latin typeface="Times New Roman"/>
                <a:cs typeface="Times New Roman"/>
              </a:rPr>
              <a:t>two</a:t>
            </a:r>
            <a:r>
              <a:rPr sz="2000" spc="10" dirty="0">
                <a:latin typeface="Times New Roman"/>
                <a:cs typeface="Times New Roman"/>
              </a:rPr>
              <a:t> </a:t>
            </a:r>
            <a:r>
              <a:rPr sz="2000" spc="-10" dirty="0">
                <a:latin typeface="Times New Roman"/>
                <a:cs typeface="Times New Roman"/>
              </a:rPr>
              <a:t>arguments: 	</a:t>
            </a:r>
            <a:r>
              <a:rPr sz="2000" dirty="0">
                <a:latin typeface="Times New Roman"/>
                <a:cs typeface="Times New Roman"/>
              </a:rPr>
              <a:t>the</a:t>
            </a:r>
            <a:r>
              <a:rPr sz="2000" spc="375" dirty="0">
                <a:latin typeface="Times New Roman"/>
                <a:cs typeface="Times New Roman"/>
              </a:rPr>
              <a:t> </a:t>
            </a:r>
            <a:r>
              <a:rPr sz="2000" dirty="0">
                <a:latin typeface="Times New Roman"/>
                <a:cs typeface="Times New Roman"/>
              </a:rPr>
              <a:t>place</a:t>
            </a:r>
            <a:r>
              <a:rPr sz="2000" spc="380" dirty="0">
                <a:latin typeface="Times New Roman"/>
                <a:cs typeface="Times New Roman"/>
              </a:rPr>
              <a:t> </a:t>
            </a:r>
            <a:r>
              <a:rPr sz="2000" dirty="0">
                <a:latin typeface="Times New Roman"/>
                <a:cs typeface="Times New Roman"/>
              </a:rPr>
              <a:t>where</a:t>
            </a:r>
            <a:r>
              <a:rPr sz="2000" spc="385" dirty="0">
                <a:latin typeface="Times New Roman"/>
                <a:cs typeface="Times New Roman"/>
              </a:rPr>
              <a:t> </a:t>
            </a:r>
            <a:r>
              <a:rPr sz="2000" dirty="0">
                <a:latin typeface="Times New Roman"/>
                <a:cs typeface="Times New Roman"/>
              </a:rPr>
              <a:t>an</a:t>
            </a:r>
            <a:r>
              <a:rPr sz="2000" spc="390" dirty="0">
                <a:latin typeface="Times New Roman"/>
                <a:cs typeface="Times New Roman"/>
              </a:rPr>
              <a:t> </a:t>
            </a:r>
            <a:r>
              <a:rPr sz="2000" dirty="0">
                <a:latin typeface="Times New Roman"/>
                <a:cs typeface="Times New Roman"/>
              </a:rPr>
              <a:t>element</a:t>
            </a:r>
            <a:r>
              <a:rPr sz="2000" spc="380" dirty="0">
                <a:latin typeface="Times New Roman"/>
                <a:cs typeface="Times New Roman"/>
              </a:rPr>
              <a:t> </a:t>
            </a:r>
            <a:r>
              <a:rPr sz="2000" dirty="0">
                <a:latin typeface="Times New Roman"/>
                <a:cs typeface="Times New Roman"/>
              </a:rPr>
              <a:t>will</a:t>
            </a:r>
            <a:r>
              <a:rPr sz="2000" spc="375" dirty="0">
                <a:latin typeface="Times New Roman"/>
                <a:cs typeface="Times New Roman"/>
              </a:rPr>
              <a:t> </a:t>
            </a:r>
            <a:r>
              <a:rPr sz="2000" dirty="0">
                <a:latin typeface="Times New Roman"/>
                <a:cs typeface="Times New Roman"/>
              </a:rPr>
              <a:t>be</a:t>
            </a:r>
            <a:r>
              <a:rPr sz="2000" spc="380" dirty="0">
                <a:latin typeface="Times New Roman"/>
                <a:cs typeface="Times New Roman"/>
              </a:rPr>
              <a:t> </a:t>
            </a:r>
            <a:r>
              <a:rPr sz="2000" dirty="0">
                <a:latin typeface="Times New Roman"/>
                <a:cs typeface="Times New Roman"/>
              </a:rPr>
              <a:t>inserted</a:t>
            </a:r>
            <a:r>
              <a:rPr sz="2000" spc="390" dirty="0">
                <a:latin typeface="Times New Roman"/>
                <a:cs typeface="Times New Roman"/>
              </a:rPr>
              <a:t> </a:t>
            </a:r>
            <a:r>
              <a:rPr sz="2000" dirty="0">
                <a:latin typeface="Times New Roman"/>
                <a:cs typeface="Times New Roman"/>
              </a:rPr>
              <a:t>in</a:t>
            </a:r>
            <a:r>
              <a:rPr sz="2000" spc="390" dirty="0">
                <a:latin typeface="Times New Roman"/>
                <a:cs typeface="Times New Roman"/>
              </a:rPr>
              <a:t> </a:t>
            </a:r>
            <a:r>
              <a:rPr sz="2000" spc="-50" dirty="0">
                <a:latin typeface="Times New Roman"/>
                <a:cs typeface="Times New Roman"/>
              </a:rPr>
              <a:t>a 	</a:t>
            </a:r>
            <a:r>
              <a:rPr sz="2000" spc="-10" dirty="0">
                <a:latin typeface="Times New Roman"/>
                <a:cs typeface="Times New Roman"/>
              </a:rPr>
              <a:t>container,</a:t>
            </a:r>
            <a:r>
              <a:rPr sz="2000" spc="-5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value</a:t>
            </a:r>
            <a:r>
              <a:rPr sz="2000" spc="-1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spc="-10" dirty="0">
                <a:latin typeface="Times New Roman"/>
                <a:cs typeface="Times New Roman"/>
              </a:rPr>
              <a:t>element.</a:t>
            </a:r>
            <a:endParaRPr sz="2000">
              <a:latin typeface="Times New Roman"/>
              <a:cs typeface="Times New Roman"/>
            </a:endParaRPr>
          </a:p>
          <a:p>
            <a:pPr marL="352425" indent="-339725" algn="just">
              <a:lnSpc>
                <a:spcPct val="100000"/>
              </a:lnSpc>
              <a:buFont typeface="Arial MT"/>
              <a:buChar char="•"/>
              <a:tabLst>
                <a:tab pos="352425" algn="l"/>
              </a:tabLst>
            </a:pPr>
            <a:r>
              <a:rPr sz="2000" dirty="0">
                <a:latin typeface="Times New Roman"/>
                <a:cs typeface="Times New Roman"/>
              </a:rPr>
              <a:t>The</a:t>
            </a:r>
            <a:r>
              <a:rPr sz="2000" spc="145" dirty="0">
                <a:latin typeface="Times New Roman"/>
                <a:cs typeface="Times New Roman"/>
              </a:rPr>
              <a:t> </a:t>
            </a:r>
            <a:r>
              <a:rPr sz="2000" b="1" dirty="0">
                <a:latin typeface="Times New Roman"/>
                <a:cs typeface="Times New Roman"/>
              </a:rPr>
              <a:t>erase()</a:t>
            </a:r>
            <a:r>
              <a:rPr sz="2000" b="1" spc="155" dirty="0">
                <a:latin typeface="Times New Roman"/>
                <a:cs typeface="Times New Roman"/>
              </a:rPr>
              <a:t> </a:t>
            </a:r>
            <a:r>
              <a:rPr sz="2000" dirty="0">
                <a:latin typeface="Times New Roman"/>
                <a:cs typeface="Times New Roman"/>
              </a:rPr>
              <a:t>member</a:t>
            </a:r>
            <a:r>
              <a:rPr sz="2000" spc="155" dirty="0">
                <a:latin typeface="Times New Roman"/>
                <a:cs typeface="Times New Roman"/>
              </a:rPr>
              <a:t> </a:t>
            </a:r>
            <a:r>
              <a:rPr sz="2000" dirty="0">
                <a:latin typeface="Times New Roman"/>
                <a:cs typeface="Times New Roman"/>
              </a:rPr>
              <a:t>function</a:t>
            </a:r>
            <a:r>
              <a:rPr sz="2000" spc="135" dirty="0">
                <a:latin typeface="Times New Roman"/>
                <a:cs typeface="Times New Roman"/>
              </a:rPr>
              <a:t> </a:t>
            </a:r>
            <a:r>
              <a:rPr sz="2000" dirty="0">
                <a:latin typeface="Times New Roman"/>
                <a:cs typeface="Times New Roman"/>
              </a:rPr>
              <a:t>removes</a:t>
            </a:r>
            <a:r>
              <a:rPr sz="2000" spc="135" dirty="0">
                <a:latin typeface="Times New Roman"/>
                <a:cs typeface="Times New Roman"/>
              </a:rPr>
              <a:t> </a:t>
            </a:r>
            <a:r>
              <a:rPr sz="2000" dirty="0">
                <a:latin typeface="Times New Roman"/>
                <a:cs typeface="Times New Roman"/>
              </a:rPr>
              <a:t>the</a:t>
            </a:r>
            <a:r>
              <a:rPr sz="2000" spc="135" dirty="0">
                <a:latin typeface="Times New Roman"/>
                <a:cs typeface="Times New Roman"/>
              </a:rPr>
              <a:t> </a:t>
            </a:r>
            <a:r>
              <a:rPr sz="2000" spc="-10" dirty="0">
                <a:latin typeface="Times New Roman"/>
                <a:cs typeface="Times New Roman"/>
              </a:rPr>
              <a:t>element</a:t>
            </a:r>
            <a:endParaRPr sz="2000">
              <a:latin typeface="Times New Roman"/>
              <a:cs typeface="Times New Roman"/>
            </a:endParaRPr>
          </a:p>
          <a:p>
            <a:pPr marL="355600" algn="just">
              <a:lnSpc>
                <a:spcPct val="100000"/>
              </a:lnSpc>
            </a:pPr>
            <a:r>
              <a:rPr sz="2000" dirty="0">
                <a:latin typeface="Times New Roman"/>
                <a:cs typeface="Times New Roman"/>
              </a:rPr>
              <a:t>at</a:t>
            </a:r>
            <a:r>
              <a:rPr sz="2000" spc="-30"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dirty="0">
                <a:latin typeface="Times New Roman"/>
                <a:cs typeface="Times New Roman"/>
              </a:rPr>
              <a:t>specified</a:t>
            </a:r>
            <a:r>
              <a:rPr sz="2000" spc="-40" dirty="0">
                <a:latin typeface="Times New Roman"/>
                <a:cs typeface="Times New Roman"/>
              </a:rPr>
              <a:t> </a:t>
            </a:r>
            <a:r>
              <a:rPr sz="2000" dirty="0">
                <a:latin typeface="Times New Roman"/>
                <a:cs typeface="Times New Roman"/>
              </a:rPr>
              <a:t>location.</a:t>
            </a:r>
            <a:r>
              <a:rPr sz="2000" spc="-45" dirty="0">
                <a:latin typeface="Times New Roman"/>
                <a:cs typeface="Times New Roman"/>
              </a:rPr>
              <a:t> </a:t>
            </a:r>
            <a:r>
              <a:rPr sz="2000" b="1" i="1" dirty="0">
                <a:latin typeface="Times New Roman"/>
                <a:cs typeface="Times New Roman"/>
              </a:rPr>
              <a:t>erase(itr_start,</a:t>
            </a:r>
            <a:r>
              <a:rPr sz="2000" b="1" i="1" spc="-50" dirty="0">
                <a:latin typeface="Times New Roman"/>
                <a:cs typeface="Times New Roman"/>
              </a:rPr>
              <a:t> </a:t>
            </a:r>
            <a:r>
              <a:rPr sz="2000" b="1" i="1" spc="-10" dirty="0">
                <a:latin typeface="Times New Roman"/>
                <a:cs typeface="Times New Roman"/>
              </a:rPr>
              <a:t>itr_end).</a:t>
            </a:r>
            <a:endParaRPr sz="2000">
              <a:latin typeface="Times New Roman"/>
              <a:cs typeface="Times New Roman"/>
            </a:endParaRPr>
          </a:p>
        </p:txBody>
      </p:sp>
      <p:pic>
        <p:nvPicPr>
          <p:cNvPr id="4" name="object 4"/>
          <p:cNvPicPr/>
          <p:nvPr/>
        </p:nvPicPr>
        <p:blipFill>
          <a:blip r:embed="rId2" cstate="print"/>
          <a:stretch>
            <a:fillRect/>
          </a:stretch>
        </p:blipFill>
        <p:spPr>
          <a:xfrm>
            <a:off x="7303081" y="864228"/>
            <a:ext cx="1947851" cy="609358"/>
          </a:xfrm>
          <a:prstGeom prst="rect">
            <a:avLst/>
          </a:prstGeom>
        </p:spPr>
      </p:pic>
      <p:pic>
        <p:nvPicPr>
          <p:cNvPr id="5" name="object 5"/>
          <p:cNvPicPr/>
          <p:nvPr/>
        </p:nvPicPr>
        <p:blipFill>
          <a:blip r:embed="rId3" cstate="print"/>
          <a:stretch>
            <a:fillRect/>
          </a:stretch>
        </p:blipFill>
        <p:spPr>
          <a:xfrm>
            <a:off x="7269876" y="1629251"/>
            <a:ext cx="3817162" cy="609004"/>
          </a:xfrm>
          <a:prstGeom prst="rect">
            <a:avLst/>
          </a:prstGeom>
        </p:spPr>
      </p:pic>
      <p:pic>
        <p:nvPicPr>
          <p:cNvPr id="6" name="object 6"/>
          <p:cNvPicPr/>
          <p:nvPr/>
        </p:nvPicPr>
        <p:blipFill>
          <a:blip r:embed="rId4" cstate="print"/>
          <a:stretch>
            <a:fillRect/>
          </a:stretch>
        </p:blipFill>
        <p:spPr>
          <a:xfrm>
            <a:off x="7705425" y="2396314"/>
            <a:ext cx="2545958" cy="154275"/>
          </a:xfrm>
          <a:prstGeom prst="rect">
            <a:avLst/>
          </a:prstGeom>
        </p:spPr>
      </p:pic>
      <p:pic>
        <p:nvPicPr>
          <p:cNvPr id="7" name="object 7"/>
          <p:cNvPicPr/>
          <p:nvPr/>
        </p:nvPicPr>
        <p:blipFill>
          <a:blip r:embed="rId5" cstate="print"/>
          <a:stretch>
            <a:fillRect/>
          </a:stretch>
        </p:blipFill>
        <p:spPr>
          <a:xfrm>
            <a:off x="7702690" y="2729878"/>
            <a:ext cx="3031127" cy="619479"/>
          </a:xfrm>
          <a:prstGeom prst="rect">
            <a:avLst/>
          </a:prstGeom>
        </p:spPr>
      </p:pic>
      <p:pic>
        <p:nvPicPr>
          <p:cNvPr id="8" name="object 8"/>
          <p:cNvPicPr/>
          <p:nvPr/>
        </p:nvPicPr>
        <p:blipFill>
          <a:blip r:embed="rId6" cstate="print"/>
          <a:stretch>
            <a:fillRect/>
          </a:stretch>
        </p:blipFill>
        <p:spPr>
          <a:xfrm>
            <a:off x="7735876" y="3479014"/>
            <a:ext cx="2743435" cy="155170"/>
          </a:xfrm>
          <a:prstGeom prst="rect">
            <a:avLst/>
          </a:prstGeom>
        </p:spPr>
      </p:pic>
      <p:pic>
        <p:nvPicPr>
          <p:cNvPr id="9" name="object 9"/>
          <p:cNvPicPr/>
          <p:nvPr/>
        </p:nvPicPr>
        <p:blipFill>
          <a:blip r:embed="rId7" cstate="print"/>
          <a:stretch>
            <a:fillRect/>
          </a:stretch>
        </p:blipFill>
        <p:spPr>
          <a:xfrm>
            <a:off x="7735888" y="3797033"/>
            <a:ext cx="3031837" cy="618394"/>
          </a:xfrm>
          <a:prstGeom prst="rect">
            <a:avLst/>
          </a:prstGeom>
        </p:spPr>
      </p:pic>
      <p:pic>
        <p:nvPicPr>
          <p:cNvPr id="10" name="object 10"/>
          <p:cNvPicPr/>
          <p:nvPr/>
        </p:nvPicPr>
        <p:blipFill>
          <a:blip r:embed="rId8" cstate="print"/>
          <a:stretch>
            <a:fillRect/>
          </a:stretch>
        </p:blipFill>
        <p:spPr>
          <a:xfrm>
            <a:off x="7713747" y="4575114"/>
            <a:ext cx="2245156" cy="154917"/>
          </a:xfrm>
          <a:prstGeom prst="rect">
            <a:avLst/>
          </a:prstGeom>
        </p:spPr>
      </p:pic>
      <p:pic>
        <p:nvPicPr>
          <p:cNvPr id="11" name="object 11"/>
          <p:cNvPicPr/>
          <p:nvPr/>
        </p:nvPicPr>
        <p:blipFill>
          <a:blip r:embed="rId9" cstate="print"/>
          <a:stretch>
            <a:fillRect/>
          </a:stretch>
        </p:blipFill>
        <p:spPr>
          <a:xfrm>
            <a:off x="7683283" y="4885232"/>
            <a:ext cx="3032608" cy="620166"/>
          </a:xfrm>
          <a:prstGeom prst="rect">
            <a:avLst/>
          </a:prstGeom>
        </p:spPr>
      </p:pic>
      <p:pic>
        <p:nvPicPr>
          <p:cNvPr id="12" name="object 12"/>
          <p:cNvPicPr/>
          <p:nvPr/>
        </p:nvPicPr>
        <p:blipFill>
          <a:blip r:embed="rId10" cstate="print"/>
          <a:stretch>
            <a:fillRect/>
          </a:stretch>
        </p:blipFill>
        <p:spPr>
          <a:xfrm>
            <a:off x="7716490" y="5625910"/>
            <a:ext cx="1261805" cy="598389"/>
          </a:xfrm>
          <a:prstGeom prst="rect">
            <a:avLst/>
          </a:prstGeom>
        </p:spPr>
      </p:pic>
      <p:pic>
        <p:nvPicPr>
          <p:cNvPr id="13" name="object 13"/>
          <p:cNvPicPr/>
          <p:nvPr/>
        </p:nvPicPr>
        <p:blipFill>
          <a:blip r:embed="rId11" cstate="print"/>
          <a:stretch>
            <a:fillRect/>
          </a:stretch>
        </p:blipFill>
        <p:spPr>
          <a:xfrm>
            <a:off x="3434752" y="5290264"/>
            <a:ext cx="3661335" cy="940514"/>
          </a:xfrm>
          <a:prstGeom prst="rect">
            <a:avLst/>
          </a:prstGeom>
        </p:spPr>
      </p:pic>
      <p:sp>
        <p:nvSpPr>
          <p:cNvPr id="16" name="object 16"/>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7" name="object 17"/>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8" name="Date Placeholder 17">
            <a:extLst>
              <a:ext uri="{FF2B5EF4-FFF2-40B4-BE49-F238E27FC236}">
                <a16:creationId xmlns:a16="http://schemas.microsoft.com/office/drawing/2014/main" id="{87BED3A7-3E22-5DB9-95C4-064E28A52CAF}"/>
              </a:ext>
            </a:extLst>
          </p:cNvPr>
          <p:cNvSpPr>
            <a:spLocks noGrp="1"/>
          </p:cNvSpPr>
          <p:nvPr>
            <p:ph type="dt" sz="half" idx="10"/>
          </p:nvPr>
        </p:nvSpPr>
        <p:spPr/>
        <p:txBody>
          <a:bodyPr/>
          <a:lstStyle/>
          <a:p>
            <a:fld id="{DFAB2FE9-FCA9-4428-8F10-8058BA72C6FF}" type="datetime1">
              <a:rPr lang="en-US" smtClean="0"/>
              <a:t>11/17/2025</a:t>
            </a:fld>
            <a:endParaRPr lang="en-US"/>
          </a:p>
        </p:txBody>
      </p:sp>
      <p:sp>
        <p:nvSpPr>
          <p:cNvPr id="19" name="Slide Number Placeholder 18">
            <a:extLst>
              <a:ext uri="{FF2B5EF4-FFF2-40B4-BE49-F238E27FC236}">
                <a16:creationId xmlns:a16="http://schemas.microsoft.com/office/drawing/2014/main" id="{54491749-D6C8-873C-C472-7763A5061CC8}"/>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34</a:t>
            </a:fld>
            <a:endParaRPr spc="-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5871"/>
            <a:ext cx="1673861" cy="689291"/>
          </a:xfrm>
          <a:prstGeom prst="rect">
            <a:avLst/>
          </a:prstGeom>
        </p:spPr>
        <p:txBody>
          <a:bodyPr vert="horz" wrap="square" lIns="0" tIns="12065" rIns="0" bIns="0" rtlCol="0">
            <a:spAutoFit/>
          </a:bodyPr>
          <a:lstStyle/>
          <a:p>
            <a:pPr marL="12700">
              <a:lnSpc>
                <a:spcPct val="100000"/>
              </a:lnSpc>
              <a:spcBef>
                <a:spcPts val="95"/>
              </a:spcBef>
            </a:pPr>
            <a:r>
              <a:rPr lang="en-US" spc="-65" dirty="0"/>
              <a:t>Vectors</a:t>
            </a:r>
            <a:endParaRPr spc="-65" dirty="0"/>
          </a:p>
        </p:txBody>
      </p:sp>
      <p:sp>
        <p:nvSpPr>
          <p:cNvPr id="14" name="object 1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4196" y="1536319"/>
            <a:ext cx="5653405" cy="3684904"/>
          </a:xfrm>
          <a:prstGeom prst="rect">
            <a:avLst/>
          </a:prstGeom>
        </p:spPr>
        <p:txBody>
          <a:bodyPr vert="horz" wrap="square" lIns="0" tIns="13335" rIns="0" bIns="0" rtlCol="0">
            <a:spAutoFit/>
          </a:bodyPr>
          <a:lstStyle/>
          <a:p>
            <a:pPr marL="352425" marR="6350"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95" dirty="0">
                <a:latin typeface="Times New Roman"/>
                <a:cs typeface="Times New Roman"/>
              </a:rPr>
              <a:t> </a:t>
            </a:r>
            <a:r>
              <a:rPr sz="2000" dirty="0">
                <a:latin typeface="Times New Roman"/>
                <a:cs typeface="Times New Roman"/>
              </a:rPr>
              <a:t>insert()</a:t>
            </a:r>
            <a:r>
              <a:rPr sz="2000" spc="100" dirty="0">
                <a:latin typeface="Times New Roman"/>
                <a:cs typeface="Times New Roman"/>
              </a:rPr>
              <a:t> </a:t>
            </a:r>
            <a:r>
              <a:rPr sz="2000" dirty="0">
                <a:latin typeface="Times New Roman"/>
                <a:cs typeface="Times New Roman"/>
              </a:rPr>
              <a:t>and</a:t>
            </a:r>
            <a:r>
              <a:rPr sz="2000" spc="100" dirty="0">
                <a:latin typeface="Times New Roman"/>
                <a:cs typeface="Times New Roman"/>
              </a:rPr>
              <a:t> </a:t>
            </a:r>
            <a:r>
              <a:rPr sz="2000" dirty="0">
                <a:latin typeface="Times New Roman"/>
                <a:cs typeface="Times New Roman"/>
              </a:rPr>
              <a:t>erase()</a:t>
            </a:r>
            <a:r>
              <a:rPr sz="2000" spc="95" dirty="0">
                <a:latin typeface="Times New Roman"/>
                <a:cs typeface="Times New Roman"/>
              </a:rPr>
              <a:t> </a:t>
            </a:r>
            <a:r>
              <a:rPr sz="2000" dirty="0">
                <a:latin typeface="Times New Roman"/>
                <a:cs typeface="Times New Roman"/>
              </a:rPr>
              <a:t>member</a:t>
            </a:r>
            <a:r>
              <a:rPr sz="2000" spc="100" dirty="0">
                <a:latin typeface="Times New Roman"/>
                <a:cs typeface="Times New Roman"/>
              </a:rPr>
              <a:t> </a:t>
            </a:r>
            <a:r>
              <a:rPr sz="2000" dirty="0">
                <a:latin typeface="Times New Roman"/>
                <a:cs typeface="Times New Roman"/>
              </a:rPr>
              <a:t>functions</a:t>
            </a:r>
            <a:r>
              <a:rPr sz="2000" spc="95" dirty="0">
                <a:latin typeface="Times New Roman"/>
                <a:cs typeface="Times New Roman"/>
              </a:rPr>
              <a:t> </a:t>
            </a:r>
            <a:r>
              <a:rPr sz="2000" dirty="0">
                <a:latin typeface="Times New Roman"/>
                <a:cs typeface="Times New Roman"/>
              </a:rPr>
              <a:t>insert</a:t>
            </a:r>
            <a:r>
              <a:rPr sz="2000" spc="85" dirty="0">
                <a:latin typeface="Times New Roman"/>
                <a:cs typeface="Times New Roman"/>
              </a:rPr>
              <a:t> </a:t>
            </a:r>
            <a:r>
              <a:rPr sz="2000" spc="-25" dirty="0">
                <a:latin typeface="Times New Roman"/>
                <a:cs typeface="Times New Roman"/>
              </a:rPr>
              <a:t>or 	</a:t>
            </a:r>
            <a:r>
              <a:rPr sz="2000" dirty="0">
                <a:latin typeface="Times New Roman"/>
                <a:cs typeface="Times New Roman"/>
              </a:rPr>
              <a:t>remove</a:t>
            </a:r>
            <a:r>
              <a:rPr sz="2000" spc="210" dirty="0">
                <a:latin typeface="Times New Roman"/>
                <a:cs typeface="Times New Roman"/>
              </a:rPr>
              <a:t> </a:t>
            </a:r>
            <a:r>
              <a:rPr sz="2000" dirty="0">
                <a:latin typeface="Times New Roman"/>
                <a:cs typeface="Times New Roman"/>
              </a:rPr>
              <a:t>an</a:t>
            </a:r>
            <a:r>
              <a:rPr sz="2000" spc="215" dirty="0">
                <a:latin typeface="Times New Roman"/>
                <a:cs typeface="Times New Roman"/>
              </a:rPr>
              <a:t> </a:t>
            </a:r>
            <a:r>
              <a:rPr sz="2000" dirty="0">
                <a:latin typeface="Times New Roman"/>
                <a:cs typeface="Times New Roman"/>
              </a:rPr>
              <a:t>element</a:t>
            </a:r>
            <a:r>
              <a:rPr sz="2000" spc="225" dirty="0">
                <a:latin typeface="Times New Roman"/>
                <a:cs typeface="Times New Roman"/>
              </a:rPr>
              <a:t> </a:t>
            </a:r>
            <a:r>
              <a:rPr sz="2000" dirty="0">
                <a:latin typeface="Times New Roman"/>
                <a:cs typeface="Times New Roman"/>
              </a:rPr>
              <a:t>from</a:t>
            </a:r>
            <a:r>
              <a:rPr sz="2000" spc="204" dirty="0">
                <a:latin typeface="Times New Roman"/>
                <a:cs typeface="Times New Roman"/>
              </a:rPr>
              <a:t> </a:t>
            </a:r>
            <a:r>
              <a:rPr sz="2000" dirty="0">
                <a:latin typeface="Times New Roman"/>
                <a:cs typeface="Times New Roman"/>
              </a:rPr>
              <a:t>an</a:t>
            </a:r>
            <a:r>
              <a:rPr sz="2000" spc="204" dirty="0">
                <a:latin typeface="Times New Roman"/>
                <a:cs typeface="Times New Roman"/>
              </a:rPr>
              <a:t> </a:t>
            </a:r>
            <a:r>
              <a:rPr sz="2000" dirty="0">
                <a:latin typeface="Times New Roman"/>
                <a:cs typeface="Times New Roman"/>
              </a:rPr>
              <a:t>arbitrary</a:t>
            </a:r>
            <a:r>
              <a:rPr sz="2000" spc="204" dirty="0">
                <a:latin typeface="Times New Roman"/>
                <a:cs typeface="Times New Roman"/>
              </a:rPr>
              <a:t> </a:t>
            </a:r>
            <a:r>
              <a:rPr sz="2000" dirty="0">
                <a:latin typeface="Times New Roman"/>
                <a:cs typeface="Times New Roman"/>
              </a:rPr>
              <a:t>location</a:t>
            </a:r>
            <a:r>
              <a:rPr sz="2000" spc="229" dirty="0">
                <a:latin typeface="Times New Roman"/>
                <a:cs typeface="Times New Roman"/>
              </a:rPr>
              <a:t> </a:t>
            </a:r>
            <a:r>
              <a:rPr sz="2000" dirty="0">
                <a:latin typeface="Times New Roman"/>
                <a:cs typeface="Times New Roman"/>
              </a:rPr>
              <a:t>in</a:t>
            </a:r>
            <a:r>
              <a:rPr sz="2000" spc="229" dirty="0">
                <a:latin typeface="Times New Roman"/>
                <a:cs typeface="Times New Roman"/>
              </a:rPr>
              <a:t> </a:t>
            </a:r>
            <a:r>
              <a:rPr sz="2000" spc="-50" dirty="0">
                <a:latin typeface="Times New Roman"/>
                <a:cs typeface="Times New Roman"/>
              </a:rPr>
              <a:t>a 	</a:t>
            </a:r>
            <a:r>
              <a:rPr sz="2000" spc="-10" dirty="0">
                <a:latin typeface="Times New Roman"/>
                <a:cs typeface="Times New Roman"/>
              </a:rPr>
              <a:t>container.</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These</a:t>
            </a:r>
            <a:r>
              <a:rPr sz="2000" spc="254" dirty="0">
                <a:latin typeface="Times New Roman"/>
                <a:cs typeface="Times New Roman"/>
              </a:rPr>
              <a:t> </a:t>
            </a:r>
            <a:r>
              <a:rPr sz="2000" dirty="0">
                <a:latin typeface="Times New Roman"/>
                <a:cs typeface="Times New Roman"/>
              </a:rPr>
              <a:t>functions</a:t>
            </a:r>
            <a:r>
              <a:rPr sz="2000" spc="280" dirty="0">
                <a:latin typeface="Times New Roman"/>
                <a:cs typeface="Times New Roman"/>
              </a:rPr>
              <a:t> </a:t>
            </a:r>
            <a:r>
              <a:rPr sz="2000" dirty="0">
                <a:latin typeface="Times New Roman"/>
                <a:cs typeface="Times New Roman"/>
              </a:rPr>
              <a:t>aren’t</a:t>
            </a:r>
            <a:r>
              <a:rPr sz="2000" spc="254" dirty="0">
                <a:latin typeface="Times New Roman"/>
                <a:cs typeface="Times New Roman"/>
              </a:rPr>
              <a:t> </a:t>
            </a:r>
            <a:r>
              <a:rPr sz="2000" dirty="0">
                <a:latin typeface="Times New Roman"/>
                <a:cs typeface="Times New Roman"/>
              </a:rPr>
              <a:t>very</a:t>
            </a:r>
            <a:r>
              <a:rPr sz="2000" spc="265" dirty="0">
                <a:latin typeface="Times New Roman"/>
                <a:cs typeface="Times New Roman"/>
              </a:rPr>
              <a:t> </a:t>
            </a:r>
            <a:r>
              <a:rPr sz="2000" dirty="0">
                <a:latin typeface="Times New Roman"/>
                <a:cs typeface="Times New Roman"/>
              </a:rPr>
              <a:t>efficient</a:t>
            </a:r>
            <a:r>
              <a:rPr sz="2000" spc="275" dirty="0">
                <a:latin typeface="Times New Roman"/>
                <a:cs typeface="Times New Roman"/>
              </a:rPr>
              <a:t> </a:t>
            </a:r>
            <a:r>
              <a:rPr sz="2000" dirty="0">
                <a:latin typeface="Times New Roman"/>
                <a:cs typeface="Times New Roman"/>
              </a:rPr>
              <a:t>with</a:t>
            </a:r>
            <a:r>
              <a:rPr sz="2000" spc="265" dirty="0">
                <a:latin typeface="Times New Roman"/>
                <a:cs typeface="Times New Roman"/>
              </a:rPr>
              <a:t> </a:t>
            </a:r>
            <a:r>
              <a:rPr sz="2000" spc="-10" dirty="0">
                <a:latin typeface="Times New Roman"/>
                <a:cs typeface="Times New Roman"/>
              </a:rPr>
              <a:t>vectors, 	</a:t>
            </a:r>
            <a:r>
              <a:rPr sz="2000" dirty="0">
                <a:latin typeface="Times New Roman"/>
                <a:cs typeface="Times New Roman"/>
              </a:rPr>
              <a:t>since</a:t>
            </a:r>
            <a:r>
              <a:rPr sz="2000" spc="15" dirty="0">
                <a:latin typeface="Times New Roman"/>
                <a:cs typeface="Times New Roman"/>
              </a:rPr>
              <a:t> </a:t>
            </a:r>
            <a:r>
              <a:rPr sz="2000" dirty="0">
                <a:latin typeface="Times New Roman"/>
                <a:cs typeface="Times New Roman"/>
              </a:rPr>
              <a:t>all</a:t>
            </a:r>
            <a:r>
              <a:rPr sz="2000" spc="20"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elements</a:t>
            </a:r>
            <a:r>
              <a:rPr sz="2000" spc="35" dirty="0">
                <a:latin typeface="Times New Roman"/>
                <a:cs typeface="Times New Roman"/>
              </a:rPr>
              <a:t> </a:t>
            </a:r>
            <a:r>
              <a:rPr sz="2000" dirty="0">
                <a:latin typeface="Times New Roman"/>
                <a:cs typeface="Times New Roman"/>
              </a:rPr>
              <a:t>above</a:t>
            </a:r>
            <a:r>
              <a:rPr sz="2000" spc="20"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insertion</a:t>
            </a:r>
            <a:r>
              <a:rPr sz="2000" spc="30" dirty="0">
                <a:latin typeface="Times New Roman"/>
                <a:cs typeface="Times New Roman"/>
              </a:rPr>
              <a:t> </a:t>
            </a:r>
            <a:r>
              <a:rPr sz="2000" dirty="0">
                <a:latin typeface="Times New Roman"/>
                <a:cs typeface="Times New Roman"/>
              </a:rPr>
              <a:t>or</a:t>
            </a:r>
            <a:r>
              <a:rPr sz="2000" spc="10" dirty="0">
                <a:latin typeface="Times New Roman"/>
                <a:cs typeface="Times New Roman"/>
              </a:rPr>
              <a:t> </a:t>
            </a:r>
            <a:r>
              <a:rPr sz="2000" spc="-10" dirty="0">
                <a:latin typeface="Times New Roman"/>
                <a:cs typeface="Times New Roman"/>
              </a:rPr>
              <a:t>erasure 	</a:t>
            </a:r>
            <a:r>
              <a:rPr sz="2000" dirty="0">
                <a:latin typeface="Times New Roman"/>
                <a:cs typeface="Times New Roman"/>
              </a:rPr>
              <a:t>must</a:t>
            </a:r>
            <a:r>
              <a:rPr sz="2000" spc="114" dirty="0">
                <a:latin typeface="Times New Roman"/>
                <a:cs typeface="Times New Roman"/>
              </a:rPr>
              <a:t> </a:t>
            </a:r>
            <a:r>
              <a:rPr sz="2000" dirty="0">
                <a:latin typeface="Times New Roman"/>
                <a:cs typeface="Times New Roman"/>
              </a:rPr>
              <a:t>be</a:t>
            </a:r>
            <a:r>
              <a:rPr sz="2000" spc="105" dirty="0">
                <a:latin typeface="Times New Roman"/>
                <a:cs typeface="Times New Roman"/>
              </a:rPr>
              <a:t> </a:t>
            </a:r>
            <a:r>
              <a:rPr sz="2000" dirty="0">
                <a:latin typeface="Times New Roman"/>
                <a:cs typeface="Times New Roman"/>
              </a:rPr>
              <a:t>moved</a:t>
            </a:r>
            <a:r>
              <a:rPr sz="2000" spc="130" dirty="0">
                <a:latin typeface="Times New Roman"/>
                <a:cs typeface="Times New Roman"/>
              </a:rPr>
              <a:t> </a:t>
            </a:r>
            <a:r>
              <a:rPr sz="2000" dirty="0">
                <a:latin typeface="Times New Roman"/>
                <a:cs typeface="Times New Roman"/>
              </a:rPr>
              <a:t>to</a:t>
            </a:r>
            <a:r>
              <a:rPr sz="2000" spc="114" dirty="0">
                <a:latin typeface="Times New Roman"/>
                <a:cs typeface="Times New Roman"/>
              </a:rPr>
              <a:t> </a:t>
            </a:r>
            <a:r>
              <a:rPr sz="2000" dirty="0">
                <a:latin typeface="Times New Roman"/>
                <a:cs typeface="Times New Roman"/>
              </a:rPr>
              <a:t>make</a:t>
            </a:r>
            <a:r>
              <a:rPr sz="2000" spc="130" dirty="0">
                <a:latin typeface="Times New Roman"/>
                <a:cs typeface="Times New Roman"/>
              </a:rPr>
              <a:t> </a:t>
            </a:r>
            <a:r>
              <a:rPr sz="2000" dirty="0">
                <a:latin typeface="Times New Roman"/>
                <a:cs typeface="Times New Roman"/>
              </a:rPr>
              <a:t>space</a:t>
            </a:r>
            <a:r>
              <a:rPr sz="2000" spc="114" dirty="0">
                <a:latin typeface="Times New Roman"/>
                <a:cs typeface="Times New Roman"/>
              </a:rPr>
              <a:t> </a:t>
            </a:r>
            <a:r>
              <a:rPr sz="2000" dirty="0">
                <a:latin typeface="Times New Roman"/>
                <a:cs typeface="Times New Roman"/>
              </a:rPr>
              <a:t>for</a:t>
            </a:r>
            <a:r>
              <a:rPr sz="2000" spc="105" dirty="0">
                <a:latin typeface="Times New Roman"/>
                <a:cs typeface="Times New Roman"/>
              </a:rPr>
              <a:t> </a:t>
            </a:r>
            <a:r>
              <a:rPr sz="2000" dirty="0">
                <a:latin typeface="Times New Roman"/>
                <a:cs typeface="Times New Roman"/>
              </a:rPr>
              <a:t>the</a:t>
            </a:r>
            <a:r>
              <a:rPr sz="2000" spc="95" dirty="0">
                <a:latin typeface="Times New Roman"/>
                <a:cs typeface="Times New Roman"/>
              </a:rPr>
              <a:t> </a:t>
            </a:r>
            <a:r>
              <a:rPr sz="2000" dirty="0">
                <a:latin typeface="Times New Roman"/>
                <a:cs typeface="Times New Roman"/>
              </a:rPr>
              <a:t>new</a:t>
            </a:r>
            <a:r>
              <a:rPr sz="2000" spc="125" dirty="0">
                <a:latin typeface="Times New Roman"/>
                <a:cs typeface="Times New Roman"/>
              </a:rPr>
              <a:t> </a:t>
            </a:r>
            <a:r>
              <a:rPr sz="2000" spc="-10" dirty="0">
                <a:latin typeface="Times New Roman"/>
                <a:cs typeface="Times New Roman"/>
              </a:rPr>
              <a:t>element 	</a:t>
            </a:r>
            <a:r>
              <a:rPr sz="2000" dirty="0">
                <a:latin typeface="Times New Roman"/>
                <a:cs typeface="Times New Roman"/>
              </a:rPr>
              <a:t>or</a:t>
            </a:r>
            <a:r>
              <a:rPr sz="2000" spc="-25" dirty="0">
                <a:latin typeface="Times New Roman"/>
                <a:cs typeface="Times New Roman"/>
              </a:rPr>
              <a:t> </a:t>
            </a:r>
            <a:r>
              <a:rPr sz="2000" dirty="0">
                <a:latin typeface="Times New Roman"/>
                <a:cs typeface="Times New Roman"/>
              </a:rPr>
              <a:t>close</a:t>
            </a:r>
            <a:r>
              <a:rPr sz="2000" spc="-10" dirty="0">
                <a:latin typeface="Times New Roman"/>
                <a:cs typeface="Times New Roman"/>
              </a:rPr>
              <a:t> </a:t>
            </a:r>
            <a:r>
              <a:rPr sz="2000" dirty="0">
                <a:latin typeface="Times New Roman"/>
                <a:cs typeface="Times New Roman"/>
              </a:rPr>
              <a:t>up</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space</a:t>
            </a:r>
            <a:r>
              <a:rPr sz="2000" spc="-20" dirty="0">
                <a:latin typeface="Times New Roman"/>
                <a:cs typeface="Times New Roman"/>
              </a:rPr>
              <a:t> </a:t>
            </a:r>
            <a:r>
              <a:rPr sz="2000" dirty="0">
                <a:latin typeface="Times New Roman"/>
                <a:cs typeface="Times New Roman"/>
              </a:rPr>
              <a:t>where</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erased</a:t>
            </a:r>
            <a:r>
              <a:rPr sz="2000" spc="-15" dirty="0">
                <a:latin typeface="Times New Roman"/>
                <a:cs typeface="Times New Roman"/>
              </a:rPr>
              <a:t> </a:t>
            </a:r>
            <a:r>
              <a:rPr sz="2000" dirty="0">
                <a:latin typeface="Times New Roman"/>
                <a:cs typeface="Times New Roman"/>
              </a:rPr>
              <a:t>item</a:t>
            </a:r>
            <a:r>
              <a:rPr sz="2000" spc="-20" dirty="0">
                <a:latin typeface="Times New Roman"/>
                <a:cs typeface="Times New Roman"/>
              </a:rPr>
              <a:t> was.</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The</a:t>
            </a:r>
            <a:r>
              <a:rPr sz="2000" spc="5" dirty="0">
                <a:latin typeface="Times New Roman"/>
                <a:cs typeface="Times New Roman"/>
              </a:rPr>
              <a:t> </a:t>
            </a:r>
            <a:r>
              <a:rPr sz="2000" b="1" dirty="0">
                <a:latin typeface="Times New Roman"/>
                <a:cs typeface="Times New Roman"/>
              </a:rPr>
              <a:t>insert()</a:t>
            </a:r>
            <a:r>
              <a:rPr sz="2000" b="1" spc="5" dirty="0">
                <a:latin typeface="Times New Roman"/>
                <a:cs typeface="Times New Roman"/>
              </a:rPr>
              <a:t> </a:t>
            </a:r>
            <a:r>
              <a:rPr sz="2000" dirty="0">
                <a:latin typeface="Times New Roman"/>
                <a:cs typeface="Times New Roman"/>
              </a:rPr>
              <a:t>member</a:t>
            </a:r>
            <a:r>
              <a:rPr sz="2000" spc="10" dirty="0">
                <a:latin typeface="Times New Roman"/>
                <a:cs typeface="Times New Roman"/>
              </a:rPr>
              <a:t> </a:t>
            </a:r>
            <a:r>
              <a:rPr sz="2000" dirty="0">
                <a:latin typeface="Times New Roman"/>
                <a:cs typeface="Times New Roman"/>
              </a:rPr>
              <a:t>function</a:t>
            </a:r>
            <a:r>
              <a:rPr sz="2000" spc="5" dirty="0">
                <a:latin typeface="Times New Roman"/>
                <a:cs typeface="Times New Roman"/>
              </a:rPr>
              <a:t> </a:t>
            </a:r>
            <a:r>
              <a:rPr sz="2000" dirty="0">
                <a:latin typeface="Times New Roman"/>
                <a:cs typeface="Times New Roman"/>
              </a:rPr>
              <a:t>takes</a:t>
            </a:r>
            <a:r>
              <a:rPr sz="2000" spc="-5" dirty="0">
                <a:latin typeface="Times New Roman"/>
                <a:cs typeface="Times New Roman"/>
              </a:rPr>
              <a:t> </a:t>
            </a:r>
            <a:r>
              <a:rPr sz="2000" dirty="0">
                <a:latin typeface="Times New Roman"/>
                <a:cs typeface="Times New Roman"/>
              </a:rPr>
              <a:t>two</a:t>
            </a:r>
            <a:r>
              <a:rPr sz="2000" spc="10" dirty="0">
                <a:latin typeface="Times New Roman"/>
                <a:cs typeface="Times New Roman"/>
              </a:rPr>
              <a:t> </a:t>
            </a:r>
            <a:r>
              <a:rPr sz="2000" spc="-10" dirty="0">
                <a:latin typeface="Times New Roman"/>
                <a:cs typeface="Times New Roman"/>
              </a:rPr>
              <a:t>arguments: 	</a:t>
            </a:r>
            <a:r>
              <a:rPr sz="2000" dirty="0">
                <a:latin typeface="Times New Roman"/>
                <a:cs typeface="Times New Roman"/>
              </a:rPr>
              <a:t>the</a:t>
            </a:r>
            <a:r>
              <a:rPr sz="2000" spc="375" dirty="0">
                <a:latin typeface="Times New Roman"/>
                <a:cs typeface="Times New Roman"/>
              </a:rPr>
              <a:t> </a:t>
            </a:r>
            <a:r>
              <a:rPr sz="2000" dirty="0">
                <a:latin typeface="Times New Roman"/>
                <a:cs typeface="Times New Roman"/>
              </a:rPr>
              <a:t>place</a:t>
            </a:r>
            <a:r>
              <a:rPr sz="2000" spc="380" dirty="0">
                <a:latin typeface="Times New Roman"/>
                <a:cs typeface="Times New Roman"/>
              </a:rPr>
              <a:t> </a:t>
            </a:r>
            <a:r>
              <a:rPr sz="2000" dirty="0">
                <a:latin typeface="Times New Roman"/>
                <a:cs typeface="Times New Roman"/>
              </a:rPr>
              <a:t>where</a:t>
            </a:r>
            <a:r>
              <a:rPr sz="2000" spc="385" dirty="0">
                <a:latin typeface="Times New Roman"/>
                <a:cs typeface="Times New Roman"/>
              </a:rPr>
              <a:t> </a:t>
            </a:r>
            <a:r>
              <a:rPr sz="2000" dirty="0">
                <a:latin typeface="Times New Roman"/>
                <a:cs typeface="Times New Roman"/>
              </a:rPr>
              <a:t>an</a:t>
            </a:r>
            <a:r>
              <a:rPr sz="2000" spc="390" dirty="0">
                <a:latin typeface="Times New Roman"/>
                <a:cs typeface="Times New Roman"/>
              </a:rPr>
              <a:t> </a:t>
            </a:r>
            <a:r>
              <a:rPr sz="2000" dirty="0">
                <a:latin typeface="Times New Roman"/>
                <a:cs typeface="Times New Roman"/>
              </a:rPr>
              <a:t>element</a:t>
            </a:r>
            <a:r>
              <a:rPr sz="2000" spc="380" dirty="0">
                <a:latin typeface="Times New Roman"/>
                <a:cs typeface="Times New Roman"/>
              </a:rPr>
              <a:t> </a:t>
            </a:r>
            <a:r>
              <a:rPr sz="2000" dirty="0">
                <a:latin typeface="Times New Roman"/>
                <a:cs typeface="Times New Roman"/>
              </a:rPr>
              <a:t>will</a:t>
            </a:r>
            <a:r>
              <a:rPr sz="2000" spc="375" dirty="0">
                <a:latin typeface="Times New Roman"/>
                <a:cs typeface="Times New Roman"/>
              </a:rPr>
              <a:t> </a:t>
            </a:r>
            <a:r>
              <a:rPr sz="2000" dirty="0">
                <a:latin typeface="Times New Roman"/>
                <a:cs typeface="Times New Roman"/>
              </a:rPr>
              <a:t>be</a:t>
            </a:r>
            <a:r>
              <a:rPr sz="2000" spc="380" dirty="0">
                <a:latin typeface="Times New Roman"/>
                <a:cs typeface="Times New Roman"/>
              </a:rPr>
              <a:t> </a:t>
            </a:r>
            <a:r>
              <a:rPr sz="2000" dirty="0">
                <a:latin typeface="Times New Roman"/>
                <a:cs typeface="Times New Roman"/>
              </a:rPr>
              <a:t>inserted</a:t>
            </a:r>
            <a:r>
              <a:rPr sz="2000" spc="390" dirty="0">
                <a:latin typeface="Times New Roman"/>
                <a:cs typeface="Times New Roman"/>
              </a:rPr>
              <a:t> </a:t>
            </a:r>
            <a:r>
              <a:rPr sz="2000" dirty="0">
                <a:latin typeface="Times New Roman"/>
                <a:cs typeface="Times New Roman"/>
              </a:rPr>
              <a:t>in</a:t>
            </a:r>
            <a:r>
              <a:rPr sz="2000" spc="390" dirty="0">
                <a:latin typeface="Times New Roman"/>
                <a:cs typeface="Times New Roman"/>
              </a:rPr>
              <a:t> </a:t>
            </a:r>
            <a:r>
              <a:rPr sz="2000" spc="-50" dirty="0">
                <a:latin typeface="Times New Roman"/>
                <a:cs typeface="Times New Roman"/>
              </a:rPr>
              <a:t>a 	</a:t>
            </a:r>
            <a:r>
              <a:rPr sz="2000" spc="-10" dirty="0">
                <a:latin typeface="Times New Roman"/>
                <a:cs typeface="Times New Roman"/>
              </a:rPr>
              <a:t>container,</a:t>
            </a:r>
            <a:r>
              <a:rPr sz="2000" spc="-5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value</a:t>
            </a:r>
            <a:r>
              <a:rPr sz="2000" spc="-1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spc="-10" dirty="0">
                <a:latin typeface="Times New Roman"/>
                <a:cs typeface="Times New Roman"/>
              </a:rPr>
              <a:t>element.</a:t>
            </a:r>
            <a:endParaRPr sz="2000">
              <a:latin typeface="Times New Roman"/>
              <a:cs typeface="Times New Roman"/>
            </a:endParaRPr>
          </a:p>
          <a:p>
            <a:pPr marL="352425" indent="-339725" algn="just">
              <a:lnSpc>
                <a:spcPct val="100000"/>
              </a:lnSpc>
              <a:buFont typeface="Arial MT"/>
              <a:buChar char="•"/>
              <a:tabLst>
                <a:tab pos="352425" algn="l"/>
              </a:tabLst>
            </a:pPr>
            <a:r>
              <a:rPr sz="2000" dirty="0">
                <a:latin typeface="Times New Roman"/>
                <a:cs typeface="Times New Roman"/>
              </a:rPr>
              <a:t>The</a:t>
            </a:r>
            <a:r>
              <a:rPr sz="2000" spc="145" dirty="0">
                <a:latin typeface="Times New Roman"/>
                <a:cs typeface="Times New Roman"/>
              </a:rPr>
              <a:t> </a:t>
            </a:r>
            <a:r>
              <a:rPr sz="2000" b="1" dirty="0">
                <a:latin typeface="Times New Roman"/>
                <a:cs typeface="Times New Roman"/>
              </a:rPr>
              <a:t>erase()</a:t>
            </a:r>
            <a:r>
              <a:rPr sz="2000" b="1" spc="155" dirty="0">
                <a:latin typeface="Times New Roman"/>
                <a:cs typeface="Times New Roman"/>
              </a:rPr>
              <a:t> </a:t>
            </a:r>
            <a:r>
              <a:rPr sz="2000" dirty="0">
                <a:latin typeface="Times New Roman"/>
                <a:cs typeface="Times New Roman"/>
              </a:rPr>
              <a:t>member</a:t>
            </a:r>
            <a:r>
              <a:rPr sz="2000" spc="155" dirty="0">
                <a:latin typeface="Times New Roman"/>
                <a:cs typeface="Times New Roman"/>
              </a:rPr>
              <a:t> </a:t>
            </a:r>
            <a:r>
              <a:rPr sz="2000" dirty="0">
                <a:latin typeface="Times New Roman"/>
                <a:cs typeface="Times New Roman"/>
              </a:rPr>
              <a:t>function</a:t>
            </a:r>
            <a:r>
              <a:rPr sz="2000" spc="135" dirty="0">
                <a:latin typeface="Times New Roman"/>
                <a:cs typeface="Times New Roman"/>
              </a:rPr>
              <a:t> </a:t>
            </a:r>
            <a:r>
              <a:rPr sz="2000" dirty="0">
                <a:latin typeface="Times New Roman"/>
                <a:cs typeface="Times New Roman"/>
              </a:rPr>
              <a:t>removes</a:t>
            </a:r>
            <a:r>
              <a:rPr sz="2000" spc="135" dirty="0">
                <a:latin typeface="Times New Roman"/>
                <a:cs typeface="Times New Roman"/>
              </a:rPr>
              <a:t> </a:t>
            </a:r>
            <a:r>
              <a:rPr sz="2000" dirty="0">
                <a:latin typeface="Times New Roman"/>
                <a:cs typeface="Times New Roman"/>
              </a:rPr>
              <a:t>the</a:t>
            </a:r>
            <a:r>
              <a:rPr sz="2000" spc="135" dirty="0">
                <a:latin typeface="Times New Roman"/>
                <a:cs typeface="Times New Roman"/>
              </a:rPr>
              <a:t> </a:t>
            </a:r>
            <a:r>
              <a:rPr sz="2000" spc="-10" dirty="0">
                <a:latin typeface="Times New Roman"/>
                <a:cs typeface="Times New Roman"/>
              </a:rPr>
              <a:t>element</a:t>
            </a:r>
            <a:endParaRPr sz="2000">
              <a:latin typeface="Times New Roman"/>
              <a:cs typeface="Times New Roman"/>
            </a:endParaRPr>
          </a:p>
          <a:p>
            <a:pPr marL="355600" algn="just">
              <a:lnSpc>
                <a:spcPct val="100000"/>
              </a:lnSpc>
            </a:pPr>
            <a:r>
              <a:rPr sz="2000" dirty="0">
                <a:latin typeface="Times New Roman"/>
                <a:cs typeface="Times New Roman"/>
              </a:rPr>
              <a:t>at</a:t>
            </a:r>
            <a:r>
              <a:rPr sz="2000" spc="-30"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dirty="0">
                <a:latin typeface="Times New Roman"/>
                <a:cs typeface="Times New Roman"/>
              </a:rPr>
              <a:t>specified</a:t>
            </a:r>
            <a:r>
              <a:rPr sz="2000" spc="-40" dirty="0">
                <a:latin typeface="Times New Roman"/>
                <a:cs typeface="Times New Roman"/>
              </a:rPr>
              <a:t> </a:t>
            </a:r>
            <a:r>
              <a:rPr sz="2000" dirty="0">
                <a:latin typeface="Times New Roman"/>
                <a:cs typeface="Times New Roman"/>
              </a:rPr>
              <a:t>location.</a:t>
            </a:r>
            <a:r>
              <a:rPr sz="2000" spc="-45" dirty="0">
                <a:latin typeface="Times New Roman"/>
                <a:cs typeface="Times New Roman"/>
              </a:rPr>
              <a:t> </a:t>
            </a:r>
            <a:r>
              <a:rPr sz="2000" b="1" i="1" dirty="0">
                <a:latin typeface="Times New Roman"/>
                <a:cs typeface="Times New Roman"/>
              </a:rPr>
              <a:t>erase(itr_start,</a:t>
            </a:r>
            <a:r>
              <a:rPr sz="2000" b="1" i="1" spc="-50" dirty="0">
                <a:latin typeface="Times New Roman"/>
                <a:cs typeface="Times New Roman"/>
              </a:rPr>
              <a:t> </a:t>
            </a:r>
            <a:r>
              <a:rPr sz="2000" b="1" i="1" spc="-10" dirty="0">
                <a:latin typeface="Times New Roman"/>
                <a:cs typeface="Times New Roman"/>
              </a:rPr>
              <a:t>itr_end).</a:t>
            </a:r>
            <a:endParaRPr sz="2000">
              <a:latin typeface="Times New Roman"/>
              <a:cs typeface="Times New Roman"/>
            </a:endParaRPr>
          </a:p>
        </p:txBody>
      </p:sp>
      <p:pic>
        <p:nvPicPr>
          <p:cNvPr id="4" name="object 4"/>
          <p:cNvPicPr/>
          <p:nvPr/>
        </p:nvPicPr>
        <p:blipFill>
          <a:blip r:embed="rId2" cstate="print"/>
          <a:stretch>
            <a:fillRect/>
          </a:stretch>
        </p:blipFill>
        <p:spPr>
          <a:xfrm>
            <a:off x="7303081" y="864228"/>
            <a:ext cx="1947851" cy="609358"/>
          </a:xfrm>
          <a:prstGeom prst="rect">
            <a:avLst/>
          </a:prstGeom>
        </p:spPr>
      </p:pic>
      <p:pic>
        <p:nvPicPr>
          <p:cNvPr id="5" name="object 5"/>
          <p:cNvPicPr/>
          <p:nvPr/>
        </p:nvPicPr>
        <p:blipFill>
          <a:blip r:embed="rId3" cstate="print"/>
          <a:stretch>
            <a:fillRect/>
          </a:stretch>
        </p:blipFill>
        <p:spPr>
          <a:xfrm>
            <a:off x="7269876" y="1629251"/>
            <a:ext cx="3817162" cy="609004"/>
          </a:xfrm>
          <a:prstGeom prst="rect">
            <a:avLst/>
          </a:prstGeom>
        </p:spPr>
      </p:pic>
      <p:pic>
        <p:nvPicPr>
          <p:cNvPr id="6" name="object 6"/>
          <p:cNvPicPr/>
          <p:nvPr/>
        </p:nvPicPr>
        <p:blipFill>
          <a:blip r:embed="rId4" cstate="print"/>
          <a:stretch>
            <a:fillRect/>
          </a:stretch>
        </p:blipFill>
        <p:spPr>
          <a:xfrm>
            <a:off x="7705425" y="2396314"/>
            <a:ext cx="2545958" cy="154275"/>
          </a:xfrm>
          <a:prstGeom prst="rect">
            <a:avLst/>
          </a:prstGeom>
        </p:spPr>
      </p:pic>
      <p:pic>
        <p:nvPicPr>
          <p:cNvPr id="7" name="object 7"/>
          <p:cNvPicPr/>
          <p:nvPr/>
        </p:nvPicPr>
        <p:blipFill>
          <a:blip r:embed="rId5" cstate="print"/>
          <a:stretch>
            <a:fillRect/>
          </a:stretch>
        </p:blipFill>
        <p:spPr>
          <a:xfrm>
            <a:off x="7702690" y="2729878"/>
            <a:ext cx="3031127" cy="619479"/>
          </a:xfrm>
          <a:prstGeom prst="rect">
            <a:avLst/>
          </a:prstGeom>
        </p:spPr>
      </p:pic>
      <p:pic>
        <p:nvPicPr>
          <p:cNvPr id="8" name="object 8"/>
          <p:cNvPicPr/>
          <p:nvPr/>
        </p:nvPicPr>
        <p:blipFill>
          <a:blip r:embed="rId6" cstate="print"/>
          <a:stretch>
            <a:fillRect/>
          </a:stretch>
        </p:blipFill>
        <p:spPr>
          <a:xfrm>
            <a:off x="7735876" y="3479014"/>
            <a:ext cx="2743435" cy="155170"/>
          </a:xfrm>
          <a:prstGeom prst="rect">
            <a:avLst/>
          </a:prstGeom>
        </p:spPr>
      </p:pic>
      <p:pic>
        <p:nvPicPr>
          <p:cNvPr id="9" name="object 9"/>
          <p:cNvPicPr/>
          <p:nvPr/>
        </p:nvPicPr>
        <p:blipFill>
          <a:blip r:embed="rId7" cstate="print"/>
          <a:stretch>
            <a:fillRect/>
          </a:stretch>
        </p:blipFill>
        <p:spPr>
          <a:xfrm>
            <a:off x="7735888" y="3797033"/>
            <a:ext cx="3031837" cy="618394"/>
          </a:xfrm>
          <a:prstGeom prst="rect">
            <a:avLst/>
          </a:prstGeom>
        </p:spPr>
      </p:pic>
      <p:pic>
        <p:nvPicPr>
          <p:cNvPr id="10" name="object 10"/>
          <p:cNvPicPr/>
          <p:nvPr/>
        </p:nvPicPr>
        <p:blipFill>
          <a:blip r:embed="rId8" cstate="print"/>
          <a:stretch>
            <a:fillRect/>
          </a:stretch>
        </p:blipFill>
        <p:spPr>
          <a:xfrm>
            <a:off x="7713747" y="4575114"/>
            <a:ext cx="2245156" cy="154917"/>
          </a:xfrm>
          <a:prstGeom prst="rect">
            <a:avLst/>
          </a:prstGeom>
        </p:spPr>
      </p:pic>
      <p:pic>
        <p:nvPicPr>
          <p:cNvPr id="11" name="object 11"/>
          <p:cNvPicPr/>
          <p:nvPr/>
        </p:nvPicPr>
        <p:blipFill>
          <a:blip r:embed="rId9" cstate="print"/>
          <a:stretch>
            <a:fillRect/>
          </a:stretch>
        </p:blipFill>
        <p:spPr>
          <a:xfrm>
            <a:off x="7683283" y="4885232"/>
            <a:ext cx="3032608" cy="620166"/>
          </a:xfrm>
          <a:prstGeom prst="rect">
            <a:avLst/>
          </a:prstGeom>
        </p:spPr>
      </p:pic>
      <p:pic>
        <p:nvPicPr>
          <p:cNvPr id="12" name="object 12"/>
          <p:cNvPicPr/>
          <p:nvPr/>
        </p:nvPicPr>
        <p:blipFill>
          <a:blip r:embed="rId10" cstate="print"/>
          <a:stretch>
            <a:fillRect/>
          </a:stretch>
        </p:blipFill>
        <p:spPr>
          <a:xfrm>
            <a:off x="7716490" y="5625910"/>
            <a:ext cx="1261805" cy="598389"/>
          </a:xfrm>
          <a:prstGeom prst="rect">
            <a:avLst/>
          </a:prstGeom>
        </p:spPr>
      </p:pic>
      <p:pic>
        <p:nvPicPr>
          <p:cNvPr id="13" name="object 13"/>
          <p:cNvPicPr/>
          <p:nvPr/>
        </p:nvPicPr>
        <p:blipFill>
          <a:blip r:embed="rId11" cstate="print"/>
          <a:stretch>
            <a:fillRect/>
          </a:stretch>
        </p:blipFill>
        <p:spPr>
          <a:xfrm>
            <a:off x="3434752" y="5290264"/>
            <a:ext cx="3661335" cy="940514"/>
          </a:xfrm>
          <a:prstGeom prst="rect">
            <a:avLst/>
          </a:prstGeom>
        </p:spPr>
      </p:pic>
      <p:sp>
        <p:nvSpPr>
          <p:cNvPr id="16" name="object 16"/>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7" name="object 17"/>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8" name="Date Placeholder 17">
            <a:extLst>
              <a:ext uri="{FF2B5EF4-FFF2-40B4-BE49-F238E27FC236}">
                <a16:creationId xmlns:a16="http://schemas.microsoft.com/office/drawing/2014/main" id="{87BED3A7-3E22-5DB9-95C4-064E28A52CAF}"/>
              </a:ext>
            </a:extLst>
          </p:cNvPr>
          <p:cNvSpPr>
            <a:spLocks noGrp="1"/>
          </p:cNvSpPr>
          <p:nvPr>
            <p:ph type="dt" sz="half" idx="10"/>
          </p:nvPr>
        </p:nvSpPr>
        <p:spPr/>
        <p:txBody>
          <a:bodyPr/>
          <a:lstStyle/>
          <a:p>
            <a:fld id="{DFAB2FE9-FCA9-4428-8F10-8058BA72C6FF}" type="datetime1">
              <a:rPr lang="en-US" smtClean="0"/>
              <a:t>11/17/2025</a:t>
            </a:fld>
            <a:endParaRPr lang="en-US"/>
          </a:p>
        </p:txBody>
      </p:sp>
      <p:sp>
        <p:nvSpPr>
          <p:cNvPr id="19" name="Slide Number Placeholder 18">
            <a:extLst>
              <a:ext uri="{FF2B5EF4-FFF2-40B4-BE49-F238E27FC236}">
                <a16:creationId xmlns:a16="http://schemas.microsoft.com/office/drawing/2014/main" id="{54491749-D6C8-873C-C472-7763A5061CC8}"/>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35</a:t>
            </a:fld>
            <a:endParaRPr spc="-25" dirty="0"/>
          </a:p>
        </p:txBody>
      </p:sp>
    </p:spTree>
    <p:extLst>
      <p:ext uri="{BB962C8B-B14F-4D97-AF65-F5344CB8AC3E}">
        <p14:creationId xmlns:p14="http://schemas.microsoft.com/office/powerpoint/2010/main" val="33669592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65" dirty="0"/>
              <a:t>Vectors </a:t>
            </a:r>
            <a:r>
              <a:rPr lang="en-US" spc="-65" dirty="0" err="1"/>
              <a:t>Vs</a:t>
            </a:r>
            <a:r>
              <a:rPr lang="en-US" spc="-65" dirty="0"/>
              <a:t> Arrays</a:t>
            </a:r>
            <a:endParaRPr lang="en-US" dirty="0"/>
          </a:p>
        </p:txBody>
      </p:sp>
      <p:sp>
        <p:nvSpPr>
          <p:cNvPr id="4" name="Date Placeholder 3"/>
          <p:cNvSpPr>
            <a:spLocks noGrp="1"/>
          </p:cNvSpPr>
          <p:nvPr>
            <p:ph type="dt" sz="half" idx="10"/>
          </p:nvPr>
        </p:nvSpPr>
        <p:spPr/>
        <p:txBody>
          <a:bodyPr/>
          <a:lstStyle/>
          <a:p>
            <a:fld id="{8966A560-332D-47A2-A6E0-4B9952C44143}" type="datetime1">
              <a:rPr lang="en-US" smtClean="0"/>
              <a:t>11/17/2025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36</a:t>
            </a:fld>
            <a:endParaRPr spc="-25" dirty="0"/>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2534444"/>
            <a:ext cx="9753600" cy="2933700"/>
          </a:xfrm>
        </p:spPr>
      </p:pic>
    </p:spTree>
    <p:extLst>
      <p:ext uri="{BB962C8B-B14F-4D97-AF65-F5344CB8AC3E}">
        <p14:creationId xmlns:p14="http://schemas.microsoft.com/office/powerpoint/2010/main" val="1806347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23584"/>
            <a:ext cx="10515600" cy="1808646"/>
          </a:xfrm>
          <a:prstGeom prst="rect">
            <a:avLst/>
          </a:prstGeom>
        </p:spPr>
        <p:txBody>
          <a:bodyPr vert="horz" wrap="square" lIns="0" tIns="450034" rIns="0" bIns="0" rtlCol="0">
            <a:spAutoFit/>
          </a:bodyPr>
          <a:lstStyle/>
          <a:p>
            <a:pPr marL="12700">
              <a:lnSpc>
                <a:spcPct val="100000"/>
              </a:lnSpc>
              <a:spcBef>
                <a:spcPts val="95"/>
              </a:spcBef>
            </a:pPr>
            <a:r>
              <a:rPr spc="-10" dirty="0"/>
              <a:t>Lists</a:t>
            </a:r>
            <a:br>
              <a:rPr lang="en-US" spc="-10" dirty="0"/>
            </a:br>
            <a:endParaRPr spc="-10" dirty="0"/>
          </a:p>
        </p:txBody>
      </p:sp>
      <p:sp>
        <p:nvSpPr>
          <p:cNvPr id="11" name="object 11"/>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4196" y="1536319"/>
            <a:ext cx="5650865" cy="330835"/>
          </a:xfrm>
          <a:prstGeom prst="rect">
            <a:avLst/>
          </a:prstGeom>
        </p:spPr>
        <p:txBody>
          <a:bodyPr vert="horz" wrap="square" lIns="0" tIns="13335" rIns="0" bIns="0" rtlCol="0">
            <a:spAutoFit/>
          </a:bodyPr>
          <a:lstStyle/>
          <a:p>
            <a:pPr marL="354965" indent="-342265">
              <a:lnSpc>
                <a:spcPct val="100000"/>
              </a:lnSpc>
              <a:spcBef>
                <a:spcPts val="105"/>
              </a:spcBef>
              <a:buFont typeface="Arial MT"/>
              <a:buChar char="•"/>
              <a:tabLst>
                <a:tab pos="354965" algn="l"/>
                <a:tab pos="1031875" algn="l"/>
                <a:tab pos="1524000" algn="l"/>
                <a:tab pos="2640330" algn="l"/>
                <a:tab pos="3863975" algn="l"/>
                <a:tab pos="4425950" algn="l"/>
                <a:tab pos="5171440" algn="l"/>
              </a:tabLst>
            </a:pPr>
            <a:r>
              <a:rPr sz="2000" spc="-10" dirty="0">
                <a:latin typeface="Times New Roman"/>
                <a:cs typeface="Times New Roman"/>
              </a:rPr>
              <a:t>Lists</a:t>
            </a:r>
            <a:r>
              <a:rPr sz="2000" dirty="0">
                <a:latin typeface="Times New Roman"/>
                <a:cs typeface="Times New Roman"/>
              </a:rPr>
              <a:t>	</a:t>
            </a:r>
            <a:r>
              <a:rPr sz="2000" spc="-25" dirty="0">
                <a:latin typeface="Times New Roman"/>
                <a:cs typeface="Times New Roman"/>
              </a:rPr>
              <a:t>are</a:t>
            </a:r>
            <a:r>
              <a:rPr sz="2000" dirty="0">
                <a:latin typeface="Times New Roman"/>
                <a:cs typeface="Times New Roman"/>
              </a:rPr>
              <a:t>	</a:t>
            </a:r>
            <a:r>
              <a:rPr sz="2000" spc="-10" dirty="0">
                <a:latin typeface="Times New Roman"/>
                <a:cs typeface="Times New Roman"/>
              </a:rPr>
              <a:t>sequence</a:t>
            </a:r>
            <a:r>
              <a:rPr sz="2000" dirty="0">
                <a:latin typeface="Times New Roman"/>
                <a:cs typeface="Times New Roman"/>
              </a:rPr>
              <a:t>	</a:t>
            </a:r>
            <a:r>
              <a:rPr sz="2000" spc="-10" dirty="0">
                <a:latin typeface="Times New Roman"/>
                <a:cs typeface="Times New Roman"/>
              </a:rPr>
              <a:t>containers</a:t>
            </a:r>
            <a:r>
              <a:rPr sz="2000" dirty="0">
                <a:latin typeface="Times New Roman"/>
                <a:cs typeface="Times New Roman"/>
              </a:rPr>
              <a:t>	</a:t>
            </a:r>
            <a:r>
              <a:rPr sz="2000" spc="-20" dirty="0">
                <a:latin typeface="Times New Roman"/>
                <a:cs typeface="Times New Roman"/>
              </a:rPr>
              <a:t>that</a:t>
            </a:r>
            <a:r>
              <a:rPr sz="2000" dirty="0">
                <a:latin typeface="Times New Roman"/>
                <a:cs typeface="Times New Roman"/>
              </a:rPr>
              <a:t>	</a:t>
            </a:r>
            <a:r>
              <a:rPr sz="2000" spc="-10" dirty="0">
                <a:latin typeface="Times New Roman"/>
                <a:cs typeface="Times New Roman"/>
              </a:rPr>
              <a:t>allow</a:t>
            </a:r>
            <a:r>
              <a:rPr sz="2000" dirty="0">
                <a:latin typeface="Times New Roman"/>
                <a:cs typeface="Times New Roman"/>
              </a:rPr>
              <a:t>	</a:t>
            </a:r>
            <a:r>
              <a:rPr sz="2000" spc="-20" dirty="0">
                <a:latin typeface="Times New Roman"/>
                <a:cs typeface="Times New Roman"/>
              </a:rPr>
              <a:t>non-</a:t>
            </a:r>
            <a:endParaRPr sz="2000" dirty="0">
              <a:latin typeface="Times New Roman"/>
              <a:cs typeface="Times New Roman"/>
            </a:endParaRPr>
          </a:p>
        </p:txBody>
      </p:sp>
      <p:sp>
        <p:nvSpPr>
          <p:cNvPr id="4" name="object 4"/>
          <p:cNvSpPr txBox="1"/>
          <p:nvPr/>
        </p:nvSpPr>
        <p:spPr>
          <a:xfrm>
            <a:off x="914196" y="1841119"/>
            <a:ext cx="5651500" cy="1855470"/>
          </a:xfrm>
          <a:prstGeom prst="rect">
            <a:avLst/>
          </a:prstGeom>
        </p:spPr>
        <p:txBody>
          <a:bodyPr vert="horz" wrap="square" lIns="0" tIns="13335" rIns="0" bIns="0" rtlCol="0">
            <a:spAutoFit/>
          </a:bodyPr>
          <a:lstStyle/>
          <a:p>
            <a:pPr marL="355600" marR="5715" algn="just">
              <a:lnSpc>
                <a:spcPct val="100000"/>
              </a:lnSpc>
              <a:spcBef>
                <a:spcPts val="105"/>
              </a:spcBef>
            </a:pPr>
            <a:r>
              <a:rPr sz="2000" dirty="0">
                <a:latin typeface="Times New Roman"/>
                <a:cs typeface="Times New Roman"/>
              </a:rPr>
              <a:t>contiguous</a:t>
            </a:r>
            <a:r>
              <a:rPr sz="2000" spc="95" dirty="0">
                <a:latin typeface="Times New Roman"/>
                <a:cs typeface="Times New Roman"/>
              </a:rPr>
              <a:t>  </a:t>
            </a:r>
            <a:r>
              <a:rPr sz="2000" dirty="0">
                <a:latin typeface="Times New Roman"/>
                <a:cs typeface="Times New Roman"/>
              </a:rPr>
              <a:t>memory</a:t>
            </a:r>
            <a:r>
              <a:rPr sz="2000" spc="100" dirty="0">
                <a:latin typeface="Times New Roman"/>
                <a:cs typeface="Times New Roman"/>
              </a:rPr>
              <a:t>  </a:t>
            </a:r>
            <a:r>
              <a:rPr sz="2000" dirty="0">
                <a:latin typeface="Times New Roman"/>
                <a:cs typeface="Times New Roman"/>
              </a:rPr>
              <a:t>allocation.</a:t>
            </a:r>
            <a:r>
              <a:rPr sz="2000" spc="105" dirty="0">
                <a:latin typeface="Times New Roman"/>
                <a:cs typeface="Times New Roman"/>
              </a:rPr>
              <a:t>  </a:t>
            </a:r>
            <a:r>
              <a:rPr sz="2000" dirty="0">
                <a:latin typeface="Times New Roman"/>
                <a:cs typeface="Times New Roman"/>
              </a:rPr>
              <a:t>As</a:t>
            </a:r>
            <a:r>
              <a:rPr sz="2000" spc="100" dirty="0">
                <a:latin typeface="Times New Roman"/>
                <a:cs typeface="Times New Roman"/>
              </a:rPr>
              <a:t>  </a:t>
            </a:r>
            <a:r>
              <a:rPr sz="2000" dirty="0">
                <a:latin typeface="Times New Roman"/>
                <a:cs typeface="Times New Roman"/>
              </a:rPr>
              <a:t>compared</a:t>
            </a:r>
            <a:r>
              <a:rPr sz="2000" spc="105" dirty="0">
                <a:latin typeface="Times New Roman"/>
                <a:cs typeface="Times New Roman"/>
              </a:rPr>
              <a:t>  </a:t>
            </a:r>
            <a:r>
              <a:rPr sz="2000" spc="-25" dirty="0">
                <a:latin typeface="Times New Roman"/>
                <a:cs typeface="Times New Roman"/>
              </a:rPr>
              <a:t>to </a:t>
            </a:r>
            <a:r>
              <a:rPr sz="2000" dirty="0">
                <a:latin typeface="Times New Roman"/>
                <a:cs typeface="Times New Roman"/>
              </a:rPr>
              <a:t>vector,</a:t>
            </a:r>
            <a:r>
              <a:rPr sz="2000" spc="250" dirty="0">
                <a:latin typeface="Times New Roman"/>
                <a:cs typeface="Times New Roman"/>
              </a:rPr>
              <a:t> </a:t>
            </a:r>
            <a:r>
              <a:rPr sz="2000" dirty="0">
                <a:latin typeface="Times New Roman"/>
                <a:cs typeface="Times New Roman"/>
              </a:rPr>
              <a:t>list</a:t>
            </a:r>
            <a:r>
              <a:rPr sz="2000" spc="254" dirty="0">
                <a:latin typeface="Times New Roman"/>
                <a:cs typeface="Times New Roman"/>
              </a:rPr>
              <a:t> </a:t>
            </a:r>
            <a:r>
              <a:rPr sz="2000" dirty="0">
                <a:latin typeface="Times New Roman"/>
                <a:cs typeface="Times New Roman"/>
              </a:rPr>
              <a:t>has</a:t>
            </a:r>
            <a:r>
              <a:rPr sz="2000" spc="254" dirty="0">
                <a:latin typeface="Times New Roman"/>
                <a:cs typeface="Times New Roman"/>
              </a:rPr>
              <a:t> </a:t>
            </a:r>
            <a:r>
              <a:rPr sz="2000" dirty="0">
                <a:latin typeface="Times New Roman"/>
                <a:cs typeface="Times New Roman"/>
              </a:rPr>
              <a:t>slow</a:t>
            </a:r>
            <a:r>
              <a:rPr sz="2000" spc="265" dirty="0">
                <a:latin typeface="Times New Roman"/>
                <a:cs typeface="Times New Roman"/>
              </a:rPr>
              <a:t> </a:t>
            </a:r>
            <a:r>
              <a:rPr sz="2000" dirty="0">
                <a:latin typeface="Times New Roman"/>
                <a:cs typeface="Times New Roman"/>
              </a:rPr>
              <a:t>traversal,</a:t>
            </a:r>
            <a:r>
              <a:rPr sz="2000" spc="265" dirty="0">
                <a:latin typeface="Times New Roman"/>
                <a:cs typeface="Times New Roman"/>
              </a:rPr>
              <a:t> </a:t>
            </a:r>
            <a:r>
              <a:rPr sz="2000" dirty="0">
                <a:latin typeface="Times New Roman"/>
                <a:cs typeface="Times New Roman"/>
              </a:rPr>
              <a:t>but</a:t>
            </a:r>
            <a:r>
              <a:rPr sz="2000" spc="254" dirty="0">
                <a:latin typeface="Times New Roman"/>
                <a:cs typeface="Times New Roman"/>
              </a:rPr>
              <a:t> </a:t>
            </a:r>
            <a:r>
              <a:rPr sz="2000" dirty="0">
                <a:latin typeface="Times New Roman"/>
                <a:cs typeface="Times New Roman"/>
              </a:rPr>
              <a:t>once</a:t>
            </a:r>
            <a:r>
              <a:rPr sz="2000" spc="260" dirty="0">
                <a:latin typeface="Times New Roman"/>
                <a:cs typeface="Times New Roman"/>
              </a:rPr>
              <a:t> </a:t>
            </a:r>
            <a:r>
              <a:rPr sz="2000" dirty="0">
                <a:latin typeface="Times New Roman"/>
                <a:cs typeface="Times New Roman"/>
              </a:rPr>
              <a:t>a</a:t>
            </a:r>
            <a:r>
              <a:rPr sz="2000" spc="250" dirty="0">
                <a:latin typeface="Times New Roman"/>
                <a:cs typeface="Times New Roman"/>
              </a:rPr>
              <a:t> </a:t>
            </a:r>
            <a:r>
              <a:rPr sz="2000" spc="-10" dirty="0">
                <a:latin typeface="Times New Roman"/>
                <a:cs typeface="Times New Roman"/>
              </a:rPr>
              <a:t>position </a:t>
            </a:r>
            <a:r>
              <a:rPr sz="2000" dirty="0">
                <a:latin typeface="Times New Roman"/>
                <a:cs typeface="Times New Roman"/>
              </a:rPr>
              <a:t>has</a:t>
            </a:r>
            <a:r>
              <a:rPr sz="2000" spc="-15" dirty="0">
                <a:latin typeface="Times New Roman"/>
                <a:cs typeface="Times New Roman"/>
              </a:rPr>
              <a:t> </a:t>
            </a:r>
            <a:r>
              <a:rPr sz="2000" dirty="0">
                <a:latin typeface="Times New Roman"/>
                <a:cs typeface="Times New Roman"/>
              </a:rPr>
              <a:t>been</a:t>
            </a:r>
            <a:r>
              <a:rPr sz="2000" spc="-15" dirty="0">
                <a:latin typeface="Times New Roman"/>
                <a:cs typeface="Times New Roman"/>
              </a:rPr>
              <a:t> </a:t>
            </a:r>
            <a:r>
              <a:rPr sz="2000" dirty="0">
                <a:latin typeface="Times New Roman"/>
                <a:cs typeface="Times New Roman"/>
              </a:rPr>
              <a:t>found,</a:t>
            </a:r>
            <a:r>
              <a:rPr sz="2000" spc="-30" dirty="0">
                <a:latin typeface="Times New Roman"/>
                <a:cs typeface="Times New Roman"/>
              </a:rPr>
              <a:t> </a:t>
            </a:r>
            <a:r>
              <a:rPr sz="2000" dirty="0">
                <a:latin typeface="Times New Roman"/>
                <a:cs typeface="Times New Roman"/>
              </a:rPr>
              <a:t>insertion</a:t>
            </a:r>
            <a:r>
              <a:rPr sz="2000" spc="-40"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deletion</a:t>
            </a:r>
            <a:r>
              <a:rPr sz="2000" spc="-25" dirty="0">
                <a:latin typeface="Times New Roman"/>
                <a:cs typeface="Times New Roman"/>
              </a:rPr>
              <a:t> </a:t>
            </a:r>
            <a:r>
              <a:rPr sz="2000" dirty="0">
                <a:latin typeface="Times New Roman"/>
                <a:cs typeface="Times New Roman"/>
              </a:rPr>
              <a:t>are </a:t>
            </a:r>
            <a:r>
              <a:rPr sz="2000" spc="-10" dirty="0">
                <a:latin typeface="Times New Roman"/>
                <a:cs typeface="Times New Roman"/>
              </a:rPr>
              <a:t>quick.</a:t>
            </a:r>
            <a:endParaRPr sz="2000" dirty="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An</a:t>
            </a:r>
            <a:r>
              <a:rPr sz="2000" spc="434" dirty="0">
                <a:latin typeface="Times New Roman"/>
                <a:cs typeface="Times New Roman"/>
              </a:rPr>
              <a:t> </a:t>
            </a:r>
            <a:r>
              <a:rPr sz="2000" dirty="0">
                <a:latin typeface="Times New Roman"/>
                <a:cs typeface="Times New Roman"/>
              </a:rPr>
              <a:t>STL</a:t>
            </a:r>
            <a:r>
              <a:rPr sz="2000" spc="365" dirty="0">
                <a:latin typeface="Times New Roman"/>
                <a:cs typeface="Times New Roman"/>
              </a:rPr>
              <a:t> </a:t>
            </a:r>
            <a:r>
              <a:rPr sz="2000" dirty="0">
                <a:latin typeface="Times New Roman"/>
                <a:cs typeface="Times New Roman"/>
              </a:rPr>
              <a:t>list</a:t>
            </a:r>
            <a:r>
              <a:rPr sz="2000" spc="430" dirty="0">
                <a:latin typeface="Times New Roman"/>
                <a:cs typeface="Times New Roman"/>
              </a:rPr>
              <a:t> </a:t>
            </a:r>
            <a:r>
              <a:rPr sz="2000" dirty="0">
                <a:latin typeface="Times New Roman"/>
                <a:cs typeface="Times New Roman"/>
              </a:rPr>
              <a:t>container</a:t>
            </a:r>
            <a:r>
              <a:rPr sz="2000" spc="445" dirty="0">
                <a:latin typeface="Times New Roman"/>
                <a:cs typeface="Times New Roman"/>
              </a:rPr>
              <a:t> </a:t>
            </a:r>
            <a:r>
              <a:rPr sz="2000" dirty="0">
                <a:latin typeface="Times New Roman"/>
                <a:cs typeface="Times New Roman"/>
              </a:rPr>
              <a:t>is</a:t>
            </a:r>
            <a:r>
              <a:rPr sz="2000" spc="434" dirty="0">
                <a:latin typeface="Times New Roman"/>
                <a:cs typeface="Times New Roman"/>
              </a:rPr>
              <a:t> </a:t>
            </a:r>
            <a:r>
              <a:rPr sz="2000" dirty="0">
                <a:latin typeface="Times New Roman"/>
                <a:cs typeface="Times New Roman"/>
              </a:rPr>
              <a:t>a</a:t>
            </a:r>
            <a:r>
              <a:rPr sz="2000" spc="420" dirty="0">
                <a:latin typeface="Times New Roman"/>
                <a:cs typeface="Times New Roman"/>
              </a:rPr>
              <a:t> </a:t>
            </a:r>
            <a:r>
              <a:rPr sz="2000" dirty="0">
                <a:latin typeface="Times New Roman"/>
                <a:cs typeface="Times New Roman"/>
              </a:rPr>
              <a:t>doubly</a:t>
            </a:r>
            <a:r>
              <a:rPr sz="2000" spc="434" dirty="0">
                <a:latin typeface="Times New Roman"/>
                <a:cs typeface="Times New Roman"/>
              </a:rPr>
              <a:t> </a:t>
            </a:r>
            <a:r>
              <a:rPr sz="2000" dirty="0">
                <a:latin typeface="Times New Roman"/>
                <a:cs typeface="Times New Roman"/>
              </a:rPr>
              <a:t>linked</a:t>
            </a:r>
            <a:r>
              <a:rPr sz="2000" spc="440" dirty="0">
                <a:latin typeface="Times New Roman"/>
                <a:cs typeface="Times New Roman"/>
              </a:rPr>
              <a:t> </a:t>
            </a:r>
            <a:r>
              <a:rPr sz="2000" dirty="0">
                <a:latin typeface="Times New Roman"/>
                <a:cs typeface="Times New Roman"/>
              </a:rPr>
              <a:t>list,</a:t>
            </a:r>
            <a:r>
              <a:rPr sz="2000" spc="434" dirty="0">
                <a:latin typeface="Times New Roman"/>
                <a:cs typeface="Times New Roman"/>
              </a:rPr>
              <a:t> </a:t>
            </a:r>
            <a:r>
              <a:rPr sz="2000" spc="-25" dirty="0">
                <a:latin typeface="Times New Roman"/>
                <a:cs typeface="Times New Roman"/>
              </a:rPr>
              <a:t>in 	</a:t>
            </a:r>
            <a:r>
              <a:rPr sz="2000" dirty="0">
                <a:latin typeface="Times New Roman"/>
                <a:cs typeface="Times New Roman"/>
              </a:rPr>
              <a:t>which</a:t>
            </a:r>
            <a:r>
              <a:rPr sz="2000" spc="225" dirty="0">
                <a:latin typeface="Times New Roman"/>
                <a:cs typeface="Times New Roman"/>
              </a:rPr>
              <a:t> </a:t>
            </a:r>
            <a:r>
              <a:rPr sz="2000" dirty="0">
                <a:latin typeface="Times New Roman"/>
                <a:cs typeface="Times New Roman"/>
              </a:rPr>
              <a:t>each</a:t>
            </a:r>
            <a:r>
              <a:rPr sz="2000" spc="215" dirty="0">
                <a:latin typeface="Times New Roman"/>
                <a:cs typeface="Times New Roman"/>
              </a:rPr>
              <a:t> </a:t>
            </a:r>
            <a:r>
              <a:rPr sz="2000" dirty="0">
                <a:latin typeface="Times New Roman"/>
                <a:cs typeface="Times New Roman"/>
              </a:rPr>
              <a:t>element</a:t>
            </a:r>
            <a:r>
              <a:rPr sz="2000" spc="225" dirty="0">
                <a:latin typeface="Times New Roman"/>
                <a:cs typeface="Times New Roman"/>
              </a:rPr>
              <a:t> </a:t>
            </a:r>
            <a:r>
              <a:rPr sz="2000" dirty="0">
                <a:latin typeface="Times New Roman"/>
                <a:cs typeface="Times New Roman"/>
              </a:rPr>
              <a:t>contains</a:t>
            </a:r>
            <a:r>
              <a:rPr sz="2000" spc="215" dirty="0">
                <a:latin typeface="Times New Roman"/>
                <a:cs typeface="Times New Roman"/>
              </a:rPr>
              <a:t> </a:t>
            </a:r>
            <a:r>
              <a:rPr sz="2000" dirty="0">
                <a:latin typeface="Times New Roman"/>
                <a:cs typeface="Times New Roman"/>
              </a:rPr>
              <a:t>a</a:t>
            </a:r>
            <a:r>
              <a:rPr sz="2000" spc="210" dirty="0">
                <a:latin typeface="Times New Roman"/>
                <a:cs typeface="Times New Roman"/>
              </a:rPr>
              <a:t> </a:t>
            </a:r>
            <a:r>
              <a:rPr sz="2000" dirty="0">
                <a:latin typeface="Times New Roman"/>
                <a:cs typeface="Times New Roman"/>
              </a:rPr>
              <a:t>pointer</a:t>
            </a:r>
            <a:r>
              <a:rPr sz="2000" spc="215" dirty="0">
                <a:latin typeface="Times New Roman"/>
                <a:cs typeface="Times New Roman"/>
              </a:rPr>
              <a:t> </a:t>
            </a:r>
            <a:r>
              <a:rPr sz="2000" dirty="0">
                <a:latin typeface="Times New Roman"/>
                <a:cs typeface="Times New Roman"/>
              </a:rPr>
              <a:t>not</a:t>
            </a:r>
            <a:r>
              <a:rPr sz="2000" spc="210" dirty="0">
                <a:latin typeface="Times New Roman"/>
                <a:cs typeface="Times New Roman"/>
              </a:rPr>
              <a:t> </a:t>
            </a:r>
            <a:r>
              <a:rPr sz="2000" dirty="0">
                <a:latin typeface="Times New Roman"/>
                <a:cs typeface="Times New Roman"/>
              </a:rPr>
              <a:t>only</a:t>
            </a:r>
            <a:r>
              <a:rPr sz="2000" spc="210" dirty="0">
                <a:latin typeface="Times New Roman"/>
                <a:cs typeface="Times New Roman"/>
              </a:rPr>
              <a:t> </a:t>
            </a:r>
            <a:r>
              <a:rPr sz="2000" spc="-25" dirty="0">
                <a:latin typeface="Times New Roman"/>
                <a:cs typeface="Times New Roman"/>
              </a:rPr>
              <a:t>to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next</a:t>
            </a:r>
            <a:r>
              <a:rPr sz="2000" spc="-30" dirty="0">
                <a:latin typeface="Times New Roman"/>
                <a:cs typeface="Times New Roman"/>
              </a:rPr>
              <a:t> </a:t>
            </a:r>
            <a:r>
              <a:rPr sz="2000" dirty="0">
                <a:latin typeface="Times New Roman"/>
                <a:cs typeface="Times New Roman"/>
              </a:rPr>
              <a:t>element but</a:t>
            </a:r>
            <a:r>
              <a:rPr sz="2000" spc="-25" dirty="0">
                <a:latin typeface="Times New Roman"/>
                <a:cs typeface="Times New Roman"/>
              </a:rPr>
              <a:t> </a:t>
            </a:r>
            <a:r>
              <a:rPr sz="2000" dirty="0">
                <a:latin typeface="Times New Roman"/>
                <a:cs typeface="Times New Roman"/>
              </a:rPr>
              <a:t>also</a:t>
            </a:r>
            <a:r>
              <a:rPr sz="2000" spc="-2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preceding</a:t>
            </a:r>
            <a:r>
              <a:rPr sz="2000" spc="-35" dirty="0">
                <a:latin typeface="Times New Roman"/>
                <a:cs typeface="Times New Roman"/>
              </a:rPr>
              <a:t> </a:t>
            </a:r>
            <a:r>
              <a:rPr sz="2000" spc="-20" dirty="0">
                <a:latin typeface="Times New Roman"/>
                <a:cs typeface="Times New Roman"/>
              </a:rPr>
              <a:t>one.</a:t>
            </a:r>
            <a:endParaRPr sz="2000" dirty="0">
              <a:latin typeface="Times New Roman"/>
              <a:cs typeface="Times New Roman"/>
            </a:endParaRPr>
          </a:p>
        </p:txBody>
      </p:sp>
      <p:sp>
        <p:nvSpPr>
          <p:cNvPr id="5" name="object 5"/>
          <p:cNvSpPr txBox="1"/>
          <p:nvPr/>
        </p:nvSpPr>
        <p:spPr>
          <a:xfrm>
            <a:off x="7818881" y="1714576"/>
            <a:ext cx="2122805" cy="63690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#include</a:t>
            </a:r>
            <a:r>
              <a:rPr sz="2000" spc="-35" dirty="0">
                <a:latin typeface="Times New Roman"/>
                <a:cs typeface="Times New Roman"/>
              </a:rPr>
              <a:t> </a:t>
            </a:r>
            <a:r>
              <a:rPr sz="2000" spc="-10" dirty="0">
                <a:latin typeface="Times New Roman"/>
                <a:cs typeface="Times New Roman"/>
              </a:rPr>
              <a:t>&lt;iostream&gt;</a:t>
            </a:r>
            <a:endParaRPr sz="2000">
              <a:latin typeface="Times New Roman"/>
              <a:cs typeface="Times New Roman"/>
            </a:endParaRPr>
          </a:p>
          <a:p>
            <a:pPr marL="12700">
              <a:lnSpc>
                <a:spcPct val="100000"/>
              </a:lnSpc>
              <a:spcBef>
                <a:spcPts val="5"/>
              </a:spcBef>
            </a:pPr>
            <a:r>
              <a:rPr sz="2000" dirty="0">
                <a:latin typeface="Times New Roman"/>
                <a:cs typeface="Times New Roman"/>
              </a:rPr>
              <a:t>#include</a:t>
            </a:r>
            <a:r>
              <a:rPr sz="2000" spc="-35" dirty="0">
                <a:latin typeface="Times New Roman"/>
                <a:cs typeface="Times New Roman"/>
              </a:rPr>
              <a:t> </a:t>
            </a:r>
            <a:r>
              <a:rPr sz="2000" spc="-10" dirty="0">
                <a:latin typeface="Times New Roman"/>
                <a:cs typeface="Times New Roman"/>
              </a:rPr>
              <a:t>&lt;list&gt;</a:t>
            </a:r>
            <a:endParaRPr sz="2000">
              <a:latin typeface="Times New Roman"/>
              <a:cs typeface="Times New Roman"/>
            </a:endParaRPr>
          </a:p>
        </p:txBody>
      </p:sp>
      <p:sp>
        <p:nvSpPr>
          <p:cNvPr id="6" name="object 6"/>
          <p:cNvSpPr txBox="1"/>
          <p:nvPr/>
        </p:nvSpPr>
        <p:spPr>
          <a:xfrm>
            <a:off x="7818881" y="2629662"/>
            <a:ext cx="218186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using</a:t>
            </a:r>
            <a:r>
              <a:rPr sz="2000" spc="-40" dirty="0">
                <a:latin typeface="Times New Roman"/>
                <a:cs typeface="Times New Roman"/>
              </a:rPr>
              <a:t> </a:t>
            </a:r>
            <a:r>
              <a:rPr sz="2000" dirty="0">
                <a:latin typeface="Times New Roman"/>
                <a:cs typeface="Times New Roman"/>
              </a:rPr>
              <a:t>namespace</a:t>
            </a:r>
            <a:r>
              <a:rPr sz="2000" spc="-20" dirty="0">
                <a:latin typeface="Times New Roman"/>
                <a:cs typeface="Times New Roman"/>
              </a:rPr>
              <a:t> std;</a:t>
            </a:r>
            <a:endParaRPr sz="2000">
              <a:latin typeface="Times New Roman"/>
              <a:cs typeface="Times New Roman"/>
            </a:endParaRPr>
          </a:p>
        </p:txBody>
      </p:sp>
      <p:sp>
        <p:nvSpPr>
          <p:cNvPr id="7" name="object 7"/>
          <p:cNvSpPr txBox="1"/>
          <p:nvPr/>
        </p:nvSpPr>
        <p:spPr>
          <a:xfrm>
            <a:off x="7818881" y="3239516"/>
            <a:ext cx="2465705" cy="155067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int</a:t>
            </a:r>
            <a:r>
              <a:rPr sz="2000" spc="-15" dirty="0">
                <a:latin typeface="Times New Roman"/>
                <a:cs typeface="Times New Roman"/>
              </a:rPr>
              <a:t> </a:t>
            </a:r>
            <a:r>
              <a:rPr sz="2000" spc="-10" dirty="0">
                <a:latin typeface="Times New Roman"/>
                <a:cs typeface="Times New Roman"/>
              </a:rPr>
              <a:t>main()</a:t>
            </a:r>
            <a:endParaRPr sz="2000">
              <a:latin typeface="Times New Roman"/>
              <a:cs typeface="Times New Roman"/>
            </a:endParaRPr>
          </a:p>
          <a:p>
            <a:pPr marL="12700">
              <a:lnSpc>
                <a:spcPct val="100000"/>
              </a:lnSpc>
            </a:pPr>
            <a:r>
              <a:rPr sz="2000" spc="-50" dirty="0">
                <a:latin typeface="Times New Roman"/>
                <a:cs typeface="Times New Roman"/>
              </a:rPr>
              <a:t>{</a:t>
            </a:r>
            <a:endParaRPr sz="2000">
              <a:latin typeface="Times New Roman"/>
              <a:cs typeface="Times New Roman"/>
            </a:endParaRPr>
          </a:p>
          <a:p>
            <a:pPr marL="267335" marR="5080">
              <a:lnSpc>
                <a:spcPct val="100000"/>
              </a:lnSpc>
            </a:pPr>
            <a:r>
              <a:rPr sz="2000" dirty="0">
                <a:latin typeface="Times New Roman"/>
                <a:cs typeface="Times New Roman"/>
              </a:rPr>
              <a:t>list&lt;int&gt;</a:t>
            </a:r>
            <a:r>
              <a:rPr sz="2000" spc="-50" dirty="0">
                <a:latin typeface="Times New Roman"/>
                <a:cs typeface="Times New Roman"/>
              </a:rPr>
              <a:t> </a:t>
            </a:r>
            <a:r>
              <a:rPr sz="2000" spc="-20" dirty="0">
                <a:latin typeface="Times New Roman"/>
                <a:cs typeface="Times New Roman"/>
              </a:rPr>
              <a:t>list;</a:t>
            </a:r>
            <a:r>
              <a:rPr sz="2000" spc="500" dirty="0">
                <a:latin typeface="Times New Roman"/>
                <a:cs typeface="Times New Roman"/>
              </a:rPr>
              <a:t> </a:t>
            </a:r>
            <a:r>
              <a:rPr sz="2000" dirty="0">
                <a:latin typeface="Times New Roman"/>
                <a:cs typeface="Times New Roman"/>
              </a:rPr>
              <a:t>list&lt;int&gt;</a:t>
            </a:r>
            <a:r>
              <a:rPr sz="2000" spc="-50" dirty="0">
                <a:latin typeface="Times New Roman"/>
                <a:cs typeface="Times New Roman"/>
              </a:rPr>
              <a:t> </a:t>
            </a:r>
            <a:r>
              <a:rPr sz="2000" spc="-10" dirty="0">
                <a:latin typeface="Times New Roman"/>
                <a:cs typeface="Times New Roman"/>
              </a:rPr>
              <a:t>list2{1,2,3};</a:t>
            </a:r>
            <a:endParaRPr sz="2000">
              <a:latin typeface="Times New Roman"/>
              <a:cs typeface="Times New Roman"/>
            </a:endParaRPr>
          </a:p>
          <a:p>
            <a:pPr marL="12700">
              <a:lnSpc>
                <a:spcPct val="100000"/>
              </a:lnSpc>
            </a:pPr>
            <a:r>
              <a:rPr sz="2000" spc="-50" dirty="0">
                <a:latin typeface="Times New Roman"/>
                <a:cs typeface="Times New Roman"/>
              </a:rPr>
              <a:t>}</a:t>
            </a:r>
            <a:endParaRPr sz="2000">
              <a:latin typeface="Times New Roman"/>
              <a:cs typeface="Times New Roman"/>
            </a:endParaRPr>
          </a:p>
        </p:txBody>
      </p:sp>
      <p:pic>
        <p:nvPicPr>
          <p:cNvPr id="8" name="object 8"/>
          <p:cNvPicPr/>
          <p:nvPr/>
        </p:nvPicPr>
        <p:blipFill>
          <a:blip r:embed="rId2" cstate="print"/>
          <a:stretch>
            <a:fillRect/>
          </a:stretch>
        </p:blipFill>
        <p:spPr>
          <a:xfrm>
            <a:off x="2720972" y="4314037"/>
            <a:ext cx="2700444" cy="536244"/>
          </a:xfrm>
          <a:prstGeom prst="rect">
            <a:avLst/>
          </a:prstGeom>
        </p:spPr>
      </p:pic>
      <p:pic>
        <p:nvPicPr>
          <p:cNvPr id="9" name="object 9"/>
          <p:cNvPicPr/>
          <p:nvPr/>
        </p:nvPicPr>
        <p:blipFill>
          <a:blip r:embed="rId3" cstate="print"/>
          <a:stretch>
            <a:fillRect/>
          </a:stretch>
        </p:blipFill>
        <p:spPr>
          <a:xfrm>
            <a:off x="1601255" y="4896006"/>
            <a:ext cx="1197056" cy="875271"/>
          </a:xfrm>
          <a:prstGeom prst="rect">
            <a:avLst/>
          </a:prstGeom>
        </p:spPr>
      </p:pic>
      <p:pic>
        <p:nvPicPr>
          <p:cNvPr id="10" name="object 10"/>
          <p:cNvPicPr/>
          <p:nvPr/>
        </p:nvPicPr>
        <p:blipFill>
          <a:blip r:embed="rId4" cstate="print"/>
          <a:stretch>
            <a:fillRect/>
          </a:stretch>
        </p:blipFill>
        <p:spPr>
          <a:xfrm>
            <a:off x="4552473" y="4898462"/>
            <a:ext cx="1164367" cy="999090"/>
          </a:xfrm>
          <a:prstGeom prst="rect">
            <a:avLst/>
          </a:prstGeom>
        </p:spPr>
      </p:pic>
      <p:sp>
        <p:nvSpPr>
          <p:cNvPr id="13" name="object 13"/>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4" name="object 14"/>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5" name="Date Placeholder 14">
            <a:extLst>
              <a:ext uri="{FF2B5EF4-FFF2-40B4-BE49-F238E27FC236}">
                <a16:creationId xmlns:a16="http://schemas.microsoft.com/office/drawing/2014/main" id="{9F01C589-2F03-D92D-5E2B-345F47F6CE0D}"/>
              </a:ext>
            </a:extLst>
          </p:cNvPr>
          <p:cNvSpPr>
            <a:spLocks noGrp="1"/>
          </p:cNvSpPr>
          <p:nvPr>
            <p:ph type="dt" sz="half" idx="10"/>
          </p:nvPr>
        </p:nvSpPr>
        <p:spPr/>
        <p:txBody>
          <a:bodyPr/>
          <a:lstStyle/>
          <a:p>
            <a:fld id="{474331FD-93CC-4C36-BBE7-FEC6194D1FF3}" type="datetime1">
              <a:rPr lang="en-US" smtClean="0"/>
              <a:t>11/17/2025</a:t>
            </a:fld>
            <a:endParaRPr lang="en-US"/>
          </a:p>
        </p:txBody>
      </p:sp>
      <p:sp>
        <p:nvSpPr>
          <p:cNvPr id="16" name="Slide Number Placeholder 15">
            <a:extLst>
              <a:ext uri="{FF2B5EF4-FFF2-40B4-BE49-F238E27FC236}">
                <a16:creationId xmlns:a16="http://schemas.microsoft.com/office/drawing/2014/main" id="{1B608328-6823-AB73-37A1-A18D31A4DAEF}"/>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37</a:t>
            </a:fld>
            <a:endParaRPr spc="-25" dirty="0"/>
          </a:p>
        </p:txBody>
      </p:sp>
      <p:sp>
        <p:nvSpPr>
          <p:cNvPr id="12" name="TextBox 11"/>
          <p:cNvSpPr txBox="1"/>
          <p:nvPr/>
        </p:nvSpPr>
        <p:spPr>
          <a:xfrm>
            <a:off x="7391400" y="4850282"/>
            <a:ext cx="3276601" cy="1200329"/>
          </a:xfrm>
          <a:prstGeom prst="rect">
            <a:avLst/>
          </a:prstGeom>
          <a:noFill/>
        </p:spPr>
        <p:txBody>
          <a:bodyPr wrap="square" rtlCol="0">
            <a:spAutoFit/>
          </a:bodyPr>
          <a:lstStyle/>
          <a:p>
            <a:r>
              <a:rPr lang="en-US" dirty="0"/>
              <a:t>A list is similar to a </a:t>
            </a:r>
            <a:r>
              <a:rPr lang="en-US" dirty="0">
                <a:hlinkClick r:id="rId5"/>
              </a:rPr>
              <a:t>vector</a:t>
            </a:r>
            <a:r>
              <a:rPr lang="en-US" dirty="0"/>
              <a:t> in that it can store multiple elements of the same type and dynamically grow in size.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spc="-10" dirty="0"/>
              <a:t>Lists</a:t>
            </a:r>
          </a:p>
        </p:txBody>
      </p:sp>
      <p:sp>
        <p:nvSpPr>
          <p:cNvPr id="11" name="object 11"/>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5" name="object 5"/>
          <p:cNvSpPr txBox="1"/>
          <p:nvPr/>
        </p:nvSpPr>
        <p:spPr>
          <a:xfrm>
            <a:off x="7818881" y="1714576"/>
            <a:ext cx="2122805" cy="63690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#include</a:t>
            </a:r>
            <a:r>
              <a:rPr sz="2000" spc="-35" dirty="0">
                <a:latin typeface="Times New Roman"/>
                <a:cs typeface="Times New Roman"/>
              </a:rPr>
              <a:t> </a:t>
            </a:r>
            <a:r>
              <a:rPr sz="2000" spc="-10" dirty="0">
                <a:latin typeface="Times New Roman"/>
                <a:cs typeface="Times New Roman"/>
              </a:rPr>
              <a:t>&lt;iostream&gt;</a:t>
            </a:r>
            <a:endParaRPr sz="2000">
              <a:latin typeface="Times New Roman"/>
              <a:cs typeface="Times New Roman"/>
            </a:endParaRPr>
          </a:p>
          <a:p>
            <a:pPr marL="12700">
              <a:lnSpc>
                <a:spcPct val="100000"/>
              </a:lnSpc>
              <a:spcBef>
                <a:spcPts val="5"/>
              </a:spcBef>
            </a:pPr>
            <a:r>
              <a:rPr sz="2000" dirty="0">
                <a:latin typeface="Times New Roman"/>
                <a:cs typeface="Times New Roman"/>
              </a:rPr>
              <a:t>#include</a:t>
            </a:r>
            <a:r>
              <a:rPr sz="2000" spc="-35" dirty="0">
                <a:latin typeface="Times New Roman"/>
                <a:cs typeface="Times New Roman"/>
              </a:rPr>
              <a:t> </a:t>
            </a:r>
            <a:r>
              <a:rPr sz="2000" spc="-10" dirty="0">
                <a:latin typeface="Times New Roman"/>
                <a:cs typeface="Times New Roman"/>
              </a:rPr>
              <a:t>&lt;list&gt;</a:t>
            </a:r>
            <a:endParaRPr sz="2000">
              <a:latin typeface="Times New Roman"/>
              <a:cs typeface="Times New Roman"/>
            </a:endParaRPr>
          </a:p>
        </p:txBody>
      </p:sp>
      <p:sp>
        <p:nvSpPr>
          <p:cNvPr id="6" name="object 6"/>
          <p:cNvSpPr txBox="1"/>
          <p:nvPr/>
        </p:nvSpPr>
        <p:spPr>
          <a:xfrm>
            <a:off x="7818881" y="2629662"/>
            <a:ext cx="218186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using</a:t>
            </a:r>
            <a:r>
              <a:rPr sz="2000" spc="-40" dirty="0">
                <a:latin typeface="Times New Roman"/>
                <a:cs typeface="Times New Roman"/>
              </a:rPr>
              <a:t> </a:t>
            </a:r>
            <a:r>
              <a:rPr sz="2000" dirty="0">
                <a:latin typeface="Times New Roman"/>
                <a:cs typeface="Times New Roman"/>
              </a:rPr>
              <a:t>namespace</a:t>
            </a:r>
            <a:r>
              <a:rPr sz="2000" spc="-20" dirty="0">
                <a:latin typeface="Times New Roman"/>
                <a:cs typeface="Times New Roman"/>
              </a:rPr>
              <a:t> std;</a:t>
            </a:r>
            <a:endParaRPr sz="2000">
              <a:latin typeface="Times New Roman"/>
              <a:cs typeface="Times New Roman"/>
            </a:endParaRPr>
          </a:p>
        </p:txBody>
      </p:sp>
      <p:sp>
        <p:nvSpPr>
          <p:cNvPr id="7" name="object 7"/>
          <p:cNvSpPr txBox="1"/>
          <p:nvPr/>
        </p:nvSpPr>
        <p:spPr>
          <a:xfrm>
            <a:off x="7818881" y="3239516"/>
            <a:ext cx="2465705" cy="155067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int</a:t>
            </a:r>
            <a:r>
              <a:rPr sz="2000" spc="-15" dirty="0">
                <a:latin typeface="Times New Roman"/>
                <a:cs typeface="Times New Roman"/>
              </a:rPr>
              <a:t> </a:t>
            </a:r>
            <a:r>
              <a:rPr sz="2000" spc="-10" dirty="0">
                <a:latin typeface="Times New Roman"/>
                <a:cs typeface="Times New Roman"/>
              </a:rPr>
              <a:t>main()</a:t>
            </a:r>
            <a:endParaRPr sz="2000">
              <a:latin typeface="Times New Roman"/>
              <a:cs typeface="Times New Roman"/>
            </a:endParaRPr>
          </a:p>
          <a:p>
            <a:pPr marL="12700">
              <a:lnSpc>
                <a:spcPct val="100000"/>
              </a:lnSpc>
            </a:pPr>
            <a:r>
              <a:rPr sz="2000" spc="-50" dirty="0">
                <a:latin typeface="Times New Roman"/>
                <a:cs typeface="Times New Roman"/>
              </a:rPr>
              <a:t>{</a:t>
            </a:r>
            <a:endParaRPr sz="2000">
              <a:latin typeface="Times New Roman"/>
              <a:cs typeface="Times New Roman"/>
            </a:endParaRPr>
          </a:p>
          <a:p>
            <a:pPr marL="267335" marR="5080">
              <a:lnSpc>
                <a:spcPct val="100000"/>
              </a:lnSpc>
            </a:pPr>
            <a:r>
              <a:rPr sz="2000" dirty="0">
                <a:latin typeface="Times New Roman"/>
                <a:cs typeface="Times New Roman"/>
              </a:rPr>
              <a:t>list&lt;int&gt;</a:t>
            </a:r>
            <a:r>
              <a:rPr sz="2000" spc="-50" dirty="0">
                <a:latin typeface="Times New Roman"/>
                <a:cs typeface="Times New Roman"/>
              </a:rPr>
              <a:t> </a:t>
            </a:r>
            <a:r>
              <a:rPr sz="2000" spc="-20" dirty="0">
                <a:latin typeface="Times New Roman"/>
                <a:cs typeface="Times New Roman"/>
              </a:rPr>
              <a:t>list;</a:t>
            </a:r>
            <a:r>
              <a:rPr sz="2000" spc="500" dirty="0">
                <a:latin typeface="Times New Roman"/>
                <a:cs typeface="Times New Roman"/>
              </a:rPr>
              <a:t> </a:t>
            </a:r>
            <a:r>
              <a:rPr sz="2000" dirty="0">
                <a:latin typeface="Times New Roman"/>
                <a:cs typeface="Times New Roman"/>
              </a:rPr>
              <a:t>list&lt;int&gt;</a:t>
            </a:r>
            <a:r>
              <a:rPr sz="2000" spc="-50" dirty="0">
                <a:latin typeface="Times New Roman"/>
                <a:cs typeface="Times New Roman"/>
              </a:rPr>
              <a:t> </a:t>
            </a:r>
            <a:r>
              <a:rPr sz="2000" spc="-10" dirty="0">
                <a:latin typeface="Times New Roman"/>
                <a:cs typeface="Times New Roman"/>
              </a:rPr>
              <a:t>list2{1,2,3};</a:t>
            </a:r>
            <a:endParaRPr sz="2000">
              <a:latin typeface="Times New Roman"/>
              <a:cs typeface="Times New Roman"/>
            </a:endParaRPr>
          </a:p>
          <a:p>
            <a:pPr marL="12700">
              <a:lnSpc>
                <a:spcPct val="100000"/>
              </a:lnSpc>
            </a:pPr>
            <a:r>
              <a:rPr sz="2000" spc="-50" dirty="0">
                <a:latin typeface="Times New Roman"/>
                <a:cs typeface="Times New Roman"/>
              </a:rPr>
              <a:t>}</a:t>
            </a:r>
            <a:endParaRPr sz="2000">
              <a:latin typeface="Times New Roman"/>
              <a:cs typeface="Times New Roman"/>
            </a:endParaRPr>
          </a:p>
        </p:txBody>
      </p:sp>
      <p:pic>
        <p:nvPicPr>
          <p:cNvPr id="8" name="object 8"/>
          <p:cNvPicPr/>
          <p:nvPr/>
        </p:nvPicPr>
        <p:blipFill>
          <a:blip r:embed="rId2" cstate="print"/>
          <a:stretch>
            <a:fillRect/>
          </a:stretch>
        </p:blipFill>
        <p:spPr>
          <a:xfrm>
            <a:off x="2720972" y="4314037"/>
            <a:ext cx="2700444" cy="536244"/>
          </a:xfrm>
          <a:prstGeom prst="rect">
            <a:avLst/>
          </a:prstGeom>
        </p:spPr>
      </p:pic>
      <p:pic>
        <p:nvPicPr>
          <p:cNvPr id="9" name="object 9"/>
          <p:cNvPicPr/>
          <p:nvPr/>
        </p:nvPicPr>
        <p:blipFill>
          <a:blip r:embed="rId3" cstate="print"/>
          <a:stretch>
            <a:fillRect/>
          </a:stretch>
        </p:blipFill>
        <p:spPr>
          <a:xfrm>
            <a:off x="1601255" y="4896006"/>
            <a:ext cx="1197056" cy="875271"/>
          </a:xfrm>
          <a:prstGeom prst="rect">
            <a:avLst/>
          </a:prstGeom>
        </p:spPr>
      </p:pic>
      <p:pic>
        <p:nvPicPr>
          <p:cNvPr id="10" name="object 10"/>
          <p:cNvPicPr/>
          <p:nvPr/>
        </p:nvPicPr>
        <p:blipFill>
          <a:blip r:embed="rId4" cstate="print"/>
          <a:stretch>
            <a:fillRect/>
          </a:stretch>
        </p:blipFill>
        <p:spPr>
          <a:xfrm>
            <a:off x="4552473" y="4898462"/>
            <a:ext cx="1164367" cy="999090"/>
          </a:xfrm>
          <a:prstGeom prst="rect">
            <a:avLst/>
          </a:prstGeom>
        </p:spPr>
      </p:pic>
      <p:sp>
        <p:nvSpPr>
          <p:cNvPr id="13" name="object 13"/>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4" name="object 14"/>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5" name="Date Placeholder 14">
            <a:extLst>
              <a:ext uri="{FF2B5EF4-FFF2-40B4-BE49-F238E27FC236}">
                <a16:creationId xmlns:a16="http://schemas.microsoft.com/office/drawing/2014/main" id="{9F01C589-2F03-D92D-5E2B-345F47F6CE0D}"/>
              </a:ext>
            </a:extLst>
          </p:cNvPr>
          <p:cNvSpPr>
            <a:spLocks noGrp="1"/>
          </p:cNvSpPr>
          <p:nvPr>
            <p:ph type="dt" sz="half" idx="10"/>
          </p:nvPr>
        </p:nvSpPr>
        <p:spPr/>
        <p:txBody>
          <a:bodyPr/>
          <a:lstStyle/>
          <a:p>
            <a:fld id="{474331FD-93CC-4C36-BBE7-FEC6194D1FF3}" type="datetime1">
              <a:rPr lang="en-US" smtClean="0"/>
              <a:t>11/17/2025</a:t>
            </a:fld>
            <a:endParaRPr lang="en-US"/>
          </a:p>
        </p:txBody>
      </p:sp>
      <p:sp>
        <p:nvSpPr>
          <p:cNvPr id="16" name="Slide Number Placeholder 15">
            <a:extLst>
              <a:ext uri="{FF2B5EF4-FFF2-40B4-BE49-F238E27FC236}">
                <a16:creationId xmlns:a16="http://schemas.microsoft.com/office/drawing/2014/main" id="{1B608328-6823-AB73-37A1-A18D31A4DAEF}"/>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38</a:t>
            </a:fld>
            <a:endParaRPr spc="-25" dirty="0"/>
          </a:p>
        </p:txBody>
      </p:sp>
      <p:sp>
        <p:nvSpPr>
          <p:cNvPr id="12" name="TextBox 11"/>
          <p:cNvSpPr txBox="1"/>
          <p:nvPr/>
        </p:nvSpPr>
        <p:spPr>
          <a:xfrm>
            <a:off x="7391400" y="4850282"/>
            <a:ext cx="3276601" cy="923330"/>
          </a:xfrm>
          <a:prstGeom prst="rect">
            <a:avLst/>
          </a:prstGeom>
          <a:noFill/>
        </p:spPr>
        <p:txBody>
          <a:bodyPr wrap="square" rtlCol="0">
            <a:spAutoFit/>
          </a:bodyPr>
          <a:lstStyle/>
          <a:p>
            <a:r>
              <a:rPr lang="en-US" dirty="0">
                <a:solidFill>
                  <a:srgbClr val="FF0000"/>
                </a:solidFill>
              </a:rPr>
              <a:t>N.B: The type of the list cannot be changed after its been declared.</a:t>
            </a:r>
          </a:p>
        </p:txBody>
      </p:sp>
      <p:sp>
        <p:nvSpPr>
          <p:cNvPr id="18" name="TextBox 17"/>
          <p:cNvSpPr txBox="1"/>
          <p:nvPr/>
        </p:nvSpPr>
        <p:spPr>
          <a:xfrm>
            <a:off x="609601" y="2133600"/>
            <a:ext cx="5943600" cy="923330"/>
          </a:xfrm>
          <a:prstGeom prst="rect">
            <a:avLst/>
          </a:prstGeom>
          <a:noFill/>
        </p:spPr>
        <p:txBody>
          <a:bodyPr wrap="square" rtlCol="0">
            <a:spAutoFit/>
          </a:bodyPr>
          <a:lstStyle/>
          <a:p>
            <a:r>
              <a:rPr lang="en-US" dirty="0"/>
              <a:t>To create a list, use the list keyword, and specify the type of values it should store within angle brackets &lt;&gt; and then the name of the list, like: </a:t>
            </a:r>
            <a:r>
              <a:rPr lang="en-US" b="1" dirty="0">
                <a:solidFill>
                  <a:srgbClr val="FF0000"/>
                </a:solidFill>
              </a:rPr>
              <a:t>list&lt;type&gt; </a:t>
            </a:r>
            <a:r>
              <a:rPr lang="en-US" b="1" dirty="0" err="1">
                <a:solidFill>
                  <a:srgbClr val="FF0000"/>
                </a:solidFill>
              </a:rPr>
              <a:t>listName</a:t>
            </a:r>
            <a:r>
              <a:rPr lang="en-US" b="1" dirty="0">
                <a:solidFill>
                  <a:srgbClr val="FF0000"/>
                </a:solidFill>
              </a:rPr>
              <a:t>.</a:t>
            </a:r>
          </a:p>
        </p:txBody>
      </p:sp>
    </p:spTree>
    <p:extLst>
      <p:ext uri="{BB962C8B-B14F-4D97-AF65-F5344CB8AC3E}">
        <p14:creationId xmlns:p14="http://schemas.microsoft.com/office/powerpoint/2010/main" val="2915636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2138"/>
            <a:ext cx="10515600" cy="1131537"/>
          </a:xfrm>
          <a:prstGeom prst="rect">
            <a:avLst/>
          </a:prstGeom>
        </p:spPr>
        <p:txBody>
          <a:bodyPr vert="horz" wrap="square" lIns="0" tIns="450034" rIns="0" bIns="0" rtlCol="0">
            <a:spAutoFit/>
          </a:bodyPr>
          <a:lstStyle/>
          <a:p>
            <a:pPr marL="12700">
              <a:lnSpc>
                <a:spcPct val="100000"/>
              </a:lnSpc>
              <a:spcBef>
                <a:spcPts val="95"/>
              </a:spcBef>
            </a:pPr>
            <a:r>
              <a:rPr spc="-10" dirty="0"/>
              <a:t>Lists</a:t>
            </a:r>
          </a:p>
        </p:txBody>
      </p:sp>
      <p:sp>
        <p:nvSpPr>
          <p:cNvPr id="11" name="object 11"/>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8" name="object 8"/>
          <p:cNvPicPr/>
          <p:nvPr/>
        </p:nvPicPr>
        <p:blipFill>
          <a:blip r:embed="rId2" cstate="print"/>
          <a:stretch>
            <a:fillRect/>
          </a:stretch>
        </p:blipFill>
        <p:spPr>
          <a:xfrm>
            <a:off x="2720972" y="4314037"/>
            <a:ext cx="2700444" cy="536244"/>
          </a:xfrm>
          <a:prstGeom prst="rect">
            <a:avLst/>
          </a:prstGeom>
        </p:spPr>
      </p:pic>
      <p:pic>
        <p:nvPicPr>
          <p:cNvPr id="9" name="object 9"/>
          <p:cNvPicPr/>
          <p:nvPr/>
        </p:nvPicPr>
        <p:blipFill>
          <a:blip r:embed="rId3" cstate="print"/>
          <a:stretch>
            <a:fillRect/>
          </a:stretch>
        </p:blipFill>
        <p:spPr>
          <a:xfrm>
            <a:off x="1601255" y="4896006"/>
            <a:ext cx="1197056" cy="875271"/>
          </a:xfrm>
          <a:prstGeom prst="rect">
            <a:avLst/>
          </a:prstGeom>
        </p:spPr>
      </p:pic>
      <p:pic>
        <p:nvPicPr>
          <p:cNvPr id="10" name="object 10"/>
          <p:cNvPicPr/>
          <p:nvPr/>
        </p:nvPicPr>
        <p:blipFill>
          <a:blip r:embed="rId4" cstate="print"/>
          <a:stretch>
            <a:fillRect/>
          </a:stretch>
        </p:blipFill>
        <p:spPr>
          <a:xfrm>
            <a:off x="4552473" y="4898462"/>
            <a:ext cx="1164367" cy="999090"/>
          </a:xfrm>
          <a:prstGeom prst="rect">
            <a:avLst/>
          </a:prstGeom>
        </p:spPr>
      </p:pic>
      <p:sp>
        <p:nvSpPr>
          <p:cNvPr id="13" name="object 13"/>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4" name="object 14"/>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5" name="Date Placeholder 14">
            <a:extLst>
              <a:ext uri="{FF2B5EF4-FFF2-40B4-BE49-F238E27FC236}">
                <a16:creationId xmlns:a16="http://schemas.microsoft.com/office/drawing/2014/main" id="{9F01C589-2F03-D92D-5E2B-345F47F6CE0D}"/>
              </a:ext>
            </a:extLst>
          </p:cNvPr>
          <p:cNvSpPr>
            <a:spLocks noGrp="1"/>
          </p:cNvSpPr>
          <p:nvPr>
            <p:ph type="dt" sz="half" idx="10"/>
          </p:nvPr>
        </p:nvSpPr>
        <p:spPr/>
        <p:txBody>
          <a:bodyPr/>
          <a:lstStyle/>
          <a:p>
            <a:fld id="{474331FD-93CC-4C36-BBE7-FEC6194D1FF3}" type="datetime1">
              <a:rPr lang="en-US" smtClean="0"/>
              <a:t>11/17/2025</a:t>
            </a:fld>
            <a:endParaRPr lang="en-US"/>
          </a:p>
        </p:txBody>
      </p:sp>
      <p:sp>
        <p:nvSpPr>
          <p:cNvPr id="16" name="Slide Number Placeholder 15">
            <a:extLst>
              <a:ext uri="{FF2B5EF4-FFF2-40B4-BE49-F238E27FC236}">
                <a16:creationId xmlns:a16="http://schemas.microsoft.com/office/drawing/2014/main" id="{1B608328-6823-AB73-37A1-A18D31A4DAEF}"/>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39</a:t>
            </a:fld>
            <a:endParaRPr spc="-25" dirty="0"/>
          </a:p>
        </p:txBody>
      </p:sp>
      <p:sp>
        <p:nvSpPr>
          <p:cNvPr id="18" name="TextBox 17"/>
          <p:cNvSpPr txBox="1"/>
          <p:nvPr/>
        </p:nvSpPr>
        <p:spPr>
          <a:xfrm>
            <a:off x="609601" y="2133600"/>
            <a:ext cx="5943600" cy="2585323"/>
          </a:xfrm>
          <a:prstGeom prst="rect">
            <a:avLst/>
          </a:prstGeom>
          <a:noFill/>
        </p:spPr>
        <p:txBody>
          <a:bodyPr wrap="square" rtlCol="0">
            <a:spAutoFit/>
          </a:bodyPr>
          <a:lstStyle/>
          <a:p>
            <a:r>
              <a:rPr lang="en-US" b="1" dirty="0">
                <a:solidFill>
                  <a:schemeClr val="tx1">
                    <a:lumMod val="65000"/>
                    <a:lumOff val="35000"/>
                  </a:schemeClr>
                </a:solidFill>
              </a:rPr>
              <a:t>You cannot access list elements by referring to index numbers, like with arrays and vectors.</a:t>
            </a:r>
          </a:p>
          <a:p>
            <a:endParaRPr lang="en-US" b="1" dirty="0">
              <a:solidFill>
                <a:schemeClr val="tx1">
                  <a:lumMod val="65000"/>
                  <a:lumOff val="35000"/>
                </a:schemeClr>
              </a:solidFill>
            </a:endParaRPr>
          </a:p>
          <a:p>
            <a:r>
              <a:rPr lang="en-US" b="1" dirty="0">
                <a:solidFill>
                  <a:schemeClr val="tx1">
                    <a:lumMod val="65000"/>
                    <a:lumOff val="35000"/>
                  </a:schemeClr>
                </a:solidFill>
              </a:rPr>
              <a:t>However, you can access the first or the last element with the .front() and .back() functions, respectively:</a:t>
            </a:r>
          </a:p>
          <a:p>
            <a:endParaRPr lang="en-US" b="1" dirty="0">
              <a:solidFill>
                <a:schemeClr val="tx1">
                  <a:lumMod val="65000"/>
                  <a:lumOff val="35000"/>
                </a:schemeClr>
              </a:solidFill>
            </a:endParaRPr>
          </a:p>
          <a:p>
            <a:r>
              <a:rPr lang="en-US" b="1" dirty="0">
                <a:solidFill>
                  <a:schemeClr val="tx1">
                    <a:lumMod val="65000"/>
                    <a:lumOff val="35000"/>
                  </a:schemeClr>
                </a:solidFill>
              </a:rPr>
              <a:t>But change the value of the first or the last element with the .front() and .back() functions</a:t>
            </a:r>
          </a:p>
          <a:p>
            <a:endParaRPr lang="en-US" b="1" dirty="0">
              <a:solidFill>
                <a:schemeClr val="tx1">
                  <a:lumMod val="65000"/>
                  <a:lumOff val="35000"/>
                </a:schemeClr>
              </a:solidFill>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9868" y="1408804"/>
            <a:ext cx="4915586" cy="4477375"/>
          </a:xfrm>
          <a:prstGeom prst="rect">
            <a:avLst/>
          </a:prstGeom>
        </p:spPr>
      </p:pic>
    </p:spTree>
    <p:extLst>
      <p:ext uri="{BB962C8B-B14F-4D97-AF65-F5344CB8AC3E}">
        <p14:creationId xmlns:p14="http://schemas.microsoft.com/office/powerpoint/2010/main" val="21844626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Lists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821232" y="1880997"/>
            <a:ext cx="5370195" cy="3989704"/>
          </a:xfrm>
          <a:prstGeom prst="rect">
            <a:avLst/>
          </a:prstGeom>
        </p:spPr>
        <p:txBody>
          <a:bodyPr vert="horz" wrap="square" lIns="0" tIns="13335" rIns="0" bIns="0" rtlCol="0">
            <a:spAutoFit/>
          </a:bodyPr>
          <a:lstStyle/>
          <a:p>
            <a:pPr marL="352425" marR="5080"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250" dirty="0">
                <a:latin typeface="Times New Roman"/>
                <a:cs typeface="Times New Roman"/>
              </a:rPr>
              <a:t>  </a:t>
            </a:r>
            <a:r>
              <a:rPr sz="2000" b="1" dirty="0">
                <a:latin typeface="Times New Roman"/>
                <a:cs typeface="Times New Roman"/>
              </a:rPr>
              <a:t>push_front(),</a:t>
            </a:r>
            <a:r>
              <a:rPr sz="2000" b="1" spc="250" dirty="0">
                <a:latin typeface="Times New Roman"/>
                <a:cs typeface="Times New Roman"/>
              </a:rPr>
              <a:t>  </a:t>
            </a:r>
            <a:r>
              <a:rPr sz="2000" b="1" dirty="0">
                <a:latin typeface="Times New Roman"/>
                <a:cs typeface="Times New Roman"/>
              </a:rPr>
              <a:t>pop_front(),</a:t>
            </a:r>
            <a:r>
              <a:rPr sz="2000" b="1" spc="250" dirty="0">
                <a:latin typeface="Times New Roman"/>
                <a:cs typeface="Times New Roman"/>
              </a:rPr>
              <a:t>  </a:t>
            </a:r>
            <a:r>
              <a:rPr sz="2000" dirty="0">
                <a:latin typeface="Times New Roman"/>
                <a:cs typeface="Times New Roman"/>
              </a:rPr>
              <a:t>and</a:t>
            </a:r>
            <a:r>
              <a:rPr sz="2000" spc="250" dirty="0">
                <a:latin typeface="Times New Roman"/>
                <a:cs typeface="Times New Roman"/>
              </a:rPr>
              <a:t>  </a:t>
            </a:r>
            <a:r>
              <a:rPr sz="2000" b="1" spc="-10" dirty="0">
                <a:latin typeface="Times New Roman"/>
                <a:cs typeface="Times New Roman"/>
              </a:rPr>
              <a:t>front() 	</a:t>
            </a:r>
            <a:r>
              <a:rPr sz="2000" dirty="0">
                <a:latin typeface="Times New Roman"/>
                <a:cs typeface="Times New Roman"/>
              </a:rPr>
              <a:t>member</a:t>
            </a:r>
            <a:r>
              <a:rPr sz="2000" spc="450" dirty="0">
                <a:latin typeface="Times New Roman"/>
                <a:cs typeface="Times New Roman"/>
              </a:rPr>
              <a:t> </a:t>
            </a:r>
            <a:r>
              <a:rPr sz="2000" dirty="0">
                <a:latin typeface="Times New Roman"/>
                <a:cs typeface="Times New Roman"/>
              </a:rPr>
              <a:t>functions</a:t>
            </a:r>
            <a:r>
              <a:rPr sz="2000" spc="445" dirty="0">
                <a:latin typeface="Times New Roman"/>
                <a:cs typeface="Times New Roman"/>
              </a:rPr>
              <a:t> </a:t>
            </a:r>
            <a:r>
              <a:rPr sz="2000" dirty="0">
                <a:latin typeface="Times New Roman"/>
                <a:cs typeface="Times New Roman"/>
              </a:rPr>
              <a:t>are</a:t>
            </a:r>
            <a:r>
              <a:rPr sz="2000" spc="430" dirty="0">
                <a:latin typeface="Times New Roman"/>
                <a:cs typeface="Times New Roman"/>
              </a:rPr>
              <a:t> </a:t>
            </a:r>
            <a:r>
              <a:rPr sz="2000" dirty="0">
                <a:latin typeface="Times New Roman"/>
                <a:cs typeface="Times New Roman"/>
              </a:rPr>
              <a:t>similar</a:t>
            </a:r>
            <a:r>
              <a:rPr sz="2000" spc="450" dirty="0">
                <a:latin typeface="Times New Roman"/>
                <a:cs typeface="Times New Roman"/>
              </a:rPr>
              <a:t> </a:t>
            </a:r>
            <a:r>
              <a:rPr sz="2000" dirty="0">
                <a:latin typeface="Times New Roman"/>
                <a:cs typeface="Times New Roman"/>
              </a:rPr>
              <a:t>to</a:t>
            </a:r>
            <a:r>
              <a:rPr sz="2000" spc="440" dirty="0">
                <a:latin typeface="Times New Roman"/>
                <a:cs typeface="Times New Roman"/>
              </a:rPr>
              <a:t> </a:t>
            </a:r>
            <a:r>
              <a:rPr sz="2000" b="1" spc="-10" dirty="0">
                <a:latin typeface="Times New Roman"/>
                <a:cs typeface="Times New Roman"/>
              </a:rPr>
              <a:t>push_back(), 	</a:t>
            </a:r>
            <a:r>
              <a:rPr sz="2000" b="1" dirty="0">
                <a:latin typeface="Times New Roman"/>
                <a:cs typeface="Times New Roman"/>
              </a:rPr>
              <a:t>pop_back(),</a:t>
            </a:r>
            <a:r>
              <a:rPr sz="2000" b="1" spc="425" dirty="0">
                <a:latin typeface="Times New Roman"/>
                <a:cs typeface="Times New Roman"/>
              </a:rPr>
              <a:t> </a:t>
            </a:r>
            <a:r>
              <a:rPr sz="2000" dirty="0">
                <a:latin typeface="Times New Roman"/>
                <a:cs typeface="Times New Roman"/>
              </a:rPr>
              <a:t>and</a:t>
            </a:r>
            <a:r>
              <a:rPr sz="2000" spc="415" dirty="0">
                <a:latin typeface="Times New Roman"/>
                <a:cs typeface="Times New Roman"/>
              </a:rPr>
              <a:t> </a:t>
            </a:r>
            <a:r>
              <a:rPr sz="2000" b="1" dirty="0">
                <a:latin typeface="Times New Roman"/>
                <a:cs typeface="Times New Roman"/>
              </a:rPr>
              <a:t>back()</a:t>
            </a:r>
            <a:r>
              <a:rPr sz="2000" dirty="0">
                <a:latin typeface="Times New Roman"/>
                <a:cs typeface="Times New Roman"/>
              </a:rPr>
              <a:t>,</a:t>
            </a:r>
            <a:r>
              <a:rPr sz="2000" spc="420" dirty="0">
                <a:latin typeface="Times New Roman"/>
                <a:cs typeface="Times New Roman"/>
              </a:rPr>
              <a:t> </a:t>
            </a:r>
            <a:r>
              <a:rPr sz="2000" dirty="0">
                <a:latin typeface="Times New Roman"/>
                <a:cs typeface="Times New Roman"/>
              </a:rPr>
              <a:t>which</a:t>
            </a:r>
            <a:r>
              <a:rPr sz="2000" spc="425" dirty="0">
                <a:latin typeface="Times New Roman"/>
                <a:cs typeface="Times New Roman"/>
              </a:rPr>
              <a:t> </a:t>
            </a:r>
            <a:r>
              <a:rPr sz="2000" dirty="0">
                <a:latin typeface="Times New Roman"/>
                <a:cs typeface="Times New Roman"/>
              </a:rPr>
              <a:t>we’ve</a:t>
            </a:r>
            <a:r>
              <a:rPr sz="2000" spc="420" dirty="0">
                <a:latin typeface="Times New Roman"/>
                <a:cs typeface="Times New Roman"/>
              </a:rPr>
              <a:t> </a:t>
            </a:r>
            <a:r>
              <a:rPr sz="2000" spc="-10" dirty="0">
                <a:latin typeface="Times New Roman"/>
                <a:cs typeface="Times New Roman"/>
              </a:rPr>
              <a:t>already 	</a:t>
            </a:r>
            <a:r>
              <a:rPr sz="2000" dirty="0">
                <a:latin typeface="Times New Roman"/>
                <a:cs typeface="Times New Roman"/>
              </a:rPr>
              <a:t>seen</a:t>
            </a:r>
            <a:r>
              <a:rPr sz="2000" spc="-15" dirty="0">
                <a:latin typeface="Times New Roman"/>
                <a:cs typeface="Times New Roman"/>
              </a:rPr>
              <a:t> </a:t>
            </a:r>
            <a:r>
              <a:rPr sz="2000" dirty="0">
                <a:latin typeface="Times New Roman"/>
                <a:cs typeface="Times New Roman"/>
              </a:rPr>
              <a:t>at work</a:t>
            </a:r>
            <a:r>
              <a:rPr sz="2000" spc="-30" dirty="0">
                <a:latin typeface="Times New Roman"/>
                <a:cs typeface="Times New Roman"/>
              </a:rPr>
              <a:t> </a:t>
            </a:r>
            <a:r>
              <a:rPr sz="2000" dirty="0">
                <a:latin typeface="Times New Roman"/>
                <a:cs typeface="Times New Roman"/>
              </a:rPr>
              <a:t>with</a:t>
            </a:r>
            <a:r>
              <a:rPr sz="2000" spc="-5" dirty="0">
                <a:latin typeface="Times New Roman"/>
                <a:cs typeface="Times New Roman"/>
              </a:rPr>
              <a:t> </a:t>
            </a:r>
            <a:r>
              <a:rPr sz="2000" spc="-10" dirty="0">
                <a:latin typeface="Times New Roman"/>
                <a:cs typeface="Times New Roman"/>
              </a:rPr>
              <a:t>vectors.</a:t>
            </a:r>
            <a:endParaRPr sz="2000">
              <a:latin typeface="Times New Roman"/>
              <a:cs typeface="Times New Roman"/>
            </a:endParaRPr>
          </a:p>
          <a:p>
            <a:pPr marL="352425" indent="-339725" algn="just">
              <a:lnSpc>
                <a:spcPct val="100000"/>
              </a:lnSpc>
              <a:buFont typeface="Arial MT"/>
              <a:buChar char="•"/>
              <a:tabLst>
                <a:tab pos="352425" algn="l"/>
              </a:tabLst>
            </a:pPr>
            <a:r>
              <a:rPr sz="2000" dirty="0">
                <a:latin typeface="Times New Roman"/>
                <a:cs typeface="Times New Roman"/>
              </a:rPr>
              <a:t>The</a:t>
            </a:r>
            <a:r>
              <a:rPr sz="2000" spc="-10" dirty="0">
                <a:latin typeface="Times New Roman"/>
                <a:cs typeface="Times New Roman"/>
              </a:rPr>
              <a:t> </a:t>
            </a:r>
            <a:r>
              <a:rPr sz="2000" b="1" dirty="0">
                <a:latin typeface="Times New Roman"/>
                <a:cs typeface="Times New Roman"/>
              </a:rPr>
              <a:t>insert()</a:t>
            </a:r>
            <a:r>
              <a:rPr sz="2000" b="1" spc="-40" dirty="0">
                <a:latin typeface="Times New Roman"/>
                <a:cs typeface="Times New Roman"/>
              </a:rPr>
              <a:t> </a:t>
            </a:r>
            <a:r>
              <a:rPr sz="2000" dirty="0">
                <a:latin typeface="Times New Roman"/>
                <a:cs typeface="Times New Roman"/>
              </a:rPr>
              <a:t>function</a:t>
            </a:r>
            <a:r>
              <a:rPr sz="2000" spc="-40" dirty="0">
                <a:latin typeface="Times New Roman"/>
                <a:cs typeface="Times New Roman"/>
              </a:rPr>
              <a:t> </a:t>
            </a:r>
            <a:r>
              <a:rPr sz="2000" dirty="0">
                <a:latin typeface="Times New Roman"/>
                <a:cs typeface="Times New Roman"/>
              </a:rPr>
              <a:t>works</a:t>
            </a:r>
            <a:r>
              <a:rPr sz="2000" spc="-30" dirty="0">
                <a:latin typeface="Times New Roman"/>
                <a:cs typeface="Times New Roman"/>
              </a:rPr>
              <a:t> </a:t>
            </a:r>
            <a:r>
              <a:rPr sz="2000" dirty="0">
                <a:latin typeface="Times New Roman"/>
                <a:cs typeface="Times New Roman"/>
              </a:rPr>
              <a:t>similarly</a:t>
            </a:r>
            <a:r>
              <a:rPr sz="2000" spc="-20" dirty="0">
                <a:latin typeface="Times New Roman"/>
                <a:cs typeface="Times New Roman"/>
              </a:rPr>
              <a:t> </a:t>
            </a:r>
            <a:r>
              <a:rPr sz="2000" dirty="0">
                <a:latin typeface="Times New Roman"/>
                <a:cs typeface="Times New Roman"/>
              </a:rPr>
              <a:t>as </a:t>
            </a:r>
            <a:r>
              <a:rPr sz="2000" spc="-10" dirty="0">
                <a:latin typeface="Times New Roman"/>
                <a:cs typeface="Times New Roman"/>
              </a:rPr>
              <a:t>vectors.</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Note</a:t>
            </a:r>
            <a:r>
              <a:rPr sz="2000" spc="350" dirty="0">
                <a:latin typeface="Times New Roman"/>
                <a:cs typeface="Times New Roman"/>
              </a:rPr>
              <a:t> </a:t>
            </a:r>
            <a:r>
              <a:rPr sz="2000" dirty="0">
                <a:latin typeface="Times New Roman"/>
                <a:cs typeface="Times New Roman"/>
              </a:rPr>
              <a:t>that</a:t>
            </a:r>
            <a:r>
              <a:rPr sz="2000" spc="350" dirty="0">
                <a:latin typeface="Times New Roman"/>
                <a:cs typeface="Times New Roman"/>
              </a:rPr>
              <a:t> </a:t>
            </a:r>
            <a:r>
              <a:rPr sz="2000" dirty="0">
                <a:latin typeface="Times New Roman"/>
                <a:cs typeface="Times New Roman"/>
              </a:rPr>
              <a:t>you</a:t>
            </a:r>
            <a:r>
              <a:rPr sz="2000" spc="345" dirty="0">
                <a:latin typeface="Times New Roman"/>
                <a:cs typeface="Times New Roman"/>
              </a:rPr>
              <a:t> </a:t>
            </a:r>
            <a:r>
              <a:rPr sz="2000" dirty="0">
                <a:latin typeface="Times New Roman"/>
                <a:cs typeface="Times New Roman"/>
              </a:rPr>
              <a:t>can’t</a:t>
            </a:r>
            <a:r>
              <a:rPr sz="2000" spc="340" dirty="0">
                <a:latin typeface="Times New Roman"/>
                <a:cs typeface="Times New Roman"/>
              </a:rPr>
              <a:t> </a:t>
            </a:r>
            <a:r>
              <a:rPr sz="2000" dirty="0">
                <a:latin typeface="Times New Roman"/>
                <a:cs typeface="Times New Roman"/>
              </a:rPr>
              <a:t>use</a:t>
            </a:r>
            <a:r>
              <a:rPr sz="2000" spc="345" dirty="0">
                <a:latin typeface="Times New Roman"/>
                <a:cs typeface="Times New Roman"/>
              </a:rPr>
              <a:t> </a:t>
            </a:r>
            <a:r>
              <a:rPr sz="2000" dirty="0">
                <a:latin typeface="Times New Roman"/>
                <a:cs typeface="Times New Roman"/>
              </a:rPr>
              <a:t>random</a:t>
            </a:r>
            <a:r>
              <a:rPr sz="2000" spc="330" dirty="0">
                <a:latin typeface="Times New Roman"/>
                <a:cs typeface="Times New Roman"/>
              </a:rPr>
              <a:t> </a:t>
            </a:r>
            <a:r>
              <a:rPr sz="2000" dirty="0">
                <a:latin typeface="Times New Roman"/>
                <a:cs typeface="Times New Roman"/>
              </a:rPr>
              <a:t>access</a:t>
            </a:r>
            <a:r>
              <a:rPr sz="2000" spc="335" dirty="0">
                <a:latin typeface="Times New Roman"/>
                <a:cs typeface="Times New Roman"/>
              </a:rPr>
              <a:t> </a:t>
            </a:r>
            <a:r>
              <a:rPr sz="2000" dirty="0">
                <a:latin typeface="Times New Roman"/>
                <a:cs typeface="Times New Roman"/>
              </a:rPr>
              <a:t>for</a:t>
            </a:r>
            <a:r>
              <a:rPr sz="2000" spc="355" dirty="0">
                <a:latin typeface="Times New Roman"/>
                <a:cs typeface="Times New Roman"/>
              </a:rPr>
              <a:t> </a:t>
            </a:r>
            <a:r>
              <a:rPr sz="2000" spc="-20" dirty="0">
                <a:latin typeface="Times New Roman"/>
                <a:cs typeface="Times New Roman"/>
              </a:rPr>
              <a:t>list 	</a:t>
            </a:r>
            <a:r>
              <a:rPr sz="2000" dirty="0">
                <a:latin typeface="Times New Roman"/>
                <a:cs typeface="Times New Roman"/>
              </a:rPr>
              <a:t>elements.</a:t>
            </a:r>
            <a:r>
              <a:rPr sz="2000" spc="315" dirty="0">
                <a:latin typeface="Times New Roman"/>
                <a:cs typeface="Times New Roman"/>
              </a:rPr>
              <a:t> </a:t>
            </a:r>
            <a:r>
              <a:rPr sz="2000" dirty="0">
                <a:latin typeface="Times New Roman"/>
                <a:cs typeface="Times New Roman"/>
              </a:rPr>
              <a:t>For</a:t>
            </a:r>
            <a:r>
              <a:rPr sz="2000" spc="310" dirty="0">
                <a:latin typeface="Times New Roman"/>
                <a:cs typeface="Times New Roman"/>
              </a:rPr>
              <a:t> </a:t>
            </a:r>
            <a:r>
              <a:rPr sz="2000" dirty="0">
                <a:latin typeface="Times New Roman"/>
                <a:cs typeface="Times New Roman"/>
              </a:rPr>
              <a:t>this</a:t>
            </a:r>
            <a:r>
              <a:rPr sz="2000" spc="295" dirty="0">
                <a:latin typeface="Times New Roman"/>
                <a:cs typeface="Times New Roman"/>
              </a:rPr>
              <a:t> </a:t>
            </a:r>
            <a:r>
              <a:rPr sz="2000" dirty="0">
                <a:latin typeface="Times New Roman"/>
                <a:cs typeface="Times New Roman"/>
              </a:rPr>
              <a:t>reason</a:t>
            </a:r>
            <a:r>
              <a:rPr sz="2000" spc="315" dirty="0">
                <a:latin typeface="Times New Roman"/>
                <a:cs typeface="Times New Roman"/>
              </a:rPr>
              <a:t> </a:t>
            </a:r>
            <a:r>
              <a:rPr sz="2000" dirty="0">
                <a:latin typeface="Times New Roman"/>
                <a:cs typeface="Times New Roman"/>
              </a:rPr>
              <a:t>the</a:t>
            </a:r>
            <a:r>
              <a:rPr sz="2000" spc="305" dirty="0">
                <a:latin typeface="Times New Roman"/>
                <a:cs typeface="Times New Roman"/>
              </a:rPr>
              <a:t> </a:t>
            </a:r>
            <a:r>
              <a:rPr sz="2000" dirty="0">
                <a:latin typeface="Times New Roman"/>
                <a:cs typeface="Times New Roman"/>
              </a:rPr>
              <a:t>[]</a:t>
            </a:r>
            <a:r>
              <a:rPr sz="2000" spc="305" dirty="0">
                <a:latin typeface="Times New Roman"/>
                <a:cs typeface="Times New Roman"/>
              </a:rPr>
              <a:t> </a:t>
            </a:r>
            <a:r>
              <a:rPr sz="2000" dirty="0">
                <a:latin typeface="Times New Roman"/>
                <a:cs typeface="Times New Roman"/>
              </a:rPr>
              <a:t>operator</a:t>
            </a:r>
            <a:r>
              <a:rPr sz="2000" spc="310" dirty="0">
                <a:latin typeface="Times New Roman"/>
                <a:cs typeface="Times New Roman"/>
              </a:rPr>
              <a:t> </a:t>
            </a:r>
            <a:r>
              <a:rPr sz="2000" dirty="0">
                <a:latin typeface="Times New Roman"/>
                <a:cs typeface="Times New Roman"/>
              </a:rPr>
              <a:t>is</a:t>
            </a:r>
            <a:r>
              <a:rPr sz="2000" spc="305" dirty="0">
                <a:latin typeface="Times New Roman"/>
                <a:cs typeface="Times New Roman"/>
              </a:rPr>
              <a:t> </a:t>
            </a:r>
            <a:r>
              <a:rPr sz="2000" spc="-25" dirty="0">
                <a:latin typeface="Times New Roman"/>
                <a:cs typeface="Times New Roman"/>
              </a:rPr>
              <a:t>not 	</a:t>
            </a:r>
            <a:r>
              <a:rPr sz="2000" dirty="0">
                <a:latin typeface="Times New Roman"/>
                <a:cs typeface="Times New Roman"/>
              </a:rPr>
              <a:t>defined</a:t>
            </a:r>
            <a:r>
              <a:rPr sz="2000" spc="-20" dirty="0">
                <a:latin typeface="Times New Roman"/>
                <a:cs typeface="Times New Roman"/>
              </a:rPr>
              <a:t> </a:t>
            </a:r>
            <a:r>
              <a:rPr sz="2000" dirty="0">
                <a:latin typeface="Times New Roman"/>
                <a:cs typeface="Times New Roman"/>
              </a:rPr>
              <a:t>for</a:t>
            </a:r>
            <a:r>
              <a:rPr sz="2000" spc="-20" dirty="0">
                <a:latin typeface="Times New Roman"/>
                <a:cs typeface="Times New Roman"/>
              </a:rPr>
              <a:t> </a:t>
            </a:r>
            <a:r>
              <a:rPr sz="2000" spc="-10" dirty="0">
                <a:latin typeface="Times New Roman"/>
                <a:cs typeface="Times New Roman"/>
              </a:rPr>
              <a:t>lists.</a:t>
            </a:r>
            <a:endParaRPr sz="2000">
              <a:latin typeface="Times New Roman"/>
              <a:cs typeface="Times New Roman"/>
            </a:endParaRPr>
          </a:p>
          <a:p>
            <a:pPr marL="351790" marR="6350" indent="-339090" algn="just">
              <a:lnSpc>
                <a:spcPct val="100000"/>
              </a:lnSpc>
              <a:buFont typeface="Arial MT"/>
              <a:buChar char="•"/>
              <a:tabLst>
                <a:tab pos="355600" algn="l"/>
              </a:tabLst>
            </a:pPr>
            <a:r>
              <a:rPr sz="2000" dirty="0">
                <a:latin typeface="Times New Roman"/>
                <a:cs typeface="Times New Roman"/>
              </a:rPr>
              <a:t>We</a:t>
            </a:r>
            <a:r>
              <a:rPr sz="2000" spc="90" dirty="0">
                <a:latin typeface="Times New Roman"/>
                <a:cs typeface="Times New Roman"/>
              </a:rPr>
              <a:t> </a:t>
            </a:r>
            <a:r>
              <a:rPr sz="2000" dirty="0">
                <a:latin typeface="Times New Roman"/>
                <a:cs typeface="Times New Roman"/>
              </a:rPr>
              <a:t>push</a:t>
            </a:r>
            <a:r>
              <a:rPr sz="2000" spc="110" dirty="0">
                <a:latin typeface="Times New Roman"/>
                <a:cs typeface="Times New Roman"/>
              </a:rPr>
              <a:t> </a:t>
            </a:r>
            <a:r>
              <a:rPr sz="2000" dirty="0">
                <a:latin typeface="Times New Roman"/>
                <a:cs typeface="Times New Roman"/>
              </a:rPr>
              <a:t>data</a:t>
            </a:r>
            <a:r>
              <a:rPr sz="2000" spc="90" dirty="0">
                <a:latin typeface="Times New Roman"/>
                <a:cs typeface="Times New Roman"/>
              </a:rPr>
              <a:t> </a:t>
            </a:r>
            <a:r>
              <a:rPr sz="2000" dirty="0">
                <a:latin typeface="Times New Roman"/>
                <a:cs typeface="Times New Roman"/>
              </a:rPr>
              <a:t>on</a:t>
            </a:r>
            <a:r>
              <a:rPr sz="2000" spc="100" dirty="0">
                <a:latin typeface="Times New Roman"/>
                <a:cs typeface="Times New Roman"/>
              </a:rPr>
              <a:t> </a:t>
            </a:r>
            <a:r>
              <a:rPr sz="2000" dirty="0">
                <a:latin typeface="Times New Roman"/>
                <a:cs typeface="Times New Roman"/>
              </a:rPr>
              <a:t>the</a:t>
            </a:r>
            <a:r>
              <a:rPr sz="2000" spc="90" dirty="0">
                <a:latin typeface="Times New Roman"/>
                <a:cs typeface="Times New Roman"/>
              </a:rPr>
              <a:t> </a:t>
            </a:r>
            <a:r>
              <a:rPr sz="2000" dirty="0">
                <a:latin typeface="Times New Roman"/>
                <a:cs typeface="Times New Roman"/>
              </a:rPr>
              <a:t>back</a:t>
            </a:r>
            <a:r>
              <a:rPr sz="2000" spc="114" dirty="0">
                <a:latin typeface="Times New Roman"/>
                <a:cs typeface="Times New Roman"/>
              </a:rPr>
              <a:t> </a:t>
            </a:r>
            <a:r>
              <a:rPr sz="2000" dirty="0">
                <a:latin typeface="Times New Roman"/>
                <a:cs typeface="Times New Roman"/>
              </a:rPr>
              <a:t>(the</a:t>
            </a:r>
            <a:r>
              <a:rPr sz="2000" spc="110" dirty="0">
                <a:latin typeface="Times New Roman"/>
                <a:cs typeface="Times New Roman"/>
              </a:rPr>
              <a:t> </a:t>
            </a:r>
            <a:r>
              <a:rPr sz="2000" dirty="0">
                <a:latin typeface="Times New Roman"/>
                <a:cs typeface="Times New Roman"/>
              </a:rPr>
              <a:t>end)</a:t>
            </a:r>
            <a:r>
              <a:rPr sz="2000" spc="110" dirty="0">
                <a:latin typeface="Times New Roman"/>
                <a:cs typeface="Times New Roman"/>
              </a:rPr>
              <a:t> </a:t>
            </a:r>
            <a:r>
              <a:rPr sz="2000" dirty="0">
                <a:latin typeface="Times New Roman"/>
                <a:cs typeface="Times New Roman"/>
              </a:rPr>
              <a:t>and</a:t>
            </a:r>
            <a:r>
              <a:rPr sz="2000" spc="105" dirty="0">
                <a:latin typeface="Times New Roman"/>
                <a:cs typeface="Times New Roman"/>
              </a:rPr>
              <a:t> </a:t>
            </a:r>
            <a:r>
              <a:rPr sz="2000" dirty="0">
                <a:latin typeface="Times New Roman"/>
                <a:cs typeface="Times New Roman"/>
              </a:rPr>
              <a:t>front</a:t>
            </a:r>
            <a:r>
              <a:rPr sz="2000" spc="100" dirty="0">
                <a:latin typeface="Times New Roman"/>
                <a:cs typeface="Times New Roman"/>
              </a:rPr>
              <a:t> </a:t>
            </a:r>
            <a:r>
              <a:rPr sz="2000" spc="-25" dirty="0">
                <a:latin typeface="Times New Roman"/>
                <a:cs typeface="Times New Roman"/>
              </a:rPr>
              <a:t>of 	</a:t>
            </a:r>
            <a:r>
              <a:rPr sz="2000" dirty="0">
                <a:latin typeface="Times New Roman"/>
                <a:cs typeface="Times New Roman"/>
              </a:rPr>
              <a:t>the</a:t>
            </a:r>
            <a:r>
              <a:rPr sz="2000" spc="155" dirty="0">
                <a:latin typeface="Times New Roman"/>
                <a:cs typeface="Times New Roman"/>
              </a:rPr>
              <a:t> </a:t>
            </a:r>
            <a:r>
              <a:rPr sz="2000" dirty="0">
                <a:latin typeface="Times New Roman"/>
                <a:cs typeface="Times New Roman"/>
              </a:rPr>
              <a:t>list</a:t>
            </a:r>
            <a:r>
              <a:rPr sz="2000" spc="160" dirty="0">
                <a:latin typeface="Times New Roman"/>
                <a:cs typeface="Times New Roman"/>
              </a:rPr>
              <a:t> </a:t>
            </a:r>
            <a:r>
              <a:rPr sz="2000" dirty="0">
                <a:latin typeface="Times New Roman"/>
                <a:cs typeface="Times New Roman"/>
              </a:rPr>
              <a:t>in</a:t>
            </a:r>
            <a:r>
              <a:rPr sz="2000" spc="160" dirty="0">
                <a:latin typeface="Times New Roman"/>
                <a:cs typeface="Times New Roman"/>
              </a:rPr>
              <a:t> </a:t>
            </a:r>
            <a:r>
              <a:rPr sz="2000" dirty="0">
                <a:latin typeface="Times New Roman"/>
                <a:cs typeface="Times New Roman"/>
              </a:rPr>
              <a:t>such</a:t>
            </a:r>
            <a:r>
              <a:rPr sz="2000" spc="165" dirty="0">
                <a:latin typeface="Times New Roman"/>
                <a:cs typeface="Times New Roman"/>
              </a:rPr>
              <a:t> </a:t>
            </a:r>
            <a:r>
              <a:rPr sz="2000" dirty="0">
                <a:latin typeface="Times New Roman"/>
                <a:cs typeface="Times New Roman"/>
              </a:rPr>
              <a:t>a</a:t>
            </a:r>
            <a:r>
              <a:rPr sz="2000" spc="155" dirty="0">
                <a:latin typeface="Times New Roman"/>
                <a:cs typeface="Times New Roman"/>
              </a:rPr>
              <a:t> </a:t>
            </a:r>
            <a:r>
              <a:rPr sz="2000" dirty="0">
                <a:latin typeface="Times New Roman"/>
                <a:cs typeface="Times New Roman"/>
              </a:rPr>
              <a:t>way</a:t>
            </a:r>
            <a:r>
              <a:rPr sz="2000" spc="165" dirty="0">
                <a:latin typeface="Times New Roman"/>
                <a:cs typeface="Times New Roman"/>
              </a:rPr>
              <a:t> </a:t>
            </a:r>
            <a:r>
              <a:rPr sz="2000" dirty="0">
                <a:latin typeface="Times New Roman"/>
                <a:cs typeface="Times New Roman"/>
              </a:rPr>
              <a:t>that</a:t>
            </a:r>
            <a:r>
              <a:rPr sz="2000" spc="160" dirty="0">
                <a:latin typeface="Times New Roman"/>
                <a:cs typeface="Times New Roman"/>
              </a:rPr>
              <a:t> </a:t>
            </a:r>
            <a:r>
              <a:rPr sz="2000" dirty="0">
                <a:latin typeface="Times New Roman"/>
                <a:cs typeface="Times New Roman"/>
              </a:rPr>
              <a:t>when</a:t>
            </a:r>
            <a:r>
              <a:rPr sz="2000" spc="170" dirty="0">
                <a:latin typeface="Times New Roman"/>
                <a:cs typeface="Times New Roman"/>
              </a:rPr>
              <a:t> </a:t>
            </a:r>
            <a:r>
              <a:rPr sz="2000" dirty="0">
                <a:latin typeface="Times New Roman"/>
                <a:cs typeface="Times New Roman"/>
              </a:rPr>
              <a:t>we</a:t>
            </a:r>
            <a:r>
              <a:rPr sz="2000" spc="140" dirty="0">
                <a:latin typeface="Times New Roman"/>
                <a:cs typeface="Times New Roman"/>
              </a:rPr>
              <a:t> </a:t>
            </a:r>
            <a:r>
              <a:rPr sz="2000" dirty="0">
                <a:latin typeface="Times New Roman"/>
                <a:cs typeface="Times New Roman"/>
              </a:rPr>
              <a:t>display</a:t>
            </a:r>
            <a:r>
              <a:rPr sz="2000" spc="160" dirty="0">
                <a:latin typeface="Times New Roman"/>
                <a:cs typeface="Times New Roman"/>
              </a:rPr>
              <a:t> </a:t>
            </a:r>
            <a:r>
              <a:rPr sz="2000" spc="-25" dirty="0">
                <a:latin typeface="Times New Roman"/>
                <a:cs typeface="Times New Roman"/>
              </a:rPr>
              <a:t>and 	</a:t>
            </a:r>
            <a:r>
              <a:rPr sz="2000" dirty="0">
                <a:latin typeface="Times New Roman"/>
                <a:cs typeface="Times New Roman"/>
              </a:rPr>
              <a:t>remove</a:t>
            </a:r>
            <a:r>
              <a:rPr sz="2000" spc="440" dirty="0">
                <a:latin typeface="Times New Roman"/>
                <a:cs typeface="Times New Roman"/>
              </a:rPr>
              <a:t> </a:t>
            </a:r>
            <a:r>
              <a:rPr sz="2000" dirty="0">
                <a:latin typeface="Times New Roman"/>
                <a:cs typeface="Times New Roman"/>
              </a:rPr>
              <a:t>the</a:t>
            </a:r>
            <a:r>
              <a:rPr sz="2000" spc="445" dirty="0">
                <a:latin typeface="Times New Roman"/>
                <a:cs typeface="Times New Roman"/>
              </a:rPr>
              <a:t> </a:t>
            </a:r>
            <a:r>
              <a:rPr sz="2000" dirty="0">
                <a:latin typeface="Times New Roman"/>
                <a:cs typeface="Times New Roman"/>
              </a:rPr>
              <a:t>data</a:t>
            </a:r>
            <a:r>
              <a:rPr sz="2000" spc="434" dirty="0">
                <a:latin typeface="Times New Roman"/>
                <a:cs typeface="Times New Roman"/>
              </a:rPr>
              <a:t> </a:t>
            </a:r>
            <a:r>
              <a:rPr sz="2000" dirty="0">
                <a:latin typeface="Times New Roman"/>
                <a:cs typeface="Times New Roman"/>
              </a:rPr>
              <a:t>from</a:t>
            </a:r>
            <a:r>
              <a:rPr sz="2000" spc="434" dirty="0">
                <a:latin typeface="Times New Roman"/>
                <a:cs typeface="Times New Roman"/>
              </a:rPr>
              <a:t> </a:t>
            </a:r>
            <a:r>
              <a:rPr sz="2000" dirty="0">
                <a:latin typeface="Times New Roman"/>
                <a:cs typeface="Times New Roman"/>
              </a:rPr>
              <a:t>the</a:t>
            </a:r>
            <a:r>
              <a:rPr sz="2000" spc="445" dirty="0">
                <a:latin typeface="Times New Roman"/>
                <a:cs typeface="Times New Roman"/>
              </a:rPr>
              <a:t> </a:t>
            </a:r>
            <a:r>
              <a:rPr sz="2000" dirty="0">
                <a:latin typeface="Times New Roman"/>
                <a:cs typeface="Times New Roman"/>
              </a:rPr>
              <a:t>front</a:t>
            </a:r>
            <a:r>
              <a:rPr sz="2000" spc="450" dirty="0">
                <a:latin typeface="Times New Roman"/>
                <a:cs typeface="Times New Roman"/>
              </a:rPr>
              <a:t> </a:t>
            </a:r>
            <a:r>
              <a:rPr sz="2000" dirty="0">
                <a:latin typeface="Times New Roman"/>
                <a:cs typeface="Times New Roman"/>
              </a:rPr>
              <a:t>it’s</a:t>
            </a:r>
            <a:r>
              <a:rPr sz="2000" spc="445" dirty="0">
                <a:latin typeface="Times New Roman"/>
                <a:cs typeface="Times New Roman"/>
              </a:rPr>
              <a:t> </a:t>
            </a:r>
            <a:r>
              <a:rPr sz="2000" dirty="0">
                <a:latin typeface="Times New Roman"/>
                <a:cs typeface="Times New Roman"/>
              </a:rPr>
              <a:t>in</a:t>
            </a:r>
            <a:r>
              <a:rPr sz="2000" spc="445" dirty="0">
                <a:latin typeface="Times New Roman"/>
                <a:cs typeface="Times New Roman"/>
              </a:rPr>
              <a:t> </a:t>
            </a:r>
            <a:r>
              <a:rPr sz="2000" spc="-10" dirty="0">
                <a:latin typeface="Times New Roman"/>
                <a:cs typeface="Times New Roman"/>
              </a:rPr>
              <a:t>normal 	order:</a:t>
            </a:r>
            <a:endParaRPr sz="2000">
              <a:latin typeface="Times New Roman"/>
              <a:cs typeface="Times New Roman"/>
            </a:endParaRPr>
          </a:p>
          <a:p>
            <a:pPr marL="469900" algn="just">
              <a:lnSpc>
                <a:spcPct val="100000"/>
              </a:lnSpc>
              <a:spcBef>
                <a:spcPts val="5"/>
              </a:spcBef>
            </a:pPr>
            <a:r>
              <a:rPr sz="2000" dirty="0">
                <a:latin typeface="Times New Roman"/>
                <a:cs typeface="Times New Roman"/>
              </a:rPr>
              <a:t>10</a:t>
            </a:r>
            <a:r>
              <a:rPr sz="2000" spc="-20" dirty="0">
                <a:latin typeface="Times New Roman"/>
                <a:cs typeface="Times New Roman"/>
              </a:rPr>
              <a:t> </a:t>
            </a:r>
            <a:r>
              <a:rPr sz="2000" dirty="0">
                <a:latin typeface="Times New Roman"/>
                <a:cs typeface="Times New Roman"/>
              </a:rPr>
              <a:t>20</a:t>
            </a:r>
            <a:r>
              <a:rPr sz="2000" spc="-5" dirty="0">
                <a:latin typeface="Times New Roman"/>
                <a:cs typeface="Times New Roman"/>
              </a:rPr>
              <a:t> </a:t>
            </a:r>
            <a:r>
              <a:rPr sz="2000" dirty="0">
                <a:latin typeface="Times New Roman"/>
                <a:cs typeface="Times New Roman"/>
              </a:rPr>
              <a:t>30</a:t>
            </a:r>
            <a:r>
              <a:rPr sz="2000" spc="-20" dirty="0">
                <a:latin typeface="Times New Roman"/>
                <a:cs typeface="Times New Roman"/>
              </a:rPr>
              <a:t> </a:t>
            </a:r>
            <a:r>
              <a:rPr sz="2000" spc="-25" dirty="0">
                <a:latin typeface="Times New Roman"/>
                <a:cs typeface="Times New Roman"/>
              </a:rPr>
              <a:t>40</a:t>
            </a:r>
            <a:endParaRPr sz="2000">
              <a:latin typeface="Times New Roman"/>
              <a:cs typeface="Times New Roman"/>
            </a:endParaRPr>
          </a:p>
        </p:txBody>
      </p:sp>
      <p:pic>
        <p:nvPicPr>
          <p:cNvPr id="4" name="object 4"/>
          <p:cNvPicPr/>
          <p:nvPr/>
        </p:nvPicPr>
        <p:blipFill>
          <a:blip r:embed="rId2" cstate="print"/>
          <a:stretch>
            <a:fillRect/>
          </a:stretch>
        </p:blipFill>
        <p:spPr>
          <a:xfrm>
            <a:off x="7769085" y="1267638"/>
            <a:ext cx="3286410" cy="3806152"/>
          </a:xfrm>
          <a:prstGeom prst="rect">
            <a:avLst/>
          </a:prstGeom>
        </p:spPr>
      </p:pic>
      <p:pic>
        <p:nvPicPr>
          <p:cNvPr id="5" name="object 5"/>
          <p:cNvPicPr/>
          <p:nvPr/>
        </p:nvPicPr>
        <p:blipFill>
          <a:blip r:embed="rId3" cstate="print"/>
          <a:stretch>
            <a:fillRect/>
          </a:stretch>
        </p:blipFill>
        <p:spPr>
          <a:xfrm>
            <a:off x="8151811" y="5222193"/>
            <a:ext cx="1951042" cy="1006879"/>
          </a:xfrm>
          <a:prstGeom prst="rect">
            <a:avLst/>
          </a:prstGeom>
        </p:spPr>
      </p:pic>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A10BF103-83E7-56B5-574A-5175613EFB15}"/>
              </a:ext>
            </a:extLst>
          </p:cNvPr>
          <p:cNvSpPr>
            <a:spLocks noGrp="1"/>
          </p:cNvSpPr>
          <p:nvPr>
            <p:ph type="dt" sz="half" idx="10"/>
          </p:nvPr>
        </p:nvSpPr>
        <p:spPr/>
        <p:txBody>
          <a:bodyPr/>
          <a:lstStyle/>
          <a:p>
            <a:fld id="{0CF64F18-ACA8-49DA-84A5-2024112F1DC3}" type="datetime1">
              <a:rPr lang="en-US" smtClean="0"/>
              <a:t>11/17/2025</a:t>
            </a:fld>
            <a:endParaRPr lang="en-US"/>
          </a:p>
        </p:txBody>
      </p:sp>
      <p:sp>
        <p:nvSpPr>
          <p:cNvPr id="11" name="Slide Number Placeholder 10">
            <a:extLst>
              <a:ext uri="{FF2B5EF4-FFF2-40B4-BE49-F238E27FC236}">
                <a16:creationId xmlns:a16="http://schemas.microsoft.com/office/drawing/2014/main" id="{18353107-4EE7-44BB-ABEC-C0126F73631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40</a:t>
            </a:fld>
            <a:endParaRPr spc="-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Lists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821232" y="1880997"/>
            <a:ext cx="5370195" cy="3379470"/>
          </a:xfrm>
          <a:prstGeom prst="rect">
            <a:avLst/>
          </a:prstGeom>
        </p:spPr>
        <p:txBody>
          <a:bodyPr vert="horz" wrap="square" lIns="0" tIns="13335" rIns="0" bIns="0" rtlCol="0">
            <a:spAutoFit/>
          </a:bodyPr>
          <a:lstStyle/>
          <a:p>
            <a:pPr marL="352425" marR="5715"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first list</a:t>
            </a:r>
            <a:r>
              <a:rPr sz="2000" spc="-5" dirty="0">
                <a:latin typeface="Times New Roman"/>
                <a:cs typeface="Times New Roman"/>
              </a:rPr>
              <a:t> </a:t>
            </a:r>
            <a:r>
              <a:rPr sz="2000" dirty="0">
                <a:latin typeface="Times New Roman"/>
                <a:cs typeface="Times New Roman"/>
              </a:rPr>
              <a:t>is</a:t>
            </a:r>
            <a:r>
              <a:rPr sz="2000" spc="-5" dirty="0">
                <a:latin typeface="Times New Roman"/>
                <a:cs typeface="Times New Roman"/>
              </a:rPr>
              <a:t> </a:t>
            </a:r>
            <a:r>
              <a:rPr sz="2000" dirty="0">
                <a:latin typeface="Times New Roman"/>
                <a:cs typeface="Times New Roman"/>
              </a:rPr>
              <a:t>in</a:t>
            </a:r>
            <a:r>
              <a:rPr sz="2000" spc="5" dirty="0">
                <a:latin typeface="Times New Roman"/>
                <a:cs typeface="Times New Roman"/>
              </a:rPr>
              <a:t> </a:t>
            </a:r>
            <a:r>
              <a:rPr sz="2000" dirty="0">
                <a:latin typeface="Times New Roman"/>
                <a:cs typeface="Times New Roman"/>
              </a:rPr>
              <a:t>backward</a:t>
            </a:r>
            <a:r>
              <a:rPr sz="2000" spc="15" dirty="0">
                <a:latin typeface="Times New Roman"/>
                <a:cs typeface="Times New Roman"/>
              </a:rPr>
              <a:t> </a:t>
            </a:r>
            <a:r>
              <a:rPr sz="2000" dirty="0">
                <a:latin typeface="Times New Roman"/>
                <a:cs typeface="Times New Roman"/>
              </a:rPr>
              <a:t>order,</a:t>
            </a:r>
            <a:r>
              <a:rPr sz="2000" spc="15" dirty="0">
                <a:latin typeface="Times New Roman"/>
                <a:cs typeface="Times New Roman"/>
              </a:rPr>
              <a:t> </a:t>
            </a:r>
            <a:r>
              <a:rPr sz="2000" dirty="0">
                <a:latin typeface="Times New Roman"/>
                <a:cs typeface="Times New Roman"/>
              </a:rPr>
              <a:t>so</a:t>
            </a:r>
            <a:r>
              <a:rPr sz="2000" spc="25" dirty="0">
                <a:latin typeface="Times New Roman"/>
                <a:cs typeface="Times New Roman"/>
              </a:rPr>
              <a:t> </a:t>
            </a:r>
            <a:r>
              <a:rPr sz="2000" dirty="0">
                <a:latin typeface="Times New Roman"/>
                <a:cs typeface="Times New Roman"/>
              </a:rPr>
              <a:t>we return</a:t>
            </a:r>
            <a:r>
              <a:rPr sz="2000" spc="15" dirty="0">
                <a:latin typeface="Times New Roman"/>
                <a:cs typeface="Times New Roman"/>
              </a:rPr>
              <a:t> </a:t>
            </a:r>
            <a:r>
              <a:rPr sz="2000" spc="-25" dirty="0">
                <a:latin typeface="Times New Roman"/>
                <a:cs typeface="Times New Roman"/>
              </a:rPr>
              <a:t>it 	</a:t>
            </a:r>
            <a:r>
              <a:rPr sz="2000" dirty="0">
                <a:latin typeface="Times New Roman"/>
                <a:cs typeface="Times New Roman"/>
              </a:rPr>
              <a:t>to</a:t>
            </a:r>
            <a:r>
              <a:rPr sz="2000" spc="225" dirty="0">
                <a:latin typeface="Times New Roman"/>
                <a:cs typeface="Times New Roman"/>
              </a:rPr>
              <a:t>  </a:t>
            </a:r>
            <a:r>
              <a:rPr sz="2000" dirty="0">
                <a:latin typeface="Times New Roman"/>
                <a:cs typeface="Times New Roman"/>
              </a:rPr>
              <a:t>normal</a:t>
            </a:r>
            <a:r>
              <a:rPr sz="2000" spc="225" dirty="0">
                <a:latin typeface="Times New Roman"/>
                <a:cs typeface="Times New Roman"/>
              </a:rPr>
              <a:t>  </a:t>
            </a:r>
            <a:r>
              <a:rPr sz="2000" dirty="0">
                <a:latin typeface="Times New Roman"/>
                <a:cs typeface="Times New Roman"/>
              </a:rPr>
              <a:t>sorted</a:t>
            </a:r>
            <a:r>
              <a:rPr sz="2000" spc="225" dirty="0">
                <a:latin typeface="Times New Roman"/>
                <a:cs typeface="Times New Roman"/>
              </a:rPr>
              <a:t>  </a:t>
            </a:r>
            <a:r>
              <a:rPr sz="2000" dirty="0">
                <a:latin typeface="Times New Roman"/>
                <a:cs typeface="Times New Roman"/>
              </a:rPr>
              <a:t>order</a:t>
            </a:r>
            <a:r>
              <a:rPr sz="2000" spc="220" dirty="0">
                <a:latin typeface="Times New Roman"/>
                <a:cs typeface="Times New Roman"/>
              </a:rPr>
              <a:t>  </a:t>
            </a:r>
            <a:r>
              <a:rPr sz="2000" dirty="0">
                <a:latin typeface="Times New Roman"/>
                <a:cs typeface="Times New Roman"/>
              </a:rPr>
              <a:t>using</a:t>
            </a:r>
            <a:r>
              <a:rPr sz="2000" spc="229" dirty="0">
                <a:latin typeface="Times New Roman"/>
                <a:cs typeface="Times New Roman"/>
              </a:rPr>
              <a:t>  </a:t>
            </a:r>
            <a:r>
              <a:rPr sz="2000" dirty="0">
                <a:latin typeface="Times New Roman"/>
                <a:cs typeface="Times New Roman"/>
              </a:rPr>
              <a:t>the</a:t>
            </a:r>
            <a:r>
              <a:rPr sz="2000" spc="225" dirty="0">
                <a:latin typeface="Times New Roman"/>
                <a:cs typeface="Times New Roman"/>
              </a:rPr>
              <a:t>  </a:t>
            </a:r>
            <a:r>
              <a:rPr sz="2000" b="1" spc="-10" dirty="0">
                <a:latin typeface="Times New Roman"/>
                <a:cs typeface="Times New Roman"/>
              </a:rPr>
              <a:t>reverse() 	</a:t>
            </a:r>
            <a:r>
              <a:rPr sz="2000" dirty="0">
                <a:latin typeface="Times New Roman"/>
                <a:cs typeface="Times New Roman"/>
              </a:rPr>
              <a:t>member</a:t>
            </a:r>
            <a:r>
              <a:rPr sz="2000" spc="5" dirty="0">
                <a:latin typeface="Times New Roman"/>
                <a:cs typeface="Times New Roman"/>
              </a:rPr>
              <a:t> </a:t>
            </a:r>
            <a:r>
              <a:rPr sz="2000" dirty="0">
                <a:latin typeface="Times New Roman"/>
                <a:cs typeface="Times New Roman"/>
              </a:rPr>
              <a:t>function.</a:t>
            </a:r>
            <a:r>
              <a:rPr sz="2000" spc="459" dirty="0">
                <a:latin typeface="Times New Roman"/>
                <a:cs typeface="Times New Roman"/>
              </a:rPr>
              <a:t> </a:t>
            </a:r>
            <a:r>
              <a:rPr sz="2000" dirty="0">
                <a:latin typeface="Times New Roman"/>
                <a:cs typeface="Times New Roman"/>
              </a:rPr>
              <a:t>List1</a:t>
            </a:r>
            <a:r>
              <a:rPr sz="2000" spc="-15"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sz="2000" dirty="0">
                <a:latin typeface="Times New Roman"/>
                <a:cs typeface="Times New Roman"/>
              </a:rPr>
              <a:t>10,</a:t>
            </a:r>
            <a:r>
              <a:rPr sz="2000" spc="-20" dirty="0">
                <a:latin typeface="Times New Roman"/>
                <a:cs typeface="Times New Roman"/>
              </a:rPr>
              <a:t> </a:t>
            </a:r>
            <a:r>
              <a:rPr sz="2000" dirty="0">
                <a:latin typeface="Times New Roman"/>
                <a:cs typeface="Times New Roman"/>
              </a:rPr>
              <a:t>20,</a:t>
            </a:r>
            <a:r>
              <a:rPr sz="2000" spc="-20" dirty="0">
                <a:latin typeface="Times New Roman"/>
                <a:cs typeface="Times New Roman"/>
              </a:rPr>
              <a:t> </a:t>
            </a:r>
            <a:r>
              <a:rPr sz="2000" dirty="0">
                <a:latin typeface="Times New Roman"/>
                <a:cs typeface="Times New Roman"/>
              </a:rPr>
              <a:t>30,</a:t>
            </a:r>
            <a:r>
              <a:rPr sz="2000" spc="-20" dirty="0">
                <a:latin typeface="Times New Roman"/>
                <a:cs typeface="Times New Roman"/>
              </a:rPr>
              <a:t> </a:t>
            </a:r>
            <a:r>
              <a:rPr sz="2000" spc="-25" dirty="0">
                <a:latin typeface="Times New Roman"/>
                <a:cs typeface="Times New Roman"/>
              </a:rPr>
              <a:t>40</a:t>
            </a:r>
            <a:endParaRPr sz="2000">
              <a:latin typeface="Times New Roman"/>
              <a:cs typeface="Times New Roman"/>
            </a:endParaRPr>
          </a:p>
          <a:p>
            <a:pPr marL="352425" marR="5715" indent="-339725" algn="just">
              <a:lnSpc>
                <a:spcPct val="100000"/>
              </a:lnSpc>
              <a:buFont typeface="Arial MT"/>
              <a:buChar char="•"/>
              <a:tabLst>
                <a:tab pos="355600" algn="l"/>
              </a:tabLst>
            </a:pPr>
            <a:r>
              <a:rPr sz="2000" dirty="0">
                <a:latin typeface="Times New Roman"/>
                <a:cs typeface="Times New Roman"/>
              </a:rPr>
              <a:t>The</a:t>
            </a:r>
            <a:r>
              <a:rPr sz="2000" spc="45" dirty="0">
                <a:latin typeface="Times New Roman"/>
                <a:cs typeface="Times New Roman"/>
              </a:rPr>
              <a:t>  </a:t>
            </a:r>
            <a:r>
              <a:rPr sz="2000" b="1" dirty="0">
                <a:latin typeface="Times New Roman"/>
                <a:cs typeface="Times New Roman"/>
              </a:rPr>
              <a:t>merge()</a:t>
            </a:r>
            <a:r>
              <a:rPr sz="2000" b="1" spc="50" dirty="0">
                <a:latin typeface="Times New Roman"/>
                <a:cs typeface="Times New Roman"/>
              </a:rPr>
              <a:t>  </a:t>
            </a:r>
            <a:r>
              <a:rPr sz="2000" dirty="0">
                <a:latin typeface="Times New Roman"/>
                <a:cs typeface="Times New Roman"/>
              </a:rPr>
              <a:t>function</a:t>
            </a:r>
            <a:r>
              <a:rPr sz="2000" spc="50" dirty="0">
                <a:latin typeface="Times New Roman"/>
                <a:cs typeface="Times New Roman"/>
              </a:rPr>
              <a:t>  </a:t>
            </a:r>
            <a:r>
              <a:rPr sz="2000" dirty="0">
                <a:latin typeface="Times New Roman"/>
                <a:cs typeface="Times New Roman"/>
              </a:rPr>
              <a:t>merges</a:t>
            </a:r>
            <a:r>
              <a:rPr sz="2000" spc="45" dirty="0">
                <a:latin typeface="Times New Roman"/>
                <a:cs typeface="Times New Roman"/>
              </a:rPr>
              <a:t>  </a:t>
            </a:r>
            <a:r>
              <a:rPr sz="2000" dirty="0">
                <a:latin typeface="Times New Roman"/>
                <a:cs typeface="Times New Roman"/>
              </a:rPr>
              <a:t>list2</a:t>
            </a:r>
            <a:r>
              <a:rPr sz="2000" spc="50" dirty="0">
                <a:latin typeface="Times New Roman"/>
                <a:cs typeface="Times New Roman"/>
              </a:rPr>
              <a:t>  </a:t>
            </a:r>
            <a:r>
              <a:rPr sz="2000" dirty="0">
                <a:latin typeface="Times New Roman"/>
                <a:cs typeface="Times New Roman"/>
              </a:rPr>
              <a:t>into</a:t>
            </a:r>
            <a:r>
              <a:rPr sz="2000" spc="55" dirty="0">
                <a:latin typeface="Times New Roman"/>
                <a:cs typeface="Times New Roman"/>
              </a:rPr>
              <a:t>  </a:t>
            </a:r>
            <a:r>
              <a:rPr sz="2000" spc="-10" dirty="0">
                <a:latin typeface="Times New Roman"/>
                <a:cs typeface="Times New Roman"/>
              </a:rPr>
              <a:t>list1, 	</a:t>
            </a:r>
            <a:r>
              <a:rPr sz="2000" dirty="0">
                <a:latin typeface="Times New Roman"/>
                <a:cs typeface="Times New Roman"/>
              </a:rPr>
              <a:t>keeping</a:t>
            </a:r>
            <a:r>
              <a:rPr sz="2000" spc="45" dirty="0">
                <a:latin typeface="Times New Roman"/>
                <a:cs typeface="Times New Roman"/>
              </a:rPr>
              <a:t> </a:t>
            </a:r>
            <a:r>
              <a:rPr sz="2000" dirty="0">
                <a:latin typeface="Times New Roman"/>
                <a:cs typeface="Times New Roman"/>
              </a:rPr>
              <a:t>everything</a:t>
            </a:r>
            <a:r>
              <a:rPr sz="2000" spc="45" dirty="0">
                <a:latin typeface="Times New Roman"/>
                <a:cs typeface="Times New Roman"/>
              </a:rPr>
              <a:t> </a:t>
            </a:r>
            <a:r>
              <a:rPr sz="2000" dirty="0">
                <a:latin typeface="Times New Roman"/>
                <a:cs typeface="Times New Roman"/>
              </a:rPr>
              <a:t>sorted</a:t>
            </a:r>
            <a:r>
              <a:rPr sz="2000" spc="60" dirty="0">
                <a:latin typeface="Times New Roman"/>
                <a:cs typeface="Times New Roman"/>
              </a:rPr>
              <a:t> </a:t>
            </a:r>
            <a:r>
              <a:rPr sz="2000" dirty="0">
                <a:latin typeface="Times New Roman"/>
                <a:cs typeface="Times New Roman"/>
              </a:rPr>
              <a:t>and</a:t>
            </a:r>
            <a:r>
              <a:rPr sz="2000" spc="45" dirty="0">
                <a:latin typeface="Times New Roman"/>
                <a:cs typeface="Times New Roman"/>
              </a:rPr>
              <a:t> </a:t>
            </a:r>
            <a:r>
              <a:rPr sz="2000" dirty="0">
                <a:latin typeface="Times New Roman"/>
                <a:cs typeface="Times New Roman"/>
              </a:rPr>
              <a:t>expanding</a:t>
            </a:r>
            <a:r>
              <a:rPr sz="2000" spc="50" dirty="0">
                <a:latin typeface="Times New Roman"/>
                <a:cs typeface="Times New Roman"/>
              </a:rPr>
              <a:t> </a:t>
            </a:r>
            <a:r>
              <a:rPr sz="2000" dirty="0">
                <a:latin typeface="Times New Roman"/>
                <a:cs typeface="Times New Roman"/>
              </a:rPr>
              <a:t>list1</a:t>
            </a:r>
            <a:r>
              <a:rPr sz="2000" spc="45" dirty="0">
                <a:latin typeface="Times New Roman"/>
                <a:cs typeface="Times New Roman"/>
              </a:rPr>
              <a:t> </a:t>
            </a:r>
            <a:r>
              <a:rPr sz="2000" spc="-25" dirty="0">
                <a:latin typeface="Times New Roman"/>
                <a:cs typeface="Times New Roman"/>
              </a:rPr>
              <a:t>to 	</a:t>
            </a:r>
            <a:r>
              <a:rPr sz="2000" dirty="0">
                <a:latin typeface="Times New Roman"/>
                <a:cs typeface="Times New Roman"/>
              </a:rPr>
              <a:t>hold the</a:t>
            </a:r>
            <a:r>
              <a:rPr sz="2000" spc="5" dirty="0">
                <a:latin typeface="Times New Roman"/>
                <a:cs typeface="Times New Roman"/>
              </a:rPr>
              <a:t> </a:t>
            </a:r>
            <a:r>
              <a:rPr sz="2000" dirty="0">
                <a:latin typeface="Times New Roman"/>
                <a:cs typeface="Times New Roman"/>
              </a:rPr>
              <a:t>new</a:t>
            </a:r>
            <a:r>
              <a:rPr sz="2000" spc="10" dirty="0">
                <a:latin typeface="Times New Roman"/>
                <a:cs typeface="Times New Roman"/>
              </a:rPr>
              <a:t> </a:t>
            </a:r>
            <a:r>
              <a:rPr sz="2000" dirty="0">
                <a:latin typeface="Times New Roman"/>
                <a:cs typeface="Times New Roman"/>
              </a:rPr>
              <a:t>items.</a:t>
            </a:r>
            <a:r>
              <a:rPr sz="2000" spc="15"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resulting</a:t>
            </a:r>
            <a:r>
              <a:rPr sz="2000" spc="25" dirty="0">
                <a:latin typeface="Times New Roman"/>
                <a:cs typeface="Times New Roman"/>
              </a:rPr>
              <a:t> </a:t>
            </a:r>
            <a:r>
              <a:rPr sz="2000" dirty="0">
                <a:latin typeface="Times New Roman"/>
                <a:cs typeface="Times New Roman"/>
              </a:rPr>
              <a:t>content</a:t>
            </a:r>
            <a:r>
              <a:rPr sz="2000" spc="-10"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spc="-10" dirty="0">
                <a:latin typeface="Times New Roman"/>
                <a:cs typeface="Times New Roman"/>
              </a:rPr>
              <a:t>list1 	</a:t>
            </a:r>
            <a:r>
              <a:rPr sz="2000" dirty="0">
                <a:latin typeface="Times New Roman"/>
                <a:cs typeface="Times New Roman"/>
              </a:rPr>
              <a:t>is  10,</a:t>
            </a:r>
            <a:r>
              <a:rPr sz="2000" spc="-5" dirty="0">
                <a:latin typeface="Times New Roman"/>
                <a:cs typeface="Times New Roman"/>
              </a:rPr>
              <a:t> </a:t>
            </a:r>
            <a:r>
              <a:rPr sz="2000" dirty="0">
                <a:latin typeface="Times New Roman"/>
                <a:cs typeface="Times New Roman"/>
              </a:rPr>
              <a:t>15,</a:t>
            </a:r>
            <a:r>
              <a:rPr sz="2000" spc="-15" dirty="0">
                <a:latin typeface="Times New Roman"/>
                <a:cs typeface="Times New Roman"/>
              </a:rPr>
              <a:t> </a:t>
            </a:r>
            <a:r>
              <a:rPr sz="2000" dirty="0">
                <a:latin typeface="Times New Roman"/>
                <a:cs typeface="Times New Roman"/>
              </a:rPr>
              <a:t>20,</a:t>
            </a:r>
            <a:r>
              <a:rPr sz="2000" spc="-10" dirty="0">
                <a:latin typeface="Times New Roman"/>
                <a:cs typeface="Times New Roman"/>
              </a:rPr>
              <a:t> </a:t>
            </a:r>
            <a:r>
              <a:rPr sz="2000" dirty="0">
                <a:latin typeface="Times New Roman"/>
                <a:cs typeface="Times New Roman"/>
              </a:rPr>
              <a:t>20,</a:t>
            </a:r>
            <a:r>
              <a:rPr sz="2000" spc="-15" dirty="0">
                <a:latin typeface="Times New Roman"/>
                <a:cs typeface="Times New Roman"/>
              </a:rPr>
              <a:t> </a:t>
            </a:r>
            <a:r>
              <a:rPr sz="2000" dirty="0">
                <a:latin typeface="Times New Roman"/>
                <a:cs typeface="Times New Roman"/>
              </a:rPr>
              <a:t>25,</a:t>
            </a:r>
            <a:r>
              <a:rPr sz="2000" spc="-15" dirty="0">
                <a:latin typeface="Times New Roman"/>
                <a:cs typeface="Times New Roman"/>
              </a:rPr>
              <a:t> </a:t>
            </a:r>
            <a:r>
              <a:rPr sz="2000" dirty="0">
                <a:latin typeface="Times New Roman"/>
                <a:cs typeface="Times New Roman"/>
              </a:rPr>
              <a:t>30,</a:t>
            </a:r>
            <a:r>
              <a:rPr sz="2000" spc="-5" dirty="0">
                <a:latin typeface="Times New Roman"/>
                <a:cs typeface="Times New Roman"/>
              </a:rPr>
              <a:t> </a:t>
            </a:r>
            <a:r>
              <a:rPr sz="2000" dirty="0">
                <a:latin typeface="Times New Roman"/>
                <a:cs typeface="Times New Roman"/>
              </a:rPr>
              <a:t>30,</a:t>
            </a:r>
            <a:r>
              <a:rPr sz="2000" spc="-15" dirty="0">
                <a:latin typeface="Times New Roman"/>
                <a:cs typeface="Times New Roman"/>
              </a:rPr>
              <a:t> </a:t>
            </a:r>
            <a:r>
              <a:rPr sz="2000" dirty="0">
                <a:latin typeface="Times New Roman"/>
                <a:cs typeface="Times New Roman"/>
              </a:rPr>
              <a:t>35,</a:t>
            </a:r>
            <a:r>
              <a:rPr sz="2000" spc="-10" dirty="0">
                <a:latin typeface="Times New Roman"/>
                <a:cs typeface="Times New Roman"/>
              </a:rPr>
              <a:t> </a:t>
            </a:r>
            <a:r>
              <a:rPr sz="2000" spc="-25" dirty="0">
                <a:latin typeface="Times New Roman"/>
                <a:cs typeface="Times New Roman"/>
              </a:rPr>
              <a:t>40</a:t>
            </a:r>
            <a:endParaRPr sz="200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The</a:t>
            </a:r>
            <a:r>
              <a:rPr sz="2000" spc="5" dirty="0">
                <a:latin typeface="Times New Roman"/>
                <a:cs typeface="Times New Roman"/>
              </a:rPr>
              <a:t>  </a:t>
            </a:r>
            <a:r>
              <a:rPr sz="2000" b="1" dirty="0">
                <a:latin typeface="Times New Roman"/>
                <a:cs typeface="Times New Roman"/>
              </a:rPr>
              <a:t>unique()</a:t>
            </a:r>
            <a:r>
              <a:rPr sz="2000" b="1" spc="5" dirty="0">
                <a:latin typeface="Times New Roman"/>
                <a:cs typeface="Times New Roman"/>
              </a:rPr>
              <a:t>  </a:t>
            </a:r>
            <a:r>
              <a:rPr sz="2000" dirty="0">
                <a:latin typeface="Times New Roman"/>
                <a:cs typeface="Times New Roman"/>
              </a:rPr>
              <a:t>member</a:t>
            </a:r>
            <a:r>
              <a:rPr sz="2000" spc="15" dirty="0">
                <a:latin typeface="Times New Roman"/>
                <a:cs typeface="Times New Roman"/>
              </a:rPr>
              <a:t>  </a:t>
            </a:r>
            <a:r>
              <a:rPr sz="2000" dirty="0">
                <a:latin typeface="Times New Roman"/>
                <a:cs typeface="Times New Roman"/>
              </a:rPr>
              <a:t>function</a:t>
            </a:r>
            <a:r>
              <a:rPr sz="2000" spc="5" dirty="0">
                <a:latin typeface="Times New Roman"/>
                <a:cs typeface="Times New Roman"/>
              </a:rPr>
              <a:t>  </a:t>
            </a:r>
            <a:r>
              <a:rPr sz="2000" dirty="0">
                <a:latin typeface="Times New Roman"/>
                <a:cs typeface="Times New Roman"/>
              </a:rPr>
              <a:t>finds</a:t>
            </a:r>
            <a:r>
              <a:rPr sz="2000" spc="5" dirty="0">
                <a:latin typeface="Times New Roman"/>
                <a:cs typeface="Times New Roman"/>
              </a:rPr>
              <a:t>  </a:t>
            </a:r>
            <a:r>
              <a:rPr sz="2000" spc="-10" dirty="0">
                <a:latin typeface="Times New Roman"/>
                <a:cs typeface="Times New Roman"/>
              </a:rPr>
              <a:t>adjacent 	</a:t>
            </a:r>
            <a:r>
              <a:rPr sz="2000" dirty="0">
                <a:latin typeface="Times New Roman"/>
                <a:cs typeface="Times New Roman"/>
              </a:rPr>
              <a:t>elements</a:t>
            </a:r>
            <a:r>
              <a:rPr sz="2000" spc="280" dirty="0">
                <a:latin typeface="Times New Roman"/>
                <a:cs typeface="Times New Roman"/>
              </a:rPr>
              <a:t> </a:t>
            </a:r>
            <a:r>
              <a:rPr sz="2000" dirty="0">
                <a:latin typeface="Times New Roman"/>
                <a:cs typeface="Times New Roman"/>
              </a:rPr>
              <a:t>with</a:t>
            </a:r>
            <a:r>
              <a:rPr sz="2000" spc="285" dirty="0">
                <a:latin typeface="Times New Roman"/>
                <a:cs typeface="Times New Roman"/>
              </a:rPr>
              <a:t> </a:t>
            </a:r>
            <a:r>
              <a:rPr sz="2000" dirty="0">
                <a:latin typeface="Times New Roman"/>
                <a:cs typeface="Times New Roman"/>
              </a:rPr>
              <a:t>the</a:t>
            </a:r>
            <a:r>
              <a:rPr sz="2000" spc="290" dirty="0">
                <a:latin typeface="Times New Roman"/>
                <a:cs typeface="Times New Roman"/>
              </a:rPr>
              <a:t> </a:t>
            </a:r>
            <a:r>
              <a:rPr sz="2000" dirty="0">
                <a:latin typeface="Times New Roman"/>
                <a:cs typeface="Times New Roman"/>
              </a:rPr>
              <a:t>same</a:t>
            </a:r>
            <a:r>
              <a:rPr sz="2000" spc="295" dirty="0">
                <a:latin typeface="Times New Roman"/>
                <a:cs typeface="Times New Roman"/>
              </a:rPr>
              <a:t> </a:t>
            </a:r>
            <a:r>
              <a:rPr sz="2000" dirty="0">
                <a:latin typeface="Times New Roman"/>
                <a:cs typeface="Times New Roman"/>
              </a:rPr>
              <a:t>value,</a:t>
            </a:r>
            <a:r>
              <a:rPr sz="2000" spc="295" dirty="0">
                <a:latin typeface="Times New Roman"/>
                <a:cs typeface="Times New Roman"/>
              </a:rPr>
              <a:t> </a:t>
            </a:r>
            <a:r>
              <a:rPr sz="2000" dirty="0">
                <a:latin typeface="Times New Roman"/>
                <a:cs typeface="Times New Roman"/>
              </a:rPr>
              <a:t>and</a:t>
            </a:r>
            <a:r>
              <a:rPr sz="2000" spc="300" dirty="0">
                <a:latin typeface="Times New Roman"/>
                <a:cs typeface="Times New Roman"/>
              </a:rPr>
              <a:t> </a:t>
            </a:r>
            <a:r>
              <a:rPr sz="2000" dirty="0">
                <a:latin typeface="Times New Roman"/>
                <a:cs typeface="Times New Roman"/>
              </a:rPr>
              <a:t>removes</a:t>
            </a:r>
            <a:r>
              <a:rPr sz="2000" spc="300" dirty="0">
                <a:latin typeface="Times New Roman"/>
                <a:cs typeface="Times New Roman"/>
              </a:rPr>
              <a:t> </a:t>
            </a:r>
            <a:r>
              <a:rPr sz="2000" spc="-25" dirty="0">
                <a:latin typeface="Times New Roman"/>
                <a:cs typeface="Times New Roman"/>
              </a:rPr>
              <a:t>all 	</a:t>
            </a:r>
            <a:r>
              <a:rPr sz="2000" dirty="0">
                <a:latin typeface="Times New Roman"/>
                <a:cs typeface="Times New Roman"/>
              </a:rPr>
              <a:t>but</a:t>
            </a:r>
            <a:r>
              <a:rPr sz="2000" spc="310" dirty="0">
                <a:latin typeface="Times New Roman"/>
                <a:cs typeface="Times New Roman"/>
              </a:rPr>
              <a:t> </a:t>
            </a:r>
            <a:r>
              <a:rPr sz="2000" dirty="0">
                <a:latin typeface="Times New Roman"/>
                <a:cs typeface="Times New Roman"/>
              </a:rPr>
              <a:t>the</a:t>
            </a:r>
            <a:r>
              <a:rPr sz="2000" spc="300" dirty="0">
                <a:latin typeface="Times New Roman"/>
                <a:cs typeface="Times New Roman"/>
              </a:rPr>
              <a:t> </a:t>
            </a:r>
            <a:r>
              <a:rPr sz="2000" dirty="0">
                <a:latin typeface="Times New Roman"/>
                <a:cs typeface="Times New Roman"/>
              </a:rPr>
              <a:t>first.</a:t>
            </a:r>
            <a:r>
              <a:rPr sz="2000" spc="300" dirty="0">
                <a:latin typeface="Times New Roman"/>
                <a:cs typeface="Times New Roman"/>
              </a:rPr>
              <a:t> </a:t>
            </a:r>
            <a:r>
              <a:rPr sz="2000" dirty="0">
                <a:latin typeface="Times New Roman"/>
                <a:cs typeface="Times New Roman"/>
              </a:rPr>
              <a:t>The</a:t>
            </a:r>
            <a:r>
              <a:rPr sz="2000" spc="320" dirty="0">
                <a:latin typeface="Times New Roman"/>
                <a:cs typeface="Times New Roman"/>
              </a:rPr>
              <a:t> </a:t>
            </a:r>
            <a:r>
              <a:rPr sz="2000" dirty="0">
                <a:latin typeface="Times New Roman"/>
                <a:cs typeface="Times New Roman"/>
              </a:rPr>
              <a:t>contents</a:t>
            </a:r>
            <a:r>
              <a:rPr sz="2000" spc="300" dirty="0">
                <a:latin typeface="Times New Roman"/>
                <a:cs typeface="Times New Roman"/>
              </a:rPr>
              <a:t> </a:t>
            </a:r>
            <a:r>
              <a:rPr sz="2000" dirty="0">
                <a:latin typeface="Times New Roman"/>
                <a:cs typeface="Times New Roman"/>
              </a:rPr>
              <a:t>of</a:t>
            </a:r>
            <a:r>
              <a:rPr sz="2000" spc="305" dirty="0">
                <a:latin typeface="Times New Roman"/>
                <a:cs typeface="Times New Roman"/>
              </a:rPr>
              <a:t> </a:t>
            </a:r>
            <a:r>
              <a:rPr sz="2000" dirty="0">
                <a:latin typeface="Times New Roman"/>
                <a:cs typeface="Times New Roman"/>
              </a:rPr>
              <a:t>list1</a:t>
            </a:r>
            <a:r>
              <a:rPr sz="2000" spc="315" dirty="0">
                <a:latin typeface="Times New Roman"/>
                <a:cs typeface="Times New Roman"/>
              </a:rPr>
              <a:t> </a:t>
            </a:r>
            <a:r>
              <a:rPr sz="2000" dirty="0">
                <a:latin typeface="Times New Roman"/>
                <a:cs typeface="Times New Roman"/>
              </a:rPr>
              <a:t>are</a:t>
            </a:r>
            <a:r>
              <a:rPr sz="2000" spc="320" dirty="0">
                <a:latin typeface="Times New Roman"/>
                <a:cs typeface="Times New Roman"/>
              </a:rPr>
              <a:t> </a:t>
            </a:r>
            <a:r>
              <a:rPr sz="2000" dirty="0">
                <a:latin typeface="Times New Roman"/>
                <a:cs typeface="Times New Roman"/>
              </a:rPr>
              <a:t>then</a:t>
            </a:r>
            <a:r>
              <a:rPr sz="2000" spc="320" dirty="0">
                <a:latin typeface="Times New Roman"/>
                <a:cs typeface="Times New Roman"/>
              </a:rPr>
              <a:t> </a:t>
            </a:r>
            <a:r>
              <a:rPr sz="2000" spc="-25" dirty="0">
                <a:latin typeface="Times New Roman"/>
                <a:cs typeface="Times New Roman"/>
              </a:rPr>
              <a:t>10, 	</a:t>
            </a:r>
            <a:r>
              <a:rPr sz="2000" dirty="0">
                <a:latin typeface="Times New Roman"/>
                <a:cs typeface="Times New Roman"/>
              </a:rPr>
              <a:t>15,</a:t>
            </a:r>
            <a:r>
              <a:rPr sz="2000" spc="-10" dirty="0">
                <a:latin typeface="Times New Roman"/>
                <a:cs typeface="Times New Roman"/>
              </a:rPr>
              <a:t> </a:t>
            </a:r>
            <a:r>
              <a:rPr sz="2000" dirty="0">
                <a:latin typeface="Times New Roman"/>
                <a:cs typeface="Times New Roman"/>
              </a:rPr>
              <a:t>20,</a:t>
            </a:r>
            <a:r>
              <a:rPr sz="2000" spc="-10" dirty="0">
                <a:latin typeface="Times New Roman"/>
                <a:cs typeface="Times New Roman"/>
              </a:rPr>
              <a:t> </a:t>
            </a:r>
            <a:r>
              <a:rPr sz="2000" dirty="0">
                <a:latin typeface="Times New Roman"/>
                <a:cs typeface="Times New Roman"/>
              </a:rPr>
              <a:t>25,</a:t>
            </a:r>
            <a:r>
              <a:rPr sz="2000" spc="-10" dirty="0">
                <a:latin typeface="Times New Roman"/>
                <a:cs typeface="Times New Roman"/>
              </a:rPr>
              <a:t> </a:t>
            </a:r>
            <a:r>
              <a:rPr sz="2000" dirty="0">
                <a:latin typeface="Times New Roman"/>
                <a:cs typeface="Times New Roman"/>
              </a:rPr>
              <a:t>30,</a:t>
            </a:r>
            <a:r>
              <a:rPr sz="2000" spc="-10" dirty="0">
                <a:latin typeface="Times New Roman"/>
                <a:cs typeface="Times New Roman"/>
              </a:rPr>
              <a:t> </a:t>
            </a:r>
            <a:r>
              <a:rPr sz="2000" dirty="0">
                <a:latin typeface="Times New Roman"/>
                <a:cs typeface="Times New Roman"/>
              </a:rPr>
              <a:t>35,</a:t>
            </a:r>
            <a:r>
              <a:rPr sz="2000" spc="-10" dirty="0">
                <a:latin typeface="Times New Roman"/>
                <a:cs typeface="Times New Roman"/>
              </a:rPr>
              <a:t> </a:t>
            </a:r>
            <a:r>
              <a:rPr sz="2000" spc="-25" dirty="0">
                <a:latin typeface="Times New Roman"/>
                <a:cs typeface="Times New Roman"/>
              </a:rPr>
              <a:t>40</a:t>
            </a:r>
            <a:endParaRPr sz="2000">
              <a:latin typeface="Times New Roman"/>
              <a:cs typeface="Times New Roman"/>
            </a:endParaRPr>
          </a:p>
        </p:txBody>
      </p:sp>
      <p:pic>
        <p:nvPicPr>
          <p:cNvPr id="4" name="object 4"/>
          <p:cNvPicPr/>
          <p:nvPr/>
        </p:nvPicPr>
        <p:blipFill>
          <a:blip r:embed="rId2" cstate="print"/>
          <a:stretch>
            <a:fillRect/>
          </a:stretch>
        </p:blipFill>
        <p:spPr>
          <a:xfrm>
            <a:off x="7063055" y="246967"/>
            <a:ext cx="3426481" cy="2153915"/>
          </a:xfrm>
          <a:prstGeom prst="rect">
            <a:avLst/>
          </a:prstGeom>
        </p:spPr>
      </p:pic>
      <p:pic>
        <p:nvPicPr>
          <p:cNvPr id="5" name="object 5"/>
          <p:cNvPicPr/>
          <p:nvPr/>
        </p:nvPicPr>
        <p:blipFill>
          <a:blip r:embed="rId3" cstate="print"/>
          <a:stretch>
            <a:fillRect/>
          </a:stretch>
        </p:blipFill>
        <p:spPr>
          <a:xfrm>
            <a:off x="7344940" y="2682636"/>
            <a:ext cx="2720252" cy="3563377"/>
          </a:xfrm>
          <a:prstGeom prst="rect">
            <a:avLst/>
          </a:prstGeom>
        </p:spPr>
      </p:pic>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DE7C341D-39DC-A6BE-0F94-872A6EA9B5EA}"/>
              </a:ext>
            </a:extLst>
          </p:cNvPr>
          <p:cNvSpPr>
            <a:spLocks noGrp="1"/>
          </p:cNvSpPr>
          <p:nvPr>
            <p:ph type="dt" sz="half" idx="10"/>
          </p:nvPr>
        </p:nvSpPr>
        <p:spPr/>
        <p:txBody>
          <a:bodyPr/>
          <a:lstStyle/>
          <a:p>
            <a:fld id="{A16BD819-20BF-499A-933A-C5C1D256DE56}" type="datetime1">
              <a:rPr lang="en-US" smtClean="0"/>
              <a:t>11/17/2025</a:t>
            </a:fld>
            <a:endParaRPr lang="en-US"/>
          </a:p>
        </p:txBody>
      </p:sp>
      <p:sp>
        <p:nvSpPr>
          <p:cNvPr id="11" name="Slide Number Placeholder 10">
            <a:extLst>
              <a:ext uri="{FF2B5EF4-FFF2-40B4-BE49-F238E27FC236}">
                <a16:creationId xmlns:a16="http://schemas.microsoft.com/office/drawing/2014/main" id="{2E0A4E48-902D-A976-047E-C0CEF4547591}"/>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41</a:t>
            </a:fld>
            <a:endParaRPr spc="-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a:t>
            </a:r>
          </a:p>
        </p:txBody>
      </p:sp>
      <p:sp>
        <p:nvSpPr>
          <p:cNvPr id="3" name="Content Placeholder 2"/>
          <p:cNvSpPr>
            <a:spLocks noGrp="1"/>
          </p:cNvSpPr>
          <p:nvPr>
            <p:ph idx="1"/>
          </p:nvPr>
        </p:nvSpPr>
        <p:spPr>
          <a:xfrm>
            <a:off x="838200" y="1825625"/>
            <a:ext cx="6477000" cy="4351338"/>
          </a:xfrm>
        </p:spPr>
        <p:txBody>
          <a:bodyPr>
            <a:normAutofit fontScale="92500" lnSpcReduction="20000"/>
          </a:bodyPr>
          <a:lstStyle/>
          <a:p>
            <a:pPr algn="just"/>
            <a:r>
              <a:rPr lang="en-US" dirty="0"/>
              <a:t>A queue stores multiple elements in a specific order, called </a:t>
            </a:r>
            <a:r>
              <a:rPr lang="en-US" b="1" dirty="0"/>
              <a:t>FIFO</a:t>
            </a:r>
            <a:r>
              <a:rPr lang="en-US" dirty="0"/>
              <a:t>.</a:t>
            </a:r>
          </a:p>
          <a:p>
            <a:pPr algn="just"/>
            <a:r>
              <a:rPr lang="en-US" b="1" dirty="0"/>
              <a:t>FIFO</a:t>
            </a:r>
            <a:r>
              <a:rPr lang="en-US" dirty="0"/>
              <a:t> stands for </a:t>
            </a:r>
            <a:r>
              <a:rPr lang="en-US" b="1" dirty="0"/>
              <a:t>First in, First Out</a:t>
            </a:r>
            <a:r>
              <a:rPr lang="en-US" dirty="0"/>
              <a:t>. To visualize FIFO, think of a queue as people standing in line in a ATM. The first person to stand in line is also the first who can pay and leave the ATM. This way of organizing elements is called FIFO in computer science and programming.</a:t>
            </a:r>
          </a:p>
          <a:p>
            <a:pPr algn="just"/>
            <a:r>
              <a:rPr lang="en-US" dirty="0"/>
              <a:t>Unlike </a:t>
            </a:r>
            <a:r>
              <a:rPr lang="en-US" dirty="0">
                <a:hlinkClick r:id="rId2"/>
              </a:rPr>
              <a:t>vectors</a:t>
            </a:r>
            <a:r>
              <a:rPr lang="en-US" dirty="0"/>
              <a:t>, elements in the queue are not accessed by index numbers. Since queue elements are added at the end and removed from the front, you can only access an element at the front or the back.</a:t>
            </a:r>
          </a:p>
          <a:p>
            <a:endParaRPr lang="en-US" dirty="0"/>
          </a:p>
        </p:txBody>
      </p:sp>
      <p:sp>
        <p:nvSpPr>
          <p:cNvPr id="4" name="Date Placeholder 3"/>
          <p:cNvSpPr>
            <a:spLocks noGrp="1"/>
          </p:cNvSpPr>
          <p:nvPr>
            <p:ph type="dt" sz="half" idx="10"/>
          </p:nvPr>
        </p:nvSpPr>
        <p:spPr/>
        <p:txBody>
          <a:bodyPr/>
          <a:lstStyle/>
          <a:p>
            <a:fld id="{8966A560-332D-47A2-A6E0-4B9952C44143}" type="datetime1">
              <a:rPr lang="en-US" smtClean="0"/>
              <a:t>11/17/2025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42</a:t>
            </a:fld>
            <a:endParaRPr spc="-25"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7716" y="1219200"/>
            <a:ext cx="3380384" cy="327660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5800" y="4267200"/>
            <a:ext cx="2647950" cy="1733550"/>
          </a:xfrm>
          <a:prstGeom prst="rect">
            <a:avLst/>
          </a:prstGeom>
        </p:spPr>
      </p:pic>
    </p:spTree>
    <p:extLst>
      <p:ext uri="{BB962C8B-B14F-4D97-AF65-F5344CB8AC3E}">
        <p14:creationId xmlns:p14="http://schemas.microsoft.com/office/powerpoint/2010/main" val="1706643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65125"/>
            <a:ext cx="10820400" cy="1325563"/>
          </a:xfrm>
        </p:spPr>
        <p:txBody>
          <a:bodyPr/>
          <a:lstStyle/>
          <a:p>
            <a:r>
              <a:rPr lang="en-US" dirty="0"/>
              <a:t>QUEUE</a:t>
            </a:r>
          </a:p>
        </p:txBody>
      </p:sp>
      <p:sp>
        <p:nvSpPr>
          <p:cNvPr id="4" name="Date Placeholder 3"/>
          <p:cNvSpPr>
            <a:spLocks noGrp="1"/>
          </p:cNvSpPr>
          <p:nvPr>
            <p:ph type="dt" sz="half" idx="10"/>
          </p:nvPr>
        </p:nvSpPr>
        <p:spPr/>
        <p:txBody>
          <a:bodyPr/>
          <a:lstStyle/>
          <a:p>
            <a:fld id="{8966A560-332D-47A2-A6E0-4B9952C44143}" type="datetime1">
              <a:rPr lang="en-US" smtClean="0"/>
              <a:t>11/17/2025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43</a:t>
            </a:fld>
            <a:endParaRPr spc="-25" dirty="0"/>
          </a:p>
        </p:txBody>
      </p:sp>
      <p:sp>
        <p:nvSpPr>
          <p:cNvPr id="7" name="Rectangle 1"/>
          <p:cNvSpPr>
            <a:spLocks noGrp="1" noChangeArrowheads="1"/>
          </p:cNvSpPr>
          <p:nvPr>
            <p:ph idx="1"/>
          </p:nvPr>
        </p:nvSpPr>
        <p:spPr bwMode="auto">
          <a:xfrm>
            <a:off x="457200" y="1517540"/>
            <a:ext cx="6400800" cy="49675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lnSpc>
                <a:spcPct val="100000"/>
              </a:lnSpc>
            </a:pP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To create a queue, use the </a:t>
            </a:r>
            <a:r>
              <a:rPr kumimoji="0" lang="en-US" sz="1800" b="0" i="0" u="none" strike="noStrike" cap="none" normalizeH="0" baseline="0" dirty="0">
                <a:ln>
                  <a:noFill/>
                </a:ln>
                <a:solidFill>
                  <a:srgbClr val="DC143C"/>
                </a:solidFill>
                <a:effectLst/>
                <a:latin typeface="Consolas" panose="020B0609020204030204" pitchFamily="49" charset="0"/>
              </a:rPr>
              <a:t>queue</a:t>
            </a: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keyword, and specify the </a:t>
            </a:r>
            <a:r>
              <a:rPr kumimoji="0" lang="en-US" sz="1800" b="1"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type</a:t>
            </a: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of values</a:t>
            </a:r>
            <a:r>
              <a:rPr lang="en-US" sz="1800" dirty="0">
                <a:solidFill>
                  <a:srgbClr val="000000"/>
                </a:solidFill>
                <a:latin typeface="Segoe UI" panose="020B0502040204020203" pitchFamily="34" charset="0"/>
                <a:cs typeface="Segoe UI" panose="020B0502040204020203" pitchFamily="34" charset="0"/>
              </a:rPr>
              <a:t>. I</a:t>
            </a: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t should store within angle brackets </a:t>
            </a:r>
            <a:r>
              <a:rPr kumimoji="0" lang="en-US" sz="1800" b="0" i="0" u="none" strike="noStrike" cap="none" normalizeH="0" baseline="0" dirty="0">
                <a:ln>
                  <a:noFill/>
                </a:ln>
                <a:solidFill>
                  <a:srgbClr val="DC143C"/>
                </a:solidFill>
                <a:effectLst/>
                <a:latin typeface="Consolas" panose="020B0609020204030204" pitchFamily="49" charset="0"/>
              </a:rPr>
              <a:t>&lt;&gt;</a:t>
            </a: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and then the name of the queue, like: </a:t>
            </a:r>
            <a:r>
              <a:rPr kumimoji="0" lang="en-US" sz="1800" b="0" i="0" u="none" strike="noStrike" cap="none" normalizeH="0" baseline="0" dirty="0">
                <a:ln>
                  <a:noFill/>
                </a:ln>
                <a:solidFill>
                  <a:srgbClr val="DC143C"/>
                </a:solidFill>
                <a:effectLst/>
                <a:latin typeface="Consolas" panose="020B0609020204030204" pitchFamily="49" charset="0"/>
              </a:rPr>
              <a:t>queue&lt;</a:t>
            </a:r>
            <a:r>
              <a:rPr kumimoji="0" lang="en-US" sz="1800" b="0" i="1" u="none" strike="noStrike" cap="none" normalizeH="0" baseline="0" dirty="0">
                <a:ln>
                  <a:noFill/>
                </a:ln>
                <a:solidFill>
                  <a:srgbClr val="DC143C"/>
                </a:solidFill>
                <a:effectLst/>
                <a:latin typeface="Consolas" panose="020B0609020204030204" pitchFamily="49" charset="0"/>
              </a:rPr>
              <a:t>type</a:t>
            </a:r>
            <a:r>
              <a:rPr kumimoji="0" lang="en-US" sz="1800" b="0" i="0" u="none" strike="noStrike" cap="none" normalizeH="0" baseline="0" dirty="0">
                <a:ln>
                  <a:noFill/>
                </a:ln>
                <a:solidFill>
                  <a:srgbClr val="DC143C"/>
                </a:solidFill>
                <a:effectLst/>
                <a:latin typeface="Consolas" panose="020B0609020204030204" pitchFamily="49" charset="0"/>
              </a:rPr>
              <a:t>&gt; </a:t>
            </a:r>
            <a:r>
              <a:rPr kumimoji="0" lang="en-US" sz="1800" b="0" i="1" u="none" strike="noStrike" cap="none" normalizeH="0" baseline="0" dirty="0" err="1">
                <a:ln>
                  <a:noFill/>
                </a:ln>
                <a:solidFill>
                  <a:srgbClr val="DC143C"/>
                </a:solidFill>
                <a:effectLst/>
                <a:latin typeface="Consolas" panose="020B0609020204030204" pitchFamily="49" charset="0"/>
              </a:rPr>
              <a:t>queueName</a:t>
            </a:r>
            <a:r>
              <a:rPr kumimoji="0" lang="en-US" sz="1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a:t>
            </a:r>
            <a:r>
              <a:rPr kumimoji="0" lang="en-US" sz="1800" b="0" i="0" u="none" strike="noStrike" cap="none" normalizeH="0" baseline="0" dirty="0">
                <a:ln>
                  <a:noFill/>
                </a:ln>
                <a:solidFill>
                  <a:schemeClr val="tx1"/>
                </a:solidFill>
                <a:effectLst/>
              </a:rPr>
              <a:t> </a:t>
            </a:r>
          </a:p>
          <a:p>
            <a:pPr algn="just">
              <a:lnSpc>
                <a:spcPct val="100000"/>
              </a:lnSpc>
            </a:pPr>
            <a:r>
              <a:rPr lang="en-US" sz="1800" dirty="0"/>
              <a:t>To add elements to the queue, you can use the </a:t>
            </a:r>
            <a:r>
              <a:rPr lang="en-US" sz="1800" dirty="0">
                <a:solidFill>
                  <a:srgbClr val="FF0000"/>
                </a:solidFill>
              </a:rPr>
              <a:t>.push()</a:t>
            </a:r>
            <a:r>
              <a:rPr lang="en-US" sz="1800" dirty="0"/>
              <a:t> function after declaring the queue. The </a:t>
            </a:r>
            <a:r>
              <a:rPr lang="en-US" sz="1800" dirty="0">
                <a:solidFill>
                  <a:srgbClr val="FF0000"/>
                </a:solidFill>
              </a:rPr>
              <a:t>.push() </a:t>
            </a:r>
            <a:r>
              <a:rPr lang="en-US" sz="1800" dirty="0"/>
              <a:t>function adds an element at the end of the queue:</a:t>
            </a:r>
          </a:p>
          <a:p>
            <a:pPr algn="just">
              <a:lnSpc>
                <a:spcPct val="100000"/>
              </a:lnSpc>
            </a:pPr>
            <a:r>
              <a:rPr lang="en-US" sz="1800" dirty="0"/>
              <a:t>In a queue, you can only access the element at the front or the back, using </a:t>
            </a:r>
            <a:r>
              <a:rPr lang="en-US" sz="1800" dirty="0">
                <a:solidFill>
                  <a:srgbClr val="FF0000"/>
                </a:solidFill>
              </a:rPr>
              <a:t>.front() </a:t>
            </a:r>
            <a:r>
              <a:rPr lang="en-US" sz="1800" dirty="0"/>
              <a:t>and </a:t>
            </a:r>
            <a:r>
              <a:rPr lang="en-US" sz="1800" dirty="0">
                <a:solidFill>
                  <a:srgbClr val="FF0000"/>
                </a:solidFill>
              </a:rPr>
              <a:t>.back() </a:t>
            </a:r>
            <a:r>
              <a:rPr lang="en-US" sz="1800" dirty="0"/>
              <a:t>respectively:</a:t>
            </a:r>
          </a:p>
          <a:p>
            <a:pPr algn="just">
              <a:lnSpc>
                <a:spcPct val="100000"/>
              </a:lnSpc>
            </a:pPr>
            <a:r>
              <a:rPr lang="en-US" sz="1800" dirty="0"/>
              <a:t>You can also use </a:t>
            </a:r>
            <a:r>
              <a:rPr lang="en-US" sz="1800" dirty="0">
                <a:solidFill>
                  <a:srgbClr val="FF0000"/>
                </a:solidFill>
              </a:rPr>
              <a:t>.front </a:t>
            </a:r>
            <a:r>
              <a:rPr lang="en-US" sz="1800" dirty="0"/>
              <a:t>and </a:t>
            </a:r>
            <a:r>
              <a:rPr lang="en-US" sz="1800" dirty="0">
                <a:solidFill>
                  <a:srgbClr val="FF0000"/>
                </a:solidFill>
              </a:rPr>
              <a:t>.back </a:t>
            </a:r>
            <a:r>
              <a:rPr lang="en-US" sz="1800" dirty="0"/>
              <a:t>to change the value of the front and back elements:</a:t>
            </a:r>
          </a:p>
          <a:p>
            <a:pPr algn="just">
              <a:lnSpc>
                <a:spcPct val="100000"/>
              </a:lnSpc>
            </a:pPr>
            <a:endParaRPr lang="en-US" sz="1800" dirty="0"/>
          </a:p>
          <a:p>
            <a:pPr marL="0" indent="0" algn="just">
              <a:lnSpc>
                <a:spcPct val="100000"/>
              </a:lnSpc>
              <a:buNone/>
            </a:pPr>
            <a:endParaRPr lang="en-US" sz="1800" dirty="0"/>
          </a:p>
          <a:p>
            <a:pPr marL="0" indent="0">
              <a:buNone/>
            </a:pPr>
            <a:r>
              <a:rPr lang="en-US" sz="1800" b="1" dirty="0">
                <a:solidFill>
                  <a:srgbClr val="FF0000"/>
                </a:solidFill>
              </a:rPr>
              <a:t>Note:</a:t>
            </a:r>
            <a:r>
              <a:rPr lang="en-US" sz="1800" dirty="0">
                <a:solidFill>
                  <a:srgbClr val="FF0000"/>
                </a:solidFill>
              </a:rPr>
              <a:t> The type of the queue cannot be changed after its been declared.</a:t>
            </a:r>
          </a:p>
          <a:p>
            <a:pPr marL="0" indent="0">
              <a:buNone/>
            </a:pPr>
            <a:r>
              <a:rPr lang="en-US" sz="1800" b="1" dirty="0">
                <a:solidFill>
                  <a:srgbClr val="FF0000"/>
                </a:solidFill>
              </a:rPr>
              <a:t>Note:</a:t>
            </a:r>
            <a:r>
              <a:rPr lang="en-US" sz="1800" dirty="0">
                <a:solidFill>
                  <a:srgbClr val="FF0000"/>
                </a:solidFill>
              </a:rPr>
              <a:t> You cannot add elements to the queue at the time of declaration, like you can with vectors.</a:t>
            </a:r>
          </a:p>
          <a:p>
            <a:pPr marL="0" indent="0" algn="just">
              <a:lnSpc>
                <a:spcPct val="100000"/>
              </a:lnSpc>
              <a:buNone/>
            </a:pPr>
            <a:endParaRPr kumimoji="0" lang="en-US" sz="1800" b="0" i="0" u="none" strike="noStrike" cap="none" normalizeH="0" baseline="0" dirty="0">
              <a:ln>
                <a:noFill/>
              </a:ln>
              <a:solidFill>
                <a:schemeClr val="tx1"/>
              </a:solidFill>
              <a:effectLst/>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1400" y="882650"/>
            <a:ext cx="4925048" cy="5594350"/>
          </a:xfrm>
          <a:prstGeom prst="rect">
            <a:avLst/>
          </a:prstGeom>
        </p:spPr>
      </p:pic>
    </p:spTree>
    <p:extLst>
      <p:ext uri="{BB962C8B-B14F-4D97-AF65-F5344CB8AC3E}">
        <p14:creationId xmlns:p14="http://schemas.microsoft.com/office/powerpoint/2010/main" val="1260740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Deques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808126" y="1562862"/>
            <a:ext cx="10234930" cy="2769870"/>
          </a:xfrm>
          <a:prstGeom prst="rect">
            <a:avLst/>
          </a:prstGeom>
        </p:spPr>
        <p:txBody>
          <a:bodyPr vert="horz" wrap="square" lIns="0" tIns="13335" rIns="0" bIns="0" rtlCol="0">
            <a:spAutoFit/>
          </a:bodyPr>
          <a:lstStyle/>
          <a:p>
            <a:pPr marL="352425" marR="6985"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110" dirty="0">
                <a:latin typeface="Times New Roman"/>
                <a:cs typeface="Times New Roman"/>
              </a:rPr>
              <a:t> </a:t>
            </a:r>
            <a:r>
              <a:rPr sz="2000" dirty="0">
                <a:latin typeface="Times New Roman"/>
                <a:cs typeface="Times New Roman"/>
              </a:rPr>
              <a:t>third</a:t>
            </a:r>
            <a:r>
              <a:rPr sz="2000" spc="105" dirty="0">
                <a:latin typeface="Times New Roman"/>
                <a:cs typeface="Times New Roman"/>
              </a:rPr>
              <a:t> </a:t>
            </a:r>
            <a:r>
              <a:rPr sz="2000" dirty="0">
                <a:latin typeface="Times New Roman"/>
                <a:cs typeface="Times New Roman"/>
              </a:rPr>
              <a:t>sequence</a:t>
            </a:r>
            <a:r>
              <a:rPr sz="2000" spc="114" dirty="0">
                <a:latin typeface="Times New Roman"/>
                <a:cs typeface="Times New Roman"/>
              </a:rPr>
              <a:t> </a:t>
            </a:r>
            <a:r>
              <a:rPr sz="2000" dirty="0">
                <a:latin typeface="Times New Roman"/>
                <a:cs typeface="Times New Roman"/>
              </a:rPr>
              <a:t>container</a:t>
            </a:r>
            <a:r>
              <a:rPr sz="2000" spc="100" dirty="0">
                <a:latin typeface="Times New Roman"/>
                <a:cs typeface="Times New Roman"/>
              </a:rPr>
              <a:t> </a:t>
            </a:r>
            <a:r>
              <a:rPr sz="2000" dirty="0">
                <a:latin typeface="Times New Roman"/>
                <a:cs typeface="Times New Roman"/>
              </a:rPr>
              <a:t>is</a:t>
            </a:r>
            <a:r>
              <a:rPr sz="2000" spc="95" dirty="0">
                <a:latin typeface="Times New Roman"/>
                <a:cs typeface="Times New Roman"/>
              </a:rPr>
              <a:t> </a:t>
            </a:r>
            <a:r>
              <a:rPr sz="2000" dirty="0">
                <a:latin typeface="Times New Roman"/>
                <a:cs typeface="Times New Roman"/>
              </a:rPr>
              <a:t>the</a:t>
            </a:r>
            <a:r>
              <a:rPr sz="2000" spc="85" dirty="0">
                <a:latin typeface="Times New Roman"/>
                <a:cs typeface="Times New Roman"/>
              </a:rPr>
              <a:t> </a:t>
            </a:r>
            <a:r>
              <a:rPr sz="2000" dirty="0">
                <a:latin typeface="Times New Roman"/>
                <a:cs typeface="Times New Roman"/>
              </a:rPr>
              <a:t>deque,</a:t>
            </a:r>
            <a:r>
              <a:rPr sz="2000" spc="90" dirty="0">
                <a:latin typeface="Times New Roman"/>
                <a:cs typeface="Times New Roman"/>
              </a:rPr>
              <a:t> </a:t>
            </a:r>
            <a:r>
              <a:rPr sz="2000" dirty="0">
                <a:latin typeface="Times New Roman"/>
                <a:cs typeface="Times New Roman"/>
              </a:rPr>
              <a:t>which</a:t>
            </a:r>
            <a:r>
              <a:rPr sz="2000" spc="114" dirty="0">
                <a:latin typeface="Times New Roman"/>
                <a:cs typeface="Times New Roman"/>
              </a:rPr>
              <a:t> </a:t>
            </a:r>
            <a:r>
              <a:rPr sz="2000" dirty="0">
                <a:latin typeface="Times New Roman"/>
                <a:cs typeface="Times New Roman"/>
              </a:rPr>
              <a:t>can</a:t>
            </a:r>
            <a:r>
              <a:rPr sz="2000" spc="100" dirty="0">
                <a:latin typeface="Times New Roman"/>
                <a:cs typeface="Times New Roman"/>
              </a:rPr>
              <a:t> </a:t>
            </a:r>
            <a:r>
              <a:rPr sz="2000" dirty="0">
                <a:latin typeface="Times New Roman"/>
                <a:cs typeface="Times New Roman"/>
              </a:rPr>
              <a:t>be</a:t>
            </a:r>
            <a:r>
              <a:rPr sz="2000" spc="100" dirty="0">
                <a:latin typeface="Times New Roman"/>
                <a:cs typeface="Times New Roman"/>
              </a:rPr>
              <a:t> </a:t>
            </a:r>
            <a:r>
              <a:rPr sz="2000" dirty="0">
                <a:latin typeface="Times New Roman"/>
                <a:cs typeface="Times New Roman"/>
              </a:rPr>
              <a:t>thought</a:t>
            </a:r>
            <a:r>
              <a:rPr sz="2000" spc="85" dirty="0">
                <a:latin typeface="Times New Roman"/>
                <a:cs typeface="Times New Roman"/>
              </a:rPr>
              <a:t> </a:t>
            </a:r>
            <a:r>
              <a:rPr sz="2000" dirty="0">
                <a:latin typeface="Times New Roman"/>
                <a:cs typeface="Times New Roman"/>
              </a:rPr>
              <a:t>of</a:t>
            </a:r>
            <a:r>
              <a:rPr sz="2000" spc="100" dirty="0">
                <a:latin typeface="Times New Roman"/>
                <a:cs typeface="Times New Roman"/>
              </a:rPr>
              <a:t> </a:t>
            </a:r>
            <a:r>
              <a:rPr sz="2000" dirty="0">
                <a:latin typeface="Times New Roman"/>
                <a:cs typeface="Times New Roman"/>
              </a:rPr>
              <a:t>as</a:t>
            </a:r>
            <a:r>
              <a:rPr sz="2000" spc="95" dirty="0">
                <a:latin typeface="Times New Roman"/>
                <a:cs typeface="Times New Roman"/>
              </a:rPr>
              <a:t> </a:t>
            </a:r>
            <a:r>
              <a:rPr sz="2000" dirty="0">
                <a:latin typeface="Times New Roman"/>
                <a:cs typeface="Times New Roman"/>
              </a:rPr>
              <a:t>a</a:t>
            </a:r>
            <a:r>
              <a:rPr sz="2000" spc="95" dirty="0">
                <a:latin typeface="Times New Roman"/>
                <a:cs typeface="Times New Roman"/>
              </a:rPr>
              <a:t> </a:t>
            </a:r>
            <a:r>
              <a:rPr sz="2000" dirty="0">
                <a:latin typeface="Times New Roman"/>
                <a:cs typeface="Times New Roman"/>
              </a:rPr>
              <a:t>combination</a:t>
            </a:r>
            <a:r>
              <a:rPr sz="2000" spc="105" dirty="0">
                <a:latin typeface="Times New Roman"/>
                <a:cs typeface="Times New Roman"/>
              </a:rPr>
              <a:t> </a:t>
            </a:r>
            <a:r>
              <a:rPr sz="2000" dirty="0">
                <a:latin typeface="Times New Roman"/>
                <a:cs typeface="Times New Roman"/>
              </a:rPr>
              <a:t>of</a:t>
            </a:r>
            <a:r>
              <a:rPr sz="2000" spc="100" dirty="0">
                <a:latin typeface="Times New Roman"/>
                <a:cs typeface="Times New Roman"/>
              </a:rPr>
              <a:t> </a:t>
            </a:r>
            <a:r>
              <a:rPr sz="2000" dirty="0">
                <a:latin typeface="Times New Roman"/>
                <a:cs typeface="Times New Roman"/>
              </a:rPr>
              <a:t>a</a:t>
            </a:r>
            <a:r>
              <a:rPr sz="2000" spc="105" dirty="0">
                <a:latin typeface="Times New Roman"/>
                <a:cs typeface="Times New Roman"/>
              </a:rPr>
              <a:t> </a:t>
            </a:r>
            <a:r>
              <a:rPr sz="2000" spc="-10" dirty="0">
                <a:latin typeface="Times New Roman"/>
                <a:cs typeface="Times New Roman"/>
              </a:rPr>
              <a:t>stack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a </a:t>
            </a:r>
            <a:r>
              <a:rPr sz="2000" spc="-10" dirty="0">
                <a:latin typeface="Times New Roman"/>
                <a:cs typeface="Times New Roman"/>
              </a:rPr>
              <a:t>queue.</a:t>
            </a:r>
            <a:endParaRPr sz="2000" dirty="0">
              <a:latin typeface="Times New Roman"/>
              <a:cs typeface="Times New Roman"/>
            </a:endParaRPr>
          </a:p>
          <a:p>
            <a:pPr marL="351790" marR="5080" indent="-339090" algn="just">
              <a:lnSpc>
                <a:spcPct val="100000"/>
              </a:lnSpc>
              <a:buFont typeface="Arial MT"/>
              <a:buChar char="•"/>
              <a:tabLst>
                <a:tab pos="355600" algn="l"/>
              </a:tabLst>
            </a:pPr>
            <a:r>
              <a:rPr sz="2000" dirty="0">
                <a:latin typeface="Times New Roman"/>
                <a:cs typeface="Times New Roman"/>
              </a:rPr>
              <a:t>A</a:t>
            </a:r>
            <a:r>
              <a:rPr sz="2000" spc="-40" dirty="0">
                <a:latin typeface="Times New Roman"/>
                <a:cs typeface="Times New Roman"/>
              </a:rPr>
              <a:t> </a:t>
            </a:r>
            <a:r>
              <a:rPr sz="2000" dirty="0">
                <a:latin typeface="Times New Roman"/>
                <a:cs typeface="Times New Roman"/>
              </a:rPr>
              <a:t>stack,</a:t>
            </a:r>
            <a:r>
              <a:rPr sz="2000" spc="55" dirty="0">
                <a:latin typeface="Times New Roman"/>
                <a:cs typeface="Times New Roman"/>
              </a:rPr>
              <a:t> </a:t>
            </a:r>
            <a:r>
              <a:rPr sz="2000" dirty="0">
                <a:latin typeface="Times New Roman"/>
                <a:cs typeface="Times New Roman"/>
              </a:rPr>
              <a:t>works</a:t>
            </a:r>
            <a:r>
              <a:rPr sz="2000" spc="50" dirty="0">
                <a:latin typeface="Times New Roman"/>
                <a:cs typeface="Times New Roman"/>
              </a:rPr>
              <a:t> </a:t>
            </a:r>
            <a:r>
              <a:rPr sz="2000" dirty="0">
                <a:latin typeface="Times New Roman"/>
                <a:cs typeface="Times New Roman"/>
              </a:rPr>
              <a:t>on</a:t>
            </a:r>
            <a:r>
              <a:rPr sz="2000" spc="70" dirty="0">
                <a:latin typeface="Times New Roman"/>
                <a:cs typeface="Times New Roman"/>
              </a:rPr>
              <a:t> </a:t>
            </a:r>
            <a:r>
              <a:rPr sz="2000" dirty="0">
                <a:latin typeface="Times New Roman"/>
                <a:cs typeface="Times New Roman"/>
              </a:rPr>
              <a:t>a</a:t>
            </a:r>
            <a:r>
              <a:rPr sz="2000" spc="45" dirty="0">
                <a:latin typeface="Times New Roman"/>
                <a:cs typeface="Times New Roman"/>
              </a:rPr>
              <a:t> </a:t>
            </a:r>
            <a:r>
              <a:rPr sz="2000" spc="-10" dirty="0">
                <a:latin typeface="Times New Roman"/>
                <a:cs typeface="Times New Roman"/>
              </a:rPr>
              <a:t>last-</a:t>
            </a:r>
            <a:r>
              <a:rPr sz="2000" spc="-20" dirty="0">
                <a:latin typeface="Times New Roman"/>
                <a:cs typeface="Times New Roman"/>
              </a:rPr>
              <a:t>in-</a:t>
            </a:r>
            <a:r>
              <a:rPr sz="2000" spc="-10" dirty="0">
                <a:latin typeface="Times New Roman"/>
                <a:cs typeface="Times New Roman"/>
              </a:rPr>
              <a:t>first-</a:t>
            </a:r>
            <a:r>
              <a:rPr sz="2000" dirty="0">
                <a:latin typeface="Times New Roman"/>
                <a:cs typeface="Times New Roman"/>
              </a:rPr>
              <a:t>out</a:t>
            </a:r>
            <a:r>
              <a:rPr sz="2000" spc="50" dirty="0">
                <a:latin typeface="Times New Roman"/>
                <a:cs typeface="Times New Roman"/>
              </a:rPr>
              <a:t> </a:t>
            </a:r>
            <a:r>
              <a:rPr sz="2000" dirty="0">
                <a:latin typeface="Times New Roman"/>
                <a:cs typeface="Times New Roman"/>
              </a:rPr>
              <a:t>principle.</a:t>
            </a:r>
            <a:r>
              <a:rPr sz="2000" spc="65" dirty="0">
                <a:latin typeface="Times New Roman"/>
                <a:cs typeface="Times New Roman"/>
              </a:rPr>
              <a:t> </a:t>
            </a:r>
            <a:r>
              <a:rPr sz="2000" dirty="0">
                <a:latin typeface="Times New Roman"/>
                <a:cs typeface="Times New Roman"/>
              </a:rPr>
              <a:t>Both</a:t>
            </a:r>
            <a:r>
              <a:rPr sz="2000" spc="65" dirty="0">
                <a:latin typeface="Times New Roman"/>
                <a:cs typeface="Times New Roman"/>
              </a:rPr>
              <a:t> </a:t>
            </a:r>
            <a:r>
              <a:rPr sz="2000" dirty="0">
                <a:latin typeface="Times New Roman"/>
                <a:cs typeface="Times New Roman"/>
              </a:rPr>
              <a:t>input</a:t>
            </a:r>
            <a:r>
              <a:rPr sz="2000" spc="55" dirty="0">
                <a:latin typeface="Times New Roman"/>
                <a:cs typeface="Times New Roman"/>
              </a:rPr>
              <a:t> </a:t>
            </a:r>
            <a:r>
              <a:rPr sz="2000" dirty="0">
                <a:latin typeface="Times New Roman"/>
                <a:cs typeface="Times New Roman"/>
              </a:rPr>
              <a:t>and</a:t>
            </a:r>
            <a:r>
              <a:rPr sz="2000" spc="60" dirty="0">
                <a:latin typeface="Times New Roman"/>
                <a:cs typeface="Times New Roman"/>
              </a:rPr>
              <a:t> </a:t>
            </a:r>
            <a:r>
              <a:rPr sz="2000" dirty="0">
                <a:latin typeface="Times New Roman"/>
                <a:cs typeface="Times New Roman"/>
              </a:rPr>
              <a:t>output</a:t>
            </a:r>
            <a:r>
              <a:rPr sz="2000" spc="45" dirty="0">
                <a:latin typeface="Times New Roman"/>
                <a:cs typeface="Times New Roman"/>
              </a:rPr>
              <a:t> </a:t>
            </a:r>
            <a:r>
              <a:rPr sz="2000" dirty="0">
                <a:latin typeface="Times New Roman"/>
                <a:cs typeface="Times New Roman"/>
              </a:rPr>
              <a:t>take</a:t>
            </a:r>
            <a:r>
              <a:rPr sz="2000" spc="55" dirty="0">
                <a:latin typeface="Times New Roman"/>
                <a:cs typeface="Times New Roman"/>
              </a:rPr>
              <a:t> </a:t>
            </a:r>
            <a:r>
              <a:rPr sz="2000" dirty="0">
                <a:latin typeface="Times New Roman"/>
                <a:cs typeface="Times New Roman"/>
              </a:rPr>
              <a:t>place</a:t>
            </a:r>
            <a:r>
              <a:rPr sz="2000" spc="60" dirty="0">
                <a:latin typeface="Times New Roman"/>
                <a:cs typeface="Times New Roman"/>
              </a:rPr>
              <a:t> </a:t>
            </a:r>
            <a:r>
              <a:rPr sz="2000" dirty="0">
                <a:latin typeface="Times New Roman"/>
                <a:cs typeface="Times New Roman"/>
              </a:rPr>
              <a:t>on</a:t>
            </a:r>
            <a:r>
              <a:rPr sz="2000" spc="55" dirty="0">
                <a:latin typeface="Times New Roman"/>
                <a:cs typeface="Times New Roman"/>
              </a:rPr>
              <a:t> </a:t>
            </a:r>
            <a:r>
              <a:rPr sz="2000" dirty="0">
                <a:latin typeface="Times New Roman"/>
                <a:cs typeface="Times New Roman"/>
              </a:rPr>
              <a:t>the</a:t>
            </a:r>
            <a:r>
              <a:rPr sz="2000" spc="45" dirty="0">
                <a:latin typeface="Times New Roman"/>
                <a:cs typeface="Times New Roman"/>
              </a:rPr>
              <a:t> </a:t>
            </a:r>
            <a:r>
              <a:rPr sz="2000" dirty="0">
                <a:latin typeface="Times New Roman"/>
                <a:cs typeface="Times New Roman"/>
              </a:rPr>
              <a:t>top</a:t>
            </a:r>
            <a:r>
              <a:rPr sz="2000" spc="55" dirty="0">
                <a:latin typeface="Times New Roman"/>
                <a:cs typeface="Times New Roman"/>
              </a:rPr>
              <a:t> </a:t>
            </a:r>
            <a:r>
              <a:rPr sz="2000" dirty="0">
                <a:latin typeface="Times New Roman"/>
                <a:cs typeface="Times New Roman"/>
              </a:rPr>
              <a:t>of</a:t>
            </a:r>
            <a:r>
              <a:rPr sz="2000" spc="65" dirty="0">
                <a:latin typeface="Times New Roman"/>
                <a:cs typeface="Times New Roman"/>
              </a:rPr>
              <a:t> </a:t>
            </a:r>
            <a:r>
              <a:rPr sz="2000" spc="-25" dirty="0">
                <a:latin typeface="Times New Roman"/>
                <a:cs typeface="Times New Roman"/>
              </a:rPr>
              <a:t>the 	</a:t>
            </a:r>
            <a:r>
              <a:rPr sz="2000" dirty="0">
                <a:latin typeface="Times New Roman"/>
                <a:cs typeface="Times New Roman"/>
              </a:rPr>
              <a:t>stack.</a:t>
            </a:r>
            <a:r>
              <a:rPr sz="2000" spc="105" dirty="0">
                <a:latin typeface="Times New Roman"/>
                <a:cs typeface="Times New Roman"/>
              </a:rPr>
              <a:t> </a:t>
            </a:r>
            <a:r>
              <a:rPr sz="2000" dirty="0">
                <a:latin typeface="Times New Roman"/>
                <a:cs typeface="Times New Roman"/>
              </a:rPr>
              <a:t>A queue,</a:t>
            </a:r>
            <a:r>
              <a:rPr sz="2000" spc="125" dirty="0">
                <a:latin typeface="Times New Roman"/>
                <a:cs typeface="Times New Roman"/>
              </a:rPr>
              <a:t> </a:t>
            </a:r>
            <a:r>
              <a:rPr sz="2000" dirty="0">
                <a:latin typeface="Times New Roman"/>
                <a:cs typeface="Times New Roman"/>
              </a:rPr>
              <a:t>on</a:t>
            </a:r>
            <a:r>
              <a:rPr sz="2000" spc="110" dirty="0">
                <a:latin typeface="Times New Roman"/>
                <a:cs typeface="Times New Roman"/>
              </a:rPr>
              <a:t> </a:t>
            </a:r>
            <a:r>
              <a:rPr sz="2000" dirty="0">
                <a:latin typeface="Times New Roman"/>
                <a:cs typeface="Times New Roman"/>
              </a:rPr>
              <a:t>the</a:t>
            </a:r>
            <a:r>
              <a:rPr sz="2000" spc="90" dirty="0">
                <a:latin typeface="Times New Roman"/>
                <a:cs typeface="Times New Roman"/>
              </a:rPr>
              <a:t> </a:t>
            </a:r>
            <a:r>
              <a:rPr sz="2000" dirty="0">
                <a:latin typeface="Times New Roman"/>
                <a:cs typeface="Times New Roman"/>
              </a:rPr>
              <a:t>other</a:t>
            </a:r>
            <a:r>
              <a:rPr sz="2000" spc="100" dirty="0">
                <a:latin typeface="Times New Roman"/>
                <a:cs typeface="Times New Roman"/>
              </a:rPr>
              <a:t> </a:t>
            </a:r>
            <a:r>
              <a:rPr sz="2000" dirty="0">
                <a:latin typeface="Times New Roman"/>
                <a:cs typeface="Times New Roman"/>
              </a:rPr>
              <a:t>hand,</a:t>
            </a:r>
            <a:r>
              <a:rPr sz="2000" spc="100" dirty="0">
                <a:latin typeface="Times New Roman"/>
                <a:cs typeface="Times New Roman"/>
              </a:rPr>
              <a:t> </a:t>
            </a:r>
            <a:r>
              <a:rPr sz="2000" dirty="0">
                <a:latin typeface="Times New Roman"/>
                <a:cs typeface="Times New Roman"/>
              </a:rPr>
              <a:t>uses</a:t>
            </a:r>
            <a:r>
              <a:rPr sz="2000" spc="105" dirty="0">
                <a:latin typeface="Times New Roman"/>
                <a:cs typeface="Times New Roman"/>
              </a:rPr>
              <a:t> </a:t>
            </a:r>
            <a:r>
              <a:rPr sz="2000" dirty="0">
                <a:latin typeface="Times New Roman"/>
                <a:cs typeface="Times New Roman"/>
              </a:rPr>
              <a:t>a</a:t>
            </a:r>
            <a:r>
              <a:rPr sz="2000" spc="105" dirty="0">
                <a:latin typeface="Times New Roman"/>
                <a:cs typeface="Times New Roman"/>
              </a:rPr>
              <a:t> </a:t>
            </a:r>
            <a:r>
              <a:rPr sz="2000" spc="-10" dirty="0">
                <a:latin typeface="Times New Roman"/>
                <a:cs typeface="Times New Roman"/>
              </a:rPr>
              <a:t>first-</a:t>
            </a:r>
            <a:r>
              <a:rPr sz="2000" spc="-20" dirty="0">
                <a:latin typeface="Times New Roman"/>
                <a:cs typeface="Times New Roman"/>
              </a:rPr>
              <a:t>in-</a:t>
            </a:r>
            <a:r>
              <a:rPr sz="2000" spc="-10" dirty="0">
                <a:latin typeface="Times New Roman"/>
                <a:cs typeface="Times New Roman"/>
              </a:rPr>
              <a:t>first-</a:t>
            </a:r>
            <a:r>
              <a:rPr sz="2000" dirty="0">
                <a:latin typeface="Times New Roman"/>
                <a:cs typeface="Times New Roman"/>
              </a:rPr>
              <a:t>out</a:t>
            </a:r>
            <a:r>
              <a:rPr sz="2000" spc="90" dirty="0">
                <a:latin typeface="Times New Roman"/>
                <a:cs typeface="Times New Roman"/>
              </a:rPr>
              <a:t> </a:t>
            </a:r>
            <a:r>
              <a:rPr sz="2000" dirty="0">
                <a:latin typeface="Times New Roman"/>
                <a:cs typeface="Times New Roman"/>
              </a:rPr>
              <a:t>arrangement:</a:t>
            </a:r>
            <a:r>
              <a:rPr sz="2000" spc="95" dirty="0">
                <a:latin typeface="Times New Roman"/>
                <a:cs typeface="Times New Roman"/>
              </a:rPr>
              <a:t> </a:t>
            </a:r>
            <a:r>
              <a:rPr sz="2000" dirty="0">
                <a:latin typeface="Times New Roman"/>
                <a:cs typeface="Times New Roman"/>
              </a:rPr>
              <a:t>data</a:t>
            </a:r>
            <a:r>
              <a:rPr sz="2000" spc="110" dirty="0">
                <a:latin typeface="Times New Roman"/>
                <a:cs typeface="Times New Roman"/>
              </a:rPr>
              <a:t> </a:t>
            </a:r>
            <a:r>
              <a:rPr sz="2000" dirty="0">
                <a:latin typeface="Times New Roman"/>
                <a:cs typeface="Times New Roman"/>
              </a:rPr>
              <a:t>goes</a:t>
            </a:r>
            <a:r>
              <a:rPr sz="2000" spc="114" dirty="0">
                <a:latin typeface="Times New Roman"/>
                <a:cs typeface="Times New Roman"/>
              </a:rPr>
              <a:t> </a:t>
            </a:r>
            <a:r>
              <a:rPr sz="2000" dirty="0">
                <a:latin typeface="Times New Roman"/>
                <a:cs typeface="Times New Roman"/>
              </a:rPr>
              <a:t>in</a:t>
            </a:r>
            <a:r>
              <a:rPr sz="2000" spc="125" dirty="0">
                <a:latin typeface="Times New Roman"/>
                <a:cs typeface="Times New Roman"/>
              </a:rPr>
              <a:t> </a:t>
            </a:r>
            <a:r>
              <a:rPr sz="2000" dirty="0">
                <a:latin typeface="Times New Roman"/>
                <a:cs typeface="Times New Roman"/>
              </a:rPr>
              <a:t>at</a:t>
            </a:r>
            <a:r>
              <a:rPr sz="2000" spc="105" dirty="0">
                <a:latin typeface="Times New Roman"/>
                <a:cs typeface="Times New Roman"/>
              </a:rPr>
              <a:t> </a:t>
            </a:r>
            <a:r>
              <a:rPr sz="2000" dirty="0">
                <a:latin typeface="Times New Roman"/>
                <a:cs typeface="Times New Roman"/>
              </a:rPr>
              <a:t>the</a:t>
            </a:r>
            <a:r>
              <a:rPr sz="2000" spc="110" dirty="0">
                <a:latin typeface="Times New Roman"/>
                <a:cs typeface="Times New Roman"/>
              </a:rPr>
              <a:t> </a:t>
            </a:r>
            <a:r>
              <a:rPr sz="2000" spc="-10" dirty="0">
                <a:latin typeface="Times New Roman"/>
                <a:cs typeface="Times New Roman"/>
              </a:rPr>
              <a:t>front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comes</a:t>
            </a:r>
            <a:r>
              <a:rPr sz="2000" spc="-5" dirty="0">
                <a:latin typeface="Times New Roman"/>
                <a:cs typeface="Times New Roman"/>
              </a:rPr>
              <a:t> </a:t>
            </a:r>
            <a:r>
              <a:rPr sz="2000" dirty="0">
                <a:latin typeface="Times New Roman"/>
                <a:cs typeface="Times New Roman"/>
              </a:rPr>
              <a:t>out</a:t>
            </a:r>
            <a:r>
              <a:rPr sz="2000" spc="-25" dirty="0">
                <a:latin typeface="Times New Roman"/>
                <a:cs typeface="Times New Roman"/>
              </a:rPr>
              <a:t> </a:t>
            </a:r>
            <a:r>
              <a:rPr sz="2000" dirty="0">
                <a:latin typeface="Times New Roman"/>
                <a:cs typeface="Times New Roman"/>
              </a:rPr>
              <a:t>at</a:t>
            </a:r>
            <a:r>
              <a:rPr sz="2000" spc="-10"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back,</a:t>
            </a:r>
            <a:r>
              <a:rPr sz="2000" spc="-20" dirty="0">
                <a:latin typeface="Times New Roman"/>
                <a:cs typeface="Times New Roman"/>
              </a:rPr>
              <a:t> </a:t>
            </a:r>
            <a:r>
              <a:rPr sz="2000" dirty="0">
                <a:latin typeface="Times New Roman"/>
                <a:cs typeface="Times New Roman"/>
              </a:rPr>
              <a:t>like</a:t>
            </a:r>
            <a:r>
              <a:rPr sz="2000" spc="-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line</a:t>
            </a:r>
            <a:r>
              <a:rPr sz="2000" spc="-15"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customers</a:t>
            </a:r>
            <a:r>
              <a:rPr sz="2000" spc="-20"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a</a:t>
            </a:r>
            <a:r>
              <a:rPr sz="2000" spc="-10" dirty="0">
                <a:latin typeface="Times New Roman"/>
                <a:cs typeface="Times New Roman"/>
              </a:rPr>
              <a:t> bank.</a:t>
            </a:r>
            <a:endParaRPr sz="2000" dirty="0">
              <a:latin typeface="Times New Roman"/>
              <a:cs typeface="Times New Roman"/>
            </a:endParaRPr>
          </a:p>
          <a:p>
            <a:pPr marL="352425" indent="-339725" algn="just">
              <a:lnSpc>
                <a:spcPct val="100000"/>
              </a:lnSpc>
              <a:buFont typeface="Arial MT"/>
              <a:buChar char="•"/>
              <a:tabLst>
                <a:tab pos="352425" algn="l"/>
              </a:tabLst>
            </a:pPr>
            <a:r>
              <a:rPr sz="2000" spc="-20" dirty="0">
                <a:latin typeface="Times New Roman"/>
                <a:cs typeface="Times New Roman"/>
              </a:rPr>
              <a:t>A</a:t>
            </a:r>
            <a:r>
              <a:rPr sz="2000" spc="-114" dirty="0">
                <a:latin typeface="Times New Roman"/>
                <a:cs typeface="Times New Roman"/>
              </a:rPr>
              <a:t> </a:t>
            </a:r>
            <a:r>
              <a:rPr sz="2000" dirty="0">
                <a:latin typeface="Times New Roman"/>
                <a:cs typeface="Times New Roman"/>
              </a:rPr>
              <a:t>deque</a:t>
            </a:r>
            <a:r>
              <a:rPr sz="2000" spc="-20" dirty="0">
                <a:latin typeface="Times New Roman"/>
                <a:cs typeface="Times New Roman"/>
              </a:rPr>
              <a:t> </a:t>
            </a:r>
            <a:r>
              <a:rPr sz="2000" dirty="0">
                <a:latin typeface="Times New Roman"/>
                <a:cs typeface="Times New Roman"/>
              </a:rPr>
              <a:t>combines</a:t>
            </a:r>
            <a:r>
              <a:rPr sz="2000" spc="-20" dirty="0">
                <a:latin typeface="Times New Roman"/>
                <a:cs typeface="Times New Roman"/>
              </a:rPr>
              <a:t> </a:t>
            </a:r>
            <a:r>
              <a:rPr sz="2000" dirty="0">
                <a:latin typeface="Times New Roman"/>
                <a:cs typeface="Times New Roman"/>
              </a:rPr>
              <a:t>these</a:t>
            </a:r>
            <a:r>
              <a:rPr sz="2000" spc="-30" dirty="0">
                <a:latin typeface="Times New Roman"/>
                <a:cs typeface="Times New Roman"/>
              </a:rPr>
              <a:t> </a:t>
            </a:r>
            <a:r>
              <a:rPr sz="2000" dirty="0">
                <a:latin typeface="Times New Roman"/>
                <a:cs typeface="Times New Roman"/>
              </a:rPr>
              <a:t>approaches</a:t>
            </a:r>
            <a:r>
              <a:rPr sz="2000" spc="-40" dirty="0">
                <a:latin typeface="Times New Roman"/>
                <a:cs typeface="Times New Roman"/>
              </a:rPr>
              <a:t> </a:t>
            </a:r>
            <a:r>
              <a:rPr sz="2000" dirty="0">
                <a:latin typeface="Times New Roman"/>
                <a:cs typeface="Times New Roman"/>
              </a:rPr>
              <a:t>so</a:t>
            </a:r>
            <a:r>
              <a:rPr sz="2000" spc="-5" dirty="0">
                <a:latin typeface="Times New Roman"/>
                <a:cs typeface="Times New Roman"/>
              </a:rPr>
              <a:t> </a:t>
            </a:r>
            <a:r>
              <a:rPr sz="2000" dirty="0">
                <a:latin typeface="Times New Roman"/>
                <a:cs typeface="Times New Roman"/>
              </a:rPr>
              <a:t>you</a:t>
            </a:r>
            <a:r>
              <a:rPr sz="2000" spc="-15" dirty="0">
                <a:latin typeface="Times New Roman"/>
                <a:cs typeface="Times New Roman"/>
              </a:rPr>
              <a:t> </a:t>
            </a:r>
            <a:r>
              <a:rPr sz="2000" dirty="0">
                <a:latin typeface="Times New Roman"/>
                <a:cs typeface="Times New Roman"/>
              </a:rPr>
              <a:t>can</a:t>
            </a:r>
            <a:r>
              <a:rPr sz="2000" spc="-10" dirty="0">
                <a:latin typeface="Times New Roman"/>
                <a:cs typeface="Times New Roman"/>
              </a:rPr>
              <a:t> </a:t>
            </a:r>
            <a:r>
              <a:rPr sz="2000" dirty="0">
                <a:latin typeface="Times New Roman"/>
                <a:cs typeface="Times New Roman"/>
              </a:rPr>
              <a:t>insert</a:t>
            </a:r>
            <a:r>
              <a:rPr sz="2000" spc="-25"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dirty="0">
                <a:latin typeface="Times New Roman"/>
                <a:cs typeface="Times New Roman"/>
              </a:rPr>
              <a:t>delete</a:t>
            </a:r>
            <a:r>
              <a:rPr sz="2000" spc="-25" dirty="0">
                <a:latin typeface="Times New Roman"/>
                <a:cs typeface="Times New Roman"/>
              </a:rPr>
              <a:t> </a:t>
            </a:r>
            <a:r>
              <a:rPr sz="2000" dirty="0">
                <a:latin typeface="Times New Roman"/>
                <a:cs typeface="Times New Roman"/>
              </a:rPr>
              <a:t>data</a:t>
            </a:r>
            <a:r>
              <a:rPr sz="2000" spc="-10" dirty="0">
                <a:latin typeface="Times New Roman"/>
                <a:cs typeface="Times New Roman"/>
              </a:rPr>
              <a:t> </a:t>
            </a:r>
            <a:r>
              <a:rPr sz="2000" dirty="0">
                <a:latin typeface="Times New Roman"/>
                <a:cs typeface="Times New Roman"/>
              </a:rPr>
              <a:t>from</a:t>
            </a:r>
            <a:r>
              <a:rPr sz="2000" spc="-25" dirty="0">
                <a:latin typeface="Times New Roman"/>
                <a:cs typeface="Times New Roman"/>
              </a:rPr>
              <a:t> </a:t>
            </a:r>
            <a:r>
              <a:rPr sz="2000" dirty="0">
                <a:latin typeface="Times New Roman"/>
                <a:cs typeface="Times New Roman"/>
              </a:rPr>
              <a:t>either</a:t>
            </a:r>
            <a:r>
              <a:rPr sz="2000" spc="-30" dirty="0">
                <a:latin typeface="Times New Roman"/>
                <a:cs typeface="Times New Roman"/>
              </a:rPr>
              <a:t> </a:t>
            </a:r>
            <a:r>
              <a:rPr sz="2000" spc="-20" dirty="0">
                <a:latin typeface="Times New Roman"/>
                <a:cs typeface="Times New Roman"/>
              </a:rPr>
              <a:t>end.</a:t>
            </a:r>
            <a:endParaRPr sz="2000" dirty="0">
              <a:latin typeface="Times New Roman"/>
              <a:cs typeface="Times New Roman"/>
            </a:endParaRPr>
          </a:p>
          <a:p>
            <a:pPr marL="352425" indent="-339725" algn="just">
              <a:lnSpc>
                <a:spcPct val="100000"/>
              </a:lnSpc>
              <a:buFont typeface="Arial MT"/>
              <a:buChar char="•"/>
              <a:tabLst>
                <a:tab pos="352425" algn="l"/>
              </a:tabLst>
            </a:pP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word</a:t>
            </a:r>
            <a:r>
              <a:rPr sz="2000" spc="-20" dirty="0">
                <a:latin typeface="Times New Roman"/>
                <a:cs typeface="Times New Roman"/>
              </a:rPr>
              <a:t> </a:t>
            </a:r>
            <a:r>
              <a:rPr sz="2000" dirty="0">
                <a:latin typeface="Times New Roman"/>
                <a:cs typeface="Times New Roman"/>
              </a:rPr>
              <a:t>deque</a:t>
            </a:r>
            <a:r>
              <a:rPr sz="2000" spc="5" dirty="0">
                <a:latin typeface="Times New Roman"/>
                <a:cs typeface="Times New Roman"/>
              </a:rPr>
              <a:t> </a:t>
            </a:r>
            <a:r>
              <a:rPr sz="2000" dirty="0">
                <a:latin typeface="Times New Roman"/>
                <a:cs typeface="Times New Roman"/>
              </a:rPr>
              <a:t>is derived</a:t>
            </a:r>
            <a:r>
              <a:rPr sz="2000" spc="-15" dirty="0">
                <a:latin typeface="Times New Roman"/>
                <a:cs typeface="Times New Roman"/>
              </a:rPr>
              <a:t> </a:t>
            </a:r>
            <a:r>
              <a:rPr sz="2000" dirty="0">
                <a:latin typeface="Times New Roman"/>
                <a:cs typeface="Times New Roman"/>
              </a:rPr>
              <a:t>from</a:t>
            </a:r>
            <a:r>
              <a:rPr sz="2000" spc="-30" dirty="0">
                <a:latin typeface="Times New Roman"/>
                <a:cs typeface="Times New Roman"/>
              </a:rPr>
              <a:t> </a:t>
            </a:r>
            <a:r>
              <a:rPr sz="2000" spc="-10" dirty="0">
                <a:latin typeface="Times New Roman"/>
                <a:cs typeface="Times New Roman"/>
              </a:rPr>
              <a:t>Double-</a:t>
            </a:r>
            <a:r>
              <a:rPr sz="2000" dirty="0">
                <a:latin typeface="Times New Roman"/>
                <a:cs typeface="Times New Roman"/>
              </a:rPr>
              <a:t>Ended</a:t>
            </a:r>
            <a:r>
              <a:rPr sz="2000" spc="-25" dirty="0">
                <a:latin typeface="Times New Roman"/>
                <a:cs typeface="Times New Roman"/>
              </a:rPr>
              <a:t> </a:t>
            </a:r>
            <a:r>
              <a:rPr sz="2000" spc="-10" dirty="0">
                <a:latin typeface="Times New Roman"/>
                <a:cs typeface="Times New Roman"/>
              </a:rPr>
              <a:t>QUEue.</a:t>
            </a:r>
            <a:endParaRPr sz="2000" dirty="0">
              <a:latin typeface="Times New Roman"/>
              <a:cs typeface="Times New Roman"/>
            </a:endParaRPr>
          </a:p>
          <a:p>
            <a:pPr marL="352425" marR="5080" indent="-339725" algn="just">
              <a:lnSpc>
                <a:spcPct val="100000"/>
              </a:lnSpc>
              <a:buFont typeface="Arial MT"/>
              <a:buChar char="•"/>
              <a:tabLst>
                <a:tab pos="355600" algn="l"/>
              </a:tabLst>
            </a:pPr>
            <a:r>
              <a:rPr sz="2000" dirty="0">
                <a:latin typeface="Times New Roman"/>
                <a:cs typeface="Times New Roman"/>
              </a:rPr>
              <a:t>It’s</a:t>
            </a:r>
            <a:r>
              <a:rPr sz="2000" spc="25" dirty="0">
                <a:latin typeface="Times New Roman"/>
                <a:cs typeface="Times New Roman"/>
              </a:rPr>
              <a:t> </a:t>
            </a:r>
            <a:r>
              <a:rPr sz="2000" dirty="0">
                <a:latin typeface="Times New Roman"/>
                <a:cs typeface="Times New Roman"/>
              </a:rPr>
              <a:t>a</a:t>
            </a:r>
            <a:r>
              <a:rPr sz="2000" spc="35" dirty="0">
                <a:latin typeface="Times New Roman"/>
                <a:cs typeface="Times New Roman"/>
              </a:rPr>
              <a:t> </a:t>
            </a:r>
            <a:r>
              <a:rPr sz="2000" dirty="0">
                <a:latin typeface="Times New Roman"/>
                <a:cs typeface="Times New Roman"/>
              </a:rPr>
              <a:t>versatile</a:t>
            </a:r>
            <a:r>
              <a:rPr sz="2000" spc="30" dirty="0">
                <a:latin typeface="Times New Roman"/>
                <a:cs typeface="Times New Roman"/>
              </a:rPr>
              <a:t> </a:t>
            </a:r>
            <a:r>
              <a:rPr sz="2000" dirty="0">
                <a:latin typeface="Times New Roman"/>
                <a:cs typeface="Times New Roman"/>
              </a:rPr>
              <a:t>mechanism</a:t>
            </a:r>
            <a:r>
              <a:rPr sz="2000" spc="15" dirty="0">
                <a:latin typeface="Times New Roman"/>
                <a:cs typeface="Times New Roman"/>
              </a:rPr>
              <a:t> </a:t>
            </a:r>
            <a:r>
              <a:rPr sz="2000" dirty="0">
                <a:latin typeface="Times New Roman"/>
                <a:cs typeface="Times New Roman"/>
              </a:rPr>
              <a:t>that’s</a:t>
            </a:r>
            <a:r>
              <a:rPr sz="2000" spc="40" dirty="0">
                <a:latin typeface="Times New Roman"/>
                <a:cs typeface="Times New Roman"/>
              </a:rPr>
              <a:t> </a:t>
            </a:r>
            <a:r>
              <a:rPr sz="2000" dirty="0">
                <a:latin typeface="Times New Roman"/>
                <a:cs typeface="Times New Roman"/>
              </a:rPr>
              <a:t>not</a:t>
            </a:r>
            <a:r>
              <a:rPr sz="2000" spc="20" dirty="0">
                <a:latin typeface="Times New Roman"/>
                <a:cs typeface="Times New Roman"/>
              </a:rPr>
              <a:t> </a:t>
            </a:r>
            <a:r>
              <a:rPr sz="2000" dirty="0">
                <a:latin typeface="Times New Roman"/>
                <a:cs typeface="Times New Roman"/>
              </a:rPr>
              <a:t>only</a:t>
            </a:r>
            <a:r>
              <a:rPr sz="2000" spc="30" dirty="0">
                <a:latin typeface="Times New Roman"/>
                <a:cs typeface="Times New Roman"/>
              </a:rPr>
              <a:t> </a:t>
            </a:r>
            <a:r>
              <a:rPr sz="2000" dirty="0">
                <a:latin typeface="Times New Roman"/>
                <a:cs typeface="Times New Roman"/>
              </a:rPr>
              <a:t>useful</a:t>
            </a:r>
            <a:r>
              <a:rPr sz="2000" spc="40" dirty="0">
                <a:latin typeface="Times New Roman"/>
                <a:cs typeface="Times New Roman"/>
              </a:rPr>
              <a:t> </a:t>
            </a:r>
            <a:r>
              <a:rPr sz="2000" dirty="0">
                <a:latin typeface="Times New Roman"/>
                <a:cs typeface="Times New Roman"/>
              </a:rPr>
              <a:t>in</a:t>
            </a:r>
            <a:r>
              <a:rPr sz="2000" spc="45" dirty="0">
                <a:latin typeface="Times New Roman"/>
                <a:cs typeface="Times New Roman"/>
              </a:rPr>
              <a:t> </a:t>
            </a:r>
            <a:r>
              <a:rPr sz="2000" dirty="0">
                <a:latin typeface="Times New Roman"/>
                <a:cs typeface="Times New Roman"/>
              </a:rPr>
              <a:t>its</a:t>
            </a:r>
            <a:r>
              <a:rPr sz="2000" spc="40" dirty="0">
                <a:latin typeface="Times New Roman"/>
                <a:cs typeface="Times New Roman"/>
              </a:rPr>
              <a:t> </a:t>
            </a:r>
            <a:r>
              <a:rPr sz="2000" dirty="0">
                <a:latin typeface="Times New Roman"/>
                <a:cs typeface="Times New Roman"/>
              </a:rPr>
              <a:t>own</a:t>
            </a:r>
            <a:r>
              <a:rPr sz="2000" spc="30" dirty="0">
                <a:latin typeface="Times New Roman"/>
                <a:cs typeface="Times New Roman"/>
              </a:rPr>
              <a:t> </a:t>
            </a:r>
            <a:r>
              <a:rPr sz="2000" dirty="0">
                <a:latin typeface="Times New Roman"/>
                <a:cs typeface="Times New Roman"/>
              </a:rPr>
              <a:t>right,</a:t>
            </a:r>
            <a:r>
              <a:rPr sz="2000" spc="35" dirty="0">
                <a:latin typeface="Times New Roman"/>
                <a:cs typeface="Times New Roman"/>
              </a:rPr>
              <a:t> </a:t>
            </a:r>
            <a:r>
              <a:rPr sz="2000" dirty="0">
                <a:latin typeface="Times New Roman"/>
                <a:cs typeface="Times New Roman"/>
              </a:rPr>
              <a:t>but</a:t>
            </a:r>
            <a:r>
              <a:rPr sz="2000" spc="20" dirty="0">
                <a:latin typeface="Times New Roman"/>
                <a:cs typeface="Times New Roman"/>
              </a:rPr>
              <a:t> </a:t>
            </a:r>
            <a:r>
              <a:rPr sz="2000" dirty="0">
                <a:latin typeface="Times New Roman"/>
                <a:cs typeface="Times New Roman"/>
              </a:rPr>
              <a:t>can</a:t>
            </a:r>
            <a:r>
              <a:rPr sz="2000" spc="30" dirty="0">
                <a:latin typeface="Times New Roman"/>
                <a:cs typeface="Times New Roman"/>
              </a:rPr>
              <a:t> </a:t>
            </a:r>
            <a:r>
              <a:rPr sz="2000" dirty="0">
                <a:latin typeface="Times New Roman"/>
                <a:cs typeface="Times New Roman"/>
              </a:rPr>
              <a:t>be</a:t>
            </a:r>
            <a:r>
              <a:rPr sz="2000" spc="40" dirty="0">
                <a:latin typeface="Times New Roman"/>
                <a:cs typeface="Times New Roman"/>
              </a:rPr>
              <a:t> </a:t>
            </a:r>
            <a:r>
              <a:rPr sz="2000" dirty="0">
                <a:latin typeface="Times New Roman"/>
                <a:cs typeface="Times New Roman"/>
              </a:rPr>
              <a:t>used</a:t>
            </a:r>
            <a:r>
              <a:rPr sz="2000" spc="45" dirty="0">
                <a:latin typeface="Times New Roman"/>
                <a:cs typeface="Times New Roman"/>
              </a:rPr>
              <a:t> </a:t>
            </a:r>
            <a:r>
              <a:rPr sz="2000" dirty="0">
                <a:latin typeface="Times New Roman"/>
                <a:cs typeface="Times New Roman"/>
              </a:rPr>
              <a:t>as</a:t>
            </a:r>
            <a:r>
              <a:rPr sz="2000" spc="35" dirty="0">
                <a:latin typeface="Times New Roman"/>
                <a:cs typeface="Times New Roman"/>
              </a:rPr>
              <a:t> </a:t>
            </a:r>
            <a:r>
              <a:rPr sz="2000" dirty="0">
                <a:latin typeface="Times New Roman"/>
                <a:cs typeface="Times New Roman"/>
              </a:rPr>
              <a:t>the</a:t>
            </a:r>
            <a:r>
              <a:rPr sz="2000" spc="45" dirty="0">
                <a:latin typeface="Times New Roman"/>
                <a:cs typeface="Times New Roman"/>
              </a:rPr>
              <a:t> </a:t>
            </a:r>
            <a:r>
              <a:rPr sz="2000" dirty="0">
                <a:latin typeface="Times New Roman"/>
                <a:cs typeface="Times New Roman"/>
              </a:rPr>
              <a:t>basis</a:t>
            </a:r>
            <a:r>
              <a:rPr sz="2000" spc="20" dirty="0">
                <a:latin typeface="Times New Roman"/>
                <a:cs typeface="Times New Roman"/>
              </a:rPr>
              <a:t> </a:t>
            </a:r>
            <a:r>
              <a:rPr sz="2000" spc="-25" dirty="0">
                <a:latin typeface="Times New Roman"/>
                <a:cs typeface="Times New Roman"/>
              </a:rPr>
              <a:t>for 	</a:t>
            </a:r>
            <a:r>
              <a:rPr sz="2000" dirty="0">
                <a:latin typeface="Times New Roman"/>
                <a:cs typeface="Times New Roman"/>
              </a:rPr>
              <a:t>stacks</a:t>
            </a:r>
            <a:r>
              <a:rPr sz="2000" spc="-2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spc="-10" dirty="0">
                <a:latin typeface="Times New Roman"/>
                <a:cs typeface="Times New Roman"/>
              </a:rPr>
              <a:t>queues.</a:t>
            </a:r>
            <a:endParaRPr sz="2000" dirty="0">
              <a:latin typeface="Times New Roman"/>
              <a:cs typeface="Times New Roman"/>
            </a:endParaRPr>
          </a:p>
        </p:txBody>
      </p:sp>
      <p:pic>
        <p:nvPicPr>
          <p:cNvPr id="4" name="object 4"/>
          <p:cNvPicPr/>
          <p:nvPr/>
        </p:nvPicPr>
        <p:blipFill>
          <a:blip r:embed="rId2" cstate="print"/>
          <a:stretch>
            <a:fillRect/>
          </a:stretch>
        </p:blipFill>
        <p:spPr>
          <a:xfrm>
            <a:off x="3756659" y="4049267"/>
            <a:ext cx="4678680" cy="2258568"/>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75731EC5-EDEE-26C8-8621-25F450599B89}"/>
              </a:ext>
            </a:extLst>
          </p:cNvPr>
          <p:cNvSpPr>
            <a:spLocks noGrp="1"/>
          </p:cNvSpPr>
          <p:nvPr>
            <p:ph type="dt" sz="half" idx="10"/>
          </p:nvPr>
        </p:nvSpPr>
        <p:spPr/>
        <p:txBody>
          <a:bodyPr/>
          <a:lstStyle/>
          <a:p>
            <a:fld id="{17A50A03-FD4C-46D7-9D26-561D854F00ED}" type="datetime1">
              <a:rPr lang="en-US" smtClean="0"/>
              <a:t>11/17/2025</a:t>
            </a:fld>
            <a:endParaRPr lang="en-US"/>
          </a:p>
        </p:txBody>
      </p:sp>
      <p:sp>
        <p:nvSpPr>
          <p:cNvPr id="10" name="Slide Number Placeholder 9">
            <a:extLst>
              <a:ext uri="{FF2B5EF4-FFF2-40B4-BE49-F238E27FC236}">
                <a16:creationId xmlns:a16="http://schemas.microsoft.com/office/drawing/2014/main" id="{A29137BA-8F80-7309-FD95-B0AFD55A6A1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44</a:t>
            </a:fld>
            <a:endParaRPr spc="-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Deques</a:t>
            </a:r>
          </a:p>
        </p:txBody>
      </p:sp>
      <p:sp>
        <p:nvSpPr>
          <p:cNvPr id="12" name="object 12"/>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808126" y="1828038"/>
            <a:ext cx="5210810" cy="940435"/>
          </a:xfrm>
          <a:prstGeom prst="rect">
            <a:avLst/>
          </a:prstGeom>
        </p:spPr>
        <p:txBody>
          <a:bodyPr vert="horz" wrap="square" lIns="0" tIns="13335" rIns="0" bIns="0" rtlCol="0">
            <a:spAutoFit/>
          </a:bodyPr>
          <a:lstStyle/>
          <a:p>
            <a:pPr marL="352425" marR="5080" indent="-339725" algn="just">
              <a:lnSpc>
                <a:spcPct val="100000"/>
              </a:lnSpc>
              <a:spcBef>
                <a:spcPts val="105"/>
              </a:spcBef>
              <a:buFont typeface="Arial MT"/>
              <a:buChar char="•"/>
              <a:tabLst>
                <a:tab pos="355600" algn="l"/>
              </a:tabLst>
            </a:pPr>
            <a:r>
              <a:rPr sz="2000" dirty="0">
                <a:latin typeface="Times New Roman"/>
                <a:cs typeface="Times New Roman"/>
              </a:rPr>
              <a:t>The</a:t>
            </a:r>
            <a:r>
              <a:rPr sz="2000" spc="120" dirty="0">
                <a:latin typeface="Times New Roman"/>
                <a:cs typeface="Times New Roman"/>
              </a:rPr>
              <a:t> </a:t>
            </a:r>
            <a:r>
              <a:rPr sz="2000" dirty="0">
                <a:solidFill>
                  <a:srgbClr val="FF0000"/>
                </a:solidFill>
                <a:latin typeface="Times New Roman"/>
                <a:cs typeface="Times New Roman"/>
              </a:rPr>
              <a:t>push_back(),</a:t>
            </a:r>
            <a:r>
              <a:rPr sz="2000" spc="130" dirty="0">
                <a:solidFill>
                  <a:srgbClr val="FF0000"/>
                </a:solidFill>
                <a:latin typeface="Times New Roman"/>
                <a:cs typeface="Times New Roman"/>
              </a:rPr>
              <a:t> </a:t>
            </a:r>
            <a:r>
              <a:rPr sz="2000" dirty="0">
                <a:solidFill>
                  <a:srgbClr val="FF0000"/>
                </a:solidFill>
                <a:latin typeface="Times New Roman"/>
                <a:cs typeface="Times New Roman"/>
              </a:rPr>
              <a:t>push_front(),</a:t>
            </a:r>
            <a:r>
              <a:rPr sz="2000" spc="135" dirty="0">
                <a:latin typeface="Times New Roman"/>
                <a:cs typeface="Times New Roman"/>
              </a:rPr>
              <a:t> </a:t>
            </a:r>
            <a:r>
              <a:rPr sz="2000" dirty="0">
                <a:latin typeface="Times New Roman"/>
                <a:cs typeface="Times New Roman"/>
              </a:rPr>
              <a:t>and</a:t>
            </a:r>
            <a:r>
              <a:rPr sz="2000" spc="130" dirty="0">
                <a:latin typeface="Times New Roman"/>
                <a:cs typeface="Times New Roman"/>
              </a:rPr>
              <a:t> </a:t>
            </a:r>
            <a:r>
              <a:rPr sz="2000" dirty="0">
                <a:latin typeface="Times New Roman"/>
                <a:cs typeface="Times New Roman"/>
              </a:rPr>
              <a:t>operator</a:t>
            </a:r>
            <a:r>
              <a:rPr sz="2000" spc="120" dirty="0">
                <a:latin typeface="Times New Roman"/>
                <a:cs typeface="Times New Roman"/>
              </a:rPr>
              <a:t> </a:t>
            </a:r>
            <a:r>
              <a:rPr sz="2000" spc="-25" dirty="0">
                <a:solidFill>
                  <a:srgbClr val="FF0000"/>
                </a:solidFill>
                <a:latin typeface="Times New Roman"/>
                <a:cs typeface="Times New Roman"/>
              </a:rPr>
              <a:t>[]</a:t>
            </a:r>
            <a:r>
              <a:rPr sz="2000" spc="-25" dirty="0">
                <a:latin typeface="Times New Roman"/>
                <a:cs typeface="Times New Roman"/>
              </a:rPr>
              <a:t> 	</a:t>
            </a:r>
            <a:r>
              <a:rPr sz="2000" dirty="0">
                <a:latin typeface="Times New Roman"/>
                <a:cs typeface="Times New Roman"/>
              </a:rPr>
              <a:t>work</a:t>
            </a:r>
            <a:r>
              <a:rPr sz="2000" spc="305" dirty="0">
                <a:latin typeface="Times New Roman"/>
                <a:cs typeface="Times New Roman"/>
              </a:rPr>
              <a:t>  </a:t>
            </a:r>
            <a:r>
              <a:rPr sz="2000" dirty="0">
                <a:latin typeface="Times New Roman"/>
                <a:cs typeface="Times New Roman"/>
              </a:rPr>
              <a:t>the</a:t>
            </a:r>
            <a:r>
              <a:rPr sz="2000" spc="310" dirty="0">
                <a:latin typeface="Times New Roman"/>
                <a:cs typeface="Times New Roman"/>
              </a:rPr>
              <a:t>  </a:t>
            </a:r>
            <a:r>
              <a:rPr sz="2000" dirty="0">
                <a:latin typeface="Times New Roman"/>
                <a:cs typeface="Times New Roman"/>
              </a:rPr>
              <a:t>same</a:t>
            </a:r>
            <a:r>
              <a:rPr sz="2000" spc="315" dirty="0">
                <a:latin typeface="Times New Roman"/>
                <a:cs typeface="Times New Roman"/>
              </a:rPr>
              <a:t>  </a:t>
            </a:r>
            <a:r>
              <a:rPr sz="2000" dirty="0">
                <a:latin typeface="Times New Roman"/>
                <a:cs typeface="Times New Roman"/>
              </a:rPr>
              <a:t>for</a:t>
            </a:r>
            <a:r>
              <a:rPr sz="2000" spc="315" dirty="0">
                <a:latin typeface="Times New Roman"/>
                <a:cs typeface="Times New Roman"/>
              </a:rPr>
              <a:t>  </a:t>
            </a:r>
            <a:r>
              <a:rPr sz="2000" dirty="0">
                <a:latin typeface="Times New Roman"/>
                <a:cs typeface="Times New Roman"/>
              </a:rPr>
              <a:t>deques</a:t>
            </a:r>
            <a:r>
              <a:rPr sz="2000" spc="315" dirty="0">
                <a:latin typeface="Times New Roman"/>
                <a:cs typeface="Times New Roman"/>
              </a:rPr>
              <a:t>  </a:t>
            </a:r>
            <a:r>
              <a:rPr sz="2000" dirty="0">
                <a:latin typeface="Times New Roman"/>
                <a:cs typeface="Times New Roman"/>
              </a:rPr>
              <a:t>as</a:t>
            </a:r>
            <a:r>
              <a:rPr sz="2000" spc="310" dirty="0">
                <a:latin typeface="Times New Roman"/>
                <a:cs typeface="Times New Roman"/>
              </a:rPr>
              <a:t>  </a:t>
            </a:r>
            <a:r>
              <a:rPr sz="2000" dirty="0">
                <a:latin typeface="Times New Roman"/>
                <a:cs typeface="Times New Roman"/>
              </a:rPr>
              <a:t>for</a:t>
            </a:r>
            <a:r>
              <a:rPr sz="2000" spc="320" dirty="0">
                <a:latin typeface="Times New Roman"/>
                <a:cs typeface="Times New Roman"/>
              </a:rPr>
              <a:t>  </a:t>
            </a:r>
            <a:r>
              <a:rPr sz="2000" spc="-10" dirty="0">
                <a:latin typeface="Times New Roman"/>
                <a:cs typeface="Times New Roman"/>
              </a:rPr>
              <a:t>other 	containers.</a:t>
            </a:r>
            <a:endParaRPr sz="2000" dirty="0">
              <a:latin typeface="Times New Roman"/>
              <a:cs typeface="Times New Roman"/>
            </a:endParaRPr>
          </a:p>
        </p:txBody>
      </p:sp>
      <p:sp>
        <p:nvSpPr>
          <p:cNvPr id="4" name="object 4"/>
          <p:cNvSpPr txBox="1"/>
          <p:nvPr/>
        </p:nvSpPr>
        <p:spPr>
          <a:xfrm>
            <a:off x="808126" y="2742133"/>
            <a:ext cx="1910080" cy="331470"/>
          </a:xfrm>
          <a:prstGeom prst="rect">
            <a:avLst/>
          </a:prstGeom>
        </p:spPr>
        <p:txBody>
          <a:bodyPr vert="horz" wrap="square" lIns="0" tIns="13335" rIns="0" bIns="0" rtlCol="0">
            <a:spAutoFit/>
          </a:bodyPr>
          <a:lstStyle/>
          <a:p>
            <a:pPr marL="354965" indent="-342265">
              <a:lnSpc>
                <a:spcPct val="100000"/>
              </a:lnSpc>
              <a:spcBef>
                <a:spcPts val="105"/>
              </a:spcBef>
              <a:buFont typeface="Arial MT"/>
              <a:buChar char="•"/>
              <a:tabLst>
                <a:tab pos="354965" algn="l"/>
                <a:tab pos="1103630" algn="l"/>
              </a:tabLst>
            </a:pPr>
            <a:r>
              <a:rPr sz="2000" spc="-25" dirty="0">
                <a:latin typeface="Times New Roman"/>
                <a:cs typeface="Times New Roman"/>
              </a:rPr>
              <a:t>The</a:t>
            </a:r>
            <a:r>
              <a:rPr sz="2000" dirty="0">
                <a:latin typeface="Times New Roman"/>
                <a:cs typeface="Times New Roman"/>
              </a:rPr>
              <a:t>	</a:t>
            </a:r>
            <a:r>
              <a:rPr sz="2000" spc="-10" dirty="0">
                <a:latin typeface="Times New Roman"/>
                <a:cs typeface="Times New Roman"/>
              </a:rPr>
              <a:t>insert(),</a:t>
            </a:r>
            <a:endParaRPr sz="2000">
              <a:latin typeface="Times New Roman"/>
              <a:cs typeface="Times New Roman"/>
            </a:endParaRPr>
          </a:p>
        </p:txBody>
      </p:sp>
      <p:sp>
        <p:nvSpPr>
          <p:cNvPr id="5" name="object 5"/>
          <p:cNvSpPr txBox="1"/>
          <p:nvPr/>
        </p:nvSpPr>
        <p:spPr>
          <a:xfrm>
            <a:off x="4260341" y="2742133"/>
            <a:ext cx="651510" cy="331470"/>
          </a:xfrm>
          <a:prstGeom prst="rect">
            <a:avLst/>
          </a:prstGeom>
        </p:spPr>
        <p:txBody>
          <a:bodyPr vert="horz" wrap="square" lIns="0" tIns="13335" rIns="0" bIns="0" rtlCol="0">
            <a:spAutoFit/>
          </a:bodyPr>
          <a:lstStyle/>
          <a:p>
            <a:pPr marL="12700">
              <a:lnSpc>
                <a:spcPct val="100000"/>
              </a:lnSpc>
              <a:spcBef>
                <a:spcPts val="105"/>
              </a:spcBef>
            </a:pPr>
            <a:r>
              <a:rPr sz="2000" spc="-10" dirty="0">
                <a:solidFill>
                  <a:srgbClr val="FF0000"/>
                </a:solidFill>
                <a:latin typeface="Times New Roman"/>
                <a:cs typeface="Times New Roman"/>
              </a:rPr>
              <a:t>size(),</a:t>
            </a:r>
            <a:endParaRPr sz="2000" dirty="0">
              <a:solidFill>
                <a:srgbClr val="FF0000"/>
              </a:solidFill>
              <a:latin typeface="Times New Roman"/>
              <a:cs typeface="Times New Roman"/>
            </a:endParaRPr>
          </a:p>
        </p:txBody>
      </p:sp>
      <p:sp>
        <p:nvSpPr>
          <p:cNvPr id="6" name="object 6"/>
          <p:cNvSpPr txBox="1"/>
          <p:nvPr/>
        </p:nvSpPr>
        <p:spPr>
          <a:xfrm>
            <a:off x="5237479" y="2742133"/>
            <a:ext cx="780415" cy="331470"/>
          </a:xfrm>
          <a:prstGeom prst="rect">
            <a:avLst/>
          </a:prstGeom>
        </p:spPr>
        <p:txBody>
          <a:bodyPr vert="horz" wrap="square" lIns="0" tIns="13335" rIns="0" bIns="0" rtlCol="0">
            <a:spAutoFit/>
          </a:bodyPr>
          <a:lstStyle/>
          <a:p>
            <a:pPr marL="12700">
              <a:lnSpc>
                <a:spcPct val="100000"/>
              </a:lnSpc>
              <a:spcBef>
                <a:spcPts val="105"/>
              </a:spcBef>
            </a:pPr>
            <a:r>
              <a:rPr sz="2000" spc="-10" dirty="0">
                <a:solidFill>
                  <a:srgbClr val="FF0000"/>
                </a:solidFill>
                <a:latin typeface="Times New Roman"/>
                <a:cs typeface="Times New Roman"/>
              </a:rPr>
              <a:t>swap(),</a:t>
            </a:r>
            <a:endParaRPr sz="2000" dirty="0">
              <a:solidFill>
                <a:srgbClr val="FF0000"/>
              </a:solidFill>
              <a:latin typeface="Times New Roman"/>
              <a:cs typeface="Times New Roman"/>
            </a:endParaRPr>
          </a:p>
        </p:txBody>
      </p:sp>
      <p:sp>
        <p:nvSpPr>
          <p:cNvPr id="7" name="object 7"/>
          <p:cNvSpPr txBox="1"/>
          <p:nvPr/>
        </p:nvSpPr>
        <p:spPr>
          <a:xfrm>
            <a:off x="1151026" y="2742133"/>
            <a:ext cx="3058795" cy="636270"/>
          </a:xfrm>
          <a:prstGeom prst="rect">
            <a:avLst/>
          </a:prstGeom>
        </p:spPr>
        <p:txBody>
          <a:bodyPr vert="horz" wrap="square" lIns="0" tIns="13335" rIns="0" bIns="0" rtlCol="0">
            <a:spAutoFit/>
          </a:bodyPr>
          <a:lstStyle/>
          <a:p>
            <a:pPr marL="1905635">
              <a:lnSpc>
                <a:spcPct val="100000"/>
              </a:lnSpc>
              <a:spcBef>
                <a:spcPts val="105"/>
              </a:spcBef>
            </a:pPr>
            <a:r>
              <a:rPr sz="2000" spc="-10" dirty="0">
                <a:solidFill>
                  <a:srgbClr val="FF0000"/>
                </a:solidFill>
                <a:latin typeface="Times New Roman"/>
                <a:cs typeface="Times New Roman"/>
              </a:rPr>
              <a:t>empty()</a:t>
            </a:r>
            <a:r>
              <a:rPr sz="2000" spc="-10" dirty="0">
                <a:latin typeface="Times New Roman"/>
                <a:cs typeface="Times New Roman"/>
              </a:rPr>
              <a:t>,</a:t>
            </a:r>
            <a:endParaRPr sz="2000" dirty="0">
              <a:latin typeface="Times New Roman"/>
              <a:cs typeface="Times New Roman"/>
            </a:endParaRPr>
          </a:p>
          <a:p>
            <a:pPr marL="12700">
              <a:lnSpc>
                <a:spcPct val="100000"/>
              </a:lnSpc>
              <a:tabLst>
                <a:tab pos="1341755" algn="l"/>
                <a:tab pos="1878330" algn="l"/>
              </a:tabLst>
            </a:pPr>
            <a:r>
              <a:rPr sz="2000" spc="-10" dirty="0">
                <a:solidFill>
                  <a:srgbClr val="FF0000"/>
                </a:solidFill>
                <a:latin typeface="Times New Roman"/>
                <a:cs typeface="Times New Roman"/>
              </a:rPr>
              <a:t>pop_back()</a:t>
            </a:r>
            <a:r>
              <a:rPr sz="2000" dirty="0">
                <a:latin typeface="Times New Roman"/>
                <a:cs typeface="Times New Roman"/>
              </a:rPr>
              <a:t>	</a:t>
            </a:r>
            <a:r>
              <a:rPr sz="2000" spc="-25" dirty="0">
                <a:latin typeface="Times New Roman"/>
                <a:cs typeface="Times New Roman"/>
              </a:rPr>
              <a:t>and</a:t>
            </a:r>
            <a:r>
              <a:rPr sz="2000" dirty="0">
                <a:latin typeface="Times New Roman"/>
                <a:cs typeface="Times New Roman"/>
              </a:rPr>
              <a:t>	</a:t>
            </a:r>
            <a:r>
              <a:rPr sz="2000" spc="-10" dirty="0">
                <a:solidFill>
                  <a:srgbClr val="FF0000"/>
                </a:solidFill>
                <a:latin typeface="Times New Roman"/>
                <a:cs typeface="Times New Roman"/>
              </a:rPr>
              <a:t>pop_front()</a:t>
            </a:r>
            <a:endParaRPr sz="2000" dirty="0">
              <a:solidFill>
                <a:srgbClr val="FF0000"/>
              </a:solidFill>
              <a:latin typeface="Times New Roman"/>
              <a:cs typeface="Times New Roman"/>
            </a:endParaRPr>
          </a:p>
        </p:txBody>
      </p:sp>
      <p:sp>
        <p:nvSpPr>
          <p:cNvPr id="8" name="object 8"/>
          <p:cNvSpPr txBox="1"/>
          <p:nvPr/>
        </p:nvSpPr>
        <p:spPr>
          <a:xfrm>
            <a:off x="4356353" y="3047492"/>
            <a:ext cx="969010" cy="33083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Times New Roman"/>
                <a:cs typeface="Times New Roman"/>
              </a:rPr>
              <a:t>functions</a:t>
            </a:r>
            <a:endParaRPr sz="2000">
              <a:latin typeface="Times New Roman"/>
              <a:cs typeface="Times New Roman"/>
            </a:endParaRPr>
          </a:p>
        </p:txBody>
      </p:sp>
      <p:sp>
        <p:nvSpPr>
          <p:cNvPr id="9" name="object 9"/>
          <p:cNvSpPr txBox="1"/>
          <p:nvPr/>
        </p:nvSpPr>
        <p:spPr>
          <a:xfrm>
            <a:off x="5470652" y="3047492"/>
            <a:ext cx="548005" cy="330835"/>
          </a:xfrm>
          <a:prstGeom prst="rect">
            <a:avLst/>
          </a:prstGeom>
        </p:spPr>
        <p:txBody>
          <a:bodyPr vert="horz" wrap="square" lIns="0" tIns="13335" rIns="0" bIns="0" rtlCol="0">
            <a:spAutoFit/>
          </a:bodyPr>
          <a:lstStyle/>
          <a:p>
            <a:pPr marL="12700">
              <a:lnSpc>
                <a:spcPct val="100000"/>
              </a:lnSpc>
              <a:spcBef>
                <a:spcPts val="105"/>
              </a:spcBef>
            </a:pPr>
            <a:r>
              <a:rPr sz="2000" spc="-20" dirty="0">
                <a:latin typeface="Times New Roman"/>
                <a:cs typeface="Times New Roman"/>
              </a:rPr>
              <a:t>work</a:t>
            </a:r>
            <a:endParaRPr sz="2000">
              <a:latin typeface="Times New Roman"/>
              <a:cs typeface="Times New Roman"/>
            </a:endParaRPr>
          </a:p>
        </p:txBody>
      </p:sp>
      <p:sp>
        <p:nvSpPr>
          <p:cNvPr id="10" name="object 10"/>
          <p:cNvSpPr txBox="1"/>
          <p:nvPr/>
        </p:nvSpPr>
        <p:spPr>
          <a:xfrm>
            <a:off x="1151026" y="3352291"/>
            <a:ext cx="293814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same</a:t>
            </a:r>
            <a:r>
              <a:rPr sz="2000" spc="-10" dirty="0">
                <a:latin typeface="Times New Roman"/>
                <a:cs typeface="Times New Roman"/>
              </a:rPr>
              <a:t> </a:t>
            </a:r>
            <a:r>
              <a:rPr sz="2000" dirty="0">
                <a:latin typeface="Times New Roman"/>
                <a:cs typeface="Times New Roman"/>
              </a:rPr>
              <a:t>as</a:t>
            </a:r>
            <a:r>
              <a:rPr sz="2000" spc="-5" dirty="0">
                <a:latin typeface="Times New Roman"/>
                <a:cs typeface="Times New Roman"/>
              </a:rPr>
              <a:t> </a:t>
            </a:r>
            <a:r>
              <a:rPr sz="2000" dirty="0">
                <a:latin typeface="Times New Roman"/>
                <a:cs typeface="Times New Roman"/>
              </a:rPr>
              <a:t>for</a:t>
            </a:r>
            <a:r>
              <a:rPr sz="2000" spc="-30" dirty="0">
                <a:latin typeface="Times New Roman"/>
                <a:cs typeface="Times New Roman"/>
              </a:rPr>
              <a:t> </a:t>
            </a:r>
            <a:r>
              <a:rPr sz="2000" dirty="0">
                <a:latin typeface="Times New Roman"/>
                <a:cs typeface="Times New Roman"/>
              </a:rPr>
              <a:t>other</a:t>
            </a:r>
            <a:r>
              <a:rPr sz="2000" spc="-30" dirty="0">
                <a:latin typeface="Times New Roman"/>
                <a:cs typeface="Times New Roman"/>
              </a:rPr>
              <a:t> </a:t>
            </a:r>
            <a:r>
              <a:rPr sz="2000" spc="-10" dirty="0">
                <a:latin typeface="Times New Roman"/>
                <a:cs typeface="Times New Roman"/>
              </a:rPr>
              <a:t>containers.</a:t>
            </a:r>
            <a:endParaRPr sz="2000">
              <a:latin typeface="Times New Roman"/>
              <a:cs typeface="Times New Roman"/>
            </a:endParaRPr>
          </a:p>
        </p:txBody>
      </p:sp>
      <p:pic>
        <p:nvPicPr>
          <p:cNvPr id="11" name="object 11"/>
          <p:cNvPicPr/>
          <p:nvPr/>
        </p:nvPicPr>
        <p:blipFill>
          <a:blip r:embed="rId2" cstate="print"/>
          <a:stretch>
            <a:fillRect/>
          </a:stretch>
        </p:blipFill>
        <p:spPr>
          <a:xfrm>
            <a:off x="7573247" y="1593391"/>
            <a:ext cx="3260377" cy="4548716"/>
          </a:xfrm>
          <a:prstGeom prst="rect">
            <a:avLst/>
          </a:prstGeom>
        </p:spPr>
      </p:pic>
      <p:sp>
        <p:nvSpPr>
          <p:cNvPr id="14" name="object 14"/>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5" name="object 15"/>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6" name="Date Placeholder 15">
            <a:extLst>
              <a:ext uri="{FF2B5EF4-FFF2-40B4-BE49-F238E27FC236}">
                <a16:creationId xmlns:a16="http://schemas.microsoft.com/office/drawing/2014/main" id="{4B735B8E-AD71-3613-9978-5764D07B8C4D}"/>
              </a:ext>
            </a:extLst>
          </p:cNvPr>
          <p:cNvSpPr>
            <a:spLocks noGrp="1"/>
          </p:cNvSpPr>
          <p:nvPr>
            <p:ph type="dt" sz="half" idx="10"/>
          </p:nvPr>
        </p:nvSpPr>
        <p:spPr/>
        <p:txBody>
          <a:bodyPr/>
          <a:lstStyle/>
          <a:p>
            <a:fld id="{03FBC13A-5499-45EA-AD33-9B4F8B43A2C2}" type="datetime1">
              <a:rPr lang="en-US" smtClean="0"/>
              <a:t>11/17/2025</a:t>
            </a:fld>
            <a:endParaRPr lang="en-US"/>
          </a:p>
        </p:txBody>
      </p:sp>
      <p:sp>
        <p:nvSpPr>
          <p:cNvPr id="17" name="Slide Number Placeholder 16">
            <a:extLst>
              <a:ext uri="{FF2B5EF4-FFF2-40B4-BE49-F238E27FC236}">
                <a16:creationId xmlns:a16="http://schemas.microsoft.com/office/drawing/2014/main" id="{0E05DEBF-19A5-B672-6FAB-109757F04205}"/>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45</a:t>
            </a:fld>
            <a:endParaRPr spc="-25" dirty="0"/>
          </a:p>
        </p:txBody>
      </p:sp>
      <p:sp>
        <p:nvSpPr>
          <p:cNvPr id="13" name="TextBox 12"/>
          <p:cNvSpPr txBox="1"/>
          <p:nvPr/>
        </p:nvSpPr>
        <p:spPr>
          <a:xfrm>
            <a:off x="808127" y="4267200"/>
            <a:ext cx="5209768"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To access an element at a specified index, you can use the </a:t>
            </a:r>
            <a:r>
              <a:rPr lang="en-US" dirty="0">
                <a:solidFill>
                  <a:srgbClr val="FF0000"/>
                </a:solidFill>
              </a:rPr>
              <a:t>.at() </a:t>
            </a:r>
            <a:r>
              <a:rPr lang="en-US" dirty="0"/>
              <a:t>function and specify the index number:</a:t>
            </a:r>
          </a:p>
          <a:p>
            <a:pPr marL="285750" indent="-285750">
              <a:buFont typeface="Arial" panose="020B0604020202020204" pitchFamily="34" charset="0"/>
              <a:buChar char="•"/>
            </a:pPr>
            <a:r>
              <a:rPr lang="en-US" dirty="0"/>
              <a:t>The .at() function is often preferred over square brackets [] because it throws an error message if the element is out of range: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10" dirty="0" err="1"/>
              <a:t>Deques</a:t>
            </a:r>
            <a:endParaRPr lang="en-US" dirty="0"/>
          </a:p>
        </p:txBody>
      </p:sp>
      <p:sp>
        <p:nvSpPr>
          <p:cNvPr id="3" name="Content Placeholder 2"/>
          <p:cNvSpPr>
            <a:spLocks noGrp="1"/>
          </p:cNvSpPr>
          <p:nvPr>
            <p:ph idx="1"/>
          </p:nvPr>
        </p:nvSpPr>
        <p:spPr>
          <a:xfrm>
            <a:off x="838200" y="1825625"/>
            <a:ext cx="6858000" cy="4351338"/>
          </a:xfrm>
        </p:spPr>
        <p:txBody>
          <a:bodyPr>
            <a:normAutofit/>
          </a:bodyPr>
          <a:lstStyle/>
          <a:p>
            <a:r>
              <a:rPr lang="en-US" sz="2400" dirty="0"/>
              <a:t>To change the value of a specific element, you can refer to the index number. However, it is safer to use the .at() function:</a:t>
            </a:r>
          </a:p>
        </p:txBody>
      </p:sp>
      <p:sp>
        <p:nvSpPr>
          <p:cNvPr id="4" name="Date Placeholder 3"/>
          <p:cNvSpPr>
            <a:spLocks noGrp="1"/>
          </p:cNvSpPr>
          <p:nvPr>
            <p:ph type="dt" sz="half" idx="10"/>
          </p:nvPr>
        </p:nvSpPr>
        <p:spPr/>
        <p:txBody>
          <a:bodyPr/>
          <a:lstStyle/>
          <a:p>
            <a:fld id="{8966A560-332D-47A2-A6E0-4B9952C44143}" type="datetime1">
              <a:rPr lang="en-US" smtClean="0"/>
              <a:t>11/17/2025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46</a:t>
            </a:fld>
            <a:endParaRPr spc="-25"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0117" y="1821076"/>
            <a:ext cx="4681883" cy="3055724"/>
          </a:xfrm>
          <a:prstGeom prst="rect">
            <a:avLst/>
          </a:prstGeom>
        </p:spPr>
      </p:pic>
    </p:spTree>
    <p:extLst>
      <p:ext uri="{BB962C8B-B14F-4D97-AF65-F5344CB8AC3E}">
        <p14:creationId xmlns:p14="http://schemas.microsoft.com/office/powerpoint/2010/main" val="2165757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Sequence</a:t>
            </a:r>
            <a:r>
              <a:rPr spc="-170" dirty="0"/>
              <a:t> </a:t>
            </a:r>
            <a:r>
              <a:rPr spc="-10" dirty="0"/>
              <a:t>containers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537317" y="1775024"/>
            <a:ext cx="5769214" cy="2090057"/>
          </a:xfrm>
          <a:prstGeom prst="rect">
            <a:avLst/>
          </a:prstGeom>
        </p:spPr>
      </p:pic>
      <p:pic>
        <p:nvPicPr>
          <p:cNvPr id="4" name="object 4"/>
          <p:cNvPicPr/>
          <p:nvPr/>
        </p:nvPicPr>
        <p:blipFill>
          <a:blip r:embed="rId3" cstate="print"/>
          <a:stretch>
            <a:fillRect/>
          </a:stretch>
        </p:blipFill>
        <p:spPr>
          <a:xfrm>
            <a:off x="6601970" y="1749170"/>
            <a:ext cx="5058150" cy="2133599"/>
          </a:xfrm>
          <a:prstGeom prst="rect">
            <a:avLst/>
          </a:prstGeom>
        </p:spPr>
      </p:pic>
      <p:pic>
        <p:nvPicPr>
          <p:cNvPr id="5" name="object 5"/>
          <p:cNvPicPr/>
          <p:nvPr/>
        </p:nvPicPr>
        <p:blipFill>
          <a:blip r:embed="rId4" cstate="print"/>
          <a:stretch>
            <a:fillRect/>
          </a:stretch>
        </p:blipFill>
        <p:spPr>
          <a:xfrm>
            <a:off x="3745804" y="4090131"/>
            <a:ext cx="5604403" cy="2146360"/>
          </a:xfrm>
          <a:prstGeom prst="rect">
            <a:avLst/>
          </a:prstGeom>
        </p:spPr>
      </p:pic>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D3A69C87-C139-45AE-1FD7-93874E9B3DB9}"/>
              </a:ext>
            </a:extLst>
          </p:cNvPr>
          <p:cNvSpPr>
            <a:spLocks noGrp="1"/>
          </p:cNvSpPr>
          <p:nvPr>
            <p:ph type="dt" sz="half" idx="10"/>
          </p:nvPr>
        </p:nvSpPr>
        <p:spPr/>
        <p:txBody>
          <a:bodyPr/>
          <a:lstStyle/>
          <a:p>
            <a:fld id="{031D614D-2E65-4C55-8844-F69D7F3B9462}" type="datetime1">
              <a:rPr lang="en-US" smtClean="0"/>
              <a:t>11/17/2025</a:t>
            </a:fld>
            <a:endParaRPr lang="en-US"/>
          </a:p>
        </p:txBody>
      </p:sp>
      <p:sp>
        <p:nvSpPr>
          <p:cNvPr id="11" name="Slide Number Placeholder 10">
            <a:extLst>
              <a:ext uri="{FF2B5EF4-FFF2-40B4-BE49-F238E27FC236}">
                <a16:creationId xmlns:a16="http://schemas.microsoft.com/office/drawing/2014/main" id="{791848EF-C2E8-830F-A9D8-D3222CF58EB7}"/>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47</a:t>
            </a:fld>
            <a:endParaRPr spc="-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Associative</a:t>
            </a:r>
            <a:r>
              <a:rPr spc="-175" dirty="0"/>
              <a:t> </a:t>
            </a:r>
            <a:r>
              <a:rPr spc="-10" dirty="0"/>
              <a:t>Containers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412495" y="1584452"/>
            <a:ext cx="6429375" cy="4601210"/>
          </a:xfrm>
          <a:prstGeom prst="rect">
            <a:avLst/>
          </a:prstGeom>
        </p:spPr>
        <p:txBody>
          <a:bodyPr vert="horz" wrap="square" lIns="0" tIns="12065" rIns="0" bIns="0" rtlCol="0">
            <a:spAutoFit/>
          </a:bodyPr>
          <a:lstStyle/>
          <a:p>
            <a:pPr marL="355600" marR="6985" indent="-342900" algn="just">
              <a:lnSpc>
                <a:spcPct val="100000"/>
              </a:lnSpc>
              <a:spcBef>
                <a:spcPts val="95"/>
              </a:spcBef>
              <a:buChar char="•"/>
              <a:tabLst>
                <a:tab pos="355600" algn="l"/>
              </a:tabLst>
            </a:pPr>
            <a:r>
              <a:rPr sz="1900" dirty="0">
                <a:latin typeface="Times New Roman"/>
                <a:cs typeface="Times New Roman"/>
              </a:rPr>
              <a:t>Associative</a:t>
            </a:r>
            <a:r>
              <a:rPr sz="1900" spc="100" dirty="0">
                <a:latin typeface="Times New Roman"/>
                <a:cs typeface="Times New Roman"/>
              </a:rPr>
              <a:t> </a:t>
            </a:r>
            <a:r>
              <a:rPr sz="1900" dirty="0">
                <a:latin typeface="Times New Roman"/>
                <a:cs typeface="Times New Roman"/>
              </a:rPr>
              <a:t>container</a:t>
            </a:r>
            <a:r>
              <a:rPr sz="1900" spc="105" dirty="0">
                <a:latin typeface="Times New Roman"/>
                <a:cs typeface="Times New Roman"/>
              </a:rPr>
              <a:t> </a:t>
            </a:r>
            <a:r>
              <a:rPr sz="1900" dirty="0">
                <a:latin typeface="Times New Roman"/>
                <a:cs typeface="Times New Roman"/>
              </a:rPr>
              <a:t>is</a:t>
            </a:r>
            <a:r>
              <a:rPr sz="1900" spc="95" dirty="0">
                <a:latin typeface="Times New Roman"/>
                <a:cs typeface="Times New Roman"/>
              </a:rPr>
              <a:t> </a:t>
            </a:r>
            <a:r>
              <a:rPr sz="1900" dirty="0">
                <a:latin typeface="Times New Roman"/>
                <a:cs typeface="Times New Roman"/>
              </a:rPr>
              <a:t>not</a:t>
            </a:r>
            <a:r>
              <a:rPr sz="1900" spc="100" dirty="0">
                <a:latin typeface="Times New Roman"/>
                <a:cs typeface="Times New Roman"/>
              </a:rPr>
              <a:t> </a:t>
            </a:r>
            <a:r>
              <a:rPr sz="1900" dirty="0">
                <a:latin typeface="Times New Roman"/>
                <a:cs typeface="Times New Roman"/>
              </a:rPr>
              <a:t>sequential;</a:t>
            </a:r>
            <a:r>
              <a:rPr sz="1900" spc="100" dirty="0">
                <a:latin typeface="Times New Roman"/>
                <a:cs typeface="Times New Roman"/>
              </a:rPr>
              <a:t> </a:t>
            </a:r>
            <a:r>
              <a:rPr sz="1900" dirty="0">
                <a:latin typeface="Times New Roman"/>
                <a:cs typeface="Times New Roman"/>
              </a:rPr>
              <a:t>instead</a:t>
            </a:r>
            <a:r>
              <a:rPr sz="1900" spc="105" dirty="0">
                <a:latin typeface="Times New Roman"/>
                <a:cs typeface="Times New Roman"/>
              </a:rPr>
              <a:t> </a:t>
            </a:r>
            <a:r>
              <a:rPr sz="1900" dirty="0">
                <a:latin typeface="Times New Roman"/>
                <a:cs typeface="Times New Roman"/>
              </a:rPr>
              <a:t>it</a:t>
            </a:r>
            <a:r>
              <a:rPr sz="1900" spc="100" dirty="0">
                <a:latin typeface="Times New Roman"/>
                <a:cs typeface="Times New Roman"/>
              </a:rPr>
              <a:t> </a:t>
            </a:r>
            <a:r>
              <a:rPr sz="1900" dirty="0">
                <a:latin typeface="Times New Roman"/>
                <a:cs typeface="Times New Roman"/>
              </a:rPr>
              <a:t>uses</a:t>
            </a:r>
            <a:r>
              <a:rPr sz="1900" spc="95" dirty="0">
                <a:latin typeface="Times New Roman"/>
                <a:cs typeface="Times New Roman"/>
              </a:rPr>
              <a:t> </a:t>
            </a:r>
            <a:r>
              <a:rPr sz="1900" dirty="0">
                <a:latin typeface="Times New Roman"/>
                <a:cs typeface="Times New Roman"/>
              </a:rPr>
              <a:t>keys</a:t>
            </a:r>
            <a:r>
              <a:rPr sz="1900" spc="100" dirty="0">
                <a:latin typeface="Times New Roman"/>
                <a:cs typeface="Times New Roman"/>
              </a:rPr>
              <a:t> </a:t>
            </a:r>
            <a:r>
              <a:rPr sz="1900" spc="-25" dirty="0">
                <a:latin typeface="Times New Roman"/>
                <a:cs typeface="Times New Roman"/>
              </a:rPr>
              <a:t>to </a:t>
            </a:r>
            <a:r>
              <a:rPr sz="1900" dirty="0">
                <a:latin typeface="Times New Roman"/>
                <a:cs typeface="Times New Roman"/>
              </a:rPr>
              <a:t>access</a:t>
            </a:r>
            <a:r>
              <a:rPr sz="1900" spc="-20" dirty="0">
                <a:latin typeface="Times New Roman"/>
                <a:cs typeface="Times New Roman"/>
              </a:rPr>
              <a:t> data.</a:t>
            </a:r>
            <a:endParaRPr sz="1900">
              <a:latin typeface="Times New Roman"/>
              <a:cs typeface="Times New Roman"/>
            </a:endParaRPr>
          </a:p>
          <a:p>
            <a:pPr marL="355600" marR="5080" indent="-342900" algn="just">
              <a:lnSpc>
                <a:spcPct val="100000"/>
              </a:lnSpc>
              <a:spcBef>
                <a:spcPts val="455"/>
              </a:spcBef>
              <a:buChar char="•"/>
              <a:tabLst>
                <a:tab pos="355600" algn="l"/>
              </a:tabLst>
            </a:pPr>
            <a:r>
              <a:rPr sz="1900" dirty="0">
                <a:latin typeface="Times New Roman"/>
                <a:cs typeface="Times New Roman"/>
              </a:rPr>
              <a:t>The</a:t>
            </a:r>
            <a:r>
              <a:rPr sz="1900" spc="45" dirty="0">
                <a:latin typeface="Times New Roman"/>
                <a:cs typeface="Times New Roman"/>
              </a:rPr>
              <a:t> </a:t>
            </a:r>
            <a:r>
              <a:rPr sz="1900" dirty="0">
                <a:latin typeface="Times New Roman"/>
                <a:cs typeface="Times New Roman"/>
              </a:rPr>
              <a:t>keys,</a:t>
            </a:r>
            <a:r>
              <a:rPr sz="1900" spc="45" dirty="0">
                <a:latin typeface="Times New Roman"/>
                <a:cs typeface="Times New Roman"/>
              </a:rPr>
              <a:t> </a:t>
            </a:r>
            <a:r>
              <a:rPr sz="1900" dirty="0">
                <a:latin typeface="Times New Roman"/>
                <a:cs typeface="Times New Roman"/>
              </a:rPr>
              <a:t>typically</a:t>
            </a:r>
            <a:r>
              <a:rPr sz="1900" spc="60" dirty="0">
                <a:latin typeface="Times New Roman"/>
                <a:cs typeface="Times New Roman"/>
              </a:rPr>
              <a:t> </a:t>
            </a:r>
            <a:r>
              <a:rPr sz="1900" dirty="0">
                <a:latin typeface="Times New Roman"/>
                <a:cs typeface="Times New Roman"/>
              </a:rPr>
              <a:t>numbers</a:t>
            </a:r>
            <a:r>
              <a:rPr sz="1900" spc="50" dirty="0">
                <a:latin typeface="Times New Roman"/>
                <a:cs typeface="Times New Roman"/>
              </a:rPr>
              <a:t> </a:t>
            </a:r>
            <a:r>
              <a:rPr sz="1900" dirty="0">
                <a:latin typeface="Times New Roman"/>
                <a:cs typeface="Times New Roman"/>
              </a:rPr>
              <a:t>or</a:t>
            </a:r>
            <a:r>
              <a:rPr sz="1900" spc="60" dirty="0">
                <a:latin typeface="Times New Roman"/>
                <a:cs typeface="Times New Roman"/>
              </a:rPr>
              <a:t> </a:t>
            </a:r>
            <a:r>
              <a:rPr sz="1900" dirty="0">
                <a:latin typeface="Times New Roman"/>
                <a:cs typeface="Times New Roman"/>
              </a:rPr>
              <a:t>strings,</a:t>
            </a:r>
            <a:r>
              <a:rPr sz="1900" spc="40" dirty="0">
                <a:latin typeface="Times New Roman"/>
                <a:cs typeface="Times New Roman"/>
              </a:rPr>
              <a:t> </a:t>
            </a:r>
            <a:r>
              <a:rPr sz="1900" dirty="0">
                <a:latin typeface="Times New Roman"/>
                <a:cs typeface="Times New Roman"/>
              </a:rPr>
              <a:t>are</a:t>
            </a:r>
            <a:r>
              <a:rPr sz="1900" spc="55" dirty="0">
                <a:latin typeface="Times New Roman"/>
                <a:cs typeface="Times New Roman"/>
              </a:rPr>
              <a:t> </a:t>
            </a:r>
            <a:r>
              <a:rPr sz="1900" dirty="0">
                <a:latin typeface="Times New Roman"/>
                <a:cs typeface="Times New Roman"/>
              </a:rPr>
              <a:t>used</a:t>
            </a:r>
            <a:r>
              <a:rPr sz="1900" spc="55" dirty="0">
                <a:latin typeface="Times New Roman"/>
                <a:cs typeface="Times New Roman"/>
              </a:rPr>
              <a:t> </a:t>
            </a:r>
            <a:r>
              <a:rPr sz="1900" spc="-10" dirty="0">
                <a:latin typeface="Times New Roman"/>
                <a:cs typeface="Times New Roman"/>
              </a:rPr>
              <a:t>automatically </a:t>
            </a:r>
            <a:r>
              <a:rPr sz="1900" dirty="0">
                <a:latin typeface="Times New Roman"/>
                <a:cs typeface="Times New Roman"/>
              </a:rPr>
              <a:t>by</a:t>
            </a:r>
            <a:r>
              <a:rPr sz="1900" spc="260" dirty="0">
                <a:latin typeface="Times New Roman"/>
                <a:cs typeface="Times New Roman"/>
              </a:rPr>
              <a:t> </a:t>
            </a:r>
            <a:r>
              <a:rPr sz="1900" dirty="0">
                <a:latin typeface="Times New Roman"/>
                <a:cs typeface="Times New Roman"/>
              </a:rPr>
              <a:t>the</a:t>
            </a:r>
            <a:r>
              <a:rPr sz="1900" spc="229" dirty="0">
                <a:latin typeface="Times New Roman"/>
                <a:cs typeface="Times New Roman"/>
              </a:rPr>
              <a:t> </a:t>
            </a:r>
            <a:r>
              <a:rPr sz="1900" dirty="0">
                <a:latin typeface="Times New Roman"/>
                <a:cs typeface="Times New Roman"/>
              </a:rPr>
              <a:t>container</a:t>
            </a:r>
            <a:r>
              <a:rPr sz="1900" spc="250" dirty="0">
                <a:latin typeface="Times New Roman"/>
                <a:cs typeface="Times New Roman"/>
              </a:rPr>
              <a:t> </a:t>
            </a:r>
            <a:r>
              <a:rPr sz="1900" dirty="0">
                <a:latin typeface="Times New Roman"/>
                <a:cs typeface="Times New Roman"/>
              </a:rPr>
              <a:t>to</a:t>
            </a:r>
            <a:r>
              <a:rPr sz="1900" spc="250" dirty="0">
                <a:latin typeface="Times New Roman"/>
                <a:cs typeface="Times New Roman"/>
              </a:rPr>
              <a:t> </a:t>
            </a:r>
            <a:r>
              <a:rPr sz="1900" dirty="0">
                <a:latin typeface="Times New Roman"/>
                <a:cs typeface="Times New Roman"/>
              </a:rPr>
              <a:t>arrange</a:t>
            </a:r>
            <a:r>
              <a:rPr sz="1900" spc="245" dirty="0">
                <a:latin typeface="Times New Roman"/>
                <a:cs typeface="Times New Roman"/>
              </a:rPr>
              <a:t> </a:t>
            </a:r>
            <a:r>
              <a:rPr sz="1900" dirty="0">
                <a:latin typeface="Times New Roman"/>
                <a:cs typeface="Times New Roman"/>
              </a:rPr>
              <a:t>the</a:t>
            </a:r>
            <a:r>
              <a:rPr sz="1900" spc="245" dirty="0">
                <a:latin typeface="Times New Roman"/>
                <a:cs typeface="Times New Roman"/>
              </a:rPr>
              <a:t> </a:t>
            </a:r>
            <a:r>
              <a:rPr sz="1900" dirty="0">
                <a:latin typeface="Times New Roman"/>
                <a:cs typeface="Times New Roman"/>
              </a:rPr>
              <a:t>stored</a:t>
            </a:r>
            <a:r>
              <a:rPr sz="1900" spc="250" dirty="0">
                <a:latin typeface="Times New Roman"/>
                <a:cs typeface="Times New Roman"/>
              </a:rPr>
              <a:t> </a:t>
            </a:r>
            <a:r>
              <a:rPr sz="1900" dirty="0">
                <a:latin typeface="Times New Roman"/>
                <a:cs typeface="Times New Roman"/>
              </a:rPr>
              <a:t>elements</a:t>
            </a:r>
            <a:r>
              <a:rPr sz="1900" spc="250" dirty="0">
                <a:latin typeface="Times New Roman"/>
                <a:cs typeface="Times New Roman"/>
              </a:rPr>
              <a:t> </a:t>
            </a:r>
            <a:r>
              <a:rPr sz="1900" dirty="0">
                <a:latin typeface="Times New Roman"/>
                <a:cs typeface="Times New Roman"/>
              </a:rPr>
              <a:t>in</a:t>
            </a:r>
            <a:r>
              <a:rPr sz="1900" spc="245" dirty="0">
                <a:latin typeface="Times New Roman"/>
                <a:cs typeface="Times New Roman"/>
              </a:rPr>
              <a:t> </a:t>
            </a:r>
            <a:r>
              <a:rPr sz="1900" dirty="0">
                <a:latin typeface="Times New Roman"/>
                <a:cs typeface="Times New Roman"/>
              </a:rPr>
              <a:t>a</a:t>
            </a:r>
            <a:r>
              <a:rPr sz="1900" spc="245" dirty="0">
                <a:latin typeface="Times New Roman"/>
                <a:cs typeface="Times New Roman"/>
              </a:rPr>
              <a:t> </a:t>
            </a:r>
            <a:r>
              <a:rPr sz="1900" spc="-10" dirty="0">
                <a:latin typeface="Times New Roman"/>
                <a:cs typeface="Times New Roman"/>
              </a:rPr>
              <a:t>specific order.</a:t>
            </a:r>
            <a:endParaRPr sz="1900">
              <a:latin typeface="Times New Roman"/>
              <a:cs typeface="Times New Roman"/>
            </a:endParaRPr>
          </a:p>
          <a:p>
            <a:pPr marL="354965" indent="-342265" algn="just">
              <a:lnSpc>
                <a:spcPct val="100000"/>
              </a:lnSpc>
              <a:spcBef>
                <a:spcPts val="459"/>
              </a:spcBef>
              <a:buChar char="•"/>
              <a:tabLst>
                <a:tab pos="354965" algn="l"/>
              </a:tabLst>
            </a:pPr>
            <a:r>
              <a:rPr sz="1900" dirty="0">
                <a:latin typeface="Times New Roman"/>
                <a:cs typeface="Times New Roman"/>
              </a:rPr>
              <a:t>There</a:t>
            </a:r>
            <a:r>
              <a:rPr sz="1900" spc="75" dirty="0">
                <a:latin typeface="Times New Roman"/>
                <a:cs typeface="Times New Roman"/>
              </a:rPr>
              <a:t> </a:t>
            </a:r>
            <a:r>
              <a:rPr sz="1900" dirty="0">
                <a:latin typeface="Times New Roman"/>
                <a:cs typeface="Times New Roman"/>
              </a:rPr>
              <a:t>are</a:t>
            </a:r>
            <a:r>
              <a:rPr sz="1900" spc="70" dirty="0">
                <a:latin typeface="Times New Roman"/>
                <a:cs typeface="Times New Roman"/>
              </a:rPr>
              <a:t> </a:t>
            </a:r>
            <a:r>
              <a:rPr sz="1900" dirty="0">
                <a:latin typeface="Times New Roman"/>
                <a:cs typeface="Times New Roman"/>
              </a:rPr>
              <a:t>two</a:t>
            </a:r>
            <a:r>
              <a:rPr sz="1900" spc="80" dirty="0">
                <a:latin typeface="Times New Roman"/>
                <a:cs typeface="Times New Roman"/>
              </a:rPr>
              <a:t> </a:t>
            </a:r>
            <a:r>
              <a:rPr sz="1900" dirty="0">
                <a:latin typeface="Times New Roman"/>
                <a:cs typeface="Times New Roman"/>
              </a:rPr>
              <a:t>kinds</a:t>
            </a:r>
            <a:r>
              <a:rPr sz="1900" spc="80" dirty="0">
                <a:latin typeface="Times New Roman"/>
                <a:cs typeface="Times New Roman"/>
              </a:rPr>
              <a:t> </a:t>
            </a:r>
            <a:r>
              <a:rPr sz="1900" dirty="0">
                <a:latin typeface="Times New Roman"/>
                <a:cs typeface="Times New Roman"/>
              </a:rPr>
              <a:t>of</a:t>
            </a:r>
            <a:r>
              <a:rPr sz="1900" spc="80" dirty="0">
                <a:latin typeface="Times New Roman"/>
                <a:cs typeface="Times New Roman"/>
              </a:rPr>
              <a:t> </a:t>
            </a:r>
            <a:r>
              <a:rPr sz="1900" dirty="0">
                <a:latin typeface="Times New Roman"/>
                <a:cs typeface="Times New Roman"/>
              </a:rPr>
              <a:t>associative</a:t>
            </a:r>
            <a:r>
              <a:rPr sz="1900" spc="80" dirty="0">
                <a:latin typeface="Times New Roman"/>
                <a:cs typeface="Times New Roman"/>
              </a:rPr>
              <a:t> </a:t>
            </a:r>
            <a:r>
              <a:rPr sz="1900" dirty="0">
                <a:latin typeface="Times New Roman"/>
                <a:cs typeface="Times New Roman"/>
              </a:rPr>
              <a:t>containers</a:t>
            </a:r>
            <a:r>
              <a:rPr sz="1900" spc="85" dirty="0">
                <a:latin typeface="Times New Roman"/>
                <a:cs typeface="Times New Roman"/>
              </a:rPr>
              <a:t> </a:t>
            </a:r>
            <a:r>
              <a:rPr sz="1900" dirty="0">
                <a:latin typeface="Times New Roman"/>
                <a:cs typeface="Times New Roman"/>
              </a:rPr>
              <a:t>in</a:t>
            </a:r>
            <a:r>
              <a:rPr sz="1900" spc="75" dirty="0">
                <a:latin typeface="Times New Roman"/>
                <a:cs typeface="Times New Roman"/>
              </a:rPr>
              <a:t> </a:t>
            </a:r>
            <a:r>
              <a:rPr sz="1900" dirty="0">
                <a:latin typeface="Times New Roman"/>
                <a:cs typeface="Times New Roman"/>
              </a:rPr>
              <a:t>the</a:t>
            </a:r>
            <a:r>
              <a:rPr sz="1900" spc="65" dirty="0">
                <a:latin typeface="Times New Roman"/>
                <a:cs typeface="Times New Roman"/>
              </a:rPr>
              <a:t> </a:t>
            </a:r>
            <a:r>
              <a:rPr sz="1900" dirty="0">
                <a:latin typeface="Times New Roman"/>
                <a:cs typeface="Times New Roman"/>
              </a:rPr>
              <a:t>STL:</a:t>
            </a:r>
            <a:r>
              <a:rPr sz="1900" spc="80" dirty="0">
                <a:latin typeface="Times New Roman"/>
                <a:cs typeface="Times New Roman"/>
              </a:rPr>
              <a:t> </a:t>
            </a:r>
            <a:r>
              <a:rPr sz="1900" i="1" spc="-20" dirty="0">
                <a:latin typeface="Times New Roman"/>
                <a:cs typeface="Times New Roman"/>
              </a:rPr>
              <a:t>sets</a:t>
            </a:r>
            <a:endParaRPr sz="1900">
              <a:latin typeface="Times New Roman"/>
              <a:cs typeface="Times New Roman"/>
            </a:endParaRPr>
          </a:p>
          <a:p>
            <a:pPr marL="355600" algn="just">
              <a:lnSpc>
                <a:spcPct val="100000"/>
              </a:lnSpc>
            </a:pPr>
            <a:r>
              <a:rPr sz="1900" dirty="0">
                <a:latin typeface="Times New Roman"/>
                <a:cs typeface="Times New Roman"/>
              </a:rPr>
              <a:t>and </a:t>
            </a:r>
            <a:r>
              <a:rPr sz="1900" i="1" spc="-10" dirty="0">
                <a:latin typeface="Times New Roman"/>
                <a:cs typeface="Times New Roman"/>
              </a:rPr>
              <a:t>maps</a:t>
            </a:r>
            <a:r>
              <a:rPr sz="1900" spc="-10" dirty="0">
                <a:latin typeface="Times New Roman"/>
                <a:cs typeface="Times New Roman"/>
              </a:rPr>
              <a:t>.</a:t>
            </a:r>
            <a:endParaRPr sz="1900">
              <a:latin typeface="Times New Roman"/>
              <a:cs typeface="Times New Roman"/>
            </a:endParaRPr>
          </a:p>
          <a:p>
            <a:pPr marL="355600" marR="5715" indent="-342900" algn="just">
              <a:lnSpc>
                <a:spcPct val="100000"/>
              </a:lnSpc>
              <a:spcBef>
                <a:spcPts val="459"/>
              </a:spcBef>
              <a:buChar char="•"/>
              <a:tabLst>
                <a:tab pos="355600" algn="l"/>
              </a:tabLst>
            </a:pPr>
            <a:r>
              <a:rPr sz="1900" dirty="0">
                <a:latin typeface="Times New Roman"/>
                <a:cs typeface="Times New Roman"/>
              </a:rPr>
              <a:t>A</a:t>
            </a:r>
            <a:r>
              <a:rPr sz="1900" spc="30" dirty="0">
                <a:latin typeface="Times New Roman"/>
                <a:cs typeface="Times New Roman"/>
              </a:rPr>
              <a:t> </a:t>
            </a:r>
            <a:r>
              <a:rPr sz="1900" dirty="0">
                <a:latin typeface="Times New Roman"/>
                <a:cs typeface="Times New Roman"/>
              </a:rPr>
              <a:t>set</a:t>
            </a:r>
            <a:r>
              <a:rPr sz="1900" spc="135" dirty="0">
                <a:latin typeface="Times New Roman"/>
                <a:cs typeface="Times New Roman"/>
              </a:rPr>
              <a:t> </a:t>
            </a:r>
            <a:r>
              <a:rPr sz="1900" dirty="0">
                <a:latin typeface="Times New Roman"/>
                <a:cs typeface="Times New Roman"/>
              </a:rPr>
              <a:t>stores</a:t>
            </a:r>
            <a:r>
              <a:rPr sz="1900" spc="125" dirty="0">
                <a:latin typeface="Times New Roman"/>
                <a:cs typeface="Times New Roman"/>
              </a:rPr>
              <a:t> </a:t>
            </a:r>
            <a:r>
              <a:rPr sz="1900" dirty="0">
                <a:latin typeface="Times New Roman"/>
                <a:cs typeface="Times New Roman"/>
              </a:rPr>
              <a:t>a</a:t>
            </a:r>
            <a:r>
              <a:rPr sz="1900" spc="130" dirty="0">
                <a:latin typeface="Times New Roman"/>
                <a:cs typeface="Times New Roman"/>
              </a:rPr>
              <a:t> </a:t>
            </a:r>
            <a:r>
              <a:rPr sz="1900" dirty="0">
                <a:latin typeface="Times New Roman"/>
                <a:cs typeface="Times New Roman"/>
              </a:rPr>
              <a:t>number</a:t>
            </a:r>
            <a:r>
              <a:rPr sz="1900" spc="145" dirty="0">
                <a:latin typeface="Times New Roman"/>
                <a:cs typeface="Times New Roman"/>
              </a:rPr>
              <a:t> </a:t>
            </a:r>
            <a:r>
              <a:rPr sz="1900" dirty="0">
                <a:latin typeface="Times New Roman"/>
                <a:cs typeface="Times New Roman"/>
              </a:rPr>
              <a:t>of</a:t>
            </a:r>
            <a:r>
              <a:rPr sz="1900" spc="140" dirty="0">
                <a:latin typeface="Times New Roman"/>
                <a:cs typeface="Times New Roman"/>
              </a:rPr>
              <a:t> </a:t>
            </a:r>
            <a:r>
              <a:rPr sz="1900" dirty="0">
                <a:latin typeface="Times New Roman"/>
                <a:cs typeface="Times New Roman"/>
              </a:rPr>
              <a:t>items</a:t>
            </a:r>
            <a:r>
              <a:rPr sz="1900" spc="145" dirty="0">
                <a:latin typeface="Times New Roman"/>
                <a:cs typeface="Times New Roman"/>
              </a:rPr>
              <a:t> </a:t>
            </a:r>
            <a:r>
              <a:rPr sz="1900" dirty="0">
                <a:latin typeface="Times New Roman"/>
                <a:cs typeface="Times New Roman"/>
              </a:rPr>
              <a:t>which</a:t>
            </a:r>
            <a:r>
              <a:rPr sz="1900" spc="135" dirty="0">
                <a:latin typeface="Times New Roman"/>
                <a:cs typeface="Times New Roman"/>
              </a:rPr>
              <a:t> </a:t>
            </a:r>
            <a:r>
              <a:rPr sz="1900" dirty="0">
                <a:latin typeface="Times New Roman"/>
                <a:cs typeface="Times New Roman"/>
              </a:rPr>
              <a:t>contain</a:t>
            </a:r>
            <a:r>
              <a:rPr sz="1900" spc="135" dirty="0">
                <a:latin typeface="Times New Roman"/>
                <a:cs typeface="Times New Roman"/>
              </a:rPr>
              <a:t> </a:t>
            </a:r>
            <a:r>
              <a:rPr sz="1900" dirty="0">
                <a:latin typeface="Times New Roman"/>
                <a:cs typeface="Times New Roman"/>
              </a:rPr>
              <a:t>keys.</a:t>
            </a:r>
            <a:r>
              <a:rPr sz="1900" spc="140" dirty="0">
                <a:latin typeface="Times New Roman"/>
                <a:cs typeface="Times New Roman"/>
              </a:rPr>
              <a:t> </a:t>
            </a:r>
            <a:r>
              <a:rPr sz="1900" dirty="0">
                <a:latin typeface="Times New Roman"/>
                <a:cs typeface="Times New Roman"/>
              </a:rPr>
              <a:t>The</a:t>
            </a:r>
            <a:r>
              <a:rPr sz="1900" spc="140" dirty="0">
                <a:latin typeface="Times New Roman"/>
                <a:cs typeface="Times New Roman"/>
              </a:rPr>
              <a:t> </a:t>
            </a:r>
            <a:r>
              <a:rPr sz="1900" spc="-20" dirty="0">
                <a:latin typeface="Times New Roman"/>
                <a:cs typeface="Times New Roman"/>
              </a:rPr>
              <a:t>keys </a:t>
            </a:r>
            <a:r>
              <a:rPr sz="1900" dirty="0">
                <a:latin typeface="Times New Roman"/>
                <a:cs typeface="Times New Roman"/>
              </a:rPr>
              <a:t>are</a:t>
            </a:r>
            <a:r>
              <a:rPr sz="1900" spc="204" dirty="0">
                <a:latin typeface="Times New Roman"/>
                <a:cs typeface="Times New Roman"/>
              </a:rPr>
              <a:t> </a:t>
            </a:r>
            <a:r>
              <a:rPr sz="1900" dirty="0">
                <a:latin typeface="Times New Roman"/>
                <a:cs typeface="Times New Roman"/>
              </a:rPr>
              <a:t>the</a:t>
            </a:r>
            <a:r>
              <a:rPr sz="1900" spc="195" dirty="0">
                <a:latin typeface="Times New Roman"/>
                <a:cs typeface="Times New Roman"/>
              </a:rPr>
              <a:t> </a:t>
            </a:r>
            <a:r>
              <a:rPr sz="1900" dirty="0">
                <a:latin typeface="Times New Roman"/>
                <a:cs typeface="Times New Roman"/>
              </a:rPr>
              <a:t>attributes</a:t>
            </a:r>
            <a:r>
              <a:rPr sz="1900" spc="204" dirty="0">
                <a:latin typeface="Times New Roman"/>
                <a:cs typeface="Times New Roman"/>
              </a:rPr>
              <a:t> </a:t>
            </a:r>
            <a:r>
              <a:rPr sz="1900" dirty="0">
                <a:latin typeface="Times New Roman"/>
                <a:cs typeface="Times New Roman"/>
              </a:rPr>
              <a:t>used</a:t>
            </a:r>
            <a:r>
              <a:rPr sz="1900" spc="215" dirty="0">
                <a:latin typeface="Times New Roman"/>
                <a:cs typeface="Times New Roman"/>
              </a:rPr>
              <a:t> </a:t>
            </a:r>
            <a:r>
              <a:rPr sz="1900" dirty="0">
                <a:latin typeface="Times New Roman"/>
                <a:cs typeface="Times New Roman"/>
              </a:rPr>
              <a:t>to</a:t>
            </a:r>
            <a:r>
              <a:rPr sz="1900" spc="204" dirty="0">
                <a:latin typeface="Times New Roman"/>
                <a:cs typeface="Times New Roman"/>
              </a:rPr>
              <a:t> </a:t>
            </a:r>
            <a:r>
              <a:rPr sz="1900" dirty="0">
                <a:latin typeface="Times New Roman"/>
                <a:cs typeface="Times New Roman"/>
              </a:rPr>
              <a:t>order</a:t>
            </a:r>
            <a:r>
              <a:rPr sz="1900" spc="215" dirty="0">
                <a:latin typeface="Times New Roman"/>
                <a:cs typeface="Times New Roman"/>
              </a:rPr>
              <a:t> </a:t>
            </a:r>
            <a:r>
              <a:rPr sz="1900" dirty="0">
                <a:latin typeface="Times New Roman"/>
                <a:cs typeface="Times New Roman"/>
              </a:rPr>
              <a:t>the</a:t>
            </a:r>
            <a:r>
              <a:rPr sz="1900" spc="190" dirty="0">
                <a:latin typeface="Times New Roman"/>
                <a:cs typeface="Times New Roman"/>
              </a:rPr>
              <a:t> </a:t>
            </a:r>
            <a:r>
              <a:rPr sz="1900" dirty="0">
                <a:latin typeface="Times New Roman"/>
                <a:cs typeface="Times New Roman"/>
              </a:rPr>
              <a:t>items.</a:t>
            </a:r>
            <a:r>
              <a:rPr sz="1900" spc="215" dirty="0">
                <a:latin typeface="Times New Roman"/>
                <a:cs typeface="Times New Roman"/>
              </a:rPr>
              <a:t> </a:t>
            </a:r>
            <a:r>
              <a:rPr sz="1900" dirty="0">
                <a:latin typeface="Times New Roman"/>
                <a:cs typeface="Times New Roman"/>
              </a:rPr>
              <a:t>For</a:t>
            </a:r>
            <a:r>
              <a:rPr sz="1900" spc="225" dirty="0">
                <a:latin typeface="Times New Roman"/>
                <a:cs typeface="Times New Roman"/>
              </a:rPr>
              <a:t> </a:t>
            </a:r>
            <a:r>
              <a:rPr sz="1900" dirty="0">
                <a:latin typeface="Times New Roman"/>
                <a:cs typeface="Times New Roman"/>
              </a:rPr>
              <a:t>example,</a:t>
            </a:r>
            <a:r>
              <a:rPr sz="1900" spc="215" dirty="0">
                <a:latin typeface="Times New Roman"/>
                <a:cs typeface="Times New Roman"/>
              </a:rPr>
              <a:t> </a:t>
            </a:r>
            <a:r>
              <a:rPr sz="1900" dirty="0">
                <a:latin typeface="Times New Roman"/>
                <a:cs typeface="Times New Roman"/>
              </a:rPr>
              <a:t>a</a:t>
            </a:r>
            <a:r>
              <a:rPr sz="1900" spc="204" dirty="0">
                <a:latin typeface="Times New Roman"/>
                <a:cs typeface="Times New Roman"/>
              </a:rPr>
              <a:t> </a:t>
            </a:r>
            <a:r>
              <a:rPr sz="1900" spc="-25" dirty="0">
                <a:latin typeface="Times New Roman"/>
                <a:cs typeface="Times New Roman"/>
              </a:rPr>
              <a:t>set </a:t>
            </a:r>
            <a:r>
              <a:rPr sz="1900" dirty="0">
                <a:latin typeface="Times New Roman"/>
                <a:cs typeface="Times New Roman"/>
              </a:rPr>
              <a:t>might</a:t>
            </a:r>
            <a:r>
              <a:rPr sz="1900" spc="-10" dirty="0">
                <a:latin typeface="Times New Roman"/>
                <a:cs typeface="Times New Roman"/>
              </a:rPr>
              <a:t> </a:t>
            </a:r>
            <a:r>
              <a:rPr sz="1900" dirty="0">
                <a:latin typeface="Times New Roman"/>
                <a:cs typeface="Times New Roman"/>
              </a:rPr>
              <a:t>store</a:t>
            </a:r>
            <a:r>
              <a:rPr sz="1900" spc="-10" dirty="0">
                <a:latin typeface="Times New Roman"/>
                <a:cs typeface="Times New Roman"/>
              </a:rPr>
              <a:t> </a:t>
            </a:r>
            <a:r>
              <a:rPr sz="1900" dirty="0">
                <a:latin typeface="Times New Roman"/>
                <a:cs typeface="Times New Roman"/>
              </a:rPr>
              <a:t>objects</a:t>
            </a:r>
            <a:r>
              <a:rPr sz="1900" spc="-20" dirty="0">
                <a:latin typeface="Times New Roman"/>
                <a:cs typeface="Times New Roman"/>
              </a:rPr>
              <a:t> </a:t>
            </a:r>
            <a:r>
              <a:rPr sz="1900" dirty="0">
                <a:latin typeface="Times New Roman"/>
                <a:cs typeface="Times New Roman"/>
              </a:rPr>
              <a:t>of</a:t>
            </a:r>
            <a:r>
              <a:rPr sz="1900" spc="-5" dirty="0">
                <a:latin typeface="Times New Roman"/>
                <a:cs typeface="Times New Roman"/>
              </a:rPr>
              <a:t> </a:t>
            </a:r>
            <a:r>
              <a:rPr sz="1900" dirty="0">
                <a:latin typeface="Times New Roman"/>
                <a:cs typeface="Times New Roman"/>
              </a:rPr>
              <a:t>the</a:t>
            </a:r>
            <a:r>
              <a:rPr sz="1900" spc="-15" dirty="0">
                <a:latin typeface="Times New Roman"/>
                <a:cs typeface="Times New Roman"/>
              </a:rPr>
              <a:t> </a:t>
            </a:r>
            <a:r>
              <a:rPr sz="1900" dirty="0">
                <a:latin typeface="Times New Roman"/>
                <a:cs typeface="Times New Roman"/>
              </a:rPr>
              <a:t>person</a:t>
            </a:r>
            <a:r>
              <a:rPr sz="1900" spc="-20" dirty="0">
                <a:latin typeface="Times New Roman"/>
                <a:cs typeface="Times New Roman"/>
              </a:rPr>
              <a:t> </a:t>
            </a:r>
            <a:r>
              <a:rPr sz="1900" dirty="0">
                <a:latin typeface="Times New Roman"/>
                <a:cs typeface="Times New Roman"/>
              </a:rPr>
              <a:t>class,</a:t>
            </a:r>
            <a:r>
              <a:rPr sz="1900" spc="-10" dirty="0">
                <a:latin typeface="Times New Roman"/>
                <a:cs typeface="Times New Roman"/>
              </a:rPr>
              <a:t> </a:t>
            </a:r>
            <a:r>
              <a:rPr sz="1900" dirty="0">
                <a:latin typeface="Times New Roman"/>
                <a:cs typeface="Times New Roman"/>
              </a:rPr>
              <a:t>their</a:t>
            </a:r>
            <a:r>
              <a:rPr sz="1900" spc="-5" dirty="0">
                <a:latin typeface="Times New Roman"/>
                <a:cs typeface="Times New Roman"/>
              </a:rPr>
              <a:t> </a:t>
            </a:r>
            <a:r>
              <a:rPr sz="1900" dirty="0">
                <a:latin typeface="Times New Roman"/>
                <a:cs typeface="Times New Roman"/>
              </a:rPr>
              <a:t>name</a:t>
            </a:r>
            <a:r>
              <a:rPr sz="1900" spc="-10" dirty="0">
                <a:latin typeface="Times New Roman"/>
                <a:cs typeface="Times New Roman"/>
              </a:rPr>
              <a:t> </a:t>
            </a:r>
            <a:r>
              <a:rPr sz="1900" dirty="0">
                <a:latin typeface="Times New Roman"/>
                <a:cs typeface="Times New Roman"/>
              </a:rPr>
              <a:t>attributes</a:t>
            </a:r>
            <a:r>
              <a:rPr sz="1900" spc="-15" dirty="0">
                <a:latin typeface="Times New Roman"/>
                <a:cs typeface="Times New Roman"/>
              </a:rPr>
              <a:t> </a:t>
            </a:r>
            <a:r>
              <a:rPr sz="1900" spc="-25" dirty="0">
                <a:latin typeface="Times New Roman"/>
                <a:cs typeface="Times New Roman"/>
              </a:rPr>
              <a:t>as </a:t>
            </a:r>
            <a:r>
              <a:rPr sz="1900" spc="-10" dirty="0">
                <a:latin typeface="Times New Roman"/>
                <a:cs typeface="Times New Roman"/>
              </a:rPr>
              <a:t>keys.</a:t>
            </a:r>
            <a:endParaRPr sz="1900">
              <a:latin typeface="Times New Roman"/>
              <a:cs typeface="Times New Roman"/>
            </a:endParaRPr>
          </a:p>
          <a:p>
            <a:pPr marL="355600" marR="5715" indent="-342900" algn="just">
              <a:lnSpc>
                <a:spcPct val="100000"/>
              </a:lnSpc>
              <a:spcBef>
                <a:spcPts val="455"/>
              </a:spcBef>
              <a:buChar char="•"/>
              <a:tabLst>
                <a:tab pos="355600" algn="l"/>
              </a:tabLst>
            </a:pPr>
            <a:r>
              <a:rPr sz="1900" dirty="0">
                <a:latin typeface="Times New Roman"/>
                <a:cs typeface="Times New Roman"/>
              </a:rPr>
              <a:t>A</a:t>
            </a:r>
            <a:r>
              <a:rPr sz="1900" spc="-40" dirty="0">
                <a:latin typeface="Times New Roman"/>
                <a:cs typeface="Times New Roman"/>
              </a:rPr>
              <a:t> </a:t>
            </a:r>
            <a:r>
              <a:rPr sz="1900" dirty="0">
                <a:latin typeface="Times New Roman"/>
                <a:cs typeface="Times New Roman"/>
              </a:rPr>
              <a:t>map</a:t>
            </a:r>
            <a:r>
              <a:rPr sz="1900" spc="60" dirty="0">
                <a:latin typeface="Times New Roman"/>
                <a:cs typeface="Times New Roman"/>
              </a:rPr>
              <a:t> </a:t>
            </a:r>
            <a:r>
              <a:rPr sz="1900" dirty="0">
                <a:latin typeface="Times New Roman"/>
                <a:cs typeface="Times New Roman"/>
              </a:rPr>
              <a:t>stores</a:t>
            </a:r>
            <a:r>
              <a:rPr sz="1900" spc="50" dirty="0">
                <a:latin typeface="Times New Roman"/>
                <a:cs typeface="Times New Roman"/>
              </a:rPr>
              <a:t> </a:t>
            </a:r>
            <a:r>
              <a:rPr sz="1900" dirty="0">
                <a:latin typeface="Times New Roman"/>
                <a:cs typeface="Times New Roman"/>
              </a:rPr>
              <a:t>pairs</a:t>
            </a:r>
            <a:r>
              <a:rPr sz="1900" spc="60" dirty="0">
                <a:latin typeface="Times New Roman"/>
                <a:cs typeface="Times New Roman"/>
              </a:rPr>
              <a:t> </a:t>
            </a:r>
            <a:r>
              <a:rPr sz="1900" dirty="0">
                <a:latin typeface="Times New Roman"/>
                <a:cs typeface="Times New Roman"/>
              </a:rPr>
              <a:t>of</a:t>
            </a:r>
            <a:r>
              <a:rPr sz="1900" spc="65" dirty="0">
                <a:latin typeface="Times New Roman"/>
                <a:cs typeface="Times New Roman"/>
              </a:rPr>
              <a:t> </a:t>
            </a:r>
            <a:r>
              <a:rPr sz="1900" dirty="0">
                <a:latin typeface="Times New Roman"/>
                <a:cs typeface="Times New Roman"/>
              </a:rPr>
              <a:t>objects:</a:t>
            </a:r>
            <a:r>
              <a:rPr sz="1900" spc="55" dirty="0">
                <a:latin typeface="Times New Roman"/>
                <a:cs typeface="Times New Roman"/>
              </a:rPr>
              <a:t> </a:t>
            </a:r>
            <a:r>
              <a:rPr sz="1900" dirty="0">
                <a:latin typeface="Times New Roman"/>
                <a:cs typeface="Times New Roman"/>
              </a:rPr>
              <a:t>a</a:t>
            </a:r>
            <a:r>
              <a:rPr sz="1900" spc="55" dirty="0">
                <a:latin typeface="Times New Roman"/>
                <a:cs typeface="Times New Roman"/>
              </a:rPr>
              <a:t> </a:t>
            </a:r>
            <a:r>
              <a:rPr sz="1900" dirty="0">
                <a:latin typeface="Times New Roman"/>
                <a:cs typeface="Times New Roman"/>
              </a:rPr>
              <a:t>key</a:t>
            </a:r>
            <a:r>
              <a:rPr sz="1900" spc="65" dirty="0">
                <a:latin typeface="Times New Roman"/>
                <a:cs typeface="Times New Roman"/>
              </a:rPr>
              <a:t> </a:t>
            </a:r>
            <a:r>
              <a:rPr sz="1900" dirty="0">
                <a:latin typeface="Times New Roman"/>
                <a:cs typeface="Times New Roman"/>
              </a:rPr>
              <a:t>object</a:t>
            </a:r>
            <a:r>
              <a:rPr sz="1900" spc="60" dirty="0">
                <a:latin typeface="Times New Roman"/>
                <a:cs typeface="Times New Roman"/>
              </a:rPr>
              <a:t> </a:t>
            </a:r>
            <a:r>
              <a:rPr sz="1900" dirty="0">
                <a:latin typeface="Times New Roman"/>
                <a:cs typeface="Times New Roman"/>
              </a:rPr>
              <a:t>and</a:t>
            </a:r>
            <a:r>
              <a:rPr sz="1900" spc="60" dirty="0">
                <a:latin typeface="Times New Roman"/>
                <a:cs typeface="Times New Roman"/>
              </a:rPr>
              <a:t> </a:t>
            </a:r>
            <a:r>
              <a:rPr sz="1900" dirty="0">
                <a:latin typeface="Times New Roman"/>
                <a:cs typeface="Times New Roman"/>
              </a:rPr>
              <a:t>a</a:t>
            </a:r>
            <a:r>
              <a:rPr sz="1900" spc="55" dirty="0">
                <a:latin typeface="Times New Roman"/>
                <a:cs typeface="Times New Roman"/>
              </a:rPr>
              <a:t> </a:t>
            </a:r>
            <a:r>
              <a:rPr sz="1900" dirty="0">
                <a:latin typeface="Times New Roman"/>
                <a:cs typeface="Times New Roman"/>
              </a:rPr>
              <a:t>value</a:t>
            </a:r>
            <a:r>
              <a:rPr sz="1900" spc="55" dirty="0">
                <a:latin typeface="Times New Roman"/>
                <a:cs typeface="Times New Roman"/>
              </a:rPr>
              <a:t> </a:t>
            </a:r>
            <a:r>
              <a:rPr sz="1900" spc="-10" dirty="0">
                <a:latin typeface="Times New Roman"/>
                <a:cs typeface="Times New Roman"/>
              </a:rPr>
              <a:t>object. </a:t>
            </a:r>
            <a:r>
              <a:rPr sz="1900" dirty="0">
                <a:latin typeface="Times New Roman"/>
                <a:cs typeface="Times New Roman"/>
              </a:rPr>
              <a:t>A</a:t>
            </a:r>
            <a:r>
              <a:rPr sz="1900" spc="-10" dirty="0">
                <a:latin typeface="Times New Roman"/>
                <a:cs typeface="Times New Roman"/>
              </a:rPr>
              <a:t> </a:t>
            </a:r>
            <a:r>
              <a:rPr sz="1900" dirty="0">
                <a:latin typeface="Times New Roman"/>
                <a:cs typeface="Times New Roman"/>
              </a:rPr>
              <a:t>map</a:t>
            </a:r>
            <a:r>
              <a:rPr sz="1900" spc="85" dirty="0">
                <a:latin typeface="Times New Roman"/>
                <a:cs typeface="Times New Roman"/>
              </a:rPr>
              <a:t> </a:t>
            </a:r>
            <a:r>
              <a:rPr sz="1900" dirty="0">
                <a:latin typeface="Times New Roman"/>
                <a:cs typeface="Times New Roman"/>
              </a:rPr>
              <a:t>is</a:t>
            </a:r>
            <a:r>
              <a:rPr sz="1900" spc="75" dirty="0">
                <a:latin typeface="Times New Roman"/>
                <a:cs typeface="Times New Roman"/>
              </a:rPr>
              <a:t> </a:t>
            </a:r>
            <a:r>
              <a:rPr sz="1900" dirty="0">
                <a:latin typeface="Times New Roman"/>
                <a:cs typeface="Times New Roman"/>
              </a:rPr>
              <a:t>like</a:t>
            </a:r>
            <a:r>
              <a:rPr sz="1900" spc="80" dirty="0">
                <a:latin typeface="Times New Roman"/>
                <a:cs typeface="Times New Roman"/>
              </a:rPr>
              <a:t> </a:t>
            </a:r>
            <a:r>
              <a:rPr sz="1900" dirty="0">
                <a:latin typeface="Times New Roman"/>
                <a:cs typeface="Times New Roman"/>
              </a:rPr>
              <a:t>an</a:t>
            </a:r>
            <a:r>
              <a:rPr sz="1900" spc="80" dirty="0">
                <a:latin typeface="Times New Roman"/>
                <a:cs typeface="Times New Roman"/>
              </a:rPr>
              <a:t> </a:t>
            </a:r>
            <a:r>
              <a:rPr sz="1900" dirty="0">
                <a:latin typeface="Times New Roman"/>
                <a:cs typeface="Times New Roman"/>
              </a:rPr>
              <a:t>array,</a:t>
            </a:r>
            <a:r>
              <a:rPr sz="1900" spc="90" dirty="0">
                <a:latin typeface="Times New Roman"/>
                <a:cs typeface="Times New Roman"/>
              </a:rPr>
              <a:t> </a:t>
            </a:r>
            <a:r>
              <a:rPr sz="1900" dirty="0">
                <a:latin typeface="Times New Roman"/>
                <a:cs typeface="Times New Roman"/>
              </a:rPr>
              <a:t>you</a:t>
            </a:r>
            <a:r>
              <a:rPr sz="1900" spc="85" dirty="0">
                <a:latin typeface="Times New Roman"/>
                <a:cs typeface="Times New Roman"/>
              </a:rPr>
              <a:t> </a:t>
            </a:r>
            <a:r>
              <a:rPr sz="1900" dirty="0">
                <a:latin typeface="Times New Roman"/>
                <a:cs typeface="Times New Roman"/>
              </a:rPr>
              <a:t>access</a:t>
            </a:r>
            <a:r>
              <a:rPr sz="1900" spc="75" dirty="0">
                <a:latin typeface="Times New Roman"/>
                <a:cs typeface="Times New Roman"/>
              </a:rPr>
              <a:t> </a:t>
            </a:r>
            <a:r>
              <a:rPr sz="1900" dirty="0">
                <a:latin typeface="Times New Roman"/>
                <a:cs typeface="Times New Roman"/>
              </a:rPr>
              <a:t>items</a:t>
            </a:r>
            <a:r>
              <a:rPr sz="1900" spc="90" dirty="0">
                <a:latin typeface="Times New Roman"/>
                <a:cs typeface="Times New Roman"/>
              </a:rPr>
              <a:t> </a:t>
            </a:r>
            <a:r>
              <a:rPr sz="1900" dirty="0">
                <a:latin typeface="Times New Roman"/>
                <a:cs typeface="Times New Roman"/>
              </a:rPr>
              <a:t>with</a:t>
            </a:r>
            <a:r>
              <a:rPr sz="1900" spc="85" dirty="0">
                <a:latin typeface="Times New Roman"/>
                <a:cs typeface="Times New Roman"/>
              </a:rPr>
              <a:t> </a:t>
            </a:r>
            <a:r>
              <a:rPr sz="1900" dirty="0">
                <a:latin typeface="Times New Roman"/>
                <a:cs typeface="Times New Roman"/>
              </a:rPr>
              <a:t>indices</a:t>
            </a:r>
            <a:r>
              <a:rPr sz="1900" spc="75" dirty="0">
                <a:latin typeface="Times New Roman"/>
                <a:cs typeface="Times New Roman"/>
              </a:rPr>
              <a:t> </a:t>
            </a:r>
            <a:r>
              <a:rPr sz="1900" dirty="0">
                <a:latin typeface="Times New Roman"/>
                <a:cs typeface="Times New Roman"/>
              </a:rPr>
              <a:t>that</a:t>
            </a:r>
            <a:r>
              <a:rPr sz="1900" spc="80" dirty="0">
                <a:latin typeface="Times New Roman"/>
                <a:cs typeface="Times New Roman"/>
              </a:rPr>
              <a:t> </a:t>
            </a:r>
            <a:r>
              <a:rPr sz="1900" spc="-25" dirty="0">
                <a:latin typeface="Times New Roman"/>
                <a:cs typeface="Times New Roman"/>
              </a:rPr>
              <a:t>can </a:t>
            </a:r>
            <a:r>
              <a:rPr sz="1900" dirty="0">
                <a:latin typeface="Times New Roman"/>
                <a:cs typeface="Times New Roman"/>
              </a:rPr>
              <a:t>be</a:t>
            </a:r>
            <a:r>
              <a:rPr sz="1900" spc="229" dirty="0">
                <a:latin typeface="Times New Roman"/>
                <a:cs typeface="Times New Roman"/>
              </a:rPr>
              <a:t> </a:t>
            </a:r>
            <a:r>
              <a:rPr sz="1900" dirty="0">
                <a:latin typeface="Times New Roman"/>
                <a:cs typeface="Times New Roman"/>
              </a:rPr>
              <a:t>of</a:t>
            </a:r>
            <a:r>
              <a:rPr sz="1900" spc="235" dirty="0">
                <a:latin typeface="Times New Roman"/>
                <a:cs typeface="Times New Roman"/>
              </a:rPr>
              <a:t> </a:t>
            </a:r>
            <a:r>
              <a:rPr sz="1900" dirty="0">
                <a:latin typeface="Times New Roman"/>
                <a:cs typeface="Times New Roman"/>
              </a:rPr>
              <a:t>an</a:t>
            </a:r>
            <a:r>
              <a:rPr sz="1900" spc="235" dirty="0">
                <a:latin typeface="Times New Roman"/>
                <a:cs typeface="Times New Roman"/>
              </a:rPr>
              <a:t> </a:t>
            </a:r>
            <a:r>
              <a:rPr sz="1900" dirty="0">
                <a:latin typeface="Times New Roman"/>
                <a:cs typeface="Times New Roman"/>
              </a:rPr>
              <a:t>arbitrary</a:t>
            </a:r>
            <a:r>
              <a:rPr sz="1900" spc="245" dirty="0">
                <a:latin typeface="Times New Roman"/>
                <a:cs typeface="Times New Roman"/>
              </a:rPr>
              <a:t> </a:t>
            </a:r>
            <a:r>
              <a:rPr sz="1900" dirty="0">
                <a:latin typeface="Times New Roman"/>
                <a:cs typeface="Times New Roman"/>
              </a:rPr>
              <a:t>type.</a:t>
            </a:r>
            <a:r>
              <a:rPr sz="1900" spc="240" dirty="0">
                <a:latin typeface="Times New Roman"/>
                <a:cs typeface="Times New Roman"/>
              </a:rPr>
              <a:t> </a:t>
            </a:r>
            <a:r>
              <a:rPr sz="1900" dirty="0">
                <a:latin typeface="Times New Roman"/>
                <a:cs typeface="Times New Roman"/>
              </a:rPr>
              <a:t>That</a:t>
            </a:r>
            <a:r>
              <a:rPr sz="1900" spc="210" dirty="0">
                <a:latin typeface="Times New Roman"/>
                <a:cs typeface="Times New Roman"/>
              </a:rPr>
              <a:t> </a:t>
            </a:r>
            <a:r>
              <a:rPr sz="1900" dirty="0">
                <a:latin typeface="Times New Roman"/>
                <a:cs typeface="Times New Roman"/>
              </a:rPr>
              <a:t>is,</a:t>
            </a:r>
            <a:r>
              <a:rPr sz="1900" spc="235" dirty="0">
                <a:latin typeface="Times New Roman"/>
                <a:cs typeface="Times New Roman"/>
              </a:rPr>
              <a:t> </a:t>
            </a:r>
            <a:r>
              <a:rPr sz="1900" dirty="0">
                <a:latin typeface="Times New Roman"/>
                <a:cs typeface="Times New Roman"/>
              </a:rPr>
              <a:t>the</a:t>
            </a:r>
            <a:r>
              <a:rPr sz="1900" spc="225" dirty="0">
                <a:latin typeface="Times New Roman"/>
                <a:cs typeface="Times New Roman"/>
              </a:rPr>
              <a:t> </a:t>
            </a:r>
            <a:r>
              <a:rPr sz="1900" dirty="0">
                <a:latin typeface="Times New Roman"/>
                <a:cs typeface="Times New Roman"/>
              </a:rPr>
              <a:t>key</a:t>
            </a:r>
            <a:r>
              <a:rPr sz="1900" spc="245" dirty="0">
                <a:latin typeface="Times New Roman"/>
                <a:cs typeface="Times New Roman"/>
              </a:rPr>
              <a:t> </a:t>
            </a:r>
            <a:r>
              <a:rPr sz="1900" dirty="0">
                <a:latin typeface="Times New Roman"/>
                <a:cs typeface="Times New Roman"/>
              </a:rPr>
              <a:t>object</a:t>
            </a:r>
            <a:r>
              <a:rPr sz="1900" spc="235" dirty="0">
                <a:latin typeface="Times New Roman"/>
                <a:cs typeface="Times New Roman"/>
              </a:rPr>
              <a:t> </a:t>
            </a:r>
            <a:r>
              <a:rPr sz="1900" dirty="0">
                <a:latin typeface="Times New Roman"/>
                <a:cs typeface="Times New Roman"/>
              </a:rPr>
              <a:t>serves</a:t>
            </a:r>
            <a:r>
              <a:rPr sz="1900" spc="229" dirty="0">
                <a:latin typeface="Times New Roman"/>
                <a:cs typeface="Times New Roman"/>
              </a:rPr>
              <a:t> </a:t>
            </a:r>
            <a:r>
              <a:rPr sz="1900" dirty="0">
                <a:latin typeface="Times New Roman"/>
                <a:cs typeface="Times New Roman"/>
              </a:rPr>
              <a:t>as</a:t>
            </a:r>
            <a:r>
              <a:rPr sz="1900" spc="225" dirty="0">
                <a:latin typeface="Times New Roman"/>
                <a:cs typeface="Times New Roman"/>
              </a:rPr>
              <a:t> </a:t>
            </a:r>
            <a:r>
              <a:rPr sz="1900" spc="-25" dirty="0">
                <a:latin typeface="Times New Roman"/>
                <a:cs typeface="Times New Roman"/>
              </a:rPr>
              <a:t>the </a:t>
            </a:r>
            <a:r>
              <a:rPr sz="1900" dirty="0">
                <a:latin typeface="Times New Roman"/>
                <a:cs typeface="Times New Roman"/>
              </a:rPr>
              <a:t>index,</a:t>
            </a:r>
            <a:r>
              <a:rPr sz="1900" spc="-15" dirty="0">
                <a:latin typeface="Times New Roman"/>
                <a:cs typeface="Times New Roman"/>
              </a:rPr>
              <a:t> </a:t>
            </a:r>
            <a:r>
              <a:rPr sz="1900" dirty="0">
                <a:latin typeface="Times New Roman"/>
                <a:cs typeface="Times New Roman"/>
              </a:rPr>
              <a:t>and</a:t>
            </a:r>
            <a:r>
              <a:rPr sz="1900" spc="-5" dirty="0">
                <a:latin typeface="Times New Roman"/>
                <a:cs typeface="Times New Roman"/>
              </a:rPr>
              <a:t> </a:t>
            </a:r>
            <a:r>
              <a:rPr sz="1900" dirty="0">
                <a:latin typeface="Times New Roman"/>
                <a:cs typeface="Times New Roman"/>
              </a:rPr>
              <a:t>the</a:t>
            </a:r>
            <a:r>
              <a:rPr sz="1900" spc="-15" dirty="0">
                <a:latin typeface="Times New Roman"/>
                <a:cs typeface="Times New Roman"/>
              </a:rPr>
              <a:t> </a:t>
            </a:r>
            <a:r>
              <a:rPr sz="1900" dirty="0">
                <a:latin typeface="Times New Roman"/>
                <a:cs typeface="Times New Roman"/>
              </a:rPr>
              <a:t>value</a:t>
            </a:r>
            <a:r>
              <a:rPr sz="1900" spc="-20" dirty="0">
                <a:latin typeface="Times New Roman"/>
                <a:cs typeface="Times New Roman"/>
              </a:rPr>
              <a:t> </a:t>
            </a:r>
            <a:r>
              <a:rPr sz="1900" dirty="0">
                <a:latin typeface="Times New Roman"/>
                <a:cs typeface="Times New Roman"/>
              </a:rPr>
              <a:t>object</a:t>
            </a:r>
            <a:r>
              <a:rPr sz="1900" spc="-25" dirty="0">
                <a:latin typeface="Times New Roman"/>
                <a:cs typeface="Times New Roman"/>
              </a:rPr>
              <a:t> </a:t>
            </a:r>
            <a:r>
              <a:rPr sz="1900" dirty="0">
                <a:latin typeface="Times New Roman"/>
                <a:cs typeface="Times New Roman"/>
              </a:rPr>
              <a:t>is</a:t>
            </a:r>
            <a:r>
              <a:rPr sz="1900" spc="-10" dirty="0">
                <a:latin typeface="Times New Roman"/>
                <a:cs typeface="Times New Roman"/>
              </a:rPr>
              <a:t> </a:t>
            </a:r>
            <a:r>
              <a:rPr sz="1900" dirty="0">
                <a:latin typeface="Times New Roman"/>
                <a:cs typeface="Times New Roman"/>
              </a:rPr>
              <a:t>the</a:t>
            </a:r>
            <a:r>
              <a:rPr sz="1900" spc="-10" dirty="0">
                <a:latin typeface="Times New Roman"/>
                <a:cs typeface="Times New Roman"/>
              </a:rPr>
              <a:t> </a:t>
            </a:r>
            <a:r>
              <a:rPr sz="1900" dirty="0">
                <a:latin typeface="Times New Roman"/>
                <a:cs typeface="Times New Roman"/>
              </a:rPr>
              <a:t>value</a:t>
            </a:r>
            <a:r>
              <a:rPr sz="1900" spc="-15" dirty="0">
                <a:latin typeface="Times New Roman"/>
                <a:cs typeface="Times New Roman"/>
              </a:rPr>
              <a:t> </a:t>
            </a:r>
            <a:r>
              <a:rPr sz="1900" dirty="0">
                <a:latin typeface="Times New Roman"/>
                <a:cs typeface="Times New Roman"/>
              </a:rPr>
              <a:t>at</a:t>
            </a:r>
            <a:r>
              <a:rPr sz="1900" spc="-15" dirty="0">
                <a:latin typeface="Times New Roman"/>
                <a:cs typeface="Times New Roman"/>
              </a:rPr>
              <a:t> </a:t>
            </a:r>
            <a:r>
              <a:rPr sz="1900" dirty="0">
                <a:latin typeface="Times New Roman"/>
                <a:cs typeface="Times New Roman"/>
              </a:rPr>
              <a:t>that</a:t>
            </a:r>
            <a:r>
              <a:rPr sz="1900" spc="-15" dirty="0">
                <a:latin typeface="Times New Roman"/>
                <a:cs typeface="Times New Roman"/>
              </a:rPr>
              <a:t> </a:t>
            </a:r>
            <a:r>
              <a:rPr sz="1900" spc="-10" dirty="0">
                <a:latin typeface="Times New Roman"/>
                <a:cs typeface="Times New Roman"/>
              </a:rPr>
              <a:t>index.</a:t>
            </a:r>
            <a:endParaRPr sz="1900">
              <a:latin typeface="Times New Roman"/>
              <a:cs typeface="Times New Roman"/>
            </a:endParaRPr>
          </a:p>
        </p:txBody>
      </p:sp>
      <p:pic>
        <p:nvPicPr>
          <p:cNvPr id="4" name="object 4"/>
          <p:cNvPicPr/>
          <p:nvPr/>
        </p:nvPicPr>
        <p:blipFill>
          <a:blip r:embed="rId2" cstate="print"/>
          <a:stretch>
            <a:fillRect/>
          </a:stretch>
        </p:blipFill>
        <p:spPr>
          <a:xfrm>
            <a:off x="7036307" y="2451569"/>
            <a:ext cx="4878324" cy="2512972"/>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91EF1070-5269-E4DB-EFA1-4761EEAD8272}"/>
              </a:ext>
            </a:extLst>
          </p:cNvPr>
          <p:cNvSpPr>
            <a:spLocks noGrp="1"/>
          </p:cNvSpPr>
          <p:nvPr>
            <p:ph type="dt" sz="half" idx="10"/>
          </p:nvPr>
        </p:nvSpPr>
        <p:spPr/>
        <p:txBody>
          <a:bodyPr/>
          <a:lstStyle/>
          <a:p>
            <a:fld id="{82B970E7-4F23-452E-859B-15676C2BFA41}" type="datetime1">
              <a:rPr lang="en-US" smtClean="0"/>
              <a:t>11/17/2025</a:t>
            </a:fld>
            <a:endParaRPr lang="en-US"/>
          </a:p>
        </p:txBody>
      </p:sp>
      <p:sp>
        <p:nvSpPr>
          <p:cNvPr id="10" name="Slide Number Placeholder 9">
            <a:extLst>
              <a:ext uri="{FF2B5EF4-FFF2-40B4-BE49-F238E27FC236}">
                <a16:creationId xmlns:a16="http://schemas.microsoft.com/office/drawing/2014/main" id="{9B5CCD37-02A3-A6BB-AA5D-31C2A9C9CDFC}"/>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48</a:t>
            </a:fld>
            <a:endParaRPr spc="-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20" dirty="0"/>
              <a:t>Sets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714576"/>
            <a:ext cx="7486779" cy="3381054"/>
          </a:xfrm>
          <a:prstGeom prst="rect">
            <a:avLst/>
          </a:prstGeom>
        </p:spPr>
        <p:txBody>
          <a:bodyPr vert="horz" wrap="square" lIns="0" tIns="13335" rIns="0" bIns="0" rtlCol="0">
            <a:spAutoFit/>
          </a:bodyPr>
          <a:lstStyle/>
          <a:p>
            <a:pPr marL="354965" indent="-342265" algn="just">
              <a:lnSpc>
                <a:spcPct val="100000"/>
              </a:lnSpc>
              <a:spcBef>
                <a:spcPts val="105"/>
              </a:spcBef>
              <a:buChar char="•"/>
              <a:tabLst>
                <a:tab pos="354965" algn="l"/>
              </a:tabLst>
            </a:pPr>
            <a:r>
              <a:rPr dirty="0">
                <a:latin typeface="Times New Roman"/>
                <a:cs typeface="Times New Roman"/>
              </a:rPr>
              <a:t>Sets</a:t>
            </a:r>
            <a:r>
              <a:rPr spc="480" dirty="0">
                <a:latin typeface="Times New Roman"/>
                <a:cs typeface="Times New Roman"/>
              </a:rPr>
              <a:t> </a:t>
            </a:r>
            <a:r>
              <a:rPr dirty="0">
                <a:latin typeface="Times New Roman"/>
                <a:cs typeface="Times New Roman"/>
              </a:rPr>
              <a:t>are</a:t>
            </a:r>
            <a:r>
              <a:rPr spc="490" dirty="0">
                <a:latin typeface="Times New Roman"/>
                <a:cs typeface="Times New Roman"/>
              </a:rPr>
              <a:t> </a:t>
            </a:r>
            <a:r>
              <a:rPr dirty="0">
                <a:latin typeface="Times New Roman"/>
                <a:cs typeface="Times New Roman"/>
              </a:rPr>
              <a:t>often</a:t>
            </a:r>
            <a:r>
              <a:rPr spc="490" dirty="0">
                <a:latin typeface="Times New Roman"/>
                <a:cs typeface="Times New Roman"/>
              </a:rPr>
              <a:t> </a:t>
            </a:r>
            <a:r>
              <a:rPr dirty="0">
                <a:latin typeface="Times New Roman"/>
                <a:cs typeface="Times New Roman"/>
              </a:rPr>
              <a:t>used</a:t>
            </a:r>
            <a:r>
              <a:rPr spc="495" dirty="0">
                <a:latin typeface="Times New Roman"/>
                <a:cs typeface="Times New Roman"/>
              </a:rPr>
              <a:t> </a:t>
            </a:r>
            <a:r>
              <a:rPr dirty="0">
                <a:latin typeface="Times New Roman"/>
                <a:cs typeface="Times New Roman"/>
              </a:rPr>
              <a:t>to  hold</a:t>
            </a:r>
            <a:r>
              <a:rPr spc="490" dirty="0">
                <a:latin typeface="Times New Roman"/>
                <a:cs typeface="Times New Roman"/>
              </a:rPr>
              <a:t> </a:t>
            </a:r>
            <a:r>
              <a:rPr dirty="0">
                <a:latin typeface="Times New Roman"/>
                <a:cs typeface="Times New Roman"/>
              </a:rPr>
              <a:t>objects</a:t>
            </a:r>
            <a:r>
              <a:rPr spc="480" dirty="0">
                <a:latin typeface="Times New Roman"/>
                <a:cs typeface="Times New Roman"/>
              </a:rPr>
              <a:t> </a:t>
            </a:r>
            <a:r>
              <a:rPr dirty="0">
                <a:latin typeface="Times New Roman"/>
                <a:cs typeface="Times New Roman"/>
              </a:rPr>
              <a:t>of</a:t>
            </a:r>
            <a:r>
              <a:rPr spc="500" dirty="0">
                <a:latin typeface="Times New Roman"/>
                <a:cs typeface="Times New Roman"/>
              </a:rPr>
              <a:t> </a:t>
            </a:r>
            <a:r>
              <a:rPr spc="-25" dirty="0">
                <a:latin typeface="Times New Roman"/>
                <a:cs typeface="Times New Roman"/>
              </a:rPr>
              <a:t>user-</a:t>
            </a:r>
            <a:r>
              <a:rPr spc="-10" dirty="0">
                <a:latin typeface="Times New Roman"/>
                <a:cs typeface="Times New Roman"/>
              </a:rPr>
              <a:t>defined</a:t>
            </a:r>
            <a:r>
              <a:rPr lang="en-US" dirty="0">
                <a:latin typeface="Times New Roman"/>
                <a:cs typeface="Times New Roman"/>
              </a:rPr>
              <a:t>  </a:t>
            </a:r>
            <a:r>
              <a:rPr dirty="0">
                <a:latin typeface="Times New Roman"/>
                <a:cs typeface="Times New Roman"/>
              </a:rPr>
              <a:t>classes</a:t>
            </a:r>
            <a:r>
              <a:rPr spc="-35" dirty="0">
                <a:latin typeface="Times New Roman"/>
                <a:cs typeface="Times New Roman"/>
              </a:rPr>
              <a:t> </a:t>
            </a:r>
            <a:r>
              <a:rPr dirty="0">
                <a:latin typeface="Times New Roman"/>
                <a:cs typeface="Times New Roman"/>
              </a:rPr>
              <a:t>such</a:t>
            </a:r>
            <a:r>
              <a:rPr spc="-25" dirty="0">
                <a:latin typeface="Times New Roman"/>
                <a:cs typeface="Times New Roman"/>
              </a:rPr>
              <a:t> </a:t>
            </a:r>
            <a:r>
              <a:rPr dirty="0">
                <a:latin typeface="Times New Roman"/>
                <a:cs typeface="Times New Roman"/>
              </a:rPr>
              <a:t>as</a:t>
            </a:r>
            <a:r>
              <a:rPr spc="-20" dirty="0">
                <a:latin typeface="Times New Roman"/>
                <a:cs typeface="Times New Roman"/>
              </a:rPr>
              <a:t> </a:t>
            </a:r>
            <a:r>
              <a:rPr dirty="0">
                <a:latin typeface="Times New Roman"/>
                <a:cs typeface="Times New Roman"/>
              </a:rPr>
              <a:t>employees</a:t>
            </a:r>
            <a:r>
              <a:rPr spc="-15" dirty="0">
                <a:latin typeface="Times New Roman"/>
                <a:cs typeface="Times New Roman"/>
              </a:rPr>
              <a:t> </a:t>
            </a:r>
            <a:r>
              <a:rPr dirty="0">
                <a:latin typeface="Times New Roman"/>
                <a:cs typeface="Times New Roman"/>
              </a:rPr>
              <a:t>in</a:t>
            </a:r>
            <a:r>
              <a:rPr spc="-15" dirty="0">
                <a:latin typeface="Times New Roman"/>
                <a:cs typeface="Times New Roman"/>
              </a:rPr>
              <a:t> </a:t>
            </a:r>
            <a:r>
              <a:rPr dirty="0">
                <a:latin typeface="Times New Roman"/>
                <a:cs typeface="Times New Roman"/>
              </a:rPr>
              <a:t>a</a:t>
            </a:r>
            <a:r>
              <a:rPr spc="-10" dirty="0">
                <a:latin typeface="Times New Roman"/>
                <a:cs typeface="Times New Roman"/>
              </a:rPr>
              <a:t> database.</a:t>
            </a:r>
            <a:endParaRPr dirty="0">
              <a:latin typeface="Times New Roman"/>
              <a:cs typeface="Times New Roman"/>
            </a:endParaRPr>
          </a:p>
          <a:p>
            <a:pPr marL="355600" marR="6985" indent="-343535" algn="just">
              <a:lnSpc>
                <a:spcPct val="100000"/>
              </a:lnSpc>
              <a:spcBef>
                <a:spcPts val="480"/>
              </a:spcBef>
              <a:buChar char="•"/>
              <a:tabLst>
                <a:tab pos="355600" algn="l"/>
              </a:tabLst>
            </a:pPr>
            <a:r>
              <a:rPr dirty="0">
                <a:latin typeface="Times New Roman"/>
                <a:cs typeface="Times New Roman"/>
              </a:rPr>
              <a:t>However,</a:t>
            </a:r>
            <a:r>
              <a:rPr spc="125" dirty="0">
                <a:latin typeface="Times New Roman"/>
                <a:cs typeface="Times New Roman"/>
              </a:rPr>
              <a:t> </a:t>
            </a:r>
            <a:r>
              <a:rPr dirty="0">
                <a:latin typeface="Times New Roman"/>
                <a:cs typeface="Times New Roman"/>
              </a:rPr>
              <a:t>sets</a:t>
            </a:r>
            <a:r>
              <a:rPr spc="110" dirty="0">
                <a:latin typeface="Times New Roman"/>
                <a:cs typeface="Times New Roman"/>
              </a:rPr>
              <a:t> </a:t>
            </a:r>
            <a:r>
              <a:rPr dirty="0">
                <a:latin typeface="Times New Roman"/>
                <a:cs typeface="Times New Roman"/>
              </a:rPr>
              <a:t>can</a:t>
            </a:r>
            <a:r>
              <a:rPr spc="135" dirty="0">
                <a:latin typeface="Times New Roman"/>
                <a:cs typeface="Times New Roman"/>
              </a:rPr>
              <a:t> </a:t>
            </a:r>
            <a:r>
              <a:rPr dirty="0">
                <a:latin typeface="Times New Roman"/>
                <a:cs typeface="Times New Roman"/>
              </a:rPr>
              <a:t>also</a:t>
            </a:r>
            <a:r>
              <a:rPr spc="120" dirty="0">
                <a:latin typeface="Times New Roman"/>
                <a:cs typeface="Times New Roman"/>
              </a:rPr>
              <a:t> </a:t>
            </a:r>
            <a:r>
              <a:rPr dirty="0">
                <a:latin typeface="Times New Roman"/>
                <a:cs typeface="Times New Roman"/>
              </a:rPr>
              <a:t>hold</a:t>
            </a:r>
            <a:r>
              <a:rPr spc="105" dirty="0">
                <a:latin typeface="Times New Roman"/>
                <a:cs typeface="Times New Roman"/>
              </a:rPr>
              <a:t> </a:t>
            </a:r>
            <a:r>
              <a:rPr dirty="0">
                <a:latin typeface="Times New Roman"/>
                <a:cs typeface="Times New Roman"/>
              </a:rPr>
              <a:t>simpler</a:t>
            </a:r>
            <a:r>
              <a:rPr spc="130" dirty="0">
                <a:latin typeface="Times New Roman"/>
                <a:cs typeface="Times New Roman"/>
              </a:rPr>
              <a:t> </a:t>
            </a:r>
            <a:r>
              <a:rPr dirty="0">
                <a:latin typeface="Times New Roman"/>
                <a:cs typeface="Times New Roman"/>
              </a:rPr>
              <a:t>elements</a:t>
            </a:r>
            <a:r>
              <a:rPr spc="114" dirty="0">
                <a:latin typeface="Times New Roman"/>
                <a:cs typeface="Times New Roman"/>
              </a:rPr>
              <a:t> </a:t>
            </a:r>
            <a:r>
              <a:rPr dirty="0">
                <a:latin typeface="Times New Roman"/>
                <a:cs typeface="Times New Roman"/>
              </a:rPr>
              <a:t>such</a:t>
            </a:r>
            <a:r>
              <a:rPr spc="130" dirty="0">
                <a:latin typeface="Times New Roman"/>
                <a:cs typeface="Times New Roman"/>
              </a:rPr>
              <a:t> </a:t>
            </a:r>
            <a:r>
              <a:rPr spc="-25" dirty="0">
                <a:latin typeface="Times New Roman"/>
                <a:cs typeface="Times New Roman"/>
              </a:rPr>
              <a:t>as </a:t>
            </a:r>
            <a:r>
              <a:rPr spc="-10" dirty="0">
                <a:latin typeface="Times New Roman"/>
                <a:cs typeface="Times New Roman"/>
              </a:rPr>
              <a:t>strings.</a:t>
            </a:r>
            <a:endParaRPr dirty="0">
              <a:latin typeface="Times New Roman"/>
              <a:cs typeface="Times New Roman"/>
            </a:endParaRPr>
          </a:p>
          <a:p>
            <a:pPr marL="354965" indent="-342265" algn="just">
              <a:spcBef>
                <a:spcPts val="480"/>
              </a:spcBef>
              <a:buFontTx/>
              <a:buChar char="•"/>
              <a:tabLst>
                <a:tab pos="354965" algn="l"/>
              </a:tabLst>
            </a:pPr>
            <a:r>
              <a:rPr dirty="0">
                <a:latin typeface="Times New Roman"/>
                <a:cs typeface="Times New Roman"/>
              </a:rPr>
              <a:t>The</a:t>
            </a:r>
            <a:r>
              <a:rPr spc="-5" dirty="0">
                <a:latin typeface="Times New Roman"/>
                <a:cs typeface="Times New Roman"/>
              </a:rPr>
              <a:t> </a:t>
            </a:r>
            <a:r>
              <a:rPr dirty="0">
                <a:latin typeface="Times New Roman"/>
                <a:cs typeface="Times New Roman"/>
              </a:rPr>
              <a:t>objects</a:t>
            </a:r>
            <a:r>
              <a:rPr spc="10" dirty="0">
                <a:latin typeface="Times New Roman"/>
                <a:cs typeface="Times New Roman"/>
              </a:rPr>
              <a:t> </a:t>
            </a:r>
            <a:r>
              <a:rPr dirty="0">
                <a:latin typeface="Times New Roman"/>
                <a:cs typeface="Times New Roman"/>
              </a:rPr>
              <a:t>are arranged</a:t>
            </a:r>
            <a:r>
              <a:rPr spc="20" dirty="0">
                <a:latin typeface="Times New Roman"/>
                <a:cs typeface="Times New Roman"/>
              </a:rPr>
              <a:t> </a:t>
            </a:r>
            <a:r>
              <a:rPr dirty="0">
                <a:latin typeface="Times New Roman"/>
                <a:cs typeface="Times New Roman"/>
              </a:rPr>
              <a:t>in</a:t>
            </a:r>
            <a:r>
              <a:rPr spc="5" dirty="0">
                <a:latin typeface="Times New Roman"/>
                <a:cs typeface="Times New Roman"/>
              </a:rPr>
              <a:t> </a:t>
            </a:r>
            <a:r>
              <a:rPr dirty="0">
                <a:latin typeface="Times New Roman"/>
                <a:cs typeface="Times New Roman"/>
              </a:rPr>
              <a:t>order,</a:t>
            </a:r>
            <a:r>
              <a:rPr spc="15" dirty="0">
                <a:latin typeface="Times New Roman"/>
                <a:cs typeface="Times New Roman"/>
              </a:rPr>
              <a:t> </a:t>
            </a:r>
            <a:r>
              <a:rPr dirty="0">
                <a:latin typeface="Times New Roman"/>
                <a:cs typeface="Times New Roman"/>
              </a:rPr>
              <a:t>and</a:t>
            </a:r>
            <a:r>
              <a:rPr spc="10" dirty="0">
                <a:latin typeface="Times New Roman"/>
                <a:cs typeface="Times New Roman"/>
              </a:rPr>
              <a:t> </a:t>
            </a:r>
            <a:r>
              <a:rPr dirty="0">
                <a:latin typeface="Times New Roman"/>
                <a:cs typeface="Times New Roman"/>
              </a:rPr>
              <a:t>the</a:t>
            </a:r>
            <a:r>
              <a:rPr spc="-5" dirty="0">
                <a:latin typeface="Times New Roman"/>
                <a:cs typeface="Times New Roman"/>
              </a:rPr>
              <a:t> </a:t>
            </a:r>
            <a:r>
              <a:rPr dirty="0">
                <a:latin typeface="Times New Roman"/>
                <a:cs typeface="Times New Roman"/>
              </a:rPr>
              <a:t>entire</a:t>
            </a:r>
            <a:r>
              <a:rPr spc="5" dirty="0">
                <a:latin typeface="Times New Roman"/>
                <a:cs typeface="Times New Roman"/>
              </a:rPr>
              <a:t> </a:t>
            </a:r>
            <a:r>
              <a:rPr spc="-10" dirty="0">
                <a:latin typeface="Times New Roman"/>
                <a:cs typeface="Times New Roman"/>
              </a:rPr>
              <a:t>object</a:t>
            </a:r>
            <a:r>
              <a:rPr lang="en-US" dirty="0">
                <a:latin typeface="Times New Roman"/>
                <a:cs typeface="Times New Roman"/>
              </a:rPr>
              <a:t> </a:t>
            </a:r>
            <a:r>
              <a:rPr dirty="0">
                <a:latin typeface="Times New Roman"/>
                <a:cs typeface="Times New Roman"/>
              </a:rPr>
              <a:t>is</a:t>
            </a:r>
            <a:r>
              <a:rPr spc="-30" dirty="0">
                <a:latin typeface="Times New Roman"/>
                <a:cs typeface="Times New Roman"/>
              </a:rPr>
              <a:t> </a:t>
            </a:r>
            <a:r>
              <a:rPr dirty="0">
                <a:latin typeface="Times New Roman"/>
                <a:cs typeface="Times New Roman"/>
              </a:rPr>
              <a:t>the</a:t>
            </a:r>
            <a:r>
              <a:rPr spc="-20" dirty="0">
                <a:latin typeface="Times New Roman"/>
                <a:cs typeface="Times New Roman"/>
              </a:rPr>
              <a:t> </a:t>
            </a:r>
            <a:r>
              <a:rPr dirty="0">
                <a:latin typeface="Times New Roman"/>
                <a:cs typeface="Times New Roman"/>
              </a:rPr>
              <a:t>key</a:t>
            </a:r>
            <a:r>
              <a:rPr spc="-20" dirty="0">
                <a:latin typeface="Times New Roman"/>
                <a:cs typeface="Times New Roman"/>
              </a:rPr>
              <a:t> </a:t>
            </a:r>
            <a:r>
              <a:rPr dirty="0">
                <a:latin typeface="Times New Roman"/>
                <a:cs typeface="Times New Roman"/>
              </a:rPr>
              <a:t>as</a:t>
            </a:r>
            <a:r>
              <a:rPr spc="-15" dirty="0">
                <a:latin typeface="Times New Roman"/>
                <a:cs typeface="Times New Roman"/>
              </a:rPr>
              <a:t> </a:t>
            </a:r>
            <a:r>
              <a:rPr dirty="0">
                <a:latin typeface="Times New Roman"/>
                <a:cs typeface="Times New Roman"/>
              </a:rPr>
              <a:t>the</a:t>
            </a:r>
            <a:r>
              <a:rPr spc="-20" dirty="0">
                <a:latin typeface="Times New Roman"/>
                <a:cs typeface="Times New Roman"/>
              </a:rPr>
              <a:t> </a:t>
            </a:r>
            <a:r>
              <a:rPr dirty="0">
                <a:latin typeface="Times New Roman"/>
                <a:cs typeface="Times New Roman"/>
              </a:rPr>
              <a:t>members are</a:t>
            </a:r>
            <a:r>
              <a:rPr spc="-15" dirty="0">
                <a:latin typeface="Times New Roman"/>
                <a:cs typeface="Times New Roman"/>
              </a:rPr>
              <a:t> </a:t>
            </a:r>
            <a:r>
              <a:rPr spc="-10" dirty="0">
                <a:latin typeface="Times New Roman"/>
                <a:cs typeface="Times New Roman"/>
              </a:rPr>
              <a:t>string.</a:t>
            </a:r>
            <a:r>
              <a:rPr lang="en-US" dirty="0">
                <a:latin typeface="Times New Roman"/>
                <a:cs typeface="Times New Roman"/>
              </a:rPr>
              <a:t> </a:t>
            </a:r>
            <a:r>
              <a:rPr lang="en-US" dirty="0">
                <a:solidFill>
                  <a:schemeClr val="accent5"/>
                </a:solidFill>
                <a:latin typeface="Times New Roman"/>
                <a:cs typeface="Times New Roman"/>
              </a:rPr>
              <a:t>Sorted automatically in ascending order</a:t>
            </a:r>
            <a:r>
              <a:rPr lang="en-US" dirty="0">
                <a:latin typeface="Times New Roman"/>
                <a:cs typeface="Times New Roman"/>
              </a:rPr>
              <a:t>.</a:t>
            </a:r>
            <a:endParaRPr dirty="0">
              <a:latin typeface="Times New Roman"/>
              <a:cs typeface="Times New Roman"/>
            </a:endParaRPr>
          </a:p>
          <a:p>
            <a:pPr marL="355600" marR="6350" indent="-343535" algn="just">
              <a:lnSpc>
                <a:spcPct val="100000"/>
              </a:lnSpc>
              <a:spcBef>
                <a:spcPts val="480"/>
              </a:spcBef>
              <a:buChar char="•"/>
              <a:tabLst>
                <a:tab pos="355600" algn="l"/>
              </a:tabLst>
            </a:pPr>
            <a:r>
              <a:rPr dirty="0">
                <a:latin typeface="Times New Roman"/>
                <a:cs typeface="Times New Roman"/>
              </a:rPr>
              <a:t>Each</a:t>
            </a:r>
            <a:r>
              <a:rPr spc="250" dirty="0">
                <a:latin typeface="Times New Roman"/>
                <a:cs typeface="Times New Roman"/>
              </a:rPr>
              <a:t> </a:t>
            </a:r>
            <a:r>
              <a:rPr dirty="0">
                <a:latin typeface="Times New Roman"/>
                <a:cs typeface="Times New Roman"/>
              </a:rPr>
              <a:t>element</a:t>
            </a:r>
            <a:r>
              <a:rPr spc="240" dirty="0">
                <a:latin typeface="Times New Roman"/>
                <a:cs typeface="Times New Roman"/>
              </a:rPr>
              <a:t> </a:t>
            </a:r>
            <a:r>
              <a:rPr dirty="0">
                <a:latin typeface="Times New Roman"/>
                <a:cs typeface="Times New Roman"/>
              </a:rPr>
              <a:t>has</a:t>
            </a:r>
            <a:r>
              <a:rPr spc="240" dirty="0">
                <a:latin typeface="Times New Roman"/>
                <a:cs typeface="Times New Roman"/>
              </a:rPr>
              <a:t> </a:t>
            </a:r>
            <a:r>
              <a:rPr dirty="0">
                <a:latin typeface="Times New Roman"/>
                <a:cs typeface="Times New Roman"/>
              </a:rPr>
              <a:t>to</a:t>
            </a:r>
            <a:r>
              <a:rPr spc="245" dirty="0">
                <a:latin typeface="Times New Roman"/>
                <a:cs typeface="Times New Roman"/>
              </a:rPr>
              <a:t> </a:t>
            </a:r>
            <a:r>
              <a:rPr dirty="0">
                <a:latin typeface="Times New Roman"/>
                <a:cs typeface="Times New Roman"/>
              </a:rPr>
              <a:t>be</a:t>
            </a:r>
            <a:r>
              <a:rPr spc="235" dirty="0">
                <a:latin typeface="Times New Roman"/>
                <a:cs typeface="Times New Roman"/>
              </a:rPr>
              <a:t> </a:t>
            </a:r>
            <a:r>
              <a:rPr dirty="0">
                <a:latin typeface="Times New Roman"/>
                <a:cs typeface="Times New Roman"/>
              </a:rPr>
              <a:t>unique,</a:t>
            </a:r>
            <a:r>
              <a:rPr spc="240" dirty="0">
                <a:latin typeface="Times New Roman"/>
                <a:cs typeface="Times New Roman"/>
              </a:rPr>
              <a:t> </a:t>
            </a:r>
            <a:r>
              <a:rPr dirty="0">
                <a:latin typeface="Times New Roman"/>
                <a:cs typeface="Times New Roman"/>
              </a:rPr>
              <a:t>because</a:t>
            </a:r>
            <a:r>
              <a:rPr spc="245" dirty="0">
                <a:latin typeface="Times New Roman"/>
                <a:cs typeface="Times New Roman"/>
              </a:rPr>
              <a:t> </a:t>
            </a:r>
            <a:r>
              <a:rPr dirty="0">
                <a:latin typeface="Times New Roman"/>
                <a:cs typeface="Times New Roman"/>
              </a:rPr>
              <a:t>the</a:t>
            </a:r>
            <a:r>
              <a:rPr spc="245" dirty="0">
                <a:latin typeface="Times New Roman"/>
                <a:cs typeface="Times New Roman"/>
              </a:rPr>
              <a:t> </a:t>
            </a:r>
            <a:r>
              <a:rPr dirty="0">
                <a:latin typeface="Times New Roman"/>
                <a:cs typeface="Times New Roman"/>
              </a:rPr>
              <a:t>value</a:t>
            </a:r>
            <a:r>
              <a:rPr spc="225" dirty="0">
                <a:latin typeface="Times New Roman"/>
                <a:cs typeface="Times New Roman"/>
              </a:rPr>
              <a:t> </a:t>
            </a:r>
            <a:r>
              <a:rPr spc="-25" dirty="0">
                <a:latin typeface="Times New Roman"/>
                <a:cs typeface="Times New Roman"/>
              </a:rPr>
              <a:t>of </a:t>
            </a:r>
            <a:r>
              <a:rPr dirty="0">
                <a:latin typeface="Times New Roman"/>
                <a:cs typeface="Times New Roman"/>
              </a:rPr>
              <a:t>the</a:t>
            </a:r>
            <a:r>
              <a:rPr spc="-30" dirty="0">
                <a:latin typeface="Times New Roman"/>
                <a:cs typeface="Times New Roman"/>
              </a:rPr>
              <a:t> </a:t>
            </a:r>
            <a:r>
              <a:rPr dirty="0">
                <a:latin typeface="Times New Roman"/>
                <a:cs typeface="Times New Roman"/>
              </a:rPr>
              <a:t>element</a:t>
            </a:r>
            <a:r>
              <a:rPr spc="-25" dirty="0">
                <a:latin typeface="Times New Roman"/>
                <a:cs typeface="Times New Roman"/>
              </a:rPr>
              <a:t> </a:t>
            </a:r>
            <a:r>
              <a:rPr dirty="0">
                <a:latin typeface="Times New Roman"/>
                <a:cs typeface="Times New Roman"/>
              </a:rPr>
              <a:t>identifies</a:t>
            </a:r>
            <a:r>
              <a:rPr spc="-40" dirty="0">
                <a:latin typeface="Times New Roman"/>
                <a:cs typeface="Times New Roman"/>
              </a:rPr>
              <a:t> </a:t>
            </a:r>
            <a:r>
              <a:rPr spc="-25" dirty="0">
                <a:latin typeface="Times New Roman"/>
                <a:cs typeface="Times New Roman"/>
              </a:rPr>
              <a:t>it.</a:t>
            </a:r>
            <a:r>
              <a:rPr lang="en-US" dirty="0">
                <a:latin typeface="Times New Roman"/>
                <a:cs typeface="Times New Roman"/>
              </a:rPr>
              <a:t> This meaning is  equal or duplicate values are ignored</a:t>
            </a:r>
            <a:endParaRPr dirty="0">
              <a:latin typeface="Times New Roman"/>
              <a:cs typeface="Times New Roman"/>
            </a:endParaRPr>
          </a:p>
          <a:p>
            <a:pPr marL="354330" marR="5715" indent="-342265" algn="just">
              <a:lnSpc>
                <a:spcPct val="100000"/>
              </a:lnSpc>
              <a:spcBef>
                <a:spcPts val="480"/>
              </a:spcBef>
              <a:buChar char="•"/>
              <a:tabLst>
                <a:tab pos="355600" algn="l"/>
              </a:tabLst>
            </a:pPr>
            <a:r>
              <a:rPr dirty="0">
                <a:latin typeface="Times New Roman"/>
                <a:cs typeface="Times New Roman"/>
              </a:rPr>
              <a:t>The</a:t>
            </a:r>
            <a:r>
              <a:rPr spc="25" dirty="0">
                <a:latin typeface="Times New Roman"/>
                <a:cs typeface="Times New Roman"/>
              </a:rPr>
              <a:t> </a:t>
            </a:r>
            <a:r>
              <a:rPr dirty="0">
                <a:latin typeface="Times New Roman"/>
                <a:cs typeface="Times New Roman"/>
              </a:rPr>
              <a:t>value</a:t>
            </a:r>
            <a:r>
              <a:rPr spc="25" dirty="0">
                <a:latin typeface="Times New Roman"/>
                <a:cs typeface="Times New Roman"/>
              </a:rPr>
              <a:t> </a:t>
            </a:r>
            <a:r>
              <a:rPr dirty="0">
                <a:latin typeface="Times New Roman"/>
                <a:cs typeface="Times New Roman"/>
              </a:rPr>
              <a:t>of</a:t>
            </a:r>
            <a:r>
              <a:rPr spc="25" dirty="0">
                <a:latin typeface="Times New Roman"/>
                <a:cs typeface="Times New Roman"/>
              </a:rPr>
              <a:t> </a:t>
            </a:r>
            <a:r>
              <a:rPr dirty="0">
                <a:latin typeface="Times New Roman"/>
                <a:cs typeface="Times New Roman"/>
              </a:rPr>
              <a:t>the</a:t>
            </a:r>
            <a:r>
              <a:rPr spc="35" dirty="0">
                <a:latin typeface="Times New Roman"/>
                <a:cs typeface="Times New Roman"/>
              </a:rPr>
              <a:t> </a:t>
            </a:r>
            <a:r>
              <a:rPr dirty="0">
                <a:solidFill>
                  <a:schemeClr val="accent5"/>
                </a:solidFill>
                <a:latin typeface="Times New Roman"/>
                <a:cs typeface="Times New Roman"/>
              </a:rPr>
              <a:t>element</a:t>
            </a:r>
            <a:r>
              <a:rPr spc="35" dirty="0">
                <a:solidFill>
                  <a:schemeClr val="accent5"/>
                </a:solidFill>
                <a:latin typeface="Times New Roman"/>
                <a:cs typeface="Times New Roman"/>
              </a:rPr>
              <a:t> </a:t>
            </a:r>
            <a:r>
              <a:rPr dirty="0">
                <a:solidFill>
                  <a:schemeClr val="accent5"/>
                </a:solidFill>
                <a:latin typeface="Times New Roman"/>
                <a:cs typeface="Times New Roman"/>
              </a:rPr>
              <a:t>cannot</a:t>
            </a:r>
            <a:r>
              <a:rPr spc="15" dirty="0">
                <a:solidFill>
                  <a:schemeClr val="accent5"/>
                </a:solidFill>
                <a:latin typeface="Times New Roman"/>
                <a:cs typeface="Times New Roman"/>
              </a:rPr>
              <a:t> </a:t>
            </a:r>
            <a:r>
              <a:rPr dirty="0">
                <a:solidFill>
                  <a:schemeClr val="accent5"/>
                </a:solidFill>
                <a:latin typeface="Times New Roman"/>
                <a:cs typeface="Times New Roman"/>
              </a:rPr>
              <a:t>be</a:t>
            </a:r>
            <a:r>
              <a:rPr spc="30" dirty="0">
                <a:solidFill>
                  <a:schemeClr val="accent5"/>
                </a:solidFill>
                <a:latin typeface="Times New Roman"/>
                <a:cs typeface="Times New Roman"/>
              </a:rPr>
              <a:t> </a:t>
            </a:r>
            <a:r>
              <a:rPr dirty="0">
                <a:solidFill>
                  <a:schemeClr val="accent5"/>
                </a:solidFill>
                <a:latin typeface="Times New Roman"/>
                <a:cs typeface="Times New Roman"/>
              </a:rPr>
              <a:t>modified</a:t>
            </a:r>
            <a:r>
              <a:rPr spc="30" dirty="0">
                <a:solidFill>
                  <a:schemeClr val="accent5"/>
                </a:solidFill>
                <a:latin typeface="Times New Roman"/>
                <a:cs typeface="Times New Roman"/>
              </a:rPr>
              <a:t> </a:t>
            </a:r>
            <a:r>
              <a:rPr dirty="0">
                <a:latin typeface="Times New Roman"/>
                <a:cs typeface="Times New Roman"/>
              </a:rPr>
              <a:t>once</a:t>
            </a:r>
            <a:r>
              <a:rPr spc="20" dirty="0">
                <a:solidFill>
                  <a:schemeClr val="accent5"/>
                </a:solidFill>
                <a:latin typeface="Times New Roman"/>
                <a:cs typeface="Times New Roman"/>
              </a:rPr>
              <a:t> </a:t>
            </a:r>
            <a:r>
              <a:rPr dirty="0">
                <a:latin typeface="Times New Roman"/>
                <a:cs typeface="Times New Roman"/>
              </a:rPr>
              <a:t>it</a:t>
            </a:r>
            <a:r>
              <a:rPr spc="15" dirty="0">
                <a:latin typeface="Times New Roman"/>
                <a:cs typeface="Times New Roman"/>
              </a:rPr>
              <a:t> </a:t>
            </a:r>
            <a:r>
              <a:rPr spc="-25" dirty="0">
                <a:latin typeface="Times New Roman"/>
                <a:cs typeface="Times New Roman"/>
              </a:rPr>
              <a:t>is 	</a:t>
            </a:r>
            <a:r>
              <a:rPr dirty="0">
                <a:latin typeface="Times New Roman"/>
                <a:cs typeface="Times New Roman"/>
              </a:rPr>
              <a:t>added</a:t>
            </a:r>
            <a:r>
              <a:rPr spc="229" dirty="0">
                <a:latin typeface="Times New Roman"/>
                <a:cs typeface="Times New Roman"/>
              </a:rPr>
              <a:t> </a:t>
            </a:r>
            <a:r>
              <a:rPr dirty="0">
                <a:latin typeface="Times New Roman"/>
                <a:cs typeface="Times New Roman"/>
              </a:rPr>
              <a:t>to</a:t>
            </a:r>
            <a:r>
              <a:rPr spc="235" dirty="0">
                <a:latin typeface="Times New Roman"/>
                <a:cs typeface="Times New Roman"/>
              </a:rPr>
              <a:t> </a:t>
            </a:r>
            <a:r>
              <a:rPr dirty="0">
                <a:latin typeface="Times New Roman"/>
                <a:cs typeface="Times New Roman"/>
              </a:rPr>
              <a:t>the</a:t>
            </a:r>
            <a:r>
              <a:rPr spc="225" dirty="0">
                <a:latin typeface="Times New Roman"/>
                <a:cs typeface="Times New Roman"/>
              </a:rPr>
              <a:t> </a:t>
            </a:r>
            <a:r>
              <a:rPr dirty="0">
                <a:latin typeface="Times New Roman"/>
                <a:cs typeface="Times New Roman"/>
              </a:rPr>
              <a:t>set,</a:t>
            </a:r>
            <a:r>
              <a:rPr spc="240" dirty="0">
                <a:latin typeface="Times New Roman"/>
                <a:cs typeface="Times New Roman"/>
              </a:rPr>
              <a:t> </a:t>
            </a:r>
            <a:r>
              <a:rPr dirty="0">
                <a:latin typeface="Times New Roman"/>
                <a:cs typeface="Times New Roman"/>
              </a:rPr>
              <a:t>though</a:t>
            </a:r>
            <a:r>
              <a:rPr spc="235" dirty="0">
                <a:latin typeface="Times New Roman"/>
                <a:cs typeface="Times New Roman"/>
              </a:rPr>
              <a:t> </a:t>
            </a:r>
            <a:r>
              <a:rPr dirty="0">
                <a:latin typeface="Times New Roman"/>
                <a:cs typeface="Times New Roman"/>
              </a:rPr>
              <a:t>it</a:t>
            </a:r>
            <a:r>
              <a:rPr spc="235" dirty="0">
                <a:latin typeface="Times New Roman"/>
                <a:cs typeface="Times New Roman"/>
              </a:rPr>
              <a:t> </a:t>
            </a:r>
            <a:r>
              <a:rPr dirty="0">
                <a:latin typeface="Times New Roman"/>
                <a:cs typeface="Times New Roman"/>
              </a:rPr>
              <a:t>is</a:t>
            </a:r>
            <a:r>
              <a:rPr spc="220" dirty="0">
                <a:latin typeface="Times New Roman"/>
                <a:cs typeface="Times New Roman"/>
              </a:rPr>
              <a:t> </a:t>
            </a:r>
            <a:r>
              <a:rPr dirty="0">
                <a:latin typeface="Times New Roman"/>
                <a:cs typeface="Times New Roman"/>
              </a:rPr>
              <a:t>possible</a:t>
            </a:r>
            <a:r>
              <a:rPr spc="240" dirty="0">
                <a:latin typeface="Times New Roman"/>
                <a:cs typeface="Times New Roman"/>
              </a:rPr>
              <a:t> </a:t>
            </a:r>
            <a:r>
              <a:rPr dirty="0">
                <a:latin typeface="Times New Roman"/>
                <a:cs typeface="Times New Roman"/>
              </a:rPr>
              <a:t>to</a:t>
            </a:r>
            <a:r>
              <a:rPr spc="235" dirty="0">
                <a:latin typeface="Times New Roman"/>
                <a:cs typeface="Times New Roman"/>
              </a:rPr>
              <a:t> </a:t>
            </a:r>
            <a:r>
              <a:rPr dirty="0">
                <a:latin typeface="Times New Roman"/>
                <a:cs typeface="Times New Roman"/>
              </a:rPr>
              <a:t>remove</a:t>
            </a:r>
            <a:r>
              <a:rPr spc="245" dirty="0">
                <a:latin typeface="Times New Roman"/>
                <a:cs typeface="Times New Roman"/>
              </a:rPr>
              <a:t> </a:t>
            </a:r>
            <a:r>
              <a:rPr spc="-25" dirty="0">
                <a:latin typeface="Times New Roman"/>
                <a:cs typeface="Times New Roman"/>
              </a:rPr>
              <a:t>and </a:t>
            </a:r>
            <a:r>
              <a:rPr dirty="0">
                <a:latin typeface="Times New Roman"/>
                <a:cs typeface="Times New Roman"/>
              </a:rPr>
              <a:t>add</a:t>
            </a:r>
            <a:r>
              <a:rPr spc="-25" dirty="0">
                <a:latin typeface="Times New Roman"/>
                <a:cs typeface="Times New Roman"/>
              </a:rPr>
              <a:t> </a:t>
            </a:r>
            <a:r>
              <a:rPr dirty="0">
                <a:latin typeface="Times New Roman"/>
                <a:cs typeface="Times New Roman"/>
              </a:rPr>
              <a:t>the</a:t>
            </a:r>
            <a:r>
              <a:rPr spc="-15" dirty="0">
                <a:latin typeface="Times New Roman"/>
                <a:cs typeface="Times New Roman"/>
              </a:rPr>
              <a:t> </a:t>
            </a:r>
            <a:r>
              <a:rPr dirty="0">
                <a:latin typeface="Times New Roman"/>
                <a:cs typeface="Times New Roman"/>
              </a:rPr>
              <a:t>modified</a:t>
            </a:r>
            <a:r>
              <a:rPr spc="-15" dirty="0">
                <a:latin typeface="Times New Roman"/>
                <a:cs typeface="Times New Roman"/>
              </a:rPr>
              <a:t> </a:t>
            </a:r>
            <a:r>
              <a:rPr dirty="0">
                <a:latin typeface="Times New Roman"/>
                <a:cs typeface="Times New Roman"/>
              </a:rPr>
              <a:t>value</a:t>
            </a:r>
            <a:r>
              <a:rPr spc="-15" dirty="0">
                <a:latin typeface="Times New Roman"/>
                <a:cs typeface="Times New Roman"/>
              </a:rPr>
              <a:t> </a:t>
            </a:r>
            <a:r>
              <a:rPr dirty="0">
                <a:latin typeface="Times New Roman"/>
                <a:cs typeface="Times New Roman"/>
              </a:rPr>
              <a:t>of</a:t>
            </a:r>
            <a:r>
              <a:rPr spc="-25" dirty="0">
                <a:latin typeface="Times New Roman"/>
                <a:cs typeface="Times New Roman"/>
              </a:rPr>
              <a:t> </a:t>
            </a:r>
            <a:r>
              <a:rPr dirty="0">
                <a:latin typeface="Times New Roman"/>
                <a:cs typeface="Times New Roman"/>
              </a:rPr>
              <a:t>that</a:t>
            </a:r>
            <a:r>
              <a:rPr spc="-15" dirty="0">
                <a:latin typeface="Times New Roman"/>
                <a:cs typeface="Times New Roman"/>
              </a:rPr>
              <a:t> </a:t>
            </a:r>
            <a:r>
              <a:rPr spc="-10" dirty="0">
                <a:latin typeface="Times New Roman"/>
                <a:cs typeface="Times New Roman"/>
              </a:rPr>
              <a:t>element.</a:t>
            </a:r>
            <a:endParaRPr lang="en-US" spc="-10" dirty="0">
              <a:latin typeface="Times New Roman"/>
              <a:cs typeface="Times New Roman"/>
            </a:endParaRPr>
          </a:p>
          <a:p>
            <a:pPr marL="354330" marR="5715" indent="-342265" algn="just">
              <a:lnSpc>
                <a:spcPct val="100000"/>
              </a:lnSpc>
              <a:spcBef>
                <a:spcPts val="480"/>
              </a:spcBef>
              <a:buChar char="•"/>
              <a:tabLst>
                <a:tab pos="355600" algn="l"/>
              </a:tabLst>
            </a:pPr>
            <a:r>
              <a:rPr lang="en-US" dirty="0">
                <a:latin typeface="Times New Roman"/>
                <a:cs typeface="Times New Roman"/>
              </a:rPr>
              <a:t>Cannot be accessed by index numbers, because the order is based on sorting and not indexing.</a:t>
            </a:r>
            <a:endParaRPr dirty="0">
              <a:latin typeface="Times New Roman"/>
              <a:cs typeface="Times New Roman"/>
            </a:endParaRPr>
          </a:p>
        </p:txBody>
      </p:sp>
      <p:pic>
        <p:nvPicPr>
          <p:cNvPr id="4" name="object 4"/>
          <p:cNvPicPr/>
          <p:nvPr/>
        </p:nvPicPr>
        <p:blipFill>
          <a:blip r:embed="rId2" cstate="print"/>
          <a:stretch>
            <a:fillRect/>
          </a:stretch>
        </p:blipFill>
        <p:spPr>
          <a:xfrm>
            <a:off x="8455152" y="1072875"/>
            <a:ext cx="2864942" cy="4944262"/>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AFD4FF5A-F66E-0B9B-AF6F-090E8385EFF8}"/>
              </a:ext>
            </a:extLst>
          </p:cNvPr>
          <p:cNvSpPr>
            <a:spLocks noGrp="1"/>
          </p:cNvSpPr>
          <p:nvPr>
            <p:ph type="dt" sz="half" idx="10"/>
          </p:nvPr>
        </p:nvSpPr>
        <p:spPr/>
        <p:txBody>
          <a:bodyPr/>
          <a:lstStyle/>
          <a:p>
            <a:fld id="{70739374-E0FE-4E20-96E5-1B15DCAFF475}" type="datetime1">
              <a:rPr lang="en-US" smtClean="0"/>
              <a:t>11/17/2025</a:t>
            </a:fld>
            <a:endParaRPr lang="en-US"/>
          </a:p>
        </p:txBody>
      </p:sp>
      <p:sp>
        <p:nvSpPr>
          <p:cNvPr id="10" name="Slide Number Placeholder 9">
            <a:extLst>
              <a:ext uri="{FF2B5EF4-FFF2-40B4-BE49-F238E27FC236}">
                <a16:creationId xmlns:a16="http://schemas.microsoft.com/office/drawing/2014/main" id="{D5C13EBD-825E-4FA0-1A38-92E2A3EB832C}"/>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49</a:t>
            </a:fld>
            <a:endParaRPr spc="-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a:t>
            </a:r>
          </a:p>
        </p:txBody>
      </p:sp>
      <p:sp>
        <p:nvSpPr>
          <p:cNvPr id="4" name="Date Placeholder 3"/>
          <p:cNvSpPr>
            <a:spLocks noGrp="1"/>
          </p:cNvSpPr>
          <p:nvPr>
            <p:ph type="dt" sz="half" idx="10"/>
          </p:nvPr>
        </p:nvSpPr>
        <p:spPr/>
        <p:txBody>
          <a:bodyPr/>
          <a:lstStyle/>
          <a:p>
            <a:fld id="{8966A560-332D-47A2-A6E0-4B9952C44143}" type="datetime1">
              <a:rPr lang="en-US" smtClean="0"/>
              <a:t>11/17/2025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50</a:t>
            </a:fld>
            <a:endParaRPr spc="-25" dirty="0"/>
          </a:p>
        </p:txBody>
      </p:sp>
      <p:sp>
        <p:nvSpPr>
          <p:cNvPr id="15" name="TextBox 14"/>
          <p:cNvSpPr txBox="1"/>
          <p:nvPr/>
        </p:nvSpPr>
        <p:spPr>
          <a:xfrm>
            <a:off x="990600" y="1828800"/>
            <a:ext cx="8185456" cy="369332"/>
          </a:xfrm>
          <a:prstGeom prst="rect">
            <a:avLst/>
          </a:prstGeom>
          <a:noFill/>
        </p:spPr>
        <p:txBody>
          <a:bodyPr wrap="square" rtlCol="0">
            <a:spAutoFit/>
          </a:bodyPr>
          <a:lstStyle/>
          <a:p>
            <a:pPr marL="285750" indent="-285750">
              <a:buFont typeface="Arial" panose="020B0604020202020204" pitchFamily="34" charset="0"/>
              <a:buChar char="•"/>
            </a:pPr>
            <a:r>
              <a:rPr lang="en-US" dirty="0"/>
              <a:t>Elements in a set are unique, which means they cannot be duplicated or equal.</a:t>
            </a:r>
          </a:p>
        </p:txBody>
      </p:sp>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999" y="2459926"/>
            <a:ext cx="7223307" cy="3559874"/>
          </a:xfrm>
          <a:prstGeom prst="rect">
            <a:avLst/>
          </a:prstGeom>
        </p:spPr>
      </p:pic>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4082" y="3180934"/>
            <a:ext cx="523948" cy="1714739"/>
          </a:xfrm>
          <a:prstGeom prst="rect">
            <a:avLst/>
          </a:prstGeom>
        </p:spPr>
      </p:pic>
    </p:spTree>
    <p:extLst>
      <p:ext uri="{BB962C8B-B14F-4D97-AF65-F5344CB8AC3E}">
        <p14:creationId xmlns:p14="http://schemas.microsoft.com/office/powerpoint/2010/main" val="20723167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5453" y="1690688"/>
            <a:ext cx="7096303" cy="3643312"/>
          </a:xfrm>
        </p:spPr>
      </p:pic>
      <p:sp>
        <p:nvSpPr>
          <p:cNvPr id="4" name="Date Placeholder 3"/>
          <p:cNvSpPr>
            <a:spLocks noGrp="1"/>
          </p:cNvSpPr>
          <p:nvPr>
            <p:ph type="dt" sz="half" idx="10"/>
          </p:nvPr>
        </p:nvSpPr>
        <p:spPr/>
        <p:txBody>
          <a:bodyPr/>
          <a:lstStyle/>
          <a:p>
            <a:fld id="{8966A560-332D-47A2-A6E0-4B9952C44143}" type="datetime1">
              <a:rPr lang="en-US" smtClean="0"/>
              <a:t>11/17/2025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51</a:t>
            </a:fld>
            <a:endParaRPr spc="-25" dirty="0"/>
          </a:p>
        </p:txBody>
      </p:sp>
      <p:sp>
        <p:nvSpPr>
          <p:cNvPr id="8" name="TextBox 7"/>
          <p:cNvSpPr txBox="1"/>
          <p:nvPr/>
        </p:nvSpPr>
        <p:spPr>
          <a:xfrm>
            <a:off x="8077200" y="2967216"/>
            <a:ext cx="856325" cy="369332"/>
          </a:xfrm>
          <a:prstGeom prst="rect">
            <a:avLst/>
          </a:prstGeom>
          <a:noFill/>
        </p:spPr>
        <p:txBody>
          <a:bodyPr wrap="none" rtlCol="0">
            <a:spAutoFit/>
          </a:bodyPr>
          <a:lstStyle/>
          <a:p>
            <a:r>
              <a:rPr lang="en-US" dirty="0"/>
              <a:t>Output</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5404" y="3581400"/>
            <a:ext cx="819264" cy="1857634"/>
          </a:xfrm>
          <a:prstGeom prst="rect">
            <a:avLst/>
          </a:prstGeom>
        </p:spPr>
      </p:pic>
    </p:spTree>
    <p:extLst>
      <p:ext uri="{BB962C8B-B14F-4D97-AF65-F5344CB8AC3E}">
        <p14:creationId xmlns:p14="http://schemas.microsoft.com/office/powerpoint/2010/main" val="34195105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1690688"/>
            <a:ext cx="5485796" cy="2816462"/>
          </a:xfrm>
        </p:spPr>
      </p:pic>
      <p:sp>
        <p:nvSpPr>
          <p:cNvPr id="4" name="Date Placeholder 3"/>
          <p:cNvSpPr>
            <a:spLocks noGrp="1"/>
          </p:cNvSpPr>
          <p:nvPr>
            <p:ph type="dt" sz="half" idx="10"/>
          </p:nvPr>
        </p:nvSpPr>
        <p:spPr/>
        <p:txBody>
          <a:bodyPr/>
          <a:lstStyle/>
          <a:p>
            <a:fld id="{8966A560-332D-47A2-A6E0-4B9952C44143}" type="datetime1">
              <a:rPr lang="en-US" smtClean="0"/>
              <a:t>11/17/2025</a:t>
            </a:fld>
            <a:endParaRPr lang="en-US"/>
          </a:p>
        </p:txBody>
      </p:sp>
      <p:sp>
        <p:nvSpPr>
          <p:cNvPr id="5" name="Footer Placeholder 4"/>
          <p:cNvSpPr>
            <a:spLocks noGrp="1"/>
          </p:cNvSpPr>
          <p:nvPr>
            <p:ph type="ftr" sz="quarter" idx="11"/>
          </p:nvPr>
        </p:nvSpPr>
        <p:spPr/>
        <p:txBody>
          <a:bodyPr/>
          <a:lstStyle/>
          <a:p>
            <a:pPr marL="12700">
              <a:lnSpc>
                <a:spcPts val="2720"/>
              </a:lnSpc>
            </a:pPr>
            <a:r>
              <a:rPr lang="en-US"/>
              <a:t>Mehedi Hasan</a:t>
            </a:r>
            <a:endParaRPr lang="en-US" spc="-10" dirty="0"/>
          </a:p>
        </p:txBody>
      </p:sp>
      <p:sp>
        <p:nvSpPr>
          <p:cNvPr id="6" name="Slide Number Placeholder 5"/>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52</a:t>
            </a:fld>
            <a:endParaRPr spc="-25" dirty="0"/>
          </a:p>
        </p:txBody>
      </p:sp>
      <p:sp>
        <p:nvSpPr>
          <p:cNvPr id="8" name="TextBox 7"/>
          <p:cNvSpPr txBox="1"/>
          <p:nvPr/>
        </p:nvSpPr>
        <p:spPr>
          <a:xfrm>
            <a:off x="6019801" y="1027906"/>
            <a:ext cx="856325" cy="369332"/>
          </a:xfrm>
          <a:prstGeom prst="rect">
            <a:avLst/>
          </a:prstGeom>
          <a:noFill/>
        </p:spPr>
        <p:txBody>
          <a:bodyPr wrap="none" rtlCol="0">
            <a:spAutoFit/>
          </a:bodyPr>
          <a:lstStyle/>
          <a:p>
            <a:r>
              <a:rPr lang="en-US" dirty="0"/>
              <a:t>Output</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8872" y="1109582"/>
            <a:ext cx="819264" cy="1857634"/>
          </a:xfrm>
          <a:prstGeom prst="rect">
            <a:avLst/>
          </a:prstGeom>
        </p:spPr>
      </p:pic>
      <p:sp>
        <p:nvSpPr>
          <p:cNvPr id="3" name="TextBox 2"/>
          <p:cNvSpPr txBox="1"/>
          <p:nvPr/>
        </p:nvSpPr>
        <p:spPr>
          <a:xfrm>
            <a:off x="609601" y="4800600"/>
            <a:ext cx="4876799" cy="1200329"/>
          </a:xfrm>
          <a:prstGeom prst="rect">
            <a:avLst/>
          </a:prstGeom>
          <a:noFill/>
        </p:spPr>
        <p:txBody>
          <a:bodyPr wrap="square" rtlCol="0">
            <a:spAutoFit/>
          </a:bodyPr>
          <a:lstStyle/>
          <a:p>
            <a:r>
              <a:rPr lang="en-US" dirty="0"/>
              <a:t>By default, the elements in a set are sorted in ascending order. If you want to reverse the order, you can use the </a:t>
            </a:r>
            <a:r>
              <a:rPr lang="en-US" dirty="0">
                <a:solidFill>
                  <a:srgbClr val="FF0000"/>
                </a:solidFill>
              </a:rPr>
              <a:t>greater&lt;type&gt;</a:t>
            </a:r>
            <a:r>
              <a:rPr lang="en-US" dirty="0"/>
              <a:t> functor inside the angle brackets, like this:</a:t>
            </a: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72800" y="4510521"/>
            <a:ext cx="1047896" cy="1686160"/>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9656" y="3453032"/>
            <a:ext cx="4886031" cy="2460719"/>
          </a:xfrm>
          <a:prstGeom prst="rect">
            <a:avLst/>
          </a:prstGeom>
        </p:spPr>
      </p:pic>
    </p:spTree>
    <p:extLst>
      <p:ext uri="{BB962C8B-B14F-4D97-AF65-F5344CB8AC3E}">
        <p14:creationId xmlns:p14="http://schemas.microsoft.com/office/powerpoint/2010/main" val="27212927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20" dirty="0"/>
              <a:t>Sets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199897" y="3362690"/>
            <a:ext cx="5179315" cy="3368783"/>
          </a:xfrm>
          <a:prstGeom prst="rect">
            <a:avLst/>
          </a:prstGeom>
        </p:spPr>
      </p:pic>
      <p:pic>
        <p:nvPicPr>
          <p:cNvPr id="4" name="object 4"/>
          <p:cNvPicPr/>
          <p:nvPr/>
        </p:nvPicPr>
        <p:blipFill>
          <a:blip r:embed="rId3" cstate="print"/>
          <a:stretch>
            <a:fillRect/>
          </a:stretch>
        </p:blipFill>
        <p:spPr>
          <a:xfrm>
            <a:off x="5859874" y="136525"/>
            <a:ext cx="6160879" cy="5045072"/>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A860029E-49A1-A9D9-C579-0E23B1BDE98D}"/>
              </a:ext>
            </a:extLst>
          </p:cNvPr>
          <p:cNvSpPr>
            <a:spLocks noGrp="1"/>
          </p:cNvSpPr>
          <p:nvPr>
            <p:ph type="dt" sz="half" idx="10"/>
          </p:nvPr>
        </p:nvSpPr>
        <p:spPr/>
        <p:txBody>
          <a:bodyPr/>
          <a:lstStyle/>
          <a:p>
            <a:fld id="{EC1BF4A8-B540-4053-A0F2-88EC542B20A7}" type="datetime1">
              <a:rPr lang="en-US" smtClean="0"/>
              <a:t>11/17/2025</a:t>
            </a:fld>
            <a:endParaRPr lang="en-US"/>
          </a:p>
        </p:txBody>
      </p:sp>
      <p:sp>
        <p:nvSpPr>
          <p:cNvPr id="10" name="Slide Number Placeholder 9">
            <a:extLst>
              <a:ext uri="{FF2B5EF4-FFF2-40B4-BE49-F238E27FC236}">
                <a16:creationId xmlns:a16="http://schemas.microsoft.com/office/drawing/2014/main" id="{4807A8BC-0BA1-4AA8-6F39-A32FC0DBA7E2}"/>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53</a:t>
            </a:fld>
            <a:endParaRPr spc="-25" dirty="0"/>
          </a:p>
        </p:txBody>
      </p:sp>
      <p:sp>
        <p:nvSpPr>
          <p:cNvPr id="6" name="TextBox 5"/>
          <p:cNvSpPr txBox="1"/>
          <p:nvPr/>
        </p:nvSpPr>
        <p:spPr>
          <a:xfrm>
            <a:off x="-64879" y="1805281"/>
            <a:ext cx="6160879"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To add elements to a set, you can use the </a:t>
            </a:r>
            <a:r>
              <a:rPr lang="en-US" dirty="0">
                <a:solidFill>
                  <a:srgbClr val="FF0000"/>
                </a:solidFill>
              </a:rPr>
              <a:t>.insert()</a:t>
            </a:r>
            <a:r>
              <a:rPr lang="en-US" dirty="0"/>
              <a:t> </a:t>
            </a:r>
          </a:p>
          <a:p>
            <a:pPr marL="285750" indent="-285750">
              <a:buFont typeface="Arial" panose="020B0604020202020204" pitchFamily="34" charset="0"/>
              <a:buChar char="•"/>
            </a:pPr>
            <a:r>
              <a:rPr lang="en-US" dirty="0"/>
              <a:t>To remove specific elements from a set, you can use the </a:t>
            </a:r>
            <a:r>
              <a:rPr lang="en-US" dirty="0">
                <a:solidFill>
                  <a:srgbClr val="FF0000"/>
                </a:solidFill>
              </a:rPr>
              <a:t>.erase() </a:t>
            </a:r>
            <a:r>
              <a:rPr lang="en-US" dirty="0"/>
              <a:t>function</a:t>
            </a:r>
            <a:r>
              <a:rPr lang="en-US" dirty="0">
                <a:solidFill>
                  <a:srgbClr val="FF0000"/>
                </a:solidFill>
              </a:rPr>
              <a:t> </a:t>
            </a:r>
            <a:r>
              <a:rPr lang="en-US" dirty="0" err="1"/>
              <a:t>function</a:t>
            </a:r>
            <a:r>
              <a:rPr lang="en-US" dirty="0"/>
              <a:t>.</a:t>
            </a:r>
          </a:p>
          <a:p>
            <a:pPr marL="285750" indent="-285750">
              <a:buFont typeface="Arial" panose="020B0604020202020204" pitchFamily="34" charset="0"/>
              <a:buChar char="•"/>
            </a:pPr>
            <a:r>
              <a:rPr lang="en-US" dirty="0"/>
              <a:t>To remove all elements from a set, you can use the </a:t>
            </a:r>
            <a:r>
              <a:rPr lang="en-US" dirty="0">
                <a:solidFill>
                  <a:srgbClr val="FF0000"/>
                </a:solidFill>
              </a:rPr>
              <a:t>.clear() </a:t>
            </a:r>
            <a:r>
              <a:rPr lang="en-US" dirty="0"/>
              <a:t>function:</a:t>
            </a:r>
          </a:p>
          <a:p>
            <a:endParaRPr lang="en-US" dirty="0"/>
          </a:p>
        </p:txBody>
      </p:sp>
      <p:cxnSp>
        <p:nvCxnSpPr>
          <p:cNvPr id="14" name="Straight Connector 13"/>
          <p:cNvCxnSpPr/>
          <p:nvPr/>
        </p:nvCxnSpPr>
        <p:spPr>
          <a:xfrm>
            <a:off x="0" y="3200400"/>
            <a:ext cx="56388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00E8F44D-EEC4-72A7-00CC-BB83F1D8AE4F}"/>
                  </a:ext>
                </a:extLst>
              </p14:cNvPr>
              <p14:cNvContentPartPr/>
              <p14:nvPr/>
            </p14:nvContentPartPr>
            <p14:xfrm>
              <a:off x="11403137" y="1124218"/>
              <a:ext cx="360" cy="360"/>
            </p14:xfrm>
          </p:contentPart>
        </mc:Choice>
        <mc:Fallback xmlns="">
          <p:pic>
            <p:nvPicPr>
              <p:cNvPr id="16" name="Ink 15">
                <a:extLst>
                  <a:ext uri="{FF2B5EF4-FFF2-40B4-BE49-F238E27FC236}">
                    <a16:creationId xmlns:a16="http://schemas.microsoft.com/office/drawing/2014/main" id="{00E8F44D-EEC4-72A7-00CC-BB83F1D8AE4F}"/>
                  </a:ext>
                </a:extLst>
              </p:cNvPr>
              <p:cNvPicPr/>
              <p:nvPr/>
            </p:nvPicPr>
            <p:blipFill>
              <a:blip r:embed="rId6"/>
              <a:stretch>
                <a:fillRect/>
              </a:stretch>
            </p:blipFill>
            <p:spPr>
              <a:xfrm>
                <a:off x="11397017" y="111809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06F381DC-BF62-A4C6-0739-277072B934A3}"/>
                  </a:ext>
                </a:extLst>
              </p14:cNvPr>
              <p14:cNvContentPartPr/>
              <p14:nvPr/>
            </p14:nvContentPartPr>
            <p14:xfrm>
              <a:off x="11403137" y="1124218"/>
              <a:ext cx="360" cy="360"/>
            </p14:xfrm>
          </p:contentPart>
        </mc:Choice>
        <mc:Fallback xmlns="">
          <p:pic>
            <p:nvPicPr>
              <p:cNvPr id="17" name="Ink 16">
                <a:extLst>
                  <a:ext uri="{FF2B5EF4-FFF2-40B4-BE49-F238E27FC236}">
                    <a16:creationId xmlns:a16="http://schemas.microsoft.com/office/drawing/2014/main" id="{06F381DC-BF62-A4C6-0739-277072B934A3}"/>
                  </a:ext>
                </a:extLst>
              </p:cNvPr>
              <p:cNvPicPr/>
              <p:nvPr/>
            </p:nvPicPr>
            <p:blipFill>
              <a:blip r:embed="rId6"/>
              <a:stretch>
                <a:fillRect/>
              </a:stretch>
            </p:blipFill>
            <p:spPr>
              <a:xfrm>
                <a:off x="11397017" y="1118098"/>
                <a:ext cx="12600" cy="12600"/>
              </a:xfrm>
              <a:prstGeom prst="rect">
                <a:avLst/>
              </a:prstGeom>
            </p:spPr>
          </p:pic>
        </mc:Fallback>
      </mc:AlternateContent>
      <p:pic>
        <p:nvPicPr>
          <p:cNvPr id="12" name="Picture 11">
            <a:extLst>
              <a:ext uri="{FF2B5EF4-FFF2-40B4-BE49-F238E27FC236}">
                <a16:creationId xmlns:a16="http://schemas.microsoft.com/office/drawing/2014/main" id="{AA21143F-3FD3-18F9-F4EA-60C3E04EDDF4}"/>
              </a:ext>
            </a:extLst>
          </p:cNvPr>
          <p:cNvPicPr>
            <a:picLocks noChangeAspect="1"/>
          </p:cNvPicPr>
          <p:nvPr/>
        </p:nvPicPr>
        <p:blipFill>
          <a:blip r:embed="rId8"/>
          <a:stretch>
            <a:fillRect/>
          </a:stretch>
        </p:blipFill>
        <p:spPr>
          <a:xfrm>
            <a:off x="11071614" y="342868"/>
            <a:ext cx="1074077" cy="1754326"/>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27625-A112-A335-F4E0-A585A417A550}"/>
              </a:ext>
            </a:extLst>
          </p:cNvPr>
          <p:cNvSpPr>
            <a:spLocks noGrp="1"/>
          </p:cNvSpPr>
          <p:nvPr>
            <p:ph type="title"/>
          </p:nvPr>
        </p:nvSpPr>
        <p:spPr>
          <a:xfrm>
            <a:off x="838200" y="365126"/>
            <a:ext cx="10515600" cy="793750"/>
          </a:xfrm>
        </p:spPr>
        <p:txBody>
          <a:bodyPr/>
          <a:lstStyle/>
          <a:p>
            <a:pPr algn="ctr"/>
            <a:r>
              <a:rPr lang="en-US" dirty="0"/>
              <a:t>Spot Test</a:t>
            </a:r>
          </a:p>
        </p:txBody>
      </p:sp>
      <p:sp>
        <p:nvSpPr>
          <p:cNvPr id="3" name="Date Placeholder 2">
            <a:extLst>
              <a:ext uri="{FF2B5EF4-FFF2-40B4-BE49-F238E27FC236}">
                <a16:creationId xmlns:a16="http://schemas.microsoft.com/office/drawing/2014/main" id="{068CE5A3-568F-28D0-0929-310BCC0DBA1B}"/>
              </a:ext>
            </a:extLst>
          </p:cNvPr>
          <p:cNvSpPr>
            <a:spLocks noGrp="1"/>
          </p:cNvSpPr>
          <p:nvPr>
            <p:ph type="dt" sz="half" idx="10"/>
          </p:nvPr>
        </p:nvSpPr>
        <p:spPr/>
        <p:txBody>
          <a:bodyPr/>
          <a:lstStyle/>
          <a:p>
            <a:fld id="{159C7704-0BCF-4FC4-A106-CDD11C759384}" type="datetime1">
              <a:rPr lang="en-US" smtClean="0"/>
              <a:t>11/17/2025</a:t>
            </a:fld>
            <a:endParaRPr lang="en-US"/>
          </a:p>
        </p:txBody>
      </p:sp>
      <p:sp>
        <p:nvSpPr>
          <p:cNvPr id="4" name="Footer Placeholder 3">
            <a:extLst>
              <a:ext uri="{FF2B5EF4-FFF2-40B4-BE49-F238E27FC236}">
                <a16:creationId xmlns:a16="http://schemas.microsoft.com/office/drawing/2014/main" id="{39068F1E-B36A-22FC-4D78-D6B9F878B66E}"/>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5" name="Slide Number Placeholder 4">
            <a:extLst>
              <a:ext uri="{FF2B5EF4-FFF2-40B4-BE49-F238E27FC236}">
                <a16:creationId xmlns:a16="http://schemas.microsoft.com/office/drawing/2014/main" id="{D8D025AA-EA65-5FC5-E0D5-D1D4EC7808E4}"/>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54</a:t>
            </a:fld>
            <a:endParaRPr spc="-25" dirty="0"/>
          </a:p>
        </p:txBody>
      </p:sp>
      <p:pic>
        <p:nvPicPr>
          <p:cNvPr id="7" name="Picture 6">
            <a:extLst>
              <a:ext uri="{FF2B5EF4-FFF2-40B4-BE49-F238E27FC236}">
                <a16:creationId xmlns:a16="http://schemas.microsoft.com/office/drawing/2014/main" id="{A76CDD76-D7D4-88AD-EAF2-7F5538BD4B7A}"/>
              </a:ext>
            </a:extLst>
          </p:cNvPr>
          <p:cNvPicPr>
            <a:picLocks noChangeAspect="1"/>
          </p:cNvPicPr>
          <p:nvPr/>
        </p:nvPicPr>
        <p:blipFill>
          <a:blip r:embed="rId2"/>
          <a:stretch>
            <a:fillRect/>
          </a:stretch>
        </p:blipFill>
        <p:spPr>
          <a:xfrm>
            <a:off x="591534" y="990599"/>
            <a:ext cx="10964902" cy="5730875"/>
          </a:xfrm>
          <a:prstGeom prst="rect">
            <a:avLst/>
          </a:prstGeom>
        </p:spPr>
      </p:pic>
    </p:spTree>
    <p:extLst>
      <p:ext uri="{BB962C8B-B14F-4D97-AF65-F5344CB8AC3E}">
        <p14:creationId xmlns:p14="http://schemas.microsoft.com/office/powerpoint/2010/main" val="35458682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2B77E-A692-A9DD-759F-F26B4762F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5BDDE-E059-67D5-CF79-2D6A22A9EA64}"/>
              </a:ext>
            </a:extLst>
          </p:cNvPr>
          <p:cNvSpPr>
            <a:spLocks noGrp="1"/>
          </p:cNvSpPr>
          <p:nvPr>
            <p:ph type="title"/>
          </p:nvPr>
        </p:nvSpPr>
        <p:spPr>
          <a:xfrm>
            <a:off x="838200" y="365126"/>
            <a:ext cx="10515600" cy="793750"/>
          </a:xfrm>
        </p:spPr>
        <p:txBody>
          <a:bodyPr/>
          <a:lstStyle/>
          <a:p>
            <a:pPr algn="ctr"/>
            <a:r>
              <a:rPr lang="en-US" dirty="0"/>
              <a:t>Spot Test Result</a:t>
            </a:r>
          </a:p>
        </p:txBody>
      </p:sp>
      <p:sp>
        <p:nvSpPr>
          <p:cNvPr id="3" name="Date Placeholder 2">
            <a:extLst>
              <a:ext uri="{FF2B5EF4-FFF2-40B4-BE49-F238E27FC236}">
                <a16:creationId xmlns:a16="http://schemas.microsoft.com/office/drawing/2014/main" id="{8FDC7430-0F04-2C72-3EE8-D358B7B415C9}"/>
              </a:ext>
            </a:extLst>
          </p:cNvPr>
          <p:cNvSpPr>
            <a:spLocks noGrp="1"/>
          </p:cNvSpPr>
          <p:nvPr>
            <p:ph type="dt" sz="half" idx="10"/>
          </p:nvPr>
        </p:nvSpPr>
        <p:spPr/>
        <p:txBody>
          <a:bodyPr/>
          <a:lstStyle/>
          <a:p>
            <a:fld id="{159C7704-0BCF-4FC4-A106-CDD11C759384}" type="datetime1">
              <a:rPr lang="en-US" smtClean="0"/>
              <a:t>11/17/2025</a:t>
            </a:fld>
            <a:endParaRPr lang="en-US"/>
          </a:p>
        </p:txBody>
      </p:sp>
      <p:sp>
        <p:nvSpPr>
          <p:cNvPr id="4" name="Footer Placeholder 3">
            <a:extLst>
              <a:ext uri="{FF2B5EF4-FFF2-40B4-BE49-F238E27FC236}">
                <a16:creationId xmlns:a16="http://schemas.microsoft.com/office/drawing/2014/main" id="{44335CFB-6B70-D070-9497-5928C1B2B8EC}"/>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5" name="Slide Number Placeholder 4">
            <a:extLst>
              <a:ext uri="{FF2B5EF4-FFF2-40B4-BE49-F238E27FC236}">
                <a16:creationId xmlns:a16="http://schemas.microsoft.com/office/drawing/2014/main" id="{E7EDCD44-1139-C4AE-93F5-7DB41ABACF0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55</a:t>
            </a:fld>
            <a:endParaRPr spc="-25" dirty="0"/>
          </a:p>
        </p:txBody>
      </p:sp>
      <p:pic>
        <p:nvPicPr>
          <p:cNvPr id="7" name="Picture 6">
            <a:extLst>
              <a:ext uri="{FF2B5EF4-FFF2-40B4-BE49-F238E27FC236}">
                <a16:creationId xmlns:a16="http://schemas.microsoft.com/office/drawing/2014/main" id="{4BBBF6E1-12E2-C2DB-9587-BB45744490AE}"/>
              </a:ext>
            </a:extLst>
          </p:cNvPr>
          <p:cNvPicPr>
            <a:picLocks noChangeAspect="1"/>
          </p:cNvPicPr>
          <p:nvPr/>
        </p:nvPicPr>
        <p:blipFill>
          <a:blip r:embed="rId2"/>
          <a:stretch>
            <a:fillRect/>
          </a:stretch>
        </p:blipFill>
        <p:spPr>
          <a:xfrm>
            <a:off x="591534" y="990599"/>
            <a:ext cx="10964902" cy="5730875"/>
          </a:xfrm>
          <a:prstGeom prst="rect">
            <a:avLst/>
          </a:prstGeom>
        </p:spPr>
      </p:pic>
      <p:pic>
        <p:nvPicPr>
          <p:cNvPr id="8" name="Picture 7">
            <a:extLst>
              <a:ext uri="{FF2B5EF4-FFF2-40B4-BE49-F238E27FC236}">
                <a16:creationId xmlns:a16="http://schemas.microsoft.com/office/drawing/2014/main" id="{325ED63A-C09C-6900-5CA6-5C6CFCC9CD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66800"/>
            <a:ext cx="12192000" cy="5224462"/>
          </a:xfrm>
          <a:prstGeom prst="rect">
            <a:avLst/>
          </a:prstGeom>
        </p:spPr>
      </p:pic>
    </p:spTree>
    <p:extLst>
      <p:ext uri="{BB962C8B-B14F-4D97-AF65-F5344CB8AC3E}">
        <p14:creationId xmlns:p14="http://schemas.microsoft.com/office/powerpoint/2010/main" val="42212677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20" dirty="0"/>
              <a:t>Maps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714576"/>
            <a:ext cx="5951220" cy="4295140"/>
          </a:xfrm>
          <a:prstGeom prst="rect">
            <a:avLst/>
          </a:prstGeom>
        </p:spPr>
        <p:txBody>
          <a:bodyPr vert="horz" wrap="square" lIns="0" tIns="13335" rIns="0" bIns="0" rtlCol="0">
            <a:spAutoFit/>
          </a:bodyPr>
          <a:lstStyle/>
          <a:p>
            <a:pPr marL="354965" indent="-342265" algn="just">
              <a:lnSpc>
                <a:spcPct val="100000"/>
              </a:lnSpc>
              <a:spcBef>
                <a:spcPts val="105"/>
              </a:spcBef>
              <a:buChar char="•"/>
              <a:tabLst>
                <a:tab pos="354965" algn="l"/>
              </a:tabLst>
            </a:pPr>
            <a:r>
              <a:rPr sz="2000" dirty="0">
                <a:latin typeface="Times New Roman"/>
                <a:cs typeface="Times New Roman"/>
              </a:rPr>
              <a:t>A</a:t>
            </a:r>
            <a:r>
              <a:rPr sz="2000" spc="-60" dirty="0">
                <a:latin typeface="Times New Roman"/>
                <a:cs typeface="Times New Roman"/>
              </a:rPr>
              <a:t> </a:t>
            </a:r>
            <a:r>
              <a:rPr sz="2000" dirty="0">
                <a:latin typeface="Times New Roman"/>
                <a:cs typeface="Times New Roman"/>
              </a:rPr>
              <a:t>map</a:t>
            </a:r>
            <a:r>
              <a:rPr sz="2000" spc="45" dirty="0">
                <a:latin typeface="Times New Roman"/>
                <a:cs typeface="Times New Roman"/>
              </a:rPr>
              <a:t> </a:t>
            </a:r>
            <a:r>
              <a:rPr sz="2000" dirty="0">
                <a:latin typeface="Times New Roman"/>
                <a:cs typeface="Times New Roman"/>
              </a:rPr>
              <a:t>stores</a:t>
            </a:r>
            <a:r>
              <a:rPr sz="2000" spc="35" dirty="0">
                <a:latin typeface="Times New Roman"/>
                <a:cs typeface="Times New Roman"/>
              </a:rPr>
              <a:t> </a:t>
            </a:r>
            <a:r>
              <a:rPr sz="2000" dirty="0">
                <a:latin typeface="Times New Roman"/>
                <a:cs typeface="Times New Roman"/>
              </a:rPr>
              <a:t>pairs.</a:t>
            </a:r>
            <a:r>
              <a:rPr sz="2000" spc="50" dirty="0">
                <a:latin typeface="Times New Roman"/>
                <a:cs typeface="Times New Roman"/>
              </a:rPr>
              <a:t> </a:t>
            </a:r>
            <a:r>
              <a:rPr sz="2000" dirty="0">
                <a:latin typeface="Times New Roman"/>
                <a:cs typeface="Times New Roman"/>
              </a:rPr>
              <a:t>A</a:t>
            </a:r>
            <a:r>
              <a:rPr sz="2000" spc="-70" dirty="0">
                <a:latin typeface="Times New Roman"/>
                <a:cs typeface="Times New Roman"/>
              </a:rPr>
              <a:t> </a:t>
            </a:r>
            <a:r>
              <a:rPr sz="2000" dirty="0">
                <a:latin typeface="Times New Roman"/>
                <a:cs typeface="Times New Roman"/>
              </a:rPr>
              <a:t>pair</a:t>
            </a:r>
            <a:r>
              <a:rPr sz="2000" spc="55" dirty="0">
                <a:latin typeface="Times New Roman"/>
                <a:cs typeface="Times New Roman"/>
              </a:rPr>
              <a:t> </a:t>
            </a:r>
            <a:r>
              <a:rPr sz="2000" dirty="0">
                <a:latin typeface="Times New Roman"/>
                <a:cs typeface="Times New Roman"/>
              </a:rPr>
              <a:t>consists</a:t>
            </a:r>
            <a:r>
              <a:rPr sz="2000" spc="30" dirty="0">
                <a:latin typeface="Times New Roman"/>
                <a:cs typeface="Times New Roman"/>
              </a:rPr>
              <a:t> </a:t>
            </a:r>
            <a:r>
              <a:rPr sz="2000" dirty="0">
                <a:latin typeface="Times New Roman"/>
                <a:cs typeface="Times New Roman"/>
              </a:rPr>
              <a:t>of</a:t>
            </a:r>
            <a:r>
              <a:rPr sz="2000" spc="50" dirty="0">
                <a:latin typeface="Times New Roman"/>
                <a:cs typeface="Times New Roman"/>
              </a:rPr>
              <a:t> </a:t>
            </a:r>
            <a:r>
              <a:rPr sz="2000" dirty="0">
                <a:latin typeface="Times New Roman"/>
                <a:cs typeface="Times New Roman"/>
              </a:rPr>
              <a:t>a</a:t>
            </a:r>
            <a:r>
              <a:rPr sz="2000" spc="30" dirty="0">
                <a:latin typeface="Times New Roman"/>
                <a:cs typeface="Times New Roman"/>
              </a:rPr>
              <a:t> </a:t>
            </a:r>
            <a:r>
              <a:rPr sz="2000" dirty="0">
                <a:latin typeface="Times New Roman"/>
                <a:cs typeface="Times New Roman"/>
              </a:rPr>
              <a:t>key</a:t>
            </a:r>
            <a:r>
              <a:rPr sz="2000" spc="25" dirty="0">
                <a:latin typeface="Times New Roman"/>
                <a:cs typeface="Times New Roman"/>
              </a:rPr>
              <a:t> </a:t>
            </a:r>
            <a:r>
              <a:rPr sz="2000" dirty="0">
                <a:latin typeface="Times New Roman"/>
                <a:cs typeface="Times New Roman"/>
              </a:rPr>
              <a:t>object</a:t>
            </a:r>
            <a:r>
              <a:rPr sz="2000" spc="40" dirty="0">
                <a:latin typeface="Times New Roman"/>
                <a:cs typeface="Times New Roman"/>
              </a:rPr>
              <a:t> </a:t>
            </a:r>
            <a:r>
              <a:rPr sz="2000" spc="-25" dirty="0">
                <a:latin typeface="Times New Roman"/>
                <a:cs typeface="Times New Roman"/>
              </a:rPr>
              <a:t>and</a:t>
            </a:r>
            <a:endParaRPr sz="2000">
              <a:latin typeface="Times New Roman"/>
              <a:cs typeface="Times New Roman"/>
            </a:endParaRPr>
          </a:p>
          <a:p>
            <a:pPr marL="355600" algn="just">
              <a:lnSpc>
                <a:spcPct val="100000"/>
              </a:lnSpc>
              <a:spcBef>
                <a:spcPts val="5"/>
              </a:spcBef>
            </a:pPr>
            <a:r>
              <a:rPr sz="2000" dirty="0">
                <a:latin typeface="Times New Roman"/>
                <a:cs typeface="Times New Roman"/>
              </a:rPr>
              <a:t>a value</a:t>
            </a:r>
            <a:r>
              <a:rPr sz="2000" spc="-20" dirty="0">
                <a:latin typeface="Times New Roman"/>
                <a:cs typeface="Times New Roman"/>
              </a:rPr>
              <a:t> </a:t>
            </a:r>
            <a:r>
              <a:rPr sz="2000" spc="-10" dirty="0">
                <a:latin typeface="Times New Roman"/>
                <a:cs typeface="Times New Roman"/>
              </a:rPr>
              <a:t>object.</a:t>
            </a:r>
            <a:endParaRPr sz="2000">
              <a:latin typeface="Times New Roman"/>
              <a:cs typeface="Times New Roman"/>
            </a:endParaRPr>
          </a:p>
          <a:p>
            <a:pPr marL="355600" marR="8255" indent="-343535" algn="just">
              <a:lnSpc>
                <a:spcPct val="100000"/>
              </a:lnSpc>
              <a:spcBef>
                <a:spcPts val="480"/>
              </a:spcBef>
              <a:buChar char="•"/>
              <a:tabLst>
                <a:tab pos="355600" algn="l"/>
              </a:tabLst>
            </a:pPr>
            <a:r>
              <a:rPr sz="2000" dirty="0">
                <a:latin typeface="Times New Roman"/>
                <a:cs typeface="Times New Roman"/>
              </a:rPr>
              <a:t>The</a:t>
            </a:r>
            <a:r>
              <a:rPr sz="2000" spc="345" dirty="0">
                <a:latin typeface="Times New Roman"/>
                <a:cs typeface="Times New Roman"/>
              </a:rPr>
              <a:t> </a:t>
            </a:r>
            <a:r>
              <a:rPr sz="2000" dirty="0">
                <a:latin typeface="Times New Roman"/>
                <a:cs typeface="Times New Roman"/>
              </a:rPr>
              <a:t>key</a:t>
            </a:r>
            <a:r>
              <a:rPr sz="2000" spc="325" dirty="0">
                <a:latin typeface="Times New Roman"/>
                <a:cs typeface="Times New Roman"/>
              </a:rPr>
              <a:t> </a:t>
            </a:r>
            <a:r>
              <a:rPr sz="2000" dirty="0">
                <a:latin typeface="Times New Roman"/>
                <a:cs typeface="Times New Roman"/>
              </a:rPr>
              <a:t>object</a:t>
            </a:r>
            <a:r>
              <a:rPr sz="2000" spc="345" dirty="0">
                <a:latin typeface="Times New Roman"/>
                <a:cs typeface="Times New Roman"/>
              </a:rPr>
              <a:t> </a:t>
            </a:r>
            <a:r>
              <a:rPr sz="2000" dirty="0">
                <a:latin typeface="Times New Roman"/>
                <a:cs typeface="Times New Roman"/>
              </a:rPr>
              <a:t>contains</a:t>
            </a:r>
            <a:r>
              <a:rPr sz="2000" spc="350" dirty="0">
                <a:latin typeface="Times New Roman"/>
                <a:cs typeface="Times New Roman"/>
              </a:rPr>
              <a:t> </a:t>
            </a:r>
            <a:r>
              <a:rPr sz="2000" dirty="0">
                <a:latin typeface="Times New Roman"/>
                <a:cs typeface="Times New Roman"/>
              </a:rPr>
              <a:t>a</a:t>
            </a:r>
            <a:r>
              <a:rPr sz="2000" spc="325" dirty="0">
                <a:latin typeface="Times New Roman"/>
                <a:cs typeface="Times New Roman"/>
              </a:rPr>
              <a:t> </a:t>
            </a:r>
            <a:r>
              <a:rPr sz="2000" dirty="0">
                <a:latin typeface="Times New Roman"/>
                <a:cs typeface="Times New Roman"/>
              </a:rPr>
              <a:t>key</a:t>
            </a:r>
            <a:r>
              <a:rPr sz="2000" spc="340" dirty="0">
                <a:latin typeface="Times New Roman"/>
                <a:cs typeface="Times New Roman"/>
              </a:rPr>
              <a:t> </a:t>
            </a:r>
            <a:r>
              <a:rPr sz="2000" dirty="0">
                <a:latin typeface="Times New Roman"/>
                <a:cs typeface="Times New Roman"/>
              </a:rPr>
              <a:t>that</a:t>
            </a:r>
            <a:r>
              <a:rPr sz="2000" spc="335" dirty="0">
                <a:latin typeface="Times New Roman"/>
                <a:cs typeface="Times New Roman"/>
              </a:rPr>
              <a:t> </a:t>
            </a:r>
            <a:r>
              <a:rPr sz="2000" dirty="0">
                <a:latin typeface="Times New Roman"/>
                <a:cs typeface="Times New Roman"/>
              </a:rPr>
              <a:t>will</a:t>
            </a:r>
            <a:r>
              <a:rPr sz="2000" spc="320" dirty="0">
                <a:latin typeface="Times New Roman"/>
                <a:cs typeface="Times New Roman"/>
              </a:rPr>
              <a:t> </a:t>
            </a:r>
            <a:r>
              <a:rPr sz="2000" dirty="0">
                <a:latin typeface="Times New Roman"/>
                <a:cs typeface="Times New Roman"/>
              </a:rPr>
              <a:t>be</a:t>
            </a:r>
            <a:r>
              <a:rPr sz="2000" spc="345" dirty="0">
                <a:latin typeface="Times New Roman"/>
                <a:cs typeface="Times New Roman"/>
              </a:rPr>
              <a:t> </a:t>
            </a:r>
            <a:r>
              <a:rPr sz="2000" spc="-10" dirty="0">
                <a:latin typeface="Times New Roman"/>
                <a:cs typeface="Times New Roman"/>
              </a:rPr>
              <a:t>searched </a:t>
            </a:r>
            <a:r>
              <a:rPr sz="2000" spc="-20" dirty="0">
                <a:latin typeface="Times New Roman"/>
                <a:cs typeface="Times New Roman"/>
              </a:rPr>
              <a:t>for.</a:t>
            </a:r>
            <a:r>
              <a:rPr sz="2000" spc="-7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value</a:t>
            </a:r>
            <a:r>
              <a:rPr sz="2000" spc="-20" dirty="0">
                <a:latin typeface="Times New Roman"/>
                <a:cs typeface="Times New Roman"/>
              </a:rPr>
              <a:t> </a:t>
            </a:r>
            <a:r>
              <a:rPr sz="2000" dirty="0">
                <a:latin typeface="Times New Roman"/>
                <a:cs typeface="Times New Roman"/>
              </a:rPr>
              <a:t>object</a:t>
            </a:r>
            <a:r>
              <a:rPr sz="2000" spc="-35" dirty="0">
                <a:latin typeface="Times New Roman"/>
                <a:cs typeface="Times New Roman"/>
              </a:rPr>
              <a:t> </a:t>
            </a:r>
            <a:r>
              <a:rPr sz="2000" dirty="0">
                <a:latin typeface="Times New Roman"/>
                <a:cs typeface="Times New Roman"/>
              </a:rPr>
              <a:t>contains</a:t>
            </a:r>
            <a:r>
              <a:rPr sz="2000" spc="-30" dirty="0">
                <a:latin typeface="Times New Roman"/>
                <a:cs typeface="Times New Roman"/>
              </a:rPr>
              <a:t> </a:t>
            </a:r>
            <a:r>
              <a:rPr sz="2000" dirty="0">
                <a:latin typeface="Times New Roman"/>
                <a:cs typeface="Times New Roman"/>
              </a:rPr>
              <a:t>additional</a:t>
            </a:r>
            <a:r>
              <a:rPr sz="2000" spc="-45" dirty="0">
                <a:latin typeface="Times New Roman"/>
                <a:cs typeface="Times New Roman"/>
              </a:rPr>
              <a:t> </a:t>
            </a:r>
            <a:r>
              <a:rPr sz="2000" spc="-10" dirty="0">
                <a:latin typeface="Times New Roman"/>
                <a:cs typeface="Times New Roman"/>
              </a:rPr>
              <a:t>data.</a:t>
            </a:r>
            <a:endParaRPr sz="2000">
              <a:latin typeface="Times New Roman"/>
              <a:cs typeface="Times New Roman"/>
            </a:endParaRPr>
          </a:p>
          <a:p>
            <a:pPr marL="354965" indent="-342265" algn="just">
              <a:lnSpc>
                <a:spcPct val="100000"/>
              </a:lnSpc>
              <a:spcBef>
                <a:spcPts val="480"/>
              </a:spcBef>
              <a:buChar char="•"/>
              <a:tabLst>
                <a:tab pos="354965" algn="l"/>
              </a:tabLst>
            </a:pPr>
            <a:r>
              <a:rPr sz="2000" dirty="0">
                <a:latin typeface="Times New Roman"/>
                <a:cs typeface="Times New Roman"/>
              </a:rPr>
              <a:t>The</a:t>
            </a:r>
            <a:r>
              <a:rPr sz="2000" spc="80" dirty="0">
                <a:latin typeface="Times New Roman"/>
                <a:cs typeface="Times New Roman"/>
              </a:rPr>
              <a:t> </a:t>
            </a:r>
            <a:r>
              <a:rPr sz="2000" dirty="0">
                <a:latin typeface="Times New Roman"/>
                <a:cs typeface="Times New Roman"/>
              </a:rPr>
              <a:t>key</a:t>
            </a:r>
            <a:r>
              <a:rPr sz="2000" spc="80" dirty="0">
                <a:latin typeface="Times New Roman"/>
                <a:cs typeface="Times New Roman"/>
              </a:rPr>
              <a:t> </a:t>
            </a:r>
            <a:r>
              <a:rPr sz="2000" dirty="0">
                <a:latin typeface="Times New Roman"/>
                <a:cs typeface="Times New Roman"/>
              </a:rPr>
              <a:t>objects</a:t>
            </a:r>
            <a:r>
              <a:rPr sz="2000" spc="95" dirty="0">
                <a:latin typeface="Times New Roman"/>
                <a:cs typeface="Times New Roman"/>
              </a:rPr>
              <a:t> </a:t>
            </a:r>
            <a:r>
              <a:rPr sz="2000" dirty="0">
                <a:latin typeface="Times New Roman"/>
                <a:cs typeface="Times New Roman"/>
              </a:rPr>
              <a:t>can</a:t>
            </a:r>
            <a:r>
              <a:rPr sz="2000" spc="85" dirty="0">
                <a:latin typeface="Times New Roman"/>
                <a:cs typeface="Times New Roman"/>
              </a:rPr>
              <a:t> </a:t>
            </a:r>
            <a:r>
              <a:rPr sz="2000" dirty="0">
                <a:latin typeface="Times New Roman"/>
                <a:cs typeface="Times New Roman"/>
              </a:rPr>
              <a:t>be</a:t>
            </a:r>
            <a:r>
              <a:rPr sz="2000" spc="85" dirty="0">
                <a:latin typeface="Times New Roman"/>
                <a:cs typeface="Times New Roman"/>
              </a:rPr>
              <a:t> </a:t>
            </a:r>
            <a:r>
              <a:rPr sz="2000" dirty="0">
                <a:latin typeface="Times New Roman"/>
                <a:cs typeface="Times New Roman"/>
              </a:rPr>
              <a:t>strings,</a:t>
            </a:r>
            <a:r>
              <a:rPr sz="2000" spc="85" dirty="0">
                <a:latin typeface="Times New Roman"/>
                <a:cs typeface="Times New Roman"/>
              </a:rPr>
              <a:t> </a:t>
            </a:r>
            <a:r>
              <a:rPr sz="2000" dirty="0">
                <a:latin typeface="Times New Roman"/>
                <a:cs typeface="Times New Roman"/>
              </a:rPr>
              <a:t>numbers,</a:t>
            </a:r>
            <a:r>
              <a:rPr sz="2000" spc="85" dirty="0">
                <a:latin typeface="Times New Roman"/>
                <a:cs typeface="Times New Roman"/>
              </a:rPr>
              <a:t> </a:t>
            </a:r>
            <a:r>
              <a:rPr sz="2000" dirty="0">
                <a:latin typeface="Times New Roman"/>
                <a:cs typeface="Times New Roman"/>
              </a:rPr>
              <a:t>or</a:t>
            </a:r>
            <a:r>
              <a:rPr sz="2000" spc="75" dirty="0">
                <a:latin typeface="Times New Roman"/>
                <a:cs typeface="Times New Roman"/>
              </a:rPr>
              <a:t> </a:t>
            </a:r>
            <a:r>
              <a:rPr sz="2000" dirty="0">
                <a:latin typeface="Times New Roman"/>
                <a:cs typeface="Times New Roman"/>
              </a:rPr>
              <a:t>objects</a:t>
            </a:r>
            <a:r>
              <a:rPr sz="2000" spc="80" dirty="0">
                <a:latin typeface="Times New Roman"/>
                <a:cs typeface="Times New Roman"/>
              </a:rPr>
              <a:t> </a:t>
            </a:r>
            <a:r>
              <a:rPr sz="2000" spc="-25" dirty="0">
                <a:latin typeface="Times New Roman"/>
                <a:cs typeface="Times New Roman"/>
              </a:rPr>
              <a:t>of</a:t>
            </a:r>
            <a:endParaRPr sz="2000">
              <a:latin typeface="Times New Roman"/>
              <a:cs typeface="Times New Roman"/>
            </a:endParaRPr>
          </a:p>
          <a:p>
            <a:pPr marL="355600" algn="just">
              <a:lnSpc>
                <a:spcPct val="100000"/>
              </a:lnSpc>
            </a:pPr>
            <a:r>
              <a:rPr sz="2000" dirty="0">
                <a:latin typeface="Times New Roman"/>
                <a:cs typeface="Times New Roman"/>
              </a:rPr>
              <a:t>more</a:t>
            </a:r>
            <a:r>
              <a:rPr sz="2000" spc="-30" dirty="0">
                <a:latin typeface="Times New Roman"/>
                <a:cs typeface="Times New Roman"/>
              </a:rPr>
              <a:t> </a:t>
            </a:r>
            <a:r>
              <a:rPr sz="2000" dirty="0">
                <a:latin typeface="Times New Roman"/>
                <a:cs typeface="Times New Roman"/>
              </a:rPr>
              <a:t>complex</a:t>
            </a:r>
            <a:r>
              <a:rPr sz="2000" spc="-25" dirty="0">
                <a:latin typeface="Times New Roman"/>
                <a:cs typeface="Times New Roman"/>
              </a:rPr>
              <a:t> </a:t>
            </a:r>
            <a:r>
              <a:rPr sz="2000" spc="-10" dirty="0">
                <a:latin typeface="Times New Roman"/>
                <a:cs typeface="Times New Roman"/>
              </a:rPr>
              <a:t>classes.</a:t>
            </a:r>
            <a:endParaRPr sz="2000">
              <a:latin typeface="Times New Roman"/>
              <a:cs typeface="Times New Roman"/>
            </a:endParaRPr>
          </a:p>
          <a:p>
            <a:pPr marL="355600" marR="6350" indent="-343535" algn="just">
              <a:lnSpc>
                <a:spcPct val="100000"/>
              </a:lnSpc>
              <a:spcBef>
                <a:spcPts val="480"/>
              </a:spcBef>
              <a:buChar char="•"/>
              <a:tabLst>
                <a:tab pos="355600" algn="l"/>
              </a:tabLst>
            </a:pPr>
            <a:r>
              <a:rPr sz="2000" dirty="0">
                <a:latin typeface="Times New Roman"/>
                <a:cs typeface="Times New Roman"/>
              </a:rPr>
              <a:t>The</a:t>
            </a:r>
            <a:r>
              <a:rPr sz="2000" spc="160" dirty="0">
                <a:latin typeface="Times New Roman"/>
                <a:cs typeface="Times New Roman"/>
              </a:rPr>
              <a:t> </a:t>
            </a:r>
            <a:r>
              <a:rPr sz="2000" dirty="0">
                <a:latin typeface="Times New Roman"/>
                <a:cs typeface="Times New Roman"/>
              </a:rPr>
              <a:t>values</a:t>
            </a:r>
            <a:r>
              <a:rPr sz="2000" spc="160" dirty="0">
                <a:latin typeface="Times New Roman"/>
                <a:cs typeface="Times New Roman"/>
              </a:rPr>
              <a:t> </a:t>
            </a:r>
            <a:r>
              <a:rPr sz="2000" dirty="0">
                <a:latin typeface="Times New Roman"/>
                <a:cs typeface="Times New Roman"/>
              </a:rPr>
              <a:t>are</a:t>
            </a:r>
            <a:r>
              <a:rPr sz="2000" spc="160" dirty="0">
                <a:latin typeface="Times New Roman"/>
                <a:cs typeface="Times New Roman"/>
              </a:rPr>
              <a:t> </a:t>
            </a:r>
            <a:r>
              <a:rPr sz="2000" dirty="0">
                <a:latin typeface="Times New Roman"/>
                <a:cs typeface="Times New Roman"/>
              </a:rPr>
              <a:t>often</a:t>
            </a:r>
            <a:r>
              <a:rPr sz="2000" spc="165" dirty="0">
                <a:latin typeface="Times New Roman"/>
                <a:cs typeface="Times New Roman"/>
              </a:rPr>
              <a:t> </a:t>
            </a:r>
            <a:r>
              <a:rPr sz="2000" dirty="0">
                <a:latin typeface="Times New Roman"/>
                <a:cs typeface="Times New Roman"/>
              </a:rPr>
              <a:t>strings</a:t>
            </a:r>
            <a:r>
              <a:rPr sz="2000" spc="145" dirty="0">
                <a:latin typeface="Times New Roman"/>
                <a:cs typeface="Times New Roman"/>
              </a:rPr>
              <a:t> </a:t>
            </a:r>
            <a:r>
              <a:rPr sz="2000" dirty="0">
                <a:latin typeface="Times New Roman"/>
                <a:cs typeface="Times New Roman"/>
              </a:rPr>
              <a:t>or</a:t>
            </a:r>
            <a:r>
              <a:rPr sz="2000" spc="145" dirty="0">
                <a:latin typeface="Times New Roman"/>
                <a:cs typeface="Times New Roman"/>
              </a:rPr>
              <a:t> </a:t>
            </a:r>
            <a:r>
              <a:rPr sz="2000" dirty="0">
                <a:latin typeface="Times New Roman"/>
                <a:cs typeface="Times New Roman"/>
              </a:rPr>
              <a:t>numbers,</a:t>
            </a:r>
            <a:r>
              <a:rPr sz="2000" spc="165" dirty="0">
                <a:latin typeface="Times New Roman"/>
                <a:cs typeface="Times New Roman"/>
              </a:rPr>
              <a:t> </a:t>
            </a:r>
            <a:r>
              <a:rPr sz="2000" dirty="0">
                <a:latin typeface="Times New Roman"/>
                <a:cs typeface="Times New Roman"/>
              </a:rPr>
              <a:t>but</a:t>
            </a:r>
            <a:r>
              <a:rPr sz="2000" spc="150" dirty="0">
                <a:latin typeface="Times New Roman"/>
                <a:cs typeface="Times New Roman"/>
              </a:rPr>
              <a:t> </a:t>
            </a:r>
            <a:r>
              <a:rPr sz="2000" dirty="0">
                <a:latin typeface="Times New Roman"/>
                <a:cs typeface="Times New Roman"/>
              </a:rPr>
              <a:t>they</a:t>
            </a:r>
            <a:r>
              <a:rPr sz="2000" spc="155" dirty="0">
                <a:latin typeface="Times New Roman"/>
                <a:cs typeface="Times New Roman"/>
              </a:rPr>
              <a:t> </a:t>
            </a:r>
            <a:r>
              <a:rPr sz="2000" spc="-25" dirty="0">
                <a:latin typeface="Times New Roman"/>
                <a:cs typeface="Times New Roman"/>
              </a:rPr>
              <a:t>can </a:t>
            </a:r>
            <a:r>
              <a:rPr sz="2000" dirty="0">
                <a:latin typeface="Times New Roman"/>
                <a:cs typeface="Times New Roman"/>
              </a:rPr>
              <a:t>also</a:t>
            </a:r>
            <a:r>
              <a:rPr sz="2000" spc="-15" dirty="0">
                <a:latin typeface="Times New Roman"/>
                <a:cs typeface="Times New Roman"/>
              </a:rPr>
              <a:t> </a:t>
            </a:r>
            <a:r>
              <a:rPr sz="2000" dirty="0">
                <a:latin typeface="Times New Roman"/>
                <a:cs typeface="Times New Roman"/>
              </a:rPr>
              <a:t>be</a:t>
            </a:r>
            <a:r>
              <a:rPr sz="2000" spc="-10" dirty="0">
                <a:latin typeface="Times New Roman"/>
                <a:cs typeface="Times New Roman"/>
              </a:rPr>
              <a:t> </a:t>
            </a:r>
            <a:r>
              <a:rPr sz="2000" dirty="0">
                <a:latin typeface="Times New Roman"/>
                <a:cs typeface="Times New Roman"/>
              </a:rPr>
              <a:t>objects</a:t>
            </a:r>
            <a:r>
              <a:rPr sz="2000" spc="-30"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dirty="0">
                <a:latin typeface="Times New Roman"/>
                <a:cs typeface="Times New Roman"/>
              </a:rPr>
              <a:t>even</a:t>
            </a:r>
            <a:r>
              <a:rPr sz="2000" spc="-10" dirty="0">
                <a:latin typeface="Times New Roman"/>
                <a:cs typeface="Times New Roman"/>
              </a:rPr>
              <a:t> containers.</a:t>
            </a:r>
            <a:endParaRPr sz="2000">
              <a:latin typeface="Times New Roman"/>
              <a:cs typeface="Times New Roman"/>
            </a:endParaRPr>
          </a:p>
          <a:p>
            <a:pPr marL="354330" marR="5080" indent="-342265" algn="just">
              <a:lnSpc>
                <a:spcPct val="100000"/>
              </a:lnSpc>
              <a:spcBef>
                <a:spcPts val="480"/>
              </a:spcBef>
              <a:buChar char="•"/>
              <a:tabLst>
                <a:tab pos="355600" algn="l"/>
              </a:tabLst>
            </a:pPr>
            <a:r>
              <a:rPr sz="2000" dirty="0">
                <a:latin typeface="Times New Roman"/>
                <a:cs typeface="Times New Roman"/>
              </a:rPr>
              <a:t>For</a:t>
            </a:r>
            <a:r>
              <a:rPr sz="2000" spc="195" dirty="0">
                <a:latin typeface="Times New Roman"/>
                <a:cs typeface="Times New Roman"/>
              </a:rPr>
              <a:t> </a:t>
            </a:r>
            <a:r>
              <a:rPr sz="2000" dirty="0">
                <a:latin typeface="Times New Roman"/>
                <a:cs typeface="Times New Roman"/>
              </a:rPr>
              <a:t>example,</a:t>
            </a:r>
            <a:r>
              <a:rPr sz="2000" spc="195" dirty="0">
                <a:latin typeface="Times New Roman"/>
                <a:cs typeface="Times New Roman"/>
              </a:rPr>
              <a:t> </a:t>
            </a:r>
            <a:r>
              <a:rPr sz="2000" dirty="0">
                <a:latin typeface="Times New Roman"/>
                <a:cs typeface="Times New Roman"/>
              </a:rPr>
              <a:t>the</a:t>
            </a:r>
            <a:r>
              <a:rPr sz="2000" spc="200" dirty="0">
                <a:latin typeface="Times New Roman"/>
                <a:cs typeface="Times New Roman"/>
              </a:rPr>
              <a:t> </a:t>
            </a:r>
            <a:r>
              <a:rPr sz="2000" dirty="0">
                <a:latin typeface="Times New Roman"/>
                <a:cs typeface="Times New Roman"/>
              </a:rPr>
              <a:t>key</a:t>
            </a:r>
            <a:r>
              <a:rPr sz="2000" spc="185" dirty="0">
                <a:latin typeface="Times New Roman"/>
                <a:cs typeface="Times New Roman"/>
              </a:rPr>
              <a:t> </a:t>
            </a:r>
            <a:r>
              <a:rPr sz="2000" dirty="0">
                <a:latin typeface="Times New Roman"/>
                <a:cs typeface="Times New Roman"/>
              </a:rPr>
              <a:t>could</a:t>
            </a:r>
            <a:r>
              <a:rPr sz="2000" spc="190" dirty="0">
                <a:latin typeface="Times New Roman"/>
                <a:cs typeface="Times New Roman"/>
              </a:rPr>
              <a:t> </a:t>
            </a:r>
            <a:r>
              <a:rPr sz="2000" dirty="0">
                <a:latin typeface="Times New Roman"/>
                <a:cs typeface="Times New Roman"/>
              </a:rPr>
              <a:t>be</a:t>
            </a:r>
            <a:r>
              <a:rPr sz="2000" spc="195" dirty="0">
                <a:latin typeface="Times New Roman"/>
                <a:cs typeface="Times New Roman"/>
              </a:rPr>
              <a:t> </a:t>
            </a:r>
            <a:r>
              <a:rPr sz="2000" dirty="0">
                <a:latin typeface="Times New Roman"/>
                <a:cs typeface="Times New Roman"/>
              </a:rPr>
              <a:t>a</a:t>
            </a:r>
            <a:r>
              <a:rPr sz="2000" spc="190" dirty="0">
                <a:latin typeface="Times New Roman"/>
                <a:cs typeface="Times New Roman"/>
              </a:rPr>
              <a:t> </a:t>
            </a:r>
            <a:r>
              <a:rPr sz="2000" dirty="0">
                <a:latin typeface="Times New Roman"/>
                <a:cs typeface="Times New Roman"/>
              </a:rPr>
              <a:t>word,</a:t>
            </a:r>
            <a:r>
              <a:rPr sz="2000" spc="204" dirty="0">
                <a:latin typeface="Times New Roman"/>
                <a:cs typeface="Times New Roman"/>
              </a:rPr>
              <a:t> </a:t>
            </a:r>
            <a:r>
              <a:rPr sz="2000" dirty="0">
                <a:latin typeface="Times New Roman"/>
                <a:cs typeface="Times New Roman"/>
              </a:rPr>
              <a:t>and</a:t>
            </a:r>
            <a:r>
              <a:rPr sz="2000" spc="200" dirty="0">
                <a:latin typeface="Times New Roman"/>
                <a:cs typeface="Times New Roman"/>
              </a:rPr>
              <a:t> </a:t>
            </a:r>
            <a:r>
              <a:rPr sz="2000" dirty="0">
                <a:latin typeface="Times New Roman"/>
                <a:cs typeface="Times New Roman"/>
              </a:rPr>
              <a:t>the</a:t>
            </a:r>
            <a:r>
              <a:rPr sz="2000" spc="180" dirty="0">
                <a:latin typeface="Times New Roman"/>
                <a:cs typeface="Times New Roman"/>
              </a:rPr>
              <a:t> </a:t>
            </a:r>
            <a:r>
              <a:rPr sz="2000" spc="-10" dirty="0">
                <a:latin typeface="Times New Roman"/>
                <a:cs typeface="Times New Roman"/>
              </a:rPr>
              <a:t>value 	</a:t>
            </a:r>
            <a:r>
              <a:rPr sz="2000" dirty="0">
                <a:latin typeface="Times New Roman"/>
                <a:cs typeface="Times New Roman"/>
              </a:rPr>
              <a:t>could</a:t>
            </a:r>
            <a:r>
              <a:rPr sz="2000" spc="160" dirty="0">
                <a:latin typeface="Times New Roman"/>
                <a:cs typeface="Times New Roman"/>
              </a:rPr>
              <a:t> </a:t>
            </a:r>
            <a:r>
              <a:rPr sz="2000" dirty="0">
                <a:latin typeface="Times New Roman"/>
                <a:cs typeface="Times New Roman"/>
              </a:rPr>
              <a:t>be</a:t>
            </a:r>
            <a:r>
              <a:rPr sz="2000" spc="170" dirty="0">
                <a:latin typeface="Times New Roman"/>
                <a:cs typeface="Times New Roman"/>
              </a:rPr>
              <a:t> </a:t>
            </a:r>
            <a:r>
              <a:rPr sz="2000" dirty="0">
                <a:latin typeface="Times New Roman"/>
                <a:cs typeface="Times New Roman"/>
              </a:rPr>
              <a:t>a</a:t>
            </a:r>
            <a:r>
              <a:rPr sz="2000" spc="170" dirty="0">
                <a:latin typeface="Times New Roman"/>
                <a:cs typeface="Times New Roman"/>
              </a:rPr>
              <a:t> </a:t>
            </a:r>
            <a:r>
              <a:rPr sz="2000" dirty="0">
                <a:latin typeface="Times New Roman"/>
                <a:cs typeface="Times New Roman"/>
              </a:rPr>
              <a:t>number</a:t>
            </a:r>
            <a:r>
              <a:rPr sz="2000" spc="185" dirty="0">
                <a:latin typeface="Times New Roman"/>
                <a:cs typeface="Times New Roman"/>
              </a:rPr>
              <a:t> </a:t>
            </a:r>
            <a:r>
              <a:rPr sz="2000" dirty="0">
                <a:latin typeface="Times New Roman"/>
                <a:cs typeface="Times New Roman"/>
              </a:rPr>
              <a:t>representing</a:t>
            </a:r>
            <a:r>
              <a:rPr sz="2000" spc="180" dirty="0">
                <a:latin typeface="Times New Roman"/>
                <a:cs typeface="Times New Roman"/>
              </a:rPr>
              <a:t> </a:t>
            </a:r>
            <a:r>
              <a:rPr sz="2000" dirty="0">
                <a:latin typeface="Times New Roman"/>
                <a:cs typeface="Times New Roman"/>
              </a:rPr>
              <a:t>how</a:t>
            </a:r>
            <a:r>
              <a:rPr sz="2000" spc="180" dirty="0">
                <a:latin typeface="Times New Roman"/>
                <a:cs typeface="Times New Roman"/>
              </a:rPr>
              <a:t> </a:t>
            </a:r>
            <a:r>
              <a:rPr sz="2000" dirty="0">
                <a:latin typeface="Times New Roman"/>
                <a:cs typeface="Times New Roman"/>
              </a:rPr>
              <a:t>many</a:t>
            </a:r>
            <a:r>
              <a:rPr sz="2000" spc="175" dirty="0">
                <a:latin typeface="Times New Roman"/>
                <a:cs typeface="Times New Roman"/>
              </a:rPr>
              <a:t> </a:t>
            </a:r>
            <a:r>
              <a:rPr sz="2000" dirty="0">
                <a:latin typeface="Times New Roman"/>
                <a:cs typeface="Times New Roman"/>
              </a:rPr>
              <a:t>times</a:t>
            </a:r>
            <a:r>
              <a:rPr sz="2000" spc="175" dirty="0">
                <a:latin typeface="Times New Roman"/>
                <a:cs typeface="Times New Roman"/>
              </a:rPr>
              <a:t> </a:t>
            </a:r>
            <a:r>
              <a:rPr sz="2000" spc="-20" dirty="0">
                <a:latin typeface="Times New Roman"/>
                <a:cs typeface="Times New Roman"/>
              </a:rPr>
              <a:t>that 	</a:t>
            </a:r>
            <a:r>
              <a:rPr sz="2000" dirty="0">
                <a:latin typeface="Times New Roman"/>
                <a:cs typeface="Times New Roman"/>
              </a:rPr>
              <a:t>word</a:t>
            </a:r>
            <a:r>
              <a:rPr sz="2000" spc="65" dirty="0">
                <a:latin typeface="Times New Roman"/>
                <a:cs typeface="Times New Roman"/>
              </a:rPr>
              <a:t> </a:t>
            </a:r>
            <a:r>
              <a:rPr sz="2000" dirty="0">
                <a:latin typeface="Times New Roman"/>
                <a:cs typeface="Times New Roman"/>
              </a:rPr>
              <a:t>appears</a:t>
            </a:r>
            <a:r>
              <a:rPr sz="2000" spc="60" dirty="0">
                <a:latin typeface="Times New Roman"/>
                <a:cs typeface="Times New Roman"/>
              </a:rPr>
              <a:t> </a:t>
            </a:r>
            <a:r>
              <a:rPr sz="2000" dirty="0">
                <a:latin typeface="Times New Roman"/>
                <a:cs typeface="Times New Roman"/>
              </a:rPr>
              <a:t>in</a:t>
            </a:r>
            <a:r>
              <a:rPr sz="2000" spc="60" dirty="0">
                <a:latin typeface="Times New Roman"/>
                <a:cs typeface="Times New Roman"/>
              </a:rPr>
              <a:t> </a:t>
            </a:r>
            <a:r>
              <a:rPr sz="2000" dirty="0">
                <a:latin typeface="Times New Roman"/>
                <a:cs typeface="Times New Roman"/>
              </a:rPr>
              <a:t>a</a:t>
            </a:r>
            <a:r>
              <a:rPr sz="2000" spc="40" dirty="0">
                <a:latin typeface="Times New Roman"/>
                <a:cs typeface="Times New Roman"/>
              </a:rPr>
              <a:t> </a:t>
            </a:r>
            <a:r>
              <a:rPr sz="2000" dirty="0">
                <a:latin typeface="Times New Roman"/>
                <a:cs typeface="Times New Roman"/>
              </a:rPr>
              <a:t>document.</a:t>
            </a:r>
            <a:r>
              <a:rPr sz="2000" spc="50" dirty="0">
                <a:latin typeface="Times New Roman"/>
                <a:cs typeface="Times New Roman"/>
              </a:rPr>
              <a:t> </a:t>
            </a:r>
            <a:r>
              <a:rPr sz="2000" dirty="0">
                <a:latin typeface="Times New Roman"/>
                <a:cs typeface="Times New Roman"/>
              </a:rPr>
              <a:t>Such</a:t>
            </a:r>
            <a:r>
              <a:rPr sz="2000" spc="60" dirty="0">
                <a:latin typeface="Times New Roman"/>
                <a:cs typeface="Times New Roman"/>
              </a:rPr>
              <a:t> </a:t>
            </a:r>
            <a:r>
              <a:rPr sz="2000" dirty="0">
                <a:latin typeface="Times New Roman"/>
                <a:cs typeface="Times New Roman"/>
              </a:rPr>
              <a:t>a</a:t>
            </a:r>
            <a:r>
              <a:rPr sz="2000" spc="50" dirty="0">
                <a:latin typeface="Times New Roman"/>
                <a:cs typeface="Times New Roman"/>
              </a:rPr>
              <a:t> </a:t>
            </a:r>
            <a:r>
              <a:rPr sz="2000" dirty="0">
                <a:latin typeface="Times New Roman"/>
                <a:cs typeface="Times New Roman"/>
              </a:rPr>
              <a:t>map</a:t>
            </a:r>
            <a:r>
              <a:rPr sz="2000" spc="60" dirty="0">
                <a:latin typeface="Times New Roman"/>
                <a:cs typeface="Times New Roman"/>
              </a:rPr>
              <a:t> </a:t>
            </a:r>
            <a:r>
              <a:rPr sz="2000" dirty="0">
                <a:latin typeface="Times New Roman"/>
                <a:cs typeface="Times New Roman"/>
              </a:rPr>
              <a:t>constitutes</a:t>
            </a:r>
            <a:r>
              <a:rPr sz="2000" spc="50" dirty="0">
                <a:latin typeface="Times New Roman"/>
                <a:cs typeface="Times New Roman"/>
              </a:rPr>
              <a:t> </a:t>
            </a:r>
            <a:r>
              <a:rPr sz="2000" spc="-50" dirty="0">
                <a:latin typeface="Times New Roman"/>
                <a:cs typeface="Times New Roman"/>
              </a:rPr>
              <a:t>a 	</a:t>
            </a:r>
            <a:r>
              <a:rPr sz="2000" dirty="0">
                <a:latin typeface="Times New Roman"/>
                <a:cs typeface="Times New Roman"/>
              </a:rPr>
              <a:t>frequency</a:t>
            </a:r>
            <a:r>
              <a:rPr sz="2000" spc="-40" dirty="0">
                <a:latin typeface="Times New Roman"/>
                <a:cs typeface="Times New Roman"/>
              </a:rPr>
              <a:t> </a:t>
            </a:r>
            <a:r>
              <a:rPr sz="2000" spc="-10" dirty="0">
                <a:latin typeface="Times New Roman"/>
                <a:cs typeface="Times New Roman"/>
              </a:rPr>
              <a:t>table.</a:t>
            </a:r>
            <a:endParaRPr sz="2000">
              <a:latin typeface="Times New Roman"/>
              <a:cs typeface="Times New Roman"/>
            </a:endParaRPr>
          </a:p>
          <a:p>
            <a:pPr marL="354965" indent="-342265" algn="just">
              <a:lnSpc>
                <a:spcPct val="100000"/>
              </a:lnSpc>
              <a:spcBef>
                <a:spcPts val="480"/>
              </a:spcBef>
              <a:buChar char="•"/>
              <a:tabLst>
                <a:tab pos="354965" algn="l"/>
              </a:tabLst>
            </a:pPr>
            <a:r>
              <a:rPr sz="2000" dirty="0">
                <a:latin typeface="Times New Roman"/>
                <a:cs typeface="Times New Roman"/>
              </a:rPr>
              <a:t>Each</a:t>
            </a:r>
            <a:r>
              <a:rPr sz="2000" spc="-15" dirty="0">
                <a:latin typeface="Times New Roman"/>
                <a:cs typeface="Times New Roman"/>
              </a:rPr>
              <a:t> </a:t>
            </a:r>
            <a:r>
              <a:rPr sz="2000" dirty="0">
                <a:latin typeface="Times New Roman"/>
                <a:cs typeface="Times New Roman"/>
              </a:rPr>
              <a:t>key</a:t>
            </a:r>
            <a:r>
              <a:rPr sz="2000" spc="-15" dirty="0">
                <a:latin typeface="Times New Roman"/>
                <a:cs typeface="Times New Roman"/>
              </a:rPr>
              <a:t> </a:t>
            </a:r>
            <a:r>
              <a:rPr sz="2000" dirty="0">
                <a:latin typeface="Times New Roman"/>
                <a:cs typeface="Times New Roman"/>
              </a:rPr>
              <a:t>has</a:t>
            </a:r>
            <a:r>
              <a:rPr sz="2000" spc="-15"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be</a:t>
            </a:r>
            <a:r>
              <a:rPr sz="2000" spc="-15" dirty="0">
                <a:latin typeface="Times New Roman"/>
                <a:cs typeface="Times New Roman"/>
              </a:rPr>
              <a:t> </a:t>
            </a:r>
            <a:r>
              <a:rPr sz="2000" spc="-10" dirty="0">
                <a:latin typeface="Times New Roman"/>
                <a:cs typeface="Times New Roman"/>
              </a:rPr>
              <a:t>unique.</a:t>
            </a:r>
            <a:endParaRPr sz="2000">
              <a:latin typeface="Times New Roman"/>
              <a:cs typeface="Times New Roman"/>
            </a:endParaRPr>
          </a:p>
        </p:txBody>
      </p:sp>
      <p:pic>
        <p:nvPicPr>
          <p:cNvPr id="4" name="object 4"/>
          <p:cNvPicPr/>
          <p:nvPr/>
        </p:nvPicPr>
        <p:blipFill>
          <a:blip r:embed="rId2" cstate="print"/>
          <a:stretch>
            <a:fillRect/>
          </a:stretch>
        </p:blipFill>
        <p:spPr>
          <a:xfrm>
            <a:off x="7577328" y="738519"/>
            <a:ext cx="4079205" cy="5359263"/>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9A95B6AB-CC60-AEFD-A550-BB8CB9974B03}"/>
              </a:ext>
            </a:extLst>
          </p:cNvPr>
          <p:cNvSpPr>
            <a:spLocks noGrp="1"/>
          </p:cNvSpPr>
          <p:nvPr>
            <p:ph type="dt" sz="half" idx="10"/>
          </p:nvPr>
        </p:nvSpPr>
        <p:spPr/>
        <p:txBody>
          <a:bodyPr/>
          <a:lstStyle/>
          <a:p>
            <a:fld id="{F1BCA46D-98D5-4F2F-ADDD-2EEA48945896}" type="datetime1">
              <a:rPr lang="en-US" smtClean="0"/>
              <a:t>11/17/2025</a:t>
            </a:fld>
            <a:endParaRPr lang="en-US"/>
          </a:p>
        </p:txBody>
      </p:sp>
      <p:sp>
        <p:nvSpPr>
          <p:cNvPr id="10" name="Slide Number Placeholder 9">
            <a:extLst>
              <a:ext uri="{FF2B5EF4-FFF2-40B4-BE49-F238E27FC236}">
                <a16:creationId xmlns:a16="http://schemas.microsoft.com/office/drawing/2014/main" id="{A1C1B6D8-F20D-2B17-4AC2-137C2F50E3C0}"/>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56</a:t>
            </a:fld>
            <a:endParaRPr spc="-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350" y="864108"/>
            <a:ext cx="12204700" cy="6000750"/>
            <a:chOff x="-6350" y="864108"/>
            <a:chExt cx="12204700" cy="6000750"/>
          </a:xfrm>
        </p:grpSpPr>
        <p:pic>
          <p:nvPicPr>
            <p:cNvPr id="3" name="object 3"/>
            <p:cNvPicPr/>
            <p:nvPr/>
          </p:nvPicPr>
          <p:blipFill>
            <a:blip r:embed="rId2" cstate="print"/>
            <a:stretch>
              <a:fillRect/>
            </a:stretch>
          </p:blipFill>
          <p:spPr>
            <a:xfrm>
              <a:off x="5401055" y="864108"/>
              <a:ext cx="5629655" cy="5448300"/>
            </a:xfrm>
            <a:prstGeom prst="rect">
              <a:avLst/>
            </a:prstGeom>
          </p:spPr>
        </p:pic>
        <p:pic>
          <p:nvPicPr>
            <p:cNvPr id="4" name="object 4"/>
            <p:cNvPicPr/>
            <p:nvPr/>
          </p:nvPicPr>
          <p:blipFill>
            <a:blip r:embed="rId3" cstate="print"/>
            <a:stretch>
              <a:fillRect/>
            </a:stretch>
          </p:blipFill>
          <p:spPr>
            <a:xfrm>
              <a:off x="1903122" y="5788865"/>
              <a:ext cx="2102614" cy="404605"/>
            </a:xfrm>
            <a:prstGeom prst="rect">
              <a:avLst/>
            </a:prstGeom>
          </p:spPr>
        </p:pic>
      </p:grpSp>
      <p:sp>
        <p:nvSpPr>
          <p:cNvPr id="5" name="object 5"/>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20" dirty="0"/>
              <a:t>Maps</a:t>
            </a:r>
          </a:p>
        </p:txBody>
      </p:sp>
      <p:sp>
        <p:nvSpPr>
          <p:cNvPr id="8" name="object 8"/>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6" name="object 6"/>
          <p:cNvPicPr/>
          <p:nvPr/>
        </p:nvPicPr>
        <p:blipFill>
          <a:blip r:embed="rId4" cstate="print"/>
          <a:stretch>
            <a:fillRect/>
          </a:stretch>
        </p:blipFill>
        <p:spPr>
          <a:xfrm>
            <a:off x="5429637" y="71646"/>
            <a:ext cx="1676758" cy="714719"/>
          </a:xfrm>
          <a:prstGeom prst="rect">
            <a:avLst/>
          </a:prstGeom>
        </p:spPr>
      </p:pic>
      <p:sp>
        <p:nvSpPr>
          <p:cNvPr id="7" name="object 7"/>
          <p:cNvSpPr txBox="1"/>
          <p:nvPr/>
        </p:nvSpPr>
        <p:spPr>
          <a:xfrm>
            <a:off x="597204" y="1565528"/>
            <a:ext cx="4697730" cy="3989704"/>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definition</a:t>
            </a:r>
            <a:r>
              <a:rPr sz="2000" spc="-40"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a</a:t>
            </a:r>
            <a:r>
              <a:rPr sz="2000" spc="-20" dirty="0">
                <a:latin typeface="Times New Roman"/>
                <a:cs typeface="Times New Roman"/>
              </a:rPr>
              <a:t> </a:t>
            </a:r>
            <a:r>
              <a:rPr sz="2000" dirty="0">
                <a:latin typeface="Times New Roman"/>
                <a:cs typeface="Times New Roman"/>
              </a:rPr>
              <a:t>map</a:t>
            </a:r>
            <a:r>
              <a:rPr sz="2000" spc="10" dirty="0">
                <a:latin typeface="Times New Roman"/>
                <a:cs typeface="Times New Roman"/>
              </a:rPr>
              <a:t> </a:t>
            </a:r>
            <a:r>
              <a:rPr sz="2000" dirty="0">
                <a:latin typeface="Times New Roman"/>
                <a:cs typeface="Times New Roman"/>
              </a:rPr>
              <a:t>takes</a:t>
            </a:r>
            <a:r>
              <a:rPr sz="2000" spc="-20" dirty="0">
                <a:latin typeface="Times New Roman"/>
                <a:cs typeface="Times New Roman"/>
              </a:rPr>
              <a:t> </a:t>
            </a:r>
            <a:r>
              <a:rPr sz="2000" dirty="0">
                <a:latin typeface="Times New Roman"/>
                <a:cs typeface="Times New Roman"/>
              </a:rPr>
              <a:t>three</a:t>
            </a:r>
            <a:r>
              <a:rPr sz="2000" spc="-25" dirty="0">
                <a:latin typeface="Times New Roman"/>
                <a:cs typeface="Times New Roman"/>
              </a:rPr>
              <a:t> </a:t>
            </a:r>
            <a:r>
              <a:rPr sz="2000" spc="-10" dirty="0">
                <a:latin typeface="Times New Roman"/>
                <a:cs typeface="Times New Roman"/>
              </a:rPr>
              <a:t>template</a:t>
            </a:r>
            <a:endParaRPr sz="2000">
              <a:latin typeface="Times New Roman"/>
              <a:cs typeface="Times New Roman"/>
            </a:endParaRPr>
          </a:p>
          <a:p>
            <a:pPr marL="12700">
              <a:lnSpc>
                <a:spcPct val="100000"/>
              </a:lnSpc>
            </a:pPr>
            <a:r>
              <a:rPr sz="2000" spc="-10" dirty="0">
                <a:latin typeface="Times New Roman"/>
                <a:cs typeface="Times New Roman"/>
              </a:rPr>
              <a:t>arguments:</a:t>
            </a:r>
            <a:endParaRPr sz="2000">
              <a:latin typeface="Times New Roman"/>
              <a:cs typeface="Times New Roman"/>
            </a:endParaRPr>
          </a:p>
          <a:p>
            <a:pPr marL="12700">
              <a:lnSpc>
                <a:spcPct val="100000"/>
              </a:lnSpc>
            </a:pPr>
            <a:r>
              <a:rPr sz="2000" b="1" dirty="0">
                <a:latin typeface="Times New Roman"/>
                <a:cs typeface="Times New Roman"/>
              </a:rPr>
              <a:t>map&lt;string,</a:t>
            </a:r>
            <a:r>
              <a:rPr sz="2000" b="1" spc="-60" dirty="0">
                <a:latin typeface="Times New Roman"/>
                <a:cs typeface="Times New Roman"/>
              </a:rPr>
              <a:t> </a:t>
            </a:r>
            <a:r>
              <a:rPr sz="2000" b="1" dirty="0">
                <a:latin typeface="Times New Roman"/>
                <a:cs typeface="Times New Roman"/>
              </a:rPr>
              <a:t>int,</a:t>
            </a:r>
            <a:r>
              <a:rPr sz="2000" b="1" spc="-20" dirty="0">
                <a:latin typeface="Times New Roman"/>
                <a:cs typeface="Times New Roman"/>
              </a:rPr>
              <a:t> </a:t>
            </a:r>
            <a:r>
              <a:rPr sz="2000" b="1" dirty="0">
                <a:latin typeface="Times New Roman"/>
                <a:cs typeface="Times New Roman"/>
              </a:rPr>
              <a:t>less&lt;string&gt;</a:t>
            </a:r>
            <a:r>
              <a:rPr sz="2000" b="1" spc="-50" dirty="0">
                <a:latin typeface="Times New Roman"/>
                <a:cs typeface="Times New Roman"/>
              </a:rPr>
              <a:t> </a:t>
            </a:r>
            <a:r>
              <a:rPr sz="2000" b="1" dirty="0">
                <a:latin typeface="Times New Roman"/>
                <a:cs typeface="Times New Roman"/>
              </a:rPr>
              <a:t>&gt; </a:t>
            </a:r>
            <a:r>
              <a:rPr sz="2000" b="1" spc="-10" dirty="0">
                <a:latin typeface="Times New Roman"/>
                <a:cs typeface="Times New Roman"/>
              </a:rPr>
              <a:t>maStates;</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a:lnSpc>
                <a:spcPct val="100000"/>
              </a:lnSpc>
            </a:pP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first</a:t>
            </a:r>
            <a:r>
              <a:rPr sz="2000" spc="-50" dirty="0">
                <a:latin typeface="Times New Roman"/>
                <a:cs typeface="Times New Roman"/>
              </a:rPr>
              <a:t> </a:t>
            </a:r>
            <a:r>
              <a:rPr sz="2000" dirty="0">
                <a:latin typeface="Times New Roman"/>
                <a:cs typeface="Times New Roman"/>
              </a:rPr>
              <a:t>is</a:t>
            </a:r>
            <a:r>
              <a:rPr sz="2000" spc="-2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type</a:t>
            </a:r>
            <a:r>
              <a:rPr sz="2000" spc="-1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spc="-10" dirty="0">
                <a:latin typeface="Times New Roman"/>
                <a:cs typeface="Times New Roman"/>
              </a:rPr>
              <a:t>key. </a:t>
            </a:r>
            <a:r>
              <a:rPr sz="2000" dirty="0">
                <a:latin typeface="Times New Roman"/>
                <a:cs typeface="Times New Roman"/>
              </a:rPr>
              <a:t>In</a:t>
            </a:r>
            <a:r>
              <a:rPr sz="2000" spc="-30" dirty="0">
                <a:latin typeface="Times New Roman"/>
                <a:cs typeface="Times New Roman"/>
              </a:rPr>
              <a:t> </a:t>
            </a:r>
            <a:r>
              <a:rPr sz="2000" dirty="0">
                <a:latin typeface="Times New Roman"/>
                <a:cs typeface="Times New Roman"/>
              </a:rPr>
              <a:t>this</a:t>
            </a:r>
            <a:r>
              <a:rPr sz="2000" spc="-35" dirty="0">
                <a:latin typeface="Times New Roman"/>
                <a:cs typeface="Times New Roman"/>
              </a:rPr>
              <a:t> </a:t>
            </a:r>
            <a:r>
              <a:rPr sz="2000" dirty="0">
                <a:latin typeface="Times New Roman"/>
                <a:cs typeface="Times New Roman"/>
              </a:rPr>
              <a:t>case</a:t>
            </a:r>
            <a:r>
              <a:rPr sz="2000" spc="-25" dirty="0">
                <a:latin typeface="Times New Roman"/>
                <a:cs typeface="Times New Roman"/>
              </a:rPr>
              <a:t> </a:t>
            </a:r>
            <a:r>
              <a:rPr sz="2000" spc="-20" dirty="0">
                <a:latin typeface="Times New Roman"/>
                <a:cs typeface="Times New Roman"/>
              </a:rPr>
              <a:t>it’s</a:t>
            </a:r>
            <a:endParaRPr sz="2000">
              <a:latin typeface="Times New Roman"/>
              <a:cs typeface="Times New Roman"/>
            </a:endParaRPr>
          </a:p>
          <a:p>
            <a:pPr marL="12700">
              <a:lnSpc>
                <a:spcPct val="100000"/>
              </a:lnSpc>
            </a:pPr>
            <a:r>
              <a:rPr sz="2000" dirty="0">
                <a:latin typeface="Times New Roman"/>
                <a:cs typeface="Times New Roman"/>
              </a:rPr>
              <a:t>string,</a:t>
            </a:r>
            <a:r>
              <a:rPr sz="2000" spc="-55" dirty="0">
                <a:latin typeface="Times New Roman"/>
                <a:cs typeface="Times New Roman"/>
              </a:rPr>
              <a:t> </a:t>
            </a:r>
            <a:r>
              <a:rPr sz="2000" dirty="0">
                <a:latin typeface="Times New Roman"/>
                <a:cs typeface="Times New Roman"/>
              </a:rPr>
              <a:t>representing</a:t>
            </a:r>
            <a:r>
              <a:rPr sz="2000" spc="-50"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state</a:t>
            </a:r>
            <a:r>
              <a:rPr sz="2000" spc="-20" dirty="0">
                <a:latin typeface="Times New Roman"/>
                <a:cs typeface="Times New Roman"/>
              </a:rPr>
              <a:t> name.</a:t>
            </a:r>
            <a:endParaRPr sz="2000">
              <a:latin typeface="Times New Roman"/>
              <a:cs typeface="Times New Roman"/>
            </a:endParaRPr>
          </a:p>
          <a:p>
            <a:pPr marL="12700" marR="112395">
              <a:lnSpc>
                <a:spcPct val="100000"/>
              </a:lnSpc>
              <a:spcBef>
                <a:spcPts val="5"/>
              </a:spcBef>
            </a:pP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second</a:t>
            </a:r>
            <a:r>
              <a:rPr sz="2000" spc="-30"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type</a:t>
            </a:r>
            <a:r>
              <a:rPr sz="2000" spc="-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value;</a:t>
            </a:r>
            <a:r>
              <a:rPr sz="2000" spc="-25"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spc="-20" dirty="0">
                <a:latin typeface="Times New Roman"/>
                <a:cs typeface="Times New Roman"/>
              </a:rPr>
              <a:t>this </a:t>
            </a:r>
            <a:r>
              <a:rPr sz="2000" dirty="0">
                <a:latin typeface="Times New Roman"/>
                <a:cs typeface="Times New Roman"/>
              </a:rPr>
              <a:t>case</a:t>
            </a:r>
            <a:r>
              <a:rPr sz="2000" spc="-40" dirty="0">
                <a:latin typeface="Times New Roman"/>
                <a:cs typeface="Times New Roman"/>
              </a:rPr>
              <a:t> </a:t>
            </a:r>
            <a:r>
              <a:rPr sz="2000" dirty="0">
                <a:latin typeface="Times New Roman"/>
                <a:cs typeface="Times New Roman"/>
              </a:rPr>
              <a:t>it’s</a:t>
            </a:r>
            <a:r>
              <a:rPr sz="2000" spc="-40" dirty="0">
                <a:latin typeface="Times New Roman"/>
                <a:cs typeface="Times New Roman"/>
              </a:rPr>
              <a:t> </a:t>
            </a:r>
            <a:r>
              <a:rPr sz="2000" dirty="0">
                <a:latin typeface="Times New Roman"/>
                <a:cs typeface="Times New Roman"/>
              </a:rPr>
              <a:t>int,</a:t>
            </a:r>
            <a:r>
              <a:rPr sz="2000" spc="-45" dirty="0">
                <a:latin typeface="Times New Roman"/>
                <a:cs typeface="Times New Roman"/>
              </a:rPr>
              <a:t> </a:t>
            </a:r>
            <a:r>
              <a:rPr sz="2000" dirty="0">
                <a:latin typeface="Times New Roman"/>
                <a:cs typeface="Times New Roman"/>
              </a:rPr>
              <a:t>which</a:t>
            </a:r>
            <a:r>
              <a:rPr sz="2000" spc="-35" dirty="0">
                <a:latin typeface="Times New Roman"/>
                <a:cs typeface="Times New Roman"/>
              </a:rPr>
              <a:t> </a:t>
            </a:r>
            <a:r>
              <a:rPr sz="2000" dirty="0">
                <a:latin typeface="Times New Roman"/>
                <a:cs typeface="Times New Roman"/>
              </a:rPr>
              <a:t>represents</a:t>
            </a:r>
            <a:r>
              <a:rPr sz="2000" spc="-70"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spc="-10" dirty="0">
                <a:latin typeface="Times New Roman"/>
                <a:cs typeface="Times New Roman"/>
              </a:rPr>
              <a:t>population, </a:t>
            </a:r>
            <a:r>
              <a:rPr sz="2000" dirty="0">
                <a:latin typeface="Times New Roman"/>
                <a:cs typeface="Times New Roman"/>
              </a:rPr>
              <a:t>in</a:t>
            </a:r>
            <a:r>
              <a:rPr sz="2000" spc="-20" dirty="0">
                <a:latin typeface="Times New Roman"/>
                <a:cs typeface="Times New Roman"/>
              </a:rPr>
              <a:t> </a:t>
            </a:r>
            <a:r>
              <a:rPr sz="2000" spc="-10" dirty="0">
                <a:latin typeface="Times New Roman"/>
                <a:cs typeface="Times New Roman"/>
              </a:rPr>
              <a:t>1,000s.</a:t>
            </a:r>
            <a:endParaRPr sz="2000">
              <a:latin typeface="Times New Roman"/>
              <a:cs typeface="Times New Roman"/>
            </a:endParaRPr>
          </a:p>
          <a:p>
            <a:pPr marL="12700" marR="36195">
              <a:lnSpc>
                <a:spcPct val="100000"/>
              </a:lnSpc>
            </a:pP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third</a:t>
            </a:r>
            <a:r>
              <a:rPr sz="2000" spc="-35" dirty="0">
                <a:latin typeface="Times New Roman"/>
                <a:cs typeface="Times New Roman"/>
              </a:rPr>
              <a:t> </a:t>
            </a:r>
            <a:r>
              <a:rPr sz="2000" dirty="0">
                <a:latin typeface="Times New Roman"/>
                <a:cs typeface="Times New Roman"/>
              </a:rPr>
              <a:t>argument</a:t>
            </a:r>
            <a:r>
              <a:rPr sz="2000" spc="-40" dirty="0">
                <a:latin typeface="Times New Roman"/>
                <a:cs typeface="Times New Roman"/>
              </a:rPr>
              <a:t> </a:t>
            </a:r>
            <a:r>
              <a:rPr sz="2000" dirty="0">
                <a:latin typeface="Times New Roman"/>
                <a:cs typeface="Times New Roman"/>
              </a:rPr>
              <a:t>specifies</a:t>
            </a:r>
            <a:r>
              <a:rPr sz="2000" spc="-4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ordering</a:t>
            </a:r>
            <a:r>
              <a:rPr sz="2000" spc="-50" dirty="0">
                <a:latin typeface="Times New Roman"/>
                <a:cs typeface="Times New Roman"/>
              </a:rPr>
              <a:t> </a:t>
            </a:r>
            <a:r>
              <a:rPr sz="2000" spc="-20" dirty="0">
                <a:latin typeface="Times New Roman"/>
                <a:cs typeface="Times New Roman"/>
              </a:rPr>
              <a:t>that </a:t>
            </a:r>
            <a:r>
              <a:rPr sz="2000" dirty="0">
                <a:latin typeface="Times New Roman"/>
                <a:cs typeface="Times New Roman"/>
              </a:rPr>
              <a:t>will</a:t>
            </a:r>
            <a:r>
              <a:rPr sz="2000" spc="-20" dirty="0">
                <a:latin typeface="Times New Roman"/>
                <a:cs typeface="Times New Roman"/>
              </a:rPr>
              <a:t> </a:t>
            </a:r>
            <a:r>
              <a:rPr sz="2000" dirty="0">
                <a:latin typeface="Times New Roman"/>
                <a:cs typeface="Times New Roman"/>
              </a:rPr>
              <a:t>be</a:t>
            </a:r>
            <a:r>
              <a:rPr sz="2000" spc="-15" dirty="0">
                <a:latin typeface="Times New Roman"/>
                <a:cs typeface="Times New Roman"/>
              </a:rPr>
              <a:t> </a:t>
            </a:r>
            <a:r>
              <a:rPr sz="2000" dirty="0">
                <a:latin typeface="Times New Roman"/>
                <a:cs typeface="Times New Roman"/>
              </a:rPr>
              <a:t>used</a:t>
            </a:r>
            <a:r>
              <a:rPr sz="2000" spc="-20" dirty="0">
                <a:latin typeface="Times New Roman"/>
                <a:cs typeface="Times New Roman"/>
              </a:rPr>
              <a:t> </a:t>
            </a:r>
            <a:r>
              <a:rPr sz="2000" dirty="0">
                <a:latin typeface="Times New Roman"/>
                <a:cs typeface="Times New Roman"/>
              </a:rPr>
              <a:t>for</a:t>
            </a:r>
            <a:r>
              <a:rPr sz="2000" spc="-3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keys.</a:t>
            </a:r>
            <a:r>
              <a:rPr sz="2000" spc="-55" dirty="0">
                <a:latin typeface="Times New Roman"/>
                <a:cs typeface="Times New Roman"/>
              </a:rPr>
              <a:t> </a:t>
            </a:r>
            <a:r>
              <a:rPr sz="2000" spc="-60" dirty="0">
                <a:latin typeface="Times New Roman"/>
                <a:cs typeface="Times New Roman"/>
              </a:rPr>
              <a:t>We</a:t>
            </a:r>
            <a:r>
              <a:rPr sz="2000" spc="-35" dirty="0">
                <a:latin typeface="Times New Roman"/>
                <a:cs typeface="Times New Roman"/>
              </a:rPr>
              <a:t> </a:t>
            </a:r>
            <a:r>
              <a:rPr sz="2000" dirty="0">
                <a:latin typeface="Times New Roman"/>
                <a:cs typeface="Times New Roman"/>
              </a:rPr>
              <a:t>choose</a:t>
            </a:r>
            <a:r>
              <a:rPr sz="2000" spc="-4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spc="-20" dirty="0">
                <a:latin typeface="Times New Roman"/>
                <a:cs typeface="Times New Roman"/>
              </a:rPr>
              <a:t>have </a:t>
            </a:r>
            <a:r>
              <a:rPr sz="2000" dirty="0">
                <a:latin typeface="Times New Roman"/>
                <a:cs typeface="Times New Roman"/>
              </a:rPr>
              <a:t>it</a:t>
            </a:r>
            <a:r>
              <a:rPr sz="2000" spc="-25" dirty="0">
                <a:latin typeface="Times New Roman"/>
                <a:cs typeface="Times New Roman"/>
              </a:rPr>
              <a:t> </a:t>
            </a:r>
            <a:r>
              <a:rPr sz="2000" dirty="0">
                <a:latin typeface="Times New Roman"/>
                <a:cs typeface="Times New Roman"/>
              </a:rPr>
              <a:t>ordered</a:t>
            </a:r>
            <a:r>
              <a:rPr sz="2000" spc="-40" dirty="0">
                <a:latin typeface="Times New Roman"/>
                <a:cs typeface="Times New Roman"/>
              </a:rPr>
              <a:t> </a:t>
            </a:r>
            <a:r>
              <a:rPr sz="2000" dirty="0">
                <a:latin typeface="Times New Roman"/>
                <a:cs typeface="Times New Roman"/>
              </a:rPr>
              <a:t>alphabetically</a:t>
            </a:r>
            <a:r>
              <a:rPr sz="2000" spc="-50" dirty="0">
                <a:latin typeface="Times New Roman"/>
                <a:cs typeface="Times New Roman"/>
              </a:rPr>
              <a:t> </a:t>
            </a:r>
            <a:r>
              <a:rPr sz="2000" dirty="0">
                <a:latin typeface="Times New Roman"/>
                <a:cs typeface="Times New Roman"/>
              </a:rPr>
              <a:t>by the</a:t>
            </a:r>
            <a:r>
              <a:rPr sz="2000" spc="-20" dirty="0">
                <a:latin typeface="Times New Roman"/>
                <a:cs typeface="Times New Roman"/>
              </a:rPr>
              <a:t> </a:t>
            </a:r>
            <a:r>
              <a:rPr sz="2000" dirty="0">
                <a:latin typeface="Times New Roman"/>
                <a:cs typeface="Times New Roman"/>
              </a:rPr>
              <a:t>names</a:t>
            </a:r>
            <a:r>
              <a:rPr sz="2000" spc="-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spc="-25" dirty="0">
                <a:latin typeface="Times New Roman"/>
                <a:cs typeface="Times New Roman"/>
              </a:rPr>
              <a:t>the </a:t>
            </a:r>
            <a:r>
              <a:rPr sz="2000" dirty="0">
                <a:latin typeface="Times New Roman"/>
                <a:cs typeface="Times New Roman"/>
              </a:rPr>
              <a:t>states;</a:t>
            </a:r>
            <a:r>
              <a:rPr sz="2000" spc="-55" dirty="0">
                <a:latin typeface="Times New Roman"/>
                <a:cs typeface="Times New Roman"/>
              </a:rPr>
              <a:t> </a:t>
            </a:r>
            <a:r>
              <a:rPr sz="2000" spc="-10" dirty="0">
                <a:latin typeface="Times New Roman"/>
                <a:cs typeface="Times New Roman"/>
              </a:rPr>
              <a:t>that’s</a:t>
            </a:r>
            <a:r>
              <a:rPr sz="2000" spc="-60" dirty="0">
                <a:latin typeface="Times New Roman"/>
                <a:cs typeface="Times New Roman"/>
              </a:rPr>
              <a:t> </a:t>
            </a:r>
            <a:r>
              <a:rPr sz="2000" dirty="0">
                <a:latin typeface="Times New Roman"/>
                <a:cs typeface="Times New Roman"/>
              </a:rPr>
              <a:t>what</a:t>
            </a:r>
            <a:r>
              <a:rPr sz="2000" spc="-45" dirty="0">
                <a:latin typeface="Times New Roman"/>
                <a:cs typeface="Times New Roman"/>
              </a:rPr>
              <a:t> </a:t>
            </a:r>
            <a:r>
              <a:rPr sz="2000" dirty="0">
                <a:latin typeface="Times New Roman"/>
                <a:cs typeface="Times New Roman"/>
              </a:rPr>
              <a:t>less&lt;string&gt;</a:t>
            </a:r>
            <a:r>
              <a:rPr sz="2000" spc="-75" dirty="0">
                <a:latin typeface="Times New Roman"/>
                <a:cs typeface="Times New Roman"/>
              </a:rPr>
              <a:t> </a:t>
            </a:r>
            <a:r>
              <a:rPr sz="2000" spc="-10" dirty="0">
                <a:latin typeface="Times New Roman"/>
                <a:cs typeface="Times New Roman"/>
              </a:rPr>
              <a:t>does.</a:t>
            </a:r>
            <a:endParaRPr sz="2000">
              <a:latin typeface="Times New Roman"/>
              <a:cs typeface="Times New Roman"/>
            </a:endParaRPr>
          </a:p>
        </p:txBody>
      </p:sp>
      <p:sp>
        <p:nvSpPr>
          <p:cNvPr id="10" name="object 10"/>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1" name="object 11"/>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2" name="Date Placeholder 11">
            <a:extLst>
              <a:ext uri="{FF2B5EF4-FFF2-40B4-BE49-F238E27FC236}">
                <a16:creationId xmlns:a16="http://schemas.microsoft.com/office/drawing/2014/main" id="{4A521C04-200B-C521-5825-5338D0673A1C}"/>
              </a:ext>
            </a:extLst>
          </p:cNvPr>
          <p:cNvSpPr>
            <a:spLocks noGrp="1"/>
          </p:cNvSpPr>
          <p:nvPr>
            <p:ph type="dt" sz="half" idx="10"/>
          </p:nvPr>
        </p:nvSpPr>
        <p:spPr/>
        <p:txBody>
          <a:bodyPr/>
          <a:lstStyle/>
          <a:p>
            <a:fld id="{E7BF7A08-CF80-4FD3-B031-89AD0F5F43F5}" type="datetime1">
              <a:rPr lang="en-US" smtClean="0"/>
              <a:t>11/17/2025</a:t>
            </a:fld>
            <a:endParaRPr lang="en-US"/>
          </a:p>
        </p:txBody>
      </p:sp>
      <p:sp>
        <p:nvSpPr>
          <p:cNvPr id="13" name="Slide Number Placeholder 12">
            <a:extLst>
              <a:ext uri="{FF2B5EF4-FFF2-40B4-BE49-F238E27FC236}">
                <a16:creationId xmlns:a16="http://schemas.microsoft.com/office/drawing/2014/main" id="{0BB9E953-155F-4F58-2CA3-0075615ABCCA}"/>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57</a:t>
            </a:fld>
            <a:endParaRPr spc="-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Container</a:t>
            </a:r>
            <a:r>
              <a:rPr spc="-220" dirty="0"/>
              <a:t> </a:t>
            </a:r>
            <a:r>
              <a:rPr spc="-10" dirty="0"/>
              <a:t>Adapters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4687823" y="3486649"/>
            <a:ext cx="6665976" cy="2686474"/>
          </a:xfrm>
          <a:prstGeom prst="rect">
            <a:avLst/>
          </a:prstGeom>
        </p:spPr>
      </p:pic>
      <p:sp>
        <p:nvSpPr>
          <p:cNvPr id="4" name="object 4"/>
          <p:cNvSpPr txBox="1"/>
          <p:nvPr/>
        </p:nvSpPr>
        <p:spPr>
          <a:xfrm>
            <a:off x="648716" y="1714576"/>
            <a:ext cx="10627995" cy="4414520"/>
          </a:xfrm>
          <a:prstGeom prst="rect">
            <a:avLst/>
          </a:prstGeom>
        </p:spPr>
        <p:txBody>
          <a:bodyPr vert="horz" wrap="square" lIns="0" tIns="13335" rIns="0" bIns="0" rtlCol="0">
            <a:spAutoFit/>
          </a:bodyPr>
          <a:lstStyle/>
          <a:p>
            <a:pPr marL="619760" marR="5080" indent="-339725" algn="just">
              <a:lnSpc>
                <a:spcPct val="100000"/>
              </a:lnSpc>
              <a:spcBef>
                <a:spcPts val="105"/>
              </a:spcBef>
              <a:buFont typeface="Arial MT"/>
              <a:buChar char="•"/>
              <a:tabLst>
                <a:tab pos="623570" algn="l"/>
              </a:tabLst>
            </a:pPr>
            <a:r>
              <a:rPr sz="2000" dirty="0">
                <a:latin typeface="Times New Roman"/>
                <a:cs typeface="Times New Roman"/>
              </a:rPr>
              <a:t>It’s</a:t>
            </a:r>
            <a:r>
              <a:rPr sz="2000" spc="-45" dirty="0">
                <a:latin typeface="Times New Roman"/>
                <a:cs typeface="Times New Roman"/>
              </a:rPr>
              <a:t> </a:t>
            </a:r>
            <a:r>
              <a:rPr sz="2000" dirty="0">
                <a:latin typeface="Times New Roman"/>
                <a:cs typeface="Times New Roman"/>
              </a:rPr>
              <a:t>possible</a:t>
            </a:r>
            <a:r>
              <a:rPr sz="2000" spc="-30" dirty="0">
                <a:latin typeface="Times New Roman"/>
                <a:cs typeface="Times New Roman"/>
              </a:rPr>
              <a:t> </a:t>
            </a:r>
            <a:r>
              <a:rPr sz="2000" dirty="0">
                <a:latin typeface="Times New Roman"/>
                <a:cs typeface="Times New Roman"/>
              </a:rPr>
              <a:t>to</a:t>
            </a:r>
            <a:r>
              <a:rPr sz="2000" spc="-35" dirty="0">
                <a:latin typeface="Times New Roman"/>
                <a:cs typeface="Times New Roman"/>
              </a:rPr>
              <a:t> </a:t>
            </a:r>
            <a:r>
              <a:rPr sz="2000" dirty="0">
                <a:latin typeface="Times New Roman"/>
                <a:cs typeface="Times New Roman"/>
              </a:rPr>
              <a:t>create</a:t>
            </a:r>
            <a:r>
              <a:rPr sz="2000" spc="-40" dirty="0">
                <a:latin typeface="Times New Roman"/>
                <a:cs typeface="Times New Roman"/>
              </a:rPr>
              <a:t> </a:t>
            </a:r>
            <a:r>
              <a:rPr sz="2000" spc="-10" dirty="0">
                <a:latin typeface="Times New Roman"/>
                <a:cs typeface="Times New Roman"/>
              </a:rPr>
              <a:t>special-</a:t>
            </a:r>
            <a:r>
              <a:rPr sz="2000" dirty="0">
                <a:latin typeface="Times New Roman"/>
                <a:cs typeface="Times New Roman"/>
              </a:rPr>
              <a:t>purpose</a:t>
            </a:r>
            <a:r>
              <a:rPr sz="2000" spc="-35" dirty="0">
                <a:latin typeface="Times New Roman"/>
                <a:cs typeface="Times New Roman"/>
              </a:rPr>
              <a:t> </a:t>
            </a:r>
            <a:r>
              <a:rPr sz="2000" dirty="0">
                <a:latin typeface="Times New Roman"/>
                <a:cs typeface="Times New Roman"/>
              </a:rPr>
              <a:t>containers</a:t>
            </a:r>
            <a:r>
              <a:rPr sz="2000" spc="-35" dirty="0">
                <a:latin typeface="Times New Roman"/>
                <a:cs typeface="Times New Roman"/>
              </a:rPr>
              <a:t> </a:t>
            </a:r>
            <a:r>
              <a:rPr sz="2000" dirty="0">
                <a:latin typeface="Times New Roman"/>
                <a:cs typeface="Times New Roman"/>
              </a:rPr>
              <a:t>from</a:t>
            </a:r>
            <a:r>
              <a:rPr sz="2000" spc="-50" dirty="0">
                <a:latin typeface="Times New Roman"/>
                <a:cs typeface="Times New Roman"/>
              </a:rPr>
              <a:t> </a:t>
            </a:r>
            <a:r>
              <a:rPr sz="2000" dirty="0">
                <a:latin typeface="Times New Roman"/>
                <a:cs typeface="Times New Roman"/>
              </a:rPr>
              <a:t>the</a:t>
            </a:r>
            <a:r>
              <a:rPr sz="2000" spc="-50" dirty="0">
                <a:latin typeface="Times New Roman"/>
                <a:cs typeface="Times New Roman"/>
              </a:rPr>
              <a:t> </a:t>
            </a:r>
            <a:r>
              <a:rPr sz="2000" dirty="0">
                <a:latin typeface="Times New Roman"/>
                <a:cs typeface="Times New Roman"/>
              </a:rPr>
              <a:t>normal</a:t>
            </a:r>
            <a:r>
              <a:rPr sz="2000" spc="-35" dirty="0">
                <a:latin typeface="Times New Roman"/>
                <a:cs typeface="Times New Roman"/>
              </a:rPr>
              <a:t> </a:t>
            </a:r>
            <a:r>
              <a:rPr sz="2000" dirty="0">
                <a:latin typeface="Times New Roman"/>
                <a:cs typeface="Times New Roman"/>
              </a:rPr>
              <a:t>containers</a:t>
            </a:r>
            <a:r>
              <a:rPr sz="2000" spc="-20" dirty="0">
                <a:latin typeface="Times New Roman"/>
                <a:cs typeface="Times New Roman"/>
              </a:rPr>
              <a:t> </a:t>
            </a:r>
            <a:r>
              <a:rPr sz="2000" dirty="0">
                <a:latin typeface="Times New Roman"/>
                <a:cs typeface="Times New Roman"/>
              </a:rPr>
              <a:t>mentioned</a:t>
            </a:r>
            <a:r>
              <a:rPr sz="2000" spc="-30" dirty="0">
                <a:latin typeface="Times New Roman"/>
                <a:cs typeface="Times New Roman"/>
              </a:rPr>
              <a:t> </a:t>
            </a:r>
            <a:r>
              <a:rPr sz="2000" spc="-10" dirty="0">
                <a:latin typeface="Times New Roman"/>
                <a:cs typeface="Times New Roman"/>
              </a:rPr>
              <a:t>previously 	</a:t>
            </a:r>
            <a:r>
              <a:rPr sz="2000" dirty="0">
                <a:latin typeface="Times New Roman"/>
                <a:cs typeface="Times New Roman"/>
              </a:rPr>
              <a:t>using</a:t>
            </a:r>
            <a:r>
              <a:rPr sz="2000" spc="65" dirty="0">
                <a:latin typeface="Times New Roman"/>
                <a:cs typeface="Times New Roman"/>
              </a:rPr>
              <a:t>  </a:t>
            </a:r>
            <a:r>
              <a:rPr sz="2000" dirty="0">
                <a:latin typeface="Times New Roman"/>
                <a:cs typeface="Times New Roman"/>
              </a:rPr>
              <a:t>a</a:t>
            </a:r>
            <a:r>
              <a:rPr sz="2000" spc="65" dirty="0">
                <a:latin typeface="Times New Roman"/>
                <a:cs typeface="Times New Roman"/>
              </a:rPr>
              <a:t>  </a:t>
            </a:r>
            <a:r>
              <a:rPr sz="2000" dirty="0">
                <a:latin typeface="Times New Roman"/>
                <a:cs typeface="Times New Roman"/>
              </a:rPr>
              <a:t>construct</a:t>
            </a:r>
            <a:r>
              <a:rPr sz="2000" spc="65" dirty="0">
                <a:latin typeface="Times New Roman"/>
                <a:cs typeface="Times New Roman"/>
              </a:rPr>
              <a:t>  </a:t>
            </a:r>
            <a:r>
              <a:rPr sz="2000" dirty="0">
                <a:latin typeface="Times New Roman"/>
                <a:cs typeface="Times New Roman"/>
              </a:rPr>
              <a:t>called</a:t>
            </a:r>
            <a:r>
              <a:rPr sz="2000" spc="70" dirty="0">
                <a:latin typeface="Times New Roman"/>
                <a:cs typeface="Times New Roman"/>
              </a:rPr>
              <a:t>  </a:t>
            </a:r>
            <a:r>
              <a:rPr sz="2000" dirty="0">
                <a:latin typeface="Times New Roman"/>
                <a:cs typeface="Times New Roman"/>
              </a:rPr>
              <a:t>container</a:t>
            </a:r>
            <a:r>
              <a:rPr sz="2000" spc="65" dirty="0">
                <a:latin typeface="Times New Roman"/>
                <a:cs typeface="Times New Roman"/>
              </a:rPr>
              <a:t>  </a:t>
            </a:r>
            <a:r>
              <a:rPr sz="2000" dirty="0">
                <a:latin typeface="Times New Roman"/>
                <a:cs typeface="Times New Roman"/>
              </a:rPr>
              <a:t>adapters.</a:t>
            </a:r>
            <a:r>
              <a:rPr sz="2000" spc="70" dirty="0">
                <a:latin typeface="Times New Roman"/>
                <a:cs typeface="Times New Roman"/>
              </a:rPr>
              <a:t>  </a:t>
            </a:r>
            <a:r>
              <a:rPr sz="2000" dirty="0">
                <a:latin typeface="Times New Roman"/>
                <a:cs typeface="Times New Roman"/>
              </a:rPr>
              <a:t>These</a:t>
            </a:r>
            <a:r>
              <a:rPr sz="2000" spc="65" dirty="0">
                <a:latin typeface="Times New Roman"/>
                <a:cs typeface="Times New Roman"/>
              </a:rPr>
              <a:t>  </a:t>
            </a:r>
            <a:r>
              <a:rPr sz="2000" spc="-10" dirty="0">
                <a:latin typeface="Times New Roman"/>
                <a:cs typeface="Times New Roman"/>
              </a:rPr>
              <a:t>special-</a:t>
            </a:r>
            <a:r>
              <a:rPr sz="2000" dirty="0">
                <a:latin typeface="Times New Roman"/>
                <a:cs typeface="Times New Roman"/>
              </a:rPr>
              <a:t>purpose</a:t>
            </a:r>
            <a:r>
              <a:rPr sz="2000" spc="65" dirty="0">
                <a:latin typeface="Times New Roman"/>
                <a:cs typeface="Times New Roman"/>
              </a:rPr>
              <a:t>  </a:t>
            </a:r>
            <a:r>
              <a:rPr sz="2000" dirty="0">
                <a:latin typeface="Times New Roman"/>
                <a:cs typeface="Times New Roman"/>
              </a:rPr>
              <a:t>containers</a:t>
            </a:r>
            <a:r>
              <a:rPr sz="2000" spc="65" dirty="0">
                <a:latin typeface="Times New Roman"/>
                <a:cs typeface="Times New Roman"/>
              </a:rPr>
              <a:t>  </a:t>
            </a:r>
            <a:r>
              <a:rPr sz="2000" dirty="0">
                <a:latin typeface="Times New Roman"/>
                <a:cs typeface="Times New Roman"/>
              </a:rPr>
              <a:t>have</a:t>
            </a:r>
            <a:r>
              <a:rPr sz="2000" spc="65" dirty="0">
                <a:latin typeface="Times New Roman"/>
                <a:cs typeface="Times New Roman"/>
              </a:rPr>
              <a:t>  </a:t>
            </a:r>
            <a:r>
              <a:rPr sz="2000" spc="-10" dirty="0">
                <a:latin typeface="Times New Roman"/>
                <a:cs typeface="Times New Roman"/>
              </a:rPr>
              <a:t>simpler 	</a:t>
            </a:r>
            <a:r>
              <a:rPr sz="2000" dirty="0">
                <a:latin typeface="Times New Roman"/>
                <a:cs typeface="Times New Roman"/>
              </a:rPr>
              <a:t>interfaces</a:t>
            </a:r>
            <a:r>
              <a:rPr sz="2000" spc="-60" dirty="0">
                <a:latin typeface="Times New Roman"/>
                <a:cs typeface="Times New Roman"/>
              </a:rPr>
              <a:t> </a:t>
            </a:r>
            <a:r>
              <a:rPr sz="2000" dirty="0">
                <a:latin typeface="Times New Roman"/>
                <a:cs typeface="Times New Roman"/>
              </a:rPr>
              <a:t>than</a:t>
            </a:r>
            <a:r>
              <a:rPr sz="2000" spc="-10"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more general</a:t>
            </a:r>
            <a:r>
              <a:rPr sz="2000" spc="-35" dirty="0">
                <a:latin typeface="Times New Roman"/>
                <a:cs typeface="Times New Roman"/>
              </a:rPr>
              <a:t> </a:t>
            </a:r>
            <a:r>
              <a:rPr sz="2000" spc="-10" dirty="0">
                <a:latin typeface="Times New Roman"/>
                <a:cs typeface="Times New Roman"/>
              </a:rPr>
              <a:t>containers.</a:t>
            </a:r>
            <a:endParaRPr sz="2000">
              <a:latin typeface="Times New Roman"/>
              <a:cs typeface="Times New Roman"/>
            </a:endParaRPr>
          </a:p>
          <a:p>
            <a:pPr marL="619760" marR="5080" indent="-339725" algn="just">
              <a:lnSpc>
                <a:spcPct val="100000"/>
              </a:lnSpc>
              <a:spcBef>
                <a:spcPts val="5"/>
              </a:spcBef>
              <a:buFont typeface="Arial MT"/>
              <a:buChar char="•"/>
              <a:tabLst>
                <a:tab pos="623570" algn="l"/>
              </a:tabLst>
            </a:pPr>
            <a:r>
              <a:rPr sz="2000" dirty="0">
                <a:latin typeface="Times New Roman"/>
                <a:cs typeface="Times New Roman"/>
              </a:rPr>
              <a:t>The</a:t>
            </a:r>
            <a:r>
              <a:rPr sz="2000" spc="235" dirty="0">
                <a:latin typeface="Times New Roman"/>
                <a:cs typeface="Times New Roman"/>
              </a:rPr>
              <a:t> </a:t>
            </a:r>
            <a:r>
              <a:rPr sz="2000" dirty="0">
                <a:latin typeface="Times New Roman"/>
                <a:cs typeface="Times New Roman"/>
              </a:rPr>
              <a:t>specialized</a:t>
            </a:r>
            <a:r>
              <a:rPr sz="2000" spc="235" dirty="0">
                <a:latin typeface="Times New Roman"/>
                <a:cs typeface="Times New Roman"/>
              </a:rPr>
              <a:t> </a:t>
            </a:r>
            <a:r>
              <a:rPr sz="2000" dirty="0">
                <a:latin typeface="Times New Roman"/>
                <a:cs typeface="Times New Roman"/>
              </a:rPr>
              <a:t>containers</a:t>
            </a:r>
            <a:r>
              <a:rPr sz="2000" spc="240" dirty="0">
                <a:latin typeface="Times New Roman"/>
                <a:cs typeface="Times New Roman"/>
              </a:rPr>
              <a:t> </a:t>
            </a:r>
            <a:r>
              <a:rPr sz="2000" dirty="0">
                <a:latin typeface="Times New Roman"/>
                <a:cs typeface="Times New Roman"/>
              </a:rPr>
              <a:t>implemented</a:t>
            </a:r>
            <a:r>
              <a:rPr sz="2000" spc="235" dirty="0">
                <a:latin typeface="Times New Roman"/>
                <a:cs typeface="Times New Roman"/>
              </a:rPr>
              <a:t> </a:t>
            </a:r>
            <a:r>
              <a:rPr sz="2000" dirty="0">
                <a:latin typeface="Times New Roman"/>
                <a:cs typeface="Times New Roman"/>
              </a:rPr>
              <a:t>with</a:t>
            </a:r>
            <a:r>
              <a:rPr sz="2000" spc="229" dirty="0">
                <a:latin typeface="Times New Roman"/>
                <a:cs typeface="Times New Roman"/>
              </a:rPr>
              <a:t> </a:t>
            </a:r>
            <a:r>
              <a:rPr sz="2000" dirty="0">
                <a:latin typeface="Times New Roman"/>
                <a:cs typeface="Times New Roman"/>
              </a:rPr>
              <a:t>container</a:t>
            </a:r>
            <a:r>
              <a:rPr sz="2000" spc="235" dirty="0">
                <a:latin typeface="Times New Roman"/>
                <a:cs typeface="Times New Roman"/>
              </a:rPr>
              <a:t> </a:t>
            </a:r>
            <a:r>
              <a:rPr sz="2000" dirty="0">
                <a:latin typeface="Times New Roman"/>
                <a:cs typeface="Times New Roman"/>
              </a:rPr>
              <a:t>adapters</a:t>
            </a:r>
            <a:r>
              <a:rPr sz="2000" spc="229" dirty="0">
                <a:latin typeface="Times New Roman"/>
                <a:cs typeface="Times New Roman"/>
              </a:rPr>
              <a:t> </a:t>
            </a:r>
            <a:r>
              <a:rPr sz="2000" dirty="0">
                <a:latin typeface="Times New Roman"/>
                <a:cs typeface="Times New Roman"/>
              </a:rPr>
              <a:t>in</a:t>
            </a:r>
            <a:r>
              <a:rPr sz="2000" spc="235" dirty="0">
                <a:latin typeface="Times New Roman"/>
                <a:cs typeface="Times New Roman"/>
              </a:rPr>
              <a:t> </a:t>
            </a:r>
            <a:r>
              <a:rPr sz="2000" dirty="0">
                <a:latin typeface="Times New Roman"/>
                <a:cs typeface="Times New Roman"/>
              </a:rPr>
              <a:t>the</a:t>
            </a:r>
            <a:r>
              <a:rPr sz="2000" spc="225" dirty="0">
                <a:latin typeface="Times New Roman"/>
                <a:cs typeface="Times New Roman"/>
              </a:rPr>
              <a:t> </a:t>
            </a:r>
            <a:r>
              <a:rPr sz="2000" dirty="0">
                <a:latin typeface="Times New Roman"/>
                <a:cs typeface="Times New Roman"/>
              </a:rPr>
              <a:t>STL</a:t>
            </a:r>
            <a:r>
              <a:rPr sz="2000" spc="175" dirty="0">
                <a:latin typeface="Times New Roman"/>
                <a:cs typeface="Times New Roman"/>
              </a:rPr>
              <a:t> </a:t>
            </a:r>
            <a:r>
              <a:rPr sz="2000" dirty="0">
                <a:latin typeface="Times New Roman"/>
                <a:cs typeface="Times New Roman"/>
              </a:rPr>
              <a:t>are</a:t>
            </a:r>
            <a:r>
              <a:rPr sz="2000" spc="229" dirty="0">
                <a:latin typeface="Times New Roman"/>
                <a:cs typeface="Times New Roman"/>
              </a:rPr>
              <a:t> </a:t>
            </a:r>
            <a:r>
              <a:rPr sz="2000" dirty="0">
                <a:latin typeface="Times New Roman"/>
                <a:cs typeface="Times New Roman"/>
              </a:rPr>
              <a:t>stacks,</a:t>
            </a:r>
            <a:r>
              <a:rPr sz="2000" spc="225" dirty="0">
                <a:latin typeface="Times New Roman"/>
                <a:cs typeface="Times New Roman"/>
              </a:rPr>
              <a:t> </a:t>
            </a:r>
            <a:r>
              <a:rPr sz="2000" spc="-10" dirty="0">
                <a:latin typeface="Times New Roman"/>
                <a:cs typeface="Times New Roman"/>
              </a:rPr>
              <a:t>queues,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priority</a:t>
            </a:r>
            <a:r>
              <a:rPr sz="2000" spc="-35" dirty="0">
                <a:latin typeface="Times New Roman"/>
                <a:cs typeface="Times New Roman"/>
              </a:rPr>
              <a:t> </a:t>
            </a:r>
            <a:r>
              <a:rPr sz="2000" spc="-10" dirty="0">
                <a:latin typeface="Times New Roman"/>
                <a:cs typeface="Times New Roman"/>
              </a:rPr>
              <a:t>queues.</a:t>
            </a:r>
            <a:endParaRPr sz="2000">
              <a:latin typeface="Times New Roman"/>
              <a:cs typeface="Times New Roman"/>
            </a:endParaRPr>
          </a:p>
          <a:p>
            <a:pPr marL="12700" marR="6813550" algn="just">
              <a:lnSpc>
                <a:spcPct val="100000"/>
              </a:lnSpc>
              <a:spcBef>
                <a:spcPts val="1655"/>
              </a:spcBef>
            </a:pPr>
            <a:r>
              <a:rPr sz="2000" dirty="0">
                <a:latin typeface="Times New Roman"/>
                <a:cs typeface="Times New Roman"/>
              </a:rPr>
              <a:t>We</a:t>
            </a:r>
            <a:r>
              <a:rPr sz="2000" spc="110" dirty="0">
                <a:latin typeface="Times New Roman"/>
                <a:cs typeface="Times New Roman"/>
              </a:rPr>
              <a:t> </a:t>
            </a:r>
            <a:r>
              <a:rPr sz="2000" dirty="0">
                <a:latin typeface="Times New Roman"/>
                <a:cs typeface="Times New Roman"/>
              </a:rPr>
              <a:t>use</a:t>
            </a:r>
            <a:r>
              <a:rPr sz="2000" spc="114" dirty="0">
                <a:latin typeface="Times New Roman"/>
                <a:cs typeface="Times New Roman"/>
              </a:rPr>
              <a:t> </a:t>
            </a:r>
            <a:r>
              <a:rPr sz="2000" dirty="0">
                <a:latin typeface="Times New Roman"/>
                <a:cs typeface="Times New Roman"/>
              </a:rPr>
              <a:t>a</a:t>
            </a:r>
            <a:r>
              <a:rPr sz="2000" spc="120" dirty="0">
                <a:latin typeface="Times New Roman"/>
                <a:cs typeface="Times New Roman"/>
              </a:rPr>
              <a:t> </a:t>
            </a:r>
            <a:r>
              <a:rPr sz="2000" dirty="0">
                <a:latin typeface="Times New Roman"/>
                <a:cs typeface="Times New Roman"/>
              </a:rPr>
              <a:t>template</a:t>
            </a:r>
            <a:r>
              <a:rPr sz="2000" spc="120" dirty="0">
                <a:latin typeface="Times New Roman"/>
                <a:cs typeface="Times New Roman"/>
              </a:rPr>
              <a:t> </a:t>
            </a:r>
            <a:r>
              <a:rPr sz="2000" dirty="0">
                <a:latin typeface="Times New Roman"/>
                <a:cs typeface="Times New Roman"/>
              </a:rPr>
              <a:t>within</a:t>
            </a:r>
            <a:r>
              <a:rPr sz="2000" spc="120" dirty="0">
                <a:latin typeface="Times New Roman"/>
                <a:cs typeface="Times New Roman"/>
              </a:rPr>
              <a:t> </a:t>
            </a:r>
            <a:r>
              <a:rPr sz="2000" dirty="0">
                <a:latin typeface="Times New Roman"/>
                <a:cs typeface="Times New Roman"/>
              </a:rPr>
              <a:t>a</a:t>
            </a:r>
            <a:r>
              <a:rPr sz="2000" spc="114" dirty="0">
                <a:latin typeface="Times New Roman"/>
                <a:cs typeface="Times New Roman"/>
              </a:rPr>
              <a:t> </a:t>
            </a:r>
            <a:r>
              <a:rPr sz="2000" spc="-10" dirty="0">
                <a:latin typeface="Times New Roman"/>
                <a:cs typeface="Times New Roman"/>
              </a:rPr>
              <a:t>template </a:t>
            </a:r>
            <a:r>
              <a:rPr sz="2000" dirty="0">
                <a:latin typeface="Times New Roman"/>
                <a:cs typeface="Times New Roman"/>
              </a:rPr>
              <a:t>to</a:t>
            </a:r>
            <a:r>
              <a:rPr sz="2000" spc="385" dirty="0">
                <a:latin typeface="Times New Roman"/>
                <a:cs typeface="Times New Roman"/>
              </a:rPr>
              <a:t>  </a:t>
            </a:r>
            <a:r>
              <a:rPr sz="2000" dirty="0">
                <a:latin typeface="Times New Roman"/>
                <a:cs typeface="Times New Roman"/>
              </a:rPr>
              <a:t>instantiate</a:t>
            </a:r>
            <a:r>
              <a:rPr sz="2000" spc="385" dirty="0">
                <a:latin typeface="Times New Roman"/>
                <a:cs typeface="Times New Roman"/>
              </a:rPr>
              <a:t>  </a:t>
            </a:r>
            <a:r>
              <a:rPr sz="2000" dirty="0">
                <a:latin typeface="Times New Roman"/>
                <a:cs typeface="Times New Roman"/>
              </a:rPr>
              <a:t>these</a:t>
            </a:r>
            <a:r>
              <a:rPr sz="2000" spc="385" dirty="0">
                <a:latin typeface="Times New Roman"/>
                <a:cs typeface="Times New Roman"/>
              </a:rPr>
              <a:t>  </a:t>
            </a:r>
            <a:r>
              <a:rPr sz="2000" dirty="0">
                <a:latin typeface="Times New Roman"/>
                <a:cs typeface="Times New Roman"/>
              </a:rPr>
              <a:t>classes.</a:t>
            </a:r>
            <a:r>
              <a:rPr sz="2000" spc="385" dirty="0">
                <a:latin typeface="Times New Roman"/>
                <a:cs typeface="Times New Roman"/>
              </a:rPr>
              <a:t>  </a:t>
            </a:r>
            <a:r>
              <a:rPr sz="2000" spc="-25" dirty="0">
                <a:latin typeface="Times New Roman"/>
                <a:cs typeface="Times New Roman"/>
              </a:rPr>
              <a:t>For </a:t>
            </a:r>
            <a:r>
              <a:rPr sz="2000" dirty="0">
                <a:latin typeface="Times New Roman"/>
                <a:cs typeface="Times New Roman"/>
              </a:rPr>
              <a:t>example,</a:t>
            </a:r>
            <a:r>
              <a:rPr sz="2000" spc="-30" dirty="0">
                <a:latin typeface="Times New Roman"/>
                <a:cs typeface="Times New Roman"/>
              </a:rPr>
              <a:t> </a:t>
            </a:r>
            <a:r>
              <a:rPr sz="2000" spc="-10" dirty="0">
                <a:latin typeface="Times New Roman"/>
                <a:cs typeface="Times New Roman"/>
              </a:rPr>
              <a:t>here’s</a:t>
            </a:r>
            <a:r>
              <a:rPr sz="2000" spc="-45" dirty="0">
                <a:latin typeface="Times New Roman"/>
                <a:cs typeface="Times New Roman"/>
              </a:rPr>
              <a:t> </a:t>
            </a:r>
            <a:r>
              <a:rPr sz="2000" dirty="0">
                <a:latin typeface="Times New Roman"/>
                <a:cs typeface="Times New Roman"/>
              </a:rPr>
              <a:t>a</a:t>
            </a:r>
            <a:r>
              <a:rPr sz="2000" spc="-30" dirty="0">
                <a:latin typeface="Times New Roman"/>
                <a:cs typeface="Times New Roman"/>
              </a:rPr>
              <a:t> </a:t>
            </a:r>
            <a:r>
              <a:rPr sz="2000" spc="-20" dirty="0">
                <a:latin typeface="Times New Roman"/>
                <a:cs typeface="Times New Roman"/>
              </a:rPr>
              <a:t>stack</a:t>
            </a:r>
            <a:endParaRPr sz="2000">
              <a:latin typeface="Times New Roman"/>
              <a:cs typeface="Times New Roman"/>
            </a:endParaRPr>
          </a:p>
          <a:p>
            <a:pPr marL="12700" marR="6814184" algn="just">
              <a:lnSpc>
                <a:spcPct val="100000"/>
              </a:lnSpc>
            </a:pPr>
            <a:r>
              <a:rPr sz="2000" dirty="0">
                <a:latin typeface="Times New Roman"/>
                <a:cs typeface="Times New Roman"/>
              </a:rPr>
              <a:t>object</a:t>
            </a:r>
            <a:r>
              <a:rPr sz="2000" spc="70" dirty="0">
                <a:latin typeface="Times New Roman"/>
                <a:cs typeface="Times New Roman"/>
              </a:rPr>
              <a:t>  </a:t>
            </a:r>
            <a:r>
              <a:rPr sz="2000" dirty="0">
                <a:latin typeface="Times New Roman"/>
                <a:cs typeface="Times New Roman"/>
              </a:rPr>
              <a:t>instantiated</a:t>
            </a:r>
            <a:r>
              <a:rPr sz="2000" spc="75" dirty="0">
                <a:latin typeface="Times New Roman"/>
                <a:cs typeface="Times New Roman"/>
              </a:rPr>
              <a:t>  </a:t>
            </a:r>
            <a:r>
              <a:rPr sz="2000" dirty="0">
                <a:latin typeface="Times New Roman"/>
                <a:cs typeface="Times New Roman"/>
              </a:rPr>
              <a:t>from</a:t>
            </a:r>
            <a:r>
              <a:rPr sz="2000" spc="70" dirty="0">
                <a:latin typeface="Times New Roman"/>
                <a:cs typeface="Times New Roman"/>
              </a:rPr>
              <a:t>  </a:t>
            </a:r>
            <a:r>
              <a:rPr sz="2000" dirty="0">
                <a:latin typeface="Times New Roman"/>
                <a:cs typeface="Times New Roman"/>
              </a:rPr>
              <a:t>the</a:t>
            </a:r>
            <a:r>
              <a:rPr sz="2000" spc="70" dirty="0">
                <a:latin typeface="Times New Roman"/>
                <a:cs typeface="Times New Roman"/>
              </a:rPr>
              <a:t>  </a:t>
            </a:r>
            <a:r>
              <a:rPr sz="2000" spc="-10" dirty="0">
                <a:latin typeface="Times New Roman"/>
                <a:cs typeface="Times New Roman"/>
              </a:rPr>
              <a:t>deque class:</a:t>
            </a:r>
            <a:endParaRPr sz="2000">
              <a:latin typeface="Times New Roman"/>
              <a:cs typeface="Times New Roman"/>
            </a:endParaRPr>
          </a:p>
          <a:p>
            <a:pPr marL="12700" marR="6962140">
              <a:lnSpc>
                <a:spcPct val="100000"/>
              </a:lnSpc>
            </a:pPr>
            <a:r>
              <a:rPr sz="2000" b="1" dirty="0">
                <a:latin typeface="Times New Roman"/>
                <a:cs typeface="Times New Roman"/>
              </a:rPr>
              <a:t>stack&lt;</a:t>
            </a:r>
            <a:r>
              <a:rPr sz="2000" b="1" spc="-45" dirty="0">
                <a:latin typeface="Times New Roman"/>
                <a:cs typeface="Times New Roman"/>
              </a:rPr>
              <a:t> </a:t>
            </a:r>
            <a:r>
              <a:rPr sz="2000" b="1" dirty="0">
                <a:latin typeface="Times New Roman"/>
                <a:cs typeface="Times New Roman"/>
              </a:rPr>
              <a:t>deque&lt;int&gt;</a:t>
            </a:r>
            <a:r>
              <a:rPr sz="2000" b="1" spc="-35" dirty="0">
                <a:latin typeface="Times New Roman"/>
                <a:cs typeface="Times New Roman"/>
              </a:rPr>
              <a:t> </a:t>
            </a:r>
            <a:r>
              <a:rPr sz="2000" b="1" dirty="0">
                <a:latin typeface="Times New Roman"/>
                <a:cs typeface="Times New Roman"/>
              </a:rPr>
              <a:t>&gt; </a:t>
            </a:r>
            <a:r>
              <a:rPr sz="2000" b="1" spc="-10" dirty="0">
                <a:latin typeface="Times New Roman"/>
                <a:cs typeface="Times New Roman"/>
              </a:rPr>
              <a:t>aStak; </a:t>
            </a:r>
            <a:r>
              <a:rPr sz="1800" dirty="0">
                <a:solidFill>
                  <a:srgbClr val="FF0000"/>
                </a:solidFill>
                <a:latin typeface="Times New Roman"/>
                <a:cs typeface="Times New Roman"/>
              </a:rPr>
              <a:t>stack&lt;deque&lt;int&gt;&gt;</a:t>
            </a:r>
            <a:r>
              <a:rPr sz="1800" spc="-55" dirty="0">
                <a:solidFill>
                  <a:srgbClr val="FF0000"/>
                </a:solidFill>
                <a:latin typeface="Times New Roman"/>
                <a:cs typeface="Times New Roman"/>
              </a:rPr>
              <a:t> </a:t>
            </a:r>
            <a:r>
              <a:rPr sz="1800" dirty="0">
                <a:solidFill>
                  <a:srgbClr val="FF0000"/>
                </a:solidFill>
                <a:latin typeface="Times New Roman"/>
                <a:cs typeface="Times New Roman"/>
              </a:rPr>
              <a:t>astak;</a:t>
            </a:r>
            <a:r>
              <a:rPr sz="1800" spc="-5" dirty="0">
                <a:solidFill>
                  <a:srgbClr val="FF0000"/>
                </a:solidFill>
                <a:latin typeface="Times New Roman"/>
                <a:cs typeface="Times New Roman"/>
              </a:rPr>
              <a:t> </a:t>
            </a:r>
            <a:r>
              <a:rPr sz="1800" dirty="0">
                <a:latin typeface="Times New Roman"/>
                <a:cs typeface="Times New Roman"/>
              </a:rPr>
              <a:t>//syntax</a:t>
            </a:r>
            <a:r>
              <a:rPr sz="1800" spc="-55" dirty="0">
                <a:latin typeface="Times New Roman"/>
                <a:cs typeface="Times New Roman"/>
              </a:rPr>
              <a:t> </a:t>
            </a:r>
            <a:r>
              <a:rPr sz="1800" spc="-20" dirty="0">
                <a:latin typeface="Times New Roman"/>
                <a:cs typeface="Times New Roman"/>
              </a:rPr>
              <a:t>error </a:t>
            </a:r>
            <a:r>
              <a:rPr sz="1800" dirty="0">
                <a:latin typeface="Times New Roman"/>
                <a:cs typeface="Times New Roman"/>
              </a:rPr>
              <a:t>because</a:t>
            </a:r>
            <a:r>
              <a:rPr sz="1800" spc="-55" dirty="0">
                <a:latin typeface="Times New Roman"/>
                <a:cs typeface="Times New Roman"/>
              </a:rPr>
              <a:t> </a:t>
            </a:r>
            <a:r>
              <a:rPr sz="1800" dirty="0">
                <a:latin typeface="Times New Roman"/>
                <a:cs typeface="Times New Roman"/>
              </a:rPr>
              <a:t>the</a:t>
            </a:r>
            <a:r>
              <a:rPr sz="1800" spc="-40" dirty="0">
                <a:latin typeface="Times New Roman"/>
                <a:cs typeface="Times New Roman"/>
              </a:rPr>
              <a:t> </a:t>
            </a:r>
            <a:r>
              <a:rPr sz="1800" dirty="0">
                <a:latin typeface="Times New Roman"/>
                <a:cs typeface="Times New Roman"/>
              </a:rPr>
              <a:t>compiler</a:t>
            </a:r>
            <a:r>
              <a:rPr sz="1800" spc="-35" dirty="0">
                <a:latin typeface="Times New Roman"/>
                <a:cs typeface="Times New Roman"/>
              </a:rPr>
              <a:t> </a:t>
            </a:r>
            <a:r>
              <a:rPr sz="1800" dirty="0">
                <a:latin typeface="Times New Roman"/>
                <a:cs typeface="Times New Roman"/>
              </a:rPr>
              <a:t>will</a:t>
            </a:r>
            <a:r>
              <a:rPr sz="1800" spc="-40" dirty="0">
                <a:latin typeface="Times New Roman"/>
                <a:cs typeface="Times New Roman"/>
              </a:rPr>
              <a:t> </a:t>
            </a:r>
            <a:r>
              <a:rPr sz="1800" dirty="0">
                <a:latin typeface="Times New Roman"/>
                <a:cs typeface="Times New Roman"/>
              </a:rPr>
              <a:t>interpret</a:t>
            </a:r>
            <a:r>
              <a:rPr sz="1800" spc="-50" dirty="0">
                <a:latin typeface="Times New Roman"/>
                <a:cs typeface="Times New Roman"/>
              </a:rPr>
              <a:t> </a:t>
            </a:r>
            <a:r>
              <a:rPr sz="1800" spc="-25" dirty="0">
                <a:latin typeface="Times New Roman"/>
                <a:cs typeface="Times New Roman"/>
              </a:rPr>
              <a:t>the</a:t>
            </a:r>
            <a:endParaRPr sz="1800">
              <a:latin typeface="Times New Roman"/>
              <a:cs typeface="Times New Roman"/>
            </a:endParaRPr>
          </a:p>
          <a:p>
            <a:pPr marL="12700">
              <a:lnSpc>
                <a:spcPct val="100000"/>
              </a:lnSpc>
              <a:spcBef>
                <a:spcPts val="10"/>
              </a:spcBef>
            </a:pPr>
            <a:r>
              <a:rPr sz="1800" dirty="0">
                <a:latin typeface="Times New Roman"/>
                <a:cs typeface="Times New Roman"/>
              </a:rPr>
              <a:t>&gt;&gt;</a:t>
            </a:r>
            <a:r>
              <a:rPr sz="1800" spc="-30" dirty="0">
                <a:latin typeface="Times New Roman"/>
                <a:cs typeface="Times New Roman"/>
              </a:rPr>
              <a:t> </a:t>
            </a:r>
            <a:r>
              <a:rPr sz="1800" dirty="0">
                <a:latin typeface="Times New Roman"/>
                <a:cs typeface="Times New Roman"/>
              </a:rPr>
              <a:t>as</a:t>
            </a:r>
            <a:r>
              <a:rPr sz="1800" spc="-5" dirty="0">
                <a:latin typeface="Times New Roman"/>
                <a:cs typeface="Times New Roman"/>
              </a:rPr>
              <a:t> </a:t>
            </a:r>
            <a:r>
              <a:rPr sz="1800" dirty="0">
                <a:latin typeface="Times New Roman"/>
                <a:cs typeface="Times New Roman"/>
              </a:rPr>
              <a:t>an</a:t>
            </a:r>
            <a:r>
              <a:rPr sz="1800" spc="-10" dirty="0">
                <a:latin typeface="Times New Roman"/>
                <a:cs typeface="Times New Roman"/>
              </a:rPr>
              <a:t> operator.</a:t>
            </a:r>
            <a:endParaRPr sz="1800">
              <a:latin typeface="Times New Roman"/>
              <a:cs typeface="Times New Roman"/>
            </a:endParaRPr>
          </a:p>
        </p:txBody>
      </p:sp>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1048B783-5E75-DF18-0718-87B9BD22E7E1}"/>
              </a:ext>
            </a:extLst>
          </p:cNvPr>
          <p:cNvSpPr>
            <a:spLocks noGrp="1"/>
          </p:cNvSpPr>
          <p:nvPr>
            <p:ph type="dt" sz="half" idx="10"/>
          </p:nvPr>
        </p:nvSpPr>
        <p:spPr/>
        <p:txBody>
          <a:bodyPr/>
          <a:lstStyle/>
          <a:p>
            <a:fld id="{A07C845C-FA91-4430-BAAE-BAEB58F91C26}" type="datetime1">
              <a:rPr lang="en-US" smtClean="0"/>
              <a:t>11/17/2025</a:t>
            </a:fld>
            <a:endParaRPr lang="en-US"/>
          </a:p>
        </p:txBody>
      </p:sp>
      <p:sp>
        <p:nvSpPr>
          <p:cNvPr id="10" name="Slide Number Placeholder 9">
            <a:extLst>
              <a:ext uri="{FF2B5EF4-FFF2-40B4-BE49-F238E27FC236}">
                <a16:creationId xmlns:a16="http://schemas.microsoft.com/office/drawing/2014/main" id="{551C41A5-2BE4-4FF3-44B3-372CB523C201}"/>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58</a:t>
            </a:fld>
            <a:endParaRPr spc="-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Algorithms</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6" name="object 6"/>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7" name="object 7"/>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1714576"/>
            <a:ext cx="10359390" cy="3075305"/>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Algorithms</a:t>
            </a:r>
            <a:r>
              <a:rPr sz="2000" spc="400" dirty="0">
                <a:latin typeface="Times New Roman"/>
                <a:cs typeface="Times New Roman"/>
              </a:rPr>
              <a:t> </a:t>
            </a:r>
            <a:r>
              <a:rPr sz="2000" dirty="0">
                <a:latin typeface="Times New Roman"/>
                <a:cs typeface="Times New Roman"/>
              </a:rPr>
              <a:t>in</a:t>
            </a:r>
            <a:r>
              <a:rPr sz="2000" spc="390" dirty="0">
                <a:latin typeface="Times New Roman"/>
                <a:cs typeface="Times New Roman"/>
              </a:rPr>
              <a:t> </a:t>
            </a:r>
            <a:r>
              <a:rPr sz="2000" dirty="0">
                <a:latin typeface="Times New Roman"/>
                <a:cs typeface="Times New Roman"/>
              </a:rPr>
              <a:t>the</a:t>
            </a:r>
            <a:r>
              <a:rPr sz="2000" spc="380" dirty="0">
                <a:latin typeface="Times New Roman"/>
                <a:cs typeface="Times New Roman"/>
              </a:rPr>
              <a:t> </a:t>
            </a:r>
            <a:r>
              <a:rPr sz="2000" dirty="0">
                <a:latin typeface="Times New Roman"/>
                <a:cs typeface="Times New Roman"/>
              </a:rPr>
              <a:t>STL</a:t>
            </a:r>
            <a:r>
              <a:rPr sz="2000" spc="320" dirty="0">
                <a:latin typeface="Times New Roman"/>
                <a:cs typeface="Times New Roman"/>
              </a:rPr>
              <a:t> </a:t>
            </a:r>
            <a:r>
              <a:rPr sz="2000" dirty="0">
                <a:latin typeface="Times New Roman"/>
                <a:cs typeface="Times New Roman"/>
              </a:rPr>
              <a:t>are</a:t>
            </a:r>
            <a:r>
              <a:rPr sz="2000" spc="385" dirty="0">
                <a:latin typeface="Times New Roman"/>
                <a:cs typeface="Times New Roman"/>
              </a:rPr>
              <a:t> </a:t>
            </a:r>
            <a:r>
              <a:rPr sz="2000" dirty="0">
                <a:latin typeface="Times New Roman"/>
                <a:cs typeface="Times New Roman"/>
              </a:rPr>
              <a:t>procedures</a:t>
            </a:r>
            <a:r>
              <a:rPr sz="2000" spc="400" dirty="0">
                <a:latin typeface="Times New Roman"/>
                <a:cs typeface="Times New Roman"/>
              </a:rPr>
              <a:t> </a:t>
            </a:r>
            <a:r>
              <a:rPr sz="2000" dirty="0">
                <a:latin typeface="Times New Roman"/>
                <a:cs typeface="Times New Roman"/>
              </a:rPr>
              <a:t>that</a:t>
            </a:r>
            <a:r>
              <a:rPr sz="2000" spc="390" dirty="0">
                <a:latin typeface="Times New Roman"/>
                <a:cs typeface="Times New Roman"/>
              </a:rPr>
              <a:t> </a:t>
            </a:r>
            <a:r>
              <a:rPr sz="2000" dirty="0">
                <a:latin typeface="Times New Roman"/>
                <a:cs typeface="Times New Roman"/>
              </a:rPr>
              <a:t>are</a:t>
            </a:r>
            <a:r>
              <a:rPr sz="2000" spc="400" dirty="0">
                <a:latin typeface="Times New Roman"/>
                <a:cs typeface="Times New Roman"/>
              </a:rPr>
              <a:t> </a:t>
            </a:r>
            <a:r>
              <a:rPr sz="2000" dirty="0">
                <a:latin typeface="Times New Roman"/>
                <a:cs typeface="Times New Roman"/>
              </a:rPr>
              <a:t>applied</a:t>
            </a:r>
            <a:r>
              <a:rPr sz="2000" spc="395" dirty="0">
                <a:latin typeface="Times New Roman"/>
                <a:cs typeface="Times New Roman"/>
              </a:rPr>
              <a:t> </a:t>
            </a:r>
            <a:r>
              <a:rPr sz="2000" dirty="0">
                <a:latin typeface="Times New Roman"/>
                <a:cs typeface="Times New Roman"/>
              </a:rPr>
              <a:t>to</a:t>
            </a:r>
            <a:r>
              <a:rPr sz="2000" spc="400" dirty="0">
                <a:latin typeface="Times New Roman"/>
                <a:cs typeface="Times New Roman"/>
              </a:rPr>
              <a:t> </a:t>
            </a:r>
            <a:r>
              <a:rPr sz="2000" dirty="0">
                <a:latin typeface="Times New Roman"/>
                <a:cs typeface="Times New Roman"/>
              </a:rPr>
              <a:t>containers</a:t>
            </a:r>
            <a:r>
              <a:rPr sz="2000" spc="400" dirty="0">
                <a:latin typeface="Times New Roman"/>
                <a:cs typeface="Times New Roman"/>
              </a:rPr>
              <a:t> </a:t>
            </a:r>
            <a:r>
              <a:rPr sz="2000" dirty="0">
                <a:latin typeface="Times New Roman"/>
                <a:cs typeface="Times New Roman"/>
              </a:rPr>
              <a:t>to</a:t>
            </a:r>
            <a:r>
              <a:rPr sz="2000" spc="390" dirty="0">
                <a:latin typeface="Times New Roman"/>
                <a:cs typeface="Times New Roman"/>
              </a:rPr>
              <a:t> </a:t>
            </a:r>
            <a:r>
              <a:rPr sz="2000" dirty="0">
                <a:latin typeface="Times New Roman"/>
                <a:cs typeface="Times New Roman"/>
              </a:rPr>
              <a:t>process</a:t>
            </a:r>
            <a:r>
              <a:rPr sz="2000" spc="385" dirty="0">
                <a:latin typeface="Times New Roman"/>
                <a:cs typeface="Times New Roman"/>
              </a:rPr>
              <a:t> </a:t>
            </a:r>
            <a:r>
              <a:rPr sz="2000" dirty="0">
                <a:latin typeface="Times New Roman"/>
                <a:cs typeface="Times New Roman"/>
              </a:rPr>
              <a:t>their</a:t>
            </a:r>
            <a:r>
              <a:rPr sz="2000" spc="390" dirty="0">
                <a:latin typeface="Times New Roman"/>
                <a:cs typeface="Times New Roman"/>
              </a:rPr>
              <a:t> </a:t>
            </a:r>
            <a:r>
              <a:rPr sz="2000" dirty="0">
                <a:latin typeface="Times New Roman"/>
                <a:cs typeface="Times New Roman"/>
              </a:rPr>
              <a:t>data</a:t>
            </a:r>
            <a:r>
              <a:rPr sz="2000" spc="385" dirty="0">
                <a:latin typeface="Times New Roman"/>
                <a:cs typeface="Times New Roman"/>
              </a:rPr>
              <a:t> </a:t>
            </a:r>
            <a:r>
              <a:rPr sz="2000" spc="-25" dirty="0">
                <a:latin typeface="Times New Roman"/>
                <a:cs typeface="Times New Roman"/>
              </a:rPr>
              <a:t>in</a:t>
            </a:r>
            <a:endParaRPr sz="2000">
              <a:latin typeface="Times New Roman"/>
              <a:cs typeface="Times New Roman"/>
            </a:endParaRPr>
          </a:p>
          <a:p>
            <a:pPr marL="355600">
              <a:lnSpc>
                <a:spcPct val="100000"/>
              </a:lnSpc>
              <a:spcBef>
                <a:spcPts val="5"/>
              </a:spcBef>
            </a:pPr>
            <a:r>
              <a:rPr sz="2000" dirty="0">
                <a:latin typeface="Times New Roman"/>
                <a:cs typeface="Times New Roman"/>
              </a:rPr>
              <a:t>various</a:t>
            </a:r>
            <a:r>
              <a:rPr sz="2000" spc="-35" dirty="0">
                <a:latin typeface="Times New Roman"/>
                <a:cs typeface="Times New Roman"/>
              </a:rPr>
              <a:t> </a:t>
            </a:r>
            <a:r>
              <a:rPr sz="2000" spc="-10" dirty="0">
                <a:latin typeface="Times New Roman"/>
                <a:cs typeface="Times New Roman"/>
              </a:rPr>
              <a:t>ways.</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For</a:t>
            </a:r>
            <a:r>
              <a:rPr sz="2000" spc="-35" dirty="0">
                <a:latin typeface="Times New Roman"/>
                <a:cs typeface="Times New Roman"/>
              </a:rPr>
              <a:t> </a:t>
            </a:r>
            <a:r>
              <a:rPr sz="2000" dirty="0">
                <a:latin typeface="Times New Roman"/>
                <a:cs typeface="Times New Roman"/>
              </a:rPr>
              <a:t>example,</a:t>
            </a:r>
            <a:r>
              <a:rPr sz="2000" spc="-25" dirty="0">
                <a:latin typeface="Times New Roman"/>
                <a:cs typeface="Times New Roman"/>
              </a:rPr>
              <a:t> </a:t>
            </a:r>
            <a:r>
              <a:rPr sz="2000" dirty="0">
                <a:latin typeface="Times New Roman"/>
                <a:cs typeface="Times New Roman"/>
              </a:rPr>
              <a:t>there</a:t>
            </a:r>
            <a:r>
              <a:rPr sz="2000" spc="-40" dirty="0">
                <a:latin typeface="Times New Roman"/>
                <a:cs typeface="Times New Roman"/>
              </a:rPr>
              <a:t> </a:t>
            </a:r>
            <a:r>
              <a:rPr sz="2000" dirty="0">
                <a:latin typeface="Times New Roman"/>
                <a:cs typeface="Times New Roman"/>
              </a:rPr>
              <a:t>are</a:t>
            </a:r>
            <a:r>
              <a:rPr sz="2000" spc="-25" dirty="0">
                <a:latin typeface="Times New Roman"/>
                <a:cs typeface="Times New Roman"/>
              </a:rPr>
              <a:t> </a:t>
            </a:r>
            <a:r>
              <a:rPr sz="2000" dirty="0">
                <a:latin typeface="Times New Roman"/>
                <a:cs typeface="Times New Roman"/>
              </a:rPr>
              <a:t>algorithms</a:t>
            </a:r>
            <a:r>
              <a:rPr sz="2000" spc="-40" dirty="0">
                <a:latin typeface="Times New Roman"/>
                <a:cs typeface="Times New Roman"/>
              </a:rPr>
              <a:t> </a:t>
            </a:r>
            <a:r>
              <a:rPr sz="2000" dirty="0">
                <a:latin typeface="Times New Roman"/>
                <a:cs typeface="Times New Roman"/>
              </a:rPr>
              <a:t>to</a:t>
            </a:r>
            <a:r>
              <a:rPr sz="2000" spc="-35" dirty="0">
                <a:latin typeface="Times New Roman"/>
                <a:cs typeface="Times New Roman"/>
              </a:rPr>
              <a:t> </a:t>
            </a:r>
            <a:r>
              <a:rPr sz="2000" dirty="0">
                <a:latin typeface="Times New Roman"/>
                <a:cs typeface="Times New Roman"/>
              </a:rPr>
              <a:t>sort,</a:t>
            </a:r>
            <a:r>
              <a:rPr sz="2000" spc="-30" dirty="0">
                <a:latin typeface="Times New Roman"/>
                <a:cs typeface="Times New Roman"/>
              </a:rPr>
              <a:t> </a:t>
            </a:r>
            <a:r>
              <a:rPr sz="2000" spc="-10" dirty="0">
                <a:latin typeface="Times New Roman"/>
                <a:cs typeface="Times New Roman"/>
              </a:rPr>
              <a:t>copy,</a:t>
            </a:r>
            <a:r>
              <a:rPr sz="2000" spc="-35" dirty="0">
                <a:latin typeface="Times New Roman"/>
                <a:cs typeface="Times New Roman"/>
              </a:rPr>
              <a:t> </a:t>
            </a:r>
            <a:r>
              <a:rPr sz="2000" dirty="0">
                <a:latin typeface="Times New Roman"/>
                <a:cs typeface="Times New Roman"/>
              </a:rPr>
              <a:t>search,</a:t>
            </a:r>
            <a:r>
              <a:rPr sz="2000" spc="-30" dirty="0">
                <a:latin typeface="Times New Roman"/>
                <a:cs typeface="Times New Roman"/>
              </a:rPr>
              <a:t>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merge</a:t>
            </a:r>
            <a:r>
              <a:rPr sz="2000" spc="-20" dirty="0">
                <a:latin typeface="Times New Roman"/>
                <a:cs typeface="Times New Roman"/>
              </a:rPr>
              <a:t> </a:t>
            </a:r>
            <a:r>
              <a:rPr sz="2000" spc="-10" dirty="0">
                <a:latin typeface="Times New Roman"/>
                <a:cs typeface="Times New Roman"/>
              </a:rPr>
              <a:t>data.</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Algorithms</a:t>
            </a:r>
            <a:r>
              <a:rPr sz="2000" spc="-50" dirty="0">
                <a:latin typeface="Times New Roman"/>
                <a:cs typeface="Times New Roman"/>
              </a:rPr>
              <a:t> </a:t>
            </a:r>
            <a:r>
              <a:rPr sz="2000" dirty="0">
                <a:latin typeface="Times New Roman"/>
                <a:cs typeface="Times New Roman"/>
              </a:rPr>
              <a:t>are</a:t>
            </a:r>
            <a:r>
              <a:rPr sz="2000" spc="-20" dirty="0">
                <a:latin typeface="Times New Roman"/>
                <a:cs typeface="Times New Roman"/>
              </a:rPr>
              <a:t> </a:t>
            </a:r>
            <a:r>
              <a:rPr sz="2000" dirty="0">
                <a:latin typeface="Times New Roman"/>
                <a:cs typeface="Times New Roman"/>
              </a:rPr>
              <a:t>represented</a:t>
            </a:r>
            <a:r>
              <a:rPr sz="2000" spc="-45" dirty="0">
                <a:latin typeface="Times New Roman"/>
                <a:cs typeface="Times New Roman"/>
              </a:rPr>
              <a:t> </a:t>
            </a:r>
            <a:r>
              <a:rPr sz="2000" dirty="0">
                <a:latin typeface="Times New Roman"/>
                <a:cs typeface="Times New Roman"/>
              </a:rPr>
              <a:t>by</a:t>
            </a:r>
            <a:r>
              <a:rPr sz="2000" spc="-25" dirty="0">
                <a:latin typeface="Times New Roman"/>
                <a:cs typeface="Times New Roman"/>
              </a:rPr>
              <a:t> </a:t>
            </a:r>
            <a:r>
              <a:rPr sz="2000" dirty="0">
                <a:latin typeface="Times New Roman"/>
                <a:cs typeface="Times New Roman"/>
              </a:rPr>
              <a:t>template</a:t>
            </a:r>
            <a:r>
              <a:rPr sz="2000" spc="-15" dirty="0">
                <a:latin typeface="Times New Roman"/>
                <a:cs typeface="Times New Roman"/>
              </a:rPr>
              <a:t> </a:t>
            </a:r>
            <a:r>
              <a:rPr sz="2000" spc="-10" dirty="0">
                <a:latin typeface="Times New Roman"/>
                <a:cs typeface="Times New Roman"/>
              </a:rPr>
              <a:t>functions.</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An</a:t>
            </a:r>
            <a:r>
              <a:rPr sz="2000" spc="-15" dirty="0">
                <a:latin typeface="Times New Roman"/>
                <a:cs typeface="Times New Roman"/>
              </a:rPr>
              <a:t> </a:t>
            </a:r>
            <a:r>
              <a:rPr sz="2000" dirty="0">
                <a:latin typeface="Times New Roman"/>
                <a:cs typeface="Times New Roman"/>
              </a:rPr>
              <a:t>algorithm</a:t>
            </a:r>
            <a:r>
              <a:rPr sz="2000" spc="-45"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function</a:t>
            </a:r>
            <a:r>
              <a:rPr sz="2000" spc="-45" dirty="0">
                <a:latin typeface="Times New Roman"/>
                <a:cs typeface="Times New Roman"/>
              </a:rPr>
              <a:t> </a:t>
            </a:r>
            <a:r>
              <a:rPr sz="2000" dirty="0">
                <a:latin typeface="Times New Roman"/>
                <a:cs typeface="Times New Roman"/>
              </a:rPr>
              <a:t>that</a:t>
            </a:r>
            <a:r>
              <a:rPr sz="2000" spc="-20" dirty="0">
                <a:latin typeface="Times New Roman"/>
                <a:cs typeface="Times New Roman"/>
              </a:rPr>
              <a:t> </a:t>
            </a:r>
            <a:r>
              <a:rPr sz="2000" dirty="0">
                <a:latin typeface="Times New Roman"/>
                <a:cs typeface="Times New Roman"/>
              </a:rPr>
              <a:t>does</a:t>
            </a:r>
            <a:r>
              <a:rPr sz="2000" spc="-45" dirty="0">
                <a:latin typeface="Times New Roman"/>
                <a:cs typeface="Times New Roman"/>
              </a:rPr>
              <a:t> </a:t>
            </a:r>
            <a:r>
              <a:rPr sz="2000" dirty="0">
                <a:latin typeface="Times New Roman"/>
                <a:cs typeface="Times New Roman"/>
              </a:rPr>
              <a:t>something</a:t>
            </a:r>
            <a:r>
              <a:rPr sz="2000" spc="-15"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items</a:t>
            </a:r>
            <a:r>
              <a:rPr sz="2000" spc="-5"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container</a:t>
            </a:r>
            <a:r>
              <a:rPr sz="2000" spc="-45"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spc="-10" dirty="0">
                <a:latin typeface="Times New Roman"/>
                <a:cs typeface="Times New Roman"/>
              </a:rPr>
              <a:t>containers).</a:t>
            </a:r>
            <a:endParaRPr sz="2000">
              <a:latin typeface="Times New Roman"/>
              <a:cs typeface="Times New Roman"/>
            </a:endParaRPr>
          </a:p>
          <a:p>
            <a:pPr marL="355600" marR="6350" indent="-343535">
              <a:lnSpc>
                <a:spcPct val="100000"/>
              </a:lnSpc>
              <a:buFont typeface="Arial MT"/>
              <a:buChar char="•"/>
              <a:tabLst>
                <a:tab pos="355600" algn="l"/>
              </a:tabLst>
            </a:pPr>
            <a:r>
              <a:rPr sz="2000" dirty="0">
                <a:latin typeface="Times New Roman"/>
                <a:cs typeface="Times New Roman"/>
              </a:rPr>
              <a:t>Algorithms</a:t>
            </a:r>
            <a:r>
              <a:rPr sz="2000" spc="225" dirty="0">
                <a:latin typeface="Times New Roman"/>
                <a:cs typeface="Times New Roman"/>
              </a:rPr>
              <a:t> </a:t>
            </a:r>
            <a:r>
              <a:rPr sz="2000" dirty="0">
                <a:latin typeface="Times New Roman"/>
                <a:cs typeface="Times New Roman"/>
              </a:rPr>
              <a:t>in</a:t>
            </a:r>
            <a:r>
              <a:rPr sz="2000" spc="215"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dirty="0">
                <a:latin typeface="Times New Roman"/>
                <a:cs typeface="Times New Roman"/>
              </a:rPr>
              <a:t>STL</a:t>
            </a:r>
            <a:r>
              <a:rPr sz="2000" spc="155" dirty="0">
                <a:latin typeface="Times New Roman"/>
                <a:cs typeface="Times New Roman"/>
              </a:rPr>
              <a:t> </a:t>
            </a:r>
            <a:r>
              <a:rPr sz="2000" dirty="0">
                <a:latin typeface="Times New Roman"/>
                <a:cs typeface="Times New Roman"/>
              </a:rPr>
              <a:t>are</a:t>
            </a:r>
            <a:r>
              <a:rPr sz="2000" spc="220" dirty="0">
                <a:latin typeface="Times New Roman"/>
                <a:cs typeface="Times New Roman"/>
              </a:rPr>
              <a:t> </a:t>
            </a:r>
            <a:r>
              <a:rPr sz="2000" dirty="0">
                <a:latin typeface="Times New Roman"/>
                <a:cs typeface="Times New Roman"/>
              </a:rPr>
              <a:t>not</a:t>
            </a:r>
            <a:r>
              <a:rPr sz="2000" spc="215" dirty="0">
                <a:latin typeface="Times New Roman"/>
                <a:cs typeface="Times New Roman"/>
              </a:rPr>
              <a:t> </a:t>
            </a:r>
            <a:r>
              <a:rPr sz="2000" dirty="0">
                <a:latin typeface="Times New Roman"/>
                <a:cs typeface="Times New Roman"/>
              </a:rPr>
              <a:t>member</a:t>
            </a:r>
            <a:r>
              <a:rPr sz="2000" spc="229" dirty="0">
                <a:latin typeface="Times New Roman"/>
                <a:cs typeface="Times New Roman"/>
              </a:rPr>
              <a:t> </a:t>
            </a:r>
            <a:r>
              <a:rPr sz="2000" dirty="0">
                <a:latin typeface="Times New Roman"/>
                <a:cs typeface="Times New Roman"/>
              </a:rPr>
              <a:t>functions</a:t>
            </a:r>
            <a:r>
              <a:rPr sz="2000" spc="220" dirty="0">
                <a:latin typeface="Times New Roman"/>
                <a:cs typeface="Times New Roman"/>
              </a:rPr>
              <a:t> </a:t>
            </a:r>
            <a:r>
              <a:rPr sz="2000" dirty="0">
                <a:latin typeface="Times New Roman"/>
                <a:cs typeface="Times New Roman"/>
              </a:rPr>
              <a:t>or</a:t>
            </a:r>
            <a:r>
              <a:rPr sz="2000" spc="225" dirty="0">
                <a:latin typeface="Times New Roman"/>
                <a:cs typeface="Times New Roman"/>
              </a:rPr>
              <a:t> </a:t>
            </a:r>
            <a:r>
              <a:rPr sz="2000" dirty="0">
                <a:latin typeface="Times New Roman"/>
                <a:cs typeface="Times New Roman"/>
              </a:rPr>
              <a:t>even</a:t>
            </a:r>
            <a:r>
              <a:rPr sz="2000" spc="215" dirty="0">
                <a:latin typeface="Times New Roman"/>
                <a:cs typeface="Times New Roman"/>
              </a:rPr>
              <a:t> </a:t>
            </a:r>
            <a:r>
              <a:rPr sz="2000" dirty="0">
                <a:latin typeface="Times New Roman"/>
                <a:cs typeface="Times New Roman"/>
              </a:rPr>
              <a:t>friends</a:t>
            </a:r>
            <a:r>
              <a:rPr sz="2000" spc="215" dirty="0">
                <a:latin typeface="Times New Roman"/>
                <a:cs typeface="Times New Roman"/>
              </a:rPr>
              <a:t> </a:t>
            </a:r>
            <a:r>
              <a:rPr sz="2000" dirty="0">
                <a:latin typeface="Times New Roman"/>
                <a:cs typeface="Times New Roman"/>
              </a:rPr>
              <a:t>of</a:t>
            </a:r>
            <a:r>
              <a:rPr sz="2000" spc="225" dirty="0">
                <a:latin typeface="Times New Roman"/>
                <a:cs typeface="Times New Roman"/>
              </a:rPr>
              <a:t> </a:t>
            </a:r>
            <a:r>
              <a:rPr sz="2000" dirty="0">
                <a:latin typeface="Times New Roman"/>
                <a:cs typeface="Times New Roman"/>
              </a:rPr>
              <a:t>container</a:t>
            </a:r>
            <a:r>
              <a:rPr sz="2000" spc="235" dirty="0">
                <a:latin typeface="Times New Roman"/>
                <a:cs typeface="Times New Roman"/>
              </a:rPr>
              <a:t> </a:t>
            </a:r>
            <a:r>
              <a:rPr sz="2000" dirty="0">
                <a:latin typeface="Times New Roman"/>
                <a:cs typeface="Times New Roman"/>
              </a:rPr>
              <a:t>classes,</a:t>
            </a:r>
            <a:r>
              <a:rPr sz="2000" spc="225" dirty="0">
                <a:latin typeface="Times New Roman"/>
                <a:cs typeface="Times New Roman"/>
              </a:rPr>
              <a:t> </a:t>
            </a:r>
            <a:r>
              <a:rPr sz="2000" dirty="0">
                <a:latin typeface="Times New Roman"/>
                <a:cs typeface="Times New Roman"/>
              </a:rPr>
              <a:t>they</a:t>
            </a:r>
            <a:r>
              <a:rPr sz="2000" spc="215" dirty="0">
                <a:latin typeface="Times New Roman"/>
                <a:cs typeface="Times New Roman"/>
              </a:rPr>
              <a:t> </a:t>
            </a:r>
            <a:r>
              <a:rPr sz="2000" spc="-25" dirty="0">
                <a:latin typeface="Times New Roman"/>
                <a:cs typeface="Times New Roman"/>
              </a:rPr>
              <a:t>are </a:t>
            </a:r>
            <a:r>
              <a:rPr sz="2000" dirty="0">
                <a:latin typeface="Times New Roman"/>
                <a:cs typeface="Times New Roman"/>
              </a:rPr>
              <a:t>standalone</a:t>
            </a:r>
            <a:r>
              <a:rPr sz="2000" spc="-60" dirty="0">
                <a:latin typeface="Times New Roman"/>
                <a:cs typeface="Times New Roman"/>
              </a:rPr>
              <a:t> </a:t>
            </a:r>
            <a:r>
              <a:rPr sz="2000" dirty="0">
                <a:latin typeface="Times New Roman"/>
                <a:cs typeface="Times New Roman"/>
              </a:rPr>
              <a:t>template</a:t>
            </a:r>
            <a:r>
              <a:rPr sz="2000" spc="-25" dirty="0">
                <a:latin typeface="Times New Roman"/>
                <a:cs typeface="Times New Roman"/>
              </a:rPr>
              <a:t> </a:t>
            </a:r>
            <a:r>
              <a:rPr sz="2000" spc="-10" dirty="0">
                <a:latin typeface="Times New Roman"/>
                <a:cs typeface="Times New Roman"/>
              </a:rPr>
              <a:t>functions.</a:t>
            </a:r>
            <a:endParaRPr sz="2000">
              <a:latin typeface="Times New Roman"/>
              <a:cs typeface="Times New Roman"/>
            </a:endParaRPr>
          </a:p>
          <a:p>
            <a:pPr marL="355600" indent="-342900">
              <a:lnSpc>
                <a:spcPct val="100000"/>
              </a:lnSpc>
              <a:buFont typeface="Arial MT"/>
              <a:buChar char="•"/>
              <a:tabLst>
                <a:tab pos="355600" algn="l"/>
              </a:tabLst>
            </a:pPr>
            <a:r>
              <a:rPr sz="2000" spc="-50" dirty="0">
                <a:latin typeface="Times New Roman"/>
                <a:cs typeface="Times New Roman"/>
              </a:rPr>
              <a:t>You</a:t>
            </a:r>
            <a:r>
              <a:rPr sz="2000" spc="-20" dirty="0">
                <a:latin typeface="Times New Roman"/>
                <a:cs typeface="Times New Roman"/>
              </a:rPr>
              <a:t> </a:t>
            </a:r>
            <a:r>
              <a:rPr sz="2000" dirty="0">
                <a:latin typeface="Times New Roman"/>
                <a:cs typeface="Times New Roman"/>
              </a:rPr>
              <a:t>can</a:t>
            </a:r>
            <a:r>
              <a:rPr sz="2000" spc="-10" dirty="0">
                <a:latin typeface="Times New Roman"/>
                <a:cs typeface="Times New Roman"/>
              </a:rPr>
              <a:t> </a:t>
            </a:r>
            <a:r>
              <a:rPr sz="2000" dirty="0">
                <a:latin typeface="Times New Roman"/>
                <a:cs typeface="Times New Roman"/>
              </a:rPr>
              <a:t>use</a:t>
            </a:r>
            <a:r>
              <a:rPr sz="2000" spc="-20" dirty="0">
                <a:latin typeface="Times New Roman"/>
                <a:cs typeface="Times New Roman"/>
              </a:rPr>
              <a:t> </a:t>
            </a:r>
            <a:r>
              <a:rPr sz="2000" dirty="0">
                <a:latin typeface="Times New Roman"/>
                <a:cs typeface="Times New Roman"/>
              </a:rPr>
              <a:t>them</a:t>
            </a:r>
            <a:r>
              <a:rPr sz="2000" spc="-25" dirty="0">
                <a:latin typeface="Times New Roman"/>
                <a:cs typeface="Times New Roman"/>
              </a:rPr>
              <a:t> </a:t>
            </a:r>
            <a:r>
              <a:rPr sz="2000" dirty="0">
                <a:latin typeface="Times New Roman"/>
                <a:cs typeface="Times New Roman"/>
              </a:rPr>
              <a:t>with</a:t>
            </a:r>
            <a:r>
              <a:rPr sz="2000" spc="-25" dirty="0">
                <a:latin typeface="Times New Roman"/>
                <a:cs typeface="Times New Roman"/>
              </a:rPr>
              <a:t> </a:t>
            </a:r>
            <a:r>
              <a:rPr sz="2000" dirty="0">
                <a:latin typeface="Times New Roman"/>
                <a:cs typeface="Times New Roman"/>
              </a:rPr>
              <a:t>built-in</a:t>
            </a:r>
            <a:r>
              <a:rPr sz="2000" spc="-35" dirty="0">
                <a:latin typeface="Times New Roman"/>
                <a:cs typeface="Times New Roman"/>
              </a:rPr>
              <a:t> </a:t>
            </a:r>
            <a:r>
              <a:rPr sz="2000" dirty="0">
                <a:latin typeface="Times New Roman"/>
                <a:cs typeface="Times New Roman"/>
              </a:rPr>
              <a:t>C++</a:t>
            </a:r>
            <a:r>
              <a:rPr sz="2000" spc="-25" dirty="0">
                <a:latin typeface="Times New Roman"/>
                <a:cs typeface="Times New Roman"/>
              </a:rPr>
              <a:t> </a:t>
            </a:r>
            <a:r>
              <a:rPr sz="2000" dirty="0">
                <a:latin typeface="Times New Roman"/>
                <a:cs typeface="Times New Roman"/>
              </a:rPr>
              <a:t>arrays,</a:t>
            </a:r>
            <a:r>
              <a:rPr sz="2000" spc="-20" dirty="0">
                <a:latin typeface="Times New Roman"/>
                <a:cs typeface="Times New Roman"/>
              </a:rPr>
              <a:t> </a:t>
            </a:r>
            <a:r>
              <a:rPr sz="2000" dirty="0">
                <a:latin typeface="Times New Roman"/>
                <a:cs typeface="Times New Roman"/>
              </a:rPr>
              <a:t>or</a:t>
            </a:r>
            <a:r>
              <a:rPr sz="2000" spc="-25" dirty="0">
                <a:latin typeface="Times New Roman"/>
                <a:cs typeface="Times New Roman"/>
              </a:rPr>
              <a:t> </a:t>
            </a:r>
            <a:r>
              <a:rPr sz="2000" dirty="0">
                <a:latin typeface="Times New Roman"/>
                <a:cs typeface="Times New Roman"/>
              </a:rPr>
              <a:t>with</a:t>
            </a:r>
            <a:r>
              <a:rPr sz="2000" spc="-15" dirty="0">
                <a:latin typeface="Times New Roman"/>
                <a:cs typeface="Times New Roman"/>
              </a:rPr>
              <a:t> </a:t>
            </a:r>
            <a:r>
              <a:rPr sz="2000" dirty="0">
                <a:latin typeface="Times New Roman"/>
                <a:cs typeface="Times New Roman"/>
              </a:rPr>
              <a:t>container</a:t>
            </a:r>
            <a:r>
              <a:rPr sz="2000" spc="-45" dirty="0">
                <a:latin typeface="Times New Roman"/>
                <a:cs typeface="Times New Roman"/>
              </a:rPr>
              <a:t> </a:t>
            </a:r>
            <a:r>
              <a:rPr sz="2000" dirty="0">
                <a:latin typeface="Times New Roman"/>
                <a:cs typeface="Times New Roman"/>
              </a:rPr>
              <a:t>classes</a:t>
            </a:r>
            <a:r>
              <a:rPr sz="2000" spc="-30" dirty="0">
                <a:latin typeface="Times New Roman"/>
                <a:cs typeface="Times New Roman"/>
              </a:rPr>
              <a:t> </a:t>
            </a:r>
            <a:r>
              <a:rPr sz="2000" dirty="0">
                <a:latin typeface="Times New Roman"/>
                <a:cs typeface="Times New Roman"/>
              </a:rPr>
              <a:t>you</a:t>
            </a:r>
            <a:r>
              <a:rPr sz="2000" spc="-10" dirty="0">
                <a:latin typeface="Times New Roman"/>
                <a:cs typeface="Times New Roman"/>
              </a:rPr>
              <a:t> </a:t>
            </a:r>
            <a:r>
              <a:rPr sz="2000" dirty="0">
                <a:latin typeface="Times New Roman"/>
                <a:cs typeface="Times New Roman"/>
              </a:rPr>
              <a:t>create</a:t>
            </a:r>
            <a:r>
              <a:rPr sz="2000" spc="-35" dirty="0">
                <a:latin typeface="Times New Roman"/>
                <a:cs typeface="Times New Roman"/>
              </a:rPr>
              <a:t> </a:t>
            </a:r>
            <a:r>
              <a:rPr sz="2000" spc="-10" dirty="0">
                <a:latin typeface="Times New Roman"/>
                <a:cs typeface="Times New Roman"/>
              </a:rPr>
              <a:t>yourself.</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The</a:t>
            </a:r>
            <a:r>
              <a:rPr sz="2000" spc="235" dirty="0">
                <a:latin typeface="Times New Roman"/>
                <a:cs typeface="Times New Roman"/>
              </a:rPr>
              <a:t> </a:t>
            </a:r>
            <a:r>
              <a:rPr sz="2000" dirty="0">
                <a:latin typeface="Times New Roman"/>
                <a:cs typeface="Times New Roman"/>
              </a:rPr>
              <a:t>specialized</a:t>
            </a:r>
            <a:r>
              <a:rPr sz="2000" spc="235" dirty="0">
                <a:latin typeface="Times New Roman"/>
                <a:cs typeface="Times New Roman"/>
              </a:rPr>
              <a:t> </a:t>
            </a:r>
            <a:r>
              <a:rPr sz="2000" dirty="0">
                <a:latin typeface="Times New Roman"/>
                <a:cs typeface="Times New Roman"/>
              </a:rPr>
              <a:t>containers</a:t>
            </a:r>
            <a:r>
              <a:rPr sz="2000" spc="240" dirty="0">
                <a:latin typeface="Times New Roman"/>
                <a:cs typeface="Times New Roman"/>
              </a:rPr>
              <a:t> </a:t>
            </a:r>
            <a:r>
              <a:rPr sz="2000" dirty="0">
                <a:latin typeface="Times New Roman"/>
                <a:cs typeface="Times New Roman"/>
              </a:rPr>
              <a:t>implemented</a:t>
            </a:r>
            <a:r>
              <a:rPr sz="2000" spc="235" dirty="0">
                <a:latin typeface="Times New Roman"/>
                <a:cs typeface="Times New Roman"/>
              </a:rPr>
              <a:t> </a:t>
            </a:r>
            <a:r>
              <a:rPr sz="2000" dirty="0">
                <a:latin typeface="Times New Roman"/>
                <a:cs typeface="Times New Roman"/>
              </a:rPr>
              <a:t>with</a:t>
            </a:r>
            <a:r>
              <a:rPr sz="2000" spc="229" dirty="0">
                <a:latin typeface="Times New Roman"/>
                <a:cs typeface="Times New Roman"/>
              </a:rPr>
              <a:t> </a:t>
            </a:r>
            <a:r>
              <a:rPr sz="2000" dirty="0">
                <a:latin typeface="Times New Roman"/>
                <a:cs typeface="Times New Roman"/>
              </a:rPr>
              <a:t>container</a:t>
            </a:r>
            <a:r>
              <a:rPr sz="2000" spc="235" dirty="0">
                <a:latin typeface="Times New Roman"/>
                <a:cs typeface="Times New Roman"/>
              </a:rPr>
              <a:t> </a:t>
            </a:r>
            <a:r>
              <a:rPr sz="2000" dirty="0">
                <a:latin typeface="Times New Roman"/>
                <a:cs typeface="Times New Roman"/>
              </a:rPr>
              <a:t>adapters</a:t>
            </a:r>
            <a:r>
              <a:rPr sz="2000" spc="229" dirty="0">
                <a:latin typeface="Times New Roman"/>
                <a:cs typeface="Times New Roman"/>
              </a:rPr>
              <a:t> </a:t>
            </a:r>
            <a:r>
              <a:rPr sz="2000" dirty="0">
                <a:latin typeface="Times New Roman"/>
                <a:cs typeface="Times New Roman"/>
              </a:rPr>
              <a:t>in</a:t>
            </a:r>
            <a:r>
              <a:rPr sz="2000" spc="235" dirty="0">
                <a:latin typeface="Times New Roman"/>
                <a:cs typeface="Times New Roman"/>
              </a:rPr>
              <a:t> </a:t>
            </a:r>
            <a:r>
              <a:rPr sz="2000" dirty="0">
                <a:latin typeface="Times New Roman"/>
                <a:cs typeface="Times New Roman"/>
              </a:rPr>
              <a:t>the</a:t>
            </a:r>
            <a:r>
              <a:rPr sz="2000" spc="225" dirty="0">
                <a:latin typeface="Times New Roman"/>
                <a:cs typeface="Times New Roman"/>
              </a:rPr>
              <a:t> </a:t>
            </a:r>
            <a:r>
              <a:rPr sz="2000" dirty="0">
                <a:latin typeface="Times New Roman"/>
                <a:cs typeface="Times New Roman"/>
              </a:rPr>
              <a:t>STL</a:t>
            </a:r>
            <a:r>
              <a:rPr sz="2000" spc="175" dirty="0">
                <a:latin typeface="Times New Roman"/>
                <a:cs typeface="Times New Roman"/>
              </a:rPr>
              <a:t> </a:t>
            </a:r>
            <a:r>
              <a:rPr sz="2000" dirty="0">
                <a:latin typeface="Times New Roman"/>
                <a:cs typeface="Times New Roman"/>
              </a:rPr>
              <a:t>are</a:t>
            </a:r>
            <a:r>
              <a:rPr sz="2000" spc="229" dirty="0">
                <a:latin typeface="Times New Roman"/>
                <a:cs typeface="Times New Roman"/>
              </a:rPr>
              <a:t> </a:t>
            </a:r>
            <a:r>
              <a:rPr sz="2000" dirty="0">
                <a:latin typeface="Times New Roman"/>
                <a:cs typeface="Times New Roman"/>
              </a:rPr>
              <a:t>stacks,</a:t>
            </a:r>
            <a:r>
              <a:rPr sz="2000" spc="225" dirty="0">
                <a:latin typeface="Times New Roman"/>
                <a:cs typeface="Times New Roman"/>
              </a:rPr>
              <a:t> </a:t>
            </a:r>
            <a:r>
              <a:rPr sz="2000" spc="-10" dirty="0">
                <a:latin typeface="Times New Roman"/>
                <a:cs typeface="Times New Roman"/>
              </a:rPr>
              <a:t>queues,</a:t>
            </a:r>
            <a:endParaRPr sz="2000">
              <a:latin typeface="Times New Roman"/>
              <a:cs typeface="Times New Roman"/>
            </a:endParaRPr>
          </a:p>
          <a:p>
            <a:pPr marL="355600">
              <a:lnSpc>
                <a:spcPct val="100000"/>
              </a:lnSpc>
            </a:pP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priority</a:t>
            </a:r>
            <a:r>
              <a:rPr sz="2000" spc="-40" dirty="0">
                <a:latin typeface="Times New Roman"/>
                <a:cs typeface="Times New Roman"/>
              </a:rPr>
              <a:t> </a:t>
            </a:r>
            <a:r>
              <a:rPr sz="2000" spc="-10" dirty="0">
                <a:latin typeface="Times New Roman"/>
                <a:cs typeface="Times New Roman"/>
              </a:rPr>
              <a:t>queues.</a:t>
            </a:r>
            <a:endParaRPr sz="2000">
              <a:latin typeface="Times New Roman"/>
              <a:cs typeface="Times New Roman"/>
            </a:endParaRPr>
          </a:p>
        </p:txBody>
      </p:sp>
      <p:sp>
        <p:nvSpPr>
          <p:cNvPr id="8" name="Date Placeholder 7">
            <a:extLst>
              <a:ext uri="{FF2B5EF4-FFF2-40B4-BE49-F238E27FC236}">
                <a16:creationId xmlns:a16="http://schemas.microsoft.com/office/drawing/2014/main" id="{0C320A37-2D58-67FE-0422-33525BD97CC0}"/>
              </a:ext>
            </a:extLst>
          </p:cNvPr>
          <p:cNvSpPr>
            <a:spLocks noGrp="1"/>
          </p:cNvSpPr>
          <p:nvPr>
            <p:ph type="dt" sz="half" idx="10"/>
          </p:nvPr>
        </p:nvSpPr>
        <p:spPr/>
        <p:txBody>
          <a:bodyPr/>
          <a:lstStyle/>
          <a:p>
            <a:fld id="{C1BCB89E-C2B4-4E49-A31C-19C4A359844A}" type="datetime1">
              <a:rPr lang="en-US" smtClean="0"/>
              <a:t>11/17/2025</a:t>
            </a:fld>
            <a:endParaRPr lang="en-US"/>
          </a:p>
        </p:txBody>
      </p:sp>
      <p:sp>
        <p:nvSpPr>
          <p:cNvPr id="9" name="Slide Number Placeholder 8">
            <a:extLst>
              <a:ext uri="{FF2B5EF4-FFF2-40B4-BE49-F238E27FC236}">
                <a16:creationId xmlns:a16="http://schemas.microsoft.com/office/drawing/2014/main" id="{86D0CC16-ED7C-847D-42EA-2FA5FEF0FCDB}"/>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59</a:t>
            </a:fld>
            <a:endParaRPr spc="-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10" dirty="0"/>
              <a:t>Algorithms</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2305938"/>
            <a:ext cx="313309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Some</a:t>
            </a:r>
            <a:r>
              <a:rPr sz="2000" spc="-105" dirty="0">
                <a:latin typeface="Times New Roman"/>
                <a:cs typeface="Times New Roman"/>
              </a:rPr>
              <a:t> </a:t>
            </a:r>
            <a:r>
              <a:rPr sz="2000" spc="-10" dirty="0">
                <a:latin typeface="Times New Roman"/>
                <a:cs typeface="Times New Roman"/>
              </a:rPr>
              <a:t>Typical</a:t>
            </a:r>
            <a:r>
              <a:rPr sz="2000" spc="-60" dirty="0">
                <a:latin typeface="Times New Roman"/>
                <a:cs typeface="Times New Roman"/>
              </a:rPr>
              <a:t> </a:t>
            </a:r>
            <a:r>
              <a:rPr sz="2000" dirty="0">
                <a:latin typeface="Times New Roman"/>
                <a:cs typeface="Times New Roman"/>
              </a:rPr>
              <a:t>STL</a:t>
            </a:r>
            <a:r>
              <a:rPr sz="2000" spc="-190" dirty="0">
                <a:latin typeface="Times New Roman"/>
                <a:cs typeface="Times New Roman"/>
              </a:rPr>
              <a:t> </a:t>
            </a:r>
            <a:r>
              <a:rPr sz="2000" spc="-10" dirty="0">
                <a:latin typeface="Times New Roman"/>
                <a:cs typeface="Times New Roman"/>
              </a:rPr>
              <a:t>Algorithms</a:t>
            </a:r>
            <a:endParaRPr sz="2000">
              <a:latin typeface="Times New Roman"/>
              <a:cs typeface="Times New Roman"/>
            </a:endParaRPr>
          </a:p>
        </p:txBody>
      </p:sp>
      <p:pic>
        <p:nvPicPr>
          <p:cNvPr id="4" name="object 4"/>
          <p:cNvPicPr/>
          <p:nvPr/>
        </p:nvPicPr>
        <p:blipFill>
          <a:blip r:embed="rId2" cstate="print"/>
          <a:stretch>
            <a:fillRect/>
          </a:stretch>
        </p:blipFill>
        <p:spPr>
          <a:xfrm>
            <a:off x="4442459" y="1158529"/>
            <a:ext cx="7468748" cy="1453219"/>
          </a:xfrm>
          <a:prstGeom prst="rect">
            <a:avLst/>
          </a:prstGeom>
        </p:spPr>
      </p:pic>
      <p:pic>
        <p:nvPicPr>
          <p:cNvPr id="5" name="object 5"/>
          <p:cNvPicPr/>
          <p:nvPr/>
        </p:nvPicPr>
        <p:blipFill>
          <a:blip r:embed="rId3" cstate="print"/>
          <a:stretch>
            <a:fillRect/>
          </a:stretch>
        </p:blipFill>
        <p:spPr>
          <a:xfrm>
            <a:off x="4453128" y="2729673"/>
            <a:ext cx="7449215" cy="3390330"/>
          </a:xfrm>
          <a:prstGeom prst="rect">
            <a:avLst/>
          </a:prstGeom>
        </p:spPr>
      </p:pic>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0A6214EF-05AD-9350-14B5-FDBCF090CA51}"/>
              </a:ext>
            </a:extLst>
          </p:cNvPr>
          <p:cNvSpPr>
            <a:spLocks noGrp="1"/>
          </p:cNvSpPr>
          <p:nvPr>
            <p:ph type="dt" sz="half" idx="6"/>
          </p:nvPr>
        </p:nvSpPr>
        <p:spPr/>
        <p:txBody>
          <a:bodyPr/>
          <a:lstStyle/>
          <a:p>
            <a:fld id="{8851F58B-30FC-4C22-A3F7-5393CBA52CEC}" type="datetime1">
              <a:rPr lang="en-US" smtClean="0"/>
              <a:t>11/17/2025</a:t>
            </a:fld>
            <a:endParaRPr lang="en-US"/>
          </a:p>
        </p:txBody>
      </p:sp>
      <p:sp>
        <p:nvSpPr>
          <p:cNvPr id="11" name="Slide Number Placeholder 10">
            <a:extLst>
              <a:ext uri="{FF2B5EF4-FFF2-40B4-BE49-F238E27FC236}">
                <a16:creationId xmlns:a16="http://schemas.microsoft.com/office/drawing/2014/main" id="{C2E714B9-499E-5622-A089-CBF459AF382D}"/>
              </a:ext>
            </a:extLst>
          </p:cNvPr>
          <p:cNvSpPr>
            <a:spLocks noGrp="1"/>
          </p:cNvSpPr>
          <p:nvPr>
            <p:ph type="sldNum" sz="quarter" idx="7"/>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60</a:t>
            </a:fld>
            <a:endParaRPr spc="-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0692" y="6335064"/>
            <a:ext cx="179387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imes New Roman"/>
                <a:cs typeface="Times New Roman"/>
              </a:rPr>
              <a:t>Omar</a:t>
            </a:r>
            <a:r>
              <a:rPr sz="2400" spc="-10" dirty="0">
                <a:solidFill>
                  <a:srgbClr val="FFFFFF"/>
                </a:solidFill>
                <a:latin typeface="Times New Roman"/>
                <a:cs typeface="Times New Roman"/>
              </a:rPr>
              <a:t> Faruque</a:t>
            </a:r>
            <a:endParaRPr sz="2400">
              <a:latin typeface="Times New Roman"/>
              <a:cs typeface="Times New Roman"/>
            </a:endParaRPr>
          </a:p>
        </p:txBody>
      </p:sp>
      <p:sp>
        <p:nvSpPr>
          <p:cNvPr id="3" name="object 3"/>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0" dirty="0"/>
              <a:t> </a:t>
            </a:r>
            <a:r>
              <a:rPr spc="-20" dirty="0"/>
              <a:t>find()</a:t>
            </a:r>
            <a:r>
              <a:rPr spc="-200" dirty="0"/>
              <a:t> </a:t>
            </a:r>
            <a:r>
              <a:rPr spc="-10" dirty="0"/>
              <a:t>Algorithm</a:t>
            </a:r>
          </a:p>
        </p:txBody>
      </p:sp>
      <p:sp>
        <p:nvSpPr>
          <p:cNvPr id="4" name="object 4"/>
          <p:cNvSpPr txBox="1"/>
          <p:nvPr/>
        </p:nvSpPr>
        <p:spPr>
          <a:xfrm>
            <a:off x="916939" y="1463166"/>
            <a:ext cx="10360025" cy="1239520"/>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find()</a:t>
            </a:r>
            <a:r>
              <a:rPr sz="2000" spc="-40" dirty="0">
                <a:latin typeface="Times New Roman"/>
                <a:cs typeface="Times New Roman"/>
              </a:rPr>
              <a:t> </a:t>
            </a:r>
            <a:r>
              <a:rPr sz="2000" dirty="0">
                <a:latin typeface="Times New Roman"/>
                <a:cs typeface="Times New Roman"/>
              </a:rPr>
              <a:t>algorithm</a:t>
            </a:r>
            <a:r>
              <a:rPr sz="2000" spc="-55" dirty="0">
                <a:latin typeface="Times New Roman"/>
                <a:cs typeface="Times New Roman"/>
              </a:rPr>
              <a:t> </a:t>
            </a:r>
            <a:r>
              <a:rPr sz="2000" dirty="0">
                <a:latin typeface="Times New Roman"/>
                <a:cs typeface="Times New Roman"/>
              </a:rPr>
              <a:t>looks</a:t>
            </a:r>
            <a:r>
              <a:rPr sz="2000" spc="-25" dirty="0">
                <a:latin typeface="Times New Roman"/>
                <a:cs typeface="Times New Roman"/>
              </a:rPr>
              <a:t> </a:t>
            </a:r>
            <a:r>
              <a:rPr sz="2000" dirty="0">
                <a:latin typeface="Times New Roman"/>
                <a:cs typeface="Times New Roman"/>
              </a:rPr>
              <a:t>for</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first</a:t>
            </a:r>
            <a:r>
              <a:rPr sz="2000" spc="-40" dirty="0">
                <a:latin typeface="Times New Roman"/>
                <a:cs typeface="Times New Roman"/>
              </a:rPr>
              <a:t> </a:t>
            </a:r>
            <a:r>
              <a:rPr sz="2000" dirty="0">
                <a:latin typeface="Times New Roman"/>
                <a:cs typeface="Times New Roman"/>
              </a:rPr>
              <a:t>element in</a:t>
            </a:r>
            <a:r>
              <a:rPr sz="2000" spc="-5"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dirty="0">
                <a:latin typeface="Times New Roman"/>
                <a:cs typeface="Times New Roman"/>
              </a:rPr>
              <a:t>container</a:t>
            </a:r>
            <a:r>
              <a:rPr sz="2000" spc="-35" dirty="0">
                <a:latin typeface="Times New Roman"/>
                <a:cs typeface="Times New Roman"/>
              </a:rPr>
              <a:t> </a:t>
            </a:r>
            <a:r>
              <a:rPr sz="2000" dirty="0">
                <a:latin typeface="Times New Roman"/>
                <a:cs typeface="Times New Roman"/>
              </a:rPr>
              <a:t>that</a:t>
            </a:r>
            <a:r>
              <a:rPr sz="2000" spc="-30" dirty="0">
                <a:latin typeface="Times New Roman"/>
                <a:cs typeface="Times New Roman"/>
              </a:rPr>
              <a:t> </a:t>
            </a:r>
            <a:r>
              <a:rPr sz="2000" dirty="0">
                <a:latin typeface="Times New Roman"/>
                <a:cs typeface="Times New Roman"/>
              </a:rPr>
              <a:t>has</a:t>
            </a:r>
            <a:r>
              <a:rPr sz="2000" spc="-5" dirty="0">
                <a:latin typeface="Times New Roman"/>
                <a:cs typeface="Times New Roman"/>
              </a:rPr>
              <a:t> </a:t>
            </a:r>
            <a:r>
              <a:rPr sz="2000" dirty="0">
                <a:latin typeface="Times New Roman"/>
                <a:cs typeface="Times New Roman"/>
              </a:rPr>
              <a:t>a</a:t>
            </a:r>
            <a:r>
              <a:rPr sz="2000" spc="-15" dirty="0">
                <a:latin typeface="Times New Roman"/>
                <a:cs typeface="Times New Roman"/>
              </a:rPr>
              <a:t> </a:t>
            </a:r>
            <a:r>
              <a:rPr sz="2000" dirty="0">
                <a:latin typeface="Times New Roman"/>
                <a:cs typeface="Times New Roman"/>
              </a:rPr>
              <a:t>specified</a:t>
            </a:r>
            <a:r>
              <a:rPr sz="2000" spc="-25" dirty="0">
                <a:latin typeface="Times New Roman"/>
                <a:cs typeface="Times New Roman"/>
              </a:rPr>
              <a:t> </a:t>
            </a:r>
            <a:r>
              <a:rPr sz="2000" spc="-10" dirty="0">
                <a:latin typeface="Times New Roman"/>
                <a:cs typeface="Times New Roman"/>
              </a:rPr>
              <a:t>value.</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Returns</a:t>
            </a:r>
            <a:r>
              <a:rPr sz="2000" spc="5" dirty="0">
                <a:latin typeface="Times New Roman"/>
                <a:cs typeface="Times New Roman"/>
              </a:rPr>
              <a:t> </a:t>
            </a:r>
            <a:r>
              <a:rPr sz="2000" dirty="0">
                <a:latin typeface="Times New Roman"/>
                <a:cs typeface="Times New Roman"/>
              </a:rPr>
              <a:t>an</a:t>
            </a:r>
            <a:r>
              <a:rPr sz="2000" spc="15" dirty="0">
                <a:latin typeface="Times New Roman"/>
                <a:cs typeface="Times New Roman"/>
              </a:rPr>
              <a:t> </a:t>
            </a:r>
            <a:r>
              <a:rPr sz="2000" dirty="0">
                <a:latin typeface="Times New Roman"/>
                <a:cs typeface="Times New Roman"/>
              </a:rPr>
              <a:t>iterator</a:t>
            </a:r>
            <a:r>
              <a:rPr sz="2000" spc="25"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first</a:t>
            </a:r>
            <a:r>
              <a:rPr sz="2000" spc="10" dirty="0">
                <a:latin typeface="Times New Roman"/>
                <a:cs typeface="Times New Roman"/>
              </a:rPr>
              <a:t> </a:t>
            </a:r>
            <a:r>
              <a:rPr sz="2000" dirty="0">
                <a:latin typeface="Times New Roman"/>
                <a:cs typeface="Times New Roman"/>
              </a:rPr>
              <a:t>element</a:t>
            </a:r>
            <a:r>
              <a:rPr sz="2000" spc="20" dirty="0">
                <a:latin typeface="Times New Roman"/>
                <a:cs typeface="Times New Roman"/>
              </a:rPr>
              <a:t> </a:t>
            </a:r>
            <a:r>
              <a:rPr sz="2000" dirty="0">
                <a:latin typeface="Times New Roman"/>
                <a:cs typeface="Times New Roman"/>
              </a:rPr>
              <a:t>that</a:t>
            </a:r>
            <a:r>
              <a:rPr sz="2000" spc="15" dirty="0">
                <a:latin typeface="Times New Roman"/>
                <a:cs typeface="Times New Roman"/>
              </a:rPr>
              <a:t> </a:t>
            </a:r>
            <a:r>
              <a:rPr sz="2000" dirty="0">
                <a:latin typeface="Times New Roman"/>
                <a:cs typeface="Times New Roman"/>
              </a:rPr>
              <a:t>compares</a:t>
            </a:r>
            <a:r>
              <a:rPr sz="2000" spc="15" dirty="0">
                <a:latin typeface="Times New Roman"/>
                <a:cs typeface="Times New Roman"/>
              </a:rPr>
              <a:t> </a:t>
            </a:r>
            <a:r>
              <a:rPr sz="2000" dirty="0">
                <a:latin typeface="Times New Roman"/>
                <a:cs typeface="Times New Roman"/>
              </a:rPr>
              <a:t>equal to</a:t>
            </a:r>
            <a:r>
              <a:rPr sz="2000" spc="15" dirty="0">
                <a:latin typeface="Times New Roman"/>
                <a:cs typeface="Times New Roman"/>
              </a:rPr>
              <a:t> </a:t>
            </a:r>
            <a:r>
              <a:rPr sz="2000" dirty="0">
                <a:latin typeface="Times New Roman"/>
                <a:cs typeface="Times New Roman"/>
              </a:rPr>
              <a:t>val. If</a:t>
            </a:r>
            <a:r>
              <a:rPr sz="2000" spc="-5" dirty="0">
                <a:latin typeface="Times New Roman"/>
                <a:cs typeface="Times New Roman"/>
              </a:rPr>
              <a:t> </a:t>
            </a:r>
            <a:r>
              <a:rPr sz="2000" dirty="0">
                <a:latin typeface="Times New Roman"/>
                <a:cs typeface="Times New Roman"/>
              </a:rPr>
              <a:t>no</a:t>
            </a:r>
            <a:r>
              <a:rPr sz="2000" spc="15" dirty="0">
                <a:latin typeface="Times New Roman"/>
                <a:cs typeface="Times New Roman"/>
              </a:rPr>
              <a:t> </a:t>
            </a:r>
            <a:r>
              <a:rPr sz="2000" dirty="0">
                <a:latin typeface="Times New Roman"/>
                <a:cs typeface="Times New Roman"/>
              </a:rPr>
              <a:t>such</a:t>
            </a:r>
            <a:r>
              <a:rPr sz="2000" spc="25" dirty="0">
                <a:latin typeface="Times New Roman"/>
                <a:cs typeface="Times New Roman"/>
              </a:rPr>
              <a:t> </a:t>
            </a:r>
            <a:r>
              <a:rPr sz="2000" dirty="0">
                <a:latin typeface="Times New Roman"/>
                <a:cs typeface="Times New Roman"/>
              </a:rPr>
              <a:t>element</a:t>
            </a:r>
            <a:r>
              <a:rPr sz="2000" spc="10" dirty="0">
                <a:latin typeface="Times New Roman"/>
                <a:cs typeface="Times New Roman"/>
              </a:rPr>
              <a:t> </a:t>
            </a:r>
            <a:r>
              <a:rPr sz="2000" dirty="0">
                <a:latin typeface="Times New Roman"/>
                <a:cs typeface="Times New Roman"/>
              </a:rPr>
              <a:t>is</a:t>
            </a:r>
            <a:r>
              <a:rPr sz="2000" spc="5" dirty="0">
                <a:latin typeface="Times New Roman"/>
                <a:cs typeface="Times New Roman"/>
              </a:rPr>
              <a:t> </a:t>
            </a:r>
            <a:r>
              <a:rPr sz="2000" dirty="0">
                <a:latin typeface="Times New Roman"/>
                <a:cs typeface="Times New Roman"/>
              </a:rPr>
              <a:t>found,</a:t>
            </a:r>
            <a:r>
              <a:rPr sz="2000" spc="20" dirty="0">
                <a:latin typeface="Times New Roman"/>
                <a:cs typeface="Times New Roman"/>
              </a:rPr>
              <a:t> </a:t>
            </a:r>
            <a:r>
              <a:rPr sz="2000" spc="-25" dirty="0">
                <a:latin typeface="Times New Roman"/>
                <a:cs typeface="Times New Roman"/>
              </a:rPr>
              <a:t>the</a:t>
            </a:r>
            <a:endParaRPr sz="2000">
              <a:latin typeface="Times New Roman"/>
              <a:cs typeface="Times New Roman"/>
            </a:endParaRPr>
          </a:p>
          <a:p>
            <a:pPr marL="355600">
              <a:lnSpc>
                <a:spcPts val="2375"/>
              </a:lnSpc>
            </a:pPr>
            <a:r>
              <a:rPr sz="2000" dirty="0">
                <a:latin typeface="Times New Roman"/>
                <a:cs typeface="Times New Roman"/>
              </a:rPr>
              <a:t>function</a:t>
            </a:r>
            <a:r>
              <a:rPr sz="2000" spc="-30" dirty="0">
                <a:latin typeface="Times New Roman"/>
                <a:cs typeface="Times New Roman"/>
              </a:rPr>
              <a:t> </a:t>
            </a:r>
            <a:r>
              <a:rPr sz="2000" dirty="0">
                <a:latin typeface="Times New Roman"/>
                <a:cs typeface="Times New Roman"/>
              </a:rPr>
              <a:t>returns</a:t>
            </a:r>
            <a:r>
              <a:rPr sz="2000" spc="-30" dirty="0">
                <a:latin typeface="Times New Roman"/>
                <a:cs typeface="Times New Roman"/>
              </a:rPr>
              <a:t> </a:t>
            </a:r>
            <a:r>
              <a:rPr sz="2000" spc="-20" dirty="0">
                <a:latin typeface="Times New Roman"/>
                <a:cs typeface="Times New Roman"/>
              </a:rPr>
              <a:t>last.</a:t>
            </a:r>
            <a:endParaRPr sz="2000">
              <a:latin typeface="Times New Roman"/>
              <a:cs typeface="Times New Roman"/>
            </a:endParaRPr>
          </a:p>
          <a:p>
            <a:pPr marL="355600" indent="-342900">
              <a:lnSpc>
                <a:spcPts val="2375"/>
              </a:lnSpc>
              <a:buFont typeface="Arial MT"/>
              <a:buChar char="•"/>
              <a:tabLst>
                <a:tab pos="355600" algn="l"/>
              </a:tabLst>
            </a:pPr>
            <a:r>
              <a:rPr sz="2000" b="1" i="1" spc="-10" dirty="0">
                <a:solidFill>
                  <a:srgbClr val="273139"/>
                </a:solidFill>
                <a:latin typeface="Calibri"/>
                <a:cs typeface="Calibri"/>
              </a:rPr>
              <a:t>find(InputIterator</a:t>
            </a:r>
            <a:r>
              <a:rPr sz="2000" b="1" i="1" spc="-45" dirty="0">
                <a:solidFill>
                  <a:srgbClr val="273139"/>
                </a:solidFill>
                <a:latin typeface="Calibri"/>
                <a:cs typeface="Calibri"/>
              </a:rPr>
              <a:t> </a:t>
            </a:r>
            <a:r>
              <a:rPr sz="2000" b="1" i="1" dirty="0">
                <a:solidFill>
                  <a:srgbClr val="273139"/>
                </a:solidFill>
                <a:latin typeface="Calibri"/>
                <a:cs typeface="Calibri"/>
              </a:rPr>
              <a:t>first,</a:t>
            </a:r>
            <a:r>
              <a:rPr sz="2000" b="1" i="1" spc="-25" dirty="0">
                <a:solidFill>
                  <a:srgbClr val="273139"/>
                </a:solidFill>
                <a:latin typeface="Calibri"/>
                <a:cs typeface="Calibri"/>
              </a:rPr>
              <a:t> </a:t>
            </a:r>
            <a:r>
              <a:rPr sz="2000" b="1" i="1" spc="-10" dirty="0">
                <a:solidFill>
                  <a:srgbClr val="273139"/>
                </a:solidFill>
                <a:latin typeface="Calibri"/>
                <a:cs typeface="Calibri"/>
              </a:rPr>
              <a:t>InputIterator</a:t>
            </a:r>
            <a:r>
              <a:rPr sz="2000" b="1" i="1" spc="-50" dirty="0">
                <a:solidFill>
                  <a:srgbClr val="273139"/>
                </a:solidFill>
                <a:latin typeface="Calibri"/>
                <a:cs typeface="Calibri"/>
              </a:rPr>
              <a:t> </a:t>
            </a:r>
            <a:r>
              <a:rPr sz="2000" b="1" i="1" dirty="0">
                <a:solidFill>
                  <a:srgbClr val="273139"/>
                </a:solidFill>
                <a:latin typeface="Calibri"/>
                <a:cs typeface="Calibri"/>
              </a:rPr>
              <a:t>last,</a:t>
            </a:r>
            <a:r>
              <a:rPr sz="2000" b="1" i="1" spc="-15" dirty="0">
                <a:solidFill>
                  <a:srgbClr val="273139"/>
                </a:solidFill>
                <a:latin typeface="Calibri"/>
                <a:cs typeface="Calibri"/>
              </a:rPr>
              <a:t> </a:t>
            </a:r>
            <a:r>
              <a:rPr sz="2000" b="1" i="1" dirty="0">
                <a:solidFill>
                  <a:srgbClr val="273139"/>
                </a:solidFill>
                <a:latin typeface="Calibri"/>
                <a:cs typeface="Calibri"/>
              </a:rPr>
              <a:t>const</a:t>
            </a:r>
            <a:r>
              <a:rPr sz="2000" b="1" i="1" spc="434" dirty="0">
                <a:solidFill>
                  <a:srgbClr val="273139"/>
                </a:solidFill>
                <a:latin typeface="Calibri"/>
                <a:cs typeface="Calibri"/>
              </a:rPr>
              <a:t> </a:t>
            </a:r>
            <a:r>
              <a:rPr sz="2000" b="1" i="1" spc="-20" dirty="0">
                <a:solidFill>
                  <a:srgbClr val="273139"/>
                </a:solidFill>
                <a:latin typeface="Calibri"/>
                <a:cs typeface="Calibri"/>
              </a:rPr>
              <a:t>val)</a:t>
            </a:r>
            <a:endParaRPr sz="2000">
              <a:latin typeface="Calibri"/>
              <a:cs typeface="Calibri"/>
            </a:endParaRPr>
          </a:p>
        </p:txBody>
      </p:sp>
      <p:pic>
        <p:nvPicPr>
          <p:cNvPr id="5" name="object 5"/>
          <p:cNvPicPr/>
          <p:nvPr/>
        </p:nvPicPr>
        <p:blipFill>
          <a:blip r:embed="rId2" cstate="print"/>
          <a:stretch>
            <a:fillRect/>
          </a:stretch>
        </p:blipFill>
        <p:spPr>
          <a:xfrm>
            <a:off x="614375" y="3107435"/>
            <a:ext cx="5125262" cy="2949100"/>
          </a:xfrm>
          <a:prstGeom prst="rect">
            <a:avLst/>
          </a:prstGeom>
        </p:spPr>
      </p:pic>
      <p:sp>
        <p:nvSpPr>
          <p:cNvPr id="6" name="object 6"/>
          <p:cNvSpPr txBox="1"/>
          <p:nvPr/>
        </p:nvSpPr>
        <p:spPr>
          <a:xfrm>
            <a:off x="6175628" y="2748788"/>
            <a:ext cx="2019300" cy="139763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Times New Roman"/>
                <a:cs typeface="Times New Roman"/>
              </a:rPr>
              <a:t>#include</a:t>
            </a:r>
            <a:r>
              <a:rPr sz="1800" spc="-75" dirty="0">
                <a:latin typeface="Times New Roman"/>
                <a:cs typeface="Times New Roman"/>
              </a:rPr>
              <a:t> </a:t>
            </a:r>
            <a:r>
              <a:rPr sz="1800" spc="-10" dirty="0">
                <a:latin typeface="Times New Roman"/>
                <a:cs typeface="Times New Roman"/>
              </a:rPr>
              <a:t>&lt;iostream&gt; </a:t>
            </a:r>
            <a:r>
              <a:rPr sz="1800" dirty="0">
                <a:latin typeface="Times New Roman"/>
                <a:cs typeface="Times New Roman"/>
              </a:rPr>
              <a:t>#include</a:t>
            </a:r>
            <a:r>
              <a:rPr sz="1800" spc="-75" dirty="0">
                <a:latin typeface="Times New Roman"/>
                <a:cs typeface="Times New Roman"/>
              </a:rPr>
              <a:t> </a:t>
            </a:r>
            <a:r>
              <a:rPr sz="1800" spc="-10" dirty="0">
                <a:latin typeface="Times New Roman"/>
                <a:cs typeface="Times New Roman"/>
              </a:rPr>
              <a:t>&lt;algorithm&gt; </a:t>
            </a:r>
            <a:r>
              <a:rPr sz="1800" dirty="0">
                <a:latin typeface="Times New Roman"/>
                <a:cs typeface="Times New Roman"/>
              </a:rPr>
              <a:t>#include</a:t>
            </a:r>
            <a:r>
              <a:rPr sz="1800" spc="-75" dirty="0">
                <a:latin typeface="Times New Roman"/>
                <a:cs typeface="Times New Roman"/>
              </a:rPr>
              <a:t> </a:t>
            </a:r>
            <a:r>
              <a:rPr sz="1800" spc="-10" dirty="0">
                <a:latin typeface="Times New Roman"/>
                <a:cs typeface="Times New Roman"/>
              </a:rPr>
              <a:t>&lt;vector&gt; </a:t>
            </a:r>
            <a:r>
              <a:rPr sz="1800" dirty="0">
                <a:latin typeface="Times New Roman"/>
                <a:cs typeface="Times New Roman"/>
              </a:rPr>
              <a:t>Using</a:t>
            </a:r>
            <a:r>
              <a:rPr sz="1800" spc="-40" dirty="0">
                <a:latin typeface="Times New Roman"/>
                <a:cs typeface="Times New Roman"/>
              </a:rPr>
              <a:t> </a:t>
            </a:r>
            <a:r>
              <a:rPr sz="1800" dirty="0">
                <a:latin typeface="Times New Roman"/>
                <a:cs typeface="Times New Roman"/>
              </a:rPr>
              <a:t>namespace</a:t>
            </a:r>
            <a:r>
              <a:rPr sz="1800" spc="-40" dirty="0">
                <a:latin typeface="Times New Roman"/>
                <a:cs typeface="Times New Roman"/>
              </a:rPr>
              <a:t> </a:t>
            </a:r>
            <a:r>
              <a:rPr sz="1800" spc="-20" dirty="0">
                <a:latin typeface="Times New Roman"/>
                <a:cs typeface="Times New Roman"/>
              </a:rPr>
              <a:t>std; </a:t>
            </a:r>
            <a:r>
              <a:rPr sz="1800" dirty="0">
                <a:latin typeface="Times New Roman"/>
                <a:cs typeface="Times New Roman"/>
              </a:rPr>
              <a:t>int</a:t>
            </a:r>
            <a:r>
              <a:rPr sz="1800" spc="-15" dirty="0">
                <a:latin typeface="Times New Roman"/>
                <a:cs typeface="Times New Roman"/>
              </a:rPr>
              <a:t> </a:t>
            </a:r>
            <a:r>
              <a:rPr sz="1800" dirty="0">
                <a:latin typeface="Times New Roman"/>
                <a:cs typeface="Times New Roman"/>
              </a:rPr>
              <a:t>main</a:t>
            </a:r>
            <a:r>
              <a:rPr sz="1800" spc="-15" dirty="0">
                <a:latin typeface="Times New Roman"/>
                <a:cs typeface="Times New Roman"/>
              </a:rPr>
              <a:t> </a:t>
            </a:r>
            <a:r>
              <a:rPr sz="1800"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sp>
        <p:nvSpPr>
          <p:cNvPr id="7" name="object 7"/>
          <p:cNvSpPr txBox="1"/>
          <p:nvPr/>
        </p:nvSpPr>
        <p:spPr>
          <a:xfrm>
            <a:off x="8246247" y="2748788"/>
            <a:ext cx="1176655" cy="848360"/>
          </a:xfrm>
          <a:prstGeom prst="rect">
            <a:avLst/>
          </a:prstGeom>
        </p:spPr>
        <p:txBody>
          <a:bodyPr vert="horz" wrap="square" lIns="0" tIns="12700" rIns="0" bIns="0" rtlCol="0">
            <a:spAutoFit/>
          </a:bodyPr>
          <a:lstStyle/>
          <a:p>
            <a:pPr marL="114935">
              <a:lnSpc>
                <a:spcPct val="100000"/>
              </a:lnSpc>
              <a:spcBef>
                <a:spcPts val="100"/>
              </a:spcBef>
            </a:pPr>
            <a:r>
              <a:rPr sz="1800" dirty="0">
                <a:latin typeface="Times New Roman"/>
                <a:cs typeface="Times New Roman"/>
              </a:rPr>
              <a:t>// </a:t>
            </a:r>
            <a:r>
              <a:rPr sz="1800" spc="-10" dirty="0">
                <a:latin typeface="Times New Roman"/>
                <a:cs typeface="Times New Roman"/>
              </a:rPr>
              <a:t>std::cout</a:t>
            </a:r>
            <a:endParaRPr sz="1800">
              <a:latin typeface="Times New Roman"/>
              <a:cs typeface="Times New Roman"/>
            </a:endParaRPr>
          </a:p>
          <a:p>
            <a:pPr marL="160655">
              <a:lnSpc>
                <a:spcPct val="100000"/>
              </a:lnSpc>
            </a:pPr>
            <a:r>
              <a:rPr sz="1800" dirty="0">
                <a:latin typeface="Times New Roman"/>
                <a:cs typeface="Times New Roman"/>
              </a:rPr>
              <a:t>//</a:t>
            </a:r>
            <a:r>
              <a:rPr sz="1800" spc="-25" dirty="0">
                <a:latin typeface="Times New Roman"/>
                <a:cs typeface="Times New Roman"/>
              </a:rPr>
              <a:t> </a:t>
            </a:r>
            <a:r>
              <a:rPr sz="1800" spc="-10" dirty="0">
                <a:latin typeface="Times New Roman"/>
                <a:cs typeface="Times New Roman"/>
              </a:rPr>
              <a:t>std::find</a:t>
            </a:r>
            <a:endParaRPr sz="1800">
              <a:latin typeface="Times New Roman"/>
              <a:cs typeface="Times New Roman"/>
            </a:endParaRPr>
          </a:p>
          <a:p>
            <a:pPr marL="12700">
              <a:lnSpc>
                <a:spcPct val="100000"/>
              </a:lnSpc>
            </a:pPr>
            <a:r>
              <a:rPr sz="1800" dirty="0">
                <a:latin typeface="Times New Roman"/>
                <a:cs typeface="Times New Roman"/>
              </a:rPr>
              <a:t>// </a:t>
            </a:r>
            <a:r>
              <a:rPr sz="1800" spc="-10" dirty="0">
                <a:latin typeface="Times New Roman"/>
                <a:cs typeface="Times New Roman"/>
              </a:rPr>
              <a:t>std::vector</a:t>
            </a:r>
            <a:endParaRPr sz="1800">
              <a:latin typeface="Times New Roman"/>
              <a:cs typeface="Times New Roman"/>
            </a:endParaRPr>
          </a:p>
        </p:txBody>
      </p:sp>
      <p:sp>
        <p:nvSpPr>
          <p:cNvPr id="8" name="object 8"/>
          <p:cNvSpPr txBox="1"/>
          <p:nvPr/>
        </p:nvSpPr>
        <p:spPr>
          <a:xfrm>
            <a:off x="6289928" y="4120642"/>
            <a:ext cx="5198110" cy="2220595"/>
          </a:xfrm>
          <a:prstGeom prst="rect">
            <a:avLst/>
          </a:prstGeom>
        </p:spPr>
        <p:txBody>
          <a:bodyPr vert="horz" wrap="square" lIns="0" tIns="12700" rIns="0" bIns="0" rtlCol="0">
            <a:spAutoFit/>
          </a:bodyPr>
          <a:lstStyle/>
          <a:p>
            <a:pPr marL="12700" marR="1365250">
              <a:lnSpc>
                <a:spcPct val="100000"/>
              </a:lnSpc>
              <a:spcBef>
                <a:spcPts val="100"/>
              </a:spcBef>
            </a:pPr>
            <a:r>
              <a:rPr sz="1800" dirty="0">
                <a:latin typeface="Times New Roman"/>
                <a:cs typeface="Times New Roman"/>
              </a:rPr>
              <a:t>vector&lt;int&gt;</a:t>
            </a:r>
            <a:r>
              <a:rPr sz="1800" spc="-50" dirty="0">
                <a:latin typeface="Times New Roman"/>
                <a:cs typeface="Times New Roman"/>
              </a:rPr>
              <a:t> </a:t>
            </a:r>
            <a:r>
              <a:rPr sz="1800" dirty="0">
                <a:latin typeface="Times New Roman"/>
                <a:cs typeface="Times New Roman"/>
              </a:rPr>
              <a:t>myvector</a:t>
            </a:r>
            <a:r>
              <a:rPr sz="1800" spc="-40" dirty="0">
                <a:latin typeface="Times New Roman"/>
                <a:cs typeface="Times New Roman"/>
              </a:rPr>
              <a:t> </a:t>
            </a:r>
            <a:r>
              <a:rPr sz="1800" spc="-10" dirty="0">
                <a:latin typeface="Times New Roman"/>
                <a:cs typeface="Times New Roman"/>
              </a:rPr>
              <a:t>(myints,myints+4); </a:t>
            </a:r>
            <a:r>
              <a:rPr sz="1800" dirty="0">
                <a:latin typeface="Times New Roman"/>
                <a:cs typeface="Times New Roman"/>
              </a:rPr>
              <a:t>vector&lt;int&gt;::iterator</a:t>
            </a:r>
            <a:r>
              <a:rPr sz="1800" spc="-105" dirty="0">
                <a:latin typeface="Times New Roman"/>
                <a:cs typeface="Times New Roman"/>
              </a:rPr>
              <a:t> </a:t>
            </a:r>
            <a:r>
              <a:rPr sz="1800" spc="-25" dirty="0">
                <a:latin typeface="Times New Roman"/>
                <a:cs typeface="Times New Roman"/>
              </a:rPr>
              <a:t>it;</a:t>
            </a:r>
            <a:endParaRPr sz="1800">
              <a:latin typeface="Times New Roman"/>
              <a:cs typeface="Times New Roman"/>
            </a:endParaRPr>
          </a:p>
          <a:p>
            <a:pPr marL="12700" marR="748030">
              <a:lnSpc>
                <a:spcPct val="100000"/>
              </a:lnSpc>
            </a:pPr>
            <a:r>
              <a:rPr sz="1800" dirty="0">
                <a:latin typeface="Times New Roman"/>
                <a:cs typeface="Times New Roman"/>
              </a:rPr>
              <a:t>it</a:t>
            </a:r>
            <a:r>
              <a:rPr sz="1800" spc="-10"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find</a:t>
            </a:r>
            <a:r>
              <a:rPr sz="1800" spc="-5" dirty="0">
                <a:latin typeface="Times New Roman"/>
                <a:cs typeface="Times New Roman"/>
              </a:rPr>
              <a:t> </a:t>
            </a:r>
            <a:r>
              <a:rPr sz="1800" spc="-10" dirty="0">
                <a:latin typeface="Times New Roman"/>
                <a:cs typeface="Times New Roman"/>
              </a:rPr>
              <a:t>(myvector.begin(),</a:t>
            </a:r>
            <a:r>
              <a:rPr sz="1800" spc="-40" dirty="0">
                <a:latin typeface="Times New Roman"/>
                <a:cs typeface="Times New Roman"/>
              </a:rPr>
              <a:t> </a:t>
            </a:r>
            <a:r>
              <a:rPr sz="1800" spc="-10" dirty="0">
                <a:latin typeface="Times New Roman"/>
                <a:cs typeface="Times New Roman"/>
              </a:rPr>
              <a:t>myvector.end(),</a:t>
            </a:r>
            <a:r>
              <a:rPr sz="1800" spc="-40" dirty="0">
                <a:latin typeface="Times New Roman"/>
                <a:cs typeface="Times New Roman"/>
              </a:rPr>
              <a:t> </a:t>
            </a:r>
            <a:r>
              <a:rPr sz="1800" spc="-20" dirty="0">
                <a:latin typeface="Times New Roman"/>
                <a:cs typeface="Times New Roman"/>
              </a:rPr>
              <a:t>30); </a:t>
            </a:r>
            <a:r>
              <a:rPr sz="1800" dirty="0">
                <a:latin typeface="Times New Roman"/>
                <a:cs typeface="Times New Roman"/>
              </a:rPr>
              <a:t>if</a:t>
            </a:r>
            <a:r>
              <a:rPr sz="1800" spc="-10" dirty="0">
                <a:latin typeface="Times New Roman"/>
                <a:cs typeface="Times New Roman"/>
              </a:rPr>
              <a:t> </a:t>
            </a:r>
            <a:r>
              <a:rPr sz="1800" dirty="0">
                <a:latin typeface="Times New Roman"/>
                <a:cs typeface="Times New Roman"/>
              </a:rPr>
              <a:t>(it</a:t>
            </a:r>
            <a:r>
              <a:rPr sz="1800" spc="-15" dirty="0">
                <a:latin typeface="Times New Roman"/>
                <a:cs typeface="Times New Roman"/>
              </a:rPr>
              <a:t> </a:t>
            </a:r>
            <a:r>
              <a:rPr sz="1800" dirty="0">
                <a:latin typeface="Times New Roman"/>
                <a:cs typeface="Times New Roman"/>
              </a:rPr>
              <a:t>!=</a:t>
            </a:r>
            <a:r>
              <a:rPr sz="1800" spc="-10" dirty="0">
                <a:latin typeface="Times New Roman"/>
                <a:cs typeface="Times New Roman"/>
              </a:rPr>
              <a:t> myvector.end())</a:t>
            </a:r>
            <a:endParaRPr sz="1800">
              <a:latin typeface="Times New Roman"/>
              <a:cs typeface="Times New Roman"/>
            </a:endParaRPr>
          </a:p>
          <a:p>
            <a:pPr marL="241300">
              <a:lnSpc>
                <a:spcPct val="100000"/>
              </a:lnSpc>
            </a:pPr>
            <a:r>
              <a:rPr sz="1800" dirty="0">
                <a:latin typeface="Times New Roman"/>
                <a:cs typeface="Times New Roman"/>
              </a:rPr>
              <a:t>cout</a:t>
            </a:r>
            <a:r>
              <a:rPr sz="1800" spc="-10" dirty="0">
                <a:latin typeface="Times New Roman"/>
                <a:cs typeface="Times New Roman"/>
              </a:rPr>
              <a:t> </a:t>
            </a:r>
            <a:r>
              <a:rPr sz="1800" dirty="0">
                <a:latin typeface="Times New Roman"/>
                <a:cs typeface="Times New Roman"/>
              </a:rPr>
              <a:t>&lt;&lt;</a:t>
            </a:r>
            <a:r>
              <a:rPr sz="1800" spc="-15" dirty="0">
                <a:latin typeface="Times New Roman"/>
                <a:cs typeface="Times New Roman"/>
              </a:rPr>
              <a:t> </a:t>
            </a:r>
            <a:r>
              <a:rPr sz="1800" dirty="0">
                <a:latin typeface="Times New Roman"/>
                <a:cs typeface="Times New Roman"/>
              </a:rPr>
              <a:t>"Element</a:t>
            </a:r>
            <a:r>
              <a:rPr sz="1800" spc="-10" dirty="0">
                <a:latin typeface="Times New Roman"/>
                <a:cs typeface="Times New Roman"/>
              </a:rPr>
              <a:t> </a:t>
            </a:r>
            <a:r>
              <a:rPr sz="1800" dirty="0">
                <a:latin typeface="Times New Roman"/>
                <a:cs typeface="Times New Roman"/>
              </a:rPr>
              <a:t>" &lt;&lt;</a:t>
            </a:r>
            <a:r>
              <a:rPr sz="1800" spc="-20" dirty="0">
                <a:latin typeface="Times New Roman"/>
                <a:cs typeface="Times New Roman"/>
              </a:rPr>
              <a:t> </a:t>
            </a:r>
            <a:r>
              <a:rPr sz="1800" dirty="0">
                <a:latin typeface="Times New Roman"/>
                <a:cs typeface="Times New Roman"/>
              </a:rPr>
              <a:t>ser &lt;&lt;"</a:t>
            </a:r>
            <a:r>
              <a:rPr sz="1800" spc="-25" dirty="0">
                <a:latin typeface="Times New Roman"/>
                <a:cs typeface="Times New Roman"/>
              </a:rPr>
              <a:t> </a:t>
            </a:r>
            <a:r>
              <a:rPr sz="1800" dirty="0">
                <a:latin typeface="Times New Roman"/>
                <a:cs typeface="Times New Roman"/>
              </a:rPr>
              <a:t>found at</a:t>
            </a:r>
            <a:r>
              <a:rPr sz="1800" spc="-10" dirty="0">
                <a:latin typeface="Times New Roman"/>
                <a:cs typeface="Times New Roman"/>
              </a:rPr>
              <a:t> </a:t>
            </a:r>
            <a:r>
              <a:rPr sz="1800" dirty="0">
                <a:latin typeface="Times New Roman"/>
                <a:cs typeface="Times New Roman"/>
              </a:rPr>
              <a:t>position</a:t>
            </a:r>
            <a:r>
              <a:rPr sz="1800" spc="-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640080">
              <a:lnSpc>
                <a:spcPct val="100000"/>
              </a:lnSpc>
            </a:pPr>
            <a:r>
              <a:rPr sz="1800" dirty="0">
                <a:latin typeface="Times New Roman"/>
                <a:cs typeface="Times New Roman"/>
              </a:rPr>
              <a:t>&lt;&lt;</a:t>
            </a:r>
            <a:r>
              <a:rPr sz="1800" spc="-20" dirty="0">
                <a:latin typeface="Times New Roman"/>
                <a:cs typeface="Times New Roman"/>
              </a:rPr>
              <a:t> </a:t>
            </a:r>
            <a:r>
              <a:rPr sz="1800" dirty="0">
                <a:latin typeface="Times New Roman"/>
                <a:cs typeface="Times New Roman"/>
              </a:rPr>
              <a:t>it</a:t>
            </a:r>
            <a:r>
              <a:rPr sz="1800" spc="-15"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vec.begin()</a:t>
            </a:r>
            <a:r>
              <a:rPr sz="1800" spc="-35" dirty="0">
                <a:latin typeface="Times New Roman"/>
                <a:cs typeface="Times New Roman"/>
              </a:rPr>
              <a:t> </a:t>
            </a:r>
            <a:r>
              <a:rPr sz="1800" dirty="0">
                <a:latin typeface="Times New Roman"/>
                <a:cs typeface="Times New Roman"/>
              </a:rPr>
              <a:t>&lt;&lt;</a:t>
            </a:r>
            <a:r>
              <a:rPr sz="1800" spc="-30"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dirty="0">
                <a:latin typeface="Times New Roman"/>
                <a:cs typeface="Times New Roman"/>
              </a:rPr>
              <a:t>(counting</a:t>
            </a:r>
            <a:r>
              <a:rPr sz="1800" spc="-35" dirty="0">
                <a:latin typeface="Times New Roman"/>
                <a:cs typeface="Times New Roman"/>
              </a:rPr>
              <a:t> </a:t>
            </a:r>
            <a:r>
              <a:rPr sz="1800" dirty="0">
                <a:latin typeface="Times New Roman"/>
                <a:cs typeface="Times New Roman"/>
              </a:rPr>
              <a:t>from</a:t>
            </a:r>
            <a:r>
              <a:rPr sz="1800" spc="-10" dirty="0">
                <a:latin typeface="Times New Roman"/>
                <a:cs typeface="Times New Roman"/>
              </a:rPr>
              <a:t> </a:t>
            </a:r>
            <a:r>
              <a:rPr sz="1800" dirty="0">
                <a:latin typeface="Times New Roman"/>
                <a:cs typeface="Times New Roman"/>
              </a:rPr>
              <a:t>zero)</a:t>
            </a:r>
            <a:r>
              <a:rPr sz="1800" spc="-20" dirty="0">
                <a:latin typeface="Times New Roman"/>
                <a:cs typeface="Times New Roman"/>
              </a:rPr>
              <a:t> </a:t>
            </a:r>
            <a:r>
              <a:rPr sz="1800" dirty="0">
                <a:latin typeface="Times New Roman"/>
                <a:cs typeface="Times New Roman"/>
              </a:rPr>
              <a:t>\n"</a:t>
            </a:r>
            <a:r>
              <a:rPr sz="1800" spc="-15" dirty="0">
                <a:latin typeface="Times New Roman"/>
                <a:cs typeface="Times New Roman"/>
              </a:rPr>
              <a:t> </a:t>
            </a:r>
            <a:r>
              <a:rPr sz="1800" spc="-50" dirty="0">
                <a:latin typeface="Times New Roman"/>
                <a:cs typeface="Times New Roman"/>
              </a:rPr>
              <a:t>;</a:t>
            </a:r>
            <a:endParaRPr sz="1800">
              <a:latin typeface="Times New Roman"/>
              <a:cs typeface="Times New Roman"/>
            </a:endParaRPr>
          </a:p>
          <a:p>
            <a:pPr marL="12700">
              <a:lnSpc>
                <a:spcPct val="100000"/>
              </a:lnSpc>
            </a:pPr>
            <a:r>
              <a:rPr sz="1800" spc="-20" dirty="0">
                <a:latin typeface="Times New Roman"/>
                <a:cs typeface="Times New Roman"/>
              </a:rPr>
              <a:t>else</a:t>
            </a:r>
            <a:endParaRPr sz="1800">
              <a:latin typeface="Times New Roman"/>
              <a:cs typeface="Times New Roman"/>
            </a:endParaRPr>
          </a:p>
          <a:p>
            <a:pPr marL="182880">
              <a:lnSpc>
                <a:spcPct val="100000"/>
              </a:lnSpc>
            </a:pPr>
            <a:r>
              <a:rPr sz="1800" dirty="0">
                <a:latin typeface="Times New Roman"/>
                <a:cs typeface="Times New Roman"/>
              </a:rPr>
              <a:t>cout</a:t>
            </a:r>
            <a:r>
              <a:rPr sz="1800" spc="-25" dirty="0">
                <a:latin typeface="Times New Roman"/>
                <a:cs typeface="Times New Roman"/>
              </a:rPr>
              <a:t> </a:t>
            </a:r>
            <a:r>
              <a:rPr sz="1800" dirty="0">
                <a:latin typeface="Times New Roman"/>
                <a:cs typeface="Times New Roman"/>
              </a:rPr>
              <a:t>&lt;&lt;</a:t>
            </a:r>
            <a:r>
              <a:rPr sz="1800" spc="-20" dirty="0">
                <a:latin typeface="Times New Roman"/>
                <a:cs typeface="Times New Roman"/>
              </a:rPr>
              <a:t> </a:t>
            </a:r>
            <a:r>
              <a:rPr sz="1800" dirty="0">
                <a:latin typeface="Times New Roman"/>
                <a:cs typeface="Times New Roman"/>
              </a:rPr>
              <a:t>"Element</a:t>
            </a:r>
            <a:r>
              <a:rPr sz="1800" spc="-25" dirty="0">
                <a:latin typeface="Times New Roman"/>
                <a:cs typeface="Times New Roman"/>
              </a:rPr>
              <a:t> </a:t>
            </a:r>
            <a:r>
              <a:rPr sz="1800" dirty="0">
                <a:latin typeface="Times New Roman"/>
                <a:cs typeface="Times New Roman"/>
              </a:rPr>
              <a:t>not</a:t>
            </a:r>
            <a:r>
              <a:rPr sz="1800" spc="-20" dirty="0">
                <a:latin typeface="Times New Roman"/>
                <a:cs typeface="Times New Roman"/>
              </a:rPr>
              <a:t> </a:t>
            </a:r>
            <a:r>
              <a:rPr sz="1800" dirty="0">
                <a:latin typeface="Times New Roman"/>
                <a:cs typeface="Times New Roman"/>
              </a:rPr>
              <a:t>found</a:t>
            </a:r>
            <a:r>
              <a:rPr sz="1800" spc="-30" dirty="0">
                <a:latin typeface="Times New Roman"/>
                <a:cs typeface="Times New Roman"/>
              </a:rPr>
              <a:t> </a:t>
            </a:r>
            <a:r>
              <a:rPr sz="1800" dirty="0">
                <a:latin typeface="Times New Roman"/>
                <a:cs typeface="Times New Roman"/>
              </a:rPr>
              <a:t>in</a:t>
            </a:r>
            <a:r>
              <a:rPr sz="1800" spc="-20" dirty="0">
                <a:latin typeface="Times New Roman"/>
                <a:cs typeface="Times New Roman"/>
              </a:rPr>
              <a:t> </a:t>
            </a:r>
            <a:r>
              <a:rPr sz="1800" spc="-10" dirty="0">
                <a:latin typeface="Times New Roman"/>
                <a:cs typeface="Times New Roman"/>
              </a:rPr>
              <a:t>myvector\n";</a:t>
            </a:r>
            <a:endParaRPr sz="1800">
              <a:latin typeface="Times New Roman"/>
              <a:cs typeface="Times New Roman"/>
            </a:endParaRPr>
          </a:p>
        </p:txBody>
      </p:sp>
      <p:sp>
        <p:nvSpPr>
          <p:cNvPr id="9" name="object 9"/>
          <p:cNvSpPr txBox="1"/>
          <p:nvPr/>
        </p:nvSpPr>
        <p:spPr>
          <a:xfrm>
            <a:off x="5393816" y="6335064"/>
            <a:ext cx="6400800" cy="391160"/>
          </a:xfrm>
          <a:prstGeom prst="rect">
            <a:avLst/>
          </a:prstGeom>
        </p:spPr>
        <p:txBody>
          <a:bodyPr vert="horz" wrap="square" lIns="0" tIns="12700" rIns="0" bIns="0" rtlCol="0">
            <a:spAutoFit/>
          </a:bodyPr>
          <a:lstStyle/>
          <a:p>
            <a:pPr marL="50800">
              <a:lnSpc>
                <a:spcPct val="100000"/>
              </a:lnSpc>
              <a:spcBef>
                <a:spcPts val="100"/>
              </a:spcBef>
              <a:tabLst>
                <a:tab pos="4662805" algn="l"/>
              </a:tabLst>
            </a:pPr>
            <a:r>
              <a:rPr sz="2400" spc="-10" dirty="0">
                <a:solidFill>
                  <a:srgbClr val="FFFFFF"/>
                </a:solidFill>
                <a:latin typeface="Times New Roman"/>
                <a:cs typeface="Times New Roman"/>
              </a:rPr>
              <a:t>Lectu</a:t>
            </a:r>
            <a:r>
              <a:rPr sz="2400" spc="-5" dirty="0">
                <a:solidFill>
                  <a:srgbClr val="FFFFFF"/>
                </a:solidFill>
                <a:latin typeface="Times New Roman"/>
                <a:cs typeface="Times New Roman"/>
              </a:rPr>
              <a:t>r</a:t>
            </a:r>
            <a:r>
              <a:rPr sz="2400" spc="-595" dirty="0">
                <a:solidFill>
                  <a:srgbClr val="FFFFFF"/>
                </a:solidFill>
                <a:latin typeface="Times New Roman"/>
                <a:cs typeface="Times New Roman"/>
              </a:rPr>
              <a:t>e</a:t>
            </a:r>
            <a:r>
              <a:rPr sz="2700" spc="-15" baseline="23148" dirty="0">
                <a:latin typeface="Times New Roman"/>
                <a:cs typeface="Times New Roman"/>
              </a:rPr>
              <a:t>r</a:t>
            </a:r>
            <a:r>
              <a:rPr sz="2700" spc="-382" baseline="23148" dirty="0">
                <a:latin typeface="Times New Roman"/>
                <a:cs typeface="Times New Roman"/>
              </a:rPr>
              <a:t>e</a:t>
            </a:r>
            <a:r>
              <a:rPr sz="2400" spc="-975" dirty="0">
                <a:solidFill>
                  <a:srgbClr val="FFFFFF"/>
                </a:solidFill>
                <a:latin typeface="Times New Roman"/>
                <a:cs typeface="Times New Roman"/>
              </a:rPr>
              <a:t>9</a:t>
            </a:r>
            <a:r>
              <a:rPr sz="2700" spc="-7" baseline="23148" dirty="0">
                <a:latin typeface="Times New Roman"/>
                <a:cs typeface="Times New Roman"/>
              </a:rPr>
              <a:t>t</a:t>
            </a:r>
            <a:r>
              <a:rPr sz="2700" spc="-15" baseline="23148" dirty="0">
                <a:latin typeface="Times New Roman"/>
                <a:cs typeface="Times New Roman"/>
              </a:rPr>
              <a:t>u</a:t>
            </a:r>
            <a:r>
              <a:rPr sz="2700" spc="-690" baseline="23148" dirty="0">
                <a:latin typeface="Times New Roman"/>
                <a:cs typeface="Times New Roman"/>
              </a:rPr>
              <a:t>r</a:t>
            </a:r>
            <a:r>
              <a:rPr sz="2400" spc="-375" dirty="0">
                <a:solidFill>
                  <a:srgbClr val="FFFFFF"/>
                </a:solidFill>
                <a:latin typeface="Times New Roman"/>
                <a:cs typeface="Times New Roman"/>
              </a:rPr>
              <a:t>-</a:t>
            </a:r>
            <a:r>
              <a:rPr sz="2700" baseline="23148" dirty="0">
                <a:latin typeface="Times New Roman"/>
                <a:cs typeface="Times New Roman"/>
              </a:rPr>
              <a:t>n</a:t>
            </a:r>
            <a:r>
              <a:rPr sz="2700" spc="187" baseline="23148" dirty="0">
                <a:latin typeface="Times New Roman"/>
                <a:cs typeface="Times New Roman"/>
              </a:rPr>
              <a:t> </a:t>
            </a:r>
            <a:r>
              <a:rPr sz="2700" spc="-1080" baseline="23148" dirty="0">
                <a:latin typeface="Times New Roman"/>
                <a:cs typeface="Times New Roman"/>
              </a:rPr>
              <a:t>0</a:t>
            </a:r>
            <a:r>
              <a:rPr sz="2400" spc="-530" dirty="0">
                <a:solidFill>
                  <a:srgbClr val="FFFFFF"/>
                </a:solidFill>
                <a:latin typeface="Times New Roman"/>
                <a:cs typeface="Times New Roman"/>
              </a:rPr>
              <a:t>2</a:t>
            </a:r>
            <a:r>
              <a:rPr sz="2700" spc="-22" baseline="23148" dirty="0">
                <a:latin typeface="Times New Roman"/>
                <a:cs typeface="Times New Roman"/>
              </a:rPr>
              <a:t>;</a:t>
            </a:r>
            <a:r>
              <a:rPr sz="2400" spc="-20" dirty="0">
                <a:solidFill>
                  <a:srgbClr val="FFFFFF"/>
                </a:solidFill>
                <a:latin typeface="Times New Roman"/>
                <a:cs typeface="Times New Roman"/>
              </a:rPr>
              <a:t>5</a:t>
            </a:r>
            <a:r>
              <a:rPr sz="2400" dirty="0">
                <a:solidFill>
                  <a:srgbClr val="FFFFFF"/>
                </a:solidFill>
                <a:latin typeface="Times New Roman"/>
                <a:cs typeface="Times New Roman"/>
              </a:rPr>
              <a:t>	1</a:t>
            </a:r>
            <a:r>
              <a:rPr sz="2400" baseline="24305" dirty="0">
                <a:solidFill>
                  <a:srgbClr val="FFFFFF"/>
                </a:solidFill>
                <a:latin typeface="Times New Roman"/>
                <a:cs typeface="Times New Roman"/>
              </a:rPr>
              <a:t>st</a:t>
            </a:r>
            <a:r>
              <a:rPr sz="2400" spc="262" baseline="24305" dirty="0">
                <a:solidFill>
                  <a:srgbClr val="FFFFFF"/>
                </a:solidFill>
                <a:latin typeface="Times New Roman"/>
                <a:cs typeface="Times New Roman"/>
              </a:rPr>
              <a:t> </a:t>
            </a:r>
            <a:r>
              <a:rPr sz="2400" dirty="0">
                <a:solidFill>
                  <a:srgbClr val="FFFFFF"/>
                </a:solidFill>
                <a:latin typeface="Times New Roman"/>
                <a:cs typeface="Times New Roman"/>
              </a:rPr>
              <a:t>June,</a:t>
            </a:r>
            <a:r>
              <a:rPr sz="2400" spc="-3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object 10"/>
          <p:cNvSpPr txBox="1"/>
          <p:nvPr/>
        </p:nvSpPr>
        <p:spPr>
          <a:xfrm>
            <a:off x="6175628" y="6589572"/>
            <a:ext cx="135890"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imes New Roman"/>
                <a:cs typeface="Times New Roman"/>
              </a:rPr>
              <a:t>}</a:t>
            </a:r>
            <a:endParaRPr sz="1800">
              <a:latin typeface="Times New Roman"/>
              <a:cs typeface="Times New Roman"/>
            </a:endParaRPr>
          </a:p>
        </p:txBody>
      </p:sp>
      <p:sp>
        <p:nvSpPr>
          <p:cNvPr id="11" name="Footer Placeholder 10">
            <a:extLst>
              <a:ext uri="{FF2B5EF4-FFF2-40B4-BE49-F238E27FC236}">
                <a16:creationId xmlns:a16="http://schemas.microsoft.com/office/drawing/2014/main" id="{DA89613E-C592-E0B0-DBAB-A09881334271}"/>
              </a:ext>
            </a:extLst>
          </p:cNvPr>
          <p:cNvSpPr>
            <a:spLocks noGrp="1"/>
          </p:cNvSpPr>
          <p:nvPr>
            <p:ph type="ftr" sz="quarter" idx="11"/>
          </p:nvPr>
        </p:nvSpPr>
        <p:spPr/>
        <p:txBody>
          <a:bodyPr/>
          <a:lstStyle/>
          <a:p>
            <a:pPr marL="12700">
              <a:lnSpc>
                <a:spcPts val="2720"/>
              </a:lnSpc>
            </a:pPr>
            <a:r>
              <a:rPr lang="en-US"/>
              <a:t>Mehedi Hasan</a:t>
            </a:r>
            <a:endParaRPr lang="en-US" spc="-10" dirty="0"/>
          </a:p>
        </p:txBody>
      </p:sp>
      <p:sp>
        <p:nvSpPr>
          <p:cNvPr id="12" name="Date Placeholder 11">
            <a:extLst>
              <a:ext uri="{FF2B5EF4-FFF2-40B4-BE49-F238E27FC236}">
                <a16:creationId xmlns:a16="http://schemas.microsoft.com/office/drawing/2014/main" id="{BB208FF5-76B6-8BF4-D1C1-6349C173206B}"/>
              </a:ext>
            </a:extLst>
          </p:cNvPr>
          <p:cNvSpPr>
            <a:spLocks noGrp="1"/>
          </p:cNvSpPr>
          <p:nvPr>
            <p:ph type="dt" sz="half" idx="10"/>
          </p:nvPr>
        </p:nvSpPr>
        <p:spPr/>
        <p:txBody>
          <a:bodyPr/>
          <a:lstStyle/>
          <a:p>
            <a:fld id="{31F3F8F8-C50D-4B13-9325-9BAEBB923130}" type="datetime1">
              <a:rPr lang="en-US" smtClean="0"/>
              <a:t>11/17/2025</a:t>
            </a:fld>
            <a:endParaRPr lang="en-US"/>
          </a:p>
        </p:txBody>
      </p:sp>
      <p:sp>
        <p:nvSpPr>
          <p:cNvPr id="14" name="Slide Number Placeholder 13">
            <a:extLst>
              <a:ext uri="{FF2B5EF4-FFF2-40B4-BE49-F238E27FC236}">
                <a16:creationId xmlns:a16="http://schemas.microsoft.com/office/drawing/2014/main" id="{D07549CF-47B0-4FB7-981B-629349336219}"/>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61</a:t>
            </a:fld>
            <a:endParaRPr spc="-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0" dirty="0"/>
              <a:t> </a:t>
            </a:r>
            <a:r>
              <a:rPr spc="-20" dirty="0"/>
              <a:t>count()</a:t>
            </a:r>
            <a:r>
              <a:rPr spc="-210" dirty="0"/>
              <a:t> </a:t>
            </a:r>
            <a:r>
              <a:rPr spc="-10" dirty="0"/>
              <a:t>Algorithm</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463166"/>
            <a:ext cx="10358120" cy="934719"/>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The</a:t>
            </a:r>
            <a:r>
              <a:rPr sz="2000" spc="405" dirty="0">
                <a:latin typeface="Times New Roman"/>
                <a:cs typeface="Times New Roman"/>
              </a:rPr>
              <a:t> </a:t>
            </a:r>
            <a:r>
              <a:rPr sz="2000" dirty="0">
                <a:latin typeface="Times New Roman"/>
                <a:cs typeface="Times New Roman"/>
              </a:rPr>
              <a:t>count()</a:t>
            </a:r>
            <a:r>
              <a:rPr sz="2000" spc="409" dirty="0">
                <a:latin typeface="Times New Roman"/>
                <a:cs typeface="Times New Roman"/>
              </a:rPr>
              <a:t> </a:t>
            </a:r>
            <a:r>
              <a:rPr sz="2000" dirty="0">
                <a:latin typeface="Times New Roman"/>
                <a:cs typeface="Times New Roman"/>
              </a:rPr>
              <a:t>algorithm</a:t>
            </a:r>
            <a:r>
              <a:rPr sz="2000" spc="390" dirty="0">
                <a:latin typeface="Times New Roman"/>
                <a:cs typeface="Times New Roman"/>
              </a:rPr>
              <a:t> </a:t>
            </a:r>
            <a:r>
              <a:rPr sz="2000" dirty="0">
                <a:latin typeface="Times New Roman"/>
                <a:cs typeface="Times New Roman"/>
              </a:rPr>
              <a:t>counts</a:t>
            </a:r>
            <a:r>
              <a:rPr sz="2000" spc="405" dirty="0">
                <a:latin typeface="Times New Roman"/>
                <a:cs typeface="Times New Roman"/>
              </a:rPr>
              <a:t> </a:t>
            </a:r>
            <a:r>
              <a:rPr sz="2000" dirty="0">
                <a:latin typeface="Times New Roman"/>
                <a:cs typeface="Times New Roman"/>
              </a:rPr>
              <a:t>how</a:t>
            </a:r>
            <a:r>
              <a:rPr sz="2000" spc="409" dirty="0">
                <a:latin typeface="Times New Roman"/>
                <a:cs typeface="Times New Roman"/>
              </a:rPr>
              <a:t> </a:t>
            </a:r>
            <a:r>
              <a:rPr sz="2000" dirty="0">
                <a:latin typeface="Times New Roman"/>
                <a:cs typeface="Times New Roman"/>
              </a:rPr>
              <a:t>many</a:t>
            </a:r>
            <a:r>
              <a:rPr sz="2000" spc="390" dirty="0">
                <a:latin typeface="Times New Roman"/>
                <a:cs typeface="Times New Roman"/>
              </a:rPr>
              <a:t> </a:t>
            </a:r>
            <a:r>
              <a:rPr sz="2000" dirty="0">
                <a:latin typeface="Times New Roman"/>
                <a:cs typeface="Times New Roman"/>
              </a:rPr>
              <a:t>elements</a:t>
            </a:r>
            <a:r>
              <a:rPr sz="2000" spc="405" dirty="0">
                <a:latin typeface="Times New Roman"/>
                <a:cs typeface="Times New Roman"/>
              </a:rPr>
              <a:t> </a:t>
            </a:r>
            <a:r>
              <a:rPr sz="2000" dirty="0">
                <a:latin typeface="Times New Roman"/>
                <a:cs typeface="Times New Roman"/>
              </a:rPr>
              <a:t>in</a:t>
            </a:r>
            <a:r>
              <a:rPr sz="2000" spc="395" dirty="0">
                <a:latin typeface="Times New Roman"/>
                <a:cs typeface="Times New Roman"/>
              </a:rPr>
              <a:t> </a:t>
            </a:r>
            <a:r>
              <a:rPr sz="2000" dirty="0">
                <a:latin typeface="Times New Roman"/>
                <a:cs typeface="Times New Roman"/>
              </a:rPr>
              <a:t>a</a:t>
            </a:r>
            <a:r>
              <a:rPr sz="2000" spc="395" dirty="0">
                <a:latin typeface="Times New Roman"/>
                <a:cs typeface="Times New Roman"/>
              </a:rPr>
              <a:t> </a:t>
            </a:r>
            <a:r>
              <a:rPr sz="2000" dirty="0">
                <a:latin typeface="Times New Roman"/>
                <a:cs typeface="Times New Roman"/>
              </a:rPr>
              <a:t>container</a:t>
            </a:r>
            <a:r>
              <a:rPr sz="2000" spc="400" dirty="0">
                <a:latin typeface="Times New Roman"/>
                <a:cs typeface="Times New Roman"/>
              </a:rPr>
              <a:t> </a:t>
            </a:r>
            <a:r>
              <a:rPr sz="2000" dirty="0">
                <a:latin typeface="Times New Roman"/>
                <a:cs typeface="Times New Roman"/>
              </a:rPr>
              <a:t>have</a:t>
            </a:r>
            <a:r>
              <a:rPr sz="2000" spc="400" dirty="0">
                <a:latin typeface="Times New Roman"/>
                <a:cs typeface="Times New Roman"/>
              </a:rPr>
              <a:t> </a:t>
            </a:r>
            <a:r>
              <a:rPr sz="2000" dirty="0">
                <a:latin typeface="Times New Roman"/>
                <a:cs typeface="Times New Roman"/>
              </a:rPr>
              <a:t>a</a:t>
            </a:r>
            <a:r>
              <a:rPr sz="2000" spc="400" dirty="0">
                <a:latin typeface="Times New Roman"/>
                <a:cs typeface="Times New Roman"/>
              </a:rPr>
              <a:t> </a:t>
            </a:r>
            <a:r>
              <a:rPr sz="2000" dirty="0">
                <a:latin typeface="Times New Roman"/>
                <a:cs typeface="Times New Roman"/>
              </a:rPr>
              <a:t>specified</a:t>
            </a:r>
            <a:r>
              <a:rPr sz="2000" spc="395" dirty="0">
                <a:latin typeface="Times New Roman"/>
                <a:cs typeface="Times New Roman"/>
              </a:rPr>
              <a:t> </a:t>
            </a:r>
            <a:r>
              <a:rPr sz="2000" dirty="0">
                <a:latin typeface="Times New Roman"/>
                <a:cs typeface="Times New Roman"/>
              </a:rPr>
              <a:t>value</a:t>
            </a:r>
            <a:r>
              <a:rPr sz="2000" spc="409" dirty="0">
                <a:latin typeface="Times New Roman"/>
                <a:cs typeface="Times New Roman"/>
              </a:rPr>
              <a:t> </a:t>
            </a:r>
            <a:r>
              <a:rPr sz="2000" spc="-25" dirty="0">
                <a:latin typeface="Times New Roman"/>
                <a:cs typeface="Times New Roman"/>
              </a:rPr>
              <a:t>and</a:t>
            </a:r>
            <a:endParaRPr sz="2000">
              <a:latin typeface="Times New Roman"/>
              <a:cs typeface="Times New Roman"/>
            </a:endParaRPr>
          </a:p>
          <a:p>
            <a:pPr marL="355600">
              <a:lnSpc>
                <a:spcPts val="2375"/>
              </a:lnSpc>
            </a:pPr>
            <a:r>
              <a:rPr sz="2000" dirty="0">
                <a:latin typeface="Times New Roman"/>
                <a:cs typeface="Times New Roman"/>
              </a:rPr>
              <a:t>returns</a:t>
            </a:r>
            <a:r>
              <a:rPr sz="2000" spc="-50" dirty="0">
                <a:latin typeface="Times New Roman"/>
                <a:cs typeface="Times New Roman"/>
              </a:rPr>
              <a:t> </a:t>
            </a:r>
            <a:r>
              <a:rPr sz="2000" dirty="0">
                <a:latin typeface="Times New Roman"/>
                <a:cs typeface="Times New Roman"/>
              </a:rPr>
              <a:t>this</a:t>
            </a:r>
            <a:r>
              <a:rPr sz="2000" spc="-25" dirty="0">
                <a:latin typeface="Times New Roman"/>
                <a:cs typeface="Times New Roman"/>
              </a:rPr>
              <a:t> </a:t>
            </a:r>
            <a:r>
              <a:rPr sz="2000" spc="-10" dirty="0">
                <a:latin typeface="Times New Roman"/>
                <a:cs typeface="Times New Roman"/>
              </a:rPr>
              <a:t>number.</a:t>
            </a:r>
            <a:endParaRPr sz="2000">
              <a:latin typeface="Times New Roman"/>
              <a:cs typeface="Times New Roman"/>
            </a:endParaRPr>
          </a:p>
          <a:p>
            <a:pPr marL="355600" indent="-342900">
              <a:lnSpc>
                <a:spcPts val="2375"/>
              </a:lnSpc>
              <a:buFont typeface="Arial MT"/>
              <a:buChar char="•"/>
              <a:tabLst>
                <a:tab pos="355600" algn="l"/>
              </a:tabLst>
            </a:pPr>
            <a:r>
              <a:rPr sz="2000" b="1" i="1" spc="-10" dirty="0">
                <a:solidFill>
                  <a:srgbClr val="273139"/>
                </a:solidFill>
                <a:latin typeface="Calibri"/>
                <a:cs typeface="Calibri"/>
              </a:rPr>
              <a:t>count(InputIterator</a:t>
            </a:r>
            <a:r>
              <a:rPr sz="2000" b="1" i="1" spc="-80" dirty="0">
                <a:solidFill>
                  <a:srgbClr val="273139"/>
                </a:solidFill>
                <a:latin typeface="Calibri"/>
                <a:cs typeface="Calibri"/>
              </a:rPr>
              <a:t> </a:t>
            </a:r>
            <a:r>
              <a:rPr sz="2000" b="1" i="1" dirty="0">
                <a:solidFill>
                  <a:srgbClr val="273139"/>
                </a:solidFill>
                <a:latin typeface="Calibri"/>
                <a:cs typeface="Calibri"/>
              </a:rPr>
              <a:t>first,</a:t>
            </a:r>
            <a:r>
              <a:rPr sz="2000" b="1" i="1" spc="-55" dirty="0">
                <a:solidFill>
                  <a:srgbClr val="273139"/>
                </a:solidFill>
                <a:latin typeface="Calibri"/>
                <a:cs typeface="Calibri"/>
              </a:rPr>
              <a:t> </a:t>
            </a:r>
            <a:r>
              <a:rPr sz="2000" b="1" i="1" dirty="0">
                <a:solidFill>
                  <a:srgbClr val="273139"/>
                </a:solidFill>
                <a:latin typeface="Calibri"/>
                <a:cs typeface="Calibri"/>
              </a:rPr>
              <a:t>InputIterator</a:t>
            </a:r>
            <a:r>
              <a:rPr sz="2000" b="1" i="1" spc="-75" dirty="0">
                <a:solidFill>
                  <a:srgbClr val="273139"/>
                </a:solidFill>
                <a:latin typeface="Calibri"/>
                <a:cs typeface="Calibri"/>
              </a:rPr>
              <a:t> </a:t>
            </a:r>
            <a:r>
              <a:rPr sz="2000" b="1" i="1" dirty="0">
                <a:solidFill>
                  <a:srgbClr val="273139"/>
                </a:solidFill>
                <a:latin typeface="Calibri"/>
                <a:cs typeface="Calibri"/>
              </a:rPr>
              <a:t>last,</a:t>
            </a:r>
            <a:r>
              <a:rPr sz="2000" b="1" i="1" spc="-60" dirty="0">
                <a:solidFill>
                  <a:srgbClr val="273139"/>
                </a:solidFill>
                <a:latin typeface="Calibri"/>
                <a:cs typeface="Calibri"/>
              </a:rPr>
              <a:t> </a:t>
            </a:r>
            <a:r>
              <a:rPr sz="2000" b="1" i="1" dirty="0">
                <a:solidFill>
                  <a:srgbClr val="273139"/>
                </a:solidFill>
                <a:latin typeface="Calibri"/>
                <a:cs typeface="Calibri"/>
              </a:rPr>
              <a:t>const</a:t>
            </a:r>
            <a:r>
              <a:rPr sz="2000" b="1" i="1" spc="375" dirty="0">
                <a:solidFill>
                  <a:srgbClr val="273139"/>
                </a:solidFill>
                <a:latin typeface="Calibri"/>
                <a:cs typeface="Calibri"/>
              </a:rPr>
              <a:t> </a:t>
            </a:r>
            <a:r>
              <a:rPr sz="2000" b="1" i="1" spc="-20" dirty="0">
                <a:solidFill>
                  <a:srgbClr val="273139"/>
                </a:solidFill>
                <a:latin typeface="Calibri"/>
                <a:cs typeface="Calibri"/>
              </a:rPr>
              <a:t>val)</a:t>
            </a:r>
            <a:endParaRPr sz="2000">
              <a:latin typeface="Calibri"/>
              <a:cs typeface="Calibri"/>
            </a:endParaRPr>
          </a:p>
        </p:txBody>
      </p:sp>
      <p:pic>
        <p:nvPicPr>
          <p:cNvPr id="4" name="object 4"/>
          <p:cNvPicPr/>
          <p:nvPr/>
        </p:nvPicPr>
        <p:blipFill>
          <a:blip r:embed="rId2" cstate="print"/>
          <a:stretch>
            <a:fillRect/>
          </a:stretch>
        </p:blipFill>
        <p:spPr>
          <a:xfrm>
            <a:off x="3224315" y="2628900"/>
            <a:ext cx="5687391" cy="3471018"/>
          </a:xfrm>
          <a:prstGeom prst="rect">
            <a:avLst/>
          </a:prstGeom>
        </p:spPr>
      </p:pic>
      <p:sp>
        <p:nvSpPr>
          <p:cNvPr id="7" name="object 7"/>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8" name="object 8"/>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9" name="Date Placeholder 8">
            <a:extLst>
              <a:ext uri="{FF2B5EF4-FFF2-40B4-BE49-F238E27FC236}">
                <a16:creationId xmlns:a16="http://schemas.microsoft.com/office/drawing/2014/main" id="{B044578A-35D4-AC6D-2F02-9B3C35E2DCC9}"/>
              </a:ext>
            </a:extLst>
          </p:cNvPr>
          <p:cNvSpPr>
            <a:spLocks noGrp="1"/>
          </p:cNvSpPr>
          <p:nvPr>
            <p:ph type="dt" sz="half" idx="10"/>
          </p:nvPr>
        </p:nvSpPr>
        <p:spPr/>
        <p:txBody>
          <a:bodyPr/>
          <a:lstStyle/>
          <a:p>
            <a:fld id="{025F7C04-BA40-4953-AC4B-522DE4AA759C}" type="datetime1">
              <a:rPr lang="en-US" smtClean="0"/>
              <a:t>11/17/2025</a:t>
            </a:fld>
            <a:endParaRPr lang="en-US"/>
          </a:p>
        </p:txBody>
      </p:sp>
      <p:sp>
        <p:nvSpPr>
          <p:cNvPr id="10" name="Slide Number Placeholder 9">
            <a:extLst>
              <a:ext uri="{FF2B5EF4-FFF2-40B4-BE49-F238E27FC236}">
                <a16:creationId xmlns:a16="http://schemas.microsoft.com/office/drawing/2014/main" id="{C643185C-219B-FB1B-FFCC-22F7A652C78A}"/>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62</a:t>
            </a:fld>
            <a:endParaRPr spc="-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20" dirty="0"/>
              <a:t> </a:t>
            </a:r>
            <a:r>
              <a:rPr spc="-10" dirty="0"/>
              <a:t>sort()</a:t>
            </a:r>
            <a:r>
              <a:rPr spc="-215" dirty="0"/>
              <a:t> </a:t>
            </a:r>
            <a:r>
              <a:rPr spc="-10" dirty="0"/>
              <a:t>Algorithm</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1463166"/>
            <a:ext cx="10112375" cy="629920"/>
          </a:xfrm>
          <a:prstGeom prst="rect">
            <a:avLst/>
          </a:prstGeom>
        </p:spPr>
        <p:txBody>
          <a:bodyPr vert="horz" wrap="square" lIns="0" tIns="13335" rIns="0" bIns="0" rtlCol="0">
            <a:spAutoFit/>
          </a:bodyPr>
          <a:lstStyle/>
          <a:p>
            <a:pPr marL="355600" indent="-342900">
              <a:lnSpc>
                <a:spcPts val="2375"/>
              </a:lnSpc>
              <a:spcBef>
                <a:spcPts val="105"/>
              </a:spcBef>
              <a:buFont typeface="Arial MT"/>
              <a:buChar char="•"/>
              <a:tabLst>
                <a:tab pos="355600" algn="l"/>
              </a:tabLst>
            </a:pP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sort()</a:t>
            </a:r>
            <a:r>
              <a:rPr sz="2000" spc="-40" dirty="0">
                <a:latin typeface="Times New Roman"/>
                <a:cs typeface="Times New Roman"/>
              </a:rPr>
              <a:t> </a:t>
            </a:r>
            <a:r>
              <a:rPr sz="2000" dirty="0">
                <a:latin typeface="Times New Roman"/>
                <a:cs typeface="Times New Roman"/>
              </a:rPr>
              <a:t>algorithm</a:t>
            </a:r>
            <a:r>
              <a:rPr sz="2000" spc="-40" dirty="0">
                <a:latin typeface="Times New Roman"/>
                <a:cs typeface="Times New Roman"/>
              </a:rPr>
              <a:t> </a:t>
            </a:r>
            <a:r>
              <a:rPr sz="2000" dirty="0">
                <a:latin typeface="Times New Roman"/>
                <a:cs typeface="Times New Roman"/>
              </a:rPr>
              <a:t>Sorts</a:t>
            </a:r>
            <a:r>
              <a:rPr sz="2000" spc="-3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elements</a:t>
            </a:r>
            <a:r>
              <a:rPr sz="2000" spc="-10"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range</a:t>
            </a:r>
            <a:r>
              <a:rPr sz="2000" spc="-25" dirty="0">
                <a:latin typeface="Times New Roman"/>
                <a:cs typeface="Times New Roman"/>
              </a:rPr>
              <a:t> </a:t>
            </a:r>
            <a:r>
              <a:rPr sz="2000" dirty="0">
                <a:latin typeface="Times New Roman"/>
                <a:cs typeface="Times New Roman"/>
              </a:rPr>
              <a:t>[first,last)</a:t>
            </a:r>
            <a:r>
              <a:rPr sz="2000" spc="-45" dirty="0">
                <a:latin typeface="Times New Roman"/>
                <a:cs typeface="Times New Roman"/>
              </a:rPr>
              <a:t> </a:t>
            </a:r>
            <a:r>
              <a:rPr sz="2000" dirty="0">
                <a:latin typeface="Times New Roman"/>
                <a:cs typeface="Times New Roman"/>
              </a:rPr>
              <a:t>into</a:t>
            </a:r>
            <a:r>
              <a:rPr sz="2000" spc="-25" dirty="0">
                <a:latin typeface="Times New Roman"/>
                <a:cs typeface="Times New Roman"/>
              </a:rPr>
              <a:t> </a:t>
            </a:r>
            <a:r>
              <a:rPr sz="2000" dirty="0">
                <a:latin typeface="Times New Roman"/>
                <a:cs typeface="Times New Roman"/>
              </a:rPr>
              <a:t>ascending</a:t>
            </a:r>
            <a:r>
              <a:rPr sz="2000" spc="-35" dirty="0">
                <a:latin typeface="Times New Roman"/>
                <a:cs typeface="Times New Roman"/>
              </a:rPr>
              <a:t> </a:t>
            </a:r>
            <a:r>
              <a:rPr sz="2000" dirty="0">
                <a:latin typeface="Times New Roman"/>
                <a:cs typeface="Times New Roman"/>
              </a:rPr>
              <a:t>order</a:t>
            </a:r>
            <a:r>
              <a:rPr sz="2000" spc="-30" dirty="0">
                <a:latin typeface="Times New Roman"/>
                <a:cs typeface="Times New Roman"/>
              </a:rPr>
              <a:t> </a:t>
            </a:r>
            <a:r>
              <a:rPr sz="2000" dirty="0">
                <a:latin typeface="Times New Roman"/>
                <a:cs typeface="Times New Roman"/>
              </a:rPr>
              <a:t>(by</a:t>
            </a:r>
            <a:r>
              <a:rPr sz="2000" spc="-25" dirty="0">
                <a:latin typeface="Times New Roman"/>
                <a:cs typeface="Times New Roman"/>
              </a:rPr>
              <a:t> </a:t>
            </a:r>
            <a:r>
              <a:rPr sz="2000" spc="-10" dirty="0">
                <a:latin typeface="Times New Roman"/>
                <a:cs typeface="Times New Roman"/>
              </a:rPr>
              <a:t>default).</a:t>
            </a:r>
            <a:endParaRPr sz="2000">
              <a:latin typeface="Times New Roman"/>
              <a:cs typeface="Times New Roman"/>
            </a:endParaRPr>
          </a:p>
          <a:p>
            <a:pPr marL="355600" indent="-342900">
              <a:lnSpc>
                <a:spcPts val="2375"/>
              </a:lnSpc>
              <a:buFont typeface="Arial MT"/>
              <a:buChar char="•"/>
              <a:tabLst>
                <a:tab pos="355600" algn="l"/>
              </a:tabLst>
            </a:pPr>
            <a:r>
              <a:rPr sz="2000" b="1" i="1" spc="-10" dirty="0">
                <a:solidFill>
                  <a:srgbClr val="273139"/>
                </a:solidFill>
                <a:latin typeface="Calibri"/>
                <a:cs typeface="Calibri"/>
              </a:rPr>
              <a:t>sort(InputIterator</a:t>
            </a:r>
            <a:r>
              <a:rPr sz="2000" b="1" i="1" spc="-15" dirty="0">
                <a:solidFill>
                  <a:srgbClr val="273139"/>
                </a:solidFill>
                <a:latin typeface="Calibri"/>
                <a:cs typeface="Calibri"/>
              </a:rPr>
              <a:t> </a:t>
            </a:r>
            <a:r>
              <a:rPr sz="2000" b="1" i="1" dirty="0">
                <a:solidFill>
                  <a:srgbClr val="273139"/>
                </a:solidFill>
                <a:latin typeface="Calibri"/>
                <a:cs typeface="Calibri"/>
              </a:rPr>
              <a:t>first, </a:t>
            </a:r>
            <a:r>
              <a:rPr sz="2000" b="1" i="1" spc="-10" dirty="0">
                <a:solidFill>
                  <a:srgbClr val="273139"/>
                </a:solidFill>
                <a:latin typeface="Calibri"/>
                <a:cs typeface="Calibri"/>
              </a:rPr>
              <a:t>InputIterator</a:t>
            </a:r>
            <a:r>
              <a:rPr sz="2000" b="1" i="1" spc="-30" dirty="0">
                <a:solidFill>
                  <a:srgbClr val="273139"/>
                </a:solidFill>
                <a:latin typeface="Calibri"/>
                <a:cs typeface="Calibri"/>
              </a:rPr>
              <a:t> </a:t>
            </a:r>
            <a:r>
              <a:rPr sz="2000" b="1" i="1" spc="-10" dirty="0">
                <a:solidFill>
                  <a:srgbClr val="273139"/>
                </a:solidFill>
                <a:latin typeface="Calibri"/>
                <a:cs typeface="Calibri"/>
              </a:rPr>
              <a:t>last)</a:t>
            </a:r>
            <a:endParaRPr sz="2000">
              <a:latin typeface="Calibri"/>
              <a:cs typeface="Calibri"/>
            </a:endParaRPr>
          </a:p>
        </p:txBody>
      </p:sp>
      <p:sp>
        <p:nvSpPr>
          <p:cNvPr id="4" name="object 4"/>
          <p:cNvSpPr txBox="1"/>
          <p:nvPr/>
        </p:nvSpPr>
        <p:spPr>
          <a:xfrm>
            <a:off x="838200" y="2267711"/>
            <a:ext cx="4674235" cy="3970020"/>
          </a:xfrm>
          <a:prstGeom prst="rect">
            <a:avLst/>
          </a:prstGeom>
          <a:ln w="9525">
            <a:solidFill>
              <a:srgbClr val="000000"/>
            </a:solidFill>
          </a:ln>
        </p:spPr>
        <p:txBody>
          <a:bodyPr vert="horz" wrap="square" lIns="0" tIns="31115" rIns="0" bIns="0" rtlCol="0">
            <a:spAutoFit/>
          </a:bodyPr>
          <a:lstStyle/>
          <a:p>
            <a:pPr marL="91440" marR="2581910">
              <a:lnSpc>
                <a:spcPct val="100000"/>
              </a:lnSpc>
              <a:spcBef>
                <a:spcPts val="245"/>
              </a:spcBef>
            </a:pPr>
            <a:r>
              <a:rPr sz="1800" dirty="0">
                <a:latin typeface="Calibri"/>
                <a:cs typeface="Calibri"/>
              </a:rPr>
              <a:t>#include</a:t>
            </a:r>
            <a:r>
              <a:rPr sz="1800" spc="-55" dirty="0">
                <a:latin typeface="Calibri"/>
                <a:cs typeface="Calibri"/>
              </a:rPr>
              <a:t> </a:t>
            </a:r>
            <a:r>
              <a:rPr sz="1800" spc="-10" dirty="0">
                <a:latin typeface="Calibri"/>
                <a:cs typeface="Calibri"/>
              </a:rPr>
              <a:t>&lt;iostream&gt; </a:t>
            </a:r>
            <a:r>
              <a:rPr sz="1800" dirty="0">
                <a:latin typeface="Calibri"/>
                <a:cs typeface="Calibri"/>
              </a:rPr>
              <a:t>#include</a:t>
            </a:r>
            <a:r>
              <a:rPr sz="1800" spc="-55" dirty="0">
                <a:latin typeface="Calibri"/>
                <a:cs typeface="Calibri"/>
              </a:rPr>
              <a:t> </a:t>
            </a:r>
            <a:r>
              <a:rPr sz="1800" spc="-10" dirty="0">
                <a:latin typeface="Calibri"/>
                <a:cs typeface="Calibri"/>
              </a:rPr>
              <a:t>&lt;algorithm&gt; </a:t>
            </a:r>
            <a:r>
              <a:rPr sz="1800" dirty="0">
                <a:latin typeface="Calibri"/>
                <a:cs typeface="Calibri"/>
              </a:rPr>
              <a:t>using</a:t>
            </a:r>
            <a:r>
              <a:rPr sz="1800" spc="-45" dirty="0">
                <a:latin typeface="Calibri"/>
                <a:cs typeface="Calibri"/>
              </a:rPr>
              <a:t> </a:t>
            </a:r>
            <a:r>
              <a:rPr sz="1800" dirty="0">
                <a:latin typeface="Calibri"/>
                <a:cs typeface="Calibri"/>
              </a:rPr>
              <a:t>namespace</a:t>
            </a:r>
            <a:r>
              <a:rPr sz="1800" spc="-50" dirty="0">
                <a:latin typeface="Calibri"/>
                <a:cs typeface="Calibri"/>
              </a:rPr>
              <a:t> </a:t>
            </a:r>
            <a:r>
              <a:rPr sz="1800" spc="-20" dirty="0">
                <a:latin typeface="Calibri"/>
                <a:cs typeface="Calibri"/>
              </a:rPr>
              <a:t>std;</a:t>
            </a:r>
            <a:endParaRPr sz="1800">
              <a:latin typeface="Calibri"/>
              <a:cs typeface="Calibri"/>
            </a:endParaRPr>
          </a:p>
          <a:p>
            <a:pPr marL="91440">
              <a:lnSpc>
                <a:spcPct val="100000"/>
              </a:lnSpc>
              <a:spcBef>
                <a:spcPts val="2165"/>
              </a:spcBef>
            </a:pPr>
            <a:r>
              <a:rPr sz="1800" dirty="0">
                <a:latin typeface="Calibri"/>
                <a:cs typeface="Calibri"/>
              </a:rPr>
              <a:t>int</a:t>
            </a:r>
            <a:r>
              <a:rPr sz="1800" spc="-10" dirty="0">
                <a:latin typeface="Calibri"/>
                <a:cs typeface="Calibri"/>
              </a:rPr>
              <a:t> </a:t>
            </a:r>
            <a:r>
              <a:rPr sz="1800" dirty="0">
                <a:latin typeface="Calibri"/>
                <a:cs typeface="Calibri"/>
              </a:rPr>
              <a:t>arr[]</a:t>
            </a:r>
            <a:r>
              <a:rPr sz="1800" spc="-15" dirty="0">
                <a:latin typeface="Calibri"/>
                <a:cs typeface="Calibri"/>
              </a:rPr>
              <a:t> </a:t>
            </a:r>
            <a:r>
              <a:rPr sz="1800" dirty="0">
                <a:latin typeface="Calibri"/>
                <a:cs typeface="Calibri"/>
              </a:rPr>
              <a:t>=</a:t>
            </a:r>
            <a:r>
              <a:rPr sz="1800" spc="-20" dirty="0">
                <a:latin typeface="Calibri"/>
                <a:cs typeface="Calibri"/>
              </a:rPr>
              <a:t> </a:t>
            </a:r>
            <a:r>
              <a:rPr sz="1800" dirty="0">
                <a:latin typeface="Calibri"/>
                <a:cs typeface="Calibri"/>
              </a:rPr>
              <a:t>{45,</a:t>
            </a:r>
            <a:r>
              <a:rPr sz="1800" spc="-10" dirty="0">
                <a:latin typeface="Calibri"/>
                <a:cs typeface="Calibri"/>
              </a:rPr>
              <a:t> </a:t>
            </a:r>
            <a:r>
              <a:rPr sz="1800" dirty="0">
                <a:latin typeface="Calibri"/>
                <a:cs typeface="Calibri"/>
              </a:rPr>
              <a:t>2,</a:t>
            </a:r>
            <a:r>
              <a:rPr sz="1800" spc="-20" dirty="0">
                <a:latin typeface="Calibri"/>
                <a:cs typeface="Calibri"/>
              </a:rPr>
              <a:t> </a:t>
            </a:r>
            <a:r>
              <a:rPr sz="1800" dirty="0">
                <a:latin typeface="Calibri"/>
                <a:cs typeface="Calibri"/>
              </a:rPr>
              <a:t>22,</a:t>
            </a:r>
            <a:r>
              <a:rPr sz="1800" spc="-10" dirty="0">
                <a:latin typeface="Calibri"/>
                <a:cs typeface="Calibri"/>
              </a:rPr>
              <a:t> </a:t>
            </a:r>
            <a:r>
              <a:rPr sz="1800" dirty="0">
                <a:latin typeface="Calibri"/>
                <a:cs typeface="Calibri"/>
              </a:rPr>
              <a:t>-17,</a:t>
            </a:r>
            <a:r>
              <a:rPr sz="1800" spc="-15" dirty="0">
                <a:latin typeface="Calibri"/>
                <a:cs typeface="Calibri"/>
              </a:rPr>
              <a:t> </a:t>
            </a:r>
            <a:r>
              <a:rPr sz="1800" dirty="0">
                <a:latin typeface="Calibri"/>
                <a:cs typeface="Calibri"/>
              </a:rPr>
              <a:t>0,</a:t>
            </a:r>
            <a:r>
              <a:rPr sz="1800" spc="-20" dirty="0">
                <a:latin typeface="Calibri"/>
                <a:cs typeface="Calibri"/>
              </a:rPr>
              <a:t> </a:t>
            </a:r>
            <a:r>
              <a:rPr sz="1800" dirty="0">
                <a:latin typeface="Calibri"/>
                <a:cs typeface="Calibri"/>
              </a:rPr>
              <a:t>-30,</a:t>
            </a:r>
            <a:r>
              <a:rPr sz="1800" spc="-20" dirty="0">
                <a:latin typeface="Calibri"/>
                <a:cs typeface="Calibri"/>
              </a:rPr>
              <a:t> </a:t>
            </a:r>
            <a:r>
              <a:rPr sz="1800" dirty="0">
                <a:latin typeface="Calibri"/>
                <a:cs typeface="Calibri"/>
              </a:rPr>
              <a:t>25,</a:t>
            </a:r>
            <a:r>
              <a:rPr sz="1800" spc="-15" dirty="0">
                <a:latin typeface="Calibri"/>
                <a:cs typeface="Calibri"/>
              </a:rPr>
              <a:t> </a:t>
            </a:r>
            <a:r>
              <a:rPr sz="1800" spc="-20" dirty="0">
                <a:latin typeface="Calibri"/>
                <a:cs typeface="Calibri"/>
              </a:rPr>
              <a:t>55};</a:t>
            </a:r>
            <a:endParaRPr sz="1800">
              <a:latin typeface="Calibri"/>
              <a:cs typeface="Calibri"/>
            </a:endParaRPr>
          </a:p>
          <a:p>
            <a:pPr marL="91440">
              <a:lnSpc>
                <a:spcPct val="100000"/>
              </a:lnSpc>
            </a:pPr>
            <a:r>
              <a:rPr sz="1800" dirty="0">
                <a:latin typeface="Calibri"/>
                <a:cs typeface="Calibri"/>
              </a:rPr>
              <a:t>int</a:t>
            </a:r>
            <a:r>
              <a:rPr sz="1800" spc="-20" dirty="0">
                <a:latin typeface="Calibri"/>
                <a:cs typeface="Calibri"/>
              </a:rPr>
              <a:t> </a:t>
            </a:r>
            <a:r>
              <a:rPr sz="1800" spc="-10" dirty="0">
                <a:latin typeface="Calibri"/>
                <a:cs typeface="Calibri"/>
              </a:rPr>
              <a:t>main()</a:t>
            </a:r>
            <a:endParaRPr sz="1800">
              <a:latin typeface="Calibri"/>
              <a:cs typeface="Calibri"/>
            </a:endParaRPr>
          </a:p>
          <a:p>
            <a:pPr marL="91440">
              <a:lnSpc>
                <a:spcPct val="100000"/>
              </a:lnSpc>
            </a:pPr>
            <a:r>
              <a:rPr sz="1800" spc="-50" dirty="0">
                <a:latin typeface="Calibri"/>
                <a:cs typeface="Calibri"/>
              </a:rPr>
              <a:t>{</a:t>
            </a:r>
            <a:endParaRPr sz="1800">
              <a:latin typeface="Calibri"/>
              <a:cs typeface="Calibri"/>
            </a:endParaRPr>
          </a:p>
          <a:p>
            <a:pPr marL="405130" marR="2475230">
              <a:lnSpc>
                <a:spcPct val="100000"/>
              </a:lnSpc>
            </a:pPr>
            <a:r>
              <a:rPr sz="1800" spc="-20" dirty="0">
                <a:latin typeface="Calibri"/>
                <a:cs typeface="Calibri"/>
              </a:rPr>
              <a:t>sort(arr,</a:t>
            </a:r>
            <a:r>
              <a:rPr sz="1800" spc="-5" dirty="0">
                <a:latin typeface="Calibri"/>
                <a:cs typeface="Calibri"/>
              </a:rPr>
              <a:t> </a:t>
            </a:r>
            <a:r>
              <a:rPr sz="1800" spc="-10" dirty="0">
                <a:latin typeface="Calibri"/>
                <a:cs typeface="Calibri"/>
              </a:rPr>
              <a:t>arr+8); </a:t>
            </a:r>
            <a:r>
              <a:rPr sz="1800" dirty="0">
                <a:latin typeface="Calibri"/>
                <a:cs typeface="Calibri"/>
              </a:rPr>
              <a:t>for(int</a:t>
            </a:r>
            <a:r>
              <a:rPr sz="1800" spc="-40" dirty="0">
                <a:latin typeface="Calibri"/>
                <a:cs typeface="Calibri"/>
              </a:rPr>
              <a:t> </a:t>
            </a:r>
            <a:r>
              <a:rPr sz="1800" dirty="0">
                <a:latin typeface="Calibri"/>
                <a:cs typeface="Calibri"/>
              </a:rPr>
              <a:t>j=0;</a:t>
            </a:r>
            <a:r>
              <a:rPr sz="1800" spc="-55" dirty="0">
                <a:latin typeface="Calibri"/>
                <a:cs typeface="Calibri"/>
              </a:rPr>
              <a:t> </a:t>
            </a:r>
            <a:r>
              <a:rPr sz="1800" dirty="0">
                <a:latin typeface="Calibri"/>
                <a:cs typeface="Calibri"/>
              </a:rPr>
              <a:t>j&lt;8;</a:t>
            </a:r>
            <a:r>
              <a:rPr sz="1800" spc="-50" dirty="0">
                <a:latin typeface="Calibri"/>
                <a:cs typeface="Calibri"/>
              </a:rPr>
              <a:t> </a:t>
            </a:r>
            <a:r>
              <a:rPr sz="1800" spc="-20" dirty="0">
                <a:latin typeface="Calibri"/>
                <a:cs typeface="Calibri"/>
              </a:rPr>
              <a:t>j++)</a:t>
            </a:r>
            <a:endParaRPr sz="1800">
              <a:latin typeface="Calibri"/>
              <a:cs typeface="Calibri"/>
            </a:endParaRPr>
          </a:p>
          <a:p>
            <a:pPr marL="719455">
              <a:lnSpc>
                <a:spcPct val="100000"/>
              </a:lnSpc>
            </a:pPr>
            <a:r>
              <a:rPr sz="1800" dirty="0">
                <a:latin typeface="Calibri"/>
                <a:cs typeface="Calibri"/>
              </a:rPr>
              <a:t>cout</a:t>
            </a:r>
            <a:r>
              <a:rPr sz="1800" spc="-15" dirty="0">
                <a:latin typeface="Calibri"/>
                <a:cs typeface="Calibri"/>
              </a:rPr>
              <a:t> </a:t>
            </a:r>
            <a:r>
              <a:rPr sz="1800" dirty="0">
                <a:latin typeface="Calibri"/>
                <a:cs typeface="Calibri"/>
              </a:rPr>
              <a:t>&lt;&lt;</a:t>
            </a:r>
            <a:r>
              <a:rPr sz="1800" spc="-5" dirty="0">
                <a:latin typeface="Calibri"/>
                <a:cs typeface="Calibri"/>
              </a:rPr>
              <a:t> </a:t>
            </a:r>
            <a:r>
              <a:rPr sz="1800" dirty="0">
                <a:latin typeface="Calibri"/>
                <a:cs typeface="Calibri"/>
              </a:rPr>
              <a:t>arr[j]</a:t>
            </a:r>
            <a:r>
              <a:rPr sz="1800" spc="-35" dirty="0">
                <a:latin typeface="Calibri"/>
                <a:cs typeface="Calibri"/>
              </a:rPr>
              <a:t> </a:t>
            </a:r>
            <a:r>
              <a:rPr sz="1800" dirty="0">
                <a:latin typeface="Calibri"/>
                <a:cs typeface="Calibri"/>
              </a:rPr>
              <a:t>&lt;&lt;</a:t>
            </a:r>
            <a:r>
              <a:rPr sz="1800" spc="-10" dirty="0">
                <a:latin typeface="Calibri"/>
                <a:cs typeface="Calibri"/>
              </a:rPr>
              <a:t> </a:t>
            </a:r>
            <a:r>
              <a:rPr sz="1800" dirty="0">
                <a:latin typeface="Calibri"/>
                <a:cs typeface="Calibri"/>
              </a:rPr>
              <a:t>‘</a:t>
            </a:r>
            <a:r>
              <a:rPr sz="1800" spc="-15" dirty="0">
                <a:latin typeface="Calibri"/>
                <a:cs typeface="Calibri"/>
              </a:rPr>
              <a:t> </a:t>
            </a:r>
            <a:r>
              <a:rPr sz="1800" spc="-25" dirty="0">
                <a:latin typeface="Calibri"/>
                <a:cs typeface="Calibri"/>
              </a:rPr>
              <a:t>‘;</a:t>
            </a:r>
            <a:endParaRPr sz="1800">
              <a:latin typeface="Calibri"/>
              <a:cs typeface="Calibri"/>
            </a:endParaRPr>
          </a:p>
          <a:p>
            <a:pPr marL="405130" marR="3045460">
              <a:lnSpc>
                <a:spcPct val="100000"/>
              </a:lnSpc>
            </a:pPr>
            <a:r>
              <a:rPr sz="1800" dirty="0">
                <a:latin typeface="Calibri"/>
                <a:cs typeface="Calibri"/>
              </a:rPr>
              <a:t>cout</a:t>
            </a:r>
            <a:r>
              <a:rPr sz="1800" spc="-30" dirty="0">
                <a:latin typeface="Calibri"/>
                <a:cs typeface="Calibri"/>
              </a:rPr>
              <a:t> </a:t>
            </a:r>
            <a:r>
              <a:rPr sz="1800" dirty="0">
                <a:latin typeface="Calibri"/>
                <a:cs typeface="Calibri"/>
              </a:rPr>
              <a:t>&lt;&lt;</a:t>
            </a:r>
            <a:r>
              <a:rPr sz="1800" spc="-20" dirty="0">
                <a:latin typeface="Calibri"/>
                <a:cs typeface="Calibri"/>
              </a:rPr>
              <a:t> endl; </a:t>
            </a:r>
            <a:r>
              <a:rPr sz="1800" dirty="0">
                <a:latin typeface="Calibri"/>
                <a:cs typeface="Calibri"/>
              </a:rPr>
              <a:t>return</a:t>
            </a:r>
            <a:r>
              <a:rPr sz="1800" spc="-90" dirty="0">
                <a:latin typeface="Calibri"/>
                <a:cs typeface="Calibri"/>
              </a:rPr>
              <a:t> </a:t>
            </a:r>
            <a:r>
              <a:rPr sz="1800" spc="-25" dirty="0">
                <a:latin typeface="Calibri"/>
                <a:cs typeface="Calibri"/>
              </a:rPr>
              <a:t>0;</a:t>
            </a:r>
            <a:endParaRPr sz="1800">
              <a:latin typeface="Calibri"/>
              <a:cs typeface="Calibri"/>
            </a:endParaRPr>
          </a:p>
          <a:p>
            <a:pPr marL="91440">
              <a:lnSpc>
                <a:spcPct val="100000"/>
              </a:lnSpc>
              <a:spcBef>
                <a:spcPts val="5"/>
              </a:spcBef>
            </a:pPr>
            <a:r>
              <a:rPr sz="1800" spc="-50" dirty="0">
                <a:latin typeface="Calibri"/>
                <a:cs typeface="Calibri"/>
              </a:rPr>
              <a:t>}</a:t>
            </a:r>
            <a:endParaRPr sz="1800">
              <a:latin typeface="Calibri"/>
              <a:cs typeface="Calibri"/>
            </a:endParaRPr>
          </a:p>
          <a:p>
            <a:pPr marL="91440">
              <a:lnSpc>
                <a:spcPct val="100000"/>
              </a:lnSpc>
              <a:spcBef>
                <a:spcPts val="10"/>
              </a:spcBef>
            </a:pPr>
            <a:r>
              <a:rPr sz="1800" dirty="0">
                <a:latin typeface="Calibri"/>
                <a:cs typeface="Calibri"/>
              </a:rPr>
              <a:t>Output:</a:t>
            </a:r>
            <a:r>
              <a:rPr sz="1800" spc="-20" dirty="0">
                <a:latin typeface="Calibri"/>
                <a:cs typeface="Calibri"/>
              </a:rPr>
              <a:t> </a:t>
            </a:r>
            <a:r>
              <a:rPr sz="1800" dirty="0">
                <a:latin typeface="Calibri"/>
                <a:cs typeface="Calibri"/>
              </a:rPr>
              <a:t>-30,</a:t>
            </a:r>
            <a:r>
              <a:rPr sz="1800" spc="-20" dirty="0">
                <a:latin typeface="Calibri"/>
                <a:cs typeface="Calibri"/>
              </a:rPr>
              <a:t> </a:t>
            </a:r>
            <a:r>
              <a:rPr sz="1800" dirty="0">
                <a:latin typeface="Calibri"/>
                <a:cs typeface="Calibri"/>
              </a:rPr>
              <a:t>-17,</a:t>
            </a:r>
            <a:r>
              <a:rPr sz="1800" spc="-25" dirty="0">
                <a:latin typeface="Calibri"/>
                <a:cs typeface="Calibri"/>
              </a:rPr>
              <a:t> </a:t>
            </a:r>
            <a:r>
              <a:rPr sz="1800" dirty="0">
                <a:latin typeface="Calibri"/>
                <a:cs typeface="Calibri"/>
              </a:rPr>
              <a:t>0,</a:t>
            </a:r>
            <a:r>
              <a:rPr sz="1800" spc="-25" dirty="0">
                <a:latin typeface="Calibri"/>
                <a:cs typeface="Calibri"/>
              </a:rPr>
              <a:t> </a:t>
            </a:r>
            <a:r>
              <a:rPr sz="1800" dirty="0">
                <a:latin typeface="Calibri"/>
                <a:cs typeface="Calibri"/>
              </a:rPr>
              <a:t>2,</a:t>
            </a:r>
            <a:r>
              <a:rPr sz="1800" spc="-25" dirty="0">
                <a:latin typeface="Calibri"/>
                <a:cs typeface="Calibri"/>
              </a:rPr>
              <a:t> </a:t>
            </a:r>
            <a:r>
              <a:rPr sz="1800" dirty="0">
                <a:latin typeface="Calibri"/>
                <a:cs typeface="Calibri"/>
              </a:rPr>
              <a:t>22,</a:t>
            </a:r>
            <a:r>
              <a:rPr sz="1800" spc="-25" dirty="0">
                <a:latin typeface="Calibri"/>
                <a:cs typeface="Calibri"/>
              </a:rPr>
              <a:t> </a:t>
            </a:r>
            <a:r>
              <a:rPr sz="1800" dirty="0">
                <a:latin typeface="Calibri"/>
                <a:cs typeface="Calibri"/>
              </a:rPr>
              <a:t>25,</a:t>
            </a:r>
            <a:r>
              <a:rPr sz="1800" spc="-25" dirty="0">
                <a:latin typeface="Calibri"/>
                <a:cs typeface="Calibri"/>
              </a:rPr>
              <a:t> </a:t>
            </a:r>
            <a:r>
              <a:rPr sz="1800" dirty="0">
                <a:latin typeface="Calibri"/>
                <a:cs typeface="Calibri"/>
              </a:rPr>
              <a:t>45,</a:t>
            </a:r>
            <a:r>
              <a:rPr sz="1800" spc="-25" dirty="0">
                <a:latin typeface="Calibri"/>
                <a:cs typeface="Calibri"/>
              </a:rPr>
              <a:t> 55</a:t>
            </a:r>
            <a:endParaRPr sz="1800">
              <a:latin typeface="Calibri"/>
              <a:cs typeface="Calibri"/>
            </a:endParaRPr>
          </a:p>
        </p:txBody>
      </p:sp>
      <p:sp>
        <p:nvSpPr>
          <p:cNvPr id="5" name="object 5"/>
          <p:cNvSpPr txBox="1"/>
          <p:nvPr/>
        </p:nvSpPr>
        <p:spPr>
          <a:xfrm>
            <a:off x="6426708" y="2267711"/>
            <a:ext cx="4927600" cy="3970020"/>
          </a:xfrm>
          <a:prstGeom prst="rect">
            <a:avLst/>
          </a:prstGeom>
          <a:ln w="9525">
            <a:solidFill>
              <a:srgbClr val="000000"/>
            </a:solidFill>
          </a:ln>
        </p:spPr>
        <p:txBody>
          <a:bodyPr vert="horz" wrap="square" lIns="0" tIns="31115" rIns="0" bIns="0" rtlCol="0">
            <a:spAutoFit/>
          </a:bodyPr>
          <a:lstStyle/>
          <a:p>
            <a:pPr marL="92710" marR="2833370">
              <a:lnSpc>
                <a:spcPct val="100000"/>
              </a:lnSpc>
              <a:spcBef>
                <a:spcPts val="245"/>
              </a:spcBef>
            </a:pPr>
            <a:r>
              <a:rPr sz="1800" dirty="0">
                <a:latin typeface="Calibri"/>
                <a:cs typeface="Calibri"/>
              </a:rPr>
              <a:t>#include</a:t>
            </a:r>
            <a:r>
              <a:rPr sz="1800" spc="-55" dirty="0">
                <a:latin typeface="Calibri"/>
                <a:cs typeface="Calibri"/>
              </a:rPr>
              <a:t> </a:t>
            </a:r>
            <a:r>
              <a:rPr sz="1800" spc="-10" dirty="0">
                <a:latin typeface="Calibri"/>
                <a:cs typeface="Calibri"/>
              </a:rPr>
              <a:t>&lt;iostream&gt; </a:t>
            </a:r>
            <a:r>
              <a:rPr sz="1800" dirty="0">
                <a:latin typeface="Calibri"/>
                <a:cs typeface="Calibri"/>
              </a:rPr>
              <a:t>#include</a:t>
            </a:r>
            <a:r>
              <a:rPr sz="1800" spc="-55" dirty="0">
                <a:latin typeface="Calibri"/>
                <a:cs typeface="Calibri"/>
              </a:rPr>
              <a:t> </a:t>
            </a:r>
            <a:r>
              <a:rPr sz="1800" spc="-10" dirty="0">
                <a:latin typeface="Calibri"/>
                <a:cs typeface="Calibri"/>
              </a:rPr>
              <a:t>&lt;algorithm&gt; </a:t>
            </a:r>
            <a:r>
              <a:rPr sz="1800" dirty="0">
                <a:latin typeface="Calibri"/>
                <a:cs typeface="Calibri"/>
              </a:rPr>
              <a:t>using</a:t>
            </a:r>
            <a:r>
              <a:rPr sz="1800" spc="-45" dirty="0">
                <a:latin typeface="Calibri"/>
                <a:cs typeface="Calibri"/>
              </a:rPr>
              <a:t> </a:t>
            </a:r>
            <a:r>
              <a:rPr sz="1800" dirty="0">
                <a:latin typeface="Calibri"/>
                <a:cs typeface="Calibri"/>
              </a:rPr>
              <a:t>namespace</a:t>
            </a:r>
            <a:r>
              <a:rPr sz="1800" spc="-50" dirty="0">
                <a:latin typeface="Calibri"/>
                <a:cs typeface="Calibri"/>
              </a:rPr>
              <a:t> </a:t>
            </a:r>
            <a:r>
              <a:rPr sz="1800" spc="-20" dirty="0">
                <a:latin typeface="Calibri"/>
                <a:cs typeface="Calibri"/>
              </a:rPr>
              <a:t>std;</a:t>
            </a:r>
            <a:endParaRPr sz="1800">
              <a:latin typeface="Calibri"/>
              <a:cs typeface="Calibri"/>
            </a:endParaRPr>
          </a:p>
          <a:p>
            <a:pPr marL="92710">
              <a:lnSpc>
                <a:spcPct val="100000"/>
              </a:lnSpc>
              <a:spcBef>
                <a:spcPts val="2165"/>
              </a:spcBef>
            </a:pPr>
            <a:r>
              <a:rPr sz="1800" dirty="0">
                <a:latin typeface="Calibri"/>
                <a:cs typeface="Calibri"/>
              </a:rPr>
              <a:t>int</a:t>
            </a:r>
            <a:r>
              <a:rPr sz="1800" spc="-10" dirty="0">
                <a:latin typeface="Calibri"/>
                <a:cs typeface="Calibri"/>
              </a:rPr>
              <a:t> </a:t>
            </a:r>
            <a:r>
              <a:rPr sz="1800" dirty="0">
                <a:latin typeface="Calibri"/>
                <a:cs typeface="Calibri"/>
              </a:rPr>
              <a:t>arr[]</a:t>
            </a:r>
            <a:r>
              <a:rPr sz="1800" spc="-15" dirty="0">
                <a:latin typeface="Calibri"/>
                <a:cs typeface="Calibri"/>
              </a:rPr>
              <a:t> </a:t>
            </a:r>
            <a:r>
              <a:rPr sz="1800" dirty="0">
                <a:latin typeface="Calibri"/>
                <a:cs typeface="Calibri"/>
              </a:rPr>
              <a:t>=</a:t>
            </a:r>
            <a:r>
              <a:rPr sz="1800" spc="-15" dirty="0">
                <a:latin typeface="Calibri"/>
                <a:cs typeface="Calibri"/>
              </a:rPr>
              <a:t> </a:t>
            </a:r>
            <a:r>
              <a:rPr sz="1800" dirty="0">
                <a:latin typeface="Calibri"/>
                <a:cs typeface="Calibri"/>
              </a:rPr>
              <a:t>{</a:t>
            </a:r>
            <a:r>
              <a:rPr sz="1800" spc="-15" dirty="0">
                <a:latin typeface="Calibri"/>
                <a:cs typeface="Calibri"/>
              </a:rPr>
              <a:t> </a:t>
            </a:r>
            <a:r>
              <a:rPr sz="1800" dirty="0">
                <a:latin typeface="Calibri"/>
                <a:cs typeface="Calibri"/>
              </a:rPr>
              <a:t>1,</a:t>
            </a:r>
            <a:r>
              <a:rPr sz="1800" spc="-10" dirty="0">
                <a:latin typeface="Calibri"/>
                <a:cs typeface="Calibri"/>
              </a:rPr>
              <a:t> </a:t>
            </a:r>
            <a:r>
              <a:rPr sz="1800" dirty="0">
                <a:latin typeface="Calibri"/>
                <a:cs typeface="Calibri"/>
              </a:rPr>
              <a:t>5,</a:t>
            </a:r>
            <a:r>
              <a:rPr sz="1800" spc="-15" dirty="0">
                <a:latin typeface="Calibri"/>
                <a:cs typeface="Calibri"/>
              </a:rPr>
              <a:t> </a:t>
            </a:r>
            <a:r>
              <a:rPr sz="1800" dirty="0">
                <a:latin typeface="Calibri"/>
                <a:cs typeface="Calibri"/>
              </a:rPr>
              <a:t>8,</a:t>
            </a:r>
            <a:r>
              <a:rPr sz="1800" spc="-10" dirty="0">
                <a:latin typeface="Calibri"/>
                <a:cs typeface="Calibri"/>
              </a:rPr>
              <a:t> </a:t>
            </a:r>
            <a:r>
              <a:rPr sz="1800" dirty="0">
                <a:latin typeface="Calibri"/>
                <a:cs typeface="Calibri"/>
              </a:rPr>
              <a:t>9,</a:t>
            </a:r>
            <a:r>
              <a:rPr sz="1800" spc="-15" dirty="0">
                <a:latin typeface="Calibri"/>
                <a:cs typeface="Calibri"/>
              </a:rPr>
              <a:t> </a:t>
            </a:r>
            <a:r>
              <a:rPr sz="1800" dirty="0">
                <a:latin typeface="Calibri"/>
                <a:cs typeface="Calibri"/>
              </a:rPr>
              <a:t>6,</a:t>
            </a:r>
            <a:r>
              <a:rPr sz="1800" spc="-10" dirty="0">
                <a:latin typeface="Calibri"/>
                <a:cs typeface="Calibri"/>
              </a:rPr>
              <a:t> </a:t>
            </a:r>
            <a:r>
              <a:rPr sz="1800" dirty="0">
                <a:latin typeface="Calibri"/>
                <a:cs typeface="Calibri"/>
              </a:rPr>
              <a:t>7,</a:t>
            </a:r>
            <a:r>
              <a:rPr sz="1800" spc="-15" dirty="0">
                <a:latin typeface="Calibri"/>
                <a:cs typeface="Calibri"/>
              </a:rPr>
              <a:t> </a:t>
            </a:r>
            <a:r>
              <a:rPr sz="1800" dirty="0">
                <a:latin typeface="Calibri"/>
                <a:cs typeface="Calibri"/>
              </a:rPr>
              <a:t>3,</a:t>
            </a:r>
            <a:r>
              <a:rPr sz="1800" spc="-10" dirty="0">
                <a:latin typeface="Calibri"/>
                <a:cs typeface="Calibri"/>
              </a:rPr>
              <a:t> </a:t>
            </a:r>
            <a:r>
              <a:rPr sz="1800" dirty="0">
                <a:latin typeface="Calibri"/>
                <a:cs typeface="Calibri"/>
              </a:rPr>
              <a:t>4,</a:t>
            </a:r>
            <a:r>
              <a:rPr sz="1800" spc="-15" dirty="0">
                <a:latin typeface="Calibri"/>
                <a:cs typeface="Calibri"/>
              </a:rPr>
              <a:t> </a:t>
            </a:r>
            <a:r>
              <a:rPr sz="1800" dirty="0">
                <a:latin typeface="Calibri"/>
                <a:cs typeface="Calibri"/>
              </a:rPr>
              <a:t>2,</a:t>
            </a:r>
            <a:r>
              <a:rPr sz="1800" spc="-10" dirty="0">
                <a:latin typeface="Calibri"/>
                <a:cs typeface="Calibri"/>
              </a:rPr>
              <a:t> </a:t>
            </a:r>
            <a:r>
              <a:rPr sz="1800" dirty="0">
                <a:latin typeface="Calibri"/>
                <a:cs typeface="Calibri"/>
              </a:rPr>
              <a:t>0</a:t>
            </a:r>
            <a:r>
              <a:rPr sz="1800" spc="-15" dirty="0">
                <a:latin typeface="Calibri"/>
                <a:cs typeface="Calibri"/>
              </a:rPr>
              <a:t> </a:t>
            </a:r>
            <a:r>
              <a:rPr sz="1800" spc="-25" dirty="0">
                <a:latin typeface="Calibri"/>
                <a:cs typeface="Calibri"/>
              </a:rPr>
              <a:t>};</a:t>
            </a:r>
            <a:endParaRPr sz="1800">
              <a:latin typeface="Calibri"/>
              <a:cs typeface="Calibri"/>
            </a:endParaRPr>
          </a:p>
          <a:p>
            <a:pPr marL="92710">
              <a:lnSpc>
                <a:spcPct val="100000"/>
              </a:lnSpc>
            </a:pPr>
            <a:r>
              <a:rPr sz="1800" dirty="0">
                <a:latin typeface="Calibri"/>
                <a:cs typeface="Calibri"/>
              </a:rPr>
              <a:t>int</a:t>
            </a:r>
            <a:r>
              <a:rPr sz="1800" spc="-20" dirty="0">
                <a:latin typeface="Calibri"/>
                <a:cs typeface="Calibri"/>
              </a:rPr>
              <a:t> </a:t>
            </a:r>
            <a:r>
              <a:rPr sz="1800" spc="-10" dirty="0">
                <a:latin typeface="Calibri"/>
                <a:cs typeface="Calibri"/>
              </a:rPr>
              <a:t>main()</a:t>
            </a:r>
            <a:endParaRPr sz="1800">
              <a:latin typeface="Calibri"/>
              <a:cs typeface="Calibri"/>
            </a:endParaRPr>
          </a:p>
          <a:p>
            <a:pPr marL="92710">
              <a:lnSpc>
                <a:spcPct val="100000"/>
              </a:lnSpc>
            </a:pPr>
            <a:r>
              <a:rPr sz="1800" spc="-50" dirty="0">
                <a:latin typeface="Calibri"/>
                <a:cs typeface="Calibri"/>
              </a:rPr>
              <a:t>{</a:t>
            </a:r>
            <a:endParaRPr sz="1800">
              <a:latin typeface="Calibri"/>
              <a:cs typeface="Calibri"/>
            </a:endParaRPr>
          </a:p>
          <a:p>
            <a:pPr marL="406400" marR="1524000">
              <a:lnSpc>
                <a:spcPct val="100000"/>
              </a:lnSpc>
            </a:pPr>
            <a:r>
              <a:rPr sz="1800" spc="-20" dirty="0">
                <a:latin typeface="Calibri"/>
                <a:cs typeface="Calibri"/>
              </a:rPr>
              <a:t>sort(arr,</a:t>
            </a:r>
            <a:r>
              <a:rPr sz="1800" spc="-30" dirty="0">
                <a:latin typeface="Calibri"/>
                <a:cs typeface="Calibri"/>
              </a:rPr>
              <a:t> </a:t>
            </a:r>
            <a:r>
              <a:rPr sz="1800" dirty="0">
                <a:latin typeface="Calibri"/>
                <a:cs typeface="Calibri"/>
              </a:rPr>
              <a:t>arr+10,</a:t>
            </a:r>
            <a:r>
              <a:rPr sz="1800" spc="-40" dirty="0">
                <a:latin typeface="Calibri"/>
                <a:cs typeface="Calibri"/>
              </a:rPr>
              <a:t> </a:t>
            </a:r>
            <a:r>
              <a:rPr sz="1800" spc="-10" dirty="0">
                <a:latin typeface="Calibri"/>
                <a:cs typeface="Calibri"/>
              </a:rPr>
              <a:t>greater&lt;int&gt;()</a:t>
            </a:r>
            <a:r>
              <a:rPr sz="1800" spc="-35" dirty="0">
                <a:latin typeface="Calibri"/>
                <a:cs typeface="Calibri"/>
              </a:rPr>
              <a:t> </a:t>
            </a:r>
            <a:r>
              <a:rPr sz="1800" spc="-25" dirty="0">
                <a:latin typeface="Calibri"/>
                <a:cs typeface="Calibri"/>
              </a:rPr>
              <a:t>); </a:t>
            </a:r>
            <a:r>
              <a:rPr sz="1800" dirty="0">
                <a:latin typeface="Calibri"/>
                <a:cs typeface="Calibri"/>
              </a:rPr>
              <a:t>for(int</a:t>
            </a:r>
            <a:r>
              <a:rPr sz="1800" spc="-45" dirty="0">
                <a:latin typeface="Calibri"/>
                <a:cs typeface="Calibri"/>
              </a:rPr>
              <a:t> </a:t>
            </a:r>
            <a:r>
              <a:rPr sz="1800" dirty="0">
                <a:latin typeface="Calibri"/>
                <a:cs typeface="Calibri"/>
              </a:rPr>
              <a:t>j=0;</a:t>
            </a:r>
            <a:r>
              <a:rPr sz="1800" spc="-55" dirty="0">
                <a:latin typeface="Calibri"/>
                <a:cs typeface="Calibri"/>
              </a:rPr>
              <a:t> </a:t>
            </a:r>
            <a:r>
              <a:rPr sz="1800" dirty="0">
                <a:latin typeface="Calibri"/>
                <a:cs typeface="Calibri"/>
              </a:rPr>
              <a:t>j&lt;10;</a:t>
            </a:r>
            <a:r>
              <a:rPr sz="1800" spc="-45" dirty="0">
                <a:latin typeface="Calibri"/>
                <a:cs typeface="Calibri"/>
              </a:rPr>
              <a:t> </a:t>
            </a:r>
            <a:r>
              <a:rPr sz="1800" spc="-20" dirty="0">
                <a:latin typeface="Calibri"/>
                <a:cs typeface="Calibri"/>
              </a:rPr>
              <a:t>j++)</a:t>
            </a:r>
            <a:endParaRPr sz="1800">
              <a:latin typeface="Calibri"/>
              <a:cs typeface="Calibri"/>
            </a:endParaRPr>
          </a:p>
          <a:p>
            <a:pPr marL="720725">
              <a:lnSpc>
                <a:spcPct val="100000"/>
              </a:lnSpc>
            </a:pPr>
            <a:r>
              <a:rPr sz="1800" dirty="0">
                <a:latin typeface="Calibri"/>
                <a:cs typeface="Calibri"/>
              </a:rPr>
              <a:t>cout</a:t>
            </a:r>
            <a:r>
              <a:rPr sz="1800" spc="-15" dirty="0">
                <a:latin typeface="Calibri"/>
                <a:cs typeface="Calibri"/>
              </a:rPr>
              <a:t> </a:t>
            </a:r>
            <a:r>
              <a:rPr sz="1800" dirty="0">
                <a:latin typeface="Calibri"/>
                <a:cs typeface="Calibri"/>
              </a:rPr>
              <a:t>&lt;&lt;</a:t>
            </a:r>
            <a:r>
              <a:rPr sz="1800" spc="-5" dirty="0">
                <a:latin typeface="Calibri"/>
                <a:cs typeface="Calibri"/>
              </a:rPr>
              <a:t> </a:t>
            </a:r>
            <a:r>
              <a:rPr sz="1800" dirty="0">
                <a:latin typeface="Calibri"/>
                <a:cs typeface="Calibri"/>
              </a:rPr>
              <a:t>arr[j]</a:t>
            </a:r>
            <a:r>
              <a:rPr sz="1800" spc="-35" dirty="0">
                <a:latin typeface="Calibri"/>
                <a:cs typeface="Calibri"/>
              </a:rPr>
              <a:t> </a:t>
            </a:r>
            <a:r>
              <a:rPr sz="1800" dirty="0">
                <a:latin typeface="Calibri"/>
                <a:cs typeface="Calibri"/>
              </a:rPr>
              <a:t>&lt;&lt;</a:t>
            </a:r>
            <a:r>
              <a:rPr sz="1800" spc="-10" dirty="0">
                <a:latin typeface="Calibri"/>
                <a:cs typeface="Calibri"/>
              </a:rPr>
              <a:t> </a:t>
            </a:r>
            <a:r>
              <a:rPr sz="1800" dirty="0">
                <a:latin typeface="Calibri"/>
                <a:cs typeface="Calibri"/>
              </a:rPr>
              <a:t>‘</a:t>
            </a:r>
            <a:r>
              <a:rPr sz="1800" spc="-15" dirty="0">
                <a:latin typeface="Calibri"/>
                <a:cs typeface="Calibri"/>
              </a:rPr>
              <a:t> </a:t>
            </a:r>
            <a:r>
              <a:rPr sz="1800" spc="-25" dirty="0">
                <a:latin typeface="Calibri"/>
                <a:cs typeface="Calibri"/>
              </a:rPr>
              <a:t>‘;</a:t>
            </a:r>
            <a:endParaRPr sz="1800">
              <a:latin typeface="Calibri"/>
              <a:cs typeface="Calibri"/>
            </a:endParaRPr>
          </a:p>
          <a:p>
            <a:pPr marL="406400" marR="3297554">
              <a:lnSpc>
                <a:spcPct val="100000"/>
              </a:lnSpc>
            </a:pPr>
            <a:r>
              <a:rPr sz="1800" dirty="0">
                <a:latin typeface="Calibri"/>
                <a:cs typeface="Calibri"/>
              </a:rPr>
              <a:t>cout</a:t>
            </a:r>
            <a:r>
              <a:rPr sz="1800" spc="-30" dirty="0">
                <a:latin typeface="Calibri"/>
                <a:cs typeface="Calibri"/>
              </a:rPr>
              <a:t> </a:t>
            </a:r>
            <a:r>
              <a:rPr sz="1800" dirty="0">
                <a:latin typeface="Calibri"/>
                <a:cs typeface="Calibri"/>
              </a:rPr>
              <a:t>&lt;&lt;</a:t>
            </a:r>
            <a:r>
              <a:rPr sz="1800" spc="-20" dirty="0">
                <a:latin typeface="Calibri"/>
                <a:cs typeface="Calibri"/>
              </a:rPr>
              <a:t> endl; </a:t>
            </a:r>
            <a:r>
              <a:rPr sz="1800" dirty="0">
                <a:latin typeface="Calibri"/>
                <a:cs typeface="Calibri"/>
              </a:rPr>
              <a:t>return</a:t>
            </a:r>
            <a:r>
              <a:rPr sz="1800" spc="-90" dirty="0">
                <a:latin typeface="Calibri"/>
                <a:cs typeface="Calibri"/>
              </a:rPr>
              <a:t> </a:t>
            </a:r>
            <a:r>
              <a:rPr sz="1800" spc="-25" dirty="0">
                <a:latin typeface="Calibri"/>
                <a:cs typeface="Calibri"/>
              </a:rPr>
              <a:t>0;</a:t>
            </a:r>
            <a:endParaRPr sz="1800">
              <a:latin typeface="Calibri"/>
              <a:cs typeface="Calibri"/>
            </a:endParaRPr>
          </a:p>
          <a:p>
            <a:pPr marL="92710">
              <a:lnSpc>
                <a:spcPct val="100000"/>
              </a:lnSpc>
              <a:spcBef>
                <a:spcPts val="5"/>
              </a:spcBef>
            </a:pPr>
            <a:r>
              <a:rPr sz="1800" spc="-50" dirty="0">
                <a:latin typeface="Calibri"/>
                <a:cs typeface="Calibri"/>
              </a:rPr>
              <a:t>}</a:t>
            </a:r>
            <a:endParaRPr sz="1800">
              <a:latin typeface="Calibri"/>
              <a:cs typeface="Calibri"/>
            </a:endParaRPr>
          </a:p>
          <a:p>
            <a:pPr marL="92710">
              <a:lnSpc>
                <a:spcPct val="100000"/>
              </a:lnSpc>
              <a:spcBef>
                <a:spcPts val="10"/>
              </a:spcBef>
            </a:pPr>
            <a:r>
              <a:rPr sz="1800" dirty="0">
                <a:latin typeface="Calibri"/>
                <a:cs typeface="Calibri"/>
              </a:rPr>
              <a:t>Output:</a:t>
            </a:r>
            <a:r>
              <a:rPr sz="1800" spc="-10" dirty="0">
                <a:latin typeface="Calibri"/>
                <a:cs typeface="Calibri"/>
              </a:rPr>
              <a:t> </a:t>
            </a:r>
            <a:r>
              <a:rPr sz="1800" dirty="0">
                <a:latin typeface="Calibri"/>
                <a:cs typeface="Calibri"/>
              </a:rPr>
              <a:t>9</a:t>
            </a:r>
            <a:r>
              <a:rPr sz="1800" spc="-5" dirty="0">
                <a:latin typeface="Calibri"/>
                <a:cs typeface="Calibri"/>
              </a:rPr>
              <a:t> </a:t>
            </a:r>
            <a:r>
              <a:rPr sz="1800" dirty="0">
                <a:latin typeface="Calibri"/>
                <a:cs typeface="Calibri"/>
              </a:rPr>
              <a:t>8</a:t>
            </a:r>
            <a:r>
              <a:rPr sz="1800" spc="-15" dirty="0">
                <a:latin typeface="Calibri"/>
                <a:cs typeface="Calibri"/>
              </a:rPr>
              <a:t> </a:t>
            </a:r>
            <a:r>
              <a:rPr sz="1800" dirty="0">
                <a:latin typeface="Calibri"/>
                <a:cs typeface="Calibri"/>
              </a:rPr>
              <a:t>7</a:t>
            </a:r>
            <a:r>
              <a:rPr sz="1800" spc="-5" dirty="0">
                <a:latin typeface="Calibri"/>
                <a:cs typeface="Calibri"/>
              </a:rPr>
              <a:t> </a:t>
            </a:r>
            <a:r>
              <a:rPr sz="1800" dirty="0">
                <a:latin typeface="Calibri"/>
                <a:cs typeface="Calibri"/>
              </a:rPr>
              <a:t>6</a:t>
            </a:r>
            <a:r>
              <a:rPr sz="1800" spc="-10" dirty="0">
                <a:latin typeface="Calibri"/>
                <a:cs typeface="Calibri"/>
              </a:rPr>
              <a:t> </a:t>
            </a:r>
            <a:r>
              <a:rPr sz="1800" dirty="0">
                <a:latin typeface="Calibri"/>
                <a:cs typeface="Calibri"/>
              </a:rPr>
              <a:t>5</a:t>
            </a:r>
            <a:r>
              <a:rPr sz="1800" spc="-5" dirty="0">
                <a:latin typeface="Calibri"/>
                <a:cs typeface="Calibri"/>
              </a:rPr>
              <a:t> </a:t>
            </a:r>
            <a:r>
              <a:rPr sz="1800" dirty="0">
                <a:latin typeface="Calibri"/>
                <a:cs typeface="Calibri"/>
              </a:rPr>
              <a:t>4</a:t>
            </a:r>
            <a:r>
              <a:rPr sz="1800" spc="-15" dirty="0">
                <a:latin typeface="Calibri"/>
                <a:cs typeface="Calibri"/>
              </a:rPr>
              <a:t> </a:t>
            </a:r>
            <a:r>
              <a:rPr sz="1800" dirty="0">
                <a:latin typeface="Calibri"/>
                <a:cs typeface="Calibri"/>
              </a:rPr>
              <a:t>3</a:t>
            </a:r>
            <a:r>
              <a:rPr sz="1800" spc="-15" dirty="0">
                <a:latin typeface="Calibri"/>
                <a:cs typeface="Calibri"/>
              </a:rPr>
              <a:t> </a:t>
            </a:r>
            <a:r>
              <a:rPr sz="1800" dirty="0">
                <a:latin typeface="Calibri"/>
                <a:cs typeface="Calibri"/>
              </a:rPr>
              <a:t>2</a:t>
            </a:r>
            <a:r>
              <a:rPr sz="1800" spc="-5" dirty="0">
                <a:latin typeface="Calibri"/>
                <a:cs typeface="Calibri"/>
              </a:rPr>
              <a:t> </a:t>
            </a:r>
            <a:r>
              <a:rPr sz="1800" dirty="0">
                <a:latin typeface="Calibri"/>
                <a:cs typeface="Calibri"/>
              </a:rPr>
              <a:t>1</a:t>
            </a:r>
            <a:r>
              <a:rPr sz="1800" spc="-10" dirty="0">
                <a:latin typeface="Calibri"/>
                <a:cs typeface="Calibri"/>
              </a:rPr>
              <a:t> </a:t>
            </a:r>
            <a:r>
              <a:rPr sz="1800" spc="-50" dirty="0">
                <a:latin typeface="Calibri"/>
                <a:cs typeface="Calibri"/>
              </a:rPr>
              <a:t>0</a:t>
            </a:r>
            <a:endParaRPr sz="1800">
              <a:latin typeface="Calibri"/>
              <a:cs typeface="Calibri"/>
            </a:endParaRPr>
          </a:p>
        </p:txBody>
      </p:sp>
      <p:sp>
        <p:nvSpPr>
          <p:cNvPr id="10" name="Date Placeholder 9">
            <a:extLst>
              <a:ext uri="{FF2B5EF4-FFF2-40B4-BE49-F238E27FC236}">
                <a16:creationId xmlns:a16="http://schemas.microsoft.com/office/drawing/2014/main" id="{151AD067-F098-2F75-9D92-8C10EC3FB9BF}"/>
              </a:ext>
            </a:extLst>
          </p:cNvPr>
          <p:cNvSpPr>
            <a:spLocks noGrp="1"/>
          </p:cNvSpPr>
          <p:nvPr>
            <p:ph type="dt" sz="half" idx="10"/>
          </p:nvPr>
        </p:nvSpPr>
        <p:spPr/>
        <p:txBody>
          <a:bodyPr/>
          <a:lstStyle/>
          <a:p>
            <a:fld id="{DC6D7EC7-B924-4AEA-86CA-45B87F58E6BB}" type="datetime1">
              <a:rPr lang="en-US" smtClean="0"/>
              <a:t>11/17/2025</a:t>
            </a:fld>
            <a:endParaRPr lang="en-US"/>
          </a:p>
        </p:txBody>
      </p:sp>
      <p:sp>
        <p:nvSpPr>
          <p:cNvPr id="11" name="Slide Number Placeholder 10">
            <a:extLst>
              <a:ext uri="{FF2B5EF4-FFF2-40B4-BE49-F238E27FC236}">
                <a16:creationId xmlns:a16="http://schemas.microsoft.com/office/drawing/2014/main" id="{8641DBEB-1634-FD37-48F3-D25F61BB0D92}"/>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63</a:t>
            </a:fld>
            <a:endParaRPr spc="-25"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652259" y="4994147"/>
            <a:ext cx="5394959" cy="1403603"/>
          </a:xfrm>
          <a:prstGeom prst="rect">
            <a:avLst/>
          </a:prstGeom>
        </p:spPr>
      </p:pic>
      <p:sp>
        <p:nvSpPr>
          <p:cNvPr id="3" name="object 3"/>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0" dirty="0"/>
              <a:t> </a:t>
            </a:r>
            <a:r>
              <a:rPr spc="-20" dirty="0"/>
              <a:t>search()</a:t>
            </a:r>
            <a:r>
              <a:rPr spc="-190" dirty="0"/>
              <a:t> </a:t>
            </a:r>
            <a:r>
              <a:rPr spc="-10" dirty="0"/>
              <a:t>Algorithm</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4" name="object 4"/>
          <p:cNvPicPr/>
          <p:nvPr/>
        </p:nvPicPr>
        <p:blipFill>
          <a:blip r:embed="rId3" cstate="print"/>
          <a:stretch>
            <a:fillRect/>
          </a:stretch>
        </p:blipFill>
        <p:spPr>
          <a:xfrm>
            <a:off x="6695153" y="2571783"/>
            <a:ext cx="5232973" cy="2343713"/>
          </a:xfrm>
          <a:prstGeom prst="rect">
            <a:avLst/>
          </a:prstGeom>
        </p:spPr>
      </p:pic>
      <p:sp>
        <p:nvSpPr>
          <p:cNvPr id="5" name="object 5"/>
          <p:cNvSpPr txBox="1"/>
          <p:nvPr/>
        </p:nvSpPr>
        <p:spPr>
          <a:xfrm>
            <a:off x="916939" y="1463166"/>
            <a:ext cx="10357485" cy="4161790"/>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The</a:t>
            </a:r>
            <a:r>
              <a:rPr sz="2000" spc="60" dirty="0">
                <a:latin typeface="Times New Roman"/>
                <a:cs typeface="Times New Roman"/>
              </a:rPr>
              <a:t> </a:t>
            </a:r>
            <a:r>
              <a:rPr sz="2000" dirty="0">
                <a:latin typeface="Times New Roman"/>
                <a:cs typeface="Times New Roman"/>
              </a:rPr>
              <a:t>search()</a:t>
            </a:r>
            <a:r>
              <a:rPr sz="2000" spc="65" dirty="0">
                <a:latin typeface="Times New Roman"/>
                <a:cs typeface="Times New Roman"/>
              </a:rPr>
              <a:t> </a:t>
            </a:r>
            <a:r>
              <a:rPr sz="2000" dirty="0">
                <a:latin typeface="Times New Roman"/>
                <a:cs typeface="Times New Roman"/>
              </a:rPr>
              <a:t>algorithm</a:t>
            </a:r>
            <a:r>
              <a:rPr sz="2000" spc="50" dirty="0">
                <a:latin typeface="Times New Roman"/>
                <a:cs typeface="Times New Roman"/>
              </a:rPr>
              <a:t> </a:t>
            </a:r>
            <a:r>
              <a:rPr sz="2000" dirty="0">
                <a:latin typeface="Times New Roman"/>
                <a:cs typeface="Times New Roman"/>
              </a:rPr>
              <a:t>looks</a:t>
            </a:r>
            <a:r>
              <a:rPr sz="2000" spc="50" dirty="0">
                <a:latin typeface="Times New Roman"/>
                <a:cs typeface="Times New Roman"/>
              </a:rPr>
              <a:t> </a:t>
            </a:r>
            <a:r>
              <a:rPr sz="2000" dirty="0">
                <a:latin typeface="Times New Roman"/>
                <a:cs typeface="Times New Roman"/>
              </a:rPr>
              <a:t>for</a:t>
            </a:r>
            <a:r>
              <a:rPr sz="2000" spc="60" dirty="0">
                <a:latin typeface="Times New Roman"/>
                <a:cs typeface="Times New Roman"/>
              </a:rPr>
              <a:t> </a:t>
            </a:r>
            <a:r>
              <a:rPr sz="2000" dirty="0">
                <a:latin typeface="Times New Roman"/>
                <a:cs typeface="Times New Roman"/>
              </a:rPr>
              <a:t>a</a:t>
            </a:r>
            <a:r>
              <a:rPr sz="2000" spc="45" dirty="0">
                <a:latin typeface="Times New Roman"/>
                <a:cs typeface="Times New Roman"/>
              </a:rPr>
              <a:t> </a:t>
            </a:r>
            <a:r>
              <a:rPr sz="2000" dirty="0">
                <a:latin typeface="Times New Roman"/>
                <a:cs typeface="Times New Roman"/>
              </a:rPr>
              <a:t>sequence</a:t>
            </a:r>
            <a:r>
              <a:rPr sz="2000" spc="55" dirty="0">
                <a:latin typeface="Times New Roman"/>
                <a:cs typeface="Times New Roman"/>
              </a:rPr>
              <a:t> </a:t>
            </a:r>
            <a:r>
              <a:rPr sz="2000" dirty="0">
                <a:latin typeface="Times New Roman"/>
                <a:cs typeface="Times New Roman"/>
              </a:rPr>
              <a:t>of</a:t>
            </a:r>
            <a:r>
              <a:rPr sz="2000" spc="65" dirty="0">
                <a:latin typeface="Times New Roman"/>
                <a:cs typeface="Times New Roman"/>
              </a:rPr>
              <a:t> </a:t>
            </a:r>
            <a:r>
              <a:rPr sz="2000" dirty="0">
                <a:latin typeface="Times New Roman"/>
                <a:cs typeface="Times New Roman"/>
              </a:rPr>
              <a:t>values,</a:t>
            </a:r>
            <a:r>
              <a:rPr sz="2000" spc="60" dirty="0">
                <a:latin typeface="Times New Roman"/>
                <a:cs typeface="Times New Roman"/>
              </a:rPr>
              <a:t> </a:t>
            </a:r>
            <a:r>
              <a:rPr sz="2000" dirty="0">
                <a:latin typeface="Times New Roman"/>
                <a:cs typeface="Times New Roman"/>
              </a:rPr>
              <a:t>specified</a:t>
            </a:r>
            <a:r>
              <a:rPr sz="2000" spc="55" dirty="0">
                <a:latin typeface="Times New Roman"/>
                <a:cs typeface="Times New Roman"/>
              </a:rPr>
              <a:t> </a:t>
            </a:r>
            <a:r>
              <a:rPr sz="2000" dirty="0">
                <a:latin typeface="Times New Roman"/>
                <a:cs typeface="Times New Roman"/>
              </a:rPr>
              <a:t>by</a:t>
            </a:r>
            <a:r>
              <a:rPr sz="2000" spc="55" dirty="0">
                <a:latin typeface="Times New Roman"/>
                <a:cs typeface="Times New Roman"/>
              </a:rPr>
              <a:t> </a:t>
            </a:r>
            <a:r>
              <a:rPr sz="2000" dirty="0">
                <a:latin typeface="Times New Roman"/>
                <a:cs typeface="Times New Roman"/>
              </a:rPr>
              <a:t>one</a:t>
            </a:r>
            <a:r>
              <a:rPr sz="2000" spc="60" dirty="0">
                <a:latin typeface="Times New Roman"/>
                <a:cs typeface="Times New Roman"/>
              </a:rPr>
              <a:t> </a:t>
            </a:r>
            <a:r>
              <a:rPr sz="2000" dirty="0">
                <a:latin typeface="Times New Roman"/>
                <a:cs typeface="Times New Roman"/>
              </a:rPr>
              <a:t>container,</a:t>
            </a:r>
            <a:r>
              <a:rPr sz="2000" spc="60" dirty="0">
                <a:latin typeface="Times New Roman"/>
                <a:cs typeface="Times New Roman"/>
              </a:rPr>
              <a:t> </a:t>
            </a:r>
            <a:r>
              <a:rPr sz="2000" dirty="0">
                <a:latin typeface="Times New Roman"/>
                <a:cs typeface="Times New Roman"/>
              </a:rPr>
              <a:t>within</a:t>
            </a:r>
            <a:r>
              <a:rPr sz="2000" spc="65" dirty="0">
                <a:latin typeface="Times New Roman"/>
                <a:cs typeface="Times New Roman"/>
              </a:rPr>
              <a:t> </a:t>
            </a:r>
            <a:r>
              <a:rPr sz="2000" spc="-10" dirty="0">
                <a:latin typeface="Times New Roman"/>
                <a:cs typeface="Times New Roman"/>
              </a:rPr>
              <a:t>another</a:t>
            </a:r>
            <a:endParaRPr sz="2000">
              <a:latin typeface="Times New Roman"/>
              <a:cs typeface="Times New Roman"/>
            </a:endParaRPr>
          </a:p>
          <a:p>
            <a:pPr marL="355600">
              <a:lnSpc>
                <a:spcPts val="2370"/>
              </a:lnSpc>
            </a:pPr>
            <a:r>
              <a:rPr sz="2000" spc="-10" dirty="0">
                <a:latin typeface="Times New Roman"/>
                <a:cs typeface="Times New Roman"/>
              </a:rPr>
              <a:t>container.</a:t>
            </a:r>
            <a:endParaRPr sz="2000">
              <a:latin typeface="Times New Roman"/>
              <a:cs typeface="Times New Roman"/>
            </a:endParaRPr>
          </a:p>
          <a:p>
            <a:pPr marL="355600" indent="-342900">
              <a:lnSpc>
                <a:spcPts val="2370"/>
              </a:lnSpc>
              <a:buFont typeface="Arial MT"/>
              <a:buChar char="•"/>
              <a:tabLst>
                <a:tab pos="355600" algn="l"/>
              </a:tabLst>
            </a:pPr>
            <a:r>
              <a:rPr sz="2000" b="1" i="1" spc="-10" dirty="0">
                <a:solidFill>
                  <a:srgbClr val="273139"/>
                </a:solidFill>
                <a:latin typeface="Calibri"/>
                <a:cs typeface="Calibri"/>
              </a:rPr>
              <a:t>search(Iterator1</a:t>
            </a:r>
            <a:r>
              <a:rPr sz="2000" b="1" i="1" spc="-65" dirty="0">
                <a:solidFill>
                  <a:srgbClr val="273139"/>
                </a:solidFill>
                <a:latin typeface="Calibri"/>
                <a:cs typeface="Calibri"/>
              </a:rPr>
              <a:t> </a:t>
            </a:r>
            <a:r>
              <a:rPr sz="2000" b="1" i="1" dirty="0">
                <a:solidFill>
                  <a:srgbClr val="273139"/>
                </a:solidFill>
                <a:latin typeface="Calibri"/>
                <a:cs typeface="Calibri"/>
              </a:rPr>
              <a:t>first1,</a:t>
            </a:r>
            <a:r>
              <a:rPr sz="2000" b="1" i="1" spc="-55" dirty="0">
                <a:solidFill>
                  <a:srgbClr val="273139"/>
                </a:solidFill>
                <a:latin typeface="Calibri"/>
                <a:cs typeface="Calibri"/>
              </a:rPr>
              <a:t> </a:t>
            </a:r>
            <a:r>
              <a:rPr sz="2000" b="1" i="1" dirty="0">
                <a:solidFill>
                  <a:srgbClr val="273139"/>
                </a:solidFill>
                <a:latin typeface="Calibri"/>
                <a:cs typeface="Calibri"/>
              </a:rPr>
              <a:t>Iterator1</a:t>
            </a:r>
            <a:r>
              <a:rPr sz="2000" b="1" i="1" spc="-65" dirty="0">
                <a:solidFill>
                  <a:srgbClr val="273139"/>
                </a:solidFill>
                <a:latin typeface="Calibri"/>
                <a:cs typeface="Calibri"/>
              </a:rPr>
              <a:t> </a:t>
            </a:r>
            <a:r>
              <a:rPr sz="2000" b="1" i="1" dirty="0">
                <a:solidFill>
                  <a:srgbClr val="273139"/>
                </a:solidFill>
                <a:latin typeface="Calibri"/>
                <a:cs typeface="Calibri"/>
              </a:rPr>
              <a:t>last1,</a:t>
            </a:r>
            <a:r>
              <a:rPr sz="2000" b="1" i="1" spc="-70" dirty="0">
                <a:solidFill>
                  <a:srgbClr val="273139"/>
                </a:solidFill>
                <a:latin typeface="Calibri"/>
                <a:cs typeface="Calibri"/>
              </a:rPr>
              <a:t> </a:t>
            </a:r>
            <a:r>
              <a:rPr sz="2000" b="1" i="1" dirty="0">
                <a:solidFill>
                  <a:srgbClr val="273139"/>
                </a:solidFill>
                <a:latin typeface="Calibri"/>
                <a:cs typeface="Calibri"/>
              </a:rPr>
              <a:t>Iterator2</a:t>
            </a:r>
            <a:r>
              <a:rPr sz="2000" b="1" i="1" spc="-65" dirty="0">
                <a:solidFill>
                  <a:srgbClr val="273139"/>
                </a:solidFill>
                <a:latin typeface="Calibri"/>
                <a:cs typeface="Calibri"/>
              </a:rPr>
              <a:t> </a:t>
            </a:r>
            <a:r>
              <a:rPr sz="2000" b="1" i="1" dirty="0">
                <a:solidFill>
                  <a:srgbClr val="273139"/>
                </a:solidFill>
                <a:latin typeface="Calibri"/>
                <a:cs typeface="Calibri"/>
              </a:rPr>
              <a:t>first2,</a:t>
            </a:r>
            <a:r>
              <a:rPr sz="2000" b="1" i="1" spc="-60" dirty="0">
                <a:solidFill>
                  <a:srgbClr val="273139"/>
                </a:solidFill>
                <a:latin typeface="Calibri"/>
                <a:cs typeface="Calibri"/>
              </a:rPr>
              <a:t> </a:t>
            </a:r>
            <a:r>
              <a:rPr sz="2000" b="1" i="1" dirty="0">
                <a:solidFill>
                  <a:srgbClr val="273139"/>
                </a:solidFill>
                <a:latin typeface="Calibri"/>
                <a:cs typeface="Calibri"/>
              </a:rPr>
              <a:t>Iterator2</a:t>
            </a:r>
            <a:r>
              <a:rPr sz="2000" b="1" i="1" spc="-65" dirty="0">
                <a:solidFill>
                  <a:srgbClr val="273139"/>
                </a:solidFill>
                <a:latin typeface="Calibri"/>
                <a:cs typeface="Calibri"/>
              </a:rPr>
              <a:t> </a:t>
            </a:r>
            <a:r>
              <a:rPr sz="2000" b="1" i="1" spc="-10" dirty="0">
                <a:solidFill>
                  <a:srgbClr val="273139"/>
                </a:solidFill>
                <a:latin typeface="Calibri"/>
                <a:cs typeface="Calibri"/>
              </a:rPr>
              <a:t>last2);</a:t>
            </a:r>
            <a:endParaRPr sz="2000">
              <a:latin typeface="Calibri"/>
              <a:cs typeface="Calibri"/>
            </a:endParaRPr>
          </a:p>
          <a:p>
            <a:pPr marL="351790" marR="5364480" indent="-339725" algn="just">
              <a:lnSpc>
                <a:spcPct val="100000"/>
              </a:lnSpc>
              <a:spcBef>
                <a:spcPts val="1415"/>
              </a:spcBef>
              <a:buFont typeface="Arial MT"/>
              <a:buChar char="•"/>
              <a:tabLst>
                <a:tab pos="355600" algn="l"/>
              </a:tabLst>
            </a:pPr>
            <a:r>
              <a:rPr sz="2000" dirty="0">
                <a:latin typeface="Times New Roman"/>
                <a:cs typeface="Times New Roman"/>
              </a:rPr>
              <a:t>Searches</a:t>
            </a:r>
            <a:r>
              <a:rPr sz="2000" spc="254" dirty="0">
                <a:latin typeface="Times New Roman"/>
                <a:cs typeface="Times New Roman"/>
              </a:rPr>
              <a:t> </a:t>
            </a:r>
            <a:r>
              <a:rPr sz="2000" dirty="0">
                <a:latin typeface="Times New Roman"/>
                <a:cs typeface="Times New Roman"/>
              </a:rPr>
              <a:t>the</a:t>
            </a:r>
            <a:r>
              <a:rPr sz="2000" spc="250" dirty="0">
                <a:latin typeface="Times New Roman"/>
                <a:cs typeface="Times New Roman"/>
              </a:rPr>
              <a:t> </a:t>
            </a:r>
            <a:r>
              <a:rPr sz="2000" dirty="0">
                <a:latin typeface="Times New Roman"/>
                <a:cs typeface="Times New Roman"/>
              </a:rPr>
              <a:t>range</a:t>
            </a:r>
            <a:r>
              <a:rPr sz="2000" spc="245" dirty="0">
                <a:latin typeface="Times New Roman"/>
                <a:cs typeface="Times New Roman"/>
              </a:rPr>
              <a:t> </a:t>
            </a:r>
            <a:r>
              <a:rPr sz="2000" dirty="0">
                <a:latin typeface="Times New Roman"/>
                <a:cs typeface="Times New Roman"/>
              </a:rPr>
              <a:t>[first1,last1)</a:t>
            </a:r>
            <a:r>
              <a:rPr sz="2000" spc="254" dirty="0">
                <a:latin typeface="Times New Roman"/>
                <a:cs typeface="Times New Roman"/>
              </a:rPr>
              <a:t> </a:t>
            </a:r>
            <a:r>
              <a:rPr sz="2000" dirty="0">
                <a:latin typeface="Times New Roman"/>
                <a:cs typeface="Times New Roman"/>
              </a:rPr>
              <a:t>for</a:t>
            </a:r>
            <a:r>
              <a:rPr sz="2000" spc="270" dirty="0">
                <a:latin typeface="Times New Roman"/>
                <a:cs typeface="Times New Roman"/>
              </a:rPr>
              <a:t> </a:t>
            </a:r>
            <a:r>
              <a:rPr sz="2000" dirty="0">
                <a:latin typeface="Times New Roman"/>
                <a:cs typeface="Times New Roman"/>
              </a:rPr>
              <a:t>the</a:t>
            </a:r>
            <a:r>
              <a:rPr sz="2000" spc="250" dirty="0">
                <a:latin typeface="Times New Roman"/>
                <a:cs typeface="Times New Roman"/>
              </a:rPr>
              <a:t> </a:t>
            </a:r>
            <a:r>
              <a:rPr sz="2000" spc="-10" dirty="0">
                <a:latin typeface="Times New Roman"/>
                <a:cs typeface="Times New Roman"/>
              </a:rPr>
              <a:t>first 	</a:t>
            </a:r>
            <a:r>
              <a:rPr sz="2000" dirty="0">
                <a:latin typeface="Times New Roman"/>
                <a:cs typeface="Times New Roman"/>
              </a:rPr>
              <a:t>occurrence</a:t>
            </a:r>
            <a:r>
              <a:rPr sz="2000" spc="310" dirty="0">
                <a:latin typeface="Times New Roman"/>
                <a:cs typeface="Times New Roman"/>
              </a:rPr>
              <a:t>  </a:t>
            </a:r>
            <a:r>
              <a:rPr sz="2000" dirty="0">
                <a:latin typeface="Times New Roman"/>
                <a:cs typeface="Times New Roman"/>
              </a:rPr>
              <a:t>of</a:t>
            </a:r>
            <a:r>
              <a:rPr sz="2000" spc="315" dirty="0">
                <a:latin typeface="Times New Roman"/>
                <a:cs typeface="Times New Roman"/>
              </a:rPr>
              <a:t>  </a:t>
            </a:r>
            <a:r>
              <a:rPr sz="2000" dirty="0">
                <a:latin typeface="Times New Roman"/>
                <a:cs typeface="Times New Roman"/>
              </a:rPr>
              <a:t>the</a:t>
            </a:r>
            <a:r>
              <a:rPr sz="2000" spc="310" dirty="0">
                <a:latin typeface="Times New Roman"/>
                <a:cs typeface="Times New Roman"/>
              </a:rPr>
              <a:t>  </a:t>
            </a:r>
            <a:r>
              <a:rPr sz="2000" dirty="0">
                <a:latin typeface="Times New Roman"/>
                <a:cs typeface="Times New Roman"/>
              </a:rPr>
              <a:t>sequence</a:t>
            </a:r>
            <a:r>
              <a:rPr sz="2000" spc="320" dirty="0">
                <a:latin typeface="Times New Roman"/>
                <a:cs typeface="Times New Roman"/>
              </a:rPr>
              <a:t>  </a:t>
            </a:r>
            <a:r>
              <a:rPr sz="2000" dirty="0">
                <a:latin typeface="Times New Roman"/>
                <a:cs typeface="Times New Roman"/>
              </a:rPr>
              <a:t>defined</a:t>
            </a:r>
            <a:r>
              <a:rPr sz="2000" spc="315" dirty="0">
                <a:latin typeface="Times New Roman"/>
                <a:cs typeface="Times New Roman"/>
              </a:rPr>
              <a:t>  </a:t>
            </a:r>
            <a:r>
              <a:rPr sz="2000" spc="-25" dirty="0">
                <a:latin typeface="Times New Roman"/>
                <a:cs typeface="Times New Roman"/>
              </a:rPr>
              <a:t>by 	</a:t>
            </a:r>
            <a:r>
              <a:rPr sz="2000" dirty="0">
                <a:latin typeface="Times New Roman"/>
                <a:cs typeface="Times New Roman"/>
              </a:rPr>
              <a:t>[first2,last2),</a:t>
            </a:r>
            <a:r>
              <a:rPr sz="2000" spc="35" dirty="0">
                <a:latin typeface="Times New Roman"/>
                <a:cs typeface="Times New Roman"/>
              </a:rPr>
              <a:t>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returns</a:t>
            </a:r>
            <a:r>
              <a:rPr sz="2000" spc="45" dirty="0">
                <a:latin typeface="Times New Roman"/>
                <a:cs typeface="Times New Roman"/>
              </a:rPr>
              <a:t>  </a:t>
            </a:r>
            <a:r>
              <a:rPr sz="2000" dirty="0">
                <a:latin typeface="Times New Roman"/>
                <a:cs typeface="Times New Roman"/>
              </a:rPr>
              <a:t>an</a:t>
            </a:r>
            <a:r>
              <a:rPr sz="2000" spc="45" dirty="0">
                <a:latin typeface="Times New Roman"/>
                <a:cs typeface="Times New Roman"/>
              </a:rPr>
              <a:t>  </a:t>
            </a:r>
            <a:r>
              <a:rPr sz="2000" dirty="0">
                <a:latin typeface="Times New Roman"/>
                <a:cs typeface="Times New Roman"/>
              </a:rPr>
              <a:t>iterator</a:t>
            </a:r>
            <a:r>
              <a:rPr sz="2000" spc="35" dirty="0">
                <a:latin typeface="Times New Roman"/>
                <a:cs typeface="Times New Roman"/>
              </a:rPr>
              <a:t>  </a:t>
            </a:r>
            <a:r>
              <a:rPr sz="2000" dirty="0">
                <a:latin typeface="Times New Roman"/>
                <a:cs typeface="Times New Roman"/>
              </a:rPr>
              <a:t>to</a:t>
            </a:r>
            <a:r>
              <a:rPr sz="2000" spc="45" dirty="0">
                <a:latin typeface="Times New Roman"/>
                <a:cs typeface="Times New Roman"/>
              </a:rPr>
              <a:t>  </a:t>
            </a:r>
            <a:r>
              <a:rPr sz="2000" spc="-25" dirty="0">
                <a:latin typeface="Times New Roman"/>
                <a:cs typeface="Times New Roman"/>
              </a:rPr>
              <a:t>its 	</a:t>
            </a:r>
            <a:r>
              <a:rPr sz="2000" dirty="0">
                <a:latin typeface="Times New Roman"/>
                <a:cs typeface="Times New Roman"/>
              </a:rPr>
              <a:t>first</a:t>
            </a:r>
            <a:r>
              <a:rPr sz="2000" spc="295" dirty="0">
                <a:latin typeface="Times New Roman"/>
                <a:cs typeface="Times New Roman"/>
              </a:rPr>
              <a:t> </a:t>
            </a:r>
            <a:r>
              <a:rPr sz="2000" dirty="0">
                <a:latin typeface="Times New Roman"/>
                <a:cs typeface="Times New Roman"/>
              </a:rPr>
              <a:t>element,</a:t>
            </a:r>
            <a:r>
              <a:rPr sz="2000" spc="300" dirty="0">
                <a:latin typeface="Times New Roman"/>
                <a:cs typeface="Times New Roman"/>
              </a:rPr>
              <a:t> </a:t>
            </a:r>
            <a:r>
              <a:rPr sz="2000" dirty="0">
                <a:latin typeface="Times New Roman"/>
                <a:cs typeface="Times New Roman"/>
              </a:rPr>
              <a:t>or</a:t>
            </a:r>
            <a:r>
              <a:rPr sz="2000" spc="300" dirty="0">
                <a:latin typeface="Times New Roman"/>
                <a:cs typeface="Times New Roman"/>
              </a:rPr>
              <a:t> </a:t>
            </a:r>
            <a:r>
              <a:rPr sz="2000" dirty="0">
                <a:latin typeface="Times New Roman"/>
                <a:cs typeface="Times New Roman"/>
              </a:rPr>
              <a:t>last1</a:t>
            </a:r>
            <a:r>
              <a:rPr sz="2000" spc="310" dirty="0">
                <a:latin typeface="Times New Roman"/>
                <a:cs typeface="Times New Roman"/>
              </a:rPr>
              <a:t> </a:t>
            </a:r>
            <a:r>
              <a:rPr sz="2000" dirty="0">
                <a:latin typeface="Times New Roman"/>
                <a:cs typeface="Times New Roman"/>
              </a:rPr>
              <a:t>if</a:t>
            </a:r>
            <a:r>
              <a:rPr sz="2000" spc="315" dirty="0">
                <a:latin typeface="Times New Roman"/>
                <a:cs typeface="Times New Roman"/>
              </a:rPr>
              <a:t> </a:t>
            </a:r>
            <a:r>
              <a:rPr sz="2000" dirty="0">
                <a:latin typeface="Times New Roman"/>
                <a:cs typeface="Times New Roman"/>
              </a:rPr>
              <a:t>no</a:t>
            </a:r>
            <a:r>
              <a:rPr sz="2000" spc="300" dirty="0">
                <a:latin typeface="Times New Roman"/>
                <a:cs typeface="Times New Roman"/>
              </a:rPr>
              <a:t> </a:t>
            </a:r>
            <a:r>
              <a:rPr sz="2000" dirty="0">
                <a:latin typeface="Times New Roman"/>
                <a:cs typeface="Times New Roman"/>
              </a:rPr>
              <a:t>occurrences</a:t>
            </a:r>
            <a:r>
              <a:rPr sz="2000" spc="310" dirty="0">
                <a:latin typeface="Times New Roman"/>
                <a:cs typeface="Times New Roman"/>
              </a:rPr>
              <a:t> </a:t>
            </a:r>
            <a:r>
              <a:rPr sz="2000" spc="-25" dirty="0">
                <a:latin typeface="Times New Roman"/>
                <a:cs typeface="Times New Roman"/>
              </a:rPr>
              <a:t>are 	</a:t>
            </a:r>
            <a:r>
              <a:rPr sz="2000" spc="-10" dirty="0">
                <a:latin typeface="Times New Roman"/>
                <a:cs typeface="Times New Roman"/>
              </a:rPr>
              <a:t>found.</a:t>
            </a:r>
            <a:endParaRPr sz="2000">
              <a:latin typeface="Times New Roman"/>
              <a:cs typeface="Times New Roman"/>
            </a:endParaRPr>
          </a:p>
          <a:p>
            <a:pPr>
              <a:lnSpc>
                <a:spcPct val="100000"/>
              </a:lnSpc>
              <a:spcBef>
                <a:spcPts val="100"/>
              </a:spcBef>
              <a:buFont typeface="Arial MT"/>
              <a:buChar char="•"/>
            </a:pPr>
            <a:endParaRPr sz="2000">
              <a:latin typeface="Times New Roman"/>
              <a:cs typeface="Times New Roman"/>
            </a:endParaRPr>
          </a:p>
          <a:p>
            <a:pPr marL="351790" marR="5366385" indent="-339725" algn="just">
              <a:lnSpc>
                <a:spcPct val="100000"/>
              </a:lnSpc>
              <a:buFont typeface="Arial MT"/>
              <a:buChar char="•"/>
              <a:tabLst>
                <a:tab pos="355600" algn="l"/>
              </a:tabLst>
            </a:pPr>
            <a:r>
              <a:rPr sz="2000" dirty="0">
                <a:latin typeface="Times New Roman"/>
                <a:cs typeface="Times New Roman"/>
              </a:rPr>
              <a:t>In</a:t>
            </a:r>
            <a:r>
              <a:rPr sz="2000" spc="45" dirty="0">
                <a:latin typeface="Times New Roman"/>
                <a:cs typeface="Times New Roman"/>
              </a:rPr>
              <a:t> </a:t>
            </a:r>
            <a:r>
              <a:rPr sz="2000" dirty="0">
                <a:latin typeface="Times New Roman"/>
                <a:cs typeface="Times New Roman"/>
              </a:rPr>
              <a:t>this</a:t>
            </a:r>
            <a:r>
              <a:rPr sz="2000" spc="40" dirty="0">
                <a:latin typeface="Times New Roman"/>
                <a:cs typeface="Times New Roman"/>
              </a:rPr>
              <a:t> </a:t>
            </a:r>
            <a:r>
              <a:rPr sz="2000" dirty="0">
                <a:latin typeface="Times New Roman"/>
                <a:cs typeface="Times New Roman"/>
              </a:rPr>
              <a:t>program</a:t>
            </a:r>
            <a:r>
              <a:rPr sz="2000" spc="35" dirty="0">
                <a:latin typeface="Times New Roman"/>
                <a:cs typeface="Times New Roman"/>
              </a:rPr>
              <a:t> </a:t>
            </a:r>
            <a:r>
              <a:rPr sz="2000" dirty="0">
                <a:latin typeface="Times New Roman"/>
                <a:cs typeface="Times New Roman"/>
              </a:rPr>
              <a:t>code,</a:t>
            </a:r>
            <a:r>
              <a:rPr sz="2000" spc="55" dirty="0">
                <a:latin typeface="Times New Roman"/>
                <a:cs typeface="Times New Roman"/>
              </a:rPr>
              <a:t> </a:t>
            </a:r>
            <a:r>
              <a:rPr sz="2000" dirty="0">
                <a:latin typeface="Times New Roman"/>
                <a:cs typeface="Times New Roman"/>
              </a:rPr>
              <a:t>the</a:t>
            </a:r>
            <a:r>
              <a:rPr sz="2000" spc="60" dirty="0">
                <a:latin typeface="Times New Roman"/>
                <a:cs typeface="Times New Roman"/>
              </a:rPr>
              <a:t> </a:t>
            </a:r>
            <a:r>
              <a:rPr sz="2000" dirty="0">
                <a:latin typeface="Times New Roman"/>
                <a:cs typeface="Times New Roman"/>
              </a:rPr>
              <a:t>algorithm</a:t>
            </a:r>
            <a:r>
              <a:rPr sz="2000" spc="35" dirty="0">
                <a:latin typeface="Times New Roman"/>
                <a:cs typeface="Times New Roman"/>
              </a:rPr>
              <a:t> </a:t>
            </a:r>
            <a:r>
              <a:rPr sz="2000" dirty="0">
                <a:latin typeface="Times New Roman"/>
                <a:cs typeface="Times New Roman"/>
              </a:rPr>
              <a:t>looks</a:t>
            </a:r>
            <a:r>
              <a:rPr sz="2000" spc="45" dirty="0">
                <a:latin typeface="Times New Roman"/>
                <a:cs typeface="Times New Roman"/>
              </a:rPr>
              <a:t> </a:t>
            </a:r>
            <a:r>
              <a:rPr sz="2000" spc="-25" dirty="0">
                <a:latin typeface="Times New Roman"/>
                <a:cs typeface="Times New Roman"/>
              </a:rPr>
              <a:t>for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sequence</a:t>
            </a:r>
            <a:r>
              <a:rPr sz="2000" spc="25" dirty="0">
                <a:latin typeface="Times New Roman"/>
                <a:cs typeface="Times New Roman"/>
              </a:rPr>
              <a:t>  </a:t>
            </a:r>
            <a:r>
              <a:rPr sz="2000" dirty="0">
                <a:latin typeface="Times New Roman"/>
                <a:cs typeface="Times New Roman"/>
              </a:rPr>
              <a:t>11,</a:t>
            </a:r>
            <a:r>
              <a:rPr sz="2000" spc="30" dirty="0">
                <a:latin typeface="Times New Roman"/>
                <a:cs typeface="Times New Roman"/>
              </a:rPr>
              <a:t>  </a:t>
            </a:r>
            <a:r>
              <a:rPr sz="2000" dirty="0">
                <a:latin typeface="Times New Roman"/>
                <a:cs typeface="Times New Roman"/>
              </a:rPr>
              <a:t>22,</a:t>
            </a:r>
            <a:r>
              <a:rPr sz="2000" spc="30" dirty="0">
                <a:latin typeface="Times New Roman"/>
                <a:cs typeface="Times New Roman"/>
              </a:rPr>
              <a:t>  </a:t>
            </a:r>
            <a:r>
              <a:rPr sz="2000" dirty="0">
                <a:latin typeface="Times New Roman"/>
                <a:cs typeface="Times New Roman"/>
              </a:rPr>
              <a:t>33,</a:t>
            </a:r>
            <a:r>
              <a:rPr sz="2000" spc="30" dirty="0">
                <a:latin typeface="Times New Roman"/>
                <a:cs typeface="Times New Roman"/>
              </a:rPr>
              <a:t>  </a:t>
            </a:r>
            <a:r>
              <a:rPr sz="2000" dirty="0">
                <a:latin typeface="Times New Roman"/>
                <a:cs typeface="Times New Roman"/>
              </a:rPr>
              <a:t>specified</a:t>
            </a:r>
            <a:r>
              <a:rPr sz="2000" spc="35" dirty="0">
                <a:latin typeface="Times New Roman"/>
                <a:cs typeface="Times New Roman"/>
              </a:rPr>
              <a:t>  </a:t>
            </a:r>
            <a:r>
              <a:rPr sz="2000" dirty="0">
                <a:latin typeface="Times New Roman"/>
                <a:cs typeface="Times New Roman"/>
              </a:rPr>
              <a:t>by</a:t>
            </a:r>
            <a:r>
              <a:rPr sz="2000" spc="30" dirty="0">
                <a:latin typeface="Times New Roman"/>
                <a:cs typeface="Times New Roman"/>
              </a:rPr>
              <a:t>  </a:t>
            </a:r>
            <a:r>
              <a:rPr sz="2000" spc="-25" dirty="0">
                <a:latin typeface="Times New Roman"/>
                <a:cs typeface="Times New Roman"/>
              </a:rPr>
              <a:t>the 	</a:t>
            </a:r>
            <a:r>
              <a:rPr sz="2000" dirty="0">
                <a:latin typeface="Times New Roman"/>
                <a:cs typeface="Times New Roman"/>
              </a:rPr>
              <a:t>array</a:t>
            </a:r>
            <a:r>
              <a:rPr sz="2000" spc="-40" dirty="0">
                <a:latin typeface="Times New Roman"/>
                <a:cs typeface="Times New Roman"/>
              </a:rPr>
              <a:t> </a:t>
            </a:r>
            <a:r>
              <a:rPr sz="2000" dirty="0">
                <a:latin typeface="Times New Roman"/>
                <a:cs typeface="Times New Roman"/>
              </a:rPr>
              <a:t>pattern,</a:t>
            </a:r>
            <a:r>
              <a:rPr sz="2000" spc="-25" dirty="0">
                <a:latin typeface="Times New Roman"/>
                <a:cs typeface="Times New Roman"/>
              </a:rPr>
              <a:t> </a:t>
            </a:r>
            <a:r>
              <a:rPr sz="2000" dirty="0">
                <a:latin typeface="Times New Roman"/>
                <a:cs typeface="Times New Roman"/>
              </a:rPr>
              <a:t>within</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array</a:t>
            </a:r>
            <a:r>
              <a:rPr sz="2000" spc="-25" dirty="0">
                <a:latin typeface="Times New Roman"/>
                <a:cs typeface="Times New Roman"/>
              </a:rPr>
              <a:t> </a:t>
            </a:r>
            <a:r>
              <a:rPr sz="2000" spc="-10" dirty="0">
                <a:latin typeface="Times New Roman"/>
                <a:cs typeface="Times New Roman"/>
              </a:rPr>
              <a:t>source.</a:t>
            </a:r>
            <a:endParaRPr sz="2000">
              <a:latin typeface="Times New Roman"/>
              <a:cs typeface="Times New Roman"/>
            </a:endParaRPr>
          </a:p>
          <a:p>
            <a:pPr marL="352425" indent="-339725" algn="just">
              <a:lnSpc>
                <a:spcPct val="100000"/>
              </a:lnSpc>
              <a:spcBef>
                <a:spcPts val="5"/>
              </a:spcBef>
              <a:buFont typeface="Arial MT"/>
              <a:buChar char="•"/>
              <a:tabLst>
                <a:tab pos="352425" algn="l"/>
              </a:tabLst>
            </a:pP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output</a:t>
            </a:r>
            <a:r>
              <a:rPr sz="2000" spc="-4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Match</a:t>
            </a:r>
            <a:r>
              <a:rPr sz="2000" spc="-20" dirty="0">
                <a:latin typeface="Times New Roman"/>
                <a:cs typeface="Times New Roman"/>
              </a:rPr>
              <a:t> </a:t>
            </a:r>
            <a:r>
              <a:rPr sz="2000" dirty="0">
                <a:latin typeface="Times New Roman"/>
                <a:cs typeface="Times New Roman"/>
              </a:rPr>
              <a:t>at </a:t>
            </a:r>
            <a:r>
              <a:rPr sz="2000" spc="-50" dirty="0">
                <a:latin typeface="Times New Roman"/>
                <a:cs typeface="Times New Roman"/>
              </a:rPr>
              <a:t>3</a:t>
            </a:r>
            <a:endParaRPr sz="2000">
              <a:latin typeface="Times New Roman"/>
              <a:cs typeface="Times New Roman"/>
            </a:endParaRPr>
          </a:p>
        </p:txBody>
      </p:sp>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0608411D-DE58-4AF2-36C0-4ECD42C4DA06}"/>
              </a:ext>
            </a:extLst>
          </p:cNvPr>
          <p:cNvSpPr>
            <a:spLocks noGrp="1"/>
          </p:cNvSpPr>
          <p:nvPr>
            <p:ph type="dt" sz="half" idx="10"/>
          </p:nvPr>
        </p:nvSpPr>
        <p:spPr/>
        <p:txBody>
          <a:bodyPr/>
          <a:lstStyle/>
          <a:p>
            <a:fld id="{41799B8C-E3D1-4237-AE09-29FF6653F821}" type="datetime1">
              <a:rPr lang="en-US" smtClean="0"/>
              <a:t>11/17/2025</a:t>
            </a:fld>
            <a:endParaRPr lang="en-US"/>
          </a:p>
        </p:txBody>
      </p:sp>
      <p:sp>
        <p:nvSpPr>
          <p:cNvPr id="11" name="Slide Number Placeholder 10">
            <a:extLst>
              <a:ext uri="{FF2B5EF4-FFF2-40B4-BE49-F238E27FC236}">
                <a16:creationId xmlns:a16="http://schemas.microsoft.com/office/drawing/2014/main" id="{9A02EC52-D4DE-9C71-2B0D-0B4DC4AD95EA}"/>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64</a:t>
            </a:fld>
            <a:endParaRPr spc="-25"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5" dirty="0"/>
              <a:t> </a:t>
            </a:r>
            <a:r>
              <a:rPr spc="-30" dirty="0"/>
              <a:t>merge()</a:t>
            </a:r>
            <a:r>
              <a:rPr spc="-204" dirty="0"/>
              <a:t> </a:t>
            </a:r>
            <a:r>
              <a:rPr spc="-10" dirty="0"/>
              <a:t>Algorithm</a:t>
            </a:r>
          </a:p>
        </p:txBody>
      </p:sp>
      <p:sp>
        <p:nvSpPr>
          <p:cNvPr id="13" name="object 1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463166"/>
            <a:ext cx="10360025" cy="933450"/>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 pos="899794" algn="l"/>
                <a:tab pos="1842770" algn="l"/>
                <a:tab pos="2975610" algn="l"/>
                <a:tab pos="3289300" algn="l"/>
                <a:tab pos="3903979" algn="l"/>
                <a:tab pos="4248150" algn="l"/>
                <a:tab pos="5022215" algn="l"/>
                <a:tab pos="5480050" algn="l"/>
                <a:tab pos="6525259" algn="l"/>
                <a:tab pos="7165340" algn="l"/>
                <a:tab pos="7694295" algn="l"/>
                <a:tab pos="8503920" algn="l"/>
                <a:tab pos="9692640" algn="l"/>
                <a:tab pos="10233660" algn="l"/>
              </a:tabLst>
            </a:pPr>
            <a:r>
              <a:rPr sz="2000" spc="-25" dirty="0">
                <a:latin typeface="Times New Roman"/>
                <a:cs typeface="Times New Roman"/>
              </a:rPr>
              <a:t>The</a:t>
            </a:r>
            <a:r>
              <a:rPr sz="2000" dirty="0">
                <a:latin typeface="Times New Roman"/>
                <a:cs typeface="Times New Roman"/>
              </a:rPr>
              <a:t>	</a:t>
            </a:r>
            <a:r>
              <a:rPr sz="2000" spc="-10" dirty="0">
                <a:latin typeface="Times New Roman"/>
                <a:cs typeface="Times New Roman"/>
              </a:rPr>
              <a:t>merge()</a:t>
            </a:r>
            <a:r>
              <a:rPr sz="2000" dirty="0">
                <a:latin typeface="Times New Roman"/>
                <a:cs typeface="Times New Roman"/>
              </a:rPr>
              <a:t>	</a:t>
            </a:r>
            <a:r>
              <a:rPr sz="2000" spc="-10" dirty="0">
                <a:latin typeface="Times New Roman"/>
                <a:cs typeface="Times New Roman"/>
              </a:rPr>
              <a:t>algorithm</a:t>
            </a:r>
            <a:r>
              <a:rPr sz="2000" dirty="0">
                <a:latin typeface="Times New Roman"/>
                <a:cs typeface="Times New Roman"/>
              </a:rPr>
              <a:t>	</a:t>
            </a:r>
            <a:r>
              <a:rPr sz="2000" spc="-25" dirty="0">
                <a:latin typeface="Times New Roman"/>
                <a:cs typeface="Times New Roman"/>
              </a:rPr>
              <a:t>is</a:t>
            </a:r>
            <a:r>
              <a:rPr sz="2000" dirty="0">
                <a:latin typeface="Times New Roman"/>
                <a:cs typeface="Times New Roman"/>
              </a:rPr>
              <a:t>	</a:t>
            </a:r>
            <a:r>
              <a:rPr sz="2000" spc="-20" dirty="0">
                <a:latin typeface="Times New Roman"/>
                <a:cs typeface="Times New Roman"/>
              </a:rPr>
              <a:t>used</a:t>
            </a:r>
            <a:r>
              <a:rPr sz="2000" dirty="0">
                <a:latin typeface="Times New Roman"/>
                <a:cs typeface="Times New Roman"/>
              </a:rPr>
              <a:t>	</a:t>
            </a:r>
            <a:r>
              <a:rPr sz="2000" spc="-25" dirty="0">
                <a:latin typeface="Times New Roman"/>
                <a:cs typeface="Times New Roman"/>
              </a:rPr>
              <a:t>to</a:t>
            </a:r>
            <a:r>
              <a:rPr sz="2000" dirty="0">
                <a:latin typeface="Times New Roman"/>
                <a:cs typeface="Times New Roman"/>
              </a:rPr>
              <a:t>	</a:t>
            </a:r>
            <a:r>
              <a:rPr sz="2000" spc="-10" dirty="0">
                <a:latin typeface="Times New Roman"/>
                <a:cs typeface="Times New Roman"/>
              </a:rPr>
              <a:t>merge</a:t>
            </a:r>
            <a:r>
              <a:rPr sz="2000" dirty="0">
                <a:latin typeface="Times New Roman"/>
                <a:cs typeface="Times New Roman"/>
              </a:rPr>
              <a:t>	</a:t>
            </a:r>
            <a:r>
              <a:rPr sz="2000" spc="-25" dirty="0">
                <a:latin typeface="Times New Roman"/>
                <a:cs typeface="Times New Roman"/>
              </a:rPr>
              <a:t>the</a:t>
            </a:r>
            <a:r>
              <a:rPr sz="2000" dirty="0">
                <a:latin typeface="Times New Roman"/>
                <a:cs typeface="Times New Roman"/>
              </a:rPr>
              <a:t>	</a:t>
            </a:r>
            <a:r>
              <a:rPr sz="2000" spc="-10" dirty="0">
                <a:latin typeface="Times New Roman"/>
                <a:cs typeface="Times New Roman"/>
              </a:rPr>
              <a:t>elements</a:t>
            </a:r>
            <a:r>
              <a:rPr sz="2000" dirty="0">
                <a:latin typeface="Times New Roman"/>
                <a:cs typeface="Times New Roman"/>
              </a:rPr>
              <a:t>	</a:t>
            </a:r>
            <a:r>
              <a:rPr sz="2000" spc="-20" dirty="0">
                <a:latin typeface="Times New Roman"/>
                <a:cs typeface="Times New Roman"/>
              </a:rPr>
              <a:t>from</a:t>
            </a:r>
            <a:r>
              <a:rPr sz="2000" dirty="0">
                <a:latin typeface="Times New Roman"/>
                <a:cs typeface="Times New Roman"/>
              </a:rPr>
              <a:t>	</a:t>
            </a:r>
            <a:r>
              <a:rPr sz="2000" spc="-25" dirty="0">
                <a:latin typeface="Times New Roman"/>
                <a:cs typeface="Times New Roman"/>
              </a:rPr>
              <a:t>two</a:t>
            </a:r>
            <a:r>
              <a:rPr sz="2000" dirty="0">
                <a:latin typeface="Times New Roman"/>
                <a:cs typeface="Times New Roman"/>
              </a:rPr>
              <a:t>	</a:t>
            </a:r>
            <a:r>
              <a:rPr sz="2000" spc="-10" dirty="0">
                <a:latin typeface="Times New Roman"/>
                <a:cs typeface="Times New Roman"/>
              </a:rPr>
              <a:t>source</a:t>
            </a:r>
            <a:r>
              <a:rPr sz="2000" dirty="0">
                <a:latin typeface="Times New Roman"/>
                <a:cs typeface="Times New Roman"/>
              </a:rPr>
              <a:t>	</a:t>
            </a:r>
            <a:r>
              <a:rPr sz="2000" spc="-10" dirty="0">
                <a:latin typeface="Times New Roman"/>
                <a:cs typeface="Times New Roman"/>
              </a:rPr>
              <a:t>containers</a:t>
            </a:r>
            <a:r>
              <a:rPr sz="2000" dirty="0">
                <a:latin typeface="Times New Roman"/>
                <a:cs typeface="Times New Roman"/>
              </a:rPr>
              <a:t>	</a:t>
            </a:r>
            <a:r>
              <a:rPr sz="2000" spc="-20" dirty="0">
                <a:latin typeface="Times New Roman"/>
                <a:cs typeface="Times New Roman"/>
              </a:rPr>
              <a:t>into</a:t>
            </a:r>
            <a:r>
              <a:rPr sz="2000" dirty="0">
                <a:latin typeface="Times New Roman"/>
                <a:cs typeface="Times New Roman"/>
              </a:rPr>
              <a:t>	</a:t>
            </a:r>
            <a:r>
              <a:rPr sz="2000" spc="-50" dirty="0">
                <a:latin typeface="Times New Roman"/>
                <a:cs typeface="Times New Roman"/>
              </a:rPr>
              <a:t>a</a:t>
            </a:r>
            <a:endParaRPr sz="2000">
              <a:latin typeface="Times New Roman"/>
              <a:cs typeface="Times New Roman"/>
            </a:endParaRPr>
          </a:p>
          <a:p>
            <a:pPr marL="355600">
              <a:lnSpc>
                <a:spcPts val="2370"/>
              </a:lnSpc>
            </a:pPr>
            <a:r>
              <a:rPr sz="2000" dirty="0">
                <a:latin typeface="Times New Roman"/>
                <a:cs typeface="Times New Roman"/>
              </a:rPr>
              <a:t>destination</a:t>
            </a:r>
            <a:r>
              <a:rPr sz="2000" spc="-65"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5600" indent="-342900">
              <a:lnSpc>
                <a:spcPts val="2370"/>
              </a:lnSpc>
              <a:buFont typeface="Arial MT"/>
              <a:buChar char="•"/>
              <a:tabLst>
                <a:tab pos="355600" algn="l"/>
              </a:tabLst>
            </a:pPr>
            <a:r>
              <a:rPr sz="2000" b="1" i="1" dirty="0">
                <a:solidFill>
                  <a:srgbClr val="273139"/>
                </a:solidFill>
                <a:latin typeface="Calibri"/>
                <a:cs typeface="Calibri"/>
              </a:rPr>
              <a:t>merge</a:t>
            </a:r>
            <a:r>
              <a:rPr sz="2000" b="1" i="1" spc="-30" dirty="0">
                <a:solidFill>
                  <a:srgbClr val="273139"/>
                </a:solidFill>
                <a:latin typeface="Calibri"/>
                <a:cs typeface="Calibri"/>
              </a:rPr>
              <a:t> </a:t>
            </a:r>
            <a:r>
              <a:rPr sz="2000" b="1" i="1" dirty="0">
                <a:solidFill>
                  <a:srgbClr val="273139"/>
                </a:solidFill>
                <a:latin typeface="Calibri"/>
                <a:cs typeface="Calibri"/>
              </a:rPr>
              <a:t>(initer1</a:t>
            </a:r>
            <a:r>
              <a:rPr sz="2000" b="1" i="1" spc="-60" dirty="0">
                <a:solidFill>
                  <a:srgbClr val="273139"/>
                </a:solidFill>
                <a:latin typeface="Calibri"/>
                <a:cs typeface="Calibri"/>
              </a:rPr>
              <a:t> </a:t>
            </a:r>
            <a:r>
              <a:rPr sz="2000" b="1" i="1" dirty="0">
                <a:solidFill>
                  <a:srgbClr val="273139"/>
                </a:solidFill>
                <a:latin typeface="Calibri"/>
                <a:cs typeface="Calibri"/>
              </a:rPr>
              <a:t>beg1,</a:t>
            </a:r>
            <a:r>
              <a:rPr sz="2000" b="1" i="1" spc="-45" dirty="0">
                <a:solidFill>
                  <a:srgbClr val="273139"/>
                </a:solidFill>
                <a:latin typeface="Calibri"/>
                <a:cs typeface="Calibri"/>
              </a:rPr>
              <a:t> </a:t>
            </a:r>
            <a:r>
              <a:rPr sz="2000" b="1" i="1" dirty="0">
                <a:solidFill>
                  <a:srgbClr val="273139"/>
                </a:solidFill>
                <a:latin typeface="Calibri"/>
                <a:cs typeface="Calibri"/>
              </a:rPr>
              <a:t>initer1</a:t>
            </a:r>
            <a:r>
              <a:rPr sz="2000" b="1" i="1" spc="-55" dirty="0">
                <a:solidFill>
                  <a:srgbClr val="273139"/>
                </a:solidFill>
                <a:latin typeface="Calibri"/>
                <a:cs typeface="Calibri"/>
              </a:rPr>
              <a:t> </a:t>
            </a:r>
            <a:r>
              <a:rPr sz="2000" b="1" i="1" dirty="0">
                <a:solidFill>
                  <a:srgbClr val="273139"/>
                </a:solidFill>
                <a:latin typeface="Calibri"/>
                <a:cs typeface="Calibri"/>
              </a:rPr>
              <a:t>end1,initer2</a:t>
            </a:r>
            <a:r>
              <a:rPr sz="2000" b="1" i="1" spc="-60" dirty="0">
                <a:solidFill>
                  <a:srgbClr val="273139"/>
                </a:solidFill>
                <a:latin typeface="Calibri"/>
                <a:cs typeface="Calibri"/>
              </a:rPr>
              <a:t> </a:t>
            </a:r>
            <a:r>
              <a:rPr sz="2000" b="1" i="1" dirty="0">
                <a:solidFill>
                  <a:srgbClr val="273139"/>
                </a:solidFill>
                <a:latin typeface="Calibri"/>
                <a:cs typeface="Calibri"/>
              </a:rPr>
              <a:t>beg2,</a:t>
            </a:r>
            <a:r>
              <a:rPr sz="2000" b="1" i="1" spc="-40" dirty="0">
                <a:solidFill>
                  <a:srgbClr val="273139"/>
                </a:solidFill>
                <a:latin typeface="Calibri"/>
                <a:cs typeface="Calibri"/>
              </a:rPr>
              <a:t> </a:t>
            </a:r>
            <a:r>
              <a:rPr sz="2000" b="1" i="1" dirty="0">
                <a:solidFill>
                  <a:srgbClr val="273139"/>
                </a:solidFill>
                <a:latin typeface="Calibri"/>
                <a:cs typeface="Calibri"/>
              </a:rPr>
              <a:t>initer2</a:t>
            </a:r>
            <a:r>
              <a:rPr sz="2000" b="1" i="1" spc="-55" dirty="0">
                <a:solidFill>
                  <a:srgbClr val="273139"/>
                </a:solidFill>
                <a:latin typeface="Calibri"/>
                <a:cs typeface="Calibri"/>
              </a:rPr>
              <a:t> </a:t>
            </a:r>
            <a:r>
              <a:rPr sz="2000" b="1" i="1" dirty="0">
                <a:solidFill>
                  <a:srgbClr val="273139"/>
                </a:solidFill>
                <a:latin typeface="Calibri"/>
                <a:cs typeface="Calibri"/>
              </a:rPr>
              <a:t>end2,</a:t>
            </a:r>
            <a:r>
              <a:rPr sz="2000" b="1" i="1" spc="-45" dirty="0">
                <a:solidFill>
                  <a:srgbClr val="273139"/>
                </a:solidFill>
                <a:latin typeface="Calibri"/>
                <a:cs typeface="Calibri"/>
              </a:rPr>
              <a:t> </a:t>
            </a:r>
            <a:r>
              <a:rPr sz="2000" b="1" i="1" dirty="0">
                <a:solidFill>
                  <a:srgbClr val="273139"/>
                </a:solidFill>
                <a:latin typeface="Calibri"/>
                <a:cs typeface="Calibri"/>
              </a:rPr>
              <a:t>outiter</a:t>
            </a:r>
            <a:r>
              <a:rPr sz="2000" b="1" i="1" spc="-50" dirty="0">
                <a:solidFill>
                  <a:srgbClr val="273139"/>
                </a:solidFill>
                <a:latin typeface="Calibri"/>
                <a:cs typeface="Calibri"/>
              </a:rPr>
              <a:t> </a:t>
            </a:r>
            <a:r>
              <a:rPr sz="2000" b="1" i="1" spc="-20" dirty="0">
                <a:solidFill>
                  <a:srgbClr val="273139"/>
                </a:solidFill>
                <a:latin typeface="Calibri"/>
                <a:cs typeface="Calibri"/>
              </a:rPr>
              <a:t>res)</a:t>
            </a:r>
            <a:endParaRPr sz="2000">
              <a:latin typeface="Calibri"/>
              <a:cs typeface="Calibri"/>
            </a:endParaRPr>
          </a:p>
        </p:txBody>
      </p:sp>
      <p:grpSp>
        <p:nvGrpSpPr>
          <p:cNvPr id="4" name="object 4"/>
          <p:cNvGrpSpPr/>
          <p:nvPr/>
        </p:nvGrpSpPr>
        <p:grpSpPr>
          <a:xfrm>
            <a:off x="1258687" y="2537039"/>
            <a:ext cx="4340860" cy="3710304"/>
            <a:chOff x="1258687" y="2537039"/>
            <a:chExt cx="4340860" cy="3710304"/>
          </a:xfrm>
        </p:grpSpPr>
        <p:pic>
          <p:nvPicPr>
            <p:cNvPr id="5" name="object 5"/>
            <p:cNvPicPr/>
            <p:nvPr/>
          </p:nvPicPr>
          <p:blipFill>
            <a:blip r:embed="rId2" cstate="print"/>
            <a:stretch>
              <a:fillRect/>
            </a:stretch>
          </p:blipFill>
          <p:spPr>
            <a:xfrm>
              <a:off x="1258687" y="2537039"/>
              <a:ext cx="4334392" cy="3709980"/>
            </a:xfrm>
            <a:prstGeom prst="rect">
              <a:avLst/>
            </a:prstGeom>
          </p:spPr>
        </p:pic>
        <p:sp>
          <p:nvSpPr>
            <p:cNvPr id="6" name="object 6"/>
            <p:cNvSpPr/>
            <p:nvPr/>
          </p:nvSpPr>
          <p:spPr>
            <a:xfrm>
              <a:off x="4120896" y="2689859"/>
              <a:ext cx="1472565" cy="292735"/>
            </a:xfrm>
            <a:custGeom>
              <a:avLst/>
              <a:gdLst/>
              <a:ahLst/>
              <a:cxnLst/>
              <a:rect l="l" t="t" r="r" b="b"/>
              <a:pathLst>
                <a:path w="1472564" h="292735">
                  <a:moveTo>
                    <a:pt x="1472184" y="0"/>
                  </a:moveTo>
                  <a:lnTo>
                    <a:pt x="0" y="0"/>
                  </a:lnTo>
                  <a:lnTo>
                    <a:pt x="0" y="292608"/>
                  </a:lnTo>
                  <a:lnTo>
                    <a:pt x="1472184" y="292608"/>
                  </a:lnTo>
                  <a:lnTo>
                    <a:pt x="1472184" y="0"/>
                  </a:lnTo>
                  <a:close/>
                </a:path>
              </a:pathLst>
            </a:custGeom>
            <a:solidFill>
              <a:srgbClr val="FFFFFF"/>
            </a:solidFill>
          </p:spPr>
          <p:txBody>
            <a:bodyPr wrap="square" lIns="0" tIns="0" rIns="0" bIns="0" rtlCol="0"/>
            <a:lstStyle/>
            <a:p>
              <a:endParaRPr/>
            </a:p>
          </p:txBody>
        </p:sp>
        <p:sp>
          <p:nvSpPr>
            <p:cNvPr id="7" name="object 7"/>
            <p:cNvSpPr/>
            <p:nvPr/>
          </p:nvSpPr>
          <p:spPr>
            <a:xfrm>
              <a:off x="4120896" y="2689859"/>
              <a:ext cx="1472565" cy="292735"/>
            </a:xfrm>
            <a:custGeom>
              <a:avLst/>
              <a:gdLst/>
              <a:ahLst/>
              <a:cxnLst/>
              <a:rect l="l" t="t" r="r" b="b"/>
              <a:pathLst>
                <a:path w="1472564" h="292735">
                  <a:moveTo>
                    <a:pt x="0" y="292608"/>
                  </a:moveTo>
                  <a:lnTo>
                    <a:pt x="1472184" y="292608"/>
                  </a:lnTo>
                  <a:lnTo>
                    <a:pt x="1472184" y="0"/>
                  </a:lnTo>
                  <a:lnTo>
                    <a:pt x="0" y="0"/>
                  </a:lnTo>
                  <a:lnTo>
                    <a:pt x="0" y="292608"/>
                  </a:lnTo>
                  <a:close/>
                </a:path>
              </a:pathLst>
            </a:custGeom>
            <a:ln w="12699">
              <a:solidFill>
                <a:srgbClr val="FFFFFF"/>
              </a:solidFill>
            </a:ln>
          </p:spPr>
          <p:txBody>
            <a:bodyPr wrap="square" lIns="0" tIns="0" rIns="0" bIns="0" rtlCol="0"/>
            <a:lstStyle/>
            <a:p>
              <a:endParaRPr/>
            </a:p>
          </p:txBody>
        </p:sp>
        <p:sp>
          <p:nvSpPr>
            <p:cNvPr id="8" name="object 8"/>
            <p:cNvSpPr/>
            <p:nvPr/>
          </p:nvSpPr>
          <p:spPr>
            <a:xfrm>
              <a:off x="4120896" y="4413503"/>
              <a:ext cx="1472565" cy="291465"/>
            </a:xfrm>
            <a:custGeom>
              <a:avLst/>
              <a:gdLst/>
              <a:ahLst/>
              <a:cxnLst/>
              <a:rect l="l" t="t" r="r" b="b"/>
              <a:pathLst>
                <a:path w="1472564" h="291464">
                  <a:moveTo>
                    <a:pt x="1472184" y="0"/>
                  </a:moveTo>
                  <a:lnTo>
                    <a:pt x="0" y="0"/>
                  </a:lnTo>
                  <a:lnTo>
                    <a:pt x="0" y="291084"/>
                  </a:lnTo>
                  <a:lnTo>
                    <a:pt x="1472184" y="291084"/>
                  </a:lnTo>
                  <a:lnTo>
                    <a:pt x="1472184" y="0"/>
                  </a:lnTo>
                  <a:close/>
                </a:path>
              </a:pathLst>
            </a:custGeom>
            <a:solidFill>
              <a:srgbClr val="FFFFFF"/>
            </a:solidFill>
          </p:spPr>
          <p:txBody>
            <a:bodyPr wrap="square" lIns="0" tIns="0" rIns="0" bIns="0" rtlCol="0"/>
            <a:lstStyle/>
            <a:p>
              <a:endParaRPr/>
            </a:p>
          </p:txBody>
        </p:sp>
        <p:sp>
          <p:nvSpPr>
            <p:cNvPr id="9" name="object 9"/>
            <p:cNvSpPr/>
            <p:nvPr/>
          </p:nvSpPr>
          <p:spPr>
            <a:xfrm>
              <a:off x="4120896" y="4413503"/>
              <a:ext cx="1472565" cy="291465"/>
            </a:xfrm>
            <a:custGeom>
              <a:avLst/>
              <a:gdLst/>
              <a:ahLst/>
              <a:cxnLst/>
              <a:rect l="l" t="t" r="r" b="b"/>
              <a:pathLst>
                <a:path w="1472564" h="291464">
                  <a:moveTo>
                    <a:pt x="0" y="291084"/>
                  </a:moveTo>
                  <a:lnTo>
                    <a:pt x="1472184" y="291084"/>
                  </a:lnTo>
                  <a:lnTo>
                    <a:pt x="1472184" y="0"/>
                  </a:lnTo>
                  <a:lnTo>
                    <a:pt x="0" y="0"/>
                  </a:lnTo>
                  <a:lnTo>
                    <a:pt x="0" y="291084"/>
                  </a:lnTo>
                  <a:close/>
                </a:path>
              </a:pathLst>
            </a:custGeom>
            <a:ln w="12700">
              <a:solidFill>
                <a:srgbClr val="FFFFFF"/>
              </a:solidFill>
            </a:ln>
          </p:spPr>
          <p:txBody>
            <a:bodyPr wrap="square" lIns="0" tIns="0" rIns="0" bIns="0" rtlCol="0"/>
            <a:lstStyle/>
            <a:p>
              <a:endParaRPr/>
            </a:p>
          </p:txBody>
        </p:sp>
        <p:sp>
          <p:nvSpPr>
            <p:cNvPr id="10" name="object 10"/>
            <p:cNvSpPr/>
            <p:nvPr/>
          </p:nvSpPr>
          <p:spPr>
            <a:xfrm>
              <a:off x="4120896" y="4969763"/>
              <a:ext cx="1472565" cy="172720"/>
            </a:xfrm>
            <a:custGeom>
              <a:avLst/>
              <a:gdLst/>
              <a:ahLst/>
              <a:cxnLst/>
              <a:rect l="l" t="t" r="r" b="b"/>
              <a:pathLst>
                <a:path w="1472564" h="172720">
                  <a:moveTo>
                    <a:pt x="1472184" y="0"/>
                  </a:moveTo>
                  <a:lnTo>
                    <a:pt x="0" y="0"/>
                  </a:lnTo>
                  <a:lnTo>
                    <a:pt x="0" y="172212"/>
                  </a:lnTo>
                  <a:lnTo>
                    <a:pt x="1472184" y="172212"/>
                  </a:lnTo>
                  <a:lnTo>
                    <a:pt x="1472184" y="0"/>
                  </a:lnTo>
                  <a:close/>
                </a:path>
              </a:pathLst>
            </a:custGeom>
            <a:solidFill>
              <a:srgbClr val="FFFFFF"/>
            </a:solidFill>
          </p:spPr>
          <p:txBody>
            <a:bodyPr wrap="square" lIns="0" tIns="0" rIns="0" bIns="0" rtlCol="0"/>
            <a:lstStyle/>
            <a:p>
              <a:endParaRPr/>
            </a:p>
          </p:txBody>
        </p:sp>
        <p:sp>
          <p:nvSpPr>
            <p:cNvPr id="11" name="object 11"/>
            <p:cNvSpPr/>
            <p:nvPr/>
          </p:nvSpPr>
          <p:spPr>
            <a:xfrm>
              <a:off x="4120896" y="4969763"/>
              <a:ext cx="1472565" cy="172720"/>
            </a:xfrm>
            <a:custGeom>
              <a:avLst/>
              <a:gdLst/>
              <a:ahLst/>
              <a:cxnLst/>
              <a:rect l="l" t="t" r="r" b="b"/>
              <a:pathLst>
                <a:path w="1472564" h="172720">
                  <a:moveTo>
                    <a:pt x="0" y="172212"/>
                  </a:moveTo>
                  <a:lnTo>
                    <a:pt x="1472184" y="172212"/>
                  </a:lnTo>
                  <a:lnTo>
                    <a:pt x="1472184" y="0"/>
                  </a:lnTo>
                  <a:lnTo>
                    <a:pt x="0" y="0"/>
                  </a:lnTo>
                  <a:lnTo>
                    <a:pt x="0" y="172212"/>
                  </a:lnTo>
                  <a:close/>
                </a:path>
              </a:pathLst>
            </a:custGeom>
            <a:ln w="12700">
              <a:solidFill>
                <a:srgbClr val="FFFFFF"/>
              </a:solidFill>
            </a:ln>
          </p:spPr>
          <p:txBody>
            <a:bodyPr wrap="square" lIns="0" tIns="0" rIns="0" bIns="0" rtlCol="0"/>
            <a:lstStyle/>
            <a:p>
              <a:endParaRPr/>
            </a:p>
          </p:txBody>
        </p:sp>
      </p:grpSp>
      <p:sp>
        <p:nvSpPr>
          <p:cNvPr id="12" name="object 12"/>
          <p:cNvSpPr txBox="1"/>
          <p:nvPr/>
        </p:nvSpPr>
        <p:spPr>
          <a:xfrm>
            <a:off x="7156195" y="3298063"/>
            <a:ext cx="3934460" cy="216027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The output</a:t>
            </a:r>
            <a:r>
              <a:rPr sz="2000" spc="-40" dirty="0">
                <a:latin typeface="Times New Roman"/>
                <a:cs typeface="Times New Roman"/>
              </a:rPr>
              <a:t> </a:t>
            </a:r>
            <a:r>
              <a:rPr sz="2000" dirty="0">
                <a:latin typeface="Times New Roman"/>
                <a:cs typeface="Times New Roman"/>
              </a:rPr>
              <a:t>looks</a:t>
            </a:r>
            <a:r>
              <a:rPr sz="2000" spc="-30" dirty="0">
                <a:latin typeface="Times New Roman"/>
                <a:cs typeface="Times New Roman"/>
              </a:rPr>
              <a:t> </a:t>
            </a:r>
            <a:r>
              <a:rPr sz="2000" dirty="0">
                <a:latin typeface="Times New Roman"/>
                <a:cs typeface="Times New Roman"/>
              </a:rPr>
              <a:t>like</a:t>
            </a:r>
            <a:r>
              <a:rPr sz="2000" spc="-10" dirty="0">
                <a:latin typeface="Times New Roman"/>
                <a:cs typeface="Times New Roman"/>
              </a:rPr>
              <a:t> this:</a:t>
            </a:r>
            <a:endParaRPr sz="2000">
              <a:latin typeface="Times New Roman"/>
              <a:cs typeface="Times New Roman"/>
            </a:endParaRPr>
          </a:p>
          <a:p>
            <a:pPr marL="12700">
              <a:lnSpc>
                <a:spcPct val="100000"/>
              </a:lnSpc>
            </a:pPr>
            <a:r>
              <a:rPr sz="2000" dirty="0">
                <a:latin typeface="Times New Roman"/>
                <a:cs typeface="Times New Roman"/>
              </a:rPr>
              <a:t>1 2 3</a:t>
            </a:r>
            <a:r>
              <a:rPr sz="2000" spc="-10" dirty="0">
                <a:latin typeface="Times New Roman"/>
                <a:cs typeface="Times New Roman"/>
              </a:rPr>
              <a:t> </a:t>
            </a:r>
            <a:r>
              <a:rPr sz="2000" dirty="0">
                <a:latin typeface="Times New Roman"/>
                <a:cs typeface="Times New Roman"/>
              </a:rPr>
              <a:t>3 4 5</a:t>
            </a:r>
            <a:r>
              <a:rPr sz="2000" spc="-10" dirty="0">
                <a:latin typeface="Times New Roman"/>
                <a:cs typeface="Times New Roman"/>
              </a:rPr>
              <a:t> </a:t>
            </a:r>
            <a:r>
              <a:rPr sz="2000" dirty="0">
                <a:latin typeface="Times New Roman"/>
                <a:cs typeface="Times New Roman"/>
              </a:rPr>
              <a:t>6 </a:t>
            </a:r>
            <a:r>
              <a:rPr sz="2000" spc="-50" dirty="0">
                <a:latin typeface="Times New Roman"/>
                <a:cs typeface="Times New Roman"/>
              </a:rPr>
              <a:t>8</a:t>
            </a:r>
            <a:endParaRPr sz="2000">
              <a:latin typeface="Times New Roman"/>
              <a:cs typeface="Times New Roman"/>
            </a:endParaRPr>
          </a:p>
          <a:p>
            <a:pPr>
              <a:lnSpc>
                <a:spcPct val="100000"/>
              </a:lnSpc>
              <a:spcBef>
                <a:spcPts val="95"/>
              </a:spcBef>
            </a:pPr>
            <a:endParaRPr sz="2000">
              <a:latin typeface="Times New Roman"/>
              <a:cs typeface="Times New Roman"/>
            </a:endParaRPr>
          </a:p>
          <a:p>
            <a:pPr marL="12700" marR="5080" algn="just">
              <a:lnSpc>
                <a:spcPct val="100000"/>
              </a:lnSpc>
              <a:spcBef>
                <a:spcPts val="5"/>
              </a:spcBef>
            </a:pPr>
            <a:r>
              <a:rPr sz="2000" dirty="0">
                <a:latin typeface="Times New Roman"/>
                <a:cs typeface="Times New Roman"/>
              </a:rPr>
              <a:t>As</a:t>
            </a:r>
            <a:r>
              <a:rPr sz="2000" spc="-20" dirty="0">
                <a:latin typeface="Times New Roman"/>
                <a:cs typeface="Times New Roman"/>
              </a:rPr>
              <a:t> </a:t>
            </a:r>
            <a:r>
              <a:rPr sz="2000" dirty="0">
                <a:latin typeface="Times New Roman"/>
                <a:cs typeface="Times New Roman"/>
              </a:rPr>
              <a:t>you</a:t>
            </a:r>
            <a:r>
              <a:rPr sz="2000" spc="-20" dirty="0">
                <a:latin typeface="Times New Roman"/>
                <a:cs typeface="Times New Roman"/>
              </a:rPr>
              <a:t> </a:t>
            </a:r>
            <a:r>
              <a:rPr sz="2000" dirty="0">
                <a:latin typeface="Times New Roman"/>
                <a:cs typeface="Times New Roman"/>
              </a:rPr>
              <a:t>can</a:t>
            </a:r>
            <a:r>
              <a:rPr sz="2000" spc="-25" dirty="0">
                <a:latin typeface="Times New Roman"/>
                <a:cs typeface="Times New Roman"/>
              </a:rPr>
              <a:t> </a:t>
            </a:r>
            <a:r>
              <a:rPr sz="2000" dirty="0">
                <a:latin typeface="Times New Roman"/>
                <a:cs typeface="Times New Roman"/>
              </a:rPr>
              <a:t>see,</a:t>
            </a:r>
            <a:r>
              <a:rPr sz="2000" spc="-20" dirty="0">
                <a:latin typeface="Times New Roman"/>
                <a:cs typeface="Times New Roman"/>
              </a:rPr>
              <a:t> </a:t>
            </a:r>
            <a:r>
              <a:rPr sz="2000" dirty="0">
                <a:latin typeface="Times New Roman"/>
                <a:cs typeface="Times New Roman"/>
              </a:rPr>
              <a:t>merging</a:t>
            </a:r>
            <a:r>
              <a:rPr sz="2000" spc="-45" dirty="0">
                <a:latin typeface="Times New Roman"/>
                <a:cs typeface="Times New Roman"/>
              </a:rPr>
              <a:t> </a:t>
            </a:r>
            <a:r>
              <a:rPr sz="2000" dirty="0">
                <a:latin typeface="Times New Roman"/>
                <a:cs typeface="Times New Roman"/>
              </a:rPr>
              <a:t>preserves</a:t>
            </a:r>
            <a:r>
              <a:rPr sz="2000" spc="-60" dirty="0">
                <a:latin typeface="Times New Roman"/>
                <a:cs typeface="Times New Roman"/>
              </a:rPr>
              <a:t> </a:t>
            </a:r>
            <a:r>
              <a:rPr sz="2000" spc="-25" dirty="0">
                <a:latin typeface="Times New Roman"/>
                <a:cs typeface="Times New Roman"/>
              </a:rPr>
              <a:t>the </a:t>
            </a:r>
            <a:r>
              <a:rPr sz="2000" dirty="0">
                <a:latin typeface="Times New Roman"/>
                <a:cs typeface="Times New Roman"/>
              </a:rPr>
              <a:t>ordering,</a:t>
            </a:r>
            <a:r>
              <a:rPr sz="2000" spc="-40" dirty="0">
                <a:latin typeface="Times New Roman"/>
                <a:cs typeface="Times New Roman"/>
              </a:rPr>
              <a:t> </a:t>
            </a:r>
            <a:r>
              <a:rPr sz="2000" dirty="0">
                <a:latin typeface="Times New Roman"/>
                <a:cs typeface="Times New Roman"/>
              </a:rPr>
              <a:t>gathering</a:t>
            </a:r>
            <a:r>
              <a:rPr sz="2000" spc="-40"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two </a:t>
            </a:r>
            <a:r>
              <a:rPr sz="2000" spc="-10" dirty="0">
                <a:latin typeface="Times New Roman"/>
                <a:cs typeface="Times New Roman"/>
              </a:rPr>
              <a:t>sequences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source</a:t>
            </a:r>
            <a:r>
              <a:rPr sz="2000" spc="-45" dirty="0">
                <a:latin typeface="Times New Roman"/>
                <a:cs typeface="Times New Roman"/>
              </a:rPr>
              <a:t> </a:t>
            </a:r>
            <a:r>
              <a:rPr sz="2000" dirty="0">
                <a:latin typeface="Times New Roman"/>
                <a:cs typeface="Times New Roman"/>
              </a:rPr>
              <a:t>elements</a:t>
            </a:r>
            <a:r>
              <a:rPr sz="2000" spc="-5" dirty="0">
                <a:latin typeface="Times New Roman"/>
                <a:cs typeface="Times New Roman"/>
              </a:rPr>
              <a:t> </a:t>
            </a:r>
            <a:r>
              <a:rPr sz="2000" dirty="0">
                <a:latin typeface="Times New Roman"/>
                <a:cs typeface="Times New Roman"/>
              </a:rPr>
              <a:t>into</a:t>
            </a:r>
            <a:r>
              <a:rPr sz="2000" spc="-20"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spc="-10" dirty="0">
                <a:latin typeface="Times New Roman"/>
                <a:cs typeface="Times New Roman"/>
              </a:rPr>
              <a:t>destination container.</a:t>
            </a:r>
            <a:endParaRPr sz="2000">
              <a:latin typeface="Times New Roman"/>
              <a:cs typeface="Times New Roman"/>
            </a:endParaRPr>
          </a:p>
        </p:txBody>
      </p:sp>
      <p:sp>
        <p:nvSpPr>
          <p:cNvPr id="15" name="object 15"/>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6" name="object 16"/>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7" name="Date Placeholder 16">
            <a:extLst>
              <a:ext uri="{FF2B5EF4-FFF2-40B4-BE49-F238E27FC236}">
                <a16:creationId xmlns:a16="http://schemas.microsoft.com/office/drawing/2014/main" id="{1FC1CBF2-781F-F9BD-8B92-486DA861563C}"/>
              </a:ext>
            </a:extLst>
          </p:cNvPr>
          <p:cNvSpPr>
            <a:spLocks noGrp="1"/>
          </p:cNvSpPr>
          <p:nvPr>
            <p:ph type="dt" sz="half" idx="10"/>
          </p:nvPr>
        </p:nvSpPr>
        <p:spPr/>
        <p:txBody>
          <a:bodyPr/>
          <a:lstStyle/>
          <a:p>
            <a:fld id="{6FEB95E3-3E1C-476B-9545-9C8874218A02}" type="datetime1">
              <a:rPr lang="en-US" smtClean="0"/>
              <a:t>11/17/2025</a:t>
            </a:fld>
            <a:endParaRPr lang="en-US"/>
          </a:p>
        </p:txBody>
      </p:sp>
      <p:sp>
        <p:nvSpPr>
          <p:cNvPr id="18" name="Slide Number Placeholder 17">
            <a:extLst>
              <a:ext uri="{FF2B5EF4-FFF2-40B4-BE49-F238E27FC236}">
                <a16:creationId xmlns:a16="http://schemas.microsoft.com/office/drawing/2014/main" id="{0BF16C5F-288C-5ED4-1682-EDA96A5BF2BE}"/>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65</a:t>
            </a:fld>
            <a:endParaRPr spc="-25"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20" dirty="0"/>
              <a:t> </a:t>
            </a:r>
            <a:r>
              <a:rPr spc="-20" dirty="0"/>
              <a:t>for_each()</a:t>
            </a:r>
            <a:r>
              <a:rPr spc="-185" dirty="0"/>
              <a:t> </a:t>
            </a:r>
            <a:r>
              <a:rPr spc="-10" dirty="0"/>
              <a:t>Algorithm</a:t>
            </a:r>
          </a:p>
        </p:txBody>
      </p:sp>
      <p:sp>
        <p:nvSpPr>
          <p:cNvPr id="8" name="object 8"/>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3" name="object 3"/>
          <p:cNvSpPr txBox="1"/>
          <p:nvPr/>
        </p:nvSpPr>
        <p:spPr>
          <a:xfrm>
            <a:off x="916939" y="1463166"/>
            <a:ext cx="10354945" cy="2465070"/>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5600" algn="l"/>
              </a:tabLst>
            </a:pP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for_each()</a:t>
            </a:r>
            <a:r>
              <a:rPr sz="2000" spc="-60" dirty="0">
                <a:latin typeface="Times New Roman"/>
                <a:cs typeface="Times New Roman"/>
              </a:rPr>
              <a:t> </a:t>
            </a:r>
            <a:r>
              <a:rPr sz="2000" dirty="0">
                <a:latin typeface="Times New Roman"/>
                <a:cs typeface="Times New Roman"/>
              </a:rPr>
              <a:t>algorithm</a:t>
            </a:r>
            <a:r>
              <a:rPr sz="2000" spc="-45" dirty="0">
                <a:latin typeface="Times New Roman"/>
                <a:cs typeface="Times New Roman"/>
              </a:rPr>
              <a:t> </a:t>
            </a:r>
            <a:r>
              <a:rPr sz="2000" dirty="0">
                <a:latin typeface="Times New Roman"/>
                <a:cs typeface="Times New Roman"/>
              </a:rPr>
              <a:t>allows</a:t>
            </a:r>
            <a:r>
              <a:rPr sz="2000" spc="-20" dirty="0">
                <a:latin typeface="Times New Roman"/>
                <a:cs typeface="Times New Roman"/>
              </a:rPr>
              <a:t> </a:t>
            </a:r>
            <a:r>
              <a:rPr sz="2000" dirty="0">
                <a:latin typeface="Times New Roman"/>
                <a:cs typeface="Times New Roman"/>
              </a:rPr>
              <a:t>you</a:t>
            </a:r>
            <a:r>
              <a:rPr sz="2000" spc="-10"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do</a:t>
            </a:r>
            <a:r>
              <a:rPr sz="2000" spc="-10" dirty="0">
                <a:latin typeface="Times New Roman"/>
                <a:cs typeface="Times New Roman"/>
              </a:rPr>
              <a:t> </a:t>
            </a:r>
            <a:r>
              <a:rPr sz="2000" dirty="0">
                <a:latin typeface="Times New Roman"/>
                <a:cs typeface="Times New Roman"/>
              </a:rPr>
              <a:t>something</a:t>
            </a:r>
            <a:r>
              <a:rPr sz="2000" spc="-25"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every</a:t>
            </a:r>
            <a:r>
              <a:rPr sz="2000" spc="-30" dirty="0">
                <a:latin typeface="Times New Roman"/>
                <a:cs typeface="Times New Roman"/>
              </a:rPr>
              <a:t> </a:t>
            </a:r>
            <a:r>
              <a:rPr sz="2000" dirty="0">
                <a:latin typeface="Times New Roman"/>
                <a:cs typeface="Times New Roman"/>
              </a:rPr>
              <a:t>item</a:t>
            </a:r>
            <a:r>
              <a:rPr sz="2000" spc="-15"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a</a:t>
            </a:r>
            <a:r>
              <a:rPr sz="2000" spc="-15"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5600" indent="-342900">
              <a:lnSpc>
                <a:spcPct val="100000"/>
              </a:lnSpc>
              <a:buFont typeface="Arial MT"/>
              <a:buChar char="•"/>
              <a:tabLst>
                <a:tab pos="355600" algn="l"/>
              </a:tabLst>
            </a:pPr>
            <a:r>
              <a:rPr sz="2000" spc="-55" dirty="0">
                <a:latin typeface="Times New Roman"/>
                <a:cs typeface="Times New Roman"/>
              </a:rPr>
              <a:t>You</a:t>
            </a:r>
            <a:r>
              <a:rPr sz="2000" spc="-30" dirty="0">
                <a:latin typeface="Times New Roman"/>
                <a:cs typeface="Times New Roman"/>
              </a:rPr>
              <a:t> </a:t>
            </a:r>
            <a:r>
              <a:rPr sz="2000" dirty="0">
                <a:latin typeface="Times New Roman"/>
                <a:cs typeface="Times New Roman"/>
              </a:rPr>
              <a:t>write</a:t>
            </a:r>
            <a:r>
              <a:rPr sz="2000" spc="-25" dirty="0">
                <a:latin typeface="Times New Roman"/>
                <a:cs typeface="Times New Roman"/>
              </a:rPr>
              <a:t> </a:t>
            </a:r>
            <a:r>
              <a:rPr sz="2000" dirty="0">
                <a:latin typeface="Times New Roman"/>
                <a:cs typeface="Times New Roman"/>
              </a:rPr>
              <a:t>your</a:t>
            </a:r>
            <a:r>
              <a:rPr sz="2000" spc="-25" dirty="0">
                <a:latin typeface="Times New Roman"/>
                <a:cs typeface="Times New Roman"/>
              </a:rPr>
              <a:t> </a:t>
            </a:r>
            <a:r>
              <a:rPr sz="2000" dirty="0">
                <a:latin typeface="Times New Roman"/>
                <a:cs typeface="Times New Roman"/>
              </a:rPr>
              <a:t>own</a:t>
            </a:r>
            <a:r>
              <a:rPr sz="2000" spc="-30" dirty="0">
                <a:latin typeface="Times New Roman"/>
                <a:cs typeface="Times New Roman"/>
              </a:rPr>
              <a:t> </a:t>
            </a:r>
            <a:r>
              <a:rPr sz="2000" dirty="0">
                <a:latin typeface="Times New Roman"/>
                <a:cs typeface="Times New Roman"/>
              </a:rPr>
              <a:t>function</a:t>
            </a:r>
            <a:r>
              <a:rPr sz="2000" spc="-40"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determine</a:t>
            </a:r>
            <a:r>
              <a:rPr sz="2000" spc="-40" dirty="0">
                <a:latin typeface="Times New Roman"/>
                <a:cs typeface="Times New Roman"/>
              </a:rPr>
              <a:t> </a:t>
            </a:r>
            <a:r>
              <a:rPr sz="2000" dirty="0">
                <a:latin typeface="Times New Roman"/>
                <a:cs typeface="Times New Roman"/>
              </a:rPr>
              <a:t>what</a:t>
            </a:r>
            <a:r>
              <a:rPr sz="2000" spc="-35" dirty="0">
                <a:latin typeface="Times New Roman"/>
                <a:cs typeface="Times New Roman"/>
              </a:rPr>
              <a:t> </a:t>
            </a:r>
            <a:r>
              <a:rPr sz="2000" dirty="0">
                <a:latin typeface="Times New Roman"/>
                <a:cs typeface="Times New Roman"/>
              </a:rPr>
              <a:t>that</a:t>
            </a:r>
            <a:r>
              <a:rPr sz="2000" spc="-35" dirty="0">
                <a:latin typeface="Times New Roman"/>
                <a:cs typeface="Times New Roman"/>
              </a:rPr>
              <a:t> </a:t>
            </a:r>
            <a:r>
              <a:rPr sz="2000" dirty="0">
                <a:latin typeface="Times New Roman"/>
                <a:cs typeface="Times New Roman"/>
              </a:rPr>
              <a:t>“something”</a:t>
            </a:r>
            <a:r>
              <a:rPr sz="2000" spc="-45" dirty="0">
                <a:latin typeface="Times New Roman"/>
                <a:cs typeface="Times New Roman"/>
              </a:rPr>
              <a:t> </a:t>
            </a:r>
            <a:r>
              <a:rPr sz="2000" spc="-25" dirty="0">
                <a:latin typeface="Times New Roman"/>
                <a:cs typeface="Times New Roman"/>
              </a:rPr>
              <a:t>is.</a:t>
            </a:r>
            <a:endParaRPr sz="2000">
              <a:latin typeface="Times New Roman"/>
              <a:cs typeface="Times New Roman"/>
            </a:endParaRPr>
          </a:p>
          <a:p>
            <a:pPr marL="355600" indent="-342900">
              <a:lnSpc>
                <a:spcPts val="2370"/>
              </a:lnSpc>
              <a:buFont typeface="Arial MT"/>
              <a:buChar char="•"/>
              <a:tabLst>
                <a:tab pos="355600" algn="l"/>
              </a:tabLst>
            </a:pPr>
            <a:r>
              <a:rPr sz="2000" spc="-40" dirty="0">
                <a:latin typeface="Times New Roman"/>
                <a:cs typeface="Times New Roman"/>
              </a:rPr>
              <a:t>Your</a:t>
            </a:r>
            <a:r>
              <a:rPr sz="2000" spc="-25" dirty="0">
                <a:latin typeface="Times New Roman"/>
                <a:cs typeface="Times New Roman"/>
              </a:rPr>
              <a:t> </a:t>
            </a:r>
            <a:r>
              <a:rPr sz="2000" dirty="0">
                <a:latin typeface="Times New Roman"/>
                <a:cs typeface="Times New Roman"/>
              </a:rPr>
              <a:t>function</a:t>
            </a:r>
            <a:r>
              <a:rPr sz="2000" spc="-40" dirty="0">
                <a:latin typeface="Times New Roman"/>
                <a:cs typeface="Times New Roman"/>
              </a:rPr>
              <a:t> </a:t>
            </a:r>
            <a:r>
              <a:rPr sz="2000" dirty="0">
                <a:latin typeface="Times New Roman"/>
                <a:cs typeface="Times New Roman"/>
              </a:rPr>
              <a:t>can’t</a:t>
            </a:r>
            <a:r>
              <a:rPr sz="2000" spc="-30" dirty="0">
                <a:latin typeface="Times New Roman"/>
                <a:cs typeface="Times New Roman"/>
              </a:rPr>
              <a:t> </a:t>
            </a:r>
            <a:r>
              <a:rPr sz="2000" dirty="0">
                <a:latin typeface="Times New Roman"/>
                <a:cs typeface="Times New Roman"/>
              </a:rPr>
              <a:t>change</a:t>
            </a:r>
            <a:r>
              <a:rPr sz="2000" spc="-3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elements</a:t>
            </a:r>
            <a:r>
              <a:rPr sz="2000" spc="-15"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spc="-10" dirty="0">
                <a:latin typeface="Times New Roman"/>
                <a:cs typeface="Times New Roman"/>
              </a:rPr>
              <a:t>container,</a:t>
            </a:r>
            <a:r>
              <a:rPr sz="2000" spc="-45" dirty="0">
                <a:latin typeface="Times New Roman"/>
                <a:cs typeface="Times New Roman"/>
              </a:rPr>
              <a:t> </a:t>
            </a:r>
            <a:r>
              <a:rPr sz="2000" dirty="0">
                <a:latin typeface="Times New Roman"/>
                <a:cs typeface="Times New Roman"/>
              </a:rPr>
              <a:t>but</a:t>
            </a:r>
            <a:r>
              <a:rPr sz="2000" spc="-30" dirty="0">
                <a:latin typeface="Times New Roman"/>
                <a:cs typeface="Times New Roman"/>
              </a:rPr>
              <a:t> </a:t>
            </a:r>
            <a:r>
              <a:rPr sz="2000" dirty="0">
                <a:latin typeface="Times New Roman"/>
                <a:cs typeface="Times New Roman"/>
              </a:rPr>
              <a:t>it</a:t>
            </a:r>
            <a:r>
              <a:rPr sz="2000" spc="-10" dirty="0">
                <a:latin typeface="Times New Roman"/>
                <a:cs typeface="Times New Roman"/>
              </a:rPr>
              <a:t> </a:t>
            </a:r>
            <a:r>
              <a:rPr sz="2000" dirty="0">
                <a:latin typeface="Times New Roman"/>
                <a:cs typeface="Times New Roman"/>
              </a:rPr>
              <a:t>can</a:t>
            </a:r>
            <a:r>
              <a:rPr sz="2000" spc="-10" dirty="0">
                <a:latin typeface="Times New Roman"/>
                <a:cs typeface="Times New Roman"/>
              </a:rPr>
              <a:t> </a:t>
            </a:r>
            <a:r>
              <a:rPr sz="2000" dirty="0">
                <a:latin typeface="Times New Roman"/>
                <a:cs typeface="Times New Roman"/>
              </a:rPr>
              <a:t>use</a:t>
            </a:r>
            <a:r>
              <a:rPr sz="2000" spc="-30"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dirty="0">
                <a:latin typeface="Times New Roman"/>
                <a:cs typeface="Times New Roman"/>
              </a:rPr>
              <a:t>display</a:t>
            </a:r>
            <a:r>
              <a:rPr sz="2000" spc="-30" dirty="0">
                <a:latin typeface="Times New Roman"/>
                <a:cs typeface="Times New Roman"/>
              </a:rPr>
              <a:t> </a:t>
            </a:r>
            <a:r>
              <a:rPr sz="2000" dirty="0">
                <a:latin typeface="Times New Roman"/>
                <a:cs typeface="Times New Roman"/>
              </a:rPr>
              <a:t>their</a:t>
            </a:r>
            <a:r>
              <a:rPr sz="2000" spc="-30" dirty="0">
                <a:latin typeface="Times New Roman"/>
                <a:cs typeface="Times New Roman"/>
              </a:rPr>
              <a:t> </a:t>
            </a:r>
            <a:r>
              <a:rPr sz="2000" spc="-10" dirty="0">
                <a:latin typeface="Times New Roman"/>
                <a:cs typeface="Times New Roman"/>
              </a:rPr>
              <a:t>values.</a:t>
            </a:r>
            <a:endParaRPr sz="2000">
              <a:latin typeface="Times New Roman"/>
              <a:cs typeface="Times New Roman"/>
            </a:endParaRPr>
          </a:p>
          <a:p>
            <a:pPr marL="355600" indent="-342900">
              <a:lnSpc>
                <a:spcPts val="2370"/>
              </a:lnSpc>
              <a:buFont typeface="Arial MT"/>
              <a:buChar char="•"/>
              <a:tabLst>
                <a:tab pos="355600" algn="l"/>
              </a:tabLst>
            </a:pPr>
            <a:r>
              <a:rPr sz="2000" b="1" i="1" dirty="0">
                <a:solidFill>
                  <a:srgbClr val="273139"/>
                </a:solidFill>
                <a:latin typeface="Calibri"/>
                <a:cs typeface="Calibri"/>
              </a:rPr>
              <a:t>for_each</a:t>
            </a:r>
            <a:r>
              <a:rPr sz="2000" b="1" i="1" spc="-75" dirty="0">
                <a:solidFill>
                  <a:srgbClr val="273139"/>
                </a:solidFill>
                <a:latin typeface="Calibri"/>
                <a:cs typeface="Calibri"/>
              </a:rPr>
              <a:t> </a:t>
            </a:r>
            <a:r>
              <a:rPr sz="2000" b="1" i="1" dirty="0">
                <a:solidFill>
                  <a:srgbClr val="273139"/>
                </a:solidFill>
                <a:latin typeface="Calibri"/>
                <a:cs typeface="Calibri"/>
              </a:rPr>
              <a:t>(InputIterator</a:t>
            </a:r>
            <a:r>
              <a:rPr sz="2000" b="1" i="1" spc="-95" dirty="0">
                <a:solidFill>
                  <a:srgbClr val="273139"/>
                </a:solidFill>
                <a:latin typeface="Calibri"/>
                <a:cs typeface="Calibri"/>
              </a:rPr>
              <a:t> </a:t>
            </a:r>
            <a:r>
              <a:rPr sz="2000" b="1" i="1" dirty="0">
                <a:solidFill>
                  <a:srgbClr val="273139"/>
                </a:solidFill>
                <a:latin typeface="Calibri"/>
                <a:cs typeface="Calibri"/>
              </a:rPr>
              <a:t>first,</a:t>
            </a:r>
            <a:r>
              <a:rPr sz="2000" b="1" i="1" spc="-85" dirty="0">
                <a:solidFill>
                  <a:srgbClr val="273139"/>
                </a:solidFill>
                <a:latin typeface="Calibri"/>
                <a:cs typeface="Calibri"/>
              </a:rPr>
              <a:t> </a:t>
            </a:r>
            <a:r>
              <a:rPr sz="2000" b="1" i="1" dirty="0">
                <a:solidFill>
                  <a:srgbClr val="273139"/>
                </a:solidFill>
                <a:latin typeface="Calibri"/>
                <a:cs typeface="Calibri"/>
              </a:rPr>
              <a:t>InputIterator</a:t>
            </a:r>
            <a:r>
              <a:rPr sz="2000" b="1" i="1" spc="-95" dirty="0">
                <a:solidFill>
                  <a:srgbClr val="273139"/>
                </a:solidFill>
                <a:latin typeface="Calibri"/>
                <a:cs typeface="Calibri"/>
              </a:rPr>
              <a:t> </a:t>
            </a:r>
            <a:r>
              <a:rPr sz="2000" b="1" i="1" dirty="0">
                <a:solidFill>
                  <a:srgbClr val="273139"/>
                </a:solidFill>
                <a:latin typeface="Calibri"/>
                <a:cs typeface="Calibri"/>
              </a:rPr>
              <a:t>last,</a:t>
            </a:r>
            <a:r>
              <a:rPr sz="2000" b="1" i="1" spc="-75" dirty="0">
                <a:solidFill>
                  <a:srgbClr val="273139"/>
                </a:solidFill>
                <a:latin typeface="Calibri"/>
                <a:cs typeface="Calibri"/>
              </a:rPr>
              <a:t> </a:t>
            </a:r>
            <a:r>
              <a:rPr sz="2000" b="1" i="1" dirty="0">
                <a:solidFill>
                  <a:srgbClr val="273139"/>
                </a:solidFill>
                <a:latin typeface="Calibri"/>
                <a:cs typeface="Calibri"/>
              </a:rPr>
              <a:t>Function</a:t>
            </a:r>
            <a:r>
              <a:rPr sz="2000" b="1" i="1" spc="-100" dirty="0">
                <a:solidFill>
                  <a:srgbClr val="273139"/>
                </a:solidFill>
                <a:latin typeface="Calibri"/>
                <a:cs typeface="Calibri"/>
              </a:rPr>
              <a:t> </a:t>
            </a:r>
            <a:r>
              <a:rPr sz="2000" b="1" i="1" spc="-20" dirty="0">
                <a:solidFill>
                  <a:srgbClr val="273139"/>
                </a:solidFill>
                <a:latin typeface="Calibri"/>
                <a:cs typeface="Calibri"/>
              </a:rPr>
              <a:t>fn);</a:t>
            </a:r>
            <a:endParaRPr sz="2000">
              <a:latin typeface="Calibri"/>
              <a:cs typeface="Calibri"/>
            </a:endParaRPr>
          </a:p>
          <a:p>
            <a:pPr marL="355600" indent="-342900">
              <a:lnSpc>
                <a:spcPct val="100000"/>
              </a:lnSpc>
              <a:buFont typeface="Arial MT"/>
              <a:buChar char="•"/>
              <a:tabLst>
                <a:tab pos="355600" algn="l"/>
              </a:tabLst>
            </a:pPr>
            <a:r>
              <a:rPr sz="2000" b="1" i="1" spc="-10" dirty="0">
                <a:solidFill>
                  <a:srgbClr val="273139"/>
                </a:solidFill>
                <a:latin typeface="Calibri"/>
                <a:cs typeface="Calibri"/>
              </a:rPr>
              <a:t>transform(inches,</a:t>
            </a:r>
            <a:r>
              <a:rPr sz="2000" b="1" i="1" spc="-40" dirty="0">
                <a:solidFill>
                  <a:srgbClr val="273139"/>
                </a:solidFill>
                <a:latin typeface="Calibri"/>
                <a:cs typeface="Calibri"/>
              </a:rPr>
              <a:t> </a:t>
            </a:r>
            <a:r>
              <a:rPr sz="2000" b="1" i="1" dirty="0">
                <a:solidFill>
                  <a:srgbClr val="273139"/>
                </a:solidFill>
                <a:latin typeface="Calibri"/>
                <a:cs typeface="Calibri"/>
              </a:rPr>
              <a:t>inches+5,</a:t>
            </a:r>
            <a:r>
              <a:rPr sz="2000" b="1" i="1" spc="-30" dirty="0">
                <a:solidFill>
                  <a:srgbClr val="273139"/>
                </a:solidFill>
                <a:latin typeface="Calibri"/>
                <a:cs typeface="Calibri"/>
              </a:rPr>
              <a:t> </a:t>
            </a:r>
            <a:r>
              <a:rPr sz="2000" b="1" i="1" dirty="0">
                <a:solidFill>
                  <a:srgbClr val="273139"/>
                </a:solidFill>
                <a:latin typeface="Calibri"/>
                <a:cs typeface="Calibri"/>
              </a:rPr>
              <a:t>centi,</a:t>
            </a:r>
            <a:r>
              <a:rPr sz="2000" b="1" i="1" spc="-20" dirty="0">
                <a:solidFill>
                  <a:srgbClr val="273139"/>
                </a:solidFill>
                <a:latin typeface="Calibri"/>
                <a:cs typeface="Calibri"/>
              </a:rPr>
              <a:t> </a:t>
            </a:r>
            <a:r>
              <a:rPr sz="2000" b="1" i="1" spc="-10" dirty="0">
                <a:solidFill>
                  <a:srgbClr val="273139"/>
                </a:solidFill>
                <a:latin typeface="Calibri"/>
                <a:cs typeface="Calibri"/>
              </a:rPr>
              <a:t>in_to_cm);</a:t>
            </a:r>
            <a:endParaRPr sz="2000">
              <a:latin typeface="Calibri"/>
              <a:cs typeface="Calibri"/>
            </a:endParaRPr>
          </a:p>
          <a:p>
            <a:pPr>
              <a:lnSpc>
                <a:spcPct val="100000"/>
              </a:lnSpc>
              <a:spcBef>
                <a:spcPts val="15"/>
              </a:spcBef>
              <a:buFont typeface="Arial MT"/>
              <a:buChar char="•"/>
            </a:pPr>
            <a:endParaRPr sz="2000">
              <a:latin typeface="Calibri"/>
              <a:cs typeface="Calibri"/>
            </a:endParaRPr>
          </a:p>
          <a:p>
            <a:pPr marL="355600" indent="-342900">
              <a:lnSpc>
                <a:spcPct val="100000"/>
              </a:lnSpc>
              <a:spcBef>
                <a:spcPts val="5"/>
              </a:spcBef>
              <a:buFont typeface="Arial MT"/>
              <a:buChar char="•"/>
              <a:tabLst>
                <a:tab pos="355600" algn="l"/>
              </a:tabLst>
            </a:pPr>
            <a:r>
              <a:rPr sz="2000" dirty="0">
                <a:solidFill>
                  <a:srgbClr val="273139"/>
                </a:solidFill>
                <a:latin typeface="Times New Roman"/>
                <a:cs typeface="Times New Roman"/>
              </a:rPr>
              <a:t>Here’s</a:t>
            </a:r>
            <a:r>
              <a:rPr sz="2000" spc="10" dirty="0">
                <a:solidFill>
                  <a:srgbClr val="273139"/>
                </a:solidFill>
                <a:latin typeface="Times New Roman"/>
                <a:cs typeface="Times New Roman"/>
              </a:rPr>
              <a:t> </a:t>
            </a:r>
            <a:r>
              <a:rPr sz="2000" dirty="0">
                <a:solidFill>
                  <a:srgbClr val="273139"/>
                </a:solidFill>
                <a:latin typeface="Times New Roman"/>
                <a:cs typeface="Times New Roman"/>
              </a:rPr>
              <a:t>an</a:t>
            </a:r>
            <a:r>
              <a:rPr sz="2000" spc="30" dirty="0">
                <a:solidFill>
                  <a:srgbClr val="273139"/>
                </a:solidFill>
                <a:latin typeface="Times New Roman"/>
                <a:cs typeface="Times New Roman"/>
              </a:rPr>
              <a:t> </a:t>
            </a:r>
            <a:r>
              <a:rPr sz="2000" dirty="0">
                <a:solidFill>
                  <a:srgbClr val="273139"/>
                </a:solidFill>
                <a:latin typeface="Times New Roman"/>
                <a:cs typeface="Times New Roman"/>
              </a:rPr>
              <a:t>example</a:t>
            </a:r>
            <a:r>
              <a:rPr sz="2000" spc="20" dirty="0">
                <a:solidFill>
                  <a:srgbClr val="273139"/>
                </a:solidFill>
                <a:latin typeface="Times New Roman"/>
                <a:cs typeface="Times New Roman"/>
              </a:rPr>
              <a:t> </a:t>
            </a:r>
            <a:r>
              <a:rPr sz="2000" dirty="0">
                <a:solidFill>
                  <a:srgbClr val="273139"/>
                </a:solidFill>
                <a:latin typeface="Times New Roman"/>
                <a:cs typeface="Times New Roman"/>
              </a:rPr>
              <a:t>in</a:t>
            </a:r>
            <a:r>
              <a:rPr sz="2000" spc="20" dirty="0">
                <a:solidFill>
                  <a:srgbClr val="273139"/>
                </a:solidFill>
                <a:latin typeface="Times New Roman"/>
                <a:cs typeface="Times New Roman"/>
              </a:rPr>
              <a:t> </a:t>
            </a:r>
            <a:r>
              <a:rPr sz="2000" dirty="0">
                <a:solidFill>
                  <a:srgbClr val="273139"/>
                </a:solidFill>
                <a:latin typeface="Times New Roman"/>
                <a:cs typeface="Times New Roman"/>
              </a:rPr>
              <a:t>which for_each()</a:t>
            </a:r>
            <a:r>
              <a:rPr sz="2000" spc="20" dirty="0">
                <a:solidFill>
                  <a:srgbClr val="273139"/>
                </a:solidFill>
                <a:latin typeface="Times New Roman"/>
                <a:cs typeface="Times New Roman"/>
              </a:rPr>
              <a:t> </a:t>
            </a:r>
            <a:r>
              <a:rPr sz="2000" dirty="0">
                <a:solidFill>
                  <a:srgbClr val="273139"/>
                </a:solidFill>
                <a:latin typeface="Times New Roman"/>
                <a:cs typeface="Times New Roman"/>
              </a:rPr>
              <a:t>is used</a:t>
            </a:r>
            <a:r>
              <a:rPr sz="2000" spc="15" dirty="0">
                <a:solidFill>
                  <a:srgbClr val="273139"/>
                </a:solidFill>
                <a:latin typeface="Times New Roman"/>
                <a:cs typeface="Times New Roman"/>
              </a:rPr>
              <a:t> </a:t>
            </a:r>
            <a:r>
              <a:rPr sz="2000" dirty="0">
                <a:solidFill>
                  <a:srgbClr val="273139"/>
                </a:solidFill>
                <a:latin typeface="Times New Roman"/>
                <a:cs typeface="Times New Roman"/>
              </a:rPr>
              <a:t>to</a:t>
            </a:r>
            <a:r>
              <a:rPr sz="2000" spc="30" dirty="0">
                <a:solidFill>
                  <a:srgbClr val="273139"/>
                </a:solidFill>
                <a:latin typeface="Times New Roman"/>
                <a:cs typeface="Times New Roman"/>
              </a:rPr>
              <a:t> </a:t>
            </a:r>
            <a:r>
              <a:rPr sz="2000" dirty="0">
                <a:solidFill>
                  <a:srgbClr val="273139"/>
                </a:solidFill>
                <a:latin typeface="Times New Roman"/>
                <a:cs typeface="Times New Roman"/>
              </a:rPr>
              <a:t>convert all</a:t>
            </a:r>
            <a:r>
              <a:rPr sz="2000" spc="25" dirty="0">
                <a:solidFill>
                  <a:srgbClr val="273139"/>
                </a:solidFill>
                <a:latin typeface="Times New Roman"/>
                <a:cs typeface="Times New Roman"/>
              </a:rPr>
              <a:t> </a:t>
            </a:r>
            <a:r>
              <a:rPr sz="2000" dirty="0">
                <a:solidFill>
                  <a:srgbClr val="273139"/>
                </a:solidFill>
                <a:latin typeface="Times New Roman"/>
                <a:cs typeface="Times New Roman"/>
              </a:rPr>
              <a:t>the</a:t>
            </a:r>
            <a:r>
              <a:rPr sz="2000" spc="15" dirty="0">
                <a:solidFill>
                  <a:srgbClr val="273139"/>
                </a:solidFill>
                <a:latin typeface="Times New Roman"/>
                <a:cs typeface="Times New Roman"/>
              </a:rPr>
              <a:t> </a:t>
            </a:r>
            <a:r>
              <a:rPr sz="2000" dirty="0">
                <a:solidFill>
                  <a:srgbClr val="273139"/>
                </a:solidFill>
                <a:latin typeface="Times New Roman"/>
                <a:cs typeface="Times New Roman"/>
              </a:rPr>
              <a:t>values</a:t>
            </a:r>
            <a:r>
              <a:rPr sz="2000" spc="5" dirty="0">
                <a:solidFill>
                  <a:srgbClr val="273139"/>
                </a:solidFill>
                <a:latin typeface="Times New Roman"/>
                <a:cs typeface="Times New Roman"/>
              </a:rPr>
              <a:t> </a:t>
            </a:r>
            <a:r>
              <a:rPr sz="2000" dirty="0">
                <a:solidFill>
                  <a:srgbClr val="273139"/>
                </a:solidFill>
                <a:latin typeface="Times New Roman"/>
                <a:cs typeface="Times New Roman"/>
              </a:rPr>
              <a:t>of</a:t>
            </a:r>
            <a:r>
              <a:rPr sz="2000" spc="30" dirty="0">
                <a:solidFill>
                  <a:srgbClr val="273139"/>
                </a:solidFill>
                <a:latin typeface="Times New Roman"/>
                <a:cs typeface="Times New Roman"/>
              </a:rPr>
              <a:t> </a:t>
            </a:r>
            <a:r>
              <a:rPr sz="2000" dirty="0">
                <a:solidFill>
                  <a:srgbClr val="273139"/>
                </a:solidFill>
                <a:latin typeface="Times New Roman"/>
                <a:cs typeface="Times New Roman"/>
              </a:rPr>
              <a:t>an</a:t>
            </a:r>
            <a:r>
              <a:rPr sz="2000" spc="20" dirty="0">
                <a:solidFill>
                  <a:srgbClr val="273139"/>
                </a:solidFill>
                <a:latin typeface="Times New Roman"/>
                <a:cs typeface="Times New Roman"/>
              </a:rPr>
              <a:t> </a:t>
            </a:r>
            <a:r>
              <a:rPr sz="2000" dirty="0">
                <a:solidFill>
                  <a:srgbClr val="273139"/>
                </a:solidFill>
                <a:latin typeface="Times New Roman"/>
                <a:cs typeface="Times New Roman"/>
              </a:rPr>
              <a:t>array</a:t>
            </a:r>
            <a:r>
              <a:rPr sz="2000" spc="10" dirty="0">
                <a:solidFill>
                  <a:srgbClr val="273139"/>
                </a:solidFill>
                <a:latin typeface="Times New Roman"/>
                <a:cs typeface="Times New Roman"/>
              </a:rPr>
              <a:t> </a:t>
            </a:r>
            <a:r>
              <a:rPr sz="2000" dirty="0">
                <a:solidFill>
                  <a:srgbClr val="273139"/>
                </a:solidFill>
                <a:latin typeface="Times New Roman"/>
                <a:cs typeface="Times New Roman"/>
              </a:rPr>
              <a:t>from</a:t>
            </a:r>
            <a:r>
              <a:rPr sz="2000" spc="5" dirty="0">
                <a:solidFill>
                  <a:srgbClr val="273139"/>
                </a:solidFill>
                <a:latin typeface="Times New Roman"/>
                <a:cs typeface="Times New Roman"/>
              </a:rPr>
              <a:t> </a:t>
            </a:r>
            <a:r>
              <a:rPr sz="2000" dirty="0">
                <a:solidFill>
                  <a:srgbClr val="273139"/>
                </a:solidFill>
                <a:latin typeface="Times New Roman"/>
                <a:cs typeface="Times New Roman"/>
              </a:rPr>
              <a:t>inches</a:t>
            </a:r>
            <a:r>
              <a:rPr sz="2000" spc="25" dirty="0">
                <a:solidFill>
                  <a:srgbClr val="273139"/>
                </a:solidFill>
                <a:latin typeface="Times New Roman"/>
                <a:cs typeface="Times New Roman"/>
              </a:rPr>
              <a:t> </a:t>
            </a:r>
            <a:r>
              <a:rPr sz="2000" spc="-25" dirty="0">
                <a:solidFill>
                  <a:srgbClr val="273139"/>
                </a:solidFill>
                <a:latin typeface="Times New Roman"/>
                <a:cs typeface="Times New Roman"/>
              </a:rPr>
              <a:t>to</a:t>
            </a:r>
            <a:endParaRPr sz="2000">
              <a:latin typeface="Times New Roman"/>
              <a:cs typeface="Times New Roman"/>
            </a:endParaRPr>
          </a:p>
          <a:p>
            <a:pPr marL="355600">
              <a:lnSpc>
                <a:spcPct val="100000"/>
              </a:lnSpc>
            </a:pPr>
            <a:r>
              <a:rPr sz="2000" dirty="0">
                <a:solidFill>
                  <a:srgbClr val="273139"/>
                </a:solidFill>
                <a:latin typeface="Times New Roman"/>
                <a:cs typeface="Times New Roman"/>
              </a:rPr>
              <a:t>centimeters</a:t>
            </a:r>
            <a:r>
              <a:rPr sz="2000" spc="-35" dirty="0">
                <a:solidFill>
                  <a:srgbClr val="273139"/>
                </a:solidFill>
                <a:latin typeface="Times New Roman"/>
                <a:cs typeface="Times New Roman"/>
              </a:rPr>
              <a:t> </a:t>
            </a:r>
            <a:r>
              <a:rPr sz="2000" dirty="0">
                <a:solidFill>
                  <a:srgbClr val="273139"/>
                </a:solidFill>
                <a:latin typeface="Times New Roman"/>
                <a:cs typeface="Times New Roman"/>
              </a:rPr>
              <a:t>and</a:t>
            </a:r>
            <a:r>
              <a:rPr sz="2000" spc="-15" dirty="0">
                <a:solidFill>
                  <a:srgbClr val="273139"/>
                </a:solidFill>
                <a:latin typeface="Times New Roman"/>
                <a:cs typeface="Times New Roman"/>
              </a:rPr>
              <a:t> </a:t>
            </a:r>
            <a:r>
              <a:rPr sz="2000" dirty="0">
                <a:solidFill>
                  <a:srgbClr val="273139"/>
                </a:solidFill>
                <a:latin typeface="Times New Roman"/>
                <a:cs typeface="Times New Roman"/>
              </a:rPr>
              <a:t>display</a:t>
            </a:r>
            <a:r>
              <a:rPr sz="2000" spc="-50" dirty="0">
                <a:solidFill>
                  <a:srgbClr val="273139"/>
                </a:solidFill>
                <a:latin typeface="Times New Roman"/>
                <a:cs typeface="Times New Roman"/>
              </a:rPr>
              <a:t> </a:t>
            </a:r>
            <a:r>
              <a:rPr sz="2000" spc="-10" dirty="0">
                <a:solidFill>
                  <a:srgbClr val="273139"/>
                </a:solidFill>
                <a:latin typeface="Times New Roman"/>
                <a:cs typeface="Times New Roman"/>
              </a:rPr>
              <a:t>them.</a:t>
            </a:r>
            <a:endParaRPr sz="2000">
              <a:latin typeface="Times New Roman"/>
              <a:cs typeface="Times New Roman"/>
            </a:endParaRPr>
          </a:p>
        </p:txBody>
      </p:sp>
      <p:pic>
        <p:nvPicPr>
          <p:cNvPr id="4" name="object 4"/>
          <p:cNvPicPr/>
          <p:nvPr/>
        </p:nvPicPr>
        <p:blipFill>
          <a:blip r:embed="rId2" cstate="print"/>
          <a:stretch>
            <a:fillRect/>
          </a:stretch>
        </p:blipFill>
        <p:spPr>
          <a:xfrm>
            <a:off x="6036077" y="4081262"/>
            <a:ext cx="5388815" cy="1822220"/>
          </a:xfrm>
          <a:prstGeom prst="rect">
            <a:avLst/>
          </a:prstGeom>
        </p:spPr>
      </p:pic>
      <p:pic>
        <p:nvPicPr>
          <p:cNvPr id="5" name="object 5"/>
          <p:cNvPicPr/>
          <p:nvPr/>
        </p:nvPicPr>
        <p:blipFill>
          <a:blip r:embed="rId3" cstate="print"/>
          <a:stretch>
            <a:fillRect/>
          </a:stretch>
        </p:blipFill>
        <p:spPr>
          <a:xfrm>
            <a:off x="1494671" y="4205833"/>
            <a:ext cx="2272624" cy="688543"/>
          </a:xfrm>
          <a:prstGeom prst="rect">
            <a:avLst/>
          </a:prstGeom>
        </p:spPr>
      </p:pic>
      <p:pic>
        <p:nvPicPr>
          <p:cNvPr id="6" name="object 6"/>
          <p:cNvPicPr/>
          <p:nvPr/>
        </p:nvPicPr>
        <p:blipFill>
          <a:blip r:embed="rId4" cstate="print"/>
          <a:stretch>
            <a:fillRect/>
          </a:stretch>
        </p:blipFill>
        <p:spPr>
          <a:xfrm>
            <a:off x="1479631" y="5119570"/>
            <a:ext cx="3490132" cy="958174"/>
          </a:xfrm>
          <a:prstGeom prst="rect">
            <a:avLst/>
          </a:prstGeom>
        </p:spPr>
      </p:pic>
      <p:sp>
        <p:nvSpPr>
          <p:cNvPr id="7" name="object 7"/>
          <p:cNvSpPr txBox="1"/>
          <p:nvPr/>
        </p:nvSpPr>
        <p:spPr>
          <a:xfrm>
            <a:off x="8614029" y="5671210"/>
            <a:ext cx="3054350" cy="57404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output</a:t>
            </a:r>
            <a:r>
              <a:rPr sz="1800" spc="-10" dirty="0">
                <a:latin typeface="Times New Roman"/>
                <a:cs typeface="Times New Roman"/>
              </a:rPr>
              <a:t> </a:t>
            </a:r>
            <a:r>
              <a:rPr sz="1800" dirty="0">
                <a:latin typeface="Times New Roman"/>
                <a:cs typeface="Times New Roman"/>
              </a:rPr>
              <a:t>looks</a:t>
            </a:r>
            <a:r>
              <a:rPr sz="1800" spc="-15" dirty="0">
                <a:latin typeface="Times New Roman"/>
                <a:cs typeface="Times New Roman"/>
              </a:rPr>
              <a:t> </a:t>
            </a:r>
            <a:r>
              <a:rPr sz="1800" dirty="0">
                <a:latin typeface="Times New Roman"/>
                <a:cs typeface="Times New Roman"/>
              </a:rPr>
              <a:t>like</a:t>
            </a:r>
            <a:r>
              <a:rPr sz="1800" spc="-10" dirty="0">
                <a:latin typeface="Times New Roman"/>
                <a:cs typeface="Times New Roman"/>
              </a:rPr>
              <a:t> this:</a:t>
            </a:r>
            <a:endParaRPr sz="1800">
              <a:latin typeface="Times New Roman"/>
              <a:cs typeface="Times New Roman"/>
            </a:endParaRPr>
          </a:p>
          <a:p>
            <a:pPr marL="12700">
              <a:lnSpc>
                <a:spcPct val="100000"/>
              </a:lnSpc>
            </a:pPr>
            <a:r>
              <a:rPr sz="1800" dirty="0">
                <a:latin typeface="Times New Roman"/>
                <a:cs typeface="Times New Roman"/>
              </a:rPr>
              <a:t>8.89</a:t>
            </a:r>
            <a:r>
              <a:rPr sz="1800" spc="-20" dirty="0">
                <a:latin typeface="Times New Roman"/>
                <a:cs typeface="Times New Roman"/>
              </a:rPr>
              <a:t> </a:t>
            </a:r>
            <a:r>
              <a:rPr sz="1800" dirty="0">
                <a:latin typeface="Times New Roman"/>
                <a:cs typeface="Times New Roman"/>
              </a:rPr>
              <a:t>15.748</a:t>
            </a:r>
            <a:r>
              <a:rPr sz="1800" spc="-10" dirty="0">
                <a:latin typeface="Times New Roman"/>
                <a:cs typeface="Times New Roman"/>
              </a:rPr>
              <a:t> </a:t>
            </a:r>
            <a:r>
              <a:rPr sz="1800" dirty="0">
                <a:latin typeface="Times New Roman"/>
                <a:cs typeface="Times New Roman"/>
              </a:rPr>
              <a:t>2.54</a:t>
            </a:r>
            <a:r>
              <a:rPr sz="1800" spc="-10" dirty="0">
                <a:latin typeface="Times New Roman"/>
                <a:cs typeface="Times New Roman"/>
              </a:rPr>
              <a:t> </a:t>
            </a:r>
            <a:r>
              <a:rPr sz="1800" dirty="0">
                <a:latin typeface="Times New Roman"/>
                <a:cs typeface="Times New Roman"/>
              </a:rPr>
              <a:t>32.385</a:t>
            </a:r>
            <a:r>
              <a:rPr sz="1800" spc="-10" dirty="0">
                <a:latin typeface="Times New Roman"/>
                <a:cs typeface="Times New Roman"/>
              </a:rPr>
              <a:t> 10.9982</a:t>
            </a:r>
            <a:endParaRPr sz="1800">
              <a:latin typeface="Times New Roman"/>
              <a:cs typeface="Times New Roman"/>
            </a:endParaRPr>
          </a:p>
        </p:txBody>
      </p:sp>
      <p:sp>
        <p:nvSpPr>
          <p:cNvPr id="10" name="object 10"/>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11" name="object 11"/>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2" name="Date Placeholder 11">
            <a:extLst>
              <a:ext uri="{FF2B5EF4-FFF2-40B4-BE49-F238E27FC236}">
                <a16:creationId xmlns:a16="http://schemas.microsoft.com/office/drawing/2014/main" id="{202CE078-8182-E5DD-F66A-A7B9502B87E4}"/>
              </a:ext>
            </a:extLst>
          </p:cNvPr>
          <p:cNvSpPr>
            <a:spLocks noGrp="1"/>
          </p:cNvSpPr>
          <p:nvPr>
            <p:ph type="dt" sz="half" idx="10"/>
          </p:nvPr>
        </p:nvSpPr>
        <p:spPr/>
        <p:txBody>
          <a:bodyPr/>
          <a:lstStyle/>
          <a:p>
            <a:fld id="{ED90F136-9FC4-46E9-8A65-D985283D6A23}" type="datetime1">
              <a:rPr lang="en-US" smtClean="0"/>
              <a:t>11/17/2025</a:t>
            </a:fld>
            <a:endParaRPr lang="en-US"/>
          </a:p>
        </p:txBody>
      </p:sp>
      <p:sp>
        <p:nvSpPr>
          <p:cNvPr id="13" name="Slide Number Placeholder 12">
            <a:extLst>
              <a:ext uri="{FF2B5EF4-FFF2-40B4-BE49-F238E27FC236}">
                <a16:creationId xmlns:a16="http://schemas.microsoft.com/office/drawing/2014/main" id="{FAE25FC2-0C5A-0E5A-8352-D18B1124D091}"/>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66</a:t>
            </a:fld>
            <a:endParaRPr spc="-25"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Iterators</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sp>
        <p:nvSpPr>
          <p:cNvPr id="6" name="object 6"/>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7" name="object 7"/>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3" name="object 3"/>
          <p:cNvSpPr txBox="1"/>
          <p:nvPr/>
        </p:nvSpPr>
        <p:spPr>
          <a:xfrm>
            <a:off x="916939" y="1558797"/>
            <a:ext cx="10359390" cy="4294505"/>
          </a:xfrm>
          <a:prstGeom prst="rect">
            <a:avLst/>
          </a:prstGeom>
        </p:spPr>
        <p:txBody>
          <a:bodyPr vert="horz" wrap="square" lIns="0" tIns="13335" rIns="0" bIns="0" rtlCol="0">
            <a:spAutoFit/>
          </a:bodyPr>
          <a:lstStyle/>
          <a:p>
            <a:pPr marL="355600" marR="5080" indent="-343535">
              <a:lnSpc>
                <a:spcPct val="100000"/>
              </a:lnSpc>
              <a:spcBef>
                <a:spcPts val="105"/>
              </a:spcBef>
              <a:buFont typeface="Arial MT"/>
              <a:buChar char="•"/>
              <a:tabLst>
                <a:tab pos="355600" algn="l"/>
              </a:tabLst>
            </a:pPr>
            <a:r>
              <a:rPr sz="2000" dirty="0">
                <a:latin typeface="Times New Roman"/>
                <a:cs typeface="Times New Roman"/>
              </a:rPr>
              <a:t>Iterators</a:t>
            </a:r>
            <a:r>
              <a:rPr sz="2000" spc="155" dirty="0">
                <a:latin typeface="Times New Roman"/>
                <a:cs typeface="Times New Roman"/>
              </a:rPr>
              <a:t> </a:t>
            </a:r>
            <a:r>
              <a:rPr sz="2000" dirty="0">
                <a:latin typeface="Times New Roman"/>
                <a:cs typeface="Times New Roman"/>
              </a:rPr>
              <a:t>are</a:t>
            </a:r>
            <a:r>
              <a:rPr sz="2000" spc="155" dirty="0">
                <a:latin typeface="Times New Roman"/>
                <a:cs typeface="Times New Roman"/>
              </a:rPr>
              <a:t> </a:t>
            </a:r>
            <a:r>
              <a:rPr sz="2000" spc="-10" dirty="0">
                <a:latin typeface="Times New Roman"/>
                <a:cs typeface="Times New Roman"/>
              </a:rPr>
              <a:t>pointer-</a:t>
            </a:r>
            <a:r>
              <a:rPr sz="2000" dirty="0">
                <a:latin typeface="Times New Roman"/>
                <a:cs typeface="Times New Roman"/>
              </a:rPr>
              <a:t>like</a:t>
            </a:r>
            <a:r>
              <a:rPr sz="2000" spc="165" dirty="0">
                <a:latin typeface="Times New Roman"/>
                <a:cs typeface="Times New Roman"/>
              </a:rPr>
              <a:t> </a:t>
            </a:r>
            <a:r>
              <a:rPr sz="2000" dirty="0">
                <a:latin typeface="Times New Roman"/>
                <a:cs typeface="Times New Roman"/>
              </a:rPr>
              <a:t>entities</a:t>
            </a:r>
            <a:r>
              <a:rPr sz="2000" spc="155" dirty="0">
                <a:latin typeface="Times New Roman"/>
                <a:cs typeface="Times New Roman"/>
              </a:rPr>
              <a:t> </a:t>
            </a:r>
            <a:r>
              <a:rPr sz="2000" dirty="0">
                <a:latin typeface="Times New Roman"/>
                <a:cs typeface="Times New Roman"/>
              </a:rPr>
              <a:t>that</a:t>
            </a:r>
            <a:r>
              <a:rPr sz="2000" spc="150" dirty="0">
                <a:latin typeface="Times New Roman"/>
                <a:cs typeface="Times New Roman"/>
              </a:rPr>
              <a:t> </a:t>
            </a:r>
            <a:r>
              <a:rPr sz="2000" dirty="0">
                <a:latin typeface="Times New Roman"/>
                <a:cs typeface="Times New Roman"/>
              </a:rPr>
              <a:t>are</a:t>
            </a:r>
            <a:r>
              <a:rPr sz="2000" spc="140" dirty="0">
                <a:latin typeface="Times New Roman"/>
                <a:cs typeface="Times New Roman"/>
              </a:rPr>
              <a:t> </a:t>
            </a:r>
            <a:r>
              <a:rPr sz="2000" dirty="0">
                <a:latin typeface="Times New Roman"/>
                <a:cs typeface="Times New Roman"/>
              </a:rPr>
              <a:t>used</a:t>
            </a:r>
            <a:r>
              <a:rPr sz="2000" spc="165" dirty="0">
                <a:latin typeface="Times New Roman"/>
                <a:cs typeface="Times New Roman"/>
              </a:rPr>
              <a:t> </a:t>
            </a:r>
            <a:r>
              <a:rPr sz="2000" dirty="0">
                <a:latin typeface="Times New Roman"/>
                <a:cs typeface="Times New Roman"/>
              </a:rPr>
              <a:t>to</a:t>
            </a:r>
            <a:r>
              <a:rPr sz="2000" spc="165" dirty="0">
                <a:latin typeface="Times New Roman"/>
                <a:cs typeface="Times New Roman"/>
              </a:rPr>
              <a:t> </a:t>
            </a:r>
            <a:r>
              <a:rPr sz="2000" dirty="0">
                <a:latin typeface="Times New Roman"/>
                <a:cs typeface="Times New Roman"/>
              </a:rPr>
              <a:t>access</a:t>
            </a:r>
            <a:r>
              <a:rPr sz="2000" spc="150" dirty="0">
                <a:latin typeface="Times New Roman"/>
                <a:cs typeface="Times New Roman"/>
              </a:rPr>
              <a:t> </a:t>
            </a:r>
            <a:r>
              <a:rPr sz="2000" dirty="0">
                <a:latin typeface="Times New Roman"/>
                <a:cs typeface="Times New Roman"/>
              </a:rPr>
              <a:t>individual</a:t>
            </a:r>
            <a:r>
              <a:rPr sz="2000" spc="145" dirty="0">
                <a:latin typeface="Times New Roman"/>
                <a:cs typeface="Times New Roman"/>
              </a:rPr>
              <a:t> </a:t>
            </a:r>
            <a:r>
              <a:rPr sz="2000" dirty="0">
                <a:latin typeface="Times New Roman"/>
                <a:cs typeface="Times New Roman"/>
              </a:rPr>
              <a:t>data</a:t>
            </a:r>
            <a:r>
              <a:rPr sz="2000" spc="160" dirty="0">
                <a:latin typeface="Times New Roman"/>
                <a:cs typeface="Times New Roman"/>
              </a:rPr>
              <a:t> </a:t>
            </a:r>
            <a:r>
              <a:rPr sz="2000" dirty="0">
                <a:latin typeface="Times New Roman"/>
                <a:cs typeface="Times New Roman"/>
              </a:rPr>
              <a:t>items,</a:t>
            </a:r>
            <a:r>
              <a:rPr sz="2000" spc="160" dirty="0">
                <a:latin typeface="Times New Roman"/>
                <a:cs typeface="Times New Roman"/>
              </a:rPr>
              <a:t> </a:t>
            </a:r>
            <a:r>
              <a:rPr sz="2000" dirty="0">
                <a:latin typeface="Times New Roman"/>
                <a:cs typeface="Times New Roman"/>
              </a:rPr>
              <a:t>which</a:t>
            </a:r>
            <a:r>
              <a:rPr sz="2000" spc="170" dirty="0">
                <a:latin typeface="Times New Roman"/>
                <a:cs typeface="Times New Roman"/>
              </a:rPr>
              <a:t> </a:t>
            </a:r>
            <a:r>
              <a:rPr sz="2000" dirty="0">
                <a:latin typeface="Times New Roman"/>
                <a:cs typeface="Times New Roman"/>
              </a:rPr>
              <a:t>are</a:t>
            </a:r>
            <a:r>
              <a:rPr sz="2000" spc="155" dirty="0">
                <a:latin typeface="Times New Roman"/>
                <a:cs typeface="Times New Roman"/>
              </a:rPr>
              <a:t> </a:t>
            </a:r>
            <a:r>
              <a:rPr sz="2000" spc="-10" dirty="0">
                <a:latin typeface="Times New Roman"/>
                <a:cs typeface="Times New Roman"/>
              </a:rPr>
              <a:t>usually </a:t>
            </a:r>
            <a:r>
              <a:rPr sz="2000" dirty="0">
                <a:latin typeface="Times New Roman"/>
                <a:cs typeface="Times New Roman"/>
              </a:rPr>
              <a:t>called</a:t>
            </a:r>
            <a:r>
              <a:rPr sz="2000" spc="-20" dirty="0">
                <a:latin typeface="Times New Roman"/>
                <a:cs typeface="Times New Roman"/>
              </a:rPr>
              <a:t> </a:t>
            </a:r>
            <a:r>
              <a:rPr sz="2000" b="1" dirty="0">
                <a:latin typeface="Times New Roman"/>
                <a:cs typeface="Times New Roman"/>
              </a:rPr>
              <a:t>elements</a:t>
            </a:r>
            <a:r>
              <a:rPr sz="2000" b="1" spc="-40"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a</a:t>
            </a:r>
            <a:r>
              <a:rPr sz="2000" spc="-20"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Often</a:t>
            </a:r>
            <a:r>
              <a:rPr sz="2000" spc="350" dirty="0">
                <a:latin typeface="Times New Roman"/>
                <a:cs typeface="Times New Roman"/>
              </a:rPr>
              <a:t> </a:t>
            </a:r>
            <a:r>
              <a:rPr sz="2000" dirty="0">
                <a:latin typeface="Times New Roman"/>
                <a:cs typeface="Times New Roman"/>
              </a:rPr>
              <a:t>they</a:t>
            </a:r>
            <a:r>
              <a:rPr sz="2000" spc="345" dirty="0">
                <a:latin typeface="Times New Roman"/>
                <a:cs typeface="Times New Roman"/>
              </a:rPr>
              <a:t> </a:t>
            </a:r>
            <a:r>
              <a:rPr sz="2000" dirty="0">
                <a:latin typeface="Times New Roman"/>
                <a:cs typeface="Times New Roman"/>
              </a:rPr>
              <a:t>are</a:t>
            </a:r>
            <a:r>
              <a:rPr sz="2000" spc="330" dirty="0">
                <a:latin typeface="Times New Roman"/>
                <a:cs typeface="Times New Roman"/>
              </a:rPr>
              <a:t> </a:t>
            </a:r>
            <a:r>
              <a:rPr sz="2000" dirty="0">
                <a:latin typeface="Times New Roman"/>
                <a:cs typeface="Times New Roman"/>
              </a:rPr>
              <a:t>used</a:t>
            </a:r>
            <a:r>
              <a:rPr sz="2000" spc="355" dirty="0">
                <a:latin typeface="Times New Roman"/>
                <a:cs typeface="Times New Roman"/>
              </a:rPr>
              <a:t> </a:t>
            </a:r>
            <a:r>
              <a:rPr sz="2000" dirty="0">
                <a:latin typeface="Times New Roman"/>
                <a:cs typeface="Times New Roman"/>
              </a:rPr>
              <a:t>to</a:t>
            </a:r>
            <a:r>
              <a:rPr sz="2000" spc="355" dirty="0">
                <a:latin typeface="Times New Roman"/>
                <a:cs typeface="Times New Roman"/>
              </a:rPr>
              <a:t> </a:t>
            </a:r>
            <a:r>
              <a:rPr sz="2000" dirty="0">
                <a:latin typeface="Times New Roman"/>
                <a:cs typeface="Times New Roman"/>
              </a:rPr>
              <a:t>move</a:t>
            </a:r>
            <a:r>
              <a:rPr sz="2000" spc="330" dirty="0">
                <a:latin typeface="Times New Roman"/>
                <a:cs typeface="Times New Roman"/>
              </a:rPr>
              <a:t> </a:t>
            </a:r>
            <a:r>
              <a:rPr sz="2000" dirty="0">
                <a:latin typeface="Times New Roman"/>
                <a:cs typeface="Times New Roman"/>
              </a:rPr>
              <a:t>sequentially</a:t>
            </a:r>
            <a:r>
              <a:rPr sz="2000" spc="330" dirty="0">
                <a:latin typeface="Times New Roman"/>
                <a:cs typeface="Times New Roman"/>
              </a:rPr>
              <a:t> </a:t>
            </a:r>
            <a:r>
              <a:rPr sz="2000" dirty="0">
                <a:latin typeface="Times New Roman"/>
                <a:cs typeface="Times New Roman"/>
              </a:rPr>
              <a:t>from</a:t>
            </a:r>
            <a:r>
              <a:rPr sz="2000" spc="330" dirty="0">
                <a:latin typeface="Times New Roman"/>
                <a:cs typeface="Times New Roman"/>
              </a:rPr>
              <a:t> </a:t>
            </a:r>
            <a:r>
              <a:rPr sz="2000" dirty="0">
                <a:latin typeface="Times New Roman"/>
                <a:cs typeface="Times New Roman"/>
              </a:rPr>
              <a:t>element</a:t>
            </a:r>
            <a:r>
              <a:rPr sz="2000" spc="345" dirty="0">
                <a:latin typeface="Times New Roman"/>
                <a:cs typeface="Times New Roman"/>
              </a:rPr>
              <a:t> </a:t>
            </a:r>
            <a:r>
              <a:rPr sz="2000" dirty="0">
                <a:latin typeface="Times New Roman"/>
                <a:cs typeface="Times New Roman"/>
              </a:rPr>
              <a:t>to</a:t>
            </a:r>
            <a:r>
              <a:rPr sz="2000" spc="350" dirty="0">
                <a:latin typeface="Times New Roman"/>
                <a:cs typeface="Times New Roman"/>
              </a:rPr>
              <a:t> </a:t>
            </a:r>
            <a:r>
              <a:rPr sz="2000" dirty="0">
                <a:latin typeface="Times New Roman"/>
                <a:cs typeface="Times New Roman"/>
              </a:rPr>
              <a:t>element,</a:t>
            </a:r>
            <a:r>
              <a:rPr sz="2000" spc="350" dirty="0">
                <a:latin typeface="Times New Roman"/>
                <a:cs typeface="Times New Roman"/>
              </a:rPr>
              <a:t> </a:t>
            </a:r>
            <a:r>
              <a:rPr sz="2000" dirty="0">
                <a:latin typeface="Times New Roman"/>
                <a:cs typeface="Times New Roman"/>
              </a:rPr>
              <a:t>a</a:t>
            </a:r>
            <a:r>
              <a:rPr sz="2000" spc="330" dirty="0">
                <a:latin typeface="Times New Roman"/>
                <a:cs typeface="Times New Roman"/>
              </a:rPr>
              <a:t> </a:t>
            </a:r>
            <a:r>
              <a:rPr sz="2000" dirty="0">
                <a:latin typeface="Times New Roman"/>
                <a:cs typeface="Times New Roman"/>
              </a:rPr>
              <a:t>process</a:t>
            </a:r>
            <a:r>
              <a:rPr sz="2000" spc="345" dirty="0">
                <a:latin typeface="Times New Roman"/>
                <a:cs typeface="Times New Roman"/>
              </a:rPr>
              <a:t> </a:t>
            </a:r>
            <a:r>
              <a:rPr sz="2000" dirty="0">
                <a:latin typeface="Times New Roman"/>
                <a:cs typeface="Times New Roman"/>
              </a:rPr>
              <a:t>called</a:t>
            </a:r>
            <a:r>
              <a:rPr sz="2000" spc="340" dirty="0">
                <a:latin typeface="Times New Roman"/>
                <a:cs typeface="Times New Roman"/>
              </a:rPr>
              <a:t> </a:t>
            </a:r>
            <a:r>
              <a:rPr sz="2000" spc="-10" dirty="0">
                <a:latin typeface="Times New Roman"/>
                <a:cs typeface="Times New Roman"/>
              </a:rPr>
              <a:t>iterating</a:t>
            </a:r>
            <a:endParaRPr sz="2000">
              <a:latin typeface="Times New Roman"/>
              <a:cs typeface="Times New Roman"/>
            </a:endParaRPr>
          </a:p>
          <a:p>
            <a:pPr marL="355600">
              <a:lnSpc>
                <a:spcPct val="100000"/>
              </a:lnSpc>
            </a:pPr>
            <a:r>
              <a:rPr sz="2000" dirty="0">
                <a:latin typeface="Times New Roman"/>
                <a:cs typeface="Times New Roman"/>
              </a:rPr>
              <a:t>through</a:t>
            </a:r>
            <a:r>
              <a:rPr sz="2000" spc="-40" dirty="0">
                <a:latin typeface="Times New Roman"/>
                <a:cs typeface="Times New Roman"/>
              </a:rPr>
              <a:t> </a:t>
            </a:r>
            <a:r>
              <a:rPr sz="2000" dirty="0">
                <a:latin typeface="Times New Roman"/>
                <a:cs typeface="Times New Roman"/>
              </a:rPr>
              <a:t>the</a:t>
            </a:r>
            <a:r>
              <a:rPr sz="2000" spc="-10" dirty="0">
                <a:latin typeface="Times New Roman"/>
                <a:cs typeface="Times New Roman"/>
              </a:rPr>
              <a:t> container.</a:t>
            </a:r>
            <a:endParaRPr sz="2000">
              <a:latin typeface="Times New Roman"/>
              <a:cs typeface="Times New Roman"/>
            </a:endParaRPr>
          </a:p>
          <a:p>
            <a:pPr marL="355600" marR="6985" indent="-343535">
              <a:lnSpc>
                <a:spcPct val="100000"/>
              </a:lnSpc>
              <a:buFont typeface="Arial MT"/>
              <a:buChar char="•"/>
              <a:tabLst>
                <a:tab pos="355600" algn="l"/>
                <a:tab pos="911860" algn="l"/>
                <a:tab pos="1407160" algn="l"/>
                <a:tab pos="2560955" algn="l"/>
                <a:tab pos="3531870" algn="l"/>
                <a:tab pos="4124960" algn="l"/>
                <a:tab pos="4577080" algn="l"/>
                <a:tab pos="5003800" algn="l"/>
                <a:tab pos="5990590" algn="l"/>
                <a:tab pos="6357620" algn="l"/>
                <a:tab pos="6936740" algn="l"/>
                <a:tab pos="7600950" algn="l"/>
                <a:tab pos="7940040" algn="l"/>
                <a:tab pos="8390890" algn="l"/>
                <a:tab pos="8971915" algn="l"/>
                <a:tab pos="9977755" algn="l"/>
              </a:tabLst>
            </a:pPr>
            <a:r>
              <a:rPr sz="2000" spc="-25" dirty="0">
                <a:latin typeface="Times New Roman"/>
                <a:cs typeface="Times New Roman"/>
              </a:rPr>
              <a:t>You</a:t>
            </a:r>
            <a:r>
              <a:rPr sz="2000" dirty="0">
                <a:latin typeface="Times New Roman"/>
                <a:cs typeface="Times New Roman"/>
              </a:rPr>
              <a:t>	</a:t>
            </a:r>
            <a:r>
              <a:rPr sz="2000" spc="-25" dirty="0">
                <a:latin typeface="Times New Roman"/>
                <a:cs typeface="Times New Roman"/>
              </a:rPr>
              <a:t>can</a:t>
            </a:r>
            <a:r>
              <a:rPr sz="2000" dirty="0">
                <a:latin typeface="Times New Roman"/>
                <a:cs typeface="Times New Roman"/>
              </a:rPr>
              <a:t>	</a:t>
            </a:r>
            <a:r>
              <a:rPr sz="2000" spc="-10" dirty="0">
                <a:latin typeface="Times New Roman"/>
                <a:cs typeface="Times New Roman"/>
              </a:rPr>
              <a:t>increment</a:t>
            </a:r>
            <a:r>
              <a:rPr sz="2000" dirty="0">
                <a:latin typeface="Times New Roman"/>
                <a:cs typeface="Times New Roman"/>
              </a:rPr>
              <a:t>	</a:t>
            </a:r>
            <a:r>
              <a:rPr sz="2000" spc="-10" dirty="0">
                <a:latin typeface="Times New Roman"/>
                <a:cs typeface="Times New Roman"/>
              </a:rPr>
              <a:t>iterators</a:t>
            </a:r>
            <a:r>
              <a:rPr sz="2000" dirty="0">
                <a:latin typeface="Times New Roman"/>
                <a:cs typeface="Times New Roman"/>
              </a:rPr>
              <a:t>	</a:t>
            </a:r>
            <a:r>
              <a:rPr sz="2000" spc="-20" dirty="0">
                <a:latin typeface="Times New Roman"/>
                <a:cs typeface="Times New Roman"/>
              </a:rPr>
              <a:t>with</a:t>
            </a:r>
            <a:r>
              <a:rPr sz="2000" dirty="0">
                <a:latin typeface="Times New Roman"/>
                <a:cs typeface="Times New Roman"/>
              </a:rPr>
              <a:t>	</a:t>
            </a:r>
            <a:r>
              <a:rPr sz="2000" spc="-25" dirty="0">
                <a:latin typeface="Times New Roman"/>
                <a:cs typeface="Times New Roman"/>
              </a:rPr>
              <a:t>the</a:t>
            </a:r>
            <a:r>
              <a:rPr sz="2000" dirty="0">
                <a:latin typeface="Times New Roman"/>
                <a:cs typeface="Times New Roman"/>
              </a:rPr>
              <a:t>	</a:t>
            </a:r>
            <a:r>
              <a:rPr sz="2000" spc="-25" dirty="0">
                <a:latin typeface="Times New Roman"/>
                <a:cs typeface="Times New Roman"/>
              </a:rPr>
              <a:t>++</a:t>
            </a:r>
            <a:r>
              <a:rPr sz="2000" dirty="0">
                <a:latin typeface="Times New Roman"/>
                <a:cs typeface="Times New Roman"/>
              </a:rPr>
              <a:t>	</a:t>
            </a:r>
            <a:r>
              <a:rPr sz="2000" spc="-10" dirty="0">
                <a:latin typeface="Times New Roman"/>
                <a:cs typeface="Times New Roman"/>
              </a:rPr>
              <a:t>operator</a:t>
            </a:r>
            <a:r>
              <a:rPr sz="2000" dirty="0">
                <a:latin typeface="Times New Roman"/>
                <a:cs typeface="Times New Roman"/>
              </a:rPr>
              <a:t>	</a:t>
            </a:r>
            <a:r>
              <a:rPr sz="2000" spc="-25" dirty="0">
                <a:latin typeface="Times New Roman"/>
                <a:cs typeface="Times New Roman"/>
              </a:rPr>
              <a:t>so</a:t>
            </a:r>
            <a:r>
              <a:rPr sz="2000" dirty="0">
                <a:latin typeface="Times New Roman"/>
                <a:cs typeface="Times New Roman"/>
              </a:rPr>
              <a:t>	</a:t>
            </a:r>
            <a:r>
              <a:rPr sz="2000" spc="-20" dirty="0">
                <a:latin typeface="Times New Roman"/>
                <a:cs typeface="Times New Roman"/>
              </a:rPr>
              <a:t>they</a:t>
            </a:r>
            <a:r>
              <a:rPr sz="2000" dirty="0">
                <a:latin typeface="Times New Roman"/>
                <a:cs typeface="Times New Roman"/>
              </a:rPr>
              <a:t>	</a:t>
            </a:r>
            <a:r>
              <a:rPr sz="2000" spc="-10" dirty="0">
                <a:latin typeface="Times New Roman"/>
                <a:cs typeface="Times New Roman"/>
              </a:rPr>
              <a:t>point</a:t>
            </a:r>
            <a:r>
              <a:rPr sz="2000" dirty="0">
                <a:latin typeface="Times New Roman"/>
                <a:cs typeface="Times New Roman"/>
              </a:rPr>
              <a:t>	</a:t>
            </a:r>
            <a:r>
              <a:rPr sz="2000" spc="-25" dirty="0">
                <a:latin typeface="Times New Roman"/>
                <a:cs typeface="Times New Roman"/>
              </a:rPr>
              <a:t>to</a:t>
            </a:r>
            <a:r>
              <a:rPr sz="2000" dirty="0">
                <a:latin typeface="Times New Roman"/>
                <a:cs typeface="Times New Roman"/>
              </a:rPr>
              <a:t>	</a:t>
            </a:r>
            <a:r>
              <a:rPr sz="2000" spc="-25" dirty="0">
                <a:latin typeface="Times New Roman"/>
                <a:cs typeface="Times New Roman"/>
              </a:rPr>
              <a:t>the</a:t>
            </a:r>
            <a:r>
              <a:rPr sz="2000" dirty="0">
                <a:latin typeface="Times New Roman"/>
                <a:cs typeface="Times New Roman"/>
              </a:rPr>
              <a:t>	</a:t>
            </a:r>
            <a:r>
              <a:rPr sz="2000" spc="-20" dirty="0">
                <a:latin typeface="Times New Roman"/>
                <a:cs typeface="Times New Roman"/>
              </a:rPr>
              <a:t>next</a:t>
            </a:r>
            <a:r>
              <a:rPr sz="2000" dirty="0">
                <a:latin typeface="Times New Roman"/>
                <a:cs typeface="Times New Roman"/>
              </a:rPr>
              <a:t>	</a:t>
            </a:r>
            <a:r>
              <a:rPr sz="2000" spc="-10" dirty="0">
                <a:latin typeface="Times New Roman"/>
                <a:cs typeface="Times New Roman"/>
              </a:rPr>
              <a:t>element,</a:t>
            </a:r>
            <a:r>
              <a:rPr sz="2000" dirty="0">
                <a:latin typeface="Times New Roman"/>
                <a:cs typeface="Times New Roman"/>
              </a:rPr>
              <a:t>	</a:t>
            </a:r>
            <a:r>
              <a:rPr sz="2000" spc="-25" dirty="0">
                <a:latin typeface="Times New Roman"/>
                <a:cs typeface="Times New Roman"/>
              </a:rPr>
              <a:t>and </a:t>
            </a:r>
            <a:r>
              <a:rPr sz="2000" dirty="0">
                <a:latin typeface="Times New Roman"/>
                <a:cs typeface="Times New Roman"/>
              </a:rPr>
              <a:t>dereference</a:t>
            </a:r>
            <a:r>
              <a:rPr sz="2000" spc="-40" dirty="0">
                <a:latin typeface="Times New Roman"/>
                <a:cs typeface="Times New Roman"/>
              </a:rPr>
              <a:t> </a:t>
            </a:r>
            <a:r>
              <a:rPr sz="2000" dirty="0">
                <a:latin typeface="Times New Roman"/>
                <a:cs typeface="Times New Roman"/>
              </a:rPr>
              <a:t>them</a:t>
            </a:r>
            <a:r>
              <a:rPr sz="2000" spc="-20" dirty="0">
                <a:latin typeface="Times New Roman"/>
                <a:cs typeface="Times New Roman"/>
              </a:rPr>
              <a:t> </a:t>
            </a:r>
            <a:r>
              <a:rPr sz="2000" dirty="0">
                <a:latin typeface="Times New Roman"/>
                <a:cs typeface="Times New Roman"/>
              </a:rPr>
              <a:t>with</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dirty="0">
                <a:latin typeface="Times New Roman"/>
                <a:cs typeface="Times New Roman"/>
              </a:rPr>
              <a:t>operator</a:t>
            </a:r>
            <a:r>
              <a:rPr sz="2000" spc="-40"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obtain</a:t>
            </a:r>
            <a:r>
              <a:rPr sz="2000" spc="-3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value</a:t>
            </a:r>
            <a:r>
              <a:rPr sz="2000" spc="-20"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element they</a:t>
            </a:r>
            <a:r>
              <a:rPr sz="2000" spc="-15" dirty="0">
                <a:latin typeface="Times New Roman"/>
                <a:cs typeface="Times New Roman"/>
              </a:rPr>
              <a:t> </a:t>
            </a:r>
            <a:r>
              <a:rPr sz="2000" dirty="0">
                <a:latin typeface="Times New Roman"/>
                <a:cs typeface="Times New Roman"/>
              </a:rPr>
              <a:t>point</a:t>
            </a:r>
            <a:r>
              <a:rPr sz="2000" spc="-35" dirty="0">
                <a:latin typeface="Times New Roman"/>
                <a:cs typeface="Times New Roman"/>
              </a:rPr>
              <a:t> </a:t>
            </a:r>
            <a:r>
              <a:rPr sz="2000" spc="-25" dirty="0">
                <a:latin typeface="Times New Roman"/>
                <a:cs typeface="Times New Roman"/>
              </a:rPr>
              <a:t>to.</a:t>
            </a:r>
            <a:endParaRPr sz="2000">
              <a:latin typeface="Times New Roman"/>
              <a:cs typeface="Times New Roman"/>
            </a:endParaRPr>
          </a:p>
          <a:p>
            <a:pPr marL="355600" indent="-342900">
              <a:lnSpc>
                <a:spcPct val="100000"/>
              </a:lnSpc>
              <a:buFont typeface="Arial MT"/>
              <a:buChar char="•"/>
              <a:tabLst>
                <a:tab pos="355600" algn="l"/>
              </a:tabLst>
            </a:pP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STL</a:t>
            </a:r>
            <a:r>
              <a:rPr sz="2000" spc="-80" dirty="0">
                <a:latin typeface="Times New Roman"/>
                <a:cs typeface="Times New Roman"/>
              </a:rPr>
              <a:t> </a:t>
            </a:r>
            <a:r>
              <a:rPr sz="2000" dirty="0">
                <a:latin typeface="Times New Roman"/>
                <a:cs typeface="Times New Roman"/>
              </a:rPr>
              <a:t>an</a:t>
            </a:r>
            <a:r>
              <a:rPr sz="2000" spc="-5" dirty="0">
                <a:latin typeface="Times New Roman"/>
                <a:cs typeface="Times New Roman"/>
              </a:rPr>
              <a:t> </a:t>
            </a:r>
            <a:r>
              <a:rPr sz="2000" dirty="0">
                <a:latin typeface="Times New Roman"/>
                <a:cs typeface="Times New Roman"/>
              </a:rPr>
              <a:t>iterator</a:t>
            </a:r>
            <a:r>
              <a:rPr sz="2000" spc="-25" dirty="0">
                <a:latin typeface="Times New Roman"/>
                <a:cs typeface="Times New Roman"/>
              </a:rPr>
              <a:t> </a:t>
            </a:r>
            <a:r>
              <a:rPr sz="2000" dirty="0">
                <a:latin typeface="Times New Roman"/>
                <a:cs typeface="Times New Roman"/>
              </a:rPr>
              <a:t>is</a:t>
            </a:r>
            <a:r>
              <a:rPr sz="2000" spc="-5" dirty="0">
                <a:latin typeface="Times New Roman"/>
                <a:cs typeface="Times New Roman"/>
              </a:rPr>
              <a:t> </a:t>
            </a:r>
            <a:r>
              <a:rPr sz="2000" dirty="0">
                <a:latin typeface="Times New Roman"/>
                <a:cs typeface="Times New Roman"/>
              </a:rPr>
              <a:t>represented</a:t>
            </a:r>
            <a:r>
              <a:rPr sz="2000" spc="-35" dirty="0">
                <a:latin typeface="Times New Roman"/>
                <a:cs typeface="Times New Roman"/>
              </a:rPr>
              <a:t> </a:t>
            </a:r>
            <a:r>
              <a:rPr sz="2000" dirty="0">
                <a:latin typeface="Times New Roman"/>
                <a:cs typeface="Times New Roman"/>
              </a:rPr>
              <a:t>by</a:t>
            </a:r>
            <a:r>
              <a:rPr sz="2000" spc="-15" dirty="0">
                <a:latin typeface="Times New Roman"/>
                <a:cs typeface="Times New Roman"/>
              </a:rPr>
              <a:t> </a:t>
            </a:r>
            <a:r>
              <a:rPr sz="2000" dirty="0">
                <a:latin typeface="Times New Roman"/>
                <a:cs typeface="Times New Roman"/>
              </a:rPr>
              <a:t>an</a:t>
            </a:r>
            <a:r>
              <a:rPr sz="2000" spc="-5" dirty="0">
                <a:latin typeface="Times New Roman"/>
                <a:cs typeface="Times New Roman"/>
              </a:rPr>
              <a:t> </a:t>
            </a:r>
            <a:r>
              <a:rPr sz="2000" dirty="0">
                <a:latin typeface="Times New Roman"/>
                <a:cs typeface="Times New Roman"/>
              </a:rPr>
              <a:t>object</a:t>
            </a:r>
            <a:r>
              <a:rPr sz="2000" spc="-3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an</a:t>
            </a:r>
            <a:r>
              <a:rPr sz="2000" spc="-5" dirty="0">
                <a:latin typeface="Times New Roman"/>
                <a:cs typeface="Times New Roman"/>
              </a:rPr>
              <a:t> </a:t>
            </a:r>
            <a:r>
              <a:rPr sz="2000" b="1" dirty="0">
                <a:latin typeface="Times New Roman"/>
                <a:cs typeface="Times New Roman"/>
              </a:rPr>
              <a:t>iterator</a:t>
            </a:r>
            <a:r>
              <a:rPr sz="2000" b="1" spc="-40" dirty="0">
                <a:latin typeface="Times New Roman"/>
                <a:cs typeface="Times New Roman"/>
              </a:rPr>
              <a:t> </a:t>
            </a:r>
            <a:r>
              <a:rPr sz="2000" spc="-10" dirty="0">
                <a:latin typeface="Times New Roman"/>
                <a:cs typeface="Times New Roman"/>
              </a:rPr>
              <a:t>class.</a:t>
            </a:r>
            <a:endParaRPr sz="2000">
              <a:latin typeface="Times New Roman"/>
              <a:cs typeface="Times New Roman"/>
            </a:endParaRPr>
          </a:p>
          <a:p>
            <a:pPr>
              <a:lnSpc>
                <a:spcPct val="100000"/>
              </a:lnSpc>
              <a:spcBef>
                <a:spcPts val="100"/>
              </a:spcBef>
              <a:buFont typeface="Arial MT"/>
              <a:buChar char="•"/>
            </a:pPr>
            <a:endParaRPr sz="2000">
              <a:latin typeface="Times New Roman"/>
              <a:cs typeface="Times New Roman"/>
            </a:endParaRPr>
          </a:p>
          <a:p>
            <a:pPr marL="355600" indent="-342900">
              <a:lnSpc>
                <a:spcPct val="100000"/>
              </a:lnSpc>
              <a:spcBef>
                <a:spcPts val="5"/>
              </a:spcBef>
              <a:buFont typeface="Arial MT"/>
              <a:buChar char="•"/>
              <a:tabLst>
                <a:tab pos="355600" algn="l"/>
              </a:tabLst>
            </a:pPr>
            <a:r>
              <a:rPr sz="2000" dirty="0">
                <a:latin typeface="Times New Roman"/>
                <a:cs typeface="Times New Roman"/>
              </a:rPr>
              <a:t>There</a:t>
            </a:r>
            <a:r>
              <a:rPr sz="2000" spc="-25" dirty="0">
                <a:latin typeface="Times New Roman"/>
                <a:cs typeface="Times New Roman"/>
              </a:rPr>
              <a:t> </a:t>
            </a:r>
            <a:r>
              <a:rPr sz="2000" dirty="0">
                <a:latin typeface="Times New Roman"/>
                <a:cs typeface="Times New Roman"/>
              </a:rPr>
              <a:t>are</a:t>
            </a:r>
            <a:r>
              <a:rPr sz="2000" spc="-10" dirty="0">
                <a:latin typeface="Times New Roman"/>
                <a:cs typeface="Times New Roman"/>
              </a:rPr>
              <a:t> </a:t>
            </a:r>
            <a:r>
              <a:rPr sz="2000" dirty="0">
                <a:latin typeface="Times New Roman"/>
                <a:cs typeface="Times New Roman"/>
              </a:rPr>
              <a:t>three</a:t>
            </a:r>
            <a:r>
              <a:rPr sz="2000" spc="-20" dirty="0">
                <a:latin typeface="Times New Roman"/>
                <a:cs typeface="Times New Roman"/>
              </a:rPr>
              <a:t> </a:t>
            </a:r>
            <a:r>
              <a:rPr sz="2000" dirty="0">
                <a:latin typeface="Times New Roman"/>
                <a:cs typeface="Times New Roman"/>
              </a:rPr>
              <a:t>major</a:t>
            </a:r>
            <a:r>
              <a:rPr sz="2000" spc="-15" dirty="0">
                <a:latin typeface="Times New Roman"/>
                <a:cs typeface="Times New Roman"/>
              </a:rPr>
              <a:t> </a:t>
            </a:r>
            <a:r>
              <a:rPr sz="2000" dirty="0">
                <a:latin typeface="Times New Roman"/>
                <a:cs typeface="Times New Roman"/>
              </a:rPr>
              <a:t>classes</a:t>
            </a:r>
            <a:r>
              <a:rPr sz="2000" spc="-2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iterators:</a:t>
            </a:r>
            <a:r>
              <a:rPr sz="2000" spc="-40" dirty="0">
                <a:latin typeface="Times New Roman"/>
                <a:cs typeface="Times New Roman"/>
              </a:rPr>
              <a:t> </a:t>
            </a:r>
            <a:r>
              <a:rPr sz="2000" dirty="0">
                <a:latin typeface="Times New Roman"/>
                <a:cs typeface="Times New Roman"/>
              </a:rPr>
              <a:t>forward,</a:t>
            </a:r>
            <a:r>
              <a:rPr sz="2000" spc="-30" dirty="0">
                <a:latin typeface="Times New Roman"/>
                <a:cs typeface="Times New Roman"/>
              </a:rPr>
              <a:t> </a:t>
            </a:r>
            <a:r>
              <a:rPr sz="2000" dirty="0">
                <a:latin typeface="Times New Roman"/>
                <a:cs typeface="Times New Roman"/>
              </a:rPr>
              <a:t>bidirectional,</a:t>
            </a:r>
            <a:r>
              <a:rPr sz="2000" spc="-50"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random</a:t>
            </a:r>
            <a:r>
              <a:rPr sz="2000" spc="-35" dirty="0">
                <a:latin typeface="Times New Roman"/>
                <a:cs typeface="Times New Roman"/>
              </a:rPr>
              <a:t> </a:t>
            </a:r>
            <a:r>
              <a:rPr sz="2000" spc="-10" dirty="0">
                <a:latin typeface="Times New Roman"/>
                <a:cs typeface="Times New Roman"/>
              </a:rPr>
              <a:t>access.</a:t>
            </a:r>
            <a:endParaRPr sz="2000">
              <a:latin typeface="Times New Roman"/>
              <a:cs typeface="Times New Roman"/>
            </a:endParaRPr>
          </a:p>
          <a:p>
            <a:pPr marL="355600" marR="5080" indent="-343535">
              <a:lnSpc>
                <a:spcPct val="100000"/>
              </a:lnSpc>
              <a:buFont typeface="Arial MT"/>
              <a:buChar char="•"/>
              <a:tabLst>
                <a:tab pos="355600" algn="l"/>
                <a:tab pos="1612900" algn="l"/>
                <a:tab pos="2723515" algn="l"/>
                <a:tab pos="3993515" algn="l"/>
                <a:tab pos="4987290" algn="l"/>
                <a:tab pos="5482590" algn="l"/>
                <a:tab pos="6607809" algn="l"/>
                <a:tab pos="7247890" algn="l"/>
                <a:tab pos="7713980" algn="l"/>
                <a:tab pos="8127365" algn="l"/>
                <a:tab pos="9152890" algn="l"/>
                <a:tab pos="9782175" algn="l"/>
              </a:tabLst>
            </a:pPr>
            <a:r>
              <a:rPr sz="2000" dirty="0">
                <a:latin typeface="Times New Roman"/>
                <a:cs typeface="Times New Roman"/>
              </a:rPr>
              <a:t>A</a:t>
            </a:r>
            <a:r>
              <a:rPr sz="2000" spc="375" dirty="0">
                <a:latin typeface="Times New Roman"/>
                <a:cs typeface="Times New Roman"/>
              </a:rPr>
              <a:t> </a:t>
            </a:r>
            <a:r>
              <a:rPr sz="2000" b="1" i="1" spc="-10" dirty="0">
                <a:latin typeface="Times New Roman"/>
                <a:cs typeface="Times New Roman"/>
              </a:rPr>
              <a:t>forward</a:t>
            </a:r>
            <a:r>
              <a:rPr sz="2000" b="1" i="1" dirty="0">
                <a:latin typeface="Times New Roman"/>
                <a:cs typeface="Times New Roman"/>
              </a:rPr>
              <a:t>	iterator</a:t>
            </a:r>
            <a:r>
              <a:rPr sz="2000" b="1" i="1" spc="459" dirty="0">
                <a:latin typeface="Times New Roman"/>
                <a:cs typeface="Times New Roman"/>
              </a:rPr>
              <a:t> </a:t>
            </a:r>
            <a:r>
              <a:rPr sz="2000" b="1" i="1" spc="-50" dirty="0">
                <a:latin typeface="Times New Roman"/>
                <a:cs typeface="Times New Roman"/>
              </a:rPr>
              <a:t>:</a:t>
            </a:r>
            <a:r>
              <a:rPr sz="2000" b="1" i="1" dirty="0">
                <a:latin typeface="Times New Roman"/>
                <a:cs typeface="Times New Roman"/>
              </a:rPr>
              <a:t>	</a:t>
            </a:r>
            <a:r>
              <a:rPr sz="2000" dirty="0">
                <a:latin typeface="Times New Roman"/>
                <a:cs typeface="Times New Roman"/>
              </a:rPr>
              <a:t>only</a:t>
            </a:r>
            <a:r>
              <a:rPr sz="2000" spc="484" dirty="0">
                <a:latin typeface="Times New Roman"/>
                <a:cs typeface="Times New Roman"/>
              </a:rPr>
              <a:t> </a:t>
            </a:r>
            <a:r>
              <a:rPr sz="2000" spc="-20" dirty="0">
                <a:latin typeface="Times New Roman"/>
                <a:cs typeface="Times New Roman"/>
              </a:rPr>
              <a:t>move</a:t>
            </a:r>
            <a:r>
              <a:rPr sz="2000" dirty="0">
                <a:latin typeface="Times New Roman"/>
                <a:cs typeface="Times New Roman"/>
              </a:rPr>
              <a:t>	</a:t>
            </a:r>
            <a:r>
              <a:rPr sz="2000" spc="-10" dirty="0">
                <a:latin typeface="Times New Roman"/>
                <a:cs typeface="Times New Roman"/>
              </a:rPr>
              <a:t>forward,</a:t>
            </a:r>
            <a:r>
              <a:rPr sz="2000" dirty="0">
                <a:latin typeface="Times New Roman"/>
                <a:cs typeface="Times New Roman"/>
              </a:rPr>
              <a:t>	</a:t>
            </a:r>
            <a:r>
              <a:rPr sz="2000" spc="-25" dirty="0">
                <a:latin typeface="Times New Roman"/>
                <a:cs typeface="Times New Roman"/>
              </a:rPr>
              <a:t>one</a:t>
            </a:r>
            <a:r>
              <a:rPr sz="2000" dirty="0">
                <a:latin typeface="Times New Roman"/>
                <a:cs typeface="Times New Roman"/>
              </a:rPr>
              <a:t>	item</a:t>
            </a:r>
            <a:r>
              <a:rPr sz="2000" spc="470" dirty="0">
                <a:latin typeface="Times New Roman"/>
                <a:cs typeface="Times New Roman"/>
              </a:rPr>
              <a:t> </a:t>
            </a:r>
            <a:r>
              <a:rPr sz="2000" dirty="0">
                <a:latin typeface="Times New Roman"/>
                <a:cs typeface="Times New Roman"/>
              </a:rPr>
              <a:t>at</a:t>
            </a:r>
            <a:r>
              <a:rPr sz="2000" spc="475" dirty="0">
                <a:latin typeface="Times New Roman"/>
                <a:cs typeface="Times New Roman"/>
              </a:rPr>
              <a:t> </a:t>
            </a:r>
            <a:r>
              <a:rPr sz="2000" spc="-50" dirty="0">
                <a:latin typeface="Times New Roman"/>
                <a:cs typeface="Times New Roman"/>
              </a:rPr>
              <a:t>a</a:t>
            </a:r>
            <a:r>
              <a:rPr sz="2000" dirty="0">
                <a:latin typeface="Times New Roman"/>
                <a:cs typeface="Times New Roman"/>
              </a:rPr>
              <a:t>	</a:t>
            </a:r>
            <a:r>
              <a:rPr sz="2000" spc="-10" dirty="0">
                <a:latin typeface="Times New Roman"/>
                <a:cs typeface="Times New Roman"/>
              </a:rPr>
              <a:t>time,</a:t>
            </a:r>
            <a:r>
              <a:rPr sz="2000" dirty="0">
                <a:latin typeface="Times New Roman"/>
                <a:cs typeface="Times New Roman"/>
              </a:rPr>
              <a:t>	</a:t>
            </a:r>
            <a:r>
              <a:rPr sz="2000" spc="-25" dirty="0">
                <a:latin typeface="Times New Roman"/>
                <a:cs typeface="Times New Roman"/>
              </a:rPr>
              <a:t>use</a:t>
            </a:r>
            <a:r>
              <a:rPr sz="2000" dirty="0">
                <a:latin typeface="Times New Roman"/>
                <a:cs typeface="Times New Roman"/>
              </a:rPr>
              <a:t>	</a:t>
            </a:r>
            <a:r>
              <a:rPr sz="2000" spc="-25" dirty="0">
                <a:latin typeface="Times New Roman"/>
                <a:cs typeface="Times New Roman"/>
              </a:rPr>
              <a:t>++</a:t>
            </a:r>
            <a:r>
              <a:rPr sz="2000" dirty="0">
                <a:latin typeface="Times New Roman"/>
                <a:cs typeface="Times New Roman"/>
              </a:rPr>
              <a:t>	</a:t>
            </a:r>
            <a:r>
              <a:rPr sz="2000" spc="-10" dirty="0">
                <a:latin typeface="Times New Roman"/>
                <a:cs typeface="Times New Roman"/>
              </a:rPr>
              <a:t>operator,</a:t>
            </a:r>
            <a:r>
              <a:rPr sz="2000" dirty="0">
                <a:latin typeface="Times New Roman"/>
                <a:cs typeface="Times New Roman"/>
              </a:rPr>
              <a:t>	</a:t>
            </a:r>
            <a:r>
              <a:rPr sz="2000" spc="-10" dirty="0">
                <a:latin typeface="Times New Roman"/>
                <a:cs typeface="Times New Roman"/>
              </a:rPr>
              <a:t>can’t</a:t>
            </a:r>
            <a:r>
              <a:rPr sz="2000" dirty="0">
                <a:latin typeface="Times New Roman"/>
                <a:cs typeface="Times New Roman"/>
              </a:rPr>
              <a:t>	</a:t>
            </a:r>
            <a:r>
              <a:rPr sz="2000" spc="-20" dirty="0">
                <a:latin typeface="Times New Roman"/>
                <a:cs typeface="Times New Roman"/>
              </a:rPr>
              <a:t>move </a:t>
            </a:r>
            <a:r>
              <a:rPr sz="2000" dirty="0">
                <a:latin typeface="Times New Roman"/>
                <a:cs typeface="Times New Roman"/>
              </a:rPr>
              <a:t>backward</a:t>
            </a:r>
            <a:r>
              <a:rPr sz="2000" spc="-3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it</a:t>
            </a:r>
            <a:r>
              <a:rPr sz="2000" spc="-20" dirty="0">
                <a:latin typeface="Times New Roman"/>
                <a:cs typeface="Times New Roman"/>
              </a:rPr>
              <a:t> </a:t>
            </a:r>
            <a:r>
              <a:rPr sz="2000" dirty="0">
                <a:latin typeface="Times New Roman"/>
                <a:cs typeface="Times New Roman"/>
              </a:rPr>
              <a:t>can’t</a:t>
            </a:r>
            <a:r>
              <a:rPr sz="2000" spc="-25" dirty="0">
                <a:latin typeface="Times New Roman"/>
                <a:cs typeface="Times New Roman"/>
              </a:rPr>
              <a:t> </a:t>
            </a:r>
            <a:r>
              <a:rPr sz="2000" dirty="0">
                <a:latin typeface="Times New Roman"/>
                <a:cs typeface="Times New Roman"/>
              </a:rPr>
              <a:t>be</a:t>
            </a:r>
            <a:r>
              <a:rPr sz="2000" spc="-15" dirty="0">
                <a:latin typeface="Times New Roman"/>
                <a:cs typeface="Times New Roman"/>
              </a:rPr>
              <a:t> </a:t>
            </a:r>
            <a:r>
              <a:rPr sz="2000" dirty="0">
                <a:latin typeface="Times New Roman"/>
                <a:cs typeface="Times New Roman"/>
              </a:rPr>
              <a:t>set</a:t>
            </a:r>
            <a:r>
              <a:rPr sz="2000" spc="-20"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an</a:t>
            </a:r>
            <a:r>
              <a:rPr sz="2000" spc="-10" dirty="0">
                <a:latin typeface="Times New Roman"/>
                <a:cs typeface="Times New Roman"/>
              </a:rPr>
              <a:t> </a:t>
            </a:r>
            <a:r>
              <a:rPr sz="2000" dirty="0">
                <a:latin typeface="Times New Roman"/>
                <a:cs typeface="Times New Roman"/>
              </a:rPr>
              <a:t>arbitrary</a:t>
            </a:r>
            <a:r>
              <a:rPr sz="2000" spc="-40" dirty="0">
                <a:latin typeface="Times New Roman"/>
                <a:cs typeface="Times New Roman"/>
              </a:rPr>
              <a:t> </a:t>
            </a:r>
            <a:r>
              <a:rPr sz="2000" dirty="0">
                <a:latin typeface="Times New Roman"/>
                <a:cs typeface="Times New Roman"/>
              </a:rPr>
              <a:t>location</a:t>
            </a:r>
            <a:r>
              <a:rPr sz="2000" spc="-25"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middle</a:t>
            </a:r>
            <a:r>
              <a:rPr sz="2000" spc="-15"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spc="-10" dirty="0">
                <a:latin typeface="Times New Roman"/>
                <a:cs typeface="Times New Roman"/>
              </a:rPr>
              <a:t>container.</a:t>
            </a:r>
            <a:endParaRPr sz="2000">
              <a:latin typeface="Times New Roman"/>
              <a:cs typeface="Times New Roman"/>
            </a:endParaRPr>
          </a:p>
          <a:p>
            <a:pPr marL="355600" indent="-342900">
              <a:lnSpc>
                <a:spcPct val="100000"/>
              </a:lnSpc>
              <a:buFont typeface="Arial MT"/>
              <a:buChar char="•"/>
              <a:tabLst>
                <a:tab pos="355600" algn="l"/>
              </a:tabLst>
            </a:pPr>
            <a:r>
              <a:rPr sz="2000" spc="-20" dirty="0">
                <a:latin typeface="Times New Roman"/>
                <a:cs typeface="Times New Roman"/>
              </a:rPr>
              <a:t>A</a:t>
            </a:r>
            <a:r>
              <a:rPr sz="2000" spc="-114" dirty="0">
                <a:latin typeface="Times New Roman"/>
                <a:cs typeface="Times New Roman"/>
              </a:rPr>
              <a:t> </a:t>
            </a:r>
            <a:r>
              <a:rPr sz="2000" b="1" i="1" dirty="0">
                <a:latin typeface="Times New Roman"/>
                <a:cs typeface="Times New Roman"/>
              </a:rPr>
              <a:t>bidirectional</a:t>
            </a:r>
            <a:r>
              <a:rPr sz="2000" b="1" i="1" spc="-45" dirty="0">
                <a:latin typeface="Times New Roman"/>
                <a:cs typeface="Times New Roman"/>
              </a:rPr>
              <a:t> </a:t>
            </a:r>
            <a:r>
              <a:rPr sz="2000" b="1" i="1" dirty="0">
                <a:latin typeface="Times New Roman"/>
                <a:cs typeface="Times New Roman"/>
              </a:rPr>
              <a:t>iterator</a:t>
            </a:r>
            <a:r>
              <a:rPr sz="2000" b="1" i="1" spc="-30" dirty="0">
                <a:latin typeface="Times New Roman"/>
                <a:cs typeface="Times New Roman"/>
              </a:rPr>
              <a:t> </a:t>
            </a:r>
            <a:r>
              <a:rPr sz="2000" b="1" i="1" dirty="0">
                <a:latin typeface="Times New Roman"/>
                <a:cs typeface="Times New Roman"/>
              </a:rPr>
              <a:t>:</a:t>
            </a:r>
            <a:r>
              <a:rPr sz="2000" b="1" i="1" spc="-5" dirty="0">
                <a:latin typeface="Times New Roman"/>
                <a:cs typeface="Times New Roman"/>
              </a:rPr>
              <a:t> </a:t>
            </a:r>
            <a:r>
              <a:rPr sz="2000" dirty="0">
                <a:latin typeface="Times New Roman"/>
                <a:cs typeface="Times New Roman"/>
              </a:rPr>
              <a:t>can</a:t>
            </a:r>
            <a:r>
              <a:rPr sz="2000" spc="-20" dirty="0">
                <a:latin typeface="Times New Roman"/>
                <a:cs typeface="Times New Roman"/>
              </a:rPr>
              <a:t> </a:t>
            </a:r>
            <a:r>
              <a:rPr sz="2000" dirty="0">
                <a:latin typeface="Times New Roman"/>
                <a:cs typeface="Times New Roman"/>
              </a:rPr>
              <a:t>move</a:t>
            </a:r>
            <a:r>
              <a:rPr sz="2000" spc="5" dirty="0">
                <a:latin typeface="Times New Roman"/>
                <a:cs typeface="Times New Roman"/>
              </a:rPr>
              <a:t> </a:t>
            </a:r>
            <a:r>
              <a:rPr sz="2000" dirty="0">
                <a:latin typeface="Times New Roman"/>
                <a:cs typeface="Times New Roman"/>
              </a:rPr>
              <a:t>backward</a:t>
            </a:r>
            <a:r>
              <a:rPr sz="2000" spc="-40" dirty="0">
                <a:latin typeface="Times New Roman"/>
                <a:cs typeface="Times New Roman"/>
              </a:rPr>
              <a:t> </a:t>
            </a:r>
            <a:r>
              <a:rPr sz="2000" dirty="0">
                <a:latin typeface="Times New Roman"/>
                <a:cs typeface="Times New Roman"/>
              </a:rPr>
              <a:t>as well</a:t>
            </a:r>
            <a:r>
              <a:rPr sz="2000" spc="-15" dirty="0">
                <a:latin typeface="Times New Roman"/>
                <a:cs typeface="Times New Roman"/>
              </a:rPr>
              <a:t> </a:t>
            </a:r>
            <a:r>
              <a:rPr sz="2000" dirty="0">
                <a:latin typeface="Times New Roman"/>
                <a:cs typeface="Times New Roman"/>
              </a:rPr>
              <a:t>as</a:t>
            </a:r>
            <a:r>
              <a:rPr sz="2000" spc="-15" dirty="0">
                <a:latin typeface="Times New Roman"/>
                <a:cs typeface="Times New Roman"/>
              </a:rPr>
              <a:t> </a:t>
            </a:r>
            <a:r>
              <a:rPr sz="2000" dirty="0">
                <a:latin typeface="Times New Roman"/>
                <a:cs typeface="Times New Roman"/>
              </a:rPr>
              <a:t>forward,</a:t>
            </a:r>
            <a:r>
              <a:rPr sz="2000" spc="-40" dirty="0">
                <a:latin typeface="Times New Roman"/>
                <a:cs typeface="Times New Roman"/>
              </a:rPr>
              <a:t> </a:t>
            </a:r>
            <a:r>
              <a:rPr sz="2000" dirty="0">
                <a:latin typeface="Times New Roman"/>
                <a:cs typeface="Times New Roman"/>
              </a:rPr>
              <a:t>use</a:t>
            </a:r>
            <a:r>
              <a:rPr sz="2000" spc="-15" dirty="0">
                <a:latin typeface="Times New Roman"/>
                <a:cs typeface="Times New Roman"/>
              </a:rPr>
              <a:t> </a:t>
            </a:r>
            <a:r>
              <a:rPr sz="2000" dirty="0">
                <a:latin typeface="Times New Roman"/>
                <a:cs typeface="Times New Roman"/>
              </a:rPr>
              <a:t>both</a:t>
            </a:r>
            <a:r>
              <a:rPr sz="2000" spc="-30" dirty="0">
                <a:latin typeface="Times New Roman"/>
                <a:cs typeface="Times New Roman"/>
              </a:rPr>
              <a:t> </a:t>
            </a:r>
            <a:r>
              <a:rPr sz="2000" dirty="0">
                <a:latin typeface="Times New Roman"/>
                <a:cs typeface="Times New Roman"/>
              </a:rPr>
              <a:t>its</a:t>
            </a:r>
            <a:r>
              <a:rPr sz="2000" spc="-15" dirty="0">
                <a:latin typeface="Times New Roman"/>
                <a:cs typeface="Times New Roman"/>
              </a:rPr>
              <a:t> </a:t>
            </a:r>
            <a:r>
              <a:rPr sz="2000" dirty="0">
                <a:latin typeface="Times New Roman"/>
                <a:cs typeface="Times New Roman"/>
              </a:rPr>
              <a:t>++ and</a:t>
            </a:r>
            <a:r>
              <a:rPr sz="2000" spc="-15"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sz="2000" spc="-10" dirty="0">
                <a:latin typeface="Times New Roman"/>
                <a:cs typeface="Times New Roman"/>
              </a:rPr>
              <a:t>operators.</a:t>
            </a:r>
            <a:endParaRPr sz="2000">
              <a:latin typeface="Times New Roman"/>
              <a:cs typeface="Times New Roman"/>
            </a:endParaRPr>
          </a:p>
          <a:p>
            <a:pPr marL="355600" marR="7620" indent="-343535">
              <a:lnSpc>
                <a:spcPct val="100000"/>
              </a:lnSpc>
              <a:buFont typeface="Arial MT"/>
              <a:buChar char="•"/>
              <a:tabLst>
                <a:tab pos="355600" algn="l"/>
              </a:tabLst>
            </a:pPr>
            <a:r>
              <a:rPr sz="2000" dirty="0">
                <a:latin typeface="Times New Roman"/>
                <a:cs typeface="Times New Roman"/>
              </a:rPr>
              <a:t>A</a:t>
            </a:r>
            <a:r>
              <a:rPr sz="2000" spc="-100" dirty="0">
                <a:latin typeface="Times New Roman"/>
                <a:cs typeface="Times New Roman"/>
              </a:rPr>
              <a:t> </a:t>
            </a:r>
            <a:r>
              <a:rPr sz="2000" b="1" i="1" dirty="0">
                <a:latin typeface="Times New Roman"/>
                <a:cs typeface="Times New Roman"/>
              </a:rPr>
              <a:t>random</a:t>
            </a:r>
            <a:r>
              <a:rPr sz="2000" b="1" i="1" spc="10" dirty="0">
                <a:latin typeface="Times New Roman"/>
                <a:cs typeface="Times New Roman"/>
              </a:rPr>
              <a:t> </a:t>
            </a:r>
            <a:r>
              <a:rPr sz="2000" b="1" i="1" dirty="0">
                <a:latin typeface="Times New Roman"/>
                <a:cs typeface="Times New Roman"/>
              </a:rPr>
              <a:t>access iterator</a:t>
            </a:r>
            <a:r>
              <a:rPr sz="2000" b="1" i="1" spc="5" dirty="0">
                <a:latin typeface="Times New Roman"/>
                <a:cs typeface="Times New Roman"/>
              </a:rPr>
              <a:t> </a:t>
            </a:r>
            <a:r>
              <a:rPr sz="2000" b="1" i="1" dirty="0">
                <a:latin typeface="Times New Roman"/>
                <a:cs typeface="Times New Roman"/>
              </a:rPr>
              <a:t>:</a:t>
            </a:r>
            <a:r>
              <a:rPr sz="2000" b="1" i="1" spc="5" dirty="0">
                <a:latin typeface="Times New Roman"/>
                <a:cs typeface="Times New Roman"/>
              </a:rPr>
              <a:t> </a:t>
            </a:r>
            <a:r>
              <a:rPr sz="2000" dirty="0">
                <a:latin typeface="Times New Roman"/>
                <a:cs typeface="Times New Roman"/>
              </a:rPr>
              <a:t>in</a:t>
            </a:r>
            <a:r>
              <a:rPr sz="2000" spc="25" dirty="0">
                <a:latin typeface="Times New Roman"/>
                <a:cs typeface="Times New Roman"/>
              </a:rPr>
              <a:t> </a:t>
            </a:r>
            <a:r>
              <a:rPr sz="2000" dirty="0">
                <a:latin typeface="Times New Roman"/>
                <a:cs typeface="Times New Roman"/>
              </a:rPr>
              <a:t>addition</a:t>
            </a:r>
            <a:r>
              <a:rPr sz="2000" spc="15"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moving</a:t>
            </a:r>
            <a:r>
              <a:rPr sz="2000" spc="10" dirty="0">
                <a:latin typeface="Times New Roman"/>
                <a:cs typeface="Times New Roman"/>
              </a:rPr>
              <a:t> </a:t>
            </a:r>
            <a:r>
              <a:rPr sz="2000" dirty="0">
                <a:latin typeface="Times New Roman"/>
                <a:cs typeface="Times New Roman"/>
              </a:rPr>
              <a:t>backward</a:t>
            </a:r>
            <a:r>
              <a:rPr sz="2000" spc="25" dirty="0">
                <a:latin typeface="Times New Roman"/>
                <a:cs typeface="Times New Roman"/>
              </a:rPr>
              <a:t> </a:t>
            </a:r>
            <a:r>
              <a:rPr sz="2000" dirty="0">
                <a:latin typeface="Times New Roman"/>
                <a:cs typeface="Times New Roman"/>
              </a:rPr>
              <a:t>and forward,</a:t>
            </a:r>
            <a:r>
              <a:rPr sz="2000" spc="10" dirty="0">
                <a:latin typeface="Times New Roman"/>
                <a:cs typeface="Times New Roman"/>
              </a:rPr>
              <a:t> </a:t>
            </a:r>
            <a:r>
              <a:rPr sz="2000" dirty="0">
                <a:latin typeface="Times New Roman"/>
                <a:cs typeface="Times New Roman"/>
              </a:rPr>
              <a:t>can jump</a:t>
            </a:r>
            <a:r>
              <a:rPr sz="2000" spc="2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an</a:t>
            </a:r>
            <a:r>
              <a:rPr sz="2000" spc="20" dirty="0">
                <a:latin typeface="Times New Roman"/>
                <a:cs typeface="Times New Roman"/>
              </a:rPr>
              <a:t> </a:t>
            </a:r>
            <a:r>
              <a:rPr sz="2000" spc="-10" dirty="0">
                <a:latin typeface="Times New Roman"/>
                <a:cs typeface="Times New Roman"/>
              </a:rPr>
              <a:t>arbitrary location.</a:t>
            </a:r>
            <a:endParaRPr sz="2000">
              <a:latin typeface="Times New Roman"/>
              <a:cs typeface="Times New Roman"/>
            </a:endParaRPr>
          </a:p>
        </p:txBody>
      </p:sp>
      <p:sp>
        <p:nvSpPr>
          <p:cNvPr id="8" name="Date Placeholder 7">
            <a:extLst>
              <a:ext uri="{FF2B5EF4-FFF2-40B4-BE49-F238E27FC236}">
                <a16:creationId xmlns:a16="http://schemas.microsoft.com/office/drawing/2014/main" id="{6FAFFD3E-F32B-4F46-2928-060029EECC8B}"/>
              </a:ext>
            </a:extLst>
          </p:cNvPr>
          <p:cNvSpPr>
            <a:spLocks noGrp="1"/>
          </p:cNvSpPr>
          <p:nvPr>
            <p:ph type="dt" sz="half" idx="10"/>
          </p:nvPr>
        </p:nvSpPr>
        <p:spPr/>
        <p:txBody>
          <a:bodyPr/>
          <a:lstStyle/>
          <a:p>
            <a:fld id="{EE19A0BF-DEA8-488B-A2D1-B23D946F850F}" type="datetime1">
              <a:rPr lang="en-US" smtClean="0"/>
              <a:t>11/17/2025</a:t>
            </a:fld>
            <a:endParaRPr lang="en-US"/>
          </a:p>
        </p:txBody>
      </p:sp>
      <p:sp>
        <p:nvSpPr>
          <p:cNvPr id="9" name="Slide Number Placeholder 8">
            <a:extLst>
              <a:ext uri="{FF2B5EF4-FFF2-40B4-BE49-F238E27FC236}">
                <a16:creationId xmlns:a16="http://schemas.microsoft.com/office/drawing/2014/main" id="{4FCE8507-D580-CD1D-30B9-1A20C80F0014}"/>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67</a:t>
            </a:fld>
            <a:endParaRPr spc="-2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Iterators</a:t>
            </a:r>
            <a:r>
              <a:rPr spc="-80" dirty="0"/>
              <a:t> </a:t>
            </a:r>
            <a:r>
              <a:rPr dirty="0"/>
              <a:t>as</a:t>
            </a:r>
            <a:r>
              <a:rPr spc="-90" dirty="0"/>
              <a:t> </a:t>
            </a:r>
            <a:r>
              <a:rPr dirty="0"/>
              <a:t>Smart</a:t>
            </a:r>
            <a:r>
              <a:rPr spc="-70" dirty="0"/>
              <a:t> </a:t>
            </a:r>
            <a:r>
              <a:rPr spc="-10" dirty="0"/>
              <a:t>Pointers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t>Mehedi Hasan</a:t>
            </a:r>
            <a:endParaRPr spc="-10" dirty="0"/>
          </a:p>
        </p:txBody>
      </p:sp>
      <p:pic>
        <p:nvPicPr>
          <p:cNvPr id="3" name="object 3"/>
          <p:cNvPicPr/>
          <p:nvPr/>
        </p:nvPicPr>
        <p:blipFill>
          <a:blip r:embed="rId2" cstate="print"/>
          <a:stretch>
            <a:fillRect/>
          </a:stretch>
        </p:blipFill>
        <p:spPr>
          <a:xfrm>
            <a:off x="5712868" y="1593082"/>
            <a:ext cx="6113268" cy="3753823"/>
          </a:xfrm>
          <a:prstGeom prst="rect">
            <a:avLst/>
          </a:prstGeom>
        </p:spPr>
      </p:pic>
      <p:pic>
        <p:nvPicPr>
          <p:cNvPr id="4" name="object 4"/>
          <p:cNvPicPr/>
          <p:nvPr/>
        </p:nvPicPr>
        <p:blipFill>
          <a:blip r:embed="rId3" cstate="print"/>
          <a:stretch>
            <a:fillRect/>
          </a:stretch>
        </p:blipFill>
        <p:spPr>
          <a:xfrm>
            <a:off x="6025581" y="5457539"/>
            <a:ext cx="1251027" cy="597931"/>
          </a:xfrm>
          <a:prstGeom prst="rect">
            <a:avLst/>
          </a:prstGeom>
        </p:spPr>
      </p:pic>
      <p:sp>
        <p:nvSpPr>
          <p:cNvPr id="5" name="object 5"/>
          <p:cNvSpPr txBox="1"/>
          <p:nvPr/>
        </p:nvSpPr>
        <p:spPr>
          <a:xfrm>
            <a:off x="529844" y="1561591"/>
            <a:ext cx="4768215" cy="4599305"/>
          </a:xfrm>
          <a:prstGeom prst="rect">
            <a:avLst/>
          </a:prstGeom>
        </p:spPr>
        <p:txBody>
          <a:bodyPr vert="horz" wrap="square" lIns="0" tIns="13335" rIns="0" bIns="0" rtlCol="0">
            <a:spAutoFit/>
          </a:bodyPr>
          <a:lstStyle/>
          <a:p>
            <a:pPr marL="355600" marR="356870" indent="-342900">
              <a:lnSpc>
                <a:spcPct val="100000"/>
              </a:lnSpc>
              <a:spcBef>
                <a:spcPts val="105"/>
              </a:spcBef>
              <a:buFont typeface="Arial MT"/>
              <a:buChar char="•"/>
              <a:tabLst>
                <a:tab pos="355600" algn="l"/>
              </a:tabLst>
            </a:pPr>
            <a:r>
              <a:rPr sz="2000" dirty="0">
                <a:latin typeface="Times New Roman"/>
                <a:cs typeface="Times New Roman"/>
              </a:rPr>
              <a:t>When</a:t>
            </a:r>
            <a:r>
              <a:rPr sz="2000" spc="-25" dirty="0">
                <a:latin typeface="Times New Roman"/>
                <a:cs typeface="Times New Roman"/>
              </a:rPr>
              <a:t> </a:t>
            </a:r>
            <a:r>
              <a:rPr sz="2000" dirty="0">
                <a:latin typeface="Times New Roman"/>
                <a:cs typeface="Times New Roman"/>
              </a:rPr>
              <a:t>you</a:t>
            </a:r>
            <a:r>
              <a:rPr sz="2000" spc="-15" dirty="0">
                <a:latin typeface="Times New Roman"/>
                <a:cs typeface="Times New Roman"/>
              </a:rPr>
              <a:t> </a:t>
            </a:r>
            <a:r>
              <a:rPr sz="2000" dirty="0">
                <a:latin typeface="Times New Roman"/>
                <a:cs typeface="Times New Roman"/>
              </a:rPr>
              <a:t>define</a:t>
            </a:r>
            <a:r>
              <a:rPr sz="2000" spc="-25" dirty="0">
                <a:latin typeface="Times New Roman"/>
                <a:cs typeface="Times New Roman"/>
              </a:rPr>
              <a:t> </a:t>
            </a:r>
            <a:r>
              <a:rPr sz="2000" dirty="0">
                <a:latin typeface="Times New Roman"/>
                <a:cs typeface="Times New Roman"/>
              </a:rPr>
              <a:t>an iterator</a:t>
            </a:r>
            <a:r>
              <a:rPr sz="2000" spc="-40" dirty="0">
                <a:latin typeface="Times New Roman"/>
                <a:cs typeface="Times New Roman"/>
              </a:rPr>
              <a:t> </a:t>
            </a:r>
            <a:r>
              <a:rPr sz="2000" dirty="0">
                <a:latin typeface="Times New Roman"/>
                <a:cs typeface="Times New Roman"/>
              </a:rPr>
              <a:t>you </a:t>
            </a:r>
            <a:r>
              <a:rPr sz="2000" spc="-20" dirty="0">
                <a:latin typeface="Times New Roman"/>
                <a:cs typeface="Times New Roman"/>
              </a:rPr>
              <a:t>must </a:t>
            </a:r>
            <a:r>
              <a:rPr sz="2000" dirty="0">
                <a:latin typeface="Times New Roman"/>
                <a:cs typeface="Times New Roman"/>
              </a:rPr>
              <a:t>specify</a:t>
            </a:r>
            <a:r>
              <a:rPr sz="2000" spc="-30" dirty="0">
                <a:latin typeface="Times New Roman"/>
                <a:cs typeface="Times New Roman"/>
              </a:rPr>
              <a:t> </a:t>
            </a:r>
            <a:r>
              <a:rPr sz="2000" dirty="0">
                <a:latin typeface="Times New Roman"/>
                <a:cs typeface="Times New Roman"/>
              </a:rPr>
              <a:t>what</a:t>
            </a:r>
            <a:r>
              <a:rPr sz="2000" spc="-35" dirty="0">
                <a:latin typeface="Times New Roman"/>
                <a:cs typeface="Times New Roman"/>
              </a:rPr>
              <a:t> </a:t>
            </a:r>
            <a:r>
              <a:rPr sz="2000" dirty="0">
                <a:latin typeface="Times New Roman"/>
                <a:cs typeface="Times New Roman"/>
              </a:rPr>
              <a:t>kind</a:t>
            </a:r>
            <a:r>
              <a:rPr sz="2000" spc="-1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container</a:t>
            </a:r>
            <a:r>
              <a:rPr sz="2000" spc="-30" dirty="0">
                <a:latin typeface="Times New Roman"/>
                <a:cs typeface="Times New Roman"/>
              </a:rPr>
              <a:t> </a:t>
            </a:r>
            <a:r>
              <a:rPr sz="2000" dirty="0">
                <a:latin typeface="Times New Roman"/>
                <a:cs typeface="Times New Roman"/>
              </a:rPr>
              <a:t>it</a:t>
            </a:r>
            <a:r>
              <a:rPr sz="2000" spc="-25" dirty="0">
                <a:latin typeface="Times New Roman"/>
                <a:cs typeface="Times New Roman"/>
              </a:rPr>
              <a:t> </a:t>
            </a:r>
            <a:r>
              <a:rPr sz="2000" dirty="0">
                <a:latin typeface="Times New Roman"/>
                <a:cs typeface="Times New Roman"/>
              </a:rPr>
              <a:t>will</a:t>
            </a:r>
            <a:r>
              <a:rPr sz="2000" spc="-20" dirty="0">
                <a:latin typeface="Times New Roman"/>
                <a:cs typeface="Times New Roman"/>
              </a:rPr>
              <a:t> </a:t>
            </a:r>
            <a:r>
              <a:rPr sz="2000" spc="-25" dirty="0">
                <a:latin typeface="Times New Roman"/>
                <a:cs typeface="Times New Roman"/>
              </a:rPr>
              <a:t>be </a:t>
            </a:r>
            <a:r>
              <a:rPr sz="2000" dirty="0">
                <a:latin typeface="Times New Roman"/>
                <a:cs typeface="Times New Roman"/>
              </a:rPr>
              <a:t>used</a:t>
            </a:r>
            <a:r>
              <a:rPr sz="2000" spc="-30" dirty="0">
                <a:latin typeface="Times New Roman"/>
                <a:cs typeface="Times New Roman"/>
              </a:rPr>
              <a:t> </a:t>
            </a:r>
            <a:r>
              <a:rPr sz="2000" spc="-20" dirty="0">
                <a:latin typeface="Times New Roman"/>
                <a:cs typeface="Times New Roman"/>
              </a:rPr>
              <a:t>for.</a:t>
            </a:r>
            <a:endParaRPr sz="2000">
              <a:latin typeface="Times New Roman"/>
              <a:cs typeface="Times New Roman"/>
            </a:endParaRPr>
          </a:p>
          <a:p>
            <a:pPr marL="355600" marR="707390" indent="-342900">
              <a:lnSpc>
                <a:spcPct val="100000"/>
              </a:lnSpc>
              <a:buFont typeface="Arial MT"/>
              <a:buChar char="•"/>
              <a:tabLst>
                <a:tab pos="355600" algn="l"/>
              </a:tabLst>
            </a:pPr>
            <a:r>
              <a:rPr sz="2000" dirty="0">
                <a:latin typeface="Times New Roman"/>
                <a:cs typeface="Times New Roman"/>
              </a:rPr>
              <a:t>For</a:t>
            </a:r>
            <a:r>
              <a:rPr sz="2000" spc="-20" dirty="0">
                <a:latin typeface="Times New Roman"/>
                <a:cs typeface="Times New Roman"/>
              </a:rPr>
              <a:t> </a:t>
            </a:r>
            <a:r>
              <a:rPr sz="2000" dirty="0">
                <a:latin typeface="Times New Roman"/>
                <a:cs typeface="Times New Roman"/>
              </a:rPr>
              <a:t>example,</a:t>
            </a:r>
            <a:r>
              <a:rPr sz="2000" spc="-5" dirty="0">
                <a:latin typeface="Times New Roman"/>
                <a:cs typeface="Times New Roman"/>
              </a:rPr>
              <a:t> </a:t>
            </a:r>
            <a:r>
              <a:rPr sz="2000" dirty="0">
                <a:latin typeface="Times New Roman"/>
                <a:cs typeface="Times New Roman"/>
              </a:rPr>
              <a:t>if</a:t>
            </a:r>
            <a:r>
              <a:rPr sz="2000" spc="-10" dirty="0">
                <a:latin typeface="Times New Roman"/>
                <a:cs typeface="Times New Roman"/>
              </a:rPr>
              <a:t> </a:t>
            </a:r>
            <a:r>
              <a:rPr sz="2000" dirty="0">
                <a:latin typeface="Times New Roman"/>
                <a:cs typeface="Times New Roman"/>
              </a:rPr>
              <a:t>you’ve</a:t>
            </a:r>
            <a:r>
              <a:rPr sz="2000" spc="-30" dirty="0">
                <a:latin typeface="Times New Roman"/>
                <a:cs typeface="Times New Roman"/>
              </a:rPr>
              <a:t> </a:t>
            </a:r>
            <a:r>
              <a:rPr sz="2000" dirty="0">
                <a:latin typeface="Times New Roman"/>
                <a:cs typeface="Times New Roman"/>
              </a:rPr>
              <a:t>defined</a:t>
            </a:r>
            <a:r>
              <a:rPr sz="2000" spc="-40" dirty="0">
                <a:latin typeface="Times New Roman"/>
                <a:cs typeface="Times New Roman"/>
              </a:rPr>
              <a:t> </a:t>
            </a:r>
            <a:r>
              <a:rPr sz="2000" dirty="0">
                <a:latin typeface="Times New Roman"/>
                <a:cs typeface="Times New Roman"/>
              </a:rPr>
              <a:t>a </a:t>
            </a:r>
            <a:r>
              <a:rPr sz="2000" spc="-20" dirty="0">
                <a:latin typeface="Times New Roman"/>
                <a:cs typeface="Times New Roman"/>
              </a:rPr>
              <a:t>list </a:t>
            </a:r>
            <a:r>
              <a:rPr sz="2000" dirty="0">
                <a:latin typeface="Times New Roman"/>
                <a:cs typeface="Times New Roman"/>
              </a:rPr>
              <a:t>holding</a:t>
            </a:r>
            <a:r>
              <a:rPr sz="2000" spc="-50" dirty="0">
                <a:latin typeface="Times New Roman"/>
                <a:cs typeface="Times New Roman"/>
              </a:rPr>
              <a:t> </a:t>
            </a:r>
            <a:r>
              <a:rPr sz="2000" dirty="0">
                <a:latin typeface="Times New Roman"/>
                <a:cs typeface="Times New Roman"/>
              </a:rPr>
              <a:t>elements</a:t>
            </a:r>
            <a:r>
              <a:rPr sz="2000" spc="-20"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type</a:t>
            </a:r>
            <a:r>
              <a:rPr sz="2000" spc="-10" dirty="0">
                <a:latin typeface="Times New Roman"/>
                <a:cs typeface="Times New Roman"/>
              </a:rPr>
              <a:t> </a:t>
            </a:r>
            <a:r>
              <a:rPr sz="2000" spc="-25" dirty="0">
                <a:latin typeface="Times New Roman"/>
                <a:cs typeface="Times New Roman"/>
              </a:rPr>
              <a:t>int </a:t>
            </a:r>
            <a:r>
              <a:rPr sz="2000" b="1" dirty="0">
                <a:latin typeface="Times New Roman"/>
                <a:cs typeface="Times New Roman"/>
              </a:rPr>
              <a:t>list&lt;int&gt;</a:t>
            </a:r>
            <a:r>
              <a:rPr sz="2000" b="1" spc="-50" dirty="0">
                <a:latin typeface="Times New Roman"/>
                <a:cs typeface="Times New Roman"/>
              </a:rPr>
              <a:t> </a:t>
            </a:r>
            <a:r>
              <a:rPr sz="2000" b="1" dirty="0">
                <a:latin typeface="Times New Roman"/>
                <a:cs typeface="Times New Roman"/>
              </a:rPr>
              <a:t>iList;</a:t>
            </a:r>
            <a:r>
              <a:rPr sz="2000" b="1" spc="-20" dirty="0">
                <a:latin typeface="Times New Roman"/>
                <a:cs typeface="Times New Roman"/>
              </a:rPr>
              <a:t> </a:t>
            </a:r>
            <a:r>
              <a:rPr sz="2000" dirty="0">
                <a:latin typeface="Times New Roman"/>
                <a:cs typeface="Times New Roman"/>
              </a:rPr>
              <a:t>//list</a:t>
            </a:r>
            <a:r>
              <a:rPr sz="2000" spc="-20"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spc="-20" dirty="0">
                <a:latin typeface="Times New Roman"/>
                <a:cs typeface="Times New Roman"/>
              </a:rPr>
              <a:t>ints</a:t>
            </a:r>
            <a:endParaRPr sz="2000">
              <a:latin typeface="Times New Roman"/>
              <a:cs typeface="Times New Roman"/>
            </a:endParaRPr>
          </a:p>
          <a:p>
            <a:pPr marL="354965" indent="-342265">
              <a:lnSpc>
                <a:spcPct val="100000"/>
              </a:lnSpc>
              <a:buFont typeface="Arial MT"/>
              <a:buChar char="•"/>
              <a:tabLst>
                <a:tab pos="354965" algn="l"/>
              </a:tabLst>
            </a:pPr>
            <a:r>
              <a:rPr sz="2000" dirty="0">
                <a:latin typeface="Times New Roman"/>
                <a:cs typeface="Times New Roman"/>
              </a:rPr>
              <a:t>Then</a:t>
            </a:r>
            <a:r>
              <a:rPr sz="2000" spc="-2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define</a:t>
            </a:r>
            <a:r>
              <a:rPr sz="2000" spc="-35" dirty="0">
                <a:latin typeface="Times New Roman"/>
                <a:cs typeface="Times New Roman"/>
              </a:rPr>
              <a:t> </a:t>
            </a:r>
            <a:r>
              <a:rPr sz="2000" dirty="0">
                <a:latin typeface="Times New Roman"/>
                <a:cs typeface="Times New Roman"/>
              </a:rPr>
              <a:t>an iterator</a:t>
            </a:r>
            <a:r>
              <a:rPr sz="2000" spc="-35"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this</a:t>
            </a:r>
            <a:r>
              <a:rPr sz="2000" spc="-25" dirty="0">
                <a:latin typeface="Times New Roman"/>
                <a:cs typeface="Times New Roman"/>
              </a:rPr>
              <a:t> </a:t>
            </a:r>
            <a:r>
              <a:rPr sz="2000" dirty="0">
                <a:latin typeface="Times New Roman"/>
                <a:cs typeface="Times New Roman"/>
              </a:rPr>
              <a:t>list</a:t>
            </a:r>
            <a:r>
              <a:rPr sz="2000" spc="-15" dirty="0">
                <a:latin typeface="Times New Roman"/>
                <a:cs typeface="Times New Roman"/>
              </a:rPr>
              <a:t> </a:t>
            </a:r>
            <a:r>
              <a:rPr sz="2000" spc="-25" dirty="0">
                <a:latin typeface="Times New Roman"/>
                <a:cs typeface="Times New Roman"/>
              </a:rPr>
              <a:t>you</a:t>
            </a:r>
            <a:endParaRPr sz="2000">
              <a:latin typeface="Times New Roman"/>
              <a:cs typeface="Times New Roman"/>
            </a:endParaRPr>
          </a:p>
          <a:p>
            <a:pPr marL="355600">
              <a:lnSpc>
                <a:spcPct val="100000"/>
              </a:lnSpc>
            </a:pPr>
            <a:r>
              <a:rPr sz="2000" spc="-25" dirty="0">
                <a:latin typeface="Times New Roman"/>
                <a:cs typeface="Times New Roman"/>
              </a:rPr>
              <a:t>say</a:t>
            </a:r>
            <a:endParaRPr sz="2000">
              <a:latin typeface="Times New Roman"/>
              <a:cs typeface="Times New Roman"/>
            </a:endParaRPr>
          </a:p>
          <a:p>
            <a:pPr marL="12700">
              <a:lnSpc>
                <a:spcPct val="100000"/>
              </a:lnSpc>
              <a:spcBef>
                <a:spcPts val="5"/>
              </a:spcBef>
            </a:pPr>
            <a:r>
              <a:rPr sz="2000" b="1" dirty="0">
                <a:latin typeface="Times New Roman"/>
                <a:cs typeface="Times New Roman"/>
              </a:rPr>
              <a:t>list&lt;int&gt;::iterator</a:t>
            </a:r>
            <a:r>
              <a:rPr sz="2000" b="1" spc="-75" dirty="0">
                <a:latin typeface="Times New Roman"/>
                <a:cs typeface="Times New Roman"/>
              </a:rPr>
              <a:t> </a:t>
            </a:r>
            <a:r>
              <a:rPr sz="2000" b="1" dirty="0">
                <a:latin typeface="Times New Roman"/>
                <a:cs typeface="Times New Roman"/>
              </a:rPr>
              <a:t>iter;</a:t>
            </a:r>
            <a:r>
              <a:rPr sz="2000" b="1" spc="-25" dirty="0">
                <a:latin typeface="Times New Roman"/>
                <a:cs typeface="Times New Roman"/>
              </a:rPr>
              <a:t> </a:t>
            </a:r>
            <a:r>
              <a:rPr sz="2000" dirty="0">
                <a:latin typeface="Times New Roman"/>
                <a:cs typeface="Times New Roman"/>
              </a:rPr>
              <a:t>//iterator</a:t>
            </a:r>
            <a:r>
              <a:rPr sz="2000" spc="-45"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list-</a:t>
            </a:r>
            <a:r>
              <a:rPr sz="2000" spc="-10" dirty="0">
                <a:latin typeface="Times New Roman"/>
                <a:cs typeface="Times New Roman"/>
              </a:rPr>
              <a:t>of-</a:t>
            </a:r>
            <a:r>
              <a:rPr sz="2000" spc="-20" dirty="0">
                <a:latin typeface="Times New Roman"/>
                <a:cs typeface="Times New Roman"/>
              </a:rPr>
              <a:t>ints</a:t>
            </a:r>
            <a:endParaRPr sz="2000">
              <a:latin typeface="Times New Roman"/>
              <a:cs typeface="Times New Roman"/>
            </a:endParaRPr>
          </a:p>
          <a:p>
            <a:pPr>
              <a:lnSpc>
                <a:spcPct val="100000"/>
              </a:lnSpc>
              <a:spcBef>
                <a:spcPts val="95"/>
              </a:spcBef>
            </a:pPr>
            <a:endParaRPr sz="2000">
              <a:latin typeface="Times New Roman"/>
              <a:cs typeface="Times New Roman"/>
            </a:endParaRPr>
          </a:p>
          <a:p>
            <a:pPr marL="12700" marR="87630">
              <a:lnSpc>
                <a:spcPct val="100000"/>
              </a:lnSpc>
              <a:spcBef>
                <a:spcPts val="5"/>
              </a:spcBef>
            </a:pPr>
            <a:r>
              <a:rPr sz="2000" dirty="0">
                <a:latin typeface="Times New Roman"/>
                <a:cs typeface="Times New Roman"/>
              </a:rPr>
              <a:t>When</a:t>
            </a:r>
            <a:r>
              <a:rPr sz="2000" spc="-35" dirty="0">
                <a:latin typeface="Times New Roman"/>
                <a:cs typeface="Times New Roman"/>
              </a:rPr>
              <a:t> </a:t>
            </a:r>
            <a:r>
              <a:rPr sz="2000" dirty="0">
                <a:latin typeface="Times New Roman"/>
                <a:cs typeface="Times New Roman"/>
              </a:rPr>
              <a:t>you</a:t>
            </a:r>
            <a:r>
              <a:rPr sz="2000" spc="-15" dirty="0">
                <a:latin typeface="Times New Roman"/>
                <a:cs typeface="Times New Roman"/>
              </a:rPr>
              <a:t> </a:t>
            </a:r>
            <a:r>
              <a:rPr sz="2000" dirty="0">
                <a:latin typeface="Times New Roman"/>
                <a:cs typeface="Times New Roman"/>
              </a:rPr>
              <a:t>do</a:t>
            </a:r>
            <a:r>
              <a:rPr sz="2000" spc="5" dirty="0">
                <a:latin typeface="Times New Roman"/>
                <a:cs typeface="Times New Roman"/>
              </a:rPr>
              <a:t> </a:t>
            </a:r>
            <a:r>
              <a:rPr sz="2000" dirty="0">
                <a:latin typeface="Times New Roman"/>
                <a:cs typeface="Times New Roman"/>
              </a:rPr>
              <a:t>this,</a:t>
            </a:r>
            <a:r>
              <a:rPr sz="2000" spc="-2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STL</a:t>
            </a:r>
            <a:r>
              <a:rPr sz="2000" spc="-65" dirty="0">
                <a:latin typeface="Times New Roman"/>
                <a:cs typeface="Times New Roman"/>
              </a:rPr>
              <a:t> </a:t>
            </a:r>
            <a:r>
              <a:rPr sz="2000" spc="-10" dirty="0">
                <a:latin typeface="Times New Roman"/>
                <a:cs typeface="Times New Roman"/>
              </a:rPr>
              <a:t>automatically </a:t>
            </a:r>
            <a:r>
              <a:rPr sz="2000" dirty="0">
                <a:latin typeface="Times New Roman"/>
                <a:cs typeface="Times New Roman"/>
              </a:rPr>
              <a:t>makes</a:t>
            </a:r>
            <a:r>
              <a:rPr sz="2000" spc="-15" dirty="0">
                <a:latin typeface="Times New Roman"/>
                <a:cs typeface="Times New Roman"/>
              </a:rPr>
              <a:t> </a:t>
            </a:r>
            <a:r>
              <a:rPr sz="2000" dirty="0">
                <a:latin typeface="Times New Roman"/>
                <a:cs typeface="Times New Roman"/>
              </a:rPr>
              <a:t>this</a:t>
            </a:r>
            <a:r>
              <a:rPr sz="2000" spc="-40" dirty="0">
                <a:latin typeface="Times New Roman"/>
                <a:cs typeface="Times New Roman"/>
              </a:rPr>
              <a:t> </a:t>
            </a:r>
            <a:r>
              <a:rPr sz="2000" dirty="0">
                <a:latin typeface="Times New Roman"/>
                <a:cs typeface="Times New Roman"/>
              </a:rPr>
              <a:t>iterator</a:t>
            </a:r>
            <a:r>
              <a:rPr sz="2000" spc="-45" dirty="0">
                <a:latin typeface="Times New Roman"/>
                <a:cs typeface="Times New Roman"/>
              </a:rPr>
              <a:t> </a:t>
            </a:r>
            <a:r>
              <a:rPr sz="2000" dirty="0">
                <a:latin typeface="Times New Roman"/>
                <a:cs typeface="Times New Roman"/>
              </a:rPr>
              <a:t>a</a:t>
            </a:r>
            <a:r>
              <a:rPr sz="2000" spc="-25" dirty="0">
                <a:latin typeface="Times New Roman"/>
                <a:cs typeface="Times New Roman"/>
              </a:rPr>
              <a:t> </a:t>
            </a:r>
            <a:r>
              <a:rPr sz="2000" dirty="0">
                <a:latin typeface="Times New Roman"/>
                <a:cs typeface="Times New Roman"/>
              </a:rPr>
              <a:t>bidirectional</a:t>
            </a:r>
            <a:r>
              <a:rPr sz="2000" spc="-55" dirty="0">
                <a:latin typeface="Times New Roman"/>
                <a:cs typeface="Times New Roman"/>
              </a:rPr>
              <a:t> </a:t>
            </a:r>
            <a:r>
              <a:rPr sz="2000" spc="-10" dirty="0">
                <a:latin typeface="Times New Roman"/>
                <a:cs typeface="Times New Roman"/>
              </a:rPr>
              <a:t>iterator, </a:t>
            </a:r>
            <a:r>
              <a:rPr sz="2000" dirty="0">
                <a:latin typeface="Times New Roman"/>
                <a:cs typeface="Times New Roman"/>
              </a:rPr>
              <a:t>because</a:t>
            </a:r>
            <a:r>
              <a:rPr sz="2000" spc="-35" dirty="0">
                <a:latin typeface="Times New Roman"/>
                <a:cs typeface="Times New Roman"/>
              </a:rPr>
              <a:t> </a:t>
            </a:r>
            <a:r>
              <a:rPr sz="2000" spc="-10" dirty="0">
                <a:latin typeface="Times New Roman"/>
                <a:cs typeface="Times New Roman"/>
              </a:rPr>
              <a:t>that’s</a:t>
            </a:r>
            <a:r>
              <a:rPr sz="2000" spc="-40" dirty="0">
                <a:latin typeface="Times New Roman"/>
                <a:cs typeface="Times New Roman"/>
              </a:rPr>
              <a:t> </a:t>
            </a:r>
            <a:r>
              <a:rPr sz="2000" dirty="0">
                <a:latin typeface="Times New Roman"/>
                <a:cs typeface="Times New Roman"/>
              </a:rPr>
              <a:t>what</a:t>
            </a:r>
            <a:r>
              <a:rPr sz="2000" spc="-20"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dirty="0">
                <a:latin typeface="Times New Roman"/>
                <a:cs typeface="Times New Roman"/>
              </a:rPr>
              <a:t>list</a:t>
            </a:r>
            <a:r>
              <a:rPr sz="2000" spc="-20" dirty="0">
                <a:latin typeface="Times New Roman"/>
                <a:cs typeface="Times New Roman"/>
              </a:rPr>
              <a:t> </a:t>
            </a:r>
            <a:r>
              <a:rPr sz="2000" spc="-10" dirty="0">
                <a:latin typeface="Times New Roman"/>
                <a:cs typeface="Times New Roman"/>
              </a:rPr>
              <a:t>requires.</a:t>
            </a:r>
            <a:r>
              <a:rPr sz="2000" spc="-140" dirty="0">
                <a:latin typeface="Times New Roman"/>
                <a:cs typeface="Times New Roman"/>
              </a:rPr>
              <a:t> </a:t>
            </a:r>
            <a:r>
              <a:rPr sz="2000" dirty="0">
                <a:latin typeface="Times New Roman"/>
                <a:cs typeface="Times New Roman"/>
              </a:rPr>
              <a:t>An</a:t>
            </a:r>
            <a:r>
              <a:rPr sz="2000" spc="-15" dirty="0">
                <a:latin typeface="Times New Roman"/>
                <a:cs typeface="Times New Roman"/>
              </a:rPr>
              <a:t> </a:t>
            </a:r>
            <a:r>
              <a:rPr sz="2000" spc="-10" dirty="0">
                <a:latin typeface="Times New Roman"/>
                <a:cs typeface="Times New Roman"/>
              </a:rPr>
              <a:t>iterator </a:t>
            </a:r>
            <a:r>
              <a:rPr sz="2000" dirty="0">
                <a:latin typeface="Times New Roman"/>
                <a:cs typeface="Times New Roman"/>
              </a:rPr>
              <a:t>to</a:t>
            </a:r>
            <a:r>
              <a:rPr sz="2000" spc="-30" dirty="0">
                <a:latin typeface="Times New Roman"/>
                <a:cs typeface="Times New Roman"/>
              </a:rPr>
              <a:t> </a:t>
            </a:r>
            <a:r>
              <a:rPr sz="2000" dirty="0">
                <a:latin typeface="Times New Roman"/>
                <a:cs typeface="Times New Roman"/>
              </a:rPr>
              <a:t>a</a:t>
            </a:r>
            <a:r>
              <a:rPr sz="2000" spc="-15" dirty="0">
                <a:latin typeface="Times New Roman"/>
                <a:cs typeface="Times New Roman"/>
              </a:rPr>
              <a:t> </a:t>
            </a:r>
            <a:r>
              <a:rPr sz="2000" dirty="0">
                <a:latin typeface="Times New Roman"/>
                <a:cs typeface="Times New Roman"/>
              </a:rPr>
              <a:t>vector</a:t>
            </a:r>
            <a:r>
              <a:rPr sz="2000" spc="-20"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deque</a:t>
            </a:r>
            <a:r>
              <a:rPr sz="2000" spc="-40"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automatically</a:t>
            </a:r>
            <a:r>
              <a:rPr sz="2000" spc="-20" dirty="0">
                <a:latin typeface="Times New Roman"/>
                <a:cs typeface="Times New Roman"/>
              </a:rPr>
              <a:t> </a:t>
            </a:r>
            <a:r>
              <a:rPr sz="2000" spc="-10" dirty="0">
                <a:latin typeface="Times New Roman"/>
                <a:cs typeface="Times New Roman"/>
              </a:rPr>
              <a:t>created </a:t>
            </a:r>
            <a:r>
              <a:rPr sz="2000" dirty="0">
                <a:latin typeface="Times New Roman"/>
                <a:cs typeface="Times New Roman"/>
              </a:rPr>
              <a:t>as</a:t>
            </a:r>
            <a:r>
              <a:rPr sz="2000" spc="5" dirty="0">
                <a:latin typeface="Times New Roman"/>
                <a:cs typeface="Times New Roman"/>
              </a:rPr>
              <a:t> </a:t>
            </a:r>
            <a:r>
              <a:rPr sz="2000" dirty="0">
                <a:latin typeface="Times New Roman"/>
                <a:cs typeface="Times New Roman"/>
              </a:rPr>
              <a:t>a</a:t>
            </a:r>
            <a:r>
              <a:rPr sz="2000" spc="20" dirty="0">
                <a:latin typeface="Times New Roman"/>
                <a:cs typeface="Times New Roman"/>
              </a:rPr>
              <a:t> </a:t>
            </a:r>
            <a:r>
              <a:rPr sz="2000" spc="-10" dirty="0">
                <a:latin typeface="Times New Roman"/>
                <a:cs typeface="Times New Roman"/>
              </a:rPr>
              <a:t>random-</a:t>
            </a:r>
            <a:r>
              <a:rPr sz="2000" dirty="0">
                <a:latin typeface="Times New Roman"/>
                <a:cs typeface="Times New Roman"/>
              </a:rPr>
              <a:t>access</a:t>
            </a:r>
            <a:r>
              <a:rPr sz="2000" spc="-25" dirty="0">
                <a:latin typeface="Times New Roman"/>
                <a:cs typeface="Times New Roman"/>
              </a:rPr>
              <a:t> </a:t>
            </a:r>
            <a:r>
              <a:rPr sz="2000" spc="-10" dirty="0">
                <a:latin typeface="Times New Roman"/>
                <a:cs typeface="Times New Roman"/>
              </a:rPr>
              <a:t>iterator.</a:t>
            </a:r>
            <a:endParaRPr sz="2000">
              <a:latin typeface="Times New Roman"/>
              <a:cs typeface="Times New Roman"/>
            </a:endParaRPr>
          </a:p>
        </p:txBody>
      </p:sp>
      <p:sp>
        <p:nvSpPr>
          <p:cNvPr id="8" name="object 8"/>
          <p:cNvSpPr txBox="1"/>
          <p:nvPr/>
        </p:nvSpPr>
        <p:spPr>
          <a:xfrm>
            <a:off x="10044176" y="6367803"/>
            <a:ext cx="314325" cy="363855"/>
          </a:xfrm>
          <a:prstGeom prst="rect">
            <a:avLst/>
          </a:prstGeom>
        </p:spPr>
        <p:txBody>
          <a:bodyPr vert="horz" wrap="square" lIns="0" tIns="0" rIns="0" bIns="0" rtlCol="0">
            <a:spAutoFit/>
          </a:bodyPr>
          <a:lstStyle/>
          <a:p>
            <a:pPr marL="12700">
              <a:lnSpc>
                <a:spcPts val="2000"/>
              </a:lnSpc>
            </a:pPr>
            <a:r>
              <a:rPr sz="3600" spc="-37" baseline="-16203" dirty="0">
                <a:solidFill>
                  <a:srgbClr val="FFFFFF"/>
                </a:solidFill>
                <a:latin typeface="Times New Roman"/>
                <a:cs typeface="Times New Roman"/>
              </a:rPr>
              <a:t>1</a:t>
            </a:r>
            <a:r>
              <a:rPr sz="1600" spc="-25" dirty="0">
                <a:solidFill>
                  <a:srgbClr val="FFFFFF"/>
                </a:solidFill>
                <a:latin typeface="Times New Roman"/>
                <a:cs typeface="Times New Roman"/>
              </a:rPr>
              <a:t>st</a:t>
            </a:r>
            <a:endParaRPr sz="1600">
              <a:latin typeface="Times New Roman"/>
              <a:cs typeface="Times New Roman"/>
            </a:endParaRPr>
          </a:p>
        </p:txBody>
      </p:sp>
      <p:sp>
        <p:nvSpPr>
          <p:cNvPr id="9" name="object 9"/>
          <p:cNvSpPr txBox="1"/>
          <p:nvPr/>
        </p:nvSpPr>
        <p:spPr>
          <a:xfrm>
            <a:off x="10409935" y="6368253"/>
            <a:ext cx="1346200" cy="363220"/>
          </a:xfrm>
          <a:prstGeom prst="rect">
            <a:avLst/>
          </a:prstGeom>
        </p:spPr>
        <p:txBody>
          <a:bodyPr vert="horz" wrap="square" lIns="0" tIns="0" rIns="0" bIns="0" rtlCol="0">
            <a:spAutoFit/>
          </a:bodyPr>
          <a:lstStyle/>
          <a:p>
            <a:pPr marL="12700">
              <a:lnSpc>
                <a:spcPts val="2720"/>
              </a:lnSpc>
            </a:pPr>
            <a:r>
              <a:rPr sz="2400" dirty="0">
                <a:solidFill>
                  <a:srgbClr val="FFFFFF"/>
                </a:solidFill>
                <a:latin typeface="Times New Roman"/>
                <a:cs typeface="Times New Roman"/>
              </a:rPr>
              <a:t>June,</a:t>
            </a:r>
            <a:r>
              <a:rPr sz="2400" spc="-50"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latin typeface="Times New Roman"/>
              <a:cs typeface="Times New Roman"/>
            </a:endParaRPr>
          </a:p>
        </p:txBody>
      </p:sp>
      <p:sp>
        <p:nvSpPr>
          <p:cNvPr id="10" name="Date Placeholder 9">
            <a:extLst>
              <a:ext uri="{FF2B5EF4-FFF2-40B4-BE49-F238E27FC236}">
                <a16:creationId xmlns:a16="http://schemas.microsoft.com/office/drawing/2014/main" id="{9F9C20D7-CE72-0A7C-6FE7-CD3DE87948C3}"/>
              </a:ext>
            </a:extLst>
          </p:cNvPr>
          <p:cNvSpPr>
            <a:spLocks noGrp="1"/>
          </p:cNvSpPr>
          <p:nvPr>
            <p:ph type="dt" sz="half" idx="10"/>
          </p:nvPr>
        </p:nvSpPr>
        <p:spPr/>
        <p:txBody>
          <a:bodyPr/>
          <a:lstStyle/>
          <a:p>
            <a:fld id="{8A88596A-5311-411A-BC35-AA7261C555C4}" type="datetime1">
              <a:rPr lang="en-US" smtClean="0"/>
              <a:t>11/17/2025</a:t>
            </a:fld>
            <a:endParaRPr lang="en-US"/>
          </a:p>
        </p:txBody>
      </p:sp>
      <p:sp>
        <p:nvSpPr>
          <p:cNvPr id="11" name="Slide Number Placeholder 10">
            <a:extLst>
              <a:ext uri="{FF2B5EF4-FFF2-40B4-BE49-F238E27FC236}">
                <a16:creationId xmlns:a16="http://schemas.microsoft.com/office/drawing/2014/main" id="{F4433663-DDC3-3943-4495-EDF4D91FFBAE}"/>
              </a:ext>
            </a:extLst>
          </p:cNvPr>
          <p:cNvSpPr>
            <a:spLocks noGrp="1"/>
          </p:cNvSpPr>
          <p:nvPr>
            <p:ph type="sldNum" sz="quarter" idx="12"/>
          </p:nvPr>
        </p:nvSpPr>
        <p:spPr/>
        <p:txBody>
          <a:bodyPr/>
          <a:lstStyle/>
          <a:p>
            <a:pPr marL="12700">
              <a:lnSpc>
                <a:spcPts val="2720"/>
              </a:lnSpc>
              <a:tabLst>
                <a:tab pos="1499870" algn="l"/>
              </a:tabLst>
            </a:pPr>
            <a:r>
              <a:rPr lang="en-US"/>
              <a:t>Lecture</a:t>
            </a:r>
            <a:r>
              <a:rPr lang="en-US" spc="-25"/>
              <a:t> </a:t>
            </a:r>
            <a:r>
              <a:rPr lang="en-US"/>
              <a:t>1</a:t>
            </a:r>
            <a:r>
              <a:rPr lang="en-US" spc="5"/>
              <a:t> </a:t>
            </a:r>
            <a:r>
              <a:rPr lang="en-US" spc="-50"/>
              <a:t>-</a:t>
            </a:r>
            <a:r>
              <a:rPr lang="en-US"/>
              <a:t>	</a:t>
            </a:r>
            <a:fld id="{81D60167-4931-47E6-BA6A-407CBD079E47}" type="slidenum">
              <a:rPr spc="-25" smtClean="0"/>
              <a:t>68</a:t>
            </a:fld>
            <a:endParaRPr spc="-25"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6717" y="2282534"/>
            <a:ext cx="8334375" cy="1941557"/>
          </a:xfrm>
          <a:prstGeom prst="rect">
            <a:avLst/>
          </a:prstGeom>
        </p:spPr>
        <p:txBody>
          <a:bodyPr vert="horz" wrap="square" lIns="0" tIns="210820" rIns="0" bIns="0" rtlCol="0">
            <a:spAutoFit/>
          </a:bodyPr>
          <a:lstStyle/>
          <a:p>
            <a:pPr marL="6350" algn="ctr">
              <a:lnSpc>
                <a:spcPct val="100000"/>
              </a:lnSpc>
              <a:spcBef>
                <a:spcPts val="1660"/>
              </a:spcBef>
            </a:pPr>
            <a:r>
              <a:rPr sz="6000" spc="-10" dirty="0"/>
              <a:t>CSE-</a:t>
            </a:r>
            <a:r>
              <a:rPr sz="6000" spc="-20" dirty="0"/>
              <a:t>2</a:t>
            </a:r>
            <a:r>
              <a:rPr lang="en-US" sz="6000" spc="-20" dirty="0"/>
              <a:t>103</a:t>
            </a:r>
            <a:endParaRPr sz="6000" dirty="0"/>
          </a:p>
          <a:p>
            <a:pPr algn="ctr">
              <a:lnSpc>
                <a:spcPct val="100000"/>
              </a:lnSpc>
              <a:spcBef>
                <a:spcPts val="1035"/>
              </a:spcBef>
            </a:pPr>
            <a:r>
              <a:rPr dirty="0"/>
              <a:t>Object</a:t>
            </a:r>
            <a:r>
              <a:rPr spc="-140" dirty="0"/>
              <a:t> </a:t>
            </a:r>
            <a:r>
              <a:rPr dirty="0"/>
              <a:t>Oriented</a:t>
            </a:r>
            <a:r>
              <a:rPr spc="-155" dirty="0"/>
              <a:t> </a:t>
            </a:r>
            <a:r>
              <a:rPr dirty="0"/>
              <a:t>Programming</a:t>
            </a:r>
            <a:r>
              <a:rPr spc="-140" dirty="0"/>
              <a:t> </a:t>
            </a:r>
            <a:endParaRPr spc="-10" dirty="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1</a:t>
            </a:r>
            <a:endParaRPr sz="2400">
              <a:solidFill>
                <a:prstClr val="black"/>
              </a:solidFill>
              <a:latin typeface="Times New Roman"/>
              <a:cs typeface="Times New Roman"/>
            </a:endParaRPr>
          </a:p>
        </p:txBody>
      </p:sp>
      <p:sp>
        <p:nvSpPr>
          <p:cNvPr id="5" name="object 5"/>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6" name="object 6"/>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7" name="Date Placeholder 6">
            <a:extLst>
              <a:ext uri="{FF2B5EF4-FFF2-40B4-BE49-F238E27FC236}">
                <a16:creationId xmlns:a16="http://schemas.microsoft.com/office/drawing/2014/main" id="{F006E811-6D71-32F4-0EC5-B1B825754E4D}"/>
              </a:ext>
            </a:extLst>
          </p:cNvPr>
          <p:cNvSpPr>
            <a:spLocks noGrp="1"/>
          </p:cNvSpPr>
          <p:nvPr>
            <p:ph type="dt" sz="half" idx="10"/>
          </p:nvPr>
        </p:nvSpPr>
        <p:spPr/>
        <p:txBody>
          <a:bodyPr/>
          <a:lstStyle/>
          <a:p>
            <a:fld id="{D460CE4B-B17E-4297-9E9F-73C077403E13}" type="datetime1">
              <a:rPr lang="en-US" smtClean="0">
                <a:solidFill>
                  <a:prstClr val="black">
                    <a:tint val="75000"/>
                  </a:prstClr>
                </a:solidFill>
              </a:rPr>
              <a:pPr/>
              <a:t>11/17/2025</a:t>
            </a:fld>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FB848B1D-B6B4-EEF0-CEB4-7359BE4CD4A9}"/>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69</a:t>
            </a:fld>
            <a:endParaRPr spc="-25" dirty="0">
              <a:solidFill>
                <a:prstClr val="black">
                  <a:tint val="75000"/>
                </a:prstClr>
              </a:solidFill>
            </a:endParaRPr>
          </a:p>
        </p:txBody>
      </p:sp>
    </p:spTree>
    <p:extLst>
      <p:ext uri="{BB962C8B-B14F-4D97-AF65-F5344CB8AC3E}">
        <p14:creationId xmlns:p14="http://schemas.microsoft.com/office/powerpoint/2010/main" val="20732630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95750" y="2547569"/>
            <a:ext cx="4000500" cy="697230"/>
          </a:xfrm>
          <a:prstGeom prst="rect">
            <a:avLst/>
          </a:prstGeom>
        </p:spPr>
        <p:txBody>
          <a:bodyPr vert="horz" wrap="square" lIns="0" tIns="13335" rIns="0" bIns="0" rtlCol="0">
            <a:spAutoFit/>
          </a:bodyPr>
          <a:lstStyle/>
          <a:p>
            <a:pPr marL="12700">
              <a:lnSpc>
                <a:spcPct val="100000"/>
              </a:lnSpc>
              <a:spcBef>
                <a:spcPts val="105"/>
              </a:spcBef>
            </a:pPr>
            <a:r>
              <a:rPr sz="4400" dirty="0"/>
              <a:t>Streams</a:t>
            </a:r>
            <a:r>
              <a:rPr sz="4400" spc="-10" dirty="0"/>
              <a:t> </a:t>
            </a:r>
            <a:r>
              <a:rPr sz="4400" dirty="0"/>
              <a:t>and</a:t>
            </a:r>
            <a:r>
              <a:rPr sz="4400" spc="-30" dirty="0"/>
              <a:t> </a:t>
            </a:r>
            <a:r>
              <a:rPr sz="4400" spc="-10" dirty="0"/>
              <a:t>Files</a:t>
            </a:r>
            <a:endParaRPr sz="4400"/>
          </a:p>
        </p:txBody>
      </p:sp>
      <p:sp>
        <p:nvSpPr>
          <p:cNvPr id="3" name="object 3"/>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4" name="object 4"/>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2</a:t>
            </a:r>
            <a:endParaRPr sz="2400">
              <a:solidFill>
                <a:prstClr val="black"/>
              </a:solidFill>
              <a:latin typeface="Times New Roman"/>
              <a:cs typeface="Times New Roman"/>
            </a:endParaRPr>
          </a:p>
        </p:txBody>
      </p:sp>
      <p:sp>
        <p:nvSpPr>
          <p:cNvPr id="5" name="object 5"/>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6" name="object 6"/>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7" name="Date Placeholder 6">
            <a:extLst>
              <a:ext uri="{FF2B5EF4-FFF2-40B4-BE49-F238E27FC236}">
                <a16:creationId xmlns:a16="http://schemas.microsoft.com/office/drawing/2014/main" id="{DC16D648-C5A2-7951-5371-A68E95D54B8C}"/>
              </a:ext>
            </a:extLst>
          </p:cNvPr>
          <p:cNvSpPr>
            <a:spLocks noGrp="1"/>
          </p:cNvSpPr>
          <p:nvPr>
            <p:ph type="dt" sz="half" idx="10"/>
          </p:nvPr>
        </p:nvSpPr>
        <p:spPr/>
        <p:txBody>
          <a:bodyPr/>
          <a:lstStyle/>
          <a:p>
            <a:fld id="{5BF3D132-BCB9-4C3A-AC31-21CD15CD68A1}" type="datetime1">
              <a:rPr lang="en-US" smtClean="0">
                <a:solidFill>
                  <a:prstClr val="black">
                    <a:tint val="75000"/>
                  </a:prstClr>
                </a:solidFill>
              </a:rPr>
              <a:pPr/>
              <a:t>11/17/2025</a:t>
            </a:fld>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9D3C0152-FC8B-CBF6-424D-395B27E91292}"/>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70</a:t>
            </a:fld>
            <a:endParaRPr spc="-25" dirty="0">
              <a:solidFill>
                <a:prstClr val="black">
                  <a:tint val="75000"/>
                </a:prstClr>
              </a:solidFill>
            </a:endParaRPr>
          </a:p>
        </p:txBody>
      </p:sp>
    </p:spTree>
    <p:extLst>
      <p:ext uri="{BB962C8B-B14F-4D97-AF65-F5344CB8AC3E}">
        <p14:creationId xmlns:p14="http://schemas.microsoft.com/office/powerpoint/2010/main" val="3515100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Stream</a:t>
            </a:r>
            <a:r>
              <a:rPr spc="-120" dirty="0"/>
              <a:t> </a:t>
            </a:r>
            <a:r>
              <a:rPr spc="-10" dirty="0"/>
              <a:t>Classes</a:t>
            </a:r>
          </a:p>
        </p:txBody>
      </p:sp>
      <p:sp>
        <p:nvSpPr>
          <p:cNvPr id="8" name="object 8"/>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656333"/>
            <a:ext cx="4996180" cy="3989704"/>
          </a:xfrm>
          <a:prstGeom prst="rect">
            <a:avLst/>
          </a:prstGeom>
        </p:spPr>
        <p:txBody>
          <a:bodyPr vert="horz" wrap="square" lIns="0" tIns="13335" rIns="0" bIns="0" rtlCol="0">
            <a:spAutoFit/>
          </a:bodyPr>
          <a:lstStyle/>
          <a:p>
            <a:pPr marL="351790" marR="8890" indent="-339725" algn="just">
              <a:spcBef>
                <a:spcPts val="105"/>
              </a:spcBef>
              <a:buFont typeface="Arial MT"/>
              <a:buChar char="•"/>
              <a:tabLst>
                <a:tab pos="355600" algn="l"/>
              </a:tabLst>
            </a:pPr>
            <a:r>
              <a:rPr sz="2000" dirty="0">
                <a:solidFill>
                  <a:prstClr val="black"/>
                </a:solidFill>
                <a:latin typeface="Times New Roman"/>
                <a:cs typeface="Times New Roman"/>
              </a:rPr>
              <a:t>In</a:t>
            </a:r>
            <a:r>
              <a:rPr sz="2000" spc="365" dirty="0">
                <a:solidFill>
                  <a:prstClr val="black"/>
                </a:solidFill>
                <a:latin typeface="Times New Roman"/>
                <a:cs typeface="Times New Roman"/>
              </a:rPr>
              <a:t> </a:t>
            </a:r>
            <a:r>
              <a:rPr sz="2000" dirty="0">
                <a:solidFill>
                  <a:prstClr val="black"/>
                </a:solidFill>
                <a:latin typeface="Times New Roman"/>
                <a:cs typeface="Times New Roman"/>
              </a:rPr>
              <a:t>C++</a:t>
            </a:r>
            <a:r>
              <a:rPr sz="2000" spc="370" dirty="0">
                <a:solidFill>
                  <a:prstClr val="black"/>
                </a:solidFill>
                <a:latin typeface="Times New Roman"/>
                <a:cs typeface="Times New Roman"/>
              </a:rPr>
              <a:t> </a:t>
            </a:r>
            <a:r>
              <a:rPr sz="2000" dirty="0">
                <a:solidFill>
                  <a:prstClr val="black"/>
                </a:solidFill>
                <a:latin typeface="Times New Roman"/>
                <a:cs typeface="Times New Roman"/>
              </a:rPr>
              <a:t>code,</a:t>
            </a:r>
            <a:r>
              <a:rPr sz="2000" spc="350" dirty="0">
                <a:solidFill>
                  <a:prstClr val="black"/>
                </a:solidFill>
                <a:latin typeface="Times New Roman"/>
                <a:cs typeface="Times New Roman"/>
              </a:rPr>
              <a:t> </a:t>
            </a:r>
            <a:r>
              <a:rPr sz="2000" dirty="0">
                <a:solidFill>
                  <a:prstClr val="black"/>
                </a:solidFill>
                <a:latin typeface="Times New Roman"/>
                <a:cs typeface="Times New Roman"/>
              </a:rPr>
              <a:t>generally</a:t>
            </a:r>
            <a:r>
              <a:rPr sz="2000" spc="365" dirty="0">
                <a:solidFill>
                  <a:prstClr val="black"/>
                </a:solidFill>
                <a:latin typeface="Times New Roman"/>
                <a:cs typeface="Times New Roman"/>
              </a:rPr>
              <a:t> </a:t>
            </a:r>
            <a:r>
              <a:rPr sz="2000" dirty="0">
                <a:solidFill>
                  <a:prstClr val="black"/>
                </a:solidFill>
                <a:latin typeface="Times New Roman"/>
                <a:cs typeface="Times New Roman"/>
              </a:rPr>
              <a:t>the</a:t>
            </a:r>
            <a:r>
              <a:rPr sz="2000" spc="365" dirty="0">
                <a:solidFill>
                  <a:prstClr val="black"/>
                </a:solidFill>
                <a:latin typeface="Times New Roman"/>
                <a:cs typeface="Times New Roman"/>
              </a:rPr>
              <a:t> </a:t>
            </a:r>
            <a:r>
              <a:rPr sz="2000" dirty="0">
                <a:solidFill>
                  <a:prstClr val="black"/>
                </a:solidFill>
                <a:latin typeface="Times New Roman"/>
                <a:cs typeface="Times New Roman"/>
              </a:rPr>
              <a:t>flow</a:t>
            </a:r>
            <a:r>
              <a:rPr sz="2000" spc="370" dirty="0">
                <a:solidFill>
                  <a:prstClr val="black"/>
                </a:solidFill>
                <a:latin typeface="Times New Roman"/>
                <a:cs typeface="Times New Roman"/>
              </a:rPr>
              <a:t> </a:t>
            </a:r>
            <a:r>
              <a:rPr sz="2000" dirty="0">
                <a:solidFill>
                  <a:prstClr val="black"/>
                </a:solidFill>
                <a:latin typeface="Times New Roman"/>
                <a:cs typeface="Times New Roman"/>
              </a:rPr>
              <a:t>of</a:t>
            </a:r>
            <a:r>
              <a:rPr sz="2000" spc="370" dirty="0">
                <a:solidFill>
                  <a:prstClr val="black"/>
                </a:solidFill>
                <a:latin typeface="Times New Roman"/>
                <a:cs typeface="Times New Roman"/>
              </a:rPr>
              <a:t> </a:t>
            </a:r>
            <a:r>
              <a:rPr sz="2000" dirty="0">
                <a:solidFill>
                  <a:prstClr val="black"/>
                </a:solidFill>
                <a:latin typeface="Times New Roman"/>
                <a:cs typeface="Times New Roman"/>
              </a:rPr>
              <a:t>data</a:t>
            </a:r>
            <a:r>
              <a:rPr sz="2000" spc="355" dirty="0">
                <a:solidFill>
                  <a:prstClr val="black"/>
                </a:solidFill>
                <a:latin typeface="Times New Roman"/>
                <a:cs typeface="Times New Roman"/>
              </a:rPr>
              <a:t> </a:t>
            </a:r>
            <a:r>
              <a:rPr sz="2000" spc="-25" dirty="0">
                <a:solidFill>
                  <a:prstClr val="black"/>
                </a:solidFill>
                <a:latin typeface="Times New Roman"/>
                <a:cs typeface="Times New Roman"/>
              </a:rPr>
              <a:t>is 	</a:t>
            </a:r>
            <a:r>
              <a:rPr sz="2000" dirty="0">
                <a:solidFill>
                  <a:prstClr val="black"/>
                </a:solidFill>
                <a:latin typeface="Times New Roman"/>
                <a:cs typeface="Times New Roman"/>
              </a:rPr>
              <a:t>called</a:t>
            </a:r>
            <a:r>
              <a:rPr sz="2000" spc="-20" dirty="0">
                <a:solidFill>
                  <a:prstClr val="black"/>
                </a:solidFill>
                <a:latin typeface="Times New Roman"/>
                <a:cs typeface="Times New Roman"/>
              </a:rPr>
              <a:t> </a:t>
            </a:r>
            <a:r>
              <a:rPr sz="2000" dirty="0">
                <a:solidFill>
                  <a:prstClr val="black"/>
                </a:solidFill>
                <a:latin typeface="Times New Roman"/>
                <a:cs typeface="Times New Roman"/>
              </a:rPr>
              <a:t>as</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stream.</a:t>
            </a:r>
            <a:endParaRPr sz="2000">
              <a:solidFill>
                <a:prstClr val="black"/>
              </a:solidFill>
              <a:latin typeface="Times New Roman"/>
              <a:cs typeface="Times New Roman"/>
            </a:endParaRPr>
          </a:p>
          <a:p>
            <a:pPr marL="351790" marR="5080" indent="-339725" algn="just">
              <a:buFont typeface="Arial MT"/>
              <a:buChar char="•"/>
              <a:tabLst>
                <a:tab pos="355600" algn="l"/>
              </a:tabLst>
            </a:pPr>
            <a:r>
              <a:rPr sz="2000" dirty="0">
                <a:solidFill>
                  <a:prstClr val="black"/>
                </a:solidFill>
                <a:latin typeface="Times New Roman"/>
                <a:cs typeface="Times New Roman"/>
              </a:rPr>
              <a:t>Stream</a:t>
            </a:r>
            <a:r>
              <a:rPr sz="2000" spc="120" dirty="0">
                <a:solidFill>
                  <a:prstClr val="black"/>
                </a:solidFill>
                <a:latin typeface="Times New Roman"/>
                <a:cs typeface="Times New Roman"/>
              </a:rPr>
              <a:t>  </a:t>
            </a:r>
            <a:r>
              <a:rPr sz="2000" dirty="0">
                <a:solidFill>
                  <a:prstClr val="black"/>
                </a:solidFill>
                <a:latin typeface="Times New Roman"/>
                <a:cs typeface="Times New Roman"/>
              </a:rPr>
              <a:t>is</a:t>
            </a:r>
            <a:r>
              <a:rPr sz="2000" spc="125" dirty="0">
                <a:solidFill>
                  <a:prstClr val="black"/>
                </a:solidFill>
                <a:latin typeface="Times New Roman"/>
                <a:cs typeface="Times New Roman"/>
              </a:rPr>
              <a:t>  </a:t>
            </a:r>
            <a:r>
              <a:rPr sz="2000" dirty="0">
                <a:solidFill>
                  <a:prstClr val="black"/>
                </a:solidFill>
                <a:latin typeface="Times New Roman"/>
                <a:cs typeface="Times New Roman"/>
              </a:rPr>
              <a:t>represented</a:t>
            </a:r>
            <a:r>
              <a:rPr sz="2000" spc="135" dirty="0">
                <a:solidFill>
                  <a:prstClr val="black"/>
                </a:solidFill>
                <a:latin typeface="Times New Roman"/>
                <a:cs typeface="Times New Roman"/>
              </a:rPr>
              <a:t>  </a:t>
            </a:r>
            <a:r>
              <a:rPr sz="2000" dirty="0">
                <a:solidFill>
                  <a:prstClr val="black"/>
                </a:solidFill>
                <a:latin typeface="Times New Roman"/>
                <a:cs typeface="Times New Roman"/>
              </a:rPr>
              <a:t>by</a:t>
            </a:r>
            <a:r>
              <a:rPr sz="2000" spc="135" dirty="0">
                <a:solidFill>
                  <a:prstClr val="black"/>
                </a:solidFill>
                <a:latin typeface="Times New Roman"/>
                <a:cs typeface="Times New Roman"/>
              </a:rPr>
              <a:t>  </a:t>
            </a:r>
            <a:r>
              <a:rPr sz="2000" dirty="0">
                <a:solidFill>
                  <a:prstClr val="black"/>
                </a:solidFill>
                <a:latin typeface="Times New Roman"/>
                <a:cs typeface="Times New Roman"/>
              </a:rPr>
              <a:t>an</a:t>
            </a:r>
            <a:r>
              <a:rPr sz="2000" spc="130" dirty="0">
                <a:solidFill>
                  <a:prstClr val="black"/>
                </a:solidFill>
                <a:latin typeface="Times New Roman"/>
                <a:cs typeface="Times New Roman"/>
              </a:rPr>
              <a:t>  </a:t>
            </a:r>
            <a:r>
              <a:rPr sz="2000" dirty="0">
                <a:solidFill>
                  <a:prstClr val="black"/>
                </a:solidFill>
                <a:latin typeface="Times New Roman"/>
                <a:cs typeface="Times New Roman"/>
              </a:rPr>
              <a:t>object</a:t>
            </a:r>
            <a:r>
              <a:rPr sz="2000" spc="130" dirty="0">
                <a:solidFill>
                  <a:prstClr val="black"/>
                </a:solidFill>
                <a:latin typeface="Times New Roman"/>
                <a:cs typeface="Times New Roman"/>
              </a:rPr>
              <a:t>  </a:t>
            </a:r>
            <a:r>
              <a:rPr sz="2000" dirty="0">
                <a:solidFill>
                  <a:prstClr val="black"/>
                </a:solidFill>
                <a:latin typeface="Times New Roman"/>
                <a:cs typeface="Times New Roman"/>
              </a:rPr>
              <a:t>of</a:t>
            </a:r>
            <a:r>
              <a:rPr sz="2000" spc="125" dirty="0">
                <a:solidFill>
                  <a:prstClr val="black"/>
                </a:solidFill>
                <a:latin typeface="Times New Roman"/>
                <a:cs typeface="Times New Roman"/>
              </a:rPr>
              <a:t>  </a:t>
            </a:r>
            <a:r>
              <a:rPr sz="2000" spc="-50" dirty="0">
                <a:solidFill>
                  <a:prstClr val="black"/>
                </a:solidFill>
                <a:latin typeface="Times New Roman"/>
                <a:cs typeface="Times New Roman"/>
              </a:rPr>
              <a:t>a 	</a:t>
            </a:r>
            <a:r>
              <a:rPr sz="2000" dirty="0">
                <a:solidFill>
                  <a:prstClr val="black"/>
                </a:solidFill>
                <a:latin typeface="Times New Roman"/>
                <a:cs typeface="Times New Roman"/>
              </a:rPr>
              <a:t>particular</a:t>
            </a:r>
            <a:r>
              <a:rPr sz="2000" spc="20" dirty="0">
                <a:solidFill>
                  <a:prstClr val="black"/>
                </a:solidFill>
                <a:latin typeface="Times New Roman"/>
                <a:cs typeface="Times New Roman"/>
              </a:rPr>
              <a:t> </a:t>
            </a:r>
            <a:r>
              <a:rPr sz="2000" dirty="0">
                <a:solidFill>
                  <a:prstClr val="black"/>
                </a:solidFill>
                <a:latin typeface="Times New Roman"/>
                <a:cs typeface="Times New Roman"/>
              </a:rPr>
              <a:t>class.</a:t>
            </a:r>
            <a:r>
              <a:rPr sz="2000" spc="35" dirty="0">
                <a:solidFill>
                  <a:prstClr val="black"/>
                </a:solidFill>
                <a:latin typeface="Times New Roman"/>
                <a:cs typeface="Times New Roman"/>
              </a:rPr>
              <a:t> </a:t>
            </a:r>
            <a:r>
              <a:rPr sz="2000" dirty="0">
                <a:solidFill>
                  <a:prstClr val="black"/>
                </a:solidFill>
                <a:latin typeface="Times New Roman"/>
                <a:cs typeface="Times New Roman"/>
              </a:rPr>
              <a:t>Different</a:t>
            </a:r>
            <a:r>
              <a:rPr sz="2000" spc="35" dirty="0">
                <a:solidFill>
                  <a:prstClr val="black"/>
                </a:solidFill>
                <a:latin typeface="Times New Roman"/>
                <a:cs typeface="Times New Roman"/>
              </a:rPr>
              <a:t> </a:t>
            </a:r>
            <a:r>
              <a:rPr sz="2000" dirty="0">
                <a:solidFill>
                  <a:prstClr val="black"/>
                </a:solidFill>
                <a:latin typeface="Times New Roman"/>
                <a:cs typeface="Times New Roman"/>
              </a:rPr>
              <a:t>streams</a:t>
            </a:r>
            <a:r>
              <a:rPr sz="2000" spc="35" dirty="0">
                <a:solidFill>
                  <a:prstClr val="black"/>
                </a:solidFill>
                <a:latin typeface="Times New Roman"/>
                <a:cs typeface="Times New Roman"/>
              </a:rPr>
              <a:t> </a:t>
            </a:r>
            <a:r>
              <a:rPr sz="2000" dirty="0">
                <a:solidFill>
                  <a:prstClr val="black"/>
                </a:solidFill>
                <a:latin typeface="Times New Roman"/>
                <a:cs typeface="Times New Roman"/>
              </a:rPr>
              <a:t>are</a:t>
            </a:r>
            <a:r>
              <a:rPr sz="2000" spc="30" dirty="0">
                <a:solidFill>
                  <a:prstClr val="black"/>
                </a:solidFill>
                <a:latin typeface="Times New Roman"/>
                <a:cs typeface="Times New Roman"/>
              </a:rPr>
              <a:t> </a:t>
            </a:r>
            <a:r>
              <a:rPr sz="2000" dirty="0">
                <a:solidFill>
                  <a:prstClr val="black"/>
                </a:solidFill>
                <a:latin typeface="Times New Roman"/>
                <a:cs typeface="Times New Roman"/>
              </a:rPr>
              <a:t>used</a:t>
            </a:r>
            <a:r>
              <a:rPr sz="2000" spc="35" dirty="0">
                <a:solidFill>
                  <a:prstClr val="black"/>
                </a:solidFill>
                <a:latin typeface="Times New Roman"/>
                <a:cs typeface="Times New Roman"/>
              </a:rPr>
              <a:t> </a:t>
            </a:r>
            <a:r>
              <a:rPr sz="2000" spc="-25" dirty="0">
                <a:solidFill>
                  <a:prstClr val="black"/>
                </a:solidFill>
                <a:latin typeface="Times New Roman"/>
                <a:cs typeface="Times New Roman"/>
              </a:rPr>
              <a:t>to 	</a:t>
            </a:r>
            <a:r>
              <a:rPr sz="2000" dirty="0">
                <a:solidFill>
                  <a:prstClr val="black"/>
                </a:solidFill>
                <a:latin typeface="Times New Roman"/>
                <a:cs typeface="Times New Roman"/>
              </a:rPr>
              <a:t>represent</a:t>
            </a:r>
            <a:r>
              <a:rPr sz="2000" spc="-50" dirty="0">
                <a:solidFill>
                  <a:prstClr val="black"/>
                </a:solidFill>
                <a:latin typeface="Times New Roman"/>
                <a:cs typeface="Times New Roman"/>
              </a:rPr>
              <a:t> </a:t>
            </a:r>
            <a:r>
              <a:rPr sz="2000" dirty="0">
                <a:solidFill>
                  <a:prstClr val="black"/>
                </a:solidFill>
                <a:latin typeface="Times New Roman"/>
                <a:cs typeface="Times New Roman"/>
              </a:rPr>
              <a:t>different</a:t>
            </a:r>
            <a:r>
              <a:rPr sz="2000" spc="-40" dirty="0">
                <a:solidFill>
                  <a:prstClr val="black"/>
                </a:solidFill>
                <a:latin typeface="Times New Roman"/>
                <a:cs typeface="Times New Roman"/>
              </a:rPr>
              <a:t> </a:t>
            </a:r>
            <a:r>
              <a:rPr sz="2000" dirty="0">
                <a:solidFill>
                  <a:prstClr val="black"/>
                </a:solidFill>
                <a:latin typeface="Times New Roman"/>
                <a:cs typeface="Times New Roman"/>
              </a:rPr>
              <a:t>kinds</a:t>
            </a:r>
            <a:r>
              <a:rPr sz="2000" spc="-20" dirty="0">
                <a:solidFill>
                  <a:prstClr val="black"/>
                </a:solidFill>
                <a:latin typeface="Times New Roman"/>
                <a:cs typeface="Times New Roman"/>
              </a:rPr>
              <a:t> </a:t>
            </a:r>
            <a:r>
              <a:rPr sz="2000" dirty="0">
                <a:solidFill>
                  <a:prstClr val="black"/>
                </a:solidFill>
                <a:latin typeface="Times New Roman"/>
                <a:cs typeface="Times New Roman"/>
              </a:rPr>
              <a:t>of</a:t>
            </a:r>
            <a:r>
              <a:rPr sz="2000" spc="-25" dirty="0">
                <a:solidFill>
                  <a:prstClr val="black"/>
                </a:solidFill>
                <a:latin typeface="Times New Roman"/>
                <a:cs typeface="Times New Roman"/>
              </a:rPr>
              <a:t> </a:t>
            </a:r>
            <a:r>
              <a:rPr sz="2000" dirty="0">
                <a:solidFill>
                  <a:prstClr val="black"/>
                </a:solidFill>
                <a:latin typeface="Times New Roman"/>
                <a:cs typeface="Times New Roman"/>
              </a:rPr>
              <a:t>data</a:t>
            </a:r>
            <a:r>
              <a:rPr sz="2000" spc="-10" dirty="0">
                <a:solidFill>
                  <a:prstClr val="black"/>
                </a:solidFill>
                <a:latin typeface="Times New Roman"/>
                <a:cs typeface="Times New Roman"/>
              </a:rPr>
              <a:t> flow.</a:t>
            </a:r>
            <a:endParaRPr sz="2000">
              <a:solidFill>
                <a:prstClr val="black"/>
              </a:solidFill>
              <a:latin typeface="Times New Roman"/>
              <a:cs typeface="Times New Roman"/>
            </a:endParaRPr>
          </a:p>
          <a:p>
            <a:pPr marL="352425" indent="-339725" algn="just">
              <a:buFont typeface="Arial MT"/>
              <a:buChar char="•"/>
              <a:tabLst>
                <a:tab pos="352425" algn="l"/>
              </a:tabLst>
            </a:pPr>
            <a:r>
              <a:rPr sz="2000" dirty="0">
                <a:solidFill>
                  <a:prstClr val="black"/>
                </a:solidFill>
                <a:latin typeface="Times New Roman"/>
                <a:cs typeface="Times New Roman"/>
              </a:rPr>
              <a:t>For</a:t>
            </a:r>
            <a:r>
              <a:rPr sz="2000" spc="10" dirty="0">
                <a:solidFill>
                  <a:prstClr val="black"/>
                </a:solidFill>
                <a:latin typeface="Times New Roman"/>
                <a:cs typeface="Times New Roman"/>
              </a:rPr>
              <a:t>  </a:t>
            </a:r>
            <a:r>
              <a:rPr sz="2000" dirty="0">
                <a:solidFill>
                  <a:prstClr val="black"/>
                </a:solidFill>
                <a:latin typeface="Times New Roman"/>
                <a:cs typeface="Times New Roman"/>
              </a:rPr>
              <a:t>example,</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b="1" i="1" dirty="0">
                <a:solidFill>
                  <a:prstClr val="black"/>
                </a:solidFill>
                <a:latin typeface="Times New Roman"/>
                <a:cs typeface="Times New Roman"/>
              </a:rPr>
              <a:t>ifstream</a:t>
            </a:r>
            <a:r>
              <a:rPr sz="2000" b="1" i="1" spc="15" dirty="0">
                <a:solidFill>
                  <a:prstClr val="black"/>
                </a:solidFill>
                <a:latin typeface="Times New Roman"/>
                <a:cs typeface="Times New Roman"/>
              </a:rPr>
              <a:t>  </a:t>
            </a:r>
            <a:r>
              <a:rPr sz="2000" dirty="0">
                <a:solidFill>
                  <a:prstClr val="black"/>
                </a:solidFill>
                <a:latin typeface="Times New Roman"/>
                <a:cs typeface="Times New Roman"/>
              </a:rPr>
              <a:t>class</a:t>
            </a:r>
            <a:r>
              <a:rPr sz="2000" spc="10" dirty="0">
                <a:solidFill>
                  <a:prstClr val="black"/>
                </a:solidFill>
                <a:latin typeface="Times New Roman"/>
                <a:cs typeface="Times New Roman"/>
              </a:rPr>
              <a:t>  </a:t>
            </a:r>
            <a:r>
              <a:rPr sz="2000" spc="-10" dirty="0">
                <a:solidFill>
                  <a:prstClr val="black"/>
                </a:solidFill>
                <a:latin typeface="Times New Roman"/>
                <a:cs typeface="Times New Roman"/>
              </a:rPr>
              <a:t>represents</a:t>
            </a:r>
            <a:endParaRPr sz="2000">
              <a:solidFill>
                <a:prstClr val="black"/>
              </a:solidFill>
              <a:latin typeface="Times New Roman"/>
              <a:cs typeface="Times New Roman"/>
            </a:endParaRPr>
          </a:p>
          <a:p>
            <a:pPr marL="355600" algn="just"/>
            <a:r>
              <a:rPr sz="2000" dirty="0">
                <a:solidFill>
                  <a:prstClr val="black"/>
                </a:solidFill>
                <a:latin typeface="Times New Roman"/>
                <a:cs typeface="Times New Roman"/>
              </a:rPr>
              <a:t>data</a:t>
            </a:r>
            <a:r>
              <a:rPr sz="2000" spc="-15" dirty="0">
                <a:solidFill>
                  <a:prstClr val="black"/>
                </a:solidFill>
                <a:latin typeface="Times New Roman"/>
                <a:cs typeface="Times New Roman"/>
              </a:rPr>
              <a:t> </a:t>
            </a:r>
            <a:r>
              <a:rPr sz="2000" dirty="0">
                <a:solidFill>
                  <a:prstClr val="black"/>
                </a:solidFill>
                <a:latin typeface="Times New Roman"/>
                <a:cs typeface="Times New Roman"/>
              </a:rPr>
              <a:t>flow</a:t>
            </a:r>
            <a:r>
              <a:rPr sz="2000" spc="-15" dirty="0">
                <a:solidFill>
                  <a:prstClr val="black"/>
                </a:solidFill>
                <a:latin typeface="Times New Roman"/>
                <a:cs typeface="Times New Roman"/>
              </a:rPr>
              <a:t> </a:t>
            </a:r>
            <a:r>
              <a:rPr sz="2000" dirty="0">
                <a:solidFill>
                  <a:prstClr val="black"/>
                </a:solidFill>
                <a:latin typeface="Times New Roman"/>
                <a:cs typeface="Times New Roman"/>
              </a:rPr>
              <a:t>from</a:t>
            </a:r>
            <a:r>
              <a:rPr sz="2000" spc="-40" dirty="0">
                <a:solidFill>
                  <a:prstClr val="black"/>
                </a:solidFill>
                <a:latin typeface="Times New Roman"/>
                <a:cs typeface="Times New Roman"/>
              </a:rPr>
              <a:t> </a:t>
            </a:r>
            <a:r>
              <a:rPr sz="2000" dirty="0">
                <a:solidFill>
                  <a:prstClr val="black"/>
                </a:solidFill>
                <a:latin typeface="Times New Roman"/>
                <a:cs typeface="Times New Roman"/>
              </a:rPr>
              <a:t>input</a:t>
            </a:r>
            <a:r>
              <a:rPr sz="2000" spc="-25" dirty="0">
                <a:solidFill>
                  <a:prstClr val="black"/>
                </a:solidFill>
                <a:latin typeface="Times New Roman"/>
                <a:cs typeface="Times New Roman"/>
              </a:rPr>
              <a:t> </a:t>
            </a:r>
            <a:r>
              <a:rPr sz="2000" dirty="0">
                <a:solidFill>
                  <a:prstClr val="black"/>
                </a:solidFill>
                <a:latin typeface="Times New Roman"/>
                <a:cs typeface="Times New Roman"/>
              </a:rPr>
              <a:t>disk</a:t>
            </a:r>
            <a:r>
              <a:rPr sz="2000" spc="-25" dirty="0">
                <a:solidFill>
                  <a:prstClr val="black"/>
                </a:solidFill>
                <a:latin typeface="Times New Roman"/>
                <a:cs typeface="Times New Roman"/>
              </a:rPr>
              <a:t> </a:t>
            </a:r>
            <a:r>
              <a:rPr sz="2000" spc="-10" dirty="0">
                <a:solidFill>
                  <a:prstClr val="black"/>
                </a:solidFill>
                <a:latin typeface="Times New Roman"/>
                <a:cs typeface="Times New Roman"/>
              </a:rPr>
              <a:t>files.</a:t>
            </a:r>
            <a:endParaRPr sz="2000">
              <a:solidFill>
                <a:prstClr val="black"/>
              </a:solidFill>
              <a:latin typeface="Times New Roman"/>
              <a:cs typeface="Times New Roman"/>
            </a:endParaRPr>
          </a:p>
          <a:p>
            <a:pPr marL="351790" marR="6350" indent="-339725" algn="just">
              <a:spcBef>
                <a:spcPts val="5"/>
              </a:spcBef>
              <a:buFont typeface="Arial MT"/>
              <a:buChar char="•"/>
              <a:tabLst>
                <a:tab pos="355600" algn="l"/>
              </a:tabLst>
            </a:pPr>
            <a:r>
              <a:rPr sz="2000" dirty="0">
                <a:solidFill>
                  <a:prstClr val="black"/>
                </a:solidFill>
                <a:latin typeface="Times New Roman"/>
                <a:cs typeface="Times New Roman"/>
              </a:rPr>
              <a:t>The</a:t>
            </a:r>
            <a:r>
              <a:rPr sz="2000" spc="330" dirty="0">
                <a:solidFill>
                  <a:prstClr val="black"/>
                </a:solidFill>
                <a:latin typeface="Times New Roman"/>
                <a:cs typeface="Times New Roman"/>
              </a:rPr>
              <a:t> </a:t>
            </a:r>
            <a:r>
              <a:rPr sz="2000" dirty="0">
                <a:solidFill>
                  <a:prstClr val="black"/>
                </a:solidFill>
                <a:latin typeface="Times New Roman"/>
                <a:cs typeface="Times New Roman"/>
              </a:rPr>
              <a:t>extraction</a:t>
            </a:r>
            <a:r>
              <a:rPr sz="2000" spc="335" dirty="0">
                <a:solidFill>
                  <a:prstClr val="black"/>
                </a:solidFill>
                <a:latin typeface="Times New Roman"/>
                <a:cs typeface="Times New Roman"/>
              </a:rPr>
              <a:t> </a:t>
            </a:r>
            <a:r>
              <a:rPr sz="2000" dirty="0">
                <a:solidFill>
                  <a:prstClr val="black"/>
                </a:solidFill>
                <a:latin typeface="Times New Roman"/>
                <a:cs typeface="Times New Roman"/>
              </a:rPr>
              <a:t>operator</a:t>
            </a:r>
            <a:r>
              <a:rPr sz="2000" spc="340" dirty="0">
                <a:solidFill>
                  <a:prstClr val="black"/>
                </a:solidFill>
                <a:latin typeface="Times New Roman"/>
                <a:cs typeface="Times New Roman"/>
              </a:rPr>
              <a:t> </a:t>
            </a:r>
            <a:r>
              <a:rPr sz="2000" b="1" dirty="0">
                <a:solidFill>
                  <a:prstClr val="black"/>
                </a:solidFill>
                <a:latin typeface="Times New Roman"/>
                <a:cs typeface="Times New Roman"/>
              </a:rPr>
              <a:t>&gt;&gt;</a:t>
            </a:r>
            <a:r>
              <a:rPr sz="2000" b="1" spc="330" dirty="0">
                <a:solidFill>
                  <a:prstClr val="black"/>
                </a:solidFill>
                <a:latin typeface="Times New Roman"/>
                <a:cs typeface="Times New Roman"/>
              </a:rPr>
              <a:t> </a:t>
            </a:r>
            <a:r>
              <a:rPr sz="2000" dirty="0">
                <a:solidFill>
                  <a:prstClr val="black"/>
                </a:solidFill>
                <a:latin typeface="Times New Roman"/>
                <a:cs typeface="Times New Roman"/>
              </a:rPr>
              <a:t>is</a:t>
            </a:r>
            <a:r>
              <a:rPr sz="2000" spc="335" dirty="0">
                <a:solidFill>
                  <a:prstClr val="black"/>
                </a:solidFill>
                <a:latin typeface="Times New Roman"/>
                <a:cs typeface="Times New Roman"/>
              </a:rPr>
              <a:t> </a:t>
            </a:r>
            <a:r>
              <a:rPr sz="2000" dirty="0">
                <a:solidFill>
                  <a:prstClr val="black"/>
                </a:solidFill>
                <a:latin typeface="Times New Roman"/>
                <a:cs typeface="Times New Roman"/>
              </a:rPr>
              <a:t>a</a:t>
            </a:r>
            <a:r>
              <a:rPr sz="2000" spc="330" dirty="0">
                <a:solidFill>
                  <a:prstClr val="black"/>
                </a:solidFill>
                <a:latin typeface="Times New Roman"/>
                <a:cs typeface="Times New Roman"/>
              </a:rPr>
              <a:t> </a:t>
            </a:r>
            <a:r>
              <a:rPr sz="2000" dirty="0">
                <a:solidFill>
                  <a:prstClr val="black"/>
                </a:solidFill>
                <a:latin typeface="Times New Roman"/>
                <a:cs typeface="Times New Roman"/>
              </a:rPr>
              <a:t>member</a:t>
            </a:r>
            <a:r>
              <a:rPr sz="2000" spc="345" dirty="0">
                <a:solidFill>
                  <a:prstClr val="black"/>
                </a:solidFill>
                <a:latin typeface="Times New Roman"/>
                <a:cs typeface="Times New Roman"/>
              </a:rPr>
              <a:t> </a:t>
            </a:r>
            <a:r>
              <a:rPr sz="2000" spc="-25" dirty="0">
                <a:solidFill>
                  <a:prstClr val="black"/>
                </a:solidFill>
                <a:latin typeface="Times New Roman"/>
                <a:cs typeface="Times New Roman"/>
              </a:rPr>
              <a:t>of 	</a:t>
            </a:r>
            <a:r>
              <a:rPr sz="2000" dirty="0">
                <a:solidFill>
                  <a:prstClr val="black"/>
                </a:solidFill>
                <a:latin typeface="Times New Roman"/>
                <a:cs typeface="Times New Roman"/>
              </a:rPr>
              <a:t>the</a:t>
            </a:r>
            <a:r>
              <a:rPr sz="2000" spc="-20" dirty="0">
                <a:solidFill>
                  <a:prstClr val="black"/>
                </a:solidFill>
                <a:latin typeface="Times New Roman"/>
                <a:cs typeface="Times New Roman"/>
              </a:rPr>
              <a:t> </a:t>
            </a:r>
            <a:r>
              <a:rPr sz="2000" b="1" i="1" dirty="0">
                <a:solidFill>
                  <a:prstClr val="black"/>
                </a:solidFill>
                <a:latin typeface="Times New Roman"/>
                <a:cs typeface="Times New Roman"/>
              </a:rPr>
              <a:t>istream</a:t>
            </a:r>
            <a:r>
              <a:rPr sz="2000" b="1" i="1" spc="-30" dirty="0">
                <a:solidFill>
                  <a:prstClr val="black"/>
                </a:solidFill>
                <a:latin typeface="Times New Roman"/>
                <a:cs typeface="Times New Roman"/>
              </a:rPr>
              <a:t> </a:t>
            </a:r>
            <a:r>
              <a:rPr sz="2000" spc="-10" dirty="0">
                <a:solidFill>
                  <a:prstClr val="black"/>
                </a:solidFill>
                <a:latin typeface="Times New Roman"/>
                <a:cs typeface="Times New Roman"/>
              </a:rPr>
              <a:t>class,</a:t>
            </a:r>
            <a:endParaRPr sz="2000">
              <a:solidFill>
                <a:prstClr val="black"/>
              </a:solidFill>
              <a:latin typeface="Times New Roman"/>
              <a:cs typeface="Times New Roman"/>
            </a:endParaRPr>
          </a:p>
          <a:p>
            <a:pPr marL="352425" indent="-339725" algn="just">
              <a:buFont typeface="Arial MT"/>
              <a:buChar char="•"/>
              <a:tabLst>
                <a:tab pos="352425" algn="l"/>
              </a:tabLst>
            </a:pPr>
            <a:r>
              <a:rPr sz="2000" dirty="0">
                <a:solidFill>
                  <a:prstClr val="black"/>
                </a:solidFill>
                <a:latin typeface="Times New Roman"/>
                <a:cs typeface="Times New Roman"/>
              </a:rPr>
              <a:t>The</a:t>
            </a:r>
            <a:r>
              <a:rPr sz="2000" spc="60" dirty="0">
                <a:solidFill>
                  <a:prstClr val="black"/>
                </a:solidFill>
                <a:latin typeface="Times New Roman"/>
                <a:cs typeface="Times New Roman"/>
              </a:rPr>
              <a:t> </a:t>
            </a:r>
            <a:r>
              <a:rPr sz="2000" dirty="0">
                <a:solidFill>
                  <a:prstClr val="black"/>
                </a:solidFill>
                <a:latin typeface="Times New Roman"/>
                <a:cs typeface="Times New Roman"/>
              </a:rPr>
              <a:t>insertion</a:t>
            </a:r>
            <a:r>
              <a:rPr sz="2000" spc="55" dirty="0">
                <a:solidFill>
                  <a:prstClr val="black"/>
                </a:solidFill>
                <a:latin typeface="Times New Roman"/>
                <a:cs typeface="Times New Roman"/>
              </a:rPr>
              <a:t> </a:t>
            </a:r>
            <a:r>
              <a:rPr sz="2000" dirty="0">
                <a:solidFill>
                  <a:prstClr val="black"/>
                </a:solidFill>
                <a:latin typeface="Times New Roman"/>
                <a:cs typeface="Times New Roman"/>
              </a:rPr>
              <a:t>operator</a:t>
            </a:r>
            <a:r>
              <a:rPr sz="2000" spc="45" dirty="0">
                <a:solidFill>
                  <a:prstClr val="black"/>
                </a:solidFill>
                <a:latin typeface="Times New Roman"/>
                <a:cs typeface="Times New Roman"/>
              </a:rPr>
              <a:t> </a:t>
            </a:r>
            <a:r>
              <a:rPr sz="2000" b="1" dirty="0">
                <a:solidFill>
                  <a:prstClr val="black"/>
                </a:solidFill>
                <a:latin typeface="Times New Roman"/>
                <a:cs typeface="Times New Roman"/>
              </a:rPr>
              <a:t>&lt;&lt;</a:t>
            </a:r>
            <a:r>
              <a:rPr sz="2000" b="1" spc="45" dirty="0">
                <a:solidFill>
                  <a:prstClr val="black"/>
                </a:solidFill>
                <a:latin typeface="Times New Roman"/>
                <a:cs typeface="Times New Roman"/>
              </a:rPr>
              <a:t> </a:t>
            </a:r>
            <a:r>
              <a:rPr sz="2000" dirty="0">
                <a:solidFill>
                  <a:prstClr val="black"/>
                </a:solidFill>
                <a:latin typeface="Times New Roman"/>
                <a:cs typeface="Times New Roman"/>
              </a:rPr>
              <a:t>is</a:t>
            </a:r>
            <a:r>
              <a:rPr sz="2000" spc="40" dirty="0">
                <a:solidFill>
                  <a:prstClr val="black"/>
                </a:solidFill>
                <a:latin typeface="Times New Roman"/>
                <a:cs typeface="Times New Roman"/>
              </a:rPr>
              <a:t> </a:t>
            </a:r>
            <a:r>
              <a:rPr sz="2000" dirty="0">
                <a:solidFill>
                  <a:prstClr val="black"/>
                </a:solidFill>
                <a:latin typeface="Times New Roman"/>
                <a:cs typeface="Times New Roman"/>
              </a:rPr>
              <a:t>a</a:t>
            </a:r>
            <a:r>
              <a:rPr sz="2000" spc="40" dirty="0">
                <a:solidFill>
                  <a:prstClr val="black"/>
                </a:solidFill>
                <a:latin typeface="Times New Roman"/>
                <a:cs typeface="Times New Roman"/>
              </a:rPr>
              <a:t> </a:t>
            </a:r>
            <a:r>
              <a:rPr sz="2000" dirty="0">
                <a:solidFill>
                  <a:prstClr val="black"/>
                </a:solidFill>
                <a:latin typeface="Times New Roman"/>
                <a:cs typeface="Times New Roman"/>
              </a:rPr>
              <a:t>member</a:t>
            </a:r>
            <a:r>
              <a:rPr sz="2000" spc="60" dirty="0">
                <a:solidFill>
                  <a:prstClr val="black"/>
                </a:solidFill>
                <a:latin typeface="Times New Roman"/>
                <a:cs typeface="Times New Roman"/>
              </a:rPr>
              <a:t> </a:t>
            </a:r>
            <a:r>
              <a:rPr sz="2000" dirty="0">
                <a:solidFill>
                  <a:prstClr val="black"/>
                </a:solidFill>
                <a:latin typeface="Times New Roman"/>
                <a:cs typeface="Times New Roman"/>
              </a:rPr>
              <a:t>of</a:t>
            </a:r>
            <a:r>
              <a:rPr sz="2000" spc="60" dirty="0">
                <a:solidFill>
                  <a:prstClr val="black"/>
                </a:solidFill>
                <a:latin typeface="Times New Roman"/>
                <a:cs typeface="Times New Roman"/>
              </a:rPr>
              <a:t> </a:t>
            </a:r>
            <a:r>
              <a:rPr sz="2000" spc="-25" dirty="0">
                <a:solidFill>
                  <a:prstClr val="black"/>
                </a:solidFill>
                <a:latin typeface="Times New Roman"/>
                <a:cs typeface="Times New Roman"/>
              </a:rPr>
              <a:t>the</a:t>
            </a:r>
            <a:endParaRPr sz="2000">
              <a:solidFill>
                <a:prstClr val="black"/>
              </a:solidFill>
              <a:latin typeface="Times New Roman"/>
              <a:cs typeface="Times New Roman"/>
            </a:endParaRPr>
          </a:p>
          <a:p>
            <a:pPr marL="355600" algn="just"/>
            <a:r>
              <a:rPr sz="2000" b="1" i="1" dirty="0">
                <a:solidFill>
                  <a:prstClr val="black"/>
                </a:solidFill>
                <a:latin typeface="Times New Roman"/>
                <a:cs typeface="Times New Roman"/>
              </a:rPr>
              <a:t>ostream</a:t>
            </a:r>
            <a:r>
              <a:rPr sz="2000" b="1" i="1" spc="-45" dirty="0">
                <a:solidFill>
                  <a:prstClr val="black"/>
                </a:solidFill>
                <a:latin typeface="Times New Roman"/>
                <a:cs typeface="Times New Roman"/>
              </a:rPr>
              <a:t> </a:t>
            </a:r>
            <a:r>
              <a:rPr sz="2000" spc="-10" dirty="0">
                <a:solidFill>
                  <a:prstClr val="black"/>
                </a:solidFill>
                <a:latin typeface="Times New Roman"/>
                <a:cs typeface="Times New Roman"/>
              </a:rPr>
              <a:t>class.</a:t>
            </a:r>
            <a:endParaRPr sz="2000">
              <a:solidFill>
                <a:prstClr val="black"/>
              </a:solidFill>
              <a:latin typeface="Times New Roman"/>
              <a:cs typeface="Times New Roman"/>
            </a:endParaRPr>
          </a:p>
          <a:p>
            <a:pPr marL="352425" indent="-339725" algn="just">
              <a:buFont typeface="Arial MT"/>
              <a:buChar char="•"/>
              <a:tabLst>
                <a:tab pos="352425" algn="l"/>
              </a:tabLst>
            </a:pPr>
            <a:r>
              <a:rPr sz="2000" dirty="0">
                <a:solidFill>
                  <a:prstClr val="black"/>
                </a:solidFill>
                <a:latin typeface="Times New Roman"/>
                <a:cs typeface="Times New Roman"/>
              </a:rPr>
              <a:t>The</a:t>
            </a:r>
            <a:r>
              <a:rPr sz="2000" spc="200" dirty="0">
                <a:solidFill>
                  <a:prstClr val="black"/>
                </a:solidFill>
                <a:latin typeface="Times New Roman"/>
                <a:cs typeface="Times New Roman"/>
              </a:rPr>
              <a:t>  </a:t>
            </a:r>
            <a:r>
              <a:rPr sz="2000" b="1" dirty="0">
                <a:solidFill>
                  <a:prstClr val="black"/>
                </a:solidFill>
                <a:latin typeface="Times New Roman"/>
                <a:cs typeface="Times New Roman"/>
              </a:rPr>
              <a:t>cout</a:t>
            </a:r>
            <a:r>
              <a:rPr sz="2000" b="1" spc="200" dirty="0">
                <a:solidFill>
                  <a:prstClr val="black"/>
                </a:solidFill>
                <a:latin typeface="Times New Roman"/>
                <a:cs typeface="Times New Roman"/>
              </a:rPr>
              <a:t>  </a:t>
            </a:r>
            <a:r>
              <a:rPr sz="2000" dirty="0">
                <a:solidFill>
                  <a:prstClr val="black"/>
                </a:solidFill>
                <a:latin typeface="Times New Roman"/>
                <a:cs typeface="Times New Roman"/>
              </a:rPr>
              <a:t>is</a:t>
            </a:r>
            <a:r>
              <a:rPr sz="2000" spc="195" dirty="0">
                <a:solidFill>
                  <a:prstClr val="black"/>
                </a:solidFill>
                <a:latin typeface="Times New Roman"/>
                <a:cs typeface="Times New Roman"/>
              </a:rPr>
              <a:t>  </a:t>
            </a:r>
            <a:r>
              <a:rPr sz="2000" dirty="0">
                <a:solidFill>
                  <a:prstClr val="black"/>
                </a:solidFill>
                <a:latin typeface="Times New Roman"/>
                <a:cs typeface="Times New Roman"/>
              </a:rPr>
              <a:t>a</a:t>
            </a:r>
            <a:r>
              <a:rPr sz="2000" spc="200" dirty="0">
                <a:solidFill>
                  <a:prstClr val="black"/>
                </a:solidFill>
                <a:latin typeface="Times New Roman"/>
                <a:cs typeface="Times New Roman"/>
              </a:rPr>
              <a:t>  </a:t>
            </a:r>
            <a:r>
              <a:rPr sz="2000" dirty="0">
                <a:solidFill>
                  <a:prstClr val="black"/>
                </a:solidFill>
                <a:latin typeface="Times New Roman"/>
                <a:cs typeface="Times New Roman"/>
              </a:rPr>
              <a:t>predefined</a:t>
            </a:r>
            <a:r>
              <a:rPr sz="2000" spc="204" dirty="0">
                <a:solidFill>
                  <a:prstClr val="black"/>
                </a:solidFill>
                <a:latin typeface="Times New Roman"/>
                <a:cs typeface="Times New Roman"/>
              </a:rPr>
              <a:t>  </a:t>
            </a:r>
            <a:r>
              <a:rPr sz="2000" dirty="0">
                <a:solidFill>
                  <a:prstClr val="black"/>
                </a:solidFill>
                <a:latin typeface="Times New Roman"/>
                <a:cs typeface="Times New Roman"/>
              </a:rPr>
              <a:t>object</a:t>
            </a:r>
            <a:r>
              <a:rPr sz="2000" spc="200" dirty="0">
                <a:solidFill>
                  <a:prstClr val="black"/>
                </a:solidFill>
                <a:latin typeface="Times New Roman"/>
                <a:cs typeface="Times New Roman"/>
              </a:rPr>
              <a:t>  </a:t>
            </a:r>
            <a:r>
              <a:rPr sz="2000" dirty="0">
                <a:solidFill>
                  <a:prstClr val="black"/>
                </a:solidFill>
                <a:latin typeface="Times New Roman"/>
                <a:cs typeface="Times New Roman"/>
              </a:rPr>
              <a:t>of</a:t>
            </a:r>
            <a:r>
              <a:rPr sz="2000" spc="204" dirty="0">
                <a:solidFill>
                  <a:prstClr val="black"/>
                </a:solidFill>
                <a:latin typeface="Times New Roman"/>
                <a:cs typeface="Times New Roman"/>
              </a:rPr>
              <a:t>  </a:t>
            </a:r>
            <a:r>
              <a:rPr sz="2000" spc="-25" dirty="0">
                <a:solidFill>
                  <a:prstClr val="black"/>
                </a:solidFill>
                <a:latin typeface="Times New Roman"/>
                <a:cs typeface="Times New Roman"/>
              </a:rPr>
              <a:t>the</a:t>
            </a:r>
            <a:endParaRPr sz="2000">
              <a:solidFill>
                <a:prstClr val="black"/>
              </a:solidFill>
              <a:latin typeface="Times New Roman"/>
              <a:cs typeface="Times New Roman"/>
            </a:endParaRPr>
          </a:p>
          <a:p>
            <a:pPr marL="355600" algn="just"/>
            <a:r>
              <a:rPr sz="2000" b="1" i="1" dirty="0">
                <a:solidFill>
                  <a:prstClr val="black"/>
                </a:solidFill>
                <a:latin typeface="Times New Roman"/>
                <a:cs typeface="Times New Roman"/>
              </a:rPr>
              <a:t>ostream_withassign</a:t>
            </a:r>
            <a:r>
              <a:rPr sz="2000" b="1" i="1" spc="-80" dirty="0">
                <a:solidFill>
                  <a:prstClr val="black"/>
                </a:solidFill>
                <a:latin typeface="Times New Roman"/>
                <a:cs typeface="Times New Roman"/>
              </a:rPr>
              <a:t> </a:t>
            </a:r>
            <a:r>
              <a:rPr sz="2000" spc="-10" dirty="0">
                <a:solidFill>
                  <a:prstClr val="black"/>
                </a:solidFill>
                <a:latin typeface="Times New Roman"/>
                <a:cs typeface="Times New Roman"/>
              </a:rPr>
              <a:t>class.</a:t>
            </a:r>
            <a:endParaRPr sz="2000">
              <a:solidFill>
                <a:prstClr val="black"/>
              </a:solidFill>
              <a:latin typeface="Times New Roman"/>
              <a:cs typeface="Times New Roman"/>
            </a:endParaRPr>
          </a:p>
        </p:txBody>
      </p:sp>
      <p:sp>
        <p:nvSpPr>
          <p:cNvPr id="4" name="object 4"/>
          <p:cNvSpPr txBox="1"/>
          <p:nvPr/>
        </p:nvSpPr>
        <p:spPr>
          <a:xfrm>
            <a:off x="916939" y="5619699"/>
            <a:ext cx="2972435" cy="330835"/>
          </a:xfrm>
          <a:prstGeom prst="rect">
            <a:avLst/>
          </a:prstGeom>
        </p:spPr>
        <p:txBody>
          <a:bodyPr vert="horz" wrap="square" lIns="0" tIns="12700" rIns="0" bIns="0" rtlCol="0">
            <a:spAutoFit/>
          </a:bodyPr>
          <a:lstStyle/>
          <a:p>
            <a:pPr marL="355600" indent="-342900">
              <a:spcBef>
                <a:spcPts val="100"/>
              </a:spcBef>
              <a:buFont typeface="Arial MT"/>
              <a:buChar char="•"/>
              <a:tabLst>
                <a:tab pos="355600" algn="l"/>
                <a:tab pos="1638935" algn="l"/>
                <a:tab pos="2256155" algn="l"/>
                <a:tab pos="2719070" algn="l"/>
              </a:tabLst>
            </a:pPr>
            <a:r>
              <a:rPr sz="2000" spc="-10" dirty="0">
                <a:solidFill>
                  <a:prstClr val="black"/>
                </a:solidFill>
                <a:latin typeface="Times New Roman"/>
                <a:cs typeface="Times New Roman"/>
              </a:rPr>
              <a:t>Similarly,</a:t>
            </a:r>
            <a:r>
              <a:rPr sz="2000" dirty="0">
                <a:solidFill>
                  <a:prstClr val="black"/>
                </a:solidFill>
                <a:latin typeface="Times New Roman"/>
                <a:cs typeface="Times New Roman"/>
              </a:rPr>
              <a:t>	</a:t>
            </a:r>
            <a:r>
              <a:rPr sz="2000" b="1" spc="-25" dirty="0">
                <a:solidFill>
                  <a:prstClr val="black"/>
                </a:solidFill>
                <a:latin typeface="Times New Roman"/>
                <a:cs typeface="Times New Roman"/>
              </a:rPr>
              <a:t>cin</a:t>
            </a:r>
            <a:r>
              <a:rPr sz="2000" b="1" dirty="0">
                <a:solidFill>
                  <a:prstClr val="black"/>
                </a:solidFill>
                <a:latin typeface="Times New Roman"/>
                <a:cs typeface="Times New Roman"/>
              </a:rPr>
              <a:t>	</a:t>
            </a:r>
            <a:r>
              <a:rPr sz="2000" spc="-25" dirty="0">
                <a:solidFill>
                  <a:prstClr val="black"/>
                </a:solidFill>
                <a:latin typeface="Times New Roman"/>
                <a:cs typeface="Times New Roman"/>
              </a:rPr>
              <a:t>is</a:t>
            </a:r>
            <a:r>
              <a:rPr sz="2000" dirty="0">
                <a:solidFill>
                  <a:prstClr val="black"/>
                </a:solidFill>
                <a:latin typeface="Times New Roman"/>
                <a:cs typeface="Times New Roman"/>
              </a:rPr>
              <a:t>	</a:t>
            </a:r>
            <a:r>
              <a:rPr sz="2000" spc="-25" dirty="0">
                <a:solidFill>
                  <a:prstClr val="black"/>
                </a:solidFill>
                <a:latin typeface="Times New Roman"/>
                <a:cs typeface="Times New Roman"/>
              </a:rPr>
              <a:t>an</a:t>
            </a:r>
            <a:endParaRPr sz="2000">
              <a:solidFill>
                <a:prstClr val="black"/>
              </a:solidFill>
              <a:latin typeface="Times New Roman"/>
              <a:cs typeface="Times New Roman"/>
            </a:endParaRPr>
          </a:p>
        </p:txBody>
      </p:sp>
      <p:sp>
        <p:nvSpPr>
          <p:cNvPr id="5" name="object 5"/>
          <p:cNvSpPr txBox="1"/>
          <p:nvPr/>
        </p:nvSpPr>
        <p:spPr>
          <a:xfrm>
            <a:off x="4157598" y="5619699"/>
            <a:ext cx="1754505" cy="330835"/>
          </a:xfrm>
          <a:prstGeom prst="rect">
            <a:avLst/>
          </a:prstGeom>
        </p:spPr>
        <p:txBody>
          <a:bodyPr vert="horz" wrap="square" lIns="0" tIns="12700" rIns="0" bIns="0" rtlCol="0">
            <a:spAutoFit/>
          </a:bodyPr>
          <a:lstStyle/>
          <a:p>
            <a:pPr marL="12700">
              <a:spcBef>
                <a:spcPts val="100"/>
              </a:spcBef>
              <a:tabLst>
                <a:tab pos="925194" algn="l"/>
                <a:tab pos="1432560" algn="l"/>
              </a:tabLst>
            </a:pPr>
            <a:r>
              <a:rPr sz="2000" spc="-10" dirty="0">
                <a:solidFill>
                  <a:prstClr val="black"/>
                </a:solidFill>
                <a:latin typeface="Times New Roman"/>
                <a:cs typeface="Times New Roman"/>
              </a:rPr>
              <a:t>object</a:t>
            </a:r>
            <a:r>
              <a:rPr sz="2000" dirty="0">
                <a:solidFill>
                  <a:prstClr val="black"/>
                </a:solidFill>
                <a:latin typeface="Times New Roman"/>
                <a:cs typeface="Times New Roman"/>
              </a:rPr>
              <a:t>	</a:t>
            </a:r>
            <a:r>
              <a:rPr sz="2000" spc="-25" dirty="0">
                <a:solidFill>
                  <a:prstClr val="black"/>
                </a:solidFill>
                <a:latin typeface="Times New Roman"/>
                <a:cs typeface="Times New Roman"/>
              </a:rPr>
              <a:t>of</a:t>
            </a:r>
            <a:r>
              <a:rPr sz="2000" dirty="0">
                <a:solidFill>
                  <a:prstClr val="black"/>
                </a:solidFill>
                <a:latin typeface="Times New Roman"/>
                <a:cs typeface="Times New Roman"/>
              </a:rPr>
              <a:t>	</a:t>
            </a:r>
            <a:r>
              <a:rPr sz="2000" spc="-25" dirty="0">
                <a:solidFill>
                  <a:prstClr val="black"/>
                </a:solidFill>
                <a:latin typeface="Times New Roman"/>
                <a:cs typeface="Times New Roman"/>
              </a:rPr>
              <a:t>the</a:t>
            </a:r>
            <a:endParaRPr sz="2000">
              <a:solidFill>
                <a:prstClr val="black"/>
              </a:solidFill>
              <a:latin typeface="Times New Roman"/>
              <a:cs typeface="Times New Roman"/>
            </a:endParaRPr>
          </a:p>
        </p:txBody>
      </p:sp>
      <p:sp>
        <p:nvSpPr>
          <p:cNvPr id="6" name="object 6"/>
          <p:cNvSpPr txBox="1"/>
          <p:nvPr/>
        </p:nvSpPr>
        <p:spPr>
          <a:xfrm>
            <a:off x="1260094" y="5924499"/>
            <a:ext cx="2660650" cy="330835"/>
          </a:xfrm>
          <a:prstGeom prst="rect">
            <a:avLst/>
          </a:prstGeom>
        </p:spPr>
        <p:txBody>
          <a:bodyPr vert="horz" wrap="square" lIns="0" tIns="12700" rIns="0" bIns="0" rtlCol="0">
            <a:spAutoFit/>
          </a:bodyPr>
          <a:lstStyle/>
          <a:p>
            <a:pPr marL="12700">
              <a:spcBef>
                <a:spcPts val="100"/>
              </a:spcBef>
            </a:pPr>
            <a:r>
              <a:rPr sz="2000" b="1" i="1" dirty="0">
                <a:solidFill>
                  <a:prstClr val="black"/>
                </a:solidFill>
                <a:latin typeface="Times New Roman"/>
                <a:cs typeface="Times New Roman"/>
              </a:rPr>
              <a:t>istream_withassign</a:t>
            </a:r>
            <a:r>
              <a:rPr sz="2000" b="1" i="1" spc="-75" dirty="0">
                <a:solidFill>
                  <a:prstClr val="black"/>
                </a:solidFill>
                <a:latin typeface="Times New Roman"/>
                <a:cs typeface="Times New Roman"/>
              </a:rPr>
              <a:t> </a:t>
            </a:r>
            <a:r>
              <a:rPr sz="2000" spc="-10" dirty="0">
                <a:solidFill>
                  <a:prstClr val="black"/>
                </a:solidFill>
                <a:latin typeface="Times New Roman"/>
                <a:cs typeface="Times New Roman"/>
              </a:rPr>
              <a:t>class.</a:t>
            </a:r>
            <a:endParaRPr sz="2000">
              <a:solidFill>
                <a:prstClr val="black"/>
              </a:solidFill>
              <a:latin typeface="Times New Roman"/>
              <a:cs typeface="Times New Roman"/>
            </a:endParaRPr>
          </a:p>
        </p:txBody>
      </p:sp>
      <p:pic>
        <p:nvPicPr>
          <p:cNvPr id="7" name="object 7"/>
          <p:cNvPicPr/>
          <p:nvPr/>
        </p:nvPicPr>
        <p:blipFill>
          <a:blip r:embed="rId2" cstate="print"/>
          <a:stretch>
            <a:fillRect/>
          </a:stretch>
        </p:blipFill>
        <p:spPr>
          <a:xfrm>
            <a:off x="6161451" y="1851325"/>
            <a:ext cx="5792405" cy="4220623"/>
          </a:xfrm>
          <a:prstGeom prst="rect">
            <a:avLst/>
          </a:prstGeom>
        </p:spPr>
      </p:pic>
      <p:sp>
        <p:nvSpPr>
          <p:cNvPr id="9" name="object 9"/>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3</a:t>
            </a:r>
            <a:endParaRPr sz="2400">
              <a:solidFill>
                <a:prstClr val="black"/>
              </a:solidFill>
              <a:latin typeface="Times New Roman"/>
              <a:cs typeface="Times New Roman"/>
            </a:endParaRPr>
          </a:p>
        </p:txBody>
      </p:sp>
      <p:sp>
        <p:nvSpPr>
          <p:cNvPr id="10" name="object 10"/>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1" name="object 11"/>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2" name="Date Placeholder 11">
            <a:extLst>
              <a:ext uri="{FF2B5EF4-FFF2-40B4-BE49-F238E27FC236}">
                <a16:creationId xmlns:a16="http://schemas.microsoft.com/office/drawing/2014/main" id="{2311A9D4-0867-6374-E959-1E0A7E868574}"/>
              </a:ext>
            </a:extLst>
          </p:cNvPr>
          <p:cNvSpPr>
            <a:spLocks noGrp="1"/>
          </p:cNvSpPr>
          <p:nvPr>
            <p:ph type="dt" sz="half" idx="10"/>
          </p:nvPr>
        </p:nvSpPr>
        <p:spPr/>
        <p:txBody>
          <a:bodyPr/>
          <a:lstStyle/>
          <a:p>
            <a:fld id="{FF0C52A5-4983-4121-B036-1BD5C8463F85}" type="datetime1">
              <a:rPr lang="en-US" smtClean="0">
                <a:solidFill>
                  <a:prstClr val="black">
                    <a:tint val="75000"/>
                  </a:prstClr>
                </a:solidFill>
              </a:rPr>
              <a:pPr/>
              <a:t>11/17/2025</a:t>
            </a:fld>
            <a:endParaRPr lang="en-US">
              <a:solidFill>
                <a:prstClr val="black">
                  <a:tint val="75000"/>
                </a:prstClr>
              </a:solidFill>
            </a:endParaRPr>
          </a:p>
        </p:txBody>
      </p:sp>
      <p:sp>
        <p:nvSpPr>
          <p:cNvPr id="14" name="Slide Number Placeholder 13">
            <a:extLst>
              <a:ext uri="{FF2B5EF4-FFF2-40B4-BE49-F238E27FC236}">
                <a16:creationId xmlns:a16="http://schemas.microsoft.com/office/drawing/2014/main" id="{BD553260-92BF-2835-3E66-CD151BBD449D}"/>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71</a:t>
            </a:fld>
            <a:endParaRPr spc="-25" dirty="0">
              <a:solidFill>
                <a:prstClr val="black">
                  <a:tint val="75000"/>
                </a:prstClr>
              </a:solidFill>
            </a:endParaRPr>
          </a:p>
        </p:txBody>
      </p:sp>
    </p:spTree>
    <p:extLst>
      <p:ext uri="{BB962C8B-B14F-4D97-AF65-F5344CB8AC3E}">
        <p14:creationId xmlns:p14="http://schemas.microsoft.com/office/powerpoint/2010/main" val="34286979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30" dirty="0"/>
              <a:t> </a:t>
            </a:r>
            <a:r>
              <a:rPr b="1" dirty="0">
                <a:latin typeface="Times New Roman"/>
                <a:cs typeface="Times New Roman"/>
              </a:rPr>
              <a:t>ios</a:t>
            </a:r>
            <a:r>
              <a:rPr b="1" spc="-25" dirty="0">
                <a:latin typeface="Times New Roman"/>
                <a:cs typeface="Times New Roman"/>
              </a:rPr>
              <a:t> </a:t>
            </a:r>
            <a:r>
              <a:rPr spc="-10" dirty="0"/>
              <a:t>Class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69670" y="1570989"/>
            <a:ext cx="4003040" cy="4599305"/>
          </a:xfrm>
          <a:prstGeom prst="rect">
            <a:avLst/>
          </a:prstGeom>
        </p:spPr>
        <p:txBody>
          <a:bodyPr vert="horz" wrap="square" lIns="0" tIns="13335" rIns="0" bIns="0" rtlCol="0">
            <a:spAutoFit/>
          </a:bodyPr>
          <a:lstStyle/>
          <a:p>
            <a:pPr marL="351790" marR="5080" indent="-339725" algn="just">
              <a:spcBef>
                <a:spcPts val="105"/>
              </a:spcBef>
              <a:buFont typeface="Arial MT"/>
              <a:buChar char="•"/>
              <a:tabLst>
                <a:tab pos="354965" algn="l"/>
              </a:tabLst>
            </a:pPr>
            <a:r>
              <a:rPr sz="2000" dirty="0">
                <a:solidFill>
                  <a:prstClr val="black"/>
                </a:solidFill>
                <a:latin typeface="Times New Roman"/>
                <a:cs typeface="Times New Roman"/>
              </a:rPr>
              <a:t>The</a:t>
            </a:r>
            <a:r>
              <a:rPr sz="2000" spc="225" dirty="0">
                <a:solidFill>
                  <a:prstClr val="black"/>
                </a:solidFill>
                <a:latin typeface="Times New Roman"/>
                <a:cs typeface="Times New Roman"/>
              </a:rPr>
              <a:t> </a:t>
            </a:r>
            <a:r>
              <a:rPr sz="2000" dirty="0">
                <a:solidFill>
                  <a:prstClr val="black"/>
                </a:solidFill>
                <a:latin typeface="Times New Roman"/>
                <a:cs typeface="Times New Roman"/>
              </a:rPr>
              <a:t>ios</a:t>
            </a:r>
            <a:r>
              <a:rPr sz="2000" spc="220" dirty="0">
                <a:solidFill>
                  <a:prstClr val="black"/>
                </a:solidFill>
                <a:latin typeface="Times New Roman"/>
                <a:cs typeface="Times New Roman"/>
              </a:rPr>
              <a:t> </a:t>
            </a:r>
            <a:r>
              <a:rPr sz="2000" dirty="0">
                <a:solidFill>
                  <a:prstClr val="black"/>
                </a:solidFill>
                <a:latin typeface="Times New Roman"/>
                <a:cs typeface="Times New Roman"/>
              </a:rPr>
              <a:t>class</a:t>
            </a:r>
            <a:r>
              <a:rPr sz="2000" spc="215" dirty="0">
                <a:solidFill>
                  <a:prstClr val="black"/>
                </a:solidFill>
                <a:latin typeface="Times New Roman"/>
                <a:cs typeface="Times New Roman"/>
              </a:rPr>
              <a:t> </a:t>
            </a:r>
            <a:r>
              <a:rPr sz="2000" dirty="0">
                <a:solidFill>
                  <a:prstClr val="black"/>
                </a:solidFill>
                <a:latin typeface="Times New Roman"/>
                <a:cs typeface="Times New Roman"/>
              </a:rPr>
              <a:t>is</a:t>
            </a:r>
            <a:r>
              <a:rPr sz="2000" spc="225" dirty="0">
                <a:solidFill>
                  <a:prstClr val="black"/>
                </a:solidFill>
                <a:latin typeface="Times New Roman"/>
                <a:cs typeface="Times New Roman"/>
              </a:rPr>
              <a:t> </a:t>
            </a:r>
            <a:r>
              <a:rPr sz="2000" dirty="0">
                <a:solidFill>
                  <a:prstClr val="black"/>
                </a:solidFill>
                <a:latin typeface="Times New Roman"/>
                <a:cs typeface="Times New Roman"/>
              </a:rPr>
              <a:t>the</a:t>
            </a:r>
            <a:r>
              <a:rPr sz="2000" spc="215" dirty="0">
                <a:solidFill>
                  <a:prstClr val="black"/>
                </a:solidFill>
                <a:latin typeface="Times New Roman"/>
                <a:cs typeface="Times New Roman"/>
              </a:rPr>
              <a:t> </a:t>
            </a:r>
            <a:r>
              <a:rPr sz="2000" dirty="0">
                <a:solidFill>
                  <a:prstClr val="black"/>
                </a:solidFill>
                <a:latin typeface="Times New Roman"/>
                <a:cs typeface="Times New Roman"/>
              </a:rPr>
              <a:t>granddaddy</a:t>
            </a:r>
            <a:r>
              <a:rPr sz="2000" spc="210" dirty="0">
                <a:solidFill>
                  <a:prstClr val="black"/>
                </a:solidFill>
                <a:latin typeface="Times New Roman"/>
                <a:cs typeface="Times New Roman"/>
              </a:rPr>
              <a:t> </a:t>
            </a:r>
            <a:r>
              <a:rPr sz="2000" spc="-25" dirty="0">
                <a:solidFill>
                  <a:prstClr val="black"/>
                </a:solidFill>
                <a:latin typeface="Times New Roman"/>
                <a:cs typeface="Times New Roman"/>
              </a:rPr>
              <a:t>of 	</a:t>
            </a:r>
            <a:r>
              <a:rPr sz="2000" dirty="0">
                <a:solidFill>
                  <a:prstClr val="black"/>
                </a:solidFill>
                <a:latin typeface="Times New Roman"/>
                <a:cs typeface="Times New Roman"/>
              </a:rPr>
              <a:t>all</a:t>
            </a:r>
            <a:r>
              <a:rPr sz="2000" spc="140" dirty="0">
                <a:solidFill>
                  <a:prstClr val="black"/>
                </a:solidFill>
                <a:latin typeface="Times New Roman"/>
                <a:cs typeface="Times New Roman"/>
              </a:rPr>
              <a:t> </a:t>
            </a:r>
            <a:r>
              <a:rPr sz="2000" dirty="0">
                <a:solidFill>
                  <a:prstClr val="black"/>
                </a:solidFill>
                <a:latin typeface="Times New Roman"/>
                <a:cs typeface="Times New Roman"/>
              </a:rPr>
              <a:t>the</a:t>
            </a:r>
            <a:r>
              <a:rPr sz="2000" spc="130" dirty="0">
                <a:solidFill>
                  <a:prstClr val="black"/>
                </a:solidFill>
                <a:latin typeface="Times New Roman"/>
                <a:cs typeface="Times New Roman"/>
              </a:rPr>
              <a:t> </a:t>
            </a:r>
            <a:r>
              <a:rPr sz="2000" dirty="0">
                <a:solidFill>
                  <a:prstClr val="black"/>
                </a:solidFill>
                <a:latin typeface="Times New Roman"/>
                <a:cs typeface="Times New Roman"/>
              </a:rPr>
              <a:t>stream</a:t>
            </a:r>
            <a:r>
              <a:rPr sz="2000" spc="130" dirty="0">
                <a:solidFill>
                  <a:prstClr val="black"/>
                </a:solidFill>
                <a:latin typeface="Times New Roman"/>
                <a:cs typeface="Times New Roman"/>
              </a:rPr>
              <a:t> </a:t>
            </a:r>
            <a:r>
              <a:rPr sz="2000" dirty="0">
                <a:solidFill>
                  <a:prstClr val="black"/>
                </a:solidFill>
                <a:latin typeface="Times New Roman"/>
                <a:cs typeface="Times New Roman"/>
              </a:rPr>
              <a:t>classes,</a:t>
            </a:r>
            <a:r>
              <a:rPr sz="2000" spc="145" dirty="0">
                <a:solidFill>
                  <a:prstClr val="black"/>
                </a:solidFill>
                <a:latin typeface="Times New Roman"/>
                <a:cs typeface="Times New Roman"/>
              </a:rPr>
              <a:t> </a:t>
            </a:r>
            <a:r>
              <a:rPr sz="2000" dirty="0">
                <a:solidFill>
                  <a:prstClr val="black"/>
                </a:solidFill>
                <a:latin typeface="Times New Roman"/>
                <a:cs typeface="Times New Roman"/>
              </a:rPr>
              <a:t>and</a:t>
            </a:r>
            <a:r>
              <a:rPr sz="2000" spc="150" dirty="0">
                <a:solidFill>
                  <a:prstClr val="black"/>
                </a:solidFill>
                <a:latin typeface="Times New Roman"/>
                <a:cs typeface="Times New Roman"/>
              </a:rPr>
              <a:t> </a:t>
            </a:r>
            <a:r>
              <a:rPr sz="2000" spc="-10" dirty="0">
                <a:solidFill>
                  <a:prstClr val="black"/>
                </a:solidFill>
                <a:latin typeface="Times New Roman"/>
                <a:cs typeface="Times New Roman"/>
              </a:rPr>
              <a:t>contains 	</a:t>
            </a:r>
            <a:r>
              <a:rPr sz="2000" dirty="0">
                <a:solidFill>
                  <a:prstClr val="black"/>
                </a:solidFill>
                <a:latin typeface="Times New Roman"/>
                <a:cs typeface="Times New Roman"/>
              </a:rPr>
              <a:t>the</a:t>
            </a:r>
            <a:r>
              <a:rPr sz="2000" spc="85" dirty="0">
                <a:solidFill>
                  <a:prstClr val="black"/>
                </a:solidFill>
                <a:latin typeface="Times New Roman"/>
                <a:cs typeface="Times New Roman"/>
              </a:rPr>
              <a:t>  </a:t>
            </a:r>
            <a:r>
              <a:rPr sz="2000" dirty="0">
                <a:solidFill>
                  <a:prstClr val="black"/>
                </a:solidFill>
                <a:latin typeface="Times New Roman"/>
                <a:cs typeface="Times New Roman"/>
              </a:rPr>
              <a:t>majority</a:t>
            </a:r>
            <a:r>
              <a:rPr sz="2000" spc="85" dirty="0">
                <a:solidFill>
                  <a:prstClr val="black"/>
                </a:solidFill>
                <a:latin typeface="Times New Roman"/>
                <a:cs typeface="Times New Roman"/>
              </a:rPr>
              <a:t>  </a:t>
            </a:r>
            <a:r>
              <a:rPr sz="2000" dirty="0">
                <a:solidFill>
                  <a:prstClr val="black"/>
                </a:solidFill>
                <a:latin typeface="Times New Roman"/>
                <a:cs typeface="Times New Roman"/>
              </a:rPr>
              <a:t>of</a:t>
            </a:r>
            <a:r>
              <a:rPr sz="2000" spc="90" dirty="0">
                <a:solidFill>
                  <a:prstClr val="black"/>
                </a:solidFill>
                <a:latin typeface="Times New Roman"/>
                <a:cs typeface="Times New Roman"/>
              </a:rPr>
              <a:t>  </a:t>
            </a:r>
            <a:r>
              <a:rPr sz="2000" dirty="0">
                <a:solidFill>
                  <a:prstClr val="black"/>
                </a:solidFill>
                <a:latin typeface="Times New Roman"/>
                <a:cs typeface="Times New Roman"/>
              </a:rPr>
              <a:t>the</a:t>
            </a:r>
            <a:r>
              <a:rPr sz="2000" spc="80" dirty="0">
                <a:solidFill>
                  <a:prstClr val="black"/>
                </a:solidFill>
                <a:latin typeface="Times New Roman"/>
                <a:cs typeface="Times New Roman"/>
              </a:rPr>
              <a:t>  </a:t>
            </a:r>
            <a:r>
              <a:rPr sz="2000" dirty="0">
                <a:solidFill>
                  <a:prstClr val="black"/>
                </a:solidFill>
                <a:latin typeface="Times New Roman"/>
                <a:cs typeface="Times New Roman"/>
              </a:rPr>
              <a:t>features</a:t>
            </a:r>
            <a:r>
              <a:rPr sz="2000" spc="90" dirty="0">
                <a:solidFill>
                  <a:prstClr val="black"/>
                </a:solidFill>
                <a:latin typeface="Times New Roman"/>
                <a:cs typeface="Times New Roman"/>
              </a:rPr>
              <a:t>  </a:t>
            </a:r>
            <a:r>
              <a:rPr sz="2000" spc="-25" dirty="0">
                <a:solidFill>
                  <a:prstClr val="black"/>
                </a:solidFill>
                <a:latin typeface="Times New Roman"/>
                <a:cs typeface="Times New Roman"/>
              </a:rPr>
              <a:t>you 	</a:t>
            </a:r>
            <a:r>
              <a:rPr sz="2000" dirty="0">
                <a:solidFill>
                  <a:prstClr val="black"/>
                </a:solidFill>
                <a:latin typeface="Times New Roman"/>
                <a:cs typeface="Times New Roman"/>
              </a:rPr>
              <a:t>need</a:t>
            </a:r>
            <a:r>
              <a:rPr sz="2000" spc="-20" dirty="0">
                <a:solidFill>
                  <a:prstClr val="black"/>
                </a:solidFill>
                <a:latin typeface="Times New Roman"/>
                <a:cs typeface="Times New Roman"/>
              </a:rPr>
              <a:t> </a:t>
            </a:r>
            <a:r>
              <a:rPr sz="2000" dirty="0">
                <a:solidFill>
                  <a:prstClr val="black"/>
                </a:solidFill>
                <a:latin typeface="Times New Roman"/>
                <a:cs typeface="Times New Roman"/>
              </a:rPr>
              <a:t>to</a:t>
            </a:r>
            <a:r>
              <a:rPr sz="2000" spc="-5" dirty="0">
                <a:solidFill>
                  <a:prstClr val="black"/>
                </a:solidFill>
                <a:latin typeface="Times New Roman"/>
                <a:cs typeface="Times New Roman"/>
              </a:rPr>
              <a:t> </a:t>
            </a:r>
            <a:r>
              <a:rPr sz="2000" dirty="0">
                <a:solidFill>
                  <a:prstClr val="black"/>
                </a:solidFill>
                <a:latin typeface="Times New Roman"/>
                <a:cs typeface="Times New Roman"/>
              </a:rPr>
              <a:t>operate</a:t>
            </a:r>
            <a:r>
              <a:rPr sz="2000" spc="-40" dirty="0">
                <a:solidFill>
                  <a:prstClr val="black"/>
                </a:solidFill>
                <a:latin typeface="Times New Roman"/>
                <a:cs typeface="Times New Roman"/>
              </a:rPr>
              <a:t> </a:t>
            </a:r>
            <a:r>
              <a:rPr sz="2000" dirty="0">
                <a:solidFill>
                  <a:prstClr val="black"/>
                </a:solidFill>
                <a:latin typeface="Times New Roman"/>
                <a:cs typeface="Times New Roman"/>
              </a:rPr>
              <a:t>C++ </a:t>
            </a:r>
            <a:r>
              <a:rPr sz="2000" spc="-10" dirty="0">
                <a:solidFill>
                  <a:prstClr val="black"/>
                </a:solidFill>
                <a:latin typeface="Times New Roman"/>
                <a:cs typeface="Times New Roman"/>
              </a:rPr>
              <a:t>streams.</a:t>
            </a:r>
            <a:endParaRPr sz="2000">
              <a:solidFill>
                <a:prstClr val="black"/>
              </a:solidFill>
              <a:latin typeface="Times New Roman"/>
              <a:cs typeface="Times New Roman"/>
            </a:endParaRPr>
          </a:p>
          <a:p>
            <a:pPr marL="351790" marR="5080" indent="-339725" algn="just">
              <a:buFont typeface="Arial MT"/>
              <a:buChar char="•"/>
              <a:tabLst>
                <a:tab pos="354965" algn="l"/>
              </a:tabLst>
            </a:pPr>
            <a:r>
              <a:rPr sz="2000" dirty="0">
                <a:solidFill>
                  <a:prstClr val="black"/>
                </a:solidFill>
                <a:latin typeface="Times New Roman"/>
                <a:cs typeface="Times New Roman"/>
              </a:rPr>
              <a:t>The</a:t>
            </a:r>
            <a:r>
              <a:rPr sz="2000" spc="365" dirty="0">
                <a:solidFill>
                  <a:prstClr val="black"/>
                </a:solidFill>
                <a:latin typeface="Times New Roman"/>
                <a:cs typeface="Times New Roman"/>
              </a:rPr>
              <a:t> </a:t>
            </a:r>
            <a:r>
              <a:rPr sz="2000" dirty="0">
                <a:solidFill>
                  <a:prstClr val="black"/>
                </a:solidFill>
                <a:latin typeface="Times New Roman"/>
                <a:cs typeface="Times New Roman"/>
              </a:rPr>
              <a:t>three</a:t>
            </a:r>
            <a:r>
              <a:rPr sz="2000" spc="370" dirty="0">
                <a:solidFill>
                  <a:prstClr val="black"/>
                </a:solidFill>
                <a:latin typeface="Times New Roman"/>
                <a:cs typeface="Times New Roman"/>
              </a:rPr>
              <a:t> </a:t>
            </a:r>
            <a:r>
              <a:rPr sz="2000" dirty="0">
                <a:solidFill>
                  <a:prstClr val="black"/>
                </a:solidFill>
                <a:latin typeface="Times New Roman"/>
                <a:cs typeface="Times New Roman"/>
              </a:rPr>
              <a:t>most</a:t>
            </a:r>
            <a:r>
              <a:rPr sz="2000" spc="370" dirty="0">
                <a:solidFill>
                  <a:prstClr val="black"/>
                </a:solidFill>
                <a:latin typeface="Times New Roman"/>
                <a:cs typeface="Times New Roman"/>
              </a:rPr>
              <a:t> </a:t>
            </a:r>
            <a:r>
              <a:rPr sz="2000" dirty="0">
                <a:solidFill>
                  <a:prstClr val="black"/>
                </a:solidFill>
                <a:latin typeface="Times New Roman"/>
                <a:cs typeface="Times New Roman"/>
              </a:rPr>
              <a:t>important</a:t>
            </a:r>
            <a:r>
              <a:rPr sz="2000" spc="355" dirty="0">
                <a:solidFill>
                  <a:prstClr val="black"/>
                </a:solidFill>
                <a:latin typeface="Times New Roman"/>
                <a:cs typeface="Times New Roman"/>
              </a:rPr>
              <a:t> </a:t>
            </a:r>
            <a:r>
              <a:rPr sz="2000" spc="-10" dirty="0">
                <a:solidFill>
                  <a:prstClr val="black"/>
                </a:solidFill>
                <a:latin typeface="Times New Roman"/>
                <a:cs typeface="Times New Roman"/>
              </a:rPr>
              <a:t>features 	</a:t>
            </a:r>
            <a:r>
              <a:rPr sz="2000" dirty="0">
                <a:solidFill>
                  <a:prstClr val="black"/>
                </a:solidFill>
                <a:latin typeface="Times New Roman"/>
                <a:cs typeface="Times New Roman"/>
              </a:rPr>
              <a:t>are</a:t>
            </a:r>
            <a:r>
              <a:rPr sz="2000" spc="285" dirty="0">
                <a:solidFill>
                  <a:prstClr val="black"/>
                </a:solidFill>
                <a:latin typeface="Times New Roman"/>
                <a:cs typeface="Times New Roman"/>
              </a:rPr>
              <a:t> </a:t>
            </a:r>
            <a:r>
              <a:rPr sz="2000" dirty="0">
                <a:solidFill>
                  <a:prstClr val="black"/>
                </a:solidFill>
                <a:latin typeface="Times New Roman"/>
                <a:cs typeface="Times New Roman"/>
              </a:rPr>
              <a:t>the</a:t>
            </a:r>
            <a:r>
              <a:rPr sz="2000" spc="275" dirty="0">
                <a:solidFill>
                  <a:prstClr val="black"/>
                </a:solidFill>
                <a:latin typeface="Times New Roman"/>
                <a:cs typeface="Times New Roman"/>
              </a:rPr>
              <a:t> </a:t>
            </a:r>
            <a:r>
              <a:rPr sz="2000" dirty="0">
                <a:solidFill>
                  <a:prstClr val="black"/>
                </a:solidFill>
                <a:latin typeface="Times New Roman"/>
                <a:cs typeface="Times New Roman"/>
              </a:rPr>
              <a:t>formatting</a:t>
            </a:r>
            <a:r>
              <a:rPr sz="2000" spc="275" dirty="0">
                <a:solidFill>
                  <a:prstClr val="black"/>
                </a:solidFill>
                <a:latin typeface="Times New Roman"/>
                <a:cs typeface="Times New Roman"/>
              </a:rPr>
              <a:t> </a:t>
            </a:r>
            <a:r>
              <a:rPr sz="2000" dirty="0">
                <a:solidFill>
                  <a:prstClr val="black"/>
                </a:solidFill>
                <a:latin typeface="Times New Roman"/>
                <a:cs typeface="Times New Roman"/>
              </a:rPr>
              <a:t>flags,</a:t>
            </a:r>
            <a:r>
              <a:rPr sz="2000" spc="275" dirty="0">
                <a:solidFill>
                  <a:prstClr val="black"/>
                </a:solidFill>
                <a:latin typeface="Times New Roman"/>
                <a:cs typeface="Times New Roman"/>
              </a:rPr>
              <a:t> </a:t>
            </a:r>
            <a:r>
              <a:rPr sz="2000" dirty="0">
                <a:solidFill>
                  <a:prstClr val="black"/>
                </a:solidFill>
                <a:latin typeface="Times New Roman"/>
                <a:cs typeface="Times New Roman"/>
              </a:rPr>
              <a:t>the</a:t>
            </a:r>
            <a:r>
              <a:rPr sz="2000" spc="280" dirty="0">
                <a:solidFill>
                  <a:prstClr val="black"/>
                </a:solidFill>
                <a:latin typeface="Times New Roman"/>
                <a:cs typeface="Times New Roman"/>
              </a:rPr>
              <a:t> </a:t>
            </a:r>
            <a:r>
              <a:rPr sz="2000" spc="-10" dirty="0">
                <a:solidFill>
                  <a:prstClr val="black"/>
                </a:solidFill>
                <a:latin typeface="Times New Roman"/>
                <a:cs typeface="Times New Roman"/>
              </a:rPr>
              <a:t>error- 	</a:t>
            </a:r>
            <a:r>
              <a:rPr sz="2000" dirty="0">
                <a:solidFill>
                  <a:prstClr val="black"/>
                </a:solidFill>
                <a:latin typeface="Times New Roman"/>
                <a:cs typeface="Times New Roman"/>
              </a:rPr>
              <a:t>status</a:t>
            </a:r>
            <a:r>
              <a:rPr sz="2000" spc="310" dirty="0">
                <a:solidFill>
                  <a:prstClr val="black"/>
                </a:solidFill>
                <a:latin typeface="Times New Roman"/>
                <a:cs typeface="Times New Roman"/>
              </a:rPr>
              <a:t> </a:t>
            </a:r>
            <a:r>
              <a:rPr sz="2000" dirty="0">
                <a:solidFill>
                  <a:prstClr val="black"/>
                </a:solidFill>
                <a:latin typeface="Times New Roman"/>
                <a:cs typeface="Times New Roman"/>
              </a:rPr>
              <a:t>flags,</a:t>
            </a:r>
            <a:r>
              <a:rPr sz="2000" spc="325" dirty="0">
                <a:solidFill>
                  <a:prstClr val="black"/>
                </a:solidFill>
                <a:latin typeface="Times New Roman"/>
                <a:cs typeface="Times New Roman"/>
              </a:rPr>
              <a:t> </a:t>
            </a:r>
            <a:r>
              <a:rPr sz="2000" dirty="0">
                <a:solidFill>
                  <a:prstClr val="black"/>
                </a:solidFill>
                <a:latin typeface="Times New Roman"/>
                <a:cs typeface="Times New Roman"/>
              </a:rPr>
              <a:t>and</a:t>
            </a:r>
            <a:r>
              <a:rPr sz="2000" spc="325" dirty="0">
                <a:solidFill>
                  <a:prstClr val="black"/>
                </a:solidFill>
                <a:latin typeface="Times New Roman"/>
                <a:cs typeface="Times New Roman"/>
              </a:rPr>
              <a:t> </a:t>
            </a:r>
            <a:r>
              <a:rPr sz="2000" dirty="0">
                <a:solidFill>
                  <a:prstClr val="black"/>
                </a:solidFill>
                <a:latin typeface="Times New Roman"/>
                <a:cs typeface="Times New Roman"/>
              </a:rPr>
              <a:t>the</a:t>
            </a:r>
            <a:r>
              <a:rPr sz="2000" spc="315" dirty="0">
                <a:solidFill>
                  <a:prstClr val="black"/>
                </a:solidFill>
                <a:latin typeface="Times New Roman"/>
                <a:cs typeface="Times New Roman"/>
              </a:rPr>
              <a:t> </a:t>
            </a:r>
            <a:r>
              <a:rPr sz="2000" dirty="0">
                <a:solidFill>
                  <a:prstClr val="black"/>
                </a:solidFill>
                <a:latin typeface="Times New Roman"/>
                <a:cs typeface="Times New Roman"/>
              </a:rPr>
              <a:t>file</a:t>
            </a:r>
            <a:r>
              <a:rPr sz="2000" spc="310" dirty="0">
                <a:solidFill>
                  <a:prstClr val="black"/>
                </a:solidFill>
                <a:latin typeface="Times New Roman"/>
                <a:cs typeface="Times New Roman"/>
              </a:rPr>
              <a:t> </a:t>
            </a:r>
            <a:r>
              <a:rPr sz="2000" spc="-10" dirty="0">
                <a:solidFill>
                  <a:prstClr val="black"/>
                </a:solidFill>
                <a:latin typeface="Times New Roman"/>
                <a:cs typeface="Times New Roman"/>
              </a:rPr>
              <a:t>operation 	mode.</a:t>
            </a:r>
            <a:endParaRPr sz="2000">
              <a:solidFill>
                <a:prstClr val="black"/>
              </a:solidFill>
              <a:latin typeface="Times New Roman"/>
              <a:cs typeface="Times New Roman"/>
            </a:endParaRPr>
          </a:p>
          <a:p>
            <a:pPr marL="12700" algn="just">
              <a:spcBef>
                <a:spcPts val="5"/>
              </a:spcBef>
            </a:pPr>
            <a:r>
              <a:rPr sz="2000" b="1" dirty="0">
                <a:solidFill>
                  <a:prstClr val="black"/>
                </a:solidFill>
                <a:latin typeface="Times New Roman"/>
                <a:cs typeface="Times New Roman"/>
              </a:rPr>
              <a:t>Formatting</a:t>
            </a:r>
            <a:r>
              <a:rPr sz="2000" b="1" spc="-45" dirty="0">
                <a:solidFill>
                  <a:prstClr val="black"/>
                </a:solidFill>
                <a:latin typeface="Times New Roman"/>
                <a:cs typeface="Times New Roman"/>
              </a:rPr>
              <a:t> </a:t>
            </a:r>
            <a:r>
              <a:rPr sz="2000" b="1" spc="-20" dirty="0">
                <a:solidFill>
                  <a:prstClr val="black"/>
                </a:solidFill>
                <a:latin typeface="Times New Roman"/>
                <a:cs typeface="Times New Roman"/>
              </a:rPr>
              <a:t>Flags</a:t>
            </a:r>
            <a:endParaRPr sz="2000">
              <a:solidFill>
                <a:prstClr val="black"/>
              </a:solidFill>
              <a:latin typeface="Times New Roman"/>
              <a:cs typeface="Times New Roman"/>
            </a:endParaRPr>
          </a:p>
          <a:p>
            <a:pPr marL="351790" marR="5080" indent="-339725" algn="just">
              <a:buFont typeface="Arial MT"/>
              <a:buChar char="•"/>
              <a:tabLst>
                <a:tab pos="354965" algn="l"/>
              </a:tabLst>
            </a:pPr>
            <a:r>
              <a:rPr sz="2000" dirty="0">
                <a:solidFill>
                  <a:prstClr val="black"/>
                </a:solidFill>
                <a:latin typeface="Times New Roman"/>
                <a:cs typeface="Times New Roman"/>
              </a:rPr>
              <a:t>Formatting</a:t>
            </a:r>
            <a:r>
              <a:rPr sz="2000" spc="180" dirty="0">
                <a:solidFill>
                  <a:prstClr val="black"/>
                </a:solidFill>
                <a:latin typeface="Times New Roman"/>
                <a:cs typeface="Times New Roman"/>
              </a:rPr>
              <a:t> </a:t>
            </a:r>
            <a:r>
              <a:rPr sz="2000" dirty="0">
                <a:solidFill>
                  <a:prstClr val="black"/>
                </a:solidFill>
                <a:latin typeface="Times New Roman"/>
                <a:cs typeface="Times New Roman"/>
              </a:rPr>
              <a:t>flags</a:t>
            </a:r>
            <a:r>
              <a:rPr sz="2000" spc="200" dirty="0">
                <a:solidFill>
                  <a:prstClr val="black"/>
                </a:solidFill>
                <a:latin typeface="Times New Roman"/>
                <a:cs typeface="Times New Roman"/>
              </a:rPr>
              <a:t> </a:t>
            </a:r>
            <a:r>
              <a:rPr sz="2000" dirty="0">
                <a:solidFill>
                  <a:prstClr val="black"/>
                </a:solidFill>
                <a:latin typeface="Times New Roman"/>
                <a:cs typeface="Times New Roman"/>
              </a:rPr>
              <a:t>are</a:t>
            </a:r>
            <a:r>
              <a:rPr sz="2000" spc="185" dirty="0">
                <a:solidFill>
                  <a:prstClr val="black"/>
                </a:solidFill>
                <a:latin typeface="Times New Roman"/>
                <a:cs typeface="Times New Roman"/>
              </a:rPr>
              <a:t> </a:t>
            </a:r>
            <a:r>
              <a:rPr sz="2000" dirty="0">
                <a:solidFill>
                  <a:prstClr val="black"/>
                </a:solidFill>
                <a:latin typeface="Times New Roman"/>
                <a:cs typeface="Times New Roman"/>
              </a:rPr>
              <a:t>a</a:t>
            </a:r>
            <a:r>
              <a:rPr sz="2000" spc="190" dirty="0">
                <a:solidFill>
                  <a:prstClr val="black"/>
                </a:solidFill>
                <a:latin typeface="Times New Roman"/>
                <a:cs typeface="Times New Roman"/>
              </a:rPr>
              <a:t> </a:t>
            </a:r>
            <a:r>
              <a:rPr sz="2000" dirty="0">
                <a:solidFill>
                  <a:prstClr val="black"/>
                </a:solidFill>
                <a:latin typeface="Times New Roman"/>
                <a:cs typeface="Times New Roman"/>
              </a:rPr>
              <a:t>set</a:t>
            </a:r>
            <a:r>
              <a:rPr sz="2000" spc="180" dirty="0">
                <a:solidFill>
                  <a:prstClr val="black"/>
                </a:solidFill>
                <a:latin typeface="Times New Roman"/>
                <a:cs typeface="Times New Roman"/>
              </a:rPr>
              <a:t> </a:t>
            </a:r>
            <a:r>
              <a:rPr sz="2000" dirty="0">
                <a:solidFill>
                  <a:prstClr val="black"/>
                </a:solidFill>
                <a:latin typeface="Times New Roman"/>
                <a:cs typeface="Times New Roman"/>
              </a:rPr>
              <a:t>of</a:t>
            </a:r>
            <a:r>
              <a:rPr sz="2000" spc="190" dirty="0">
                <a:solidFill>
                  <a:prstClr val="black"/>
                </a:solidFill>
                <a:latin typeface="Times New Roman"/>
                <a:cs typeface="Times New Roman"/>
              </a:rPr>
              <a:t> </a:t>
            </a:r>
            <a:r>
              <a:rPr sz="2000" spc="-20" dirty="0">
                <a:solidFill>
                  <a:prstClr val="black"/>
                </a:solidFill>
                <a:latin typeface="Times New Roman"/>
                <a:cs typeface="Times New Roman"/>
              </a:rPr>
              <a:t>enum 	</a:t>
            </a:r>
            <a:r>
              <a:rPr sz="2000" dirty="0">
                <a:solidFill>
                  <a:prstClr val="black"/>
                </a:solidFill>
                <a:latin typeface="Times New Roman"/>
                <a:cs typeface="Times New Roman"/>
              </a:rPr>
              <a:t>definitions</a:t>
            </a:r>
            <a:r>
              <a:rPr sz="2000" spc="-40" dirty="0">
                <a:solidFill>
                  <a:prstClr val="black"/>
                </a:solidFill>
                <a:latin typeface="Times New Roman"/>
                <a:cs typeface="Times New Roman"/>
              </a:rPr>
              <a:t> </a:t>
            </a:r>
            <a:r>
              <a:rPr sz="2000" dirty="0">
                <a:solidFill>
                  <a:prstClr val="black"/>
                </a:solidFill>
                <a:latin typeface="Times New Roman"/>
                <a:cs typeface="Times New Roman"/>
              </a:rPr>
              <a:t>in</a:t>
            </a:r>
            <a:r>
              <a:rPr sz="2000" spc="-15" dirty="0">
                <a:solidFill>
                  <a:prstClr val="black"/>
                </a:solidFill>
                <a:latin typeface="Times New Roman"/>
                <a:cs typeface="Times New Roman"/>
              </a:rPr>
              <a:t> </a:t>
            </a:r>
            <a:r>
              <a:rPr sz="2000" b="1" dirty="0">
                <a:solidFill>
                  <a:prstClr val="black"/>
                </a:solidFill>
                <a:latin typeface="Times New Roman"/>
                <a:cs typeface="Times New Roman"/>
              </a:rPr>
              <a:t>ios</a:t>
            </a:r>
            <a:r>
              <a:rPr sz="2000" b="1" spc="-30" dirty="0">
                <a:solidFill>
                  <a:prstClr val="black"/>
                </a:solidFill>
                <a:latin typeface="Times New Roman"/>
                <a:cs typeface="Times New Roman"/>
              </a:rPr>
              <a:t> </a:t>
            </a:r>
            <a:r>
              <a:rPr sz="2000" b="1" spc="-10" dirty="0">
                <a:solidFill>
                  <a:prstClr val="black"/>
                </a:solidFill>
                <a:latin typeface="Times New Roman"/>
                <a:cs typeface="Times New Roman"/>
              </a:rPr>
              <a:t>class</a:t>
            </a:r>
            <a:r>
              <a:rPr sz="2000" spc="-10" dirty="0">
                <a:solidFill>
                  <a:prstClr val="black"/>
                </a:solidFill>
                <a:latin typeface="Times New Roman"/>
                <a:cs typeface="Times New Roman"/>
              </a:rPr>
              <a:t>.</a:t>
            </a:r>
            <a:endParaRPr sz="2000">
              <a:solidFill>
                <a:prstClr val="black"/>
              </a:solidFill>
              <a:latin typeface="Times New Roman"/>
              <a:cs typeface="Times New Roman"/>
            </a:endParaRPr>
          </a:p>
          <a:p>
            <a:pPr marL="351155" marR="5080" indent="-339090" algn="just">
              <a:buFont typeface="Arial MT"/>
              <a:buChar char="•"/>
              <a:tabLst>
                <a:tab pos="354965" algn="l"/>
              </a:tabLst>
            </a:pPr>
            <a:r>
              <a:rPr sz="2000" dirty="0">
                <a:solidFill>
                  <a:prstClr val="black"/>
                </a:solidFill>
                <a:latin typeface="Times New Roman"/>
                <a:cs typeface="Times New Roman"/>
              </a:rPr>
              <a:t>They</a:t>
            </a:r>
            <a:r>
              <a:rPr sz="2000" spc="65" dirty="0">
                <a:solidFill>
                  <a:prstClr val="black"/>
                </a:solidFill>
                <a:latin typeface="Times New Roman"/>
                <a:cs typeface="Times New Roman"/>
              </a:rPr>
              <a:t>  </a:t>
            </a:r>
            <a:r>
              <a:rPr sz="2000" dirty="0">
                <a:solidFill>
                  <a:prstClr val="black"/>
                </a:solidFill>
                <a:latin typeface="Times New Roman"/>
                <a:cs typeface="Times New Roman"/>
              </a:rPr>
              <a:t>act</a:t>
            </a:r>
            <a:r>
              <a:rPr sz="2000" spc="65" dirty="0">
                <a:solidFill>
                  <a:prstClr val="black"/>
                </a:solidFill>
                <a:latin typeface="Times New Roman"/>
                <a:cs typeface="Times New Roman"/>
              </a:rPr>
              <a:t>  </a:t>
            </a:r>
            <a:r>
              <a:rPr sz="2000" dirty="0">
                <a:solidFill>
                  <a:prstClr val="black"/>
                </a:solidFill>
                <a:latin typeface="Times New Roman"/>
                <a:cs typeface="Times New Roman"/>
              </a:rPr>
              <a:t>as</a:t>
            </a:r>
            <a:r>
              <a:rPr sz="2000" spc="65" dirty="0">
                <a:solidFill>
                  <a:prstClr val="black"/>
                </a:solidFill>
                <a:latin typeface="Times New Roman"/>
                <a:cs typeface="Times New Roman"/>
              </a:rPr>
              <a:t>  </a:t>
            </a:r>
            <a:r>
              <a:rPr sz="2000" dirty="0">
                <a:solidFill>
                  <a:prstClr val="black"/>
                </a:solidFill>
                <a:latin typeface="Times New Roman"/>
                <a:cs typeface="Times New Roman"/>
              </a:rPr>
              <a:t>on/off</a:t>
            </a:r>
            <a:r>
              <a:rPr sz="2000" spc="65" dirty="0">
                <a:solidFill>
                  <a:prstClr val="black"/>
                </a:solidFill>
                <a:latin typeface="Times New Roman"/>
                <a:cs typeface="Times New Roman"/>
              </a:rPr>
              <a:t>  </a:t>
            </a:r>
            <a:r>
              <a:rPr sz="2000" dirty="0">
                <a:solidFill>
                  <a:prstClr val="black"/>
                </a:solidFill>
                <a:latin typeface="Times New Roman"/>
                <a:cs typeface="Times New Roman"/>
              </a:rPr>
              <a:t>switches</a:t>
            </a:r>
            <a:r>
              <a:rPr sz="2000" spc="65" dirty="0">
                <a:solidFill>
                  <a:prstClr val="black"/>
                </a:solidFill>
                <a:latin typeface="Times New Roman"/>
                <a:cs typeface="Times New Roman"/>
              </a:rPr>
              <a:t>  </a:t>
            </a:r>
            <a:r>
              <a:rPr sz="2000" spc="-20" dirty="0">
                <a:solidFill>
                  <a:prstClr val="black"/>
                </a:solidFill>
                <a:latin typeface="Times New Roman"/>
                <a:cs typeface="Times New Roman"/>
              </a:rPr>
              <a:t>that 	</a:t>
            </a:r>
            <a:r>
              <a:rPr sz="2000" dirty="0">
                <a:solidFill>
                  <a:prstClr val="black"/>
                </a:solidFill>
                <a:latin typeface="Times New Roman"/>
                <a:cs typeface="Times New Roman"/>
              </a:rPr>
              <a:t>specify</a:t>
            </a:r>
            <a:r>
              <a:rPr sz="2000" spc="190" dirty="0">
                <a:solidFill>
                  <a:prstClr val="black"/>
                </a:solidFill>
                <a:latin typeface="Times New Roman"/>
                <a:cs typeface="Times New Roman"/>
              </a:rPr>
              <a:t> </a:t>
            </a:r>
            <a:r>
              <a:rPr sz="2000" dirty="0">
                <a:solidFill>
                  <a:prstClr val="black"/>
                </a:solidFill>
                <a:latin typeface="Times New Roman"/>
                <a:cs typeface="Times New Roman"/>
              </a:rPr>
              <a:t>choices</a:t>
            </a:r>
            <a:r>
              <a:rPr sz="2000" spc="195" dirty="0">
                <a:solidFill>
                  <a:prstClr val="black"/>
                </a:solidFill>
                <a:latin typeface="Times New Roman"/>
                <a:cs typeface="Times New Roman"/>
              </a:rPr>
              <a:t> </a:t>
            </a:r>
            <a:r>
              <a:rPr sz="2000" dirty="0">
                <a:solidFill>
                  <a:prstClr val="black"/>
                </a:solidFill>
                <a:latin typeface="Times New Roman"/>
                <a:cs typeface="Times New Roman"/>
              </a:rPr>
              <a:t>for</a:t>
            </a:r>
            <a:r>
              <a:rPr sz="2000" spc="200" dirty="0">
                <a:solidFill>
                  <a:prstClr val="black"/>
                </a:solidFill>
                <a:latin typeface="Times New Roman"/>
                <a:cs typeface="Times New Roman"/>
              </a:rPr>
              <a:t> </a:t>
            </a:r>
            <a:r>
              <a:rPr sz="2000" dirty="0">
                <a:solidFill>
                  <a:prstClr val="black"/>
                </a:solidFill>
                <a:latin typeface="Times New Roman"/>
                <a:cs typeface="Times New Roman"/>
              </a:rPr>
              <a:t>various</a:t>
            </a:r>
            <a:r>
              <a:rPr sz="2000" spc="200" dirty="0">
                <a:solidFill>
                  <a:prstClr val="black"/>
                </a:solidFill>
                <a:latin typeface="Times New Roman"/>
                <a:cs typeface="Times New Roman"/>
              </a:rPr>
              <a:t> </a:t>
            </a:r>
            <a:r>
              <a:rPr sz="2000" spc="-10" dirty="0">
                <a:solidFill>
                  <a:prstClr val="black"/>
                </a:solidFill>
                <a:latin typeface="Times New Roman"/>
                <a:cs typeface="Times New Roman"/>
              </a:rPr>
              <a:t>aspects 	</a:t>
            </a:r>
            <a:r>
              <a:rPr sz="2000" dirty="0">
                <a:solidFill>
                  <a:prstClr val="black"/>
                </a:solidFill>
                <a:latin typeface="Times New Roman"/>
                <a:cs typeface="Times New Roman"/>
              </a:rPr>
              <a:t>of</a:t>
            </a:r>
            <a:r>
              <a:rPr sz="2000" spc="140" dirty="0">
                <a:solidFill>
                  <a:prstClr val="black"/>
                </a:solidFill>
                <a:latin typeface="Times New Roman"/>
                <a:cs typeface="Times New Roman"/>
              </a:rPr>
              <a:t>  </a:t>
            </a:r>
            <a:r>
              <a:rPr sz="2000" dirty="0">
                <a:solidFill>
                  <a:prstClr val="black"/>
                </a:solidFill>
                <a:latin typeface="Times New Roman"/>
                <a:cs typeface="Times New Roman"/>
              </a:rPr>
              <a:t>input</a:t>
            </a:r>
            <a:r>
              <a:rPr sz="2000" spc="160" dirty="0">
                <a:solidFill>
                  <a:prstClr val="black"/>
                </a:solidFill>
                <a:latin typeface="Times New Roman"/>
                <a:cs typeface="Times New Roman"/>
              </a:rPr>
              <a:t>  </a:t>
            </a:r>
            <a:r>
              <a:rPr sz="2000" dirty="0">
                <a:solidFill>
                  <a:prstClr val="black"/>
                </a:solidFill>
                <a:latin typeface="Times New Roman"/>
                <a:cs typeface="Times New Roman"/>
              </a:rPr>
              <a:t>and</a:t>
            </a:r>
            <a:r>
              <a:rPr sz="2000" spc="155" dirty="0">
                <a:solidFill>
                  <a:prstClr val="black"/>
                </a:solidFill>
                <a:latin typeface="Times New Roman"/>
                <a:cs typeface="Times New Roman"/>
              </a:rPr>
              <a:t>  </a:t>
            </a:r>
            <a:r>
              <a:rPr sz="2000" dirty="0">
                <a:solidFill>
                  <a:prstClr val="black"/>
                </a:solidFill>
                <a:latin typeface="Times New Roman"/>
                <a:cs typeface="Times New Roman"/>
              </a:rPr>
              <a:t>output</a:t>
            </a:r>
            <a:r>
              <a:rPr sz="2000" spc="150" dirty="0">
                <a:solidFill>
                  <a:prstClr val="black"/>
                </a:solidFill>
                <a:latin typeface="Times New Roman"/>
                <a:cs typeface="Times New Roman"/>
              </a:rPr>
              <a:t>  </a:t>
            </a:r>
            <a:r>
              <a:rPr sz="2000" dirty="0">
                <a:solidFill>
                  <a:prstClr val="black"/>
                </a:solidFill>
                <a:latin typeface="Times New Roman"/>
                <a:cs typeface="Times New Roman"/>
              </a:rPr>
              <a:t>format</a:t>
            </a:r>
            <a:r>
              <a:rPr sz="2000" spc="160" dirty="0">
                <a:solidFill>
                  <a:prstClr val="black"/>
                </a:solidFill>
                <a:latin typeface="Times New Roman"/>
                <a:cs typeface="Times New Roman"/>
              </a:rPr>
              <a:t>  </a:t>
            </a:r>
            <a:r>
              <a:rPr sz="2000" spc="-25" dirty="0">
                <a:solidFill>
                  <a:prstClr val="black"/>
                </a:solidFill>
                <a:latin typeface="Times New Roman"/>
                <a:cs typeface="Times New Roman"/>
              </a:rPr>
              <a:t>and 	</a:t>
            </a:r>
            <a:r>
              <a:rPr sz="2000" spc="-10" dirty="0">
                <a:solidFill>
                  <a:prstClr val="black"/>
                </a:solidFill>
                <a:latin typeface="Times New Roman"/>
                <a:cs typeface="Times New Roman"/>
              </a:rPr>
              <a:t>operation.</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5301996" y="1205436"/>
            <a:ext cx="6797040" cy="4996563"/>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4</a:t>
            </a:r>
            <a:endParaRPr sz="2400">
              <a:solidFill>
                <a:prstClr val="black"/>
              </a:solidFill>
              <a:latin typeface="Times New Roman"/>
              <a:cs typeface="Times New Roman"/>
            </a:endParaRPr>
          </a:p>
        </p:txBody>
      </p:sp>
      <p:sp>
        <p:nvSpPr>
          <p:cNvPr id="7" name="object 7"/>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8" name="object 8"/>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9" name="Date Placeholder 8">
            <a:extLst>
              <a:ext uri="{FF2B5EF4-FFF2-40B4-BE49-F238E27FC236}">
                <a16:creationId xmlns:a16="http://schemas.microsoft.com/office/drawing/2014/main" id="{7B030AD4-610D-520C-95BD-FBF7F4AFD759}"/>
              </a:ext>
            </a:extLst>
          </p:cNvPr>
          <p:cNvSpPr>
            <a:spLocks noGrp="1"/>
          </p:cNvSpPr>
          <p:nvPr>
            <p:ph type="dt" sz="half" idx="10"/>
          </p:nvPr>
        </p:nvSpPr>
        <p:spPr/>
        <p:txBody>
          <a:bodyPr/>
          <a:lstStyle/>
          <a:p>
            <a:fld id="{11130A9C-FFA3-4AD1-9C53-69AD130B646F}" type="datetime1">
              <a:rPr lang="en-US" smtClean="0">
                <a:solidFill>
                  <a:prstClr val="black">
                    <a:tint val="75000"/>
                  </a:prstClr>
                </a:solidFill>
              </a:rPr>
              <a:pPr/>
              <a:t>11/17/2025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624733D4-8D82-44C4-D9B4-40E5A2DB089C}"/>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72</a:t>
            </a:fld>
            <a:endParaRPr spc="-25" dirty="0">
              <a:solidFill>
                <a:prstClr val="black">
                  <a:tint val="75000"/>
                </a:prstClr>
              </a:solidFill>
            </a:endParaRPr>
          </a:p>
        </p:txBody>
      </p:sp>
    </p:spTree>
    <p:extLst>
      <p:ext uri="{BB962C8B-B14F-4D97-AF65-F5344CB8AC3E}">
        <p14:creationId xmlns:p14="http://schemas.microsoft.com/office/powerpoint/2010/main" val="1003397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30" dirty="0"/>
              <a:t> </a:t>
            </a:r>
            <a:r>
              <a:rPr b="1" dirty="0">
                <a:latin typeface="Times New Roman"/>
                <a:cs typeface="Times New Roman"/>
              </a:rPr>
              <a:t>ios</a:t>
            </a:r>
            <a:r>
              <a:rPr b="1" spc="-25" dirty="0">
                <a:latin typeface="Times New Roman"/>
                <a:cs typeface="Times New Roman"/>
              </a:rPr>
              <a:t> </a:t>
            </a:r>
            <a:r>
              <a:rPr spc="-10" dirty="0"/>
              <a:t>Class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2143036"/>
            <a:ext cx="4138929" cy="3129915"/>
          </a:xfrm>
          <a:prstGeom prst="rect">
            <a:avLst/>
          </a:prstGeom>
        </p:spPr>
        <p:txBody>
          <a:bodyPr vert="horz" wrap="square" lIns="0" tIns="74295" rIns="0" bIns="0" rtlCol="0">
            <a:spAutoFit/>
          </a:bodyPr>
          <a:lstStyle/>
          <a:p>
            <a:pPr marL="12700">
              <a:spcBef>
                <a:spcPts val="585"/>
              </a:spcBef>
            </a:pPr>
            <a:r>
              <a:rPr sz="2000" b="1" spc="-10" dirty="0">
                <a:solidFill>
                  <a:prstClr val="black"/>
                </a:solidFill>
                <a:latin typeface="Times New Roman"/>
                <a:cs typeface="Times New Roman"/>
              </a:rPr>
              <a:t>Manipulators</a:t>
            </a:r>
            <a:endParaRPr sz="2000">
              <a:solidFill>
                <a:prstClr val="black"/>
              </a:solidFill>
              <a:latin typeface="Times New Roman"/>
              <a:cs typeface="Times New Roman"/>
            </a:endParaRPr>
          </a:p>
          <a:p>
            <a:pPr marL="355600" marR="259715" indent="-343535">
              <a:spcBef>
                <a:spcPts val="480"/>
              </a:spcBef>
              <a:buFontTx/>
              <a:buChar char="•"/>
              <a:tabLst>
                <a:tab pos="355600" algn="l"/>
              </a:tabLst>
            </a:pPr>
            <a:r>
              <a:rPr sz="2000" dirty="0">
                <a:solidFill>
                  <a:prstClr val="black"/>
                </a:solidFill>
                <a:latin typeface="Times New Roman"/>
                <a:cs typeface="Times New Roman"/>
              </a:rPr>
              <a:t>Manipulators</a:t>
            </a:r>
            <a:r>
              <a:rPr sz="2000" spc="-55" dirty="0">
                <a:solidFill>
                  <a:prstClr val="black"/>
                </a:solidFill>
                <a:latin typeface="Times New Roman"/>
                <a:cs typeface="Times New Roman"/>
              </a:rPr>
              <a:t> </a:t>
            </a:r>
            <a:r>
              <a:rPr sz="2000" dirty="0">
                <a:solidFill>
                  <a:prstClr val="black"/>
                </a:solidFill>
                <a:latin typeface="Times New Roman"/>
                <a:cs typeface="Times New Roman"/>
              </a:rPr>
              <a:t>are</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formatting </a:t>
            </a:r>
            <a:r>
              <a:rPr sz="2000" dirty="0">
                <a:solidFill>
                  <a:prstClr val="black"/>
                </a:solidFill>
                <a:latin typeface="Times New Roman"/>
                <a:cs typeface="Times New Roman"/>
              </a:rPr>
              <a:t>instructions</a:t>
            </a:r>
            <a:r>
              <a:rPr sz="2000" spc="-50" dirty="0">
                <a:solidFill>
                  <a:prstClr val="black"/>
                </a:solidFill>
                <a:latin typeface="Times New Roman"/>
                <a:cs typeface="Times New Roman"/>
              </a:rPr>
              <a:t> </a:t>
            </a:r>
            <a:r>
              <a:rPr sz="2000" dirty="0">
                <a:solidFill>
                  <a:prstClr val="black"/>
                </a:solidFill>
                <a:latin typeface="Times New Roman"/>
                <a:cs typeface="Times New Roman"/>
              </a:rPr>
              <a:t>inserted</a:t>
            </a:r>
            <a:r>
              <a:rPr sz="2000" spc="-55" dirty="0">
                <a:solidFill>
                  <a:prstClr val="black"/>
                </a:solidFill>
                <a:latin typeface="Times New Roman"/>
                <a:cs typeface="Times New Roman"/>
              </a:rPr>
              <a:t> </a:t>
            </a:r>
            <a:r>
              <a:rPr sz="2000" dirty="0">
                <a:solidFill>
                  <a:prstClr val="black"/>
                </a:solidFill>
                <a:latin typeface="Times New Roman"/>
                <a:cs typeface="Times New Roman"/>
              </a:rPr>
              <a:t>directly</a:t>
            </a:r>
            <a:r>
              <a:rPr sz="2000" spc="-40" dirty="0">
                <a:solidFill>
                  <a:prstClr val="black"/>
                </a:solidFill>
                <a:latin typeface="Times New Roman"/>
                <a:cs typeface="Times New Roman"/>
              </a:rPr>
              <a:t> </a:t>
            </a:r>
            <a:r>
              <a:rPr sz="2000" dirty="0">
                <a:solidFill>
                  <a:prstClr val="black"/>
                </a:solidFill>
                <a:latin typeface="Times New Roman"/>
                <a:cs typeface="Times New Roman"/>
              </a:rPr>
              <a:t>into</a:t>
            </a:r>
            <a:r>
              <a:rPr sz="2000" spc="-25" dirty="0">
                <a:solidFill>
                  <a:prstClr val="black"/>
                </a:solidFill>
                <a:latin typeface="Times New Roman"/>
                <a:cs typeface="Times New Roman"/>
              </a:rPr>
              <a:t> </a:t>
            </a:r>
            <a:r>
              <a:rPr sz="2000" spc="-50" dirty="0">
                <a:solidFill>
                  <a:prstClr val="black"/>
                </a:solidFill>
                <a:latin typeface="Times New Roman"/>
                <a:cs typeface="Times New Roman"/>
              </a:rPr>
              <a:t>a </a:t>
            </a:r>
            <a:r>
              <a:rPr sz="2000" spc="-10" dirty="0">
                <a:solidFill>
                  <a:prstClr val="black"/>
                </a:solidFill>
                <a:latin typeface="Times New Roman"/>
                <a:cs typeface="Times New Roman"/>
              </a:rPr>
              <a:t>stream.</a:t>
            </a:r>
            <a:endParaRPr sz="2000">
              <a:solidFill>
                <a:prstClr val="black"/>
              </a:solidFill>
              <a:latin typeface="Times New Roman"/>
              <a:cs typeface="Times New Roman"/>
            </a:endParaRPr>
          </a:p>
          <a:p>
            <a:pPr marL="355600" indent="-342900">
              <a:spcBef>
                <a:spcPts val="480"/>
              </a:spcBef>
              <a:buFontTx/>
              <a:buChar char="•"/>
              <a:tabLst>
                <a:tab pos="355600" algn="l"/>
              </a:tabLst>
            </a:pPr>
            <a:r>
              <a:rPr sz="2000" spc="-20" dirty="0">
                <a:solidFill>
                  <a:prstClr val="black"/>
                </a:solidFill>
                <a:latin typeface="Times New Roman"/>
                <a:cs typeface="Times New Roman"/>
              </a:rPr>
              <a:t>We’ve</a:t>
            </a:r>
            <a:r>
              <a:rPr sz="2000" spc="-60" dirty="0">
                <a:solidFill>
                  <a:prstClr val="black"/>
                </a:solidFill>
                <a:latin typeface="Times New Roman"/>
                <a:cs typeface="Times New Roman"/>
              </a:rPr>
              <a:t> </a:t>
            </a:r>
            <a:r>
              <a:rPr sz="2000" dirty="0">
                <a:solidFill>
                  <a:prstClr val="black"/>
                </a:solidFill>
                <a:latin typeface="Times New Roman"/>
                <a:cs typeface="Times New Roman"/>
              </a:rPr>
              <a:t>seen</a:t>
            </a:r>
            <a:r>
              <a:rPr sz="2000" spc="-20" dirty="0">
                <a:solidFill>
                  <a:prstClr val="black"/>
                </a:solidFill>
                <a:latin typeface="Times New Roman"/>
                <a:cs typeface="Times New Roman"/>
              </a:rPr>
              <a:t> </a:t>
            </a:r>
            <a:r>
              <a:rPr sz="2000" dirty="0">
                <a:solidFill>
                  <a:prstClr val="black"/>
                </a:solidFill>
                <a:latin typeface="Times New Roman"/>
                <a:cs typeface="Times New Roman"/>
              </a:rPr>
              <a:t>examples</a:t>
            </a:r>
            <a:r>
              <a:rPr sz="2000" spc="-50" dirty="0">
                <a:solidFill>
                  <a:prstClr val="black"/>
                </a:solidFill>
                <a:latin typeface="Times New Roman"/>
                <a:cs typeface="Times New Roman"/>
              </a:rPr>
              <a:t> </a:t>
            </a:r>
            <a:r>
              <a:rPr sz="2000" dirty="0">
                <a:solidFill>
                  <a:prstClr val="black"/>
                </a:solidFill>
                <a:latin typeface="Times New Roman"/>
                <a:cs typeface="Times New Roman"/>
              </a:rPr>
              <a:t>before,</a:t>
            </a:r>
            <a:r>
              <a:rPr sz="2000" spc="-50" dirty="0">
                <a:solidFill>
                  <a:prstClr val="black"/>
                </a:solidFill>
                <a:latin typeface="Times New Roman"/>
                <a:cs typeface="Times New Roman"/>
              </a:rPr>
              <a:t> </a:t>
            </a:r>
            <a:r>
              <a:rPr sz="2000" dirty="0">
                <a:solidFill>
                  <a:prstClr val="black"/>
                </a:solidFill>
                <a:latin typeface="Times New Roman"/>
                <a:cs typeface="Times New Roman"/>
              </a:rPr>
              <a:t>such</a:t>
            </a:r>
            <a:r>
              <a:rPr sz="2000" spc="-40" dirty="0">
                <a:solidFill>
                  <a:prstClr val="black"/>
                </a:solidFill>
                <a:latin typeface="Times New Roman"/>
                <a:cs typeface="Times New Roman"/>
              </a:rPr>
              <a:t> </a:t>
            </a:r>
            <a:r>
              <a:rPr sz="2000" spc="-25" dirty="0">
                <a:solidFill>
                  <a:prstClr val="black"/>
                </a:solidFill>
                <a:latin typeface="Times New Roman"/>
                <a:cs typeface="Times New Roman"/>
              </a:rPr>
              <a:t>as</a:t>
            </a:r>
            <a:endParaRPr sz="2000">
              <a:solidFill>
                <a:prstClr val="black"/>
              </a:solidFill>
              <a:latin typeface="Times New Roman"/>
              <a:cs typeface="Times New Roman"/>
            </a:endParaRPr>
          </a:p>
          <a:p>
            <a:pPr marL="355600">
              <a:spcBef>
                <a:spcPts val="5"/>
              </a:spcBef>
            </a:pP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manipulator</a:t>
            </a:r>
            <a:r>
              <a:rPr sz="2000" spc="-35" dirty="0">
                <a:solidFill>
                  <a:prstClr val="black"/>
                </a:solidFill>
                <a:latin typeface="Times New Roman"/>
                <a:cs typeface="Times New Roman"/>
              </a:rPr>
              <a:t> </a:t>
            </a:r>
            <a:r>
              <a:rPr sz="2000" spc="-20" dirty="0">
                <a:solidFill>
                  <a:prstClr val="black"/>
                </a:solidFill>
                <a:latin typeface="Times New Roman"/>
                <a:cs typeface="Times New Roman"/>
              </a:rPr>
              <a:t>endl,</a:t>
            </a:r>
            <a:endParaRPr sz="2000">
              <a:solidFill>
                <a:prstClr val="black"/>
              </a:solidFill>
              <a:latin typeface="Times New Roman"/>
              <a:cs typeface="Times New Roman"/>
            </a:endParaRPr>
          </a:p>
          <a:p>
            <a:pPr marL="412115">
              <a:spcBef>
                <a:spcPts val="420"/>
              </a:spcBef>
            </a:pPr>
            <a:r>
              <a:rPr sz="2000" dirty="0">
                <a:solidFill>
                  <a:prstClr val="black"/>
                </a:solidFill>
                <a:cs typeface="Calibri"/>
              </a:rPr>
              <a:t>cout</a:t>
            </a:r>
            <a:r>
              <a:rPr sz="2000" spc="-10" dirty="0">
                <a:solidFill>
                  <a:prstClr val="black"/>
                </a:solidFill>
                <a:cs typeface="Calibri"/>
              </a:rPr>
              <a:t> </a:t>
            </a:r>
            <a:r>
              <a:rPr sz="2000" dirty="0">
                <a:solidFill>
                  <a:prstClr val="black"/>
                </a:solidFill>
                <a:cs typeface="Calibri"/>
              </a:rPr>
              <a:t>&lt;&lt;</a:t>
            </a:r>
            <a:r>
              <a:rPr sz="2000" spc="-5" dirty="0">
                <a:solidFill>
                  <a:prstClr val="black"/>
                </a:solidFill>
                <a:cs typeface="Calibri"/>
              </a:rPr>
              <a:t> </a:t>
            </a:r>
            <a:r>
              <a:rPr sz="2000" dirty="0">
                <a:solidFill>
                  <a:prstClr val="black"/>
                </a:solidFill>
                <a:cs typeface="Calibri"/>
              </a:rPr>
              <a:t>“The</a:t>
            </a:r>
            <a:r>
              <a:rPr sz="2000" spc="-5" dirty="0">
                <a:solidFill>
                  <a:prstClr val="black"/>
                </a:solidFill>
                <a:cs typeface="Calibri"/>
              </a:rPr>
              <a:t> </a:t>
            </a:r>
            <a:r>
              <a:rPr sz="2000" spc="-20" dirty="0">
                <a:solidFill>
                  <a:prstClr val="black"/>
                </a:solidFill>
                <a:cs typeface="Calibri"/>
              </a:rPr>
              <a:t>Maniputars.”</a:t>
            </a:r>
            <a:r>
              <a:rPr sz="2000" spc="-15" dirty="0">
                <a:solidFill>
                  <a:prstClr val="black"/>
                </a:solidFill>
                <a:cs typeface="Calibri"/>
              </a:rPr>
              <a:t> </a:t>
            </a:r>
            <a:r>
              <a:rPr sz="2000" dirty="0">
                <a:solidFill>
                  <a:prstClr val="black"/>
                </a:solidFill>
                <a:cs typeface="Calibri"/>
              </a:rPr>
              <a:t>&lt;&lt;</a:t>
            </a:r>
            <a:r>
              <a:rPr sz="2000" spc="-10" dirty="0">
                <a:solidFill>
                  <a:prstClr val="black"/>
                </a:solidFill>
                <a:cs typeface="Calibri"/>
              </a:rPr>
              <a:t> endl;</a:t>
            </a:r>
            <a:endParaRPr sz="2000">
              <a:solidFill>
                <a:prstClr val="black"/>
              </a:solidFill>
              <a:cs typeface="Calibri"/>
            </a:endParaRPr>
          </a:p>
          <a:p>
            <a:pPr>
              <a:spcBef>
                <a:spcPts val="930"/>
              </a:spcBef>
            </a:pPr>
            <a:endParaRPr sz="2000">
              <a:solidFill>
                <a:prstClr val="black"/>
              </a:solidFill>
              <a:cs typeface="Calibri"/>
            </a:endParaRPr>
          </a:p>
          <a:p>
            <a:pPr marL="412115"/>
            <a:r>
              <a:rPr sz="2000" dirty="0">
                <a:solidFill>
                  <a:prstClr val="black"/>
                </a:solidFill>
                <a:cs typeface="Calibri"/>
              </a:rPr>
              <a:t>cout</a:t>
            </a:r>
            <a:r>
              <a:rPr sz="2000" spc="-40" dirty="0">
                <a:solidFill>
                  <a:prstClr val="black"/>
                </a:solidFill>
                <a:cs typeface="Calibri"/>
              </a:rPr>
              <a:t> </a:t>
            </a:r>
            <a:r>
              <a:rPr sz="2000" dirty="0">
                <a:solidFill>
                  <a:prstClr val="black"/>
                </a:solidFill>
                <a:cs typeface="Calibri"/>
              </a:rPr>
              <a:t>&lt;&lt;</a:t>
            </a:r>
            <a:r>
              <a:rPr sz="2000" spc="-30" dirty="0">
                <a:solidFill>
                  <a:prstClr val="black"/>
                </a:solidFill>
                <a:cs typeface="Calibri"/>
              </a:rPr>
              <a:t> </a:t>
            </a:r>
            <a:r>
              <a:rPr sz="2000" dirty="0">
                <a:solidFill>
                  <a:prstClr val="black"/>
                </a:solidFill>
                <a:cs typeface="Calibri"/>
              </a:rPr>
              <a:t>hex</a:t>
            </a:r>
            <a:r>
              <a:rPr sz="2000" spc="-25" dirty="0">
                <a:solidFill>
                  <a:prstClr val="black"/>
                </a:solidFill>
                <a:cs typeface="Calibri"/>
              </a:rPr>
              <a:t> </a:t>
            </a:r>
            <a:r>
              <a:rPr sz="2000" dirty="0">
                <a:solidFill>
                  <a:prstClr val="black"/>
                </a:solidFill>
                <a:cs typeface="Calibri"/>
              </a:rPr>
              <a:t>&lt;&lt;</a:t>
            </a:r>
            <a:r>
              <a:rPr sz="2000" spc="-35" dirty="0">
                <a:solidFill>
                  <a:prstClr val="black"/>
                </a:solidFill>
                <a:cs typeface="Calibri"/>
              </a:rPr>
              <a:t> </a:t>
            </a:r>
            <a:r>
              <a:rPr sz="2000" spc="-20" dirty="0">
                <a:solidFill>
                  <a:prstClr val="black"/>
                </a:solidFill>
                <a:cs typeface="Calibri"/>
              </a:rPr>
              <a:t>var;</a:t>
            </a:r>
            <a:endParaRPr sz="2000">
              <a:solidFill>
                <a:prstClr val="black"/>
              </a:solidFill>
              <a:cs typeface="Calibri"/>
            </a:endParaRPr>
          </a:p>
        </p:txBody>
      </p:sp>
      <p:pic>
        <p:nvPicPr>
          <p:cNvPr id="4" name="object 4"/>
          <p:cNvPicPr/>
          <p:nvPr/>
        </p:nvPicPr>
        <p:blipFill>
          <a:blip r:embed="rId2" cstate="print"/>
          <a:stretch>
            <a:fillRect/>
          </a:stretch>
        </p:blipFill>
        <p:spPr>
          <a:xfrm>
            <a:off x="5617464" y="2236802"/>
            <a:ext cx="6080759" cy="3310987"/>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5</a:t>
            </a:r>
            <a:endParaRPr sz="2400">
              <a:solidFill>
                <a:prstClr val="black"/>
              </a:solidFill>
              <a:latin typeface="Times New Roman"/>
              <a:cs typeface="Times New Roman"/>
            </a:endParaRPr>
          </a:p>
        </p:txBody>
      </p:sp>
      <p:sp>
        <p:nvSpPr>
          <p:cNvPr id="7" name="object 7"/>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8" name="object 8"/>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9" name="Date Placeholder 8">
            <a:extLst>
              <a:ext uri="{FF2B5EF4-FFF2-40B4-BE49-F238E27FC236}">
                <a16:creationId xmlns:a16="http://schemas.microsoft.com/office/drawing/2014/main" id="{046C8ECD-73B4-330D-45ED-36024B308F6D}"/>
              </a:ext>
            </a:extLst>
          </p:cNvPr>
          <p:cNvSpPr>
            <a:spLocks noGrp="1"/>
          </p:cNvSpPr>
          <p:nvPr>
            <p:ph type="dt" sz="half" idx="10"/>
          </p:nvPr>
        </p:nvSpPr>
        <p:spPr/>
        <p:txBody>
          <a:bodyPr/>
          <a:lstStyle/>
          <a:p>
            <a:fld id="{3F40E663-FE6D-4D17-84AC-9C2A6F0F18A0}" type="datetime1">
              <a:rPr lang="en-US" smtClean="0">
                <a:solidFill>
                  <a:prstClr val="black">
                    <a:tint val="75000"/>
                  </a:prstClr>
                </a:solidFill>
              </a:rPr>
              <a:pPr/>
              <a:t>11/17/2025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E104F8DE-EF20-78B8-E2E2-8117C3AABCD8}"/>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73</a:t>
            </a:fld>
            <a:endParaRPr spc="-25" dirty="0">
              <a:solidFill>
                <a:prstClr val="black">
                  <a:tint val="75000"/>
                </a:prstClr>
              </a:solidFill>
            </a:endParaRPr>
          </a:p>
        </p:txBody>
      </p:sp>
    </p:spTree>
    <p:extLst>
      <p:ext uri="{BB962C8B-B14F-4D97-AF65-F5344CB8AC3E}">
        <p14:creationId xmlns:p14="http://schemas.microsoft.com/office/powerpoint/2010/main" val="21410123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30" dirty="0"/>
              <a:t> </a:t>
            </a:r>
            <a:r>
              <a:rPr b="1" dirty="0">
                <a:latin typeface="Times New Roman"/>
                <a:cs typeface="Times New Roman"/>
              </a:rPr>
              <a:t>ios</a:t>
            </a:r>
            <a:r>
              <a:rPr b="1" spc="-25" dirty="0">
                <a:latin typeface="Times New Roman"/>
                <a:cs typeface="Times New Roman"/>
              </a:rPr>
              <a:t> </a:t>
            </a:r>
            <a:r>
              <a:rPr spc="-10" dirty="0"/>
              <a:t>Class</a:t>
            </a:r>
          </a:p>
        </p:txBody>
      </p:sp>
      <p:sp>
        <p:nvSpPr>
          <p:cNvPr id="10" name="object 10"/>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2203780"/>
            <a:ext cx="3315970" cy="331470"/>
          </a:xfrm>
          <a:prstGeom prst="rect">
            <a:avLst/>
          </a:prstGeom>
        </p:spPr>
        <p:txBody>
          <a:bodyPr vert="horz" wrap="square" lIns="0" tIns="13335" rIns="0" bIns="0" rtlCol="0">
            <a:spAutoFit/>
          </a:bodyPr>
          <a:lstStyle/>
          <a:p>
            <a:pPr marL="12700">
              <a:spcBef>
                <a:spcPts val="105"/>
              </a:spcBef>
            </a:pPr>
            <a:r>
              <a:rPr sz="2000" b="1" dirty="0">
                <a:solidFill>
                  <a:prstClr val="black"/>
                </a:solidFill>
                <a:latin typeface="Times New Roman"/>
                <a:cs typeface="Times New Roman"/>
              </a:rPr>
              <a:t>Manipulators</a:t>
            </a:r>
            <a:r>
              <a:rPr sz="2000" b="1" spc="-50" dirty="0">
                <a:solidFill>
                  <a:prstClr val="black"/>
                </a:solidFill>
                <a:latin typeface="Times New Roman"/>
                <a:cs typeface="Times New Roman"/>
              </a:rPr>
              <a:t> </a:t>
            </a:r>
            <a:r>
              <a:rPr sz="2000" b="1" spc="-10" dirty="0">
                <a:solidFill>
                  <a:prstClr val="black"/>
                </a:solidFill>
                <a:latin typeface="Times New Roman"/>
                <a:cs typeface="Times New Roman"/>
              </a:rPr>
              <a:t>with</a:t>
            </a:r>
            <a:r>
              <a:rPr sz="2000" b="1" spc="-105" dirty="0">
                <a:solidFill>
                  <a:prstClr val="black"/>
                </a:solidFill>
                <a:latin typeface="Times New Roman"/>
                <a:cs typeface="Times New Roman"/>
              </a:rPr>
              <a:t> </a:t>
            </a:r>
            <a:r>
              <a:rPr sz="2000" b="1" spc="-10" dirty="0">
                <a:solidFill>
                  <a:prstClr val="black"/>
                </a:solidFill>
                <a:latin typeface="Times New Roman"/>
                <a:cs typeface="Times New Roman"/>
              </a:rPr>
              <a:t>Arguments</a:t>
            </a:r>
            <a:endParaRPr sz="2000">
              <a:solidFill>
                <a:prstClr val="black"/>
              </a:solidFill>
              <a:latin typeface="Times New Roman"/>
              <a:cs typeface="Times New Roman"/>
            </a:endParaRPr>
          </a:p>
        </p:txBody>
      </p:sp>
      <p:sp>
        <p:nvSpPr>
          <p:cNvPr id="4" name="object 4"/>
          <p:cNvSpPr txBox="1"/>
          <p:nvPr/>
        </p:nvSpPr>
        <p:spPr>
          <a:xfrm>
            <a:off x="916939" y="2570226"/>
            <a:ext cx="3729354" cy="2333625"/>
          </a:xfrm>
          <a:prstGeom prst="rect">
            <a:avLst/>
          </a:prstGeom>
        </p:spPr>
        <p:txBody>
          <a:bodyPr vert="horz" wrap="square" lIns="0" tIns="13335" rIns="0" bIns="0" rtlCol="0">
            <a:spAutoFit/>
          </a:bodyPr>
          <a:lstStyle/>
          <a:p>
            <a:pPr marL="355600" marR="24130" indent="-343535">
              <a:spcBef>
                <a:spcPts val="105"/>
              </a:spcBef>
              <a:buFontTx/>
              <a:buChar char="•"/>
              <a:tabLst>
                <a:tab pos="355600" algn="l"/>
              </a:tabLst>
            </a:pPr>
            <a:r>
              <a:rPr sz="2000" dirty="0">
                <a:solidFill>
                  <a:prstClr val="black"/>
                </a:solidFill>
                <a:latin typeface="Times New Roman"/>
                <a:cs typeface="Times New Roman"/>
              </a:rPr>
              <a:t>Manipulators</a:t>
            </a:r>
            <a:r>
              <a:rPr sz="2000" spc="-55" dirty="0">
                <a:solidFill>
                  <a:prstClr val="black"/>
                </a:solidFill>
                <a:latin typeface="Times New Roman"/>
                <a:cs typeface="Times New Roman"/>
              </a:rPr>
              <a:t> </a:t>
            </a:r>
            <a:r>
              <a:rPr sz="2000" dirty="0">
                <a:solidFill>
                  <a:prstClr val="black"/>
                </a:solidFill>
                <a:latin typeface="Times New Roman"/>
                <a:cs typeface="Times New Roman"/>
              </a:rPr>
              <a:t>are</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formatting </a:t>
            </a:r>
            <a:r>
              <a:rPr sz="2000" dirty="0">
                <a:solidFill>
                  <a:prstClr val="black"/>
                </a:solidFill>
                <a:latin typeface="Times New Roman"/>
                <a:cs typeface="Times New Roman"/>
              </a:rPr>
              <a:t>instructions</a:t>
            </a:r>
            <a:r>
              <a:rPr sz="2000" spc="-55" dirty="0">
                <a:solidFill>
                  <a:prstClr val="black"/>
                </a:solidFill>
                <a:latin typeface="Times New Roman"/>
                <a:cs typeface="Times New Roman"/>
              </a:rPr>
              <a:t> </a:t>
            </a:r>
            <a:r>
              <a:rPr sz="2000" dirty="0">
                <a:solidFill>
                  <a:prstClr val="black"/>
                </a:solidFill>
                <a:latin typeface="Times New Roman"/>
                <a:cs typeface="Times New Roman"/>
              </a:rPr>
              <a:t>inserted</a:t>
            </a:r>
            <a:r>
              <a:rPr sz="2000" spc="-55" dirty="0">
                <a:solidFill>
                  <a:prstClr val="black"/>
                </a:solidFill>
                <a:latin typeface="Times New Roman"/>
                <a:cs typeface="Times New Roman"/>
              </a:rPr>
              <a:t> </a:t>
            </a:r>
            <a:r>
              <a:rPr sz="2000" dirty="0">
                <a:solidFill>
                  <a:prstClr val="black"/>
                </a:solidFill>
                <a:latin typeface="Times New Roman"/>
                <a:cs typeface="Times New Roman"/>
              </a:rPr>
              <a:t>directly</a:t>
            </a:r>
            <a:r>
              <a:rPr sz="2000" spc="-40" dirty="0">
                <a:solidFill>
                  <a:prstClr val="black"/>
                </a:solidFill>
                <a:latin typeface="Times New Roman"/>
                <a:cs typeface="Times New Roman"/>
              </a:rPr>
              <a:t> </a:t>
            </a:r>
            <a:r>
              <a:rPr sz="2000" spc="-20" dirty="0">
                <a:solidFill>
                  <a:prstClr val="black"/>
                </a:solidFill>
                <a:latin typeface="Times New Roman"/>
                <a:cs typeface="Times New Roman"/>
              </a:rPr>
              <a:t>into </a:t>
            </a:r>
            <a:r>
              <a:rPr sz="2000" dirty="0">
                <a:solidFill>
                  <a:prstClr val="black"/>
                </a:solidFill>
                <a:latin typeface="Times New Roman"/>
                <a:cs typeface="Times New Roman"/>
              </a:rPr>
              <a:t>a </a:t>
            </a:r>
            <a:r>
              <a:rPr sz="2000" spc="-10" dirty="0">
                <a:solidFill>
                  <a:prstClr val="black"/>
                </a:solidFill>
                <a:latin typeface="Times New Roman"/>
                <a:cs typeface="Times New Roman"/>
              </a:rPr>
              <a:t>stream.</a:t>
            </a:r>
            <a:endParaRPr sz="2000">
              <a:solidFill>
                <a:prstClr val="black"/>
              </a:solidFill>
              <a:latin typeface="Times New Roman"/>
              <a:cs typeface="Times New Roman"/>
            </a:endParaRPr>
          </a:p>
          <a:p>
            <a:pPr marL="355600" marR="5080" indent="-343535">
              <a:lnSpc>
                <a:spcPct val="99000"/>
              </a:lnSpc>
              <a:spcBef>
                <a:spcPts val="500"/>
              </a:spcBef>
              <a:buFontTx/>
              <a:buChar char="•"/>
              <a:tabLst>
                <a:tab pos="355600" algn="l"/>
              </a:tabLst>
            </a:pPr>
            <a:r>
              <a:rPr sz="2000" dirty="0">
                <a:solidFill>
                  <a:prstClr val="black"/>
                </a:solidFill>
                <a:latin typeface="Times New Roman"/>
                <a:cs typeface="Times New Roman"/>
              </a:rPr>
              <a:t>Manipulators</a:t>
            </a:r>
            <a:r>
              <a:rPr sz="2000" spc="-65" dirty="0">
                <a:solidFill>
                  <a:prstClr val="black"/>
                </a:solidFill>
                <a:latin typeface="Times New Roman"/>
                <a:cs typeface="Times New Roman"/>
              </a:rPr>
              <a:t> </a:t>
            </a:r>
            <a:r>
              <a:rPr sz="2000" dirty="0">
                <a:solidFill>
                  <a:prstClr val="black"/>
                </a:solidFill>
                <a:latin typeface="Times New Roman"/>
                <a:cs typeface="Times New Roman"/>
              </a:rPr>
              <a:t>affect</a:t>
            </a:r>
            <a:r>
              <a:rPr sz="2000" spc="-40" dirty="0">
                <a:solidFill>
                  <a:prstClr val="black"/>
                </a:solidFill>
                <a:latin typeface="Times New Roman"/>
                <a:cs typeface="Times New Roman"/>
              </a:rPr>
              <a:t> </a:t>
            </a:r>
            <a:r>
              <a:rPr sz="2000" dirty="0">
                <a:solidFill>
                  <a:prstClr val="black"/>
                </a:solidFill>
                <a:latin typeface="Times New Roman"/>
                <a:cs typeface="Times New Roman"/>
              </a:rPr>
              <a:t>only</a:t>
            </a:r>
            <a:r>
              <a:rPr sz="2000" spc="-50"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spc="-20" dirty="0">
                <a:solidFill>
                  <a:prstClr val="black"/>
                </a:solidFill>
                <a:latin typeface="Times New Roman"/>
                <a:cs typeface="Times New Roman"/>
              </a:rPr>
              <a:t>data </a:t>
            </a:r>
            <a:r>
              <a:rPr sz="2000" dirty="0">
                <a:solidFill>
                  <a:prstClr val="black"/>
                </a:solidFill>
                <a:latin typeface="Times New Roman"/>
                <a:cs typeface="Times New Roman"/>
              </a:rPr>
              <a:t>that</a:t>
            </a:r>
            <a:r>
              <a:rPr sz="2000" spc="-20" dirty="0">
                <a:solidFill>
                  <a:prstClr val="black"/>
                </a:solidFill>
                <a:latin typeface="Times New Roman"/>
                <a:cs typeface="Times New Roman"/>
              </a:rPr>
              <a:t> </a:t>
            </a:r>
            <a:r>
              <a:rPr sz="2000" dirty="0">
                <a:solidFill>
                  <a:prstClr val="black"/>
                </a:solidFill>
                <a:latin typeface="Times New Roman"/>
                <a:cs typeface="Times New Roman"/>
              </a:rPr>
              <a:t>follows</a:t>
            </a:r>
            <a:r>
              <a:rPr sz="2000" spc="-50" dirty="0">
                <a:solidFill>
                  <a:prstClr val="black"/>
                </a:solidFill>
                <a:latin typeface="Times New Roman"/>
                <a:cs typeface="Times New Roman"/>
              </a:rPr>
              <a:t> </a:t>
            </a:r>
            <a:r>
              <a:rPr sz="2000" dirty="0">
                <a:solidFill>
                  <a:prstClr val="black"/>
                </a:solidFill>
                <a:latin typeface="Times New Roman"/>
                <a:cs typeface="Times New Roman"/>
              </a:rPr>
              <a:t>them</a:t>
            </a:r>
            <a:r>
              <a:rPr sz="2000" spc="-25" dirty="0">
                <a:solidFill>
                  <a:prstClr val="black"/>
                </a:solidFill>
                <a:latin typeface="Times New Roman"/>
                <a:cs typeface="Times New Roman"/>
              </a:rPr>
              <a:t> </a:t>
            </a:r>
            <a:r>
              <a:rPr sz="2000" dirty="0">
                <a:solidFill>
                  <a:prstClr val="black"/>
                </a:solidFill>
                <a:latin typeface="Times New Roman"/>
                <a:cs typeface="Times New Roman"/>
              </a:rPr>
              <a:t>in</a:t>
            </a:r>
            <a:r>
              <a:rPr sz="2000" spc="-5" dirty="0">
                <a:solidFill>
                  <a:prstClr val="black"/>
                </a:solidFill>
                <a:latin typeface="Times New Roman"/>
                <a:cs typeface="Times New Roman"/>
              </a:rPr>
              <a:t> </a:t>
            </a:r>
            <a:r>
              <a:rPr sz="2000" dirty="0">
                <a:solidFill>
                  <a:prstClr val="black"/>
                </a:solidFill>
                <a:latin typeface="Times New Roman"/>
                <a:cs typeface="Times New Roman"/>
              </a:rPr>
              <a:t>the </a:t>
            </a:r>
            <a:r>
              <a:rPr sz="2000" spc="-10" dirty="0">
                <a:solidFill>
                  <a:prstClr val="black"/>
                </a:solidFill>
                <a:latin typeface="Times New Roman"/>
                <a:cs typeface="Times New Roman"/>
              </a:rPr>
              <a:t>stream, </a:t>
            </a:r>
            <a:r>
              <a:rPr sz="2000" dirty="0">
                <a:solidFill>
                  <a:prstClr val="black"/>
                </a:solidFill>
                <a:latin typeface="Times New Roman"/>
                <a:cs typeface="Times New Roman"/>
              </a:rPr>
              <a:t>not</a:t>
            </a:r>
            <a:r>
              <a:rPr sz="2000" spc="-30" dirty="0">
                <a:solidFill>
                  <a:prstClr val="black"/>
                </a:solidFill>
                <a:latin typeface="Times New Roman"/>
                <a:cs typeface="Times New Roman"/>
              </a:rPr>
              <a:t> </a:t>
            </a:r>
            <a:r>
              <a:rPr sz="2000" dirty="0">
                <a:solidFill>
                  <a:prstClr val="black"/>
                </a:solidFill>
                <a:latin typeface="Times New Roman"/>
                <a:cs typeface="Times New Roman"/>
              </a:rPr>
              <a:t>the</a:t>
            </a:r>
            <a:r>
              <a:rPr sz="2000" spc="-5" dirty="0">
                <a:solidFill>
                  <a:prstClr val="black"/>
                </a:solidFill>
                <a:latin typeface="Times New Roman"/>
                <a:cs typeface="Times New Roman"/>
              </a:rPr>
              <a:t> </a:t>
            </a:r>
            <a:r>
              <a:rPr sz="2000" dirty="0">
                <a:solidFill>
                  <a:prstClr val="black"/>
                </a:solidFill>
                <a:latin typeface="Times New Roman"/>
                <a:cs typeface="Times New Roman"/>
              </a:rPr>
              <a:t>data</a:t>
            </a:r>
            <a:r>
              <a:rPr sz="2000" spc="-10" dirty="0">
                <a:solidFill>
                  <a:prstClr val="black"/>
                </a:solidFill>
                <a:latin typeface="Times New Roman"/>
                <a:cs typeface="Times New Roman"/>
              </a:rPr>
              <a:t> </a:t>
            </a:r>
            <a:r>
              <a:rPr sz="2000" dirty="0">
                <a:solidFill>
                  <a:prstClr val="black"/>
                </a:solidFill>
                <a:latin typeface="Times New Roman"/>
                <a:cs typeface="Times New Roman"/>
              </a:rPr>
              <a:t>that</a:t>
            </a:r>
            <a:r>
              <a:rPr sz="2000" spc="-25" dirty="0">
                <a:solidFill>
                  <a:prstClr val="black"/>
                </a:solidFill>
                <a:latin typeface="Times New Roman"/>
                <a:cs typeface="Times New Roman"/>
              </a:rPr>
              <a:t> </a:t>
            </a:r>
            <a:r>
              <a:rPr sz="2000" dirty="0">
                <a:solidFill>
                  <a:prstClr val="black"/>
                </a:solidFill>
                <a:latin typeface="Times New Roman"/>
                <a:cs typeface="Times New Roman"/>
              </a:rPr>
              <a:t>precedes</a:t>
            </a:r>
            <a:r>
              <a:rPr sz="2000" spc="-30" dirty="0">
                <a:solidFill>
                  <a:prstClr val="black"/>
                </a:solidFill>
                <a:latin typeface="Times New Roman"/>
                <a:cs typeface="Times New Roman"/>
              </a:rPr>
              <a:t> </a:t>
            </a:r>
            <a:r>
              <a:rPr sz="2000" spc="-10" dirty="0">
                <a:solidFill>
                  <a:prstClr val="black"/>
                </a:solidFill>
                <a:latin typeface="Times New Roman"/>
                <a:cs typeface="Times New Roman"/>
              </a:rPr>
              <a:t>them.</a:t>
            </a:r>
            <a:endParaRPr sz="2000">
              <a:solidFill>
                <a:prstClr val="black"/>
              </a:solidFill>
              <a:latin typeface="Times New Roman"/>
              <a:cs typeface="Times New Roman"/>
            </a:endParaRPr>
          </a:p>
          <a:p>
            <a:pPr marL="412115">
              <a:spcBef>
                <a:spcPts val="935"/>
              </a:spcBef>
            </a:pPr>
            <a:r>
              <a:rPr sz="2000" dirty="0">
                <a:solidFill>
                  <a:prstClr val="black"/>
                </a:solidFill>
                <a:cs typeface="Calibri"/>
              </a:rPr>
              <a:t>cout</a:t>
            </a:r>
            <a:r>
              <a:rPr sz="2000" spc="-40" dirty="0">
                <a:solidFill>
                  <a:prstClr val="black"/>
                </a:solidFill>
                <a:cs typeface="Calibri"/>
              </a:rPr>
              <a:t> </a:t>
            </a:r>
            <a:r>
              <a:rPr sz="2000" dirty="0">
                <a:solidFill>
                  <a:prstClr val="black"/>
                </a:solidFill>
                <a:cs typeface="Calibri"/>
              </a:rPr>
              <a:t>&lt;&lt;</a:t>
            </a:r>
            <a:r>
              <a:rPr sz="2000" spc="-35" dirty="0">
                <a:solidFill>
                  <a:prstClr val="black"/>
                </a:solidFill>
                <a:cs typeface="Calibri"/>
              </a:rPr>
              <a:t> </a:t>
            </a:r>
            <a:r>
              <a:rPr sz="2000" dirty="0">
                <a:solidFill>
                  <a:prstClr val="black"/>
                </a:solidFill>
                <a:cs typeface="Calibri"/>
              </a:rPr>
              <a:t>setw(20)</a:t>
            </a:r>
            <a:r>
              <a:rPr sz="2000" spc="50" dirty="0">
                <a:solidFill>
                  <a:prstClr val="black"/>
                </a:solidFill>
                <a:cs typeface="Calibri"/>
              </a:rPr>
              <a:t> </a:t>
            </a:r>
            <a:r>
              <a:rPr sz="2000" dirty="0">
                <a:solidFill>
                  <a:prstClr val="black"/>
                </a:solidFill>
                <a:cs typeface="Calibri"/>
              </a:rPr>
              <a:t>&lt;&lt;</a:t>
            </a:r>
            <a:r>
              <a:rPr sz="2000" spc="-35" dirty="0">
                <a:solidFill>
                  <a:prstClr val="black"/>
                </a:solidFill>
                <a:cs typeface="Calibri"/>
              </a:rPr>
              <a:t> </a:t>
            </a:r>
            <a:r>
              <a:rPr sz="2000" spc="-20" dirty="0">
                <a:solidFill>
                  <a:prstClr val="black"/>
                </a:solidFill>
                <a:cs typeface="Calibri"/>
              </a:rPr>
              <a:t>var;</a:t>
            </a:r>
            <a:endParaRPr sz="2000">
              <a:solidFill>
                <a:prstClr val="black"/>
              </a:solidFill>
              <a:cs typeface="Calibri"/>
            </a:endParaRPr>
          </a:p>
        </p:txBody>
      </p:sp>
      <p:grpSp>
        <p:nvGrpSpPr>
          <p:cNvPr id="5" name="object 5"/>
          <p:cNvGrpSpPr/>
          <p:nvPr/>
        </p:nvGrpSpPr>
        <p:grpSpPr>
          <a:xfrm>
            <a:off x="4837176" y="2629239"/>
            <a:ext cx="7222490" cy="2440305"/>
            <a:chOff x="4837176" y="2629239"/>
            <a:chExt cx="7222490" cy="2440305"/>
          </a:xfrm>
        </p:grpSpPr>
        <p:pic>
          <p:nvPicPr>
            <p:cNvPr id="6" name="object 6"/>
            <p:cNvPicPr/>
            <p:nvPr/>
          </p:nvPicPr>
          <p:blipFill>
            <a:blip r:embed="rId2" cstate="print"/>
            <a:stretch>
              <a:fillRect/>
            </a:stretch>
          </p:blipFill>
          <p:spPr>
            <a:xfrm>
              <a:off x="4837176" y="2629239"/>
              <a:ext cx="7222235" cy="2439990"/>
            </a:xfrm>
            <a:prstGeom prst="rect">
              <a:avLst/>
            </a:prstGeom>
          </p:spPr>
        </p:pic>
        <p:sp>
          <p:nvSpPr>
            <p:cNvPr id="7" name="object 7"/>
            <p:cNvSpPr/>
            <p:nvPr/>
          </p:nvSpPr>
          <p:spPr>
            <a:xfrm>
              <a:off x="8122920" y="3360419"/>
              <a:ext cx="279400" cy="257810"/>
            </a:xfrm>
            <a:custGeom>
              <a:avLst/>
              <a:gdLst/>
              <a:ahLst/>
              <a:cxnLst/>
              <a:rect l="l" t="t" r="r" b="b"/>
              <a:pathLst>
                <a:path w="279400" h="257810">
                  <a:moveTo>
                    <a:pt x="278892" y="0"/>
                  </a:moveTo>
                  <a:lnTo>
                    <a:pt x="0" y="0"/>
                  </a:lnTo>
                  <a:lnTo>
                    <a:pt x="0" y="257555"/>
                  </a:lnTo>
                  <a:lnTo>
                    <a:pt x="278892" y="257555"/>
                  </a:lnTo>
                  <a:lnTo>
                    <a:pt x="278892" y="0"/>
                  </a:lnTo>
                  <a:close/>
                </a:path>
              </a:pathLst>
            </a:custGeom>
            <a:solidFill>
              <a:srgbClr val="FFFFFF"/>
            </a:solidFill>
          </p:spPr>
          <p:txBody>
            <a:bodyPr wrap="square" lIns="0" tIns="0" rIns="0" bIns="0" rtlCol="0"/>
            <a:lstStyle/>
            <a:p>
              <a:endParaRPr>
                <a:solidFill>
                  <a:prstClr val="black"/>
                </a:solidFill>
              </a:endParaRPr>
            </a:p>
          </p:txBody>
        </p:sp>
        <p:sp>
          <p:nvSpPr>
            <p:cNvPr id="8" name="object 8"/>
            <p:cNvSpPr/>
            <p:nvPr/>
          </p:nvSpPr>
          <p:spPr>
            <a:xfrm>
              <a:off x="8122920" y="3360419"/>
              <a:ext cx="279400" cy="257810"/>
            </a:xfrm>
            <a:custGeom>
              <a:avLst/>
              <a:gdLst/>
              <a:ahLst/>
              <a:cxnLst/>
              <a:rect l="l" t="t" r="r" b="b"/>
              <a:pathLst>
                <a:path w="279400" h="257810">
                  <a:moveTo>
                    <a:pt x="0" y="257555"/>
                  </a:moveTo>
                  <a:lnTo>
                    <a:pt x="278892" y="257555"/>
                  </a:lnTo>
                  <a:lnTo>
                    <a:pt x="278892" y="0"/>
                  </a:lnTo>
                  <a:lnTo>
                    <a:pt x="0" y="0"/>
                  </a:lnTo>
                  <a:lnTo>
                    <a:pt x="0" y="257555"/>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9" name="object 9"/>
          <p:cNvSpPr txBox="1"/>
          <p:nvPr/>
        </p:nvSpPr>
        <p:spPr>
          <a:xfrm>
            <a:off x="8143747" y="3288029"/>
            <a:ext cx="242570" cy="299720"/>
          </a:xfrm>
          <a:prstGeom prst="rect">
            <a:avLst/>
          </a:prstGeom>
        </p:spPr>
        <p:txBody>
          <a:bodyPr vert="horz" wrap="square" lIns="0" tIns="12700" rIns="0" bIns="0" rtlCol="0">
            <a:spAutoFit/>
          </a:bodyPr>
          <a:lstStyle/>
          <a:p>
            <a:pPr marL="12700">
              <a:spcBef>
                <a:spcPts val="100"/>
              </a:spcBef>
            </a:pPr>
            <a:r>
              <a:rPr spc="-25" dirty="0">
                <a:solidFill>
                  <a:prstClr val="black"/>
                </a:solidFill>
                <a:latin typeface="Times New Roman"/>
                <a:cs typeface="Times New Roman"/>
              </a:rPr>
              <a:t>ch</a:t>
            </a:r>
            <a:endParaRPr>
              <a:solidFill>
                <a:prstClr val="black"/>
              </a:solidFill>
              <a:latin typeface="Times New Roman"/>
              <a:cs typeface="Times New Roman"/>
            </a:endParaRPr>
          </a:p>
        </p:txBody>
      </p:sp>
      <p:sp>
        <p:nvSpPr>
          <p:cNvPr id="11" name="object 11"/>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6</a:t>
            </a:r>
            <a:endParaRPr sz="2400">
              <a:solidFill>
                <a:prstClr val="black"/>
              </a:solidFill>
              <a:latin typeface="Times New Roman"/>
              <a:cs typeface="Times New Roman"/>
            </a:endParaRPr>
          </a:p>
        </p:txBody>
      </p:sp>
      <p:sp>
        <p:nvSpPr>
          <p:cNvPr id="12" name="object 12"/>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3" name="object 13"/>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4" name="Date Placeholder 13">
            <a:extLst>
              <a:ext uri="{FF2B5EF4-FFF2-40B4-BE49-F238E27FC236}">
                <a16:creationId xmlns:a16="http://schemas.microsoft.com/office/drawing/2014/main" id="{E099CC8A-651F-737D-ACBF-699F45CDD486}"/>
              </a:ext>
            </a:extLst>
          </p:cNvPr>
          <p:cNvSpPr>
            <a:spLocks noGrp="1"/>
          </p:cNvSpPr>
          <p:nvPr>
            <p:ph type="dt" sz="half" idx="10"/>
          </p:nvPr>
        </p:nvSpPr>
        <p:spPr/>
        <p:txBody>
          <a:bodyPr/>
          <a:lstStyle/>
          <a:p>
            <a:fld id="{E1AA5520-885B-41B2-8064-10B5E0EEA852}" type="datetime1">
              <a:rPr lang="en-US" smtClean="0">
                <a:solidFill>
                  <a:prstClr val="black">
                    <a:tint val="75000"/>
                  </a:prstClr>
                </a:solidFill>
              </a:rPr>
              <a:pPr/>
              <a:t>11/17/2025</a:t>
            </a:fld>
            <a:endParaRPr lang="en-US">
              <a:solidFill>
                <a:prstClr val="black">
                  <a:tint val="75000"/>
                </a:prstClr>
              </a:solidFill>
            </a:endParaRPr>
          </a:p>
        </p:txBody>
      </p:sp>
      <p:sp>
        <p:nvSpPr>
          <p:cNvPr id="16" name="Slide Number Placeholder 15">
            <a:extLst>
              <a:ext uri="{FF2B5EF4-FFF2-40B4-BE49-F238E27FC236}">
                <a16:creationId xmlns:a16="http://schemas.microsoft.com/office/drawing/2014/main" id="{C030C8A9-88A4-6281-9EB5-08B1E5D6643D}"/>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74</a:t>
            </a:fld>
            <a:endParaRPr spc="-25" dirty="0">
              <a:solidFill>
                <a:prstClr val="black">
                  <a:tint val="75000"/>
                </a:prstClr>
              </a:solidFill>
            </a:endParaRPr>
          </a:p>
        </p:txBody>
      </p:sp>
    </p:spTree>
    <p:extLst>
      <p:ext uri="{BB962C8B-B14F-4D97-AF65-F5344CB8AC3E}">
        <p14:creationId xmlns:p14="http://schemas.microsoft.com/office/powerpoint/2010/main" val="15885762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00" dirty="0"/>
              <a:t> </a:t>
            </a:r>
            <a:r>
              <a:rPr b="1" dirty="0">
                <a:latin typeface="Times New Roman"/>
                <a:cs typeface="Times New Roman"/>
              </a:rPr>
              <a:t>istream</a:t>
            </a:r>
            <a:r>
              <a:rPr b="1" spc="-90" dirty="0">
                <a:latin typeface="Times New Roman"/>
                <a:cs typeface="Times New Roman"/>
              </a:rPr>
              <a:t> </a:t>
            </a:r>
            <a:r>
              <a:rPr spc="-10" dirty="0"/>
              <a:t>Class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grpSp>
        <p:nvGrpSpPr>
          <p:cNvPr id="3" name="object 3"/>
          <p:cNvGrpSpPr/>
          <p:nvPr/>
        </p:nvGrpSpPr>
        <p:grpSpPr>
          <a:xfrm>
            <a:off x="5020055" y="727836"/>
            <a:ext cx="7078980" cy="6007100"/>
            <a:chOff x="5020055" y="727836"/>
            <a:chExt cx="7078980" cy="6007100"/>
          </a:xfrm>
        </p:grpSpPr>
        <p:pic>
          <p:nvPicPr>
            <p:cNvPr id="4" name="object 4"/>
            <p:cNvPicPr/>
            <p:nvPr/>
          </p:nvPicPr>
          <p:blipFill>
            <a:blip r:embed="rId2" cstate="print"/>
            <a:stretch>
              <a:fillRect/>
            </a:stretch>
          </p:blipFill>
          <p:spPr>
            <a:xfrm>
              <a:off x="5020055" y="727836"/>
              <a:ext cx="6902196" cy="1156668"/>
            </a:xfrm>
            <a:prstGeom prst="rect">
              <a:avLst/>
            </a:prstGeom>
          </p:spPr>
        </p:pic>
        <p:pic>
          <p:nvPicPr>
            <p:cNvPr id="5" name="object 5"/>
            <p:cNvPicPr/>
            <p:nvPr/>
          </p:nvPicPr>
          <p:blipFill>
            <a:blip r:embed="rId3" cstate="print"/>
            <a:stretch>
              <a:fillRect/>
            </a:stretch>
          </p:blipFill>
          <p:spPr>
            <a:xfrm>
              <a:off x="5020055" y="1915666"/>
              <a:ext cx="7078980" cy="4818886"/>
            </a:xfrm>
            <a:prstGeom prst="rect">
              <a:avLst/>
            </a:prstGeom>
          </p:spPr>
        </p:pic>
      </p:grpSp>
      <p:sp>
        <p:nvSpPr>
          <p:cNvPr id="7" name="object 7"/>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7</a:t>
            </a:r>
            <a:endParaRPr sz="2400">
              <a:solidFill>
                <a:prstClr val="black"/>
              </a:solidFill>
              <a:latin typeface="Times New Roman"/>
              <a:cs typeface="Times New Roman"/>
            </a:endParaRPr>
          </a:p>
        </p:txBody>
      </p:sp>
      <p:sp>
        <p:nvSpPr>
          <p:cNvPr id="8" name="object 8"/>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9" name="object 9"/>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0" name="Date Placeholder 9">
            <a:extLst>
              <a:ext uri="{FF2B5EF4-FFF2-40B4-BE49-F238E27FC236}">
                <a16:creationId xmlns:a16="http://schemas.microsoft.com/office/drawing/2014/main" id="{F3783826-E30A-FC80-F7AB-395C72E62BD5}"/>
              </a:ext>
            </a:extLst>
          </p:cNvPr>
          <p:cNvSpPr>
            <a:spLocks noGrp="1"/>
          </p:cNvSpPr>
          <p:nvPr>
            <p:ph type="dt" sz="half" idx="10"/>
          </p:nvPr>
        </p:nvSpPr>
        <p:spPr/>
        <p:txBody>
          <a:bodyPr/>
          <a:lstStyle/>
          <a:p>
            <a:fld id="{F568BCC3-8998-4251-95D6-26EF6CEE16F7}" type="datetime1">
              <a:rPr lang="en-US" smtClean="0">
                <a:solidFill>
                  <a:prstClr val="black">
                    <a:tint val="75000"/>
                  </a:prstClr>
                </a:solidFill>
              </a:rPr>
              <a:pPr/>
              <a:t>11/17/2025</a:t>
            </a:fld>
            <a:endParaRPr lang="en-US">
              <a:solidFill>
                <a:prstClr val="black">
                  <a:tint val="75000"/>
                </a:prstClr>
              </a:solidFill>
            </a:endParaRPr>
          </a:p>
        </p:txBody>
      </p:sp>
      <p:sp>
        <p:nvSpPr>
          <p:cNvPr id="12" name="Slide Number Placeholder 11">
            <a:extLst>
              <a:ext uri="{FF2B5EF4-FFF2-40B4-BE49-F238E27FC236}">
                <a16:creationId xmlns:a16="http://schemas.microsoft.com/office/drawing/2014/main" id="{F9CDB175-2F07-F923-7E48-35FAD105AE44}"/>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75</a:t>
            </a:fld>
            <a:endParaRPr spc="-25" dirty="0">
              <a:solidFill>
                <a:prstClr val="black">
                  <a:tint val="75000"/>
                </a:prstClr>
              </a:solidFill>
            </a:endParaRPr>
          </a:p>
        </p:txBody>
      </p:sp>
    </p:spTree>
    <p:extLst>
      <p:ext uri="{BB962C8B-B14F-4D97-AF65-F5344CB8AC3E}">
        <p14:creationId xmlns:p14="http://schemas.microsoft.com/office/powerpoint/2010/main" val="3606202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The</a:t>
            </a:r>
            <a:r>
              <a:rPr spc="-105" dirty="0"/>
              <a:t> </a:t>
            </a:r>
            <a:r>
              <a:rPr b="1" dirty="0">
                <a:latin typeface="Times New Roman"/>
                <a:cs typeface="Times New Roman"/>
              </a:rPr>
              <a:t>ostream</a:t>
            </a:r>
            <a:r>
              <a:rPr b="1" spc="-95" dirty="0">
                <a:latin typeface="Times New Roman"/>
                <a:cs typeface="Times New Roman"/>
              </a:rPr>
              <a:t> </a:t>
            </a:r>
            <a:r>
              <a:rPr spc="-10" dirty="0"/>
              <a:t>Class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pic>
        <p:nvPicPr>
          <p:cNvPr id="3" name="object 3"/>
          <p:cNvPicPr/>
          <p:nvPr/>
        </p:nvPicPr>
        <p:blipFill>
          <a:blip r:embed="rId2" cstate="print"/>
          <a:stretch>
            <a:fillRect/>
          </a:stretch>
        </p:blipFill>
        <p:spPr>
          <a:xfrm>
            <a:off x="3555491" y="2525005"/>
            <a:ext cx="7569708" cy="1602380"/>
          </a:xfrm>
          <a:prstGeom prst="rect">
            <a:avLst/>
          </a:prstGeom>
        </p:spPr>
      </p:pic>
      <p:pic>
        <p:nvPicPr>
          <p:cNvPr id="4" name="object 4"/>
          <p:cNvPicPr/>
          <p:nvPr/>
        </p:nvPicPr>
        <p:blipFill>
          <a:blip r:embed="rId3" cstate="print"/>
          <a:stretch>
            <a:fillRect/>
          </a:stretch>
        </p:blipFill>
        <p:spPr>
          <a:xfrm>
            <a:off x="3555491" y="4297628"/>
            <a:ext cx="7798308" cy="1179317"/>
          </a:xfrm>
          <a:prstGeom prst="rect">
            <a:avLst/>
          </a:prstGeom>
        </p:spPr>
      </p:pic>
      <p:sp>
        <p:nvSpPr>
          <p:cNvPr id="6" name="object 6"/>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8</a:t>
            </a:r>
            <a:endParaRPr sz="2400">
              <a:solidFill>
                <a:prstClr val="black"/>
              </a:solidFill>
              <a:latin typeface="Times New Roman"/>
              <a:cs typeface="Times New Roman"/>
            </a:endParaRPr>
          </a:p>
        </p:txBody>
      </p:sp>
      <p:sp>
        <p:nvSpPr>
          <p:cNvPr id="7" name="object 7"/>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8" name="object 8"/>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9" name="Date Placeholder 8">
            <a:extLst>
              <a:ext uri="{FF2B5EF4-FFF2-40B4-BE49-F238E27FC236}">
                <a16:creationId xmlns:a16="http://schemas.microsoft.com/office/drawing/2014/main" id="{FCCE0953-923C-99BD-5486-DE21FE1B3175}"/>
              </a:ext>
            </a:extLst>
          </p:cNvPr>
          <p:cNvSpPr>
            <a:spLocks noGrp="1"/>
          </p:cNvSpPr>
          <p:nvPr>
            <p:ph type="dt" sz="half" idx="10"/>
          </p:nvPr>
        </p:nvSpPr>
        <p:spPr/>
        <p:txBody>
          <a:bodyPr/>
          <a:lstStyle/>
          <a:p>
            <a:fld id="{61F21457-0E15-40C6-BA86-427F430F6F08}" type="datetime1">
              <a:rPr lang="en-US" smtClean="0">
                <a:solidFill>
                  <a:prstClr val="black">
                    <a:tint val="75000"/>
                  </a:prstClr>
                </a:solidFill>
              </a:rPr>
              <a:pPr/>
              <a:t>11/17/2025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627959C3-C25E-8BE0-2B6D-E6B5FEFD74B7}"/>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76</a:t>
            </a:fld>
            <a:endParaRPr spc="-25" dirty="0">
              <a:solidFill>
                <a:prstClr val="black">
                  <a:tint val="75000"/>
                </a:prstClr>
              </a:solidFill>
            </a:endParaRPr>
          </a:p>
        </p:txBody>
      </p:sp>
    </p:spTree>
    <p:extLst>
      <p:ext uri="{BB962C8B-B14F-4D97-AF65-F5344CB8AC3E}">
        <p14:creationId xmlns:p14="http://schemas.microsoft.com/office/powerpoint/2010/main" val="42404786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Stream</a:t>
            </a:r>
            <a:r>
              <a:rPr spc="-120" dirty="0"/>
              <a:t> </a:t>
            </a:r>
            <a:r>
              <a:rPr spc="-10" dirty="0"/>
              <a:t>Errors</a:t>
            </a:r>
          </a:p>
        </p:txBody>
      </p:sp>
      <p:sp>
        <p:nvSpPr>
          <p:cNvPr id="8" name="object 8"/>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653833"/>
            <a:ext cx="4883785" cy="1062990"/>
          </a:xfrm>
          <a:prstGeom prst="rect">
            <a:avLst/>
          </a:prstGeom>
        </p:spPr>
        <p:txBody>
          <a:bodyPr vert="horz" wrap="square" lIns="0" tIns="74295" rIns="0" bIns="0" rtlCol="0">
            <a:spAutoFit/>
          </a:bodyPr>
          <a:lstStyle/>
          <a:p>
            <a:pPr marL="12700">
              <a:spcBef>
                <a:spcPts val="585"/>
              </a:spcBef>
            </a:pPr>
            <a:r>
              <a:rPr sz="2000" b="1" dirty="0">
                <a:solidFill>
                  <a:prstClr val="black"/>
                </a:solidFill>
                <a:latin typeface="Times New Roman"/>
                <a:cs typeface="Times New Roman"/>
              </a:rPr>
              <a:t>In</a:t>
            </a:r>
            <a:r>
              <a:rPr sz="2000" b="1" spc="-20" dirty="0">
                <a:solidFill>
                  <a:prstClr val="black"/>
                </a:solidFill>
                <a:latin typeface="Times New Roman"/>
                <a:cs typeface="Times New Roman"/>
              </a:rPr>
              <a:t> </a:t>
            </a:r>
            <a:r>
              <a:rPr sz="2000" b="1" dirty="0">
                <a:solidFill>
                  <a:prstClr val="black"/>
                </a:solidFill>
                <a:latin typeface="Times New Roman"/>
                <a:cs typeface="Times New Roman"/>
              </a:rPr>
              <a:t>C</a:t>
            </a:r>
            <a:r>
              <a:rPr sz="2000" b="1" spc="-20" dirty="0">
                <a:solidFill>
                  <a:prstClr val="black"/>
                </a:solidFill>
                <a:latin typeface="Times New Roman"/>
                <a:cs typeface="Times New Roman"/>
              </a:rPr>
              <a:t> </a:t>
            </a:r>
            <a:r>
              <a:rPr sz="2000" b="1" spc="-10" dirty="0">
                <a:solidFill>
                  <a:prstClr val="black"/>
                </a:solidFill>
                <a:latin typeface="Times New Roman"/>
                <a:cs typeface="Times New Roman"/>
              </a:rPr>
              <a:t>programming</a:t>
            </a:r>
            <a:r>
              <a:rPr sz="2000" spc="-10" dirty="0">
                <a:solidFill>
                  <a:prstClr val="black"/>
                </a:solidFill>
                <a:latin typeface="Times New Roman"/>
                <a:cs typeface="Times New Roman"/>
              </a:rPr>
              <a:t>:</a:t>
            </a:r>
            <a:endParaRPr sz="2000">
              <a:solidFill>
                <a:prstClr val="black"/>
              </a:solidFill>
              <a:latin typeface="Times New Roman"/>
              <a:cs typeface="Times New Roman"/>
            </a:endParaRPr>
          </a:p>
          <a:p>
            <a:pPr marL="355600" marR="5080" indent="-343535">
              <a:spcBef>
                <a:spcPts val="480"/>
              </a:spcBef>
              <a:buFontTx/>
              <a:buChar char="•"/>
              <a:tabLst>
                <a:tab pos="355600" algn="l"/>
              </a:tabLst>
            </a:pPr>
            <a:r>
              <a:rPr sz="2000" spc="-50" dirty="0">
                <a:solidFill>
                  <a:prstClr val="black"/>
                </a:solidFill>
                <a:latin typeface="Times New Roman"/>
                <a:cs typeface="Times New Roman"/>
              </a:rPr>
              <a:t>We</a:t>
            </a:r>
            <a:r>
              <a:rPr sz="2000" spc="-30" dirty="0">
                <a:solidFill>
                  <a:prstClr val="black"/>
                </a:solidFill>
                <a:latin typeface="Times New Roman"/>
                <a:cs typeface="Times New Roman"/>
              </a:rPr>
              <a:t> </a:t>
            </a:r>
            <a:r>
              <a:rPr sz="2000" dirty="0">
                <a:solidFill>
                  <a:prstClr val="black"/>
                </a:solidFill>
                <a:latin typeface="Times New Roman"/>
                <a:cs typeface="Times New Roman"/>
              </a:rPr>
              <a:t>can</a:t>
            </a:r>
            <a:r>
              <a:rPr sz="2000" spc="-25" dirty="0">
                <a:solidFill>
                  <a:prstClr val="black"/>
                </a:solidFill>
                <a:latin typeface="Times New Roman"/>
                <a:cs typeface="Times New Roman"/>
              </a:rPr>
              <a:t> </a:t>
            </a:r>
            <a:r>
              <a:rPr sz="2000" dirty="0">
                <a:solidFill>
                  <a:prstClr val="black"/>
                </a:solidFill>
                <a:latin typeface="Times New Roman"/>
                <a:cs typeface="Times New Roman"/>
              </a:rPr>
              <a:t>check</a:t>
            </a:r>
            <a:r>
              <a:rPr sz="2000" spc="-10" dirty="0">
                <a:solidFill>
                  <a:prstClr val="black"/>
                </a:solidFill>
                <a:latin typeface="Times New Roman"/>
                <a:cs typeface="Times New Roman"/>
              </a:rPr>
              <a:t> </a:t>
            </a:r>
            <a:r>
              <a:rPr sz="2000" dirty="0">
                <a:solidFill>
                  <a:prstClr val="black"/>
                </a:solidFill>
                <a:latin typeface="Times New Roman"/>
                <a:cs typeface="Times New Roman"/>
              </a:rPr>
              <a:t>input</a:t>
            </a:r>
            <a:r>
              <a:rPr sz="2000" spc="-40" dirty="0">
                <a:solidFill>
                  <a:prstClr val="black"/>
                </a:solidFill>
                <a:latin typeface="Times New Roman"/>
                <a:cs typeface="Times New Roman"/>
              </a:rPr>
              <a:t> </a:t>
            </a:r>
            <a:r>
              <a:rPr sz="2000" dirty="0">
                <a:solidFill>
                  <a:prstClr val="black"/>
                </a:solidFill>
                <a:latin typeface="Times New Roman"/>
                <a:cs typeface="Times New Roman"/>
              </a:rPr>
              <a:t>error</a:t>
            </a:r>
            <a:r>
              <a:rPr sz="2000" spc="-30" dirty="0">
                <a:solidFill>
                  <a:prstClr val="black"/>
                </a:solidFill>
                <a:latin typeface="Times New Roman"/>
                <a:cs typeface="Times New Roman"/>
              </a:rPr>
              <a:t> </a:t>
            </a:r>
            <a:r>
              <a:rPr sz="2000" dirty="0">
                <a:solidFill>
                  <a:prstClr val="black"/>
                </a:solidFill>
                <a:latin typeface="Times New Roman"/>
                <a:cs typeface="Times New Roman"/>
              </a:rPr>
              <a:t>by</a:t>
            </a:r>
            <a:r>
              <a:rPr sz="2000" spc="-15"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dirty="0">
                <a:solidFill>
                  <a:prstClr val="black"/>
                </a:solidFill>
                <a:latin typeface="Times New Roman"/>
                <a:cs typeface="Times New Roman"/>
              </a:rPr>
              <a:t>return</a:t>
            </a:r>
            <a:r>
              <a:rPr sz="2000" spc="-40" dirty="0">
                <a:solidFill>
                  <a:prstClr val="black"/>
                </a:solidFill>
                <a:latin typeface="Times New Roman"/>
                <a:cs typeface="Times New Roman"/>
              </a:rPr>
              <a:t> </a:t>
            </a:r>
            <a:r>
              <a:rPr sz="2000" spc="-10" dirty="0">
                <a:solidFill>
                  <a:prstClr val="black"/>
                </a:solidFill>
                <a:latin typeface="Times New Roman"/>
                <a:cs typeface="Times New Roman"/>
              </a:rPr>
              <a:t>value </a:t>
            </a:r>
            <a:r>
              <a:rPr sz="2000" dirty="0">
                <a:solidFill>
                  <a:prstClr val="black"/>
                </a:solidFill>
                <a:latin typeface="Times New Roman"/>
                <a:cs typeface="Times New Roman"/>
              </a:rPr>
              <a:t>of</a:t>
            </a:r>
            <a:r>
              <a:rPr sz="2000" spc="-10" dirty="0">
                <a:solidFill>
                  <a:prstClr val="black"/>
                </a:solidFill>
                <a:latin typeface="Times New Roman"/>
                <a:cs typeface="Times New Roman"/>
              </a:rPr>
              <a:t> </a:t>
            </a:r>
            <a:r>
              <a:rPr sz="2000" dirty="0">
                <a:solidFill>
                  <a:prstClr val="black"/>
                </a:solidFill>
                <a:latin typeface="Times New Roman"/>
                <a:cs typeface="Times New Roman"/>
              </a:rPr>
              <a:t>scanf()</a:t>
            </a:r>
            <a:r>
              <a:rPr sz="2000" spc="-35" dirty="0">
                <a:solidFill>
                  <a:prstClr val="black"/>
                </a:solidFill>
                <a:latin typeface="Times New Roman"/>
                <a:cs typeface="Times New Roman"/>
              </a:rPr>
              <a:t> </a:t>
            </a:r>
            <a:r>
              <a:rPr sz="2000" dirty="0">
                <a:solidFill>
                  <a:prstClr val="black"/>
                </a:solidFill>
                <a:latin typeface="Times New Roman"/>
                <a:cs typeface="Times New Roman"/>
              </a:rPr>
              <a:t>function</a:t>
            </a:r>
            <a:r>
              <a:rPr sz="2000" spc="-40" dirty="0">
                <a:solidFill>
                  <a:prstClr val="black"/>
                </a:solidFill>
                <a:latin typeface="Times New Roman"/>
                <a:cs typeface="Times New Roman"/>
              </a:rPr>
              <a:t> </a:t>
            </a:r>
            <a:r>
              <a:rPr sz="2000" dirty="0">
                <a:solidFill>
                  <a:prstClr val="black"/>
                </a:solidFill>
                <a:latin typeface="Times New Roman"/>
                <a:cs typeface="Times New Roman"/>
              </a:rPr>
              <a:t>like</a:t>
            </a:r>
            <a:r>
              <a:rPr sz="2000" spc="5" dirty="0">
                <a:solidFill>
                  <a:prstClr val="black"/>
                </a:solidFill>
                <a:latin typeface="Times New Roman"/>
                <a:cs typeface="Times New Roman"/>
              </a:rPr>
              <a:t> </a:t>
            </a:r>
            <a:r>
              <a:rPr sz="2000" spc="-10" dirty="0">
                <a:solidFill>
                  <a:prstClr val="black"/>
                </a:solidFill>
                <a:latin typeface="Times New Roman"/>
                <a:cs typeface="Times New Roman"/>
              </a:rPr>
              <a:t>this:</a:t>
            </a:r>
            <a:endParaRPr sz="2000">
              <a:solidFill>
                <a:prstClr val="black"/>
              </a:solidFill>
              <a:latin typeface="Times New Roman"/>
              <a:cs typeface="Times New Roman"/>
            </a:endParaRPr>
          </a:p>
        </p:txBody>
      </p:sp>
      <p:sp>
        <p:nvSpPr>
          <p:cNvPr id="4" name="object 4"/>
          <p:cNvSpPr txBox="1"/>
          <p:nvPr/>
        </p:nvSpPr>
        <p:spPr>
          <a:xfrm>
            <a:off x="916939" y="3048801"/>
            <a:ext cx="3990340" cy="2952750"/>
          </a:xfrm>
          <a:prstGeom prst="rect">
            <a:avLst/>
          </a:prstGeom>
        </p:spPr>
        <p:txBody>
          <a:bodyPr vert="horz" wrap="square" lIns="0" tIns="73660" rIns="0" bIns="0" rtlCol="0">
            <a:spAutoFit/>
          </a:bodyPr>
          <a:lstStyle/>
          <a:p>
            <a:pPr marL="12700">
              <a:spcBef>
                <a:spcPts val="580"/>
              </a:spcBef>
            </a:pPr>
            <a:r>
              <a:rPr sz="2000" dirty="0">
                <a:solidFill>
                  <a:prstClr val="black"/>
                </a:solidFill>
                <a:cs typeface="Calibri"/>
              </a:rPr>
              <a:t>if(scanf("%d</a:t>
            </a:r>
            <a:r>
              <a:rPr sz="2000" spc="-35" dirty="0">
                <a:solidFill>
                  <a:prstClr val="black"/>
                </a:solidFill>
                <a:cs typeface="Calibri"/>
              </a:rPr>
              <a:t> </a:t>
            </a:r>
            <a:r>
              <a:rPr sz="2000" dirty="0">
                <a:solidFill>
                  <a:prstClr val="black"/>
                </a:solidFill>
                <a:cs typeface="Calibri"/>
              </a:rPr>
              <a:t>%d</a:t>
            </a:r>
            <a:r>
              <a:rPr sz="2000" spc="-30" dirty="0">
                <a:solidFill>
                  <a:prstClr val="black"/>
                </a:solidFill>
                <a:cs typeface="Calibri"/>
              </a:rPr>
              <a:t> </a:t>
            </a:r>
            <a:r>
              <a:rPr sz="2000" dirty="0">
                <a:solidFill>
                  <a:prstClr val="black"/>
                </a:solidFill>
                <a:cs typeface="Calibri"/>
              </a:rPr>
              <a:t>%d</a:t>
            </a:r>
            <a:r>
              <a:rPr sz="2000" spc="-45" dirty="0">
                <a:solidFill>
                  <a:prstClr val="black"/>
                </a:solidFill>
                <a:cs typeface="Calibri"/>
              </a:rPr>
              <a:t> </a:t>
            </a:r>
            <a:r>
              <a:rPr sz="2000" dirty="0">
                <a:solidFill>
                  <a:prstClr val="black"/>
                </a:solidFill>
                <a:cs typeface="Calibri"/>
              </a:rPr>
              <a:t>,&amp;a,</a:t>
            </a:r>
            <a:r>
              <a:rPr sz="2000" spc="-20" dirty="0">
                <a:solidFill>
                  <a:prstClr val="black"/>
                </a:solidFill>
                <a:cs typeface="Calibri"/>
              </a:rPr>
              <a:t> </a:t>
            </a:r>
            <a:r>
              <a:rPr sz="2000" dirty="0">
                <a:solidFill>
                  <a:prstClr val="black"/>
                </a:solidFill>
                <a:cs typeface="Calibri"/>
              </a:rPr>
              <a:t>&amp;b,</a:t>
            </a:r>
            <a:r>
              <a:rPr sz="2000" spc="-40" dirty="0">
                <a:solidFill>
                  <a:prstClr val="black"/>
                </a:solidFill>
                <a:cs typeface="Calibri"/>
              </a:rPr>
              <a:t> </a:t>
            </a:r>
            <a:r>
              <a:rPr sz="2000" dirty="0">
                <a:solidFill>
                  <a:prstClr val="black"/>
                </a:solidFill>
                <a:cs typeface="Calibri"/>
              </a:rPr>
              <a:t>&amp;c))</a:t>
            </a:r>
            <a:r>
              <a:rPr sz="2000" spc="-20" dirty="0">
                <a:solidFill>
                  <a:prstClr val="black"/>
                </a:solidFill>
                <a:cs typeface="Calibri"/>
              </a:rPr>
              <a:t> </a:t>
            </a:r>
            <a:r>
              <a:rPr sz="2000" dirty="0">
                <a:solidFill>
                  <a:prstClr val="black"/>
                </a:solidFill>
                <a:cs typeface="Calibri"/>
              </a:rPr>
              <a:t>==</a:t>
            </a:r>
            <a:r>
              <a:rPr sz="2000" spc="-20" dirty="0">
                <a:solidFill>
                  <a:prstClr val="black"/>
                </a:solidFill>
                <a:cs typeface="Calibri"/>
              </a:rPr>
              <a:t> </a:t>
            </a:r>
            <a:r>
              <a:rPr sz="2000" spc="-25" dirty="0">
                <a:solidFill>
                  <a:prstClr val="black"/>
                </a:solidFill>
                <a:cs typeface="Calibri"/>
              </a:rPr>
              <a:t>3)</a:t>
            </a:r>
            <a:endParaRPr sz="2000">
              <a:solidFill>
                <a:prstClr val="black"/>
              </a:solidFill>
              <a:cs typeface="Calibri"/>
            </a:endParaRPr>
          </a:p>
          <a:p>
            <a:pPr marL="12700">
              <a:spcBef>
                <a:spcPts val="484"/>
              </a:spcBef>
            </a:pPr>
            <a:r>
              <a:rPr sz="2000" spc="-50" dirty="0">
                <a:solidFill>
                  <a:prstClr val="black"/>
                </a:solidFill>
                <a:cs typeface="Calibri"/>
              </a:rPr>
              <a:t>{</a:t>
            </a:r>
            <a:endParaRPr sz="2000">
              <a:solidFill>
                <a:prstClr val="black"/>
              </a:solidFill>
              <a:cs typeface="Calibri"/>
            </a:endParaRPr>
          </a:p>
          <a:p>
            <a:pPr marL="412115">
              <a:spcBef>
                <a:spcPts val="480"/>
              </a:spcBef>
            </a:pPr>
            <a:r>
              <a:rPr sz="2000" dirty="0">
                <a:solidFill>
                  <a:prstClr val="black"/>
                </a:solidFill>
                <a:cs typeface="Calibri"/>
              </a:rPr>
              <a:t>//</a:t>
            </a:r>
            <a:r>
              <a:rPr sz="2000" spc="-45" dirty="0">
                <a:solidFill>
                  <a:prstClr val="black"/>
                </a:solidFill>
                <a:cs typeface="Calibri"/>
              </a:rPr>
              <a:t> </a:t>
            </a:r>
            <a:r>
              <a:rPr sz="2000" dirty="0">
                <a:solidFill>
                  <a:prstClr val="black"/>
                </a:solidFill>
                <a:cs typeface="Calibri"/>
              </a:rPr>
              <a:t>write</a:t>
            </a:r>
            <a:r>
              <a:rPr sz="2000" spc="-30" dirty="0">
                <a:solidFill>
                  <a:prstClr val="black"/>
                </a:solidFill>
                <a:cs typeface="Calibri"/>
              </a:rPr>
              <a:t> </a:t>
            </a:r>
            <a:r>
              <a:rPr sz="2000" spc="-20" dirty="0">
                <a:solidFill>
                  <a:prstClr val="black"/>
                </a:solidFill>
                <a:cs typeface="Calibri"/>
              </a:rPr>
              <a:t>code</a:t>
            </a:r>
            <a:endParaRPr sz="2000">
              <a:solidFill>
                <a:prstClr val="black"/>
              </a:solidFill>
              <a:cs typeface="Calibri"/>
            </a:endParaRPr>
          </a:p>
          <a:p>
            <a:pPr marL="12700">
              <a:spcBef>
                <a:spcPts val="480"/>
              </a:spcBef>
            </a:pPr>
            <a:r>
              <a:rPr sz="2000" spc="-50" dirty="0">
                <a:solidFill>
                  <a:prstClr val="black"/>
                </a:solidFill>
                <a:cs typeface="Calibri"/>
              </a:rPr>
              <a:t>}</a:t>
            </a:r>
            <a:endParaRPr sz="2000">
              <a:solidFill>
                <a:prstClr val="black"/>
              </a:solidFill>
              <a:cs typeface="Calibri"/>
            </a:endParaRPr>
          </a:p>
          <a:p>
            <a:pPr marL="12700">
              <a:spcBef>
                <a:spcPts val="480"/>
              </a:spcBef>
            </a:pPr>
            <a:r>
              <a:rPr sz="2000" spc="-20" dirty="0">
                <a:solidFill>
                  <a:prstClr val="black"/>
                </a:solidFill>
                <a:cs typeface="Calibri"/>
              </a:rPr>
              <a:t>else</a:t>
            </a:r>
            <a:endParaRPr sz="2000">
              <a:solidFill>
                <a:prstClr val="black"/>
              </a:solidFill>
              <a:cs typeface="Calibri"/>
            </a:endParaRPr>
          </a:p>
          <a:p>
            <a:pPr marL="12700">
              <a:spcBef>
                <a:spcPts val="480"/>
              </a:spcBef>
            </a:pPr>
            <a:r>
              <a:rPr sz="2000" spc="-50" dirty="0">
                <a:solidFill>
                  <a:prstClr val="black"/>
                </a:solidFill>
                <a:cs typeface="Calibri"/>
              </a:rPr>
              <a:t>{</a:t>
            </a:r>
            <a:endParaRPr sz="2000">
              <a:solidFill>
                <a:prstClr val="black"/>
              </a:solidFill>
              <a:cs typeface="Calibri"/>
            </a:endParaRPr>
          </a:p>
          <a:p>
            <a:pPr marL="412115">
              <a:spcBef>
                <a:spcPts val="480"/>
              </a:spcBef>
            </a:pPr>
            <a:r>
              <a:rPr sz="2000" dirty="0">
                <a:solidFill>
                  <a:prstClr val="black"/>
                </a:solidFill>
                <a:cs typeface="Calibri"/>
              </a:rPr>
              <a:t>//</a:t>
            </a:r>
            <a:r>
              <a:rPr sz="2000" spc="-25" dirty="0">
                <a:solidFill>
                  <a:prstClr val="black"/>
                </a:solidFill>
                <a:cs typeface="Calibri"/>
              </a:rPr>
              <a:t> </a:t>
            </a:r>
            <a:r>
              <a:rPr sz="2000" spc="-10" dirty="0">
                <a:solidFill>
                  <a:prstClr val="black"/>
                </a:solidFill>
                <a:cs typeface="Calibri"/>
              </a:rPr>
              <a:t>error</a:t>
            </a:r>
            <a:endParaRPr sz="2000">
              <a:solidFill>
                <a:prstClr val="black"/>
              </a:solidFill>
              <a:cs typeface="Calibri"/>
            </a:endParaRPr>
          </a:p>
          <a:p>
            <a:pPr marL="12700">
              <a:spcBef>
                <a:spcPts val="480"/>
              </a:spcBef>
            </a:pPr>
            <a:r>
              <a:rPr sz="2000" spc="-50" dirty="0">
                <a:solidFill>
                  <a:prstClr val="black"/>
                </a:solidFill>
                <a:cs typeface="Calibri"/>
              </a:rPr>
              <a:t>}</a:t>
            </a:r>
            <a:endParaRPr sz="2000">
              <a:solidFill>
                <a:prstClr val="black"/>
              </a:solidFill>
              <a:cs typeface="Calibri"/>
            </a:endParaRPr>
          </a:p>
        </p:txBody>
      </p:sp>
      <p:sp>
        <p:nvSpPr>
          <p:cNvPr id="5" name="object 5"/>
          <p:cNvSpPr txBox="1"/>
          <p:nvPr/>
        </p:nvSpPr>
        <p:spPr>
          <a:xfrm>
            <a:off x="6591427" y="1487805"/>
            <a:ext cx="1978025" cy="330835"/>
          </a:xfrm>
          <a:prstGeom prst="rect">
            <a:avLst/>
          </a:prstGeom>
        </p:spPr>
        <p:txBody>
          <a:bodyPr vert="horz" wrap="square" lIns="0" tIns="13335" rIns="0" bIns="0" rtlCol="0">
            <a:spAutoFit/>
          </a:bodyPr>
          <a:lstStyle/>
          <a:p>
            <a:pPr marL="12700">
              <a:spcBef>
                <a:spcPts val="105"/>
              </a:spcBef>
            </a:pPr>
            <a:r>
              <a:rPr sz="2000" b="1" spc="-20" dirty="0">
                <a:solidFill>
                  <a:prstClr val="black"/>
                </a:solidFill>
                <a:latin typeface="Times New Roman"/>
                <a:cs typeface="Times New Roman"/>
              </a:rPr>
              <a:t>Error-</a:t>
            </a:r>
            <a:r>
              <a:rPr sz="2000" b="1" dirty="0">
                <a:solidFill>
                  <a:prstClr val="black"/>
                </a:solidFill>
                <a:latin typeface="Times New Roman"/>
                <a:cs typeface="Times New Roman"/>
              </a:rPr>
              <a:t>Status</a:t>
            </a:r>
            <a:r>
              <a:rPr sz="2000" b="1" spc="-45" dirty="0">
                <a:solidFill>
                  <a:prstClr val="black"/>
                </a:solidFill>
                <a:latin typeface="Times New Roman"/>
                <a:cs typeface="Times New Roman"/>
              </a:rPr>
              <a:t> </a:t>
            </a:r>
            <a:r>
              <a:rPr sz="2000" b="1" spc="-20" dirty="0">
                <a:solidFill>
                  <a:prstClr val="black"/>
                </a:solidFill>
                <a:latin typeface="Times New Roman"/>
                <a:cs typeface="Times New Roman"/>
              </a:rPr>
              <a:t>Bits:</a:t>
            </a:r>
            <a:endParaRPr sz="2000">
              <a:solidFill>
                <a:prstClr val="black"/>
              </a:solidFill>
              <a:latin typeface="Times New Roman"/>
              <a:cs typeface="Times New Roman"/>
            </a:endParaRPr>
          </a:p>
        </p:txBody>
      </p:sp>
      <p:pic>
        <p:nvPicPr>
          <p:cNvPr id="6" name="object 6"/>
          <p:cNvPicPr/>
          <p:nvPr/>
        </p:nvPicPr>
        <p:blipFill>
          <a:blip r:embed="rId2" cstate="print"/>
          <a:stretch>
            <a:fillRect/>
          </a:stretch>
        </p:blipFill>
        <p:spPr>
          <a:xfrm>
            <a:off x="6603492" y="1927860"/>
            <a:ext cx="4543044" cy="2016252"/>
          </a:xfrm>
          <a:prstGeom prst="rect">
            <a:avLst/>
          </a:prstGeom>
        </p:spPr>
      </p:pic>
      <p:pic>
        <p:nvPicPr>
          <p:cNvPr id="7" name="object 7"/>
          <p:cNvPicPr/>
          <p:nvPr/>
        </p:nvPicPr>
        <p:blipFill>
          <a:blip r:embed="rId3" cstate="print"/>
          <a:stretch>
            <a:fillRect/>
          </a:stretch>
        </p:blipFill>
        <p:spPr>
          <a:xfrm>
            <a:off x="6416040" y="3997452"/>
            <a:ext cx="5521452" cy="2111194"/>
          </a:xfrm>
          <a:prstGeom prst="rect">
            <a:avLst/>
          </a:prstGeom>
        </p:spPr>
      </p:pic>
      <p:sp>
        <p:nvSpPr>
          <p:cNvPr id="9" name="object 9"/>
          <p:cNvSpPr txBox="1"/>
          <p:nvPr/>
        </p:nvSpPr>
        <p:spPr>
          <a:xfrm>
            <a:off x="5431916" y="6368253"/>
            <a:ext cx="1703705" cy="363220"/>
          </a:xfrm>
          <a:prstGeom prst="rect">
            <a:avLst/>
          </a:prstGeom>
        </p:spPr>
        <p:txBody>
          <a:bodyPr vert="horz" wrap="square" lIns="0" tIns="0" rIns="0" bIns="0" rtlCol="0">
            <a:spAutoFit/>
          </a:bodyPr>
          <a:lstStyle/>
          <a:p>
            <a:pPr marL="12700">
              <a:lnSpc>
                <a:spcPts val="2720"/>
              </a:lnSpc>
              <a:tabLst>
                <a:tab pos="1499870" algn="l"/>
              </a:tabLst>
            </a:pPr>
            <a:r>
              <a:rPr sz="2400" dirty="0">
                <a:solidFill>
                  <a:srgbClr val="FFFFFF"/>
                </a:solidFill>
                <a:latin typeface="Times New Roman"/>
                <a:cs typeface="Times New Roman"/>
              </a:rPr>
              <a:t>Lecture</a:t>
            </a:r>
            <a:r>
              <a:rPr sz="2400" spc="-25" dirty="0">
                <a:solidFill>
                  <a:srgbClr val="FFFFFF"/>
                </a:solidFill>
                <a:latin typeface="Times New Roman"/>
                <a:cs typeface="Times New Roman"/>
              </a:rPr>
              <a:t> </a:t>
            </a:r>
            <a:r>
              <a:rPr sz="2400" dirty="0">
                <a:solidFill>
                  <a:srgbClr val="FFFFFF"/>
                </a:solidFill>
                <a:latin typeface="Times New Roman"/>
                <a:cs typeface="Times New Roman"/>
              </a:rPr>
              <a:t>8</a:t>
            </a:r>
            <a:r>
              <a:rPr sz="2400" spc="5" dirty="0">
                <a:solidFill>
                  <a:srgbClr val="FFFFFF"/>
                </a:solidFill>
                <a:latin typeface="Times New Roman"/>
                <a:cs typeface="Times New Roman"/>
              </a:rPr>
              <a:t> </a:t>
            </a:r>
            <a:r>
              <a:rPr sz="2400" spc="-50" dirty="0">
                <a:solidFill>
                  <a:srgbClr val="FFFFFF"/>
                </a:solidFill>
                <a:latin typeface="Times New Roman"/>
                <a:cs typeface="Times New Roman"/>
              </a:rPr>
              <a:t>-</a:t>
            </a:r>
            <a:r>
              <a:rPr sz="2400" dirty="0">
                <a:solidFill>
                  <a:srgbClr val="FFFFFF"/>
                </a:solidFill>
                <a:latin typeface="Times New Roman"/>
                <a:cs typeface="Times New Roman"/>
              </a:rPr>
              <a:t>	</a:t>
            </a:r>
            <a:r>
              <a:rPr sz="2400" spc="-50" dirty="0">
                <a:solidFill>
                  <a:srgbClr val="FFFFFF"/>
                </a:solidFill>
                <a:latin typeface="Times New Roman"/>
                <a:cs typeface="Times New Roman"/>
              </a:rPr>
              <a:t>9</a:t>
            </a:r>
            <a:endParaRPr sz="2400">
              <a:solidFill>
                <a:prstClr val="black"/>
              </a:solidFill>
              <a:latin typeface="Times New Roman"/>
              <a:cs typeface="Times New Roman"/>
            </a:endParaRPr>
          </a:p>
        </p:txBody>
      </p:sp>
      <p:sp>
        <p:nvSpPr>
          <p:cNvPr id="10" name="object 10"/>
          <p:cNvSpPr txBox="1"/>
          <p:nvPr/>
        </p:nvSpPr>
        <p:spPr>
          <a:xfrm>
            <a:off x="98917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1" name="object 11"/>
          <p:cNvSpPr txBox="1"/>
          <p:nvPr/>
        </p:nvSpPr>
        <p:spPr>
          <a:xfrm>
            <a:off x="104327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2" name="Date Placeholder 11">
            <a:extLst>
              <a:ext uri="{FF2B5EF4-FFF2-40B4-BE49-F238E27FC236}">
                <a16:creationId xmlns:a16="http://schemas.microsoft.com/office/drawing/2014/main" id="{52A58D24-77DD-C616-F150-10D71B69F84E}"/>
              </a:ext>
            </a:extLst>
          </p:cNvPr>
          <p:cNvSpPr>
            <a:spLocks noGrp="1"/>
          </p:cNvSpPr>
          <p:nvPr>
            <p:ph type="dt" sz="half" idx="10"/>
          </p:nvPr>
        </p:nvSpPr>
        <p:spPr/>
        <p:txBody>
          <a:bodyPr/>
          <a:lstStyle/>
          <a:p>
            <a:fld id="{6914E3D1-8875-4A25-837B-D29E9744ED1D}" type="datetime1">
              <a:rPr lang="en-US" smtClean="0">
                <a:solidFill>
                  <a:prstClr val="black">
                    <a:tint val="75000"/>
                  </a:prstClr>
                </a:solidFill>
              </a:rPr>
              <a:pPr/>
              <a:t>11/17/2025</a:t>
            </a:fld>
            <a:endParaRPr lang="en-US">
              <a:solidFill>
                <a:prstClr val="black">
                  <a:tint val="75000"/>
                </a:prstClr>
              </a:solidFill>
            </a:endParaRPr>
          </a:p>
        </p:txBody>
      </p:sp>
      <p:sp>
        <p:nvSpPr>
          <p:cNvPr id="14" name="Slide Number Placeholder 13">
            <a:extLst>
              <a:ext uri="{FF2B5EF4-FFF2-40B4-BE49-F238E27FC236}">
                <a16:creationId xmlns:a16="http://schemas.microsoft.com/office/drawing/2014/main" id="{0429B064-DD59-C946-6C66-8921EBDE87D3}"/>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77</a:t>
            </a:fld>
            <a:endParaRPr spc="-25" dirty="0">
              <a:solidFill>
                <a:prstClr val="black">
                  <a:tint val="75000"/>
                </a:prstClr>
              </a:solidFill>
            </a:endParaRPr>
          </a:p>
        </p:txBody>
      </p:sp>
    </p:spTree>
    <p:extLst>
      <p:ext uri="{BB962C8B-B14F-4D97-AF65-F5344CB8AC3E}">
        <p14:creationId xmlns:p14="http://schemas.microsoft.com/office/powerpoint/2010/main" val="25068025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dirty="0"/>
              <a:t>Stream</a:t>
            </a:r>
            <a:r>
              <a:rPr spc="-120" dirty="0"/>
              <a:t> </a:t>
            </a:r>
            <a:r>
              <a:rPr spc="-10" dirty="0"/>
              <a:t>Errors</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2720"/>
              </a:lnSpc>
            </a:pPr>
            <a:r>
              <a:rPr lang="en-US">
                <a:solidFill>
                  <a:prstClr val="white"/>
                </a:solidFill>
              </a:rPr>
              <a:t>Mehedi Hasan</a:t>
            </a:r>
            <a:endParaRPr spc="-10" dirty="0">
              <a:solidFill>
                <a:prstClr val="white"/>
              </a:solidFill>
            </a:endParaRPr>
          </a:p>
        </p:txBody>
      </p:sp>
      <p:sp>
        <p:nvSpPr>
          <p:cNvPr id="3" name="object 3"/>
          <p:cNvSpPr txBox="1"/>
          <p:nvPr/>
        </p:nvSpPr>
        <p:spPr>
          <a:xfrm>
            <a:off x="916939" y="1750822"/>
            <a:ext cx="1978025" cy="330835"/>
          </a:xfrm>
          <a:prstGeom prst="rect">
            <a:avLst/>
          </a:prstGeom>
        </p:spPr>
        <p:txBody>
          <a:bodyPr vert="horz" wrap="square" lIns="0" tIns="13335" rIns="0" bIns="0" rtlCol="0">
            <a:spAutoFit/>
          </a:bodyPr>
          <a:lstStyle/>
          <a:p>
            <a:pPr marL="12700">
              <a:spcBef>
                <a:spcPts val="105"/>
              </a:spcBef>
            </a:pPr>
            <a:r>
              <a:rPr sz="2000" b="1" spc="-25" dirty="0">
                <a:solidFill>
                  <a:prstClr val="black"/>
                </a:solidFill>
                <a:latin typeface="Times New Roman"/>
                <a:cs typeface="Times New Roman"/>
              </a:rPr>
              <a:t>Error-</a:t>
            </a:r>
            <a:r>
              <a:rPr sz="2000" b="1" dirty="0">
                <a:solidFill>
                  <a:prstClr val="black"/>
                </a:solidFill>
                <a:latin typeface="Times New Roman"/>
                <a:cs typeface="Times New Roman"/>
              </a:rPr>
              <a:t>Status</a:t>
            </a:r>
            <a:r>
              <a:rPr sz="2000" b="1" spc="-20" dirty="0">
                <a:solidFill>
                  <a:prstClr val="black"/>
                </a:solidFill>
                <a:latin typeface="Times New Roman"/>
                <a:cs typeface="Times New Roman"/>
              </a:rPr>
              <a:t> Bits:</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4879847" y="1542288"/>
            <a:ext cx="5521452" cy="2112662"/>
          </a:xfrm>
          <a:prstGeom prst="rect">
            <a:avLst/>
          </a:prstGeom>
        </p:spPr>
      </p:pic>
      <p:pic>
        <p:nvPicPr>
          <p:cNvPr id="5" name="object 5"/>
          <p:cNvPicPr/>
          <p:nvPr/>
        </p:nvPicPr>
        <p:blipFill>
          <a:blip r:embed="rId3" cstate="print"/>
          <a:stretch>
            <a:fillRect/>
          </a:stretch>
        </p:blipFill>
        <p:spPr>
          <a:xfrm>
            <a:off x="1254252" y="3893437"/>
            <a:ext cx="7997796" cy="2301167"/>
          </a:xfrm>
          <a:prstGeom prst="rect">
            <a:avLst/>
          </a:prstGeom>
        </p:spPr>
      </p:pic>
      <p:sp>
        <p:nvSpPr>
          <p:cNvPr id="8" name="object 8"/>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9" name="object 9"/>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0" name="Date Placeholder 9">
            <a:extLst>
              <a:ext uri="{FF2B5EF4-FFF2-40B4-BE49-F238E27FC236}">
                <a16:creationId xmlns:a16="http://schemas.microsoft.com/office/drawing/2014/main" id="{5CD57401-37F4-F550-7AB8-BC77E32C515C}"/>
              </a:ext>
            </a:extLst>
          </p:cNvPr>
          <p:cNvSpPr>
            <a:spLocks noGrp="1"/>
          </p:cNvSpPr>
          <p:nvPr>
            <p:ph type="dt" sz="half" idx="6"/>
          </p:nvPr>
        </p:nvSpPr>
        <p:spPr/>
        <p:txBody>
          <a:bodyPr/>
          <a:lstStyle/>
          <a:p>
            <a:fld id="{2536EFF1-20C3-4F95-A7D1-C7763653D322}" type="datetime1">
              <a:rPr lang="en-US" smtClean="0">
                <a:solidFill>
                  <a:prstClr val="black">
                    <a:tint val="75000"/>
                  </a:prstClr>
                </a:solidFill>
              </a:rPr>
              <a:pPr/>
              <a:t>11/17/2025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5F2E424F-F146-8EAC-B06F-FABE638B09BB}"/>
              </a:ext>
            </a:extLst>
          </p:cNvPr>
          <p:cNvSpPr>
            <a:spLocks noGrp="1"/>
          </p:cNvSpPr>
          <p:nvPr>
            <p:ph type="sldNum" sz="quarter" idx="7"/>
          </p:nvPr>
        </p:nvSpPr>
        <p:spPr/>
        <p:txBody>
          <a:bodyPr/>
          <a:lstStyle/>
          <a:p>
            <a:pPr marL="12700">
              <a:lnSpc>
                <a:spcPts val="2720"/>
              </a:lnSpc>
              <a:tabLst>
                <a:tab pos="1499870" algn="l"/>
              </a:tabLst>
            </a:pPr>
            <a:r>
              <a:rPr lang="en-US">
                <a:solidFill>
                  <a:prstClr val="white"/>
                </a:solidFill>
              </a:rPr>
              <a:t>Lecture</a:t>
            </a:r>
            <a:r>
              <a:rPr lang="en-US" spc="-25">
                <a:solidFill>
                  <a:prstClr val="white"/>
                </a:solidFill>
              </a:rPr>
              <a:t> </a:t>
            </a:r>
            <a:r>
              <a:rPr lang="en-US">
                <a:solidFill>
                  <a:prstClr val="white"/>
                </a:solidFill>
              </a:rPr>
              <a:t>1</a:t>
            </a:r>
            <a:r>
              <a:rPr lang="en-US" spc="5">
                <a:solidFill>
                  <a:prstClr val="white"/>
                </a:solidFill>
              </a:rPr>
              <a:t> </a:t>
            </a:r>
            <a:r>
              <a:rPr lang="en-US" spc="-50">
                <a:solidFill>
                  <a:prstClr val="white"/>
                </a:solidFill>
              </a:rPr>
              <a:t>-</a:t>
            </a:r>
            <a:r>
              <a:rPr lang="en-US">
                <a:solidFill>
                  <a:prstClr val="white"/>
                </a:solidFill>
              </a:rPr>
              <a:t>	</a:t>
            </a:r>
            <a:fld id="{81D60167-4931-47E6-BA6A-407CBD079E47}" type="slidenum">
              <a:rPr spc="-25" smtClean="0">
                <a:solidFill>
                  <a:prstClr val="white"/>
                </a:solidFill>
              </a:rPr>
              <a:pPr marL="12700">
                <a:lnSpc>
                  <a:spcPts val="2720"/>
                </a:lnSpc>
                <a:tabLst>
                  <a:tab pos="1499870" algn="l"/>
                </a:tabLst>
              </a:pPr>
              <a:t>78</a:t>
            </a:fld>
            <a:endParaRPr spc="-25" dirty="0">
              <a:solidFill>
                <a:prstClr val="white"/>
              </a:solidFill>
            </a:endParaRPr>
          </a:p>
        </p:txBody>
      </p:sp>
    </p:spTree>
    <p:extLst>
      <p:ext uri="{BB962C8B-B14F-4D97-AF65-F5344CB8AC3E}">
        <p14:creationId xmlns:p14="http://schemas.microsoft.com/office/powerpoint/2010/main" val="9403853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Stream</a:t>
            </a:r>
            <a:r>
              <a:rPr spc="-120" dirty="0"/>
              <a:t> </a:t>
            </a:r>
            <a:r>
              <a:rPr spc="-10" dirty="0"/>
              <a:t>Errors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750822"/>
            <a:ext cx="1978025" cy="330835"/>
          </a:xfrm>
          <a:prstGeom prst="rect">
            <a:avLst/>
          </a:prstGeom>
        </p:spPr>
        <p:txBody>
          <a:bodyPr vert="horz" wrap="square" lIns="0" tIns="13335" rIns="0" bIns="0" rtlCol="0">
            <a:spAutoFit/>
          </a:bodyPr>
          <a:lstStyle/>
          <a:p>
            <a:pPr marL="12700">
              <a:spcBef>
                <a:spcPts val="105"/>
              </a:spcBef>
            </a:pPr>
            <a:r>
              <a:rPr sz="2000" b="1" spc="-25" dirty="0">
                <a:solidFill>
                  <a:prstClr val="black"/>
                </a:solidFill>
                <a:latin typeface="Times New Roman"/>
                <a:cs typeface="Times New Roman"/>
              </a:rPr>
              <a:t>Error-</a:t>
            </a:r>
            <a:r>
              <a:rPr sz="2000" b="1" dirty="0">
                <a:solidFill>
                  <a:prstClr val="black"/>
                </a:solidFill>
                <a:latin typeface="Times New Roman"/>
                <a:cs typeface="Times New Roman"/>
              </a:rPr>
              <a:t>Status</a:t>
            </a:r>
            <a:r>
              <a:rPr sz="2000" b="1" spc="-20" dirty="0">
                <a:solidFill>
                  <a:prstClr val="black"/>
                </a:solidFill>
                <a:latin typeface="Times New Roman"/>
                <a:cs typeface="Times New Roman"/>
              </a:rPr>
              <a:t> Bits:</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838200" y="2589276"/>
            <a:ext cx="5521452" cy="2111194"/>
          </a:xfrm>
          <a:prstGeom prst="rect">
            <a:avLst/>
          </a:prstGeom>
        </p:spPr>
      </p:pic>
      <p:sp>
        <p:nvSpPr>
          <p:cNvPr id="5" name="object 5"/>
          <p:cNvSpPr txBox="1"/>
          <p:nvPr/>
        </p:nvSpPr>
        <p:spPr>
          <a:xfrm>
            <a:off x="7263130" y="1670431"/>
            <a:ext cx="3750310" cy="3684904"/>
          </a:xfrm>
          <a:prstGeom prst="rect">
            <a:avLst/>
          </a:prstGeom>
        </p:spPr>
        <p:txBody>
          <a:bodyPr vert="horz" wrap="square" lIns="0" tIns="13335" rIns="0" bIns="0" rtlCol="0">
            <a:spAutoFit/>
          </a:bodyPr>
          <a:lstStyle/>
          <a:p>
            <a:pPr marL="12700">
              <a:spcBef>
                <a:spcPts val="105"/>
              </a:spcBef>
            </a:pPr>
            <a:r>
              <a:rPr sz="2000" spc="-10" dirty="0">
                <a:solidFill>
                  <a:prstClr val="black"/>
                </a:solidFill>
                <a:cs typeface="Calibri"/>
              </a:rPr>
              <a:t>while(true)</a:t>
            </a:r>
            <a:endParaRPr sz="2000">
              <a:solidFill>
                <a:prstClr val="black"/>
              </a:solidFill>
              <a:cs typeface="Calibri"/>
            </a:endParaRPr>
          </a:p>
          <a:p>
            <a:pPr marL="12700"/>
            <a:r>
              <a:rPr sz="2000" spc="-50" dirty="0">
                <a:solidFill>
                  <a:prstClr val="black"/>
                </a:solidFill>
                <a:cs typeface="Calibri"/>
              </a:rPr>
              <a:t>{</a:t>
            </a:r>
            <a:endParaRPr sz="2000">
              <a:solidFill>
                <a:prstClr val="black"/>
              </a:solidFill>
              <a:cs typeface="Calibri"/>
            </a:endParaRPr>
          </a:p>
          <a:p>
            <a:pPr marL="355600"/>
            <a:r>
              <a:rPr sz="2000" dirty="0">
                <a:solidFill>
                  <a:prstClr val="black"/>
                </a:solidFill>
                <a:cs typeface="Calibri"/>
              </a:rPr>
              <a:t>cout</a:t>
            </a:r>
            <a:r>
              <a:rPr sz="2000" spc="-60" dirty="0">
                <a:solidFill>
                  <a:prstClr val="black"/>
                </a:solidFill>
                <a:cs typeface="Calibri"/>
              </a:rPr>
              <a:t> </a:t>
            </a:r>
            <a:r>
              <a:rPr sz="2000" dirty="0">
                <a:solidFill>
                  <a:prstClr val="black"/>
                </a:solidFill>
                <a:cs typeface="Calibri"/>
              </a:rPr>
              <a:t>&lt;&lt;</a:t>
            </a:r>
            <a:r>
              <a:rPr sz="2000" spc="-35" dirty="0">
                <a:solidFill>
                  <a:prstClr val="black"/>
                </a:solidFill>
                <a:cs typeface="Calibri"/>
              </a:rPr>
              <a:t> </a:t>
            </a:r>
            <a:r>
              <a:rPr sz="2000" dirty="0">
                <a:solidFill>
                  <a:prstClr val="black"/>
                </a:solidFill>
                <a:cs typeface="Calibri"/>
              </a:rPr>
              <a:t>“\nEnter</a:t>
            </a:r>
            <a:r>
              <a:rPr sz="2000" spc="-45" dirty="0">
                <a:solidFill>
                  <a:prstClr val="black"/>
                </a:solidFill>
                <a:cs typeface="Calibri"/>
              </a:rPr>
              <a:t> </a:t>
            </a:r>
            <a:r>
              <a:rPr sz="2000" dirty="0">
                <a:solidFill>
                  <a:prstClr val="black"/>
                </a:solidFill>
                <a:cs typeface="Calibri"/>
              </a:rPr>
              <a:t>an</a:t>
            </a:r>
            <a:r>
              <a:rPr sz="2000" spc="-45" dirty="0">
                <a:solidFill>
                  <a:prstClr val="black"/>
                </a:solidFill>
                <a:cs typeface="Calibri"/>
              </a:rPr>
              <a:t> </a:t>
            </a:r>
            <a:r>
              <a:rPr sz="2000" spc="-10" dirty="0">
                <a:solidFill>
                  <a:prstClr val="black"/>
                </a:solidFill>
                <a:cs typeface="Calibri"/>
              </a:rPr>
              <a:t>integer:</a:t>
            </a:r>
            <a:r>
              <a:rPr sz="2000" spc="-30" dirty="0">
                <a:solidFill>
                  <a:prstClr val="black"/>
                </a:solidFill>
                <a:cs typeface="Calibri"/>
              </a:rPr>
              <a:t> </a:t>
            </a:r>
            <a:r>
              <a:rPr sz="2000" spc="-25" dirty="0">
                <a:solidFill>
                  <a:prstClr val="black"/>
                </a:solidFill>
                <a:cs typeface="Calibri"/>
              </a:rPr>
              <a:t>“;</a:t>
            </a:r>
            <a:endParaRPr sz="2000">
              <a:solidFill>
                <a:prstClr val="black"/>
              </a:solidFill>
              <a:cs typeface="Calibri"/>
            </a:endParaRPr>
          </a:p>
          <a:p>
            <a:pPr marL="355600"/>
            <a:r>
              <a:rPr sz="2000" dirty="0">
                <a:solidFill>
                  <a:prstClr val="black"/>
                </a:solidFill>
                <a:cs typeface="Calibri"/>
              </a:rPr>
              <a:t>cin</a:t>
            </a:r>
            <a:r>
              <a:rPr sz="2000" spc="-35" dirty="0">
                <a:solidFill>
                  <a:prstClr val="black"/>
                </a:solidFill>
                <a:cs typeface="Calibri"/>
              </a:rPr>
              <a:t> </a:t>
            </a:r>
            <a:r>
              <a:rPr sz="2000" dirty="0">
                <a:solidFill>
                  <a:prstClr val="black"/>
                </a:solidFill>
                <a:cs typeface="Calibri"/>
              </a:rPr>
              <a:t>&gt;&gt;</a:t>
            </a:r>
            <a:r>
              <a:rPr sz="2000" spc="-20" dirty="0">
                <a:solidFill>
                  <a:prstClr val="black"/>
                </a:solidFill>
                <a:cs typeface="Calibri"/>
              </a:rPr>
              <a:t> </a:t>
            </a:r>
            <a:r>
              <a:rPr sz="2000" spc="-25" dirty="0">
                <a:solidFill>
                  <a:prstClr val="black"/>
                </a:solidFill>
                <a:cs typeface="Calibri"/>
              </a:rPr>
              <a:t>i;</a:t>
            </a:r>
            <a:endParaRPr sz="2000">
              <a:solidFill>
                <a:prstClr val="black"/>
              </a:solidFill>
              <a:cs typeface="Calibri"/>
            </a:endParaRPr>
          </a:p>
          <a:p>
            <a:pPr marL="355600"/>
            <a:r>
              <a:rPr sz="2000" dirty="0">
                <a:solidFill>
                  <a:prstClr val="black"/>
                </a:solidFill>
                <a:cs typeface="Calibri"/>
              </a:rPr>
              <a:t>if(</a:t>
            </a:r>
            <a:r>
              <a:rPr sz="2000" spc="-15" dirty="0">
                <a:solidFill>
                  <a:prstClr val="black"/>
                </a:solidFill>
                <a:cs typeface="Calibri"/>
              </a:rPr>
              <a:t> </a:t>
            </a:r>
            <a:r>
              <a:rPr sz="2000" dirty="0">
                <a:solidFill>
                  <a:prstClr val="black"/>
                </a:solidFill>
                <a:cs typeface="Calibri"/>
              </a:rPr>
              <a:t>cin.good()</a:t>
            </a:r>
            <a:r>
              <a:rPr sz="2000" spc="-40" dirty="0">
                <a:solidFill>
                  <a:prstClr val="black"/>
                </a:solidFill>
                <a:cs typeface="Calibri"/>
              </a:rPr>
              <a:t> </a:t>
            </a:r>
            <a:r>
              <a:rPr sz="2000" dirty="0">
                <a:solidFill>
                  <a:prstClr val="black"/>
                </a:solidFill>
                <a:cs typeface="Calibri"/>
              </a:rPr>
              <a:t>)</a:t>
            </a:r>
            <a:r>
              <a:rPr sz="2000" spc="-20" dirty="0">
                <a:solidFill>
                  <a:prstClr val="black"/>
                </a:solidFill>
                <a:cs typeface="Calibri"/>
              </a:rPr>
              <a:t> </a:t>
            </a:r>
            <a:r>
              <a:rPr sz="2000" dirty="0">
                <a:solidFill>
                  <a:prstClr val="black"/>
                </a:solidFill>
                <a:cs typeface="Calibri"/>
              </a:rPr>
              <a:t>//</a:t>
            </a:r>
            <a:r>
              <a:rPr sz="2000" spc="-20" dirty="0">
                <a:solidFill>
                  <a:prstClr val="black"/>
                </a:solidFill>
                <a:cs typeface="Calibri"/>
              </a:rPr>
              <a:t> </a:t>
            </a:r>
            <a:r>
              <a:rPr sz="2000" dirty="0">
                <a:solidFill>
                  <a:prstClr val="black"/>
                </a:solidFill>
                <a:cs typeface="Calibri"/>
              </a:rPr>
              <a:t>if</a:t>
            </a:r>
            <a:r>
              <a:rPr sz="2000" spc="-20" dirty="0">
                <a:solidFill>
                  <a:prstClr val="black"/>
                </a:solidFill>
                <a:cs typeface="Calibri"/>
              </a:rPr>
              <a:t> </a:t>
            </a:r>
            <a:r>
              <a:rPr sz="2000" dirty="0">
                <a:solidFill>
                  <a:prstClr val="black"/>
                </a:solidFill>
                <a:cs typeface="Calibri"/>
              </a:rPr>
              <a:t>no</a:t>
            </a:r>
            <a:r>
              <a:rPr sz="2000" spc="-35" dirty="0">
                <a:solidFill>
                  <a:prstClr val="black"/>
                </a:solidFill>
                <a:cs typeface="Calibri"/>
              </a:rPr>
              <a:t> </a:t>
            </a:r>
            <a:r>
              <a:rPr sz="2000" spc="-10" dirty="0">
                <a:solidFill>
                  <a:prstClr val="black"/>
                </a:solidFill>
                <a:cs typeface="Calibri"/>
              </a:rPr>
              <a:t>errors</a:t>
            </a:r>
            <a:endParaRPr sz="2000">
              <a:solidFill>
                <a:prstClr val="black"/>
              </a:solidFill>
              <a:cs typeface="Calibri"/>
            </a:endParaRPr>
          </a:p>
          <a:p>
            <a:pPr marL="355600"/>
            <a:r>
              <a:rPr sz="2000" spc="-50" dirty="0">
                <a:solidFill>
                  <a:prstClr val="black"/>
                </a:solidFill>
                <a:cs typeface="Calibri"/>
              </a:rPr>
              <a:t>{</a:t>
            </a:r>
            <a:endParaRPr sz="2000">
              <a:solidFill>
                <a:prstClr val="black"/>
              </a:solidFill>
              <a:cs typeface="Calibri"/>
            </a:endParaRPr>
          </a:p>
          <a:p>
            <a:pPr marL="754380"/>
            <a:r>
              <a:rPr sz="2000" dirty="0">
                <a:solidFill>
                  <a:prstClr val="black"/>
                </a:solidFill>
                <a:cs typeface="Calibri"/>
              </a:rPr>
              <a:t>break;</a:t>
            </a:r>
            <a:r>
              <a:rPr sz="2000" spc="-50" dirty="0">
                <a:solidFill>
                  <a:prstClr val="black"/>
                </a:solidFill>
                <a:cs typeface="Calibri"/>
              </a:rPr>
              <a:t> </a:t>
            </a:r>
            <a:r>
              <a:rPr sz="2000" dirty="0">
                <a:solidFill>
                  <a:prstClr val="black"/>
                </a:solidFill>
                <a:cs typeface="Calibri"/>
              </a:rPr>
              <a:t>//</a:t>
            </a:r>
            <a:r>
              <a:rPr sz="2000" spc="-50" dirty="0">
                <a:solidFill>
                  <a:prstClr val="black"/>
                </a:solidFill>
                <a:cs typeface="Calibri"/>
              </a:rPr>
              <a:t> </a:t>
            </a:r>
            <a:r>
              <a:rPr sz="2000" dirty="0">
                <a:solidFill>
                  <a:prstClr val="black"/>
                </a:solidFill>
                <a:cs typeface="Calibri"/>
              </a:rPr>
              <a:t>exit</a:t>
            </a:r>
            <a:r>
              <a:rPr sz="2000" spc="-35" dirty="0">
                <a:solidFill>
                  <a:prstClr val="black"/>
                </a:solidFill>
                <a:cs typeface="Calibri"/>
              </a:rPr>
              <a:t> </a:t>
            </a:r>
            <a:r>
              <a:rPr sz="2000" spc="-20" dirty="0">
                <a:solidFill>
                  <a:prstClr val="black"/>
                </a:solidFill>
                <a:cs typeface="Calibri"/>
              </a:rPr>
              <a:t>loop</a:t>
            </a:r>
            <a:endParaRPr sz="2000">
              <a:solidFill>
                <a:prstClr val="black"/>
              </a:solidFill>
              <a:cs typeface="Calibri"/>
            </a:endParaRPr>
          </a:p>
          <a:p>
            <a:pPr marL="411480"/>
            <a:r>
              <a:rPr sz="2000" spc="-50" dirty="0">
                <a:solidFill>
                  <a:prstClr val="black"/>
                </a:solidFill>
                <a:cs typeface="Calibri"/>
              </a:rPr>
              <a:t>}</a:t>
            </a:r>
            <a:endParaRPr sz="2000">
              <a:solidFill>
                <a:prstClr val="black"/>
              </a:solidFill>
              <a:cs typeface="Calibri"/>
            </a:endParaRPr>
          </a:p>
          <a:p>
            <a:pPr marL="411480" marR="5080"/>
            <a:r>
              <a:rPr sz="2000" dirty="0">
                <a:solidFill>
                  <a:prstClr val="black"/>
                </a:solidFill>
                <a:cs typeface="Calibri"/>
              </a:rPr>
              <a:t>cin.clear();</a:t>
            </a:r>
            <a:r>
              <a:rPr sz="2000" spc="-30" dirty="0">
                <a:solidFill>
                  <a:prstClr val="black"/>
                </a:solidFill>
                <a:cs typeface="Calibri"/>
              </a:rPr>
              <a:t> </a:t>
            </a:r>
            <a:r>
              <a:rPr sz="2000" dirty="0">
                <a:solidFill>
                  <a:prstClr val="black"/>
                </a:solidFill>
                <a:cs typeface="Calibri"/>
              </a:rPr>
              <a:t>//</a:t>
            </a:r>
            <a:r>
              <a:rPr sz="2000" spc="-60" dirty="0">
                <a:solidFill>
                  <a:prstClr val="black"/>
                </a:solidFill>
                <a:cs typeface="Calibri"/>
              </a:rPr>
              <a:t> </a:t>
            </a:r>
            <a:r>
              <a:rPr sz="2000" dirty="0">
                <a:solidFill>
                  <a:prstClr val="black"/>
                </a:solidFill>
                <a:cs typeface="Calibri"/>
              </a:rPr>
              <a:t>clear</a:t>
            </a:r>
            <a:r>
              <a:rPr sz="2000" spc="-40" dirty="0">
                <a:solidFill>
                  <a:prstClr val="black"/>
                </a:solidFill>
                <a:cs typeface="Calibri"/>
              </a:rPr>
              <a:t> </a:t>
            </a:r>
            <a:r>
              <a:rPr sz="2000" dirty="0">
                <a:solidFill>
                  <a:prstClr val="black"/>
                </a:solidFill>
                <a:cs typeface="Calibri"/>
              </a:rPr>
              <a:t>the</a:t>
            </a:r>
            <a:r>
              <a:rPr sz="2000" spc="-40" dirty="0">
                <a:solidFill>
                  <a:prstClr val="black"/>
                </a:solidFill>
                <a:cs typeface="Calibri"/>
              </a:rPr>
              <a:t> </a:t>
            </a:r>
            <a:r>
              <a:rPr sz="2000" dirty="0">
                <a:solidFill>
                  <a:prstClr val="black"/>
                </a:solidFill>
                <a:cs typeface="Calibri"/>
              </a:rPr>
              <a:t>error</a:t>
            </a:r>
            <a:r>
              <a:rPr sz="2000" spc="-45" dirty="0">
                <a:solidFill>
                  <a:prstClr val="black"/>
                </a:solidFill>
                <a:cs typeface="Calibri"/>
              </a:rPr>
              <a:t> </a:t>
            </a:r>
            <a:r>
              <a:rPr sz="2000" spc="-20" dirty="0">
                <a:solidFill>
                  <a:prstClr val="black"/>
                </a:solidFill>
                <a:cs typeface="Calibri"/>
              </a:rPr>
              <a:t>bits </a:t>
            </a:r>
            <a:r>
              <a:rPr sz="2000" dirty="0">
                <a:solidFill>
                  <a:prstClr val="black"/>
                </a:solidFill>
                <a:cs typeface="Calibri"/>
              </a:rPr>
              <a:t>cout</a:t>
            </a:r>
            <a:r>
              <a:rPr sz="2000" spc="-45" dirty="0">
                <a:solidFill>
                  <a:prstClr val="black"/>
                </a:solidFill>
                <a:cs typeface="Calibri"/>
              </a:rPr>
              <a:t> </a:t>
            </a:r>
            <a:r>
              <a:rPr sz="2000" dirty="0">
                <a:solidFill>
                  <a:prstClr val="black"/>
                </a:solidFill>
                <a:cs typeface="Calibri"/>
              </a:rPr>
              <a:t>&lt;&lt;</a:t>
            </a:r>
            <a:r>
              <a:rPr sz="2000" spc="-40" dirty="0">
                <a:solidFill>
                  <a:prstClr val="black"/>
                </a:solidFill>
                <a:cs typeface="Calibri"/>
              </a:rPr>
              <a:t> </a:t>
            </a:r>
            <a:r>
              <a:rPr sz="2000" dirty="0">
                <a:solidFill>
                  <a:prstClr val="black"/>
                </a:solidFill>
                <a:cs typeface="Calibri"/>
              </a:rPr>
              <a:t>“Incorrect</a:t>
            </a:r>
            <a:r>
              <a:rPr sz="2000" spc="-60" dirty="0">
                <a:solidFill>
                  <a:prstClr val="black"/>
                </a:solidFill>
                <a:cs typeface="Calibri"/>
              </a:rPr>
              <a:t> </a:t>
            </a:r>
            <a:r>
              <a:rPr sz="2000" spc="-10" dirty="0">
                <a:solidFill>
                  <a:prstClr val="black"/>
                </a:solidFill>
                <a:cs typeface="Calibri"/>
              </a:rPr>
              <a:t>input”;</a:t>
            </a:r>
            <a:endParaRPr sz="2000">
              <a:solidFill>
                <a:prstClr val="black"/>
              </a:solidFill>
              <a:cs typeface="Calibri"/>
            </a:endParaRPr>
          </a:p>
          <a:p>
            <a:pPr marL="12700"/>
            <a:r>
              <a:rPr sz="2000" spc="-50" dirty="0">
                <a:solidFill>
                  <a:prstClr val="black"/>
                </a:solidFill>
                <a:cs typeface="Calibri"/>
              </a:rPr>
              <a:t>}</a:t>
            </a:r>
            <a:endParaRPr sz="2000">
              <a:solidFill>
                <a:prstClr val="black"/>
              </a:solidFill>
              <a:cs typeface="Calibri"/>
            </a:endParaRPr>
          </a:p>
          <a:p>
            <a:pPr marL="12700"/>
            <a:r>
              <a:rPr sz="2000" dirty="0">
                <a:solidFill>
                  <a:prstClr val="black"/>
                </a:solidFill>
                <a:cs typeface="Calibri"/>
              </a:rPr>
              <a:t>cout</a:t>
            </a:r>
            <a:r>
              <a:rPr sz="2000" spc="-55" dirty="0">
                <a:solidFill>
                  <a:prstClr val="black"/>
                </a:solidFill>
                <a:cs typeface="Calibri"/>
              </a:rPr>
              <a:t> </a:t>
            </a:r>
            <a:r>
              <a:rPr sz="2000" dirty="0">
                <a:solidFill>
                  <a:prstClr val="black"/>
                </a:solidFill>
                <a:cs typeface="Calibri"/>
              </a:rPr>
              <a:t>&lt;&lt;</a:t>
            </a:r>
            <a:r>
              <a:rPr sz="2000" spc="-40" dirty="0">
                <a:solidFill>
                  <a:prstClr val="black"/>
                </a:solidFill>
                <a:cs typeface="Calibri"/>
              </a:rPr>
              <a:t> </a:t>
            </a:r>
            <a:r>
              <a:rPr sz="2000" dirty="0">
                <a:solidFill>
                  <a:prstClr val="black"/>
                </a:solidFill>
                <a:cs typeface="Calibri"/>
              </a:rPr>
              <a:t>“integer</a:t>
            </a:r>
            <a:r>
              <a:rPr sz="2000" spc="-40" dirty="0">
                <a:solidFill>
                  <a:prstClr val="black"/>
                </a:solidFill>
                <a:cs typeface="Calibri"/>
              </a:rPr>
              <a:t> </a:t>
            </a:r>
            <a:r>
              <a:rPr sz="2000" dirty="0">
                <a:solidFill>
                  <a:prstClr val="black"/>
                </a:solidFill>
                <a:cs typeface="Calibri"/>
              </a:rPr>
              <a:t>is</a:t>
            </a:r>
            <a:r>
              <a:rPr sz="2000" spc="-25" dirty="0">
                <a:solidFill>
                  <a:prstClr val="black"/>
                </a:solidFill>
                <a:cs typeface="Calibri"/>
              </a:rPr>
              <a:t> </a:t>
            </a:r>
            <a:r>
              <a:rPr sz="2000" dirty="0">
                <a:solidFill>
                  <a:prstClr val="black"/>
                </a:solidFill>
                <a:cs typeface="Calibri"/>
              </a:rPr>
              <a:t>“</a:t>
            </a:r>
            <a:r>
              <a:rPr sz="2000" spc="-40" dirty="0">
                <a:solidFill>
                  <a:prstClr val="black"/>
                </a:solidFill>
                <a:cs typeface="Calibri"/>
              </a:rPr>
              <a:t> </a:t>
            </a:r>
            <a:r>
              <a:rPr sz="2000" dirty="0">
                <a:solidFill>
                  <a:prstClr val="black"/>
                </a:solidFill>
                <a:cs typeface="Calibri"/>
              </a:rPr>
              <a:t>&lt;&lt;</a:t>
            </a:r>
            <a:r>
              <a:rPr sz="2000" spc="-15" dirty="0">
                <a:solidFill>
                  <a:prstClr val="black"/>
                </a:solidFill>
                <a:cs typeface="Calibri"/>
              </a:rPr>
              <a:t> </a:t>
            </a:r>
            <a:r>
              <a:rPr sz="2000" spc="-25" dirty="0">
                <a:solidFill>
                  <a:prstClr val="black"/>
                </a:solidFill>
                <a:cs typeface="Calibri"/>
              </a:rPr>
              <a:t>i;</a:t>
            </a:r>
            <a:endParaRPr sz="2000">
              <a:solidFill>
                <a:prstClr val="black"/>
              </a:solidFill>
              <a:cs typeface="Calibri"/>
            </a:endParaRPr>
          </a:p>
        </p:txBody>
      </p:sp>
      <p:sp>
        <p:nvSpPr>
          <p:cNvPr id="8" name="object 8"/>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9" name="object 9"/>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0" name="Date Placeholder 9">
            <a:extLst>
              <a:ext uri="{FF2B5EF4-FFF2-40B4-BE49-F238E27FC236}">
                <a16:creationId xmlns:a16="http://schemas.microsoft.com/office/drawing/2014/main" id="{64B5D798-07B9-CFF2-98EA-472642B9FE2A}"/>
              </a:ext>
            </a:extLst>
          </p:cNvPr>
          <p:cNvSpPr>
            <a:spLocks noGrp="1"/>
          </p:cNvSpPr>
          <p:nvPr>
            <p:ph type="dt" sz="half" idx="10"/>
          </p:nvPr>
        </p:nvSpPr>
        <p:spPr/>
        <p:txBody>
          <a:bodyPr/>
          <a:lstStyle/>
          <a:p>
            <a:fld id="{82DA771D-A50D-498A-98B4-7A828FE3EE50}" type="datetime1">
              <a:rPr lang="en-US" smtClean="0">
                <a:solidFill>
                  <a:prstClr val="black">
                    <a:tint val="75000"/>
                  </a:prstClr>
                </a:solidFill>
              </a:rPr>
              <a:pPr/>
              <a:t>11/17/2025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10CE6F87-05FE-ED2F-8BCD-2930745DA0A6}"/>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79</a:t>
            </a:fld>
            <a:endParaRPr spc="-25" dirty="0">
              <a:solidFill>
                <a:prstClr val="black">
                  <a:tint val="75000"/>
                </a:prstClr>
              </a:solidFill>
            </a:endParaRPr>
          </a:p>
        </p:txBody>
      </p:sp>
    </p:spTree>
    <p:extLst>
      <p:ext uri="{BB962C8B-B14F-4D97-AF65-F5344CB8AC3E}">
        <p14:creationId xmlns:p14="http://schemas.microsoft.com/office/powerpoint/2010/main" val="5997913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File</a:t>
            </a:r>
            <a:r>
              <a:rPr spc="-70" dirty="0"/>
              <a:t> </a:t>
            </a:r>
            <a:r>
              <a:rPr spc="-25" dirty="0"/>
              <a:t>I/O</a:t>
            </a:r>
          </a:p>
        </p:txBody>
      </p:sp>
      <p:sp>
        <p:nvSpPr>
          <p:cNvPr id="3" name="object 3"/>
          <p:cNvSpPr txBox="1">
            <a:spLocks noGrp="1"/>
          </p:cNvSpPr>
          <p:nvPr>
            <p:ph idx="1"/>
          </p:nvPr>
        </p:nvSpPr>
        <p:spPr>
          <a:xfrm>
            <a:off x="838200" y="1825625"/>
            <a:ext cx="10515600" cy="4047903"/>
          </a:xfrm>
          <a:prstGeom prst="rect">
            <a:avLst/>
          </a:prstGeom>
        </p:spPr>
        <p:txBody>
          <a:bodyPr vert="horz" wrap="square" lIns="0" tIns="13335" rIns="0" bIns="0" rtlCol="0">
            <a:spAutoFit/>
          </a:bodyPr>
          <a:lstStyle/>
          <a:p>
            <a:pPr marL="356870" indent="-342900">
              <a:lnSpc>
                <a:spcPct val="100000"/>
              </a:lnSpc>
              <a:spcBef>
                <a:spcPts val="105"/>
              </a:spcBef>
              <a:buFont typeface="Arial MT"/>
              <a:buChar char="•"/>
              <a:tabLst>
                <a:tab pos="357505" algn="l"/>
              </a:tabLst>
            </a:pPr>
            <a:r>
              <a:rPr sz="1600" spc="-20" dirty="0"/>
              <a:t>Working</a:t>
            </a:r>
            <a:r>
              <a:rPr sz="1600" spc="-45" dirty="0"/>
              <a:t> </a:t>
            </a:r>
            <a:r>
              <a:rPr sz="1600" dirty="0"/>
              <a:t>with</a:t>
            </a:r>
            <a:r>
              <a:rPr sz="1600" spc="-20" dirty="0"/>
              <a:t> </a:t>
            </a:r>
            <a:r>
              <a:rPr sz="1600" dirty="0"/>
              <a:t>disk</a:t>
            </a:r>
            <a:r>
              <a:rPr sz="1600" spc="-15" dirty="0"/>
              <a:t> </a:t>
            </a:r>
            <a:r>
              <a:rPr sz="1600" dirty="0"/>
              <a:t>files</a:t>
            </a:r>
            <a:r>
              <a:rPr sz="1600" spc="-20" dirty="0"/>
              <a:t> </a:t>
            </a:r>
            <a:r>
              <a:rPr sz="1600" dirty="0"/>
              <a:t>requires</a:t>
            </a:r>
            <a:r>
              <a:rPr sz="1600" spc="-45" dirty="0"/>
              <a:t> </a:t>
            </a:r>
            <a:r>
              <a:rPr sz="1600" dirty="0"/>
              <a:t>another</a:t>
            </a:r>
            <a:r>
              <a:rPr sz="1600" spc="-30" dirty="0"/>
              <a:t> </a:t>
            </a:r>
            <a:r>
              <a:rPr sz="1600" dirty="0"/>
              <a:t>set</a:t>
            </a:r>
            <a:r>
              <a:rPr sz="1600" spc="-15" dirty="0"/>
              <a:t> </a:t>
            </a:r>
            <a:r>
              <a:rPr sz="1600" dirty="0"/>
              <a:t>of</a:t>
            </a:r>
            <a:r>
              <a:rPr sz="1600" spc="-20" dirty="0"/>
              <a:t> </a:t>
            </a:r>
            <a:r>
              <a:rPr sz="1600" spc="-10" dirty="0"/>
              <a:t>classes:</a:t>
            </a:r>
          </a:p>
          <a:p>
            <a:pPr marL="814069" lvl="1" indent="-342900">
              <a:lnSpc>
                <a:spcPct val="100000"/>
              </a:lnSpc>
              <a:buFont typeface="Arial MT"/>
              <a:buChar char="•"/>
              <a:tabLst>
                <a:tab pos="814705" algn="l"/>
              </a:tabLst>
            </a:pPr>
            <a:r>
              <a:rPr sz="1600" b="1" dirty="0">
                <a:latin typeface="Times New Roman"/>
                <a:cs typeface="Times New Roman"/>
              </a:rPr>
              <a:t>ifstream</a:t>
            </a:r>
            <a:r>
              <a:rPr sz="1600" b="1" spc="-55" dirty="0">
                <a:latin typeface="Times New Roman"/>
                <a:cs typeface="Times New Roman"/>
              </a:rPr>
              <a:t> </a:t>
            </a:r>
            <a:r>
              <a:rPr sz="1600" dirty="0">
                <a:latin typeface="Times New Roman"/>
                <a:cs typeface="Times New Roman"/>
              </a:rPr>
              <a:t>for</a:t>
            </a:r>
            <a:r>
              <a:rPr sz="1600" spc="-30" dirty="0">
                <a:latin typeface="Times New Roman"/>
                <a:cs typeface="Times New Roman"/>
              </a:rPr>
              <a:t> </a:t>
            </a:r>
            <a:r>
              <a:rPr sz="1600" spc="-10" dirty="0">
                <a:latin typeface="Times New Roman"/>
                <a:cs typeface="Times New Roman"/>
              </a:rPr>
              <a:t>input,</a:t>
            </a:r>
            <a:endParaRPr sz="1600" dirty="0">
              <a:latin typeface="Times New Roman"/>
              <a:cs typeface="Times New Roman"/>
            </a:endParaRPr>
          </a:p>
          <a:p>
            <a:pPr marL="814069" lvl="1" indent="-342900">
              <a:lnSpc>
                <a:spcPct val="100000"/>
              </a:lnSpc>
              <a:buFont typeface="Arial MT"/>
              <a:buChar char="•"/>
              <a:tabLst>
                <a:tab pos="814705" algn="l"/>
              </a:tabLst>
            </a:pPr>
            <a:r>
              <a:rPr sz="1600" b="1" dirty="0">
                <a:latin typeface="Times New Roman"/>
                <a:cs typeface="Times New Roman"/>
              </a:rPr>
              <a:t>ofstream</a:t>
            </a:r>
            <a:r>
              <a:rPr sz="1600" b="1" spc="-65" dirty="0">
                <a:latin typeface="Times New Roman"/>
                <a:cs typeface="Times New Roman"/>
              </a:rPr>
              <a:t> </a:t>
            </a:r>
            <a:r>
              <a:rPr sz="1600" dirty="0">
                <a:latin typeface="Times New Roman"/>
                <a:cs typeface="Times New Roman"/>
              </a:rPr>
              <a:t>for</a:t>
            </a:r>
            <a:r>
              <a:rPr sz="1600" spc="-40" dirty="0">
                <a:latin typeface="Times New Roman"/>
                <a:cs typeface="Times New Roman"/>
              </a:rPr>
              <a:t> </a:t>
            </a:r>
            <a:r>
              <a:rPr sz="1600" dirty="0">
                <a:latin typeface="Times New Roman"/>
                <a:cs typeface="Times New Roman"/>
              </a:rPr>
              <a:t>output,</a:t>
            </a:r>
            <a:r>
              <a:rPr sz="1600" spc="-40" dirty="0">
                <a:latin typeface="Times New Roman"/>
                <a:cs typeface="Times New Roman"/>
              </a:rPr>
              <a:t> </a:t>
            </a:r>
            <a:r>
              <a:rPr sz="1600" spc="-25" dirty="0">
                <a:latin typeface="Times New Roman"/>
                <a:cs typeface="Times New Roman"/>
              </a:rPr>
              <a:t>and</a:t>
            </a:r>
            <a:endParaRPr sz="1600" dirty="0">
              <a:latin typeface="Times New Roman"/>
              <a:cs typeface="Times New Roman"/>
            </a:endParaRPr>
          </a:p>
          <a:p>
            <a:pPr marL="814069" lvl="1" indent="-342900">
              <a:lnSpc>
                <a:spcPct val="100000"/>
              </a:lnSpc>
              <a:buFont typeface="Arial MT"/>
              <a:buChar char="•"/>
              <a:tabLst>
                <a:tab pos="814705" algn="l"/>
              </a:tabLst>
            </a:pPr>
            <a:r>
              <a:rPr sz="1600" b="1" dirty="0">
                <a:latin typeface="Times New Roman"/>
                <a:cs typeface="Times New Roman"/>
              </a:rPr>
              <a:t>fstream</a:t>
            </a:r>
            <a:r>
              <a:rPr sz="1600" b="1" spc="-45" dirty="0">
                <a:latin typeface="Times New Roman"/>
                <a:cs typeface="Times New Roman"/>
              </a:rPr>
              <a:t> </a:t>
            </a:r>
            <a:r>
              <a:rPr sz="1600" dirty="0">
                <a:latin typeface="Times New Roman"/>
                <a:cs typeface="Times New Roman"/>
              </a:rPr>
              <a:t>for</a:t>
            </a:r>
            <a:r>
              <a:rPr sz="1600" spc="-20" dirty="0">
                <a:latin typeface="Times New Roman"/>
                <a:cs typeface="Times New Roman"/>
              </a:rPr>
              <a:t> </a:t>
            </a:r>
            <a:r>
              <a:rPr sz="1600" dirty="0">
                <a:latin typeface="Times New Roman"/>
                <a:cs typeface="Times New Roman"/>
              </a:rPr>
              <a:t>both</a:t>
            </a:r>
            <a:r>
              <a:rPr sz="1600" spc="-35" dirty="0">
                <a:latin typeface="Times New Roman"/>
                <a:cs typeface="Times New Roman"/>
              </a:rPr>
              <a:t> </a:t>
            </a:r>
            <a:r>
              <a:rPr sz="1600" dirty="0">
                <a:latin typeface="Times New Roman"/>
                <a:cs typeface="Times New Roman"/>
              </a:rPr>
              <a:t>input</a:t>
            </a:r>
            <a:r>
              <a:rPr sz="1600" spc="-20" dirty="0">
                <a:latin typeface="Times New Roman"/>
                <a:cs typeface="Times New Roman"/>
              </a:rPr>
              <a:t> </a:t>
            </a:r>
            <a:r>
              <a:rPr sz="1600" dirty="0">
                <a:latin typeface="Times New Roman"/>
                <a:cs typeface="Times New Roman"/>
              </a:rPr>
              <a:t>and</a:t>
            </a:r>
            <a:r>
              <a:rPr sz="1600" spc="-10" dirty="0">
                <a:latin typeface="Times New Roman"/>
                <a:cs typeface="Times New Roman"/>
              </a:rPr>
              <a:t> output.</a:t>
            </a:r>
            <a:endParaRPr sz="1600" dirty="0">
              <a:latin typeface="Times New Roman"/>
              <a:cs typeface="Times New Roman"/>
            </a:endParaRPr>
          </a:p>
          <a:p>
            <a:pPr marL="356870" marR="5715" indent="-343535">
              <a:lnSpc>
                <a:spcPct val="100000"/>
              </a:lnSpc>
              <a:buFont typeface="Arial MT"/>
              <a:buChar char="•"/>
              <a:tabLst>
                <a:tab pos="357505" algn="l"/>
              </a:tabLst>
            </a:pPr>
            <a:r>
              <a:rPr sz="1600" dirty="0"/>
              <a:t>Objects</a:t>
            </a:r>
            <a:r>
              <a:rPr sz="1600" spc="55" dirty="0"/>
              <a:t> </a:t>
            </a:r>
            <a:r>
              <a:rPr sz="1600" dirty="0"/>
              <a:t>of</a:t>
            </a:r>
            <a:r>
              <a:rPr sz="1600" spc="70" dirty="0"/>
              <a:t> </a:t>
            </a:r>
            <a:r>
              <a:rPr sz="1600" dirty="0"/>
              <a:t>these</a:t>
            </a:r>
            <a:r>
              <a:rPr sz="1600" spc="65" dirty="0"/>
              <a:t> </a:t>
            </a:r>
            <a:r>
              <a:rPr sz="1600" dirty="0"/>
              <a:t>classes</a:t>
            </a:r>
            <a:r>
              <a:rPr sz="1600" spc="55" dirty="0"/>
              <a:t> </a:t>
            </a:r>
            <a:r>
              <a:rPr sz="1600" dirty="0"/>
              <a:t>can</a:t>
            </a:r>
            <a:r>
              <a:rPr sz="1600" spc="55" dirty="0"/>
              <a:t> </a:t>
            </a:r>
            <a:r>
              <a:rPr sz="1600" dirty="0"/>
              <a:t>be</a:t>
            </a:r>
            <a:r>
              <a:rPr sz="1600" spc="65" dirty="0"/>
              <a:t> </a:t>
            </a:r>
            <a:r>
              <a:rPr sz="1600" dirty="0"/>
              <a:t>associated</a:t>
            </a:r>
            <a:r>
              <a:rPr sz="1600" spc="60" dirty="0"/>
              <a:t> </a:t>
            </a:r>
            <a:r>
              <a:rPr sz="1600" dirty="0"/>
              <a:t>with</a:t>
            </a:r>
            <a:r>
              <a:rPr sz="1600" spc="55" dirty="0"/>
              <a:t> </a:t>
            </a:r>
            <a:r>
              <a:rPr sz="1600" dirty="0"/>
              <a:t>disk</a:t>
            </a:r>
            <a:r>
              <a:rPr sz="1600" spc="55" dirty="0"/>
              <a:t> </a:t>
            </a:r>
            <a:r>
              <a:rPr sz="1600" dirty="0"/>
              <a:t>files,</a:t>
            </a:r>
            <a:r>
              <a:rPr sz="1600" spc="70" dirty="0"/>
              <a:t> </a:t>
            </a:r>
            <a:r>
              <a:rPr sz="1600" dirty="0"/>
              <a:t>and</a:t>
            </a:r>
            <a:r>
              <a:rPr sz="1600" spc="65" dirty="0"/>
              <a:t> </a:t>
            </a:r>
            <a:r>
              <a:rPr sz="1600" dirty="0"/>
              <a:t>we</a:t>
            </a:r>
            <a:r>
              <a:rPr sz="1600" spc="50" dirty="0"/>
              <a:t> </a:t>
            </a:r>
            <a:r>
              <a:rPr sz="1600" dirty="0"/>
              <a:t>can</a:t>
            </a:r>
            <a:r>
              <a:rPr sz="1600" spc="60" dirty="0"/>
              <a:t> </a:t>
            </a:r>
            <a:r>
              <a:rPr sz="1600" dirty="0"/>
              <a:t>use</a:t>
            </a:r>
            <a:r>
              <a:rPr sz="1600" spc="55" dirty="0"/>
              <a:t> </a:t>
            </a:r>
            <a:r>
              <a:rPr sz="1600" dirty="0"/>
              <a:t>their</a:t>
            </a:r>
            <a:r>
              <a:rPr sz="1600" spc="70" dirty="0"/>
              <a:t> </a:t>
            </a:r>
            <a:r>
              <a:rPr sz="1600" dirty="0"/>
              <a:t>member</a:t>
            </a:r>
            <a:r>
              <a:rPr sz="1600" spc="65" dirty="0"/>
              <a:t> </a:t>
            </a:r>
            <a:r>
              <a:rPr sz="1600" spc="-10" dirty="0"/>
              <a:t>functions </a:t>
            </a:r>
            <a:r>
              <a:rPr sz="1600" dirty="0"/>
              <a:t>to</a:t>
            </a:r>
            <a:r>
              <a:rPr sz="1600" spc="-10" dirty="0"/>
              <a:t> </a:t>
            </a:r>
            <a:r>
              <a:rPr sz="1600" dirty="0"/>
              <a:t>read</a:t>
            </a:r>
            <a:r>
              <a:rPr sz="1600" spc="-15" dirty="0"/>
              <a:t> </a:t>
            </a:r>
            <a:r>
              <a:rPr sz="1600" dirty="0"/>
              <a:t>and</a:t>
            </a:r>
            <a:r>
              <a:rPr sz="1600" spc="-15" dirty="0"/>
              <a:t> </a:t>
            </a:r>
            <a:r>
              <a:rPr sz="1600" dirty="0"/>
              <a:t>write</a:t>
            </a:r>
            <a:r>
              <a:rPr sz="1600" spc="-10" dirty="0"/>
              <a:t> </a:t>
            </a:r>
            <a:r>
              <a:rPr sz="1600" dirty="0"/>
              <a:t>to</a:t>
            </a:r>
            <a:r>
              <a:rPr sz="1600" spc="-20" dirty="0"/>
              <a:t> </a:t>
            </a:r>
            <a:r>
              <a:rPr sz="1600" dirty="0"/>
              <a:t>the</a:t>
            </a:r>
            <a:r>
              <a:rPr sz="1600" spc="-10" dirty="0"/>
              <a:t> files.</a:t>
            </a:r>
          </a:p>
          <a:p>
            <a:pPr marL="356870" marR="1671955" indent="-343535">
              <a:lnSpc>
                <a:spcPct val="100000"/>
              </a:lnSpc>
              <a:spcBef>
                <a:spcPts val="5"/>
              </a:spcBef>
              <a:buFont typeface="Arial MT"/>
              <a:buChar char="•"/>
              <a:tabLst>
                <a:tab pos="471805" algn="l"/>
              </a:tabLst>
            </a:pPr>
            <a:r>
              <a:rPr sz="1600" spc="-30" dirty="0"/>
              <a:t>To</a:t>
            </a:r>
            <a:r>
              <a:rPr sz="1600" spc="-25" dirty="0"/>
              <a:t> </a:t>
            </a:r>
            <a:r>
              <a:rPr sz="1600" dirty="0"/>
              <a:t>use</a:t>
            </a:r>
            <a:r>
              <a:rPr sz="1600" spc="-20" dirty="0"/>
              <a:t> </a:t>
            </a:r>
            <a:r>
              <a:rPr sz="1600" dirty="0"/>
              <a:t>file</a:t>
            </a:r>
            <a:r>
              <a:rPr sz="1600" spc="-40" dirty="0"/>
              <a:t> </a:t>
            </a:r>
            <a:r>
              <a:rPr sz="1600" dirty="0"/>
              <a:t>I/O</a:t>
            </a:r>
            <a:r>
              <a:rPr sz="1600" spc="-15" dirty="0"/>
              <a:t> </a:t>
            </a:r>
            <a:r>
              <a:rPr sz="1600" dirty="0"/>
              <a:t>in</a:t>
            </a:r>
            <a:r>
              <a:rPr sz="1600" spc="-15" dirty="0"/>
              <a:t> </a:t>
            </a:r>
            <a:r>
              <a:rPr sz="1600" dirty="0"/>
              <a:t>C++</a:t>
            </a:r>
            <a:r>
              <a:rPr sz="1600" spc="-5" dirty="0"/>
              <a:t> </a:t>
            </a:r>
            <a:r>
              <a:rPr sz="1600" dirty="0"/>
              <a:t>you</a:t>
            </a:r>
            <a:r>
              <a:rPr sz="1600" spc="-25" dirty="0"/>
              <a:t> </a:t>
            </a:r>
            <a:r>
              <a:rPr sz="1600" dirty="0"/>
              <a:t>typically</a:t>
            </a:r>
            <a:r>
              <a:rPr sz="1600" spc="-30" dirty="0"/>
              <a:t> </a:t>
            </a:r>
            <a:r>
              <a:rPr sz="1600" dirty="0"/>
              <a:t>include</a:t>
            </a:r>
            <a:r>
              <a:rPr sz="1600" spc="-40" dirty="0"/>
              <a:t> </a:t>
            </a:r>
            <a:r>
              <a:rPr sz="1600" dirty="0"/>
              <a:t>the</a:t>
            </a:r>
            <a:r>
              <a:rPr sz="1600" spc="-15" dirty="0"/>
              <a:t> </a:t>
            </a:r>
            <a:r>
              <a:rPr sz="1600" dirty="0"/>
              <a:t>iostream</a:t>
            </a:r>
            <a:r>
              <a:rPr sz="1600" spc="-45" dirty="0"/>
              <a:t> </a:t>
            </a:r>
            <a:r>
              <a:rPr sz="1600" dirty="0"/>
              <a:t>and</a:t>
            </a:r>
            <a:r>
              <a:rPr sz="1600" spc="-20" dirty="0"/>
              <a:t> </a:t>
            </a:r>
            <a:r>
              <a:rPr sz="1600" dirty="0"/>
              <a:t>fstream</a:t>
            </a:r>
            <a:r>
              <a:rPr sz="1600" spc="-40" dirty="0"/>
              <a:t> </a:t>
            </a:r>
            <a:r>
              <a:rPr sz="1600" dirty="0"/>
              <a:t>header</a:t>
            </a:r>
            <a:r>
              <a:rPr sz="1600" spc="-30" dirty="0"/>
              <a:t> </a:t>
            </a:r>
            <a:r>
              <a:rPr sz="1600" spc="-10" dirty="0"/>
              <a:t>files: 	</a:t>
            </a:r>
            <a:r>
              <a:rPr sz="1600" dirty="0"/>
              <a:t>#include</a:t>
            </a:r>
            <a:r>
              <a:rPr sz="1600" spc="-30" dirty="0"/>
              <a:t> </a:t>
            </a:r>
            <a:r>
              <a:rPr sz="1600" spc="-10" dirty="0"/>
              <a:t>&lt;iostream&gt;</a:t>
            </a:r>
          </a:p>
          <a:p>
            <a:pPr marL="471170">
              <a:lnSpc>
                <a:spcPct val="100000"/>
              </a:lnSpc>
            </a:pPr>
            <a:r>
              <a:rPr sz="1600" dirty="0"/>
              <a:t>#include</a:t>
            </a:r>
            <a:r>
              <a:rPr sz="1600" spc="-30" dirty="0"/>
              <a:t> </a:t>
            </a:r>
            <a:r>
              <a:rPr sz="1600" spc="-10" dirty="0"/>
              <a:t>&lt;fstream&gt;</a:t>
            </a:r>
          </a:p>
          <a:p>
            <a:pPr marL="356870" indent="-342900">
              <a:lnSpc>
                <a:spcPct val="100000"/>
              </a:lnSpc>
              <a:buFont typeface="Arial MT"/>
              <a:buChar char="•"/>
              <a:tabLst>
                <a:tab pos="357505" algn="l"/>
              </a:tabLst>
            </a:pPr>
            <a:r>
              <a:rPr sz="1600" spc="-50" dirty="0"/>
              <a:t>We</a:t>
            </a:r>
            <a:r>
              <a:rPr sz="1600" spc="-30" dirty="0"/>
              <a:t> </a:t>
            </a:r>
            <a:r>
              <a:rPr sz="1600" dirty="0"/>
              <a:t>will</a:t>
            </a:r>
            <a:r>
              <a:rPr sz="1600" spc="-20" dirty="0"/>
              <a:t> </a:t>
            </a:r>
            <a:r>
              <a:rPr sz="1600" dirty="0"/>
              <a:t>declare</a:t>
            </a:r>
            <a:r>
              <a:rPr sz="1600" spc="-35" dirty="0"/>
              <a:t> </a:t>
            </a:r>
            <a:r>
              <a:rPr sz="1600" dirty="0"/>
              <a:t>variables</a:t>
            </a:r>
            <a:r>
              <a:rPr sz="1600" spc="-35" dirty="0"/>
              <a:t> </a:t>
            </a:r>
            <a:r>
              <a:rPr sz="1600" dirty="0"/>
              <a:t>of</a:t>
            </a:r>
            <a:r>
              <a:rPr sz="1600" spc="-25" dirty="0"/>
              <a:t> </a:t>
            </a:r>
            <a:r>
              <a:rPr sz="1600" dirty="0"/>
              <a:t>the</a:t>
            </a:r>
            <a:r>
              <a:rPr sz="1600" spc="-15" dirty="0"/>
              <a:t> </a:t>
            </a:r>
            <a:r>
              <a:rPr sz="1600" dirty="0"/>
              <a:t>ofstream</a:t>
            </a:r>
            <a:r>
              <a:rPr sz="1600" spc="-50" dirty="0"/>
              <a:t> </a:t>
            </a:r>
            <a:r>
              <a:rPr sz="1600" dirty="0"/>
              <a:t>and</a:t>
            </a:r>
            <a:r>
              <a:rPr sz="1600" spc="-20" dirty="0"/>
              <a:t> </a:t>
            </a:r>
            <a:r>
              <a:rPr sz="1600" dirty="0"/>
              <a:t>ifstream</a:t>
            </a:r>
            <a:r>
              <a:rPr sz="1600" spc="-35" dirty="0"/>
              <a:t> </a:t>
            </a:r>
            <a:r>
              <a:rPr sz="1600" dirty="0"/>
              <a:t>classes</a:t>
            </a:r>
            <a:r>
              <a:rPr sz="1600" spc="-30" dirty="0"/>
              <a:t> </a:t>
            </a:r>
            <a:r>
              <a:rPr sz="1600" dirty="0"/>
              <a:t>to</a:t>
            </a:r>
            <a:r>
              <a:rPr sz="1600" spc="-10" dirty="0"/>
              <a:t> </a:t>
            </a:r>
            <a:r>
              <a:rPr sz="1600" dirty="0"/>
              <a:t>get</a:t>
            </a:r>
            <a:r>
              <a:rPr sz="1600" spc="-15" dirty="0"/>
              <a:t> </a:t>
            </a:r>
            <a:r>
              <a:rPr sz="1600" dirty="0"/>
              <a:t>output</a:t>
            </a:r>
            <a:r>
              <a:rPr sz="1600" spc="-50" dirty="0"/>
              <a:t> </a:t>
            </a:r>
            <a:r>
              <a:rPr sz="1600" dirty="0"/>
              <a:t>and</a:t>
            </a:r>
            <a:r>
              <a:rPr sz="1600" spc="-20" dirty="0"/>
              <a:t> </a:t>
            </a:r>
            <a:r>
              <a:rPr sz="1600" dirty="0"/>
              <a:t>input</a:t>
            </a:r>
            <a:r>
              <a:rPr sz="1600" spc="-25" dirty="0"/>
              <a:t> </a:t>
            </a:r>
            <a:r>
              <a:rPr sz="1600" dirty="0"/>
              <a:t>file</a:t>
            </a:r>
            <a:r>
              <a:rPr sz="1600" spc="-30" dirty="0"/>
              <a:t> </a:t>
            </a:r>
            <a:r>
              <a:rPr sz="1600" spc="-10" dirty="0"/>
              <a:t>streams.</a:t>
            </a:r>
          </a:p>
          <a:p>
            <a:pPr marL="356870" marR="5080" indent="-343535">
              <a:lnSpc>
                <a:spcPct val="100000"/>
              </a:lnSpc>
              <a:buFont typeface="Arial MT"/>
              <a:buChar char="•"/>
              <a:tabLst>
                <a:tab pos="357505" algn="l"/>
                <a:tab pos="1363345" algn="l"/>
                <a:tab pos="1802130" algn="l"/>
                <a:tab pos="2268220" algn="l"/>
                <a:tab pos="2567305" algn="l"/>
                <a:tab pos="3190875" algn="l"/>
                <a:tab pos="4698365" algn="l"/>
                <a:tab pos="5081905" algn="l"/>
                <a:tab pos="5522595" algn="l"/>
                <a:tab pos="6470650" algn="l"/>
                <a:tab pos="7790815" algn="l"/>
                <a:tab pos="8316595" algn="l"/>
                <a:tab pos="9584690" algn="l"/>
                <a:tab pos="10235565" algn="l"/>
              </a:tabLst>
            </a:pPr>
            <a:r>
              <a:rPr sz="1600" spc="-10" dirty="0"/>
              <a:t>Opening</a:t>
            </a:r>
            <a:r>
              <a:rPr sz="1600" dirty="0"/>
              <a:t>	</a:t>
            </a:r>
            <a:r>
              <a:rPr sz="1600" spc="-25" dirty="0"/>
              <a:t>the</a:t>
            </a:r>
            <a:r>
              <a:rPr sz="1600" dirty="0"/>
              <a:t>	</a:t>
            </a:r>
            <a:r>
              <a:rPr sz="1600" spc="-20" dirty="0"/>
              <a:t>file</a:t>
            </a:r>
            <a:r>
              <a:rPr sz="1600" dirty="0"/>
              <a:t>	</a:t>
            </a:r>
            <a:r>
              <a:rPr sz="1600" spc="-25" dirty="0"/>
              <a:t>is</a:t>
            </a:r>
            <a:r>
              <a:rPr sz="1600" dirty="0"/>
              <a:t>	</a:t>
            </a:r>
            <a:r>
              <a:rPr sz="1600" spc="-20" dirty="0"/>
              <a:t>done</a:t>
            </a:r>
            <a:r>
              <a:rPr sz="1600" dirty="0"/>
              <a:t>	</a:t>
            </a:r>
            <a:r>
              <a:rPr sz="1600" spc="-10" dirty="0"/>
              <a:t>automatically</a:t>
            </a:r>
            <a:r>
              <a:rPr sz="1600" dirty="0"/>
              <a:t>	</a:t>
            </a:r>
            <a:r>
              <a:rPr sz="1600" spc="-25" dirty="0"/>
              <a:t>by</a:t>
            </a:r>
            <a:r>
              <a:rPr sz="1600" dirty="0"/>
              <a:t>	</a:t>
            </a:r>
            <a:r>
              <a:rPr sz="1600" spc="-25" dirty="0"/>
              <a:t>the</a:t>
            </a:r>
            <a:r>
              <a:rPr sz="1600" dirty="0"/>
              <a:t>	</a:t>
            </a:r>
            <a:r>
              <a:rPr sz="1600" spc="-10" dirty="0"/>
              <a:t>stream's</a:t>
            </a:r>
            <a:r>
              <a:rPr sz="1600" dirty="0"/>
              <a:t>	</a:t>
            </a:r>
            <a:r>
              <a:rPr sz="1600" spc="-10" dirty="0"/>
              <a:t>constructor.</a:t>
            </a:r>
            <a:r>
              <a:rPr sz="1600" dirty="0"/>
              <a:t>	</a:t>
            </a:r>
            <a:r>
              <a:rPr sz="1600" spc="-25" dirty="0"/>
              <a:t>The</a:t>
            </a:r>
            <a:r>
              <a:rPr sz="1600" dirty="0"/>
              <a:t>	</a:t>
            </a:r>
            <a:r>
              <a:rPr sz="1600" spc="-10" dirty="0"/>
              <a:t>constructor</a:t>
            </a:r>
            <a:r>
              <a:rPr sz="1600" dirty="0"/>
              <a:t>	</a:t>
            </a:r>
            <a:r>
              <a:rPr sz="1600" spc="-10" dirty="0"/>
              <a:t>takes</a:t>
            </a:r>
            <a:r>
              <a:rPr sz="1600" dirty="0"/>
              <a:t>	</a:t>
            </a:r>
            <a:r>
              <a:rPr sz="1600" spc="-50" dirty="0"/>
              <a:t>a </a:t>
            </a:r>
            <a:r>
              <a:rPr sz="1600" dirty="0"/>
              <a:t>filename</a:t>
            </a:r>
            <a:r>
              <a:rPr sz="1600" spc="-20" dirty="0"/>
              <a:t> </a:t>
            </a:r>
            <a:r>
              <a:rPr sz="1600" dirty="0"/>
              <a:t>and</a:t>
            </a:r>
            <a:r>
              <a:rPr sz="1600" spc="-15" dirty="0"/>
              <a:t> </a:t>
            </a:r>
            <a:r>
              <a:rPr sz="1600" dirty="0"/>
              <a:t>an</a:t>
            </a:r>
            <a:r>
              <a:rPr sz="1600" spc="-10" dirty="0"/>
              <a:t> </a:t>
            </a:r>
            <a:r>
              <a:rPr sz="1600" dirty="0"/>
              <a:t>indication</a:t>
            </a:r>
            <a:r>
              <a:rPr sz="1600" spc="-40" dirty="0"/>
              <a:t> </a:t>
            </a:r>
            <a:r>
              <a:rPr sz="1600" dirty="0"/>
              <a:t>of</a:t>
            </a:r>
            <a:r>
              <a:rPr sz="1600" spc="-10" dirty="0"/>
              <a:t> </a:t>
            </a:r>
            <a:r>
              <a:rPr sz="1600" dirty="0"/>
              <a:t>whether</a:t>
            </a:r>
            <a:r>
              <a:rPr sz="1600" spc="-30" dirty="0"/>
              <a:t> </a:t>
            </a:r>
            <a:r>
              <a:rPr sz="1600" dirty="0"/>
              <a:t>the</a:t>
            </a:r>
            <a:r>
              <a:rPr sz="1600" spc="-15" dirty="0"/>
              <a:t> </a:t>
            </a:r>
            <a:r>
              <a:rPr sz="1600" dirty="0"/>
              <a:t>stream</a:t>
            </a:r>
            <a:r>
              <a:rPr sz="1600" spc="-40" dirty="0"/>
              <a:t> </a:t>
            </a:r>
            <a:r>
              <a:rPr sz="1600" dirty="0"/>
              <a:t>is</a:t>
            </a:r>
            <a:r>
              <a:rPr sz="1600" spc="-15" dirty="0"/>
              <a:t> </a:t>
            </a:r>
            <a:r>
              <a:rPr sz="1600" dirty="0"/>
              <a:t>an</a:t>
            </a:r>
            <a:r>
              <a:rPr sz="1600" spc="-10" dirty="0"/>
              <a:t> </a:t>
            </a:r>
            <a:r>
              <a:rPr sz="1600" dirty="0"/>
              <a:t>input</a:t>
            </a:r>
            <a:r>
              <a:rPr sz="1600" spc="-35" dirty="0"/>
              <a:t> </a:t>
            </a:r>
            <a:r>
              <a:rPr sz="1600" dirty="0"/>
              <a:t>or</a:t>
            </a:r>
            <a:r>
              <a:rPr sz="1600" spc="-10" dirty="0"/>
              <a:t> </a:t>
            </a:r>
            <a:r>
              <a:rPr sz="1600" dirty="0"/>
              <a:t>output</a:t>
            </a:r>
            <a:r>
              <a:rPr sz="1600" spc="-50" dirty="0"/>
              <a:t> </a:t>
            </a:r>
            <a:r>
              <a:rPr sz="1600" spc="-10" dirty="0"/>
              <a:t>stream.</a:t>
            </a:r>
          </a:p>
          <a:p>
            <a:pPr marL="471170">
              <a:lnSpc>
                <a:spcPct val="100000"/>
              </a:lnSpc>
            </a:pPr>
            <a:r>
              <a:rPr sz="1600" dirty="0"/>
              <a:t>ifstream</a:t>
            </a:r>
            <a:r>
              <a:rPr sz="1600" spc="-60" dirty="0"/>
              <a:t> </a:t>
            </a:r>
            <a:r>
              <a:rPr sz="1600" spc="-10" dirty="0"/>
              <a:t>infile("mydata.txt",ios::in);</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6" name="object 6"/>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7" name="object 7"/>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8" name="Date Placeholder 7">
            <a:extLst>
              <a:ext uri="{FF2B5EF4-FFF2-40B4-BE49-F238E27FC236}">
                <a16:creationId xmlns:a16="http://schemas.microsoft.com/office/drawing/2014/main" id="{88B03E22-94A4-8A40-F678-F9390B77E13B}"/>
              </a:ext>
            </a:extLst>
          </p:cNvPr>
          <p:cNvSpPr>
            <a:spLocks noGrp="1"/>
          </p:cNvSpPr>
          <p:nvPr>
            <p:ph type="dt" sz="half" idx="10"/>
          </p:nvPr>
        </p:nvSpPr>
        <p:spPr/>
        <p:txBody>
          <a:bodyPr/>
          <a:lstStyle/>
          <a:p>
            <a:fld id="{E79A118E-2A09-4C21-9CC4-CD517313F51C}" type="datetime1">
              <a:rPr lang="en-US" smtClean="0">
                <a:solidFill>
                  <a:prstClr val="black">
                    <a:tint val="75000"/>
                  </a:prstClr>
                </a:solidFill>
              </a:rPr>
              <a:pPr/>
              <a:t>11/17/2025</a:t>
            </a:fld>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405A6E82-E218-C31D-8B8A-BE682CE68A8E}"/>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80</a:t>
            </a:fld>
            <a:endParaRPr spc="-25" dirty="0">
              <a:solidFill>
                <a:prstClr val="black">
                  <a:tint val="75000"/>
                </a:prstClr>
              </a:solidFill>
            </a:endParaRPr>
          </a:p>
        </p:txBody>
      </p:sp>
    </p:spTree>
    <p:extLst>
      <p:ext uri="{BB962C8B-B14F-4D97-AF65-F5344CB8AC3E}">
        <p14:creationId xmlns:p14="http://schemas.microsoft.com/office/powerpoint/2010/main" val="22909592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File</a:t>
            </a:r>
            <a:r>
              <a:rPr spc="-70" dirty="0"/>
              <a:t> </a:t>
            </a:r>
            <a:r>
              <a:rPr spc="-25" dirty="0"/>
              <a:t>I/O</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648713"/>
            <a:ext cx="1964055" cy="330835"/>
          </a:xfrm>
          <a:prstGeom prst="rect">
            <a:avLst/>
          </a:prstGeom>
        </p:spPr>
        <p:txBody>
          <a:bodyPr vert="horz" wrap="square" lIns="0" tIns="13335" rIns="0" bIns="0" rtlCol="0">
            <a:spAutoFit/>
          </a:bodyPr>
          <a:lstStyle/>
          <a:p>
            <a:pPr marL="355600" indent="-342900">
              <a:spcBef>
                <a:spcPts val="105"/>
              </a:spcBef>
              <a:buFont typeface="Arial MT"/>
              <a:buChar char="•"/>
              <a:tabLst>
                <a:tab pos="355600" algn="l"/>
              </a:tabLst>
            </a:pPr>
            <a:r>
              <a:rPr sz="2000" b="1" dirty="0">
                <a:solidFill>
                  <a:prstClr val="black"/>
                </a:solidFill>
                <a:latin typeface="Times New Roman"/>
                <a:cs typeface="Times New Roman"/>
              </a:rPr>
              <a:t>The</a:t>
            </a:r>
            <a:r>
              <a:rPr sz="2000" b="1" spc="-15" dirty="0">
                <a:solidFill>
                  <a:prstClr val="black"/>
                </a:solidFill>
                <a:latin typeface="Times New Roman"/>
                <a:cs typeface="Times New Roman"/>
              </a:rPr>
              <a:t> </a:t>
            </a:r>
            <a:r>
              <a:rPr sz="2000" b="1" dirty="0">
                <a:solidFill>
                  <a:prstClr val="black"/>
                </a:solidFill>
                <a:latin typeface="Times New Roman"/>
                <a:cs typeface="Times New Roman"/>
              </a:rPr>
              <a:t>Mode</a:t>
            </a:r>
            <a:r>
              <a:rPr sz="2000" b="1" spc="-15" dirty="0">
                <a:solidFill>
                  <a:prstClr val="black"/>
                </a:solidFill>
                <a:latin typeface="Times New Roman"/>
                <a:cs typeface="Times New Roman"/>
              </a:rPr>
              <a:t> </a:t>
            </a:r>
            <a:r>
              <a:rPr sz="2000" b="1" spc="-20" dirty="0">
                <a:solidFill>
                  <a:prstClr val="black"/>
                </a:solidFill>
                <a:latin typeface="Times New Roman"/>
                <a:cs typeface="Times New Roman"/>
              </a:rPr>
              <a:t>Bits</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1949195" y="3879341"/>
            <a:ext cx="8215883" cy="1618106"/>
          </a:xfrm>
          <a:prstGeom prst="rect">
            <a:avLst/>
          </a:prstGeom>
        </p:spPr>
      </p:pic>
      <p:pic>
        <p:nvPicPr>
          <p:cNvPr id="5" name="object 5"/>
          <p:cNvPicPr/>
          <p:nvPr/>
        </p:nvPicPr>
        <p:blipFill>
          <a:blip r:embed="rId3" cstate="print"/>
          <a:stretch>
            <a:fillRect/>
          </a:stretch>
        </p:blipFill>
        <p:spPr>
          <a:xfrm>
            <a:off x="1961388" y="2418467"/>
            <a:ext cx="8189269" cy="1331226"/>
          </a:xfrm>
          <a:prstGeom prst="rect">
            <a:avLst/>
          </a:prstGeom>
        </p:spPr>
      </p:pic>
      <p:sp>
        <p:nvSpPr>
          <p:cNvPr id="8" name="object 8"/>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9" name="object 9"/>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0" name="Date Placeholder 9">
            <a:extLst>
              <a:ext uri="{FF2B5EF4-FFF2-40B4-BE49-F238E27FC236}">
                <a16:creationId xmlns:a16="http://schemas.microsoft.com/office/drawing/2014/main" id="{75D53B82-FAAA-923B-681E-A9EC99811BF3}"/>
              </a:ext>
            </a:extLst>
          </p:cNvPr>
          <p:cNvSpPr>
            <a:spLocks noGrp="1"/>
          </p:cNvSpPr>
          <p:nvPr>
            <p:ph type="dt" sz="half" idx="10"/>
          </p:nvPr>
        </p:nvSpPr>
        <p:spPr/>
        <p:txBody>
          <a:bodyPr/>
          <a:lstStyle/>
          <a:p>
            <a:fld id="{7F95E827-311B-4179-903D-BAA8BAB27E3F}" type="datetime1">
              <a:rPr lang="en-US" smtClean="0">
                <a:solidFill>
                  <a:prstClr val="black">
                    <a:tint val="75000"/>
                  </a:prstClr>
                </a:solidFill>
              </a:rPr>
              <a:pPr/>
              <a:t>11/17/2025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0BD12830-9662-1521-4AD9-4EFE3C5FA2C9}"/>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81</a:t>
            </a:fld>
            <a:endParaRPr spc="-25" dirty="0">
              <a:solidFill>
                <a:prstClr val="black">
                  <a:tint val="75000"/>
                </a:prstClr>
              </a:solidFill>
            </a:endParaRPr>
          </a:p>
        </p:txBody>
      </p:sp>
    </p:spTree>
    <p:extLst>
      <p:ext uri="{BB962C8B-B14F-4D97-AF65-F5344CB8AC3E}">
        <p14:creationId xmlns:p14="http://schemas.microsoft.com/office/powerpoint/2010/main" val="20417017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spc="-10" dirty="0"/>
              <a:t>Writing</a:t>
            </a:r>
            <a:r>
              <a:rPr spc="-90" dirty="0"/>
              <a:t> </a:t>
            </a:r>
            <a:r>
              <a:rPr dirty="0"/>
              <a:t>Data</a:t>
            </a:r>
            <a:r>
              <a:rPr spc="-90" dirty="0"/>
              <a:t> </a:t>
            </a:r>
            <a:r>
              <a:rPr dirty="0"/>
              <a:t>to</a:t>
            </a:r>
            <a:r>
              <a:rPr spc="-80" dirty="0"/>
              <a:t> </a:t>
            </a:r>
            <a:r>
              <a:rPr dirty="0"/>
              <a:t>a</a:t>
            </a:r>
            <a:r>
              <a:rPr spc="-85" dirty="0"/>
              <a:t> </a:t>
            </a:r>
            <a:r>
              <a:rPr spc="-20" dirty="0"/>
              <a:t>File</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729232"/>
            <a:ext cx="3854450" cy="4599305"/>
          </a:xfrm>
          <a:prstGeom prst="rect">
            <a:avLst/>
          </a:prstGeom>
        </p:spPr>
        <p:txBody>
          <a:bodyPr vert="horz" wrap="square" lIns="0" tIns="13335" rIns="0" bIns="0" rtlCol="0">
            <a:spAutoFit/>
          </a:bodyPr>
          <a:lstStyle/>
          <a:p>
            <a:pPr marL="12700">
              <a:spcBef>
                <a:spcPts val="105"/>
              </a:spcBef>
            </a:pPr>
            <a:r>
              <a:rPr sz="2000" b="1" dirty="0">
                <a:solidFill>
                  <a:prstClr val="black"/>
                </a:solidFill>
                <a:latin typeface="Times New Roman"/>
                <a:cs typeface="Times New Roman"/>
              </a:rPr>
              <a:t>Formatted</a:t>
            </a:r>
            <a:r>
              <a:rPr sz="2000" b="1" spc="-50" dirty="0">
                <a:solidFill>
                  <a:prstClr val="black"/>
                </a:solidFill>
                <a:latin typeface="Times New Roman"/>
                <a:cs typeface="Times New Roman"/>
              </a:rPr>
              <a:t> </a:t>
            </a:r>
            <a:r>
              <a:rPr sz="2000" b="1" spc="-20" dirty="0">
                <a:solidFill>
                  <a:prstClr val="black"/>
                </a:solidFill>
                <a:latin typeface="Times New Roman"/>
                <a:cs typeface="Times New Roman"/>
              </a:rPr>
              <a:t>I/O:</a:t>
            </a:r>
            <a:endParaRPr sz="2000">
              <a:solidFill>
                <a:prstClr val="black"/>
              </a:solidFill>
              <a:latin typeface="Times New Roman"/>
              <a:cs typeface="Times New Roman"/>
            </a:endParaRPr>
          </a:p>
          <a:p>
            <a:pPr marL="355600" marR="29209" indent="-343535">
              <a:buFont typeface="Arial MT"/>
              <a:buChar char="•"/>
              <a:tabLst>
                <a:tab pos="355600" algn="l"/>
              </a:tabLst>
            </a:pPr>
            <a:r>
              <a:rPr sz="2000" dirty="0">
                <a:solidFill>
                  <a:prstClr val="black"/>
                </a:solidFill>
                <a:latin typeface="Times New Roman"/>
                <a:cs typeface="Times New Roman"/>
              </a:rPr>
              <a:t>In</a:t>
            </a:r>
            <a:r>
              <a:rPr sz="2000" spc="-25" dirty="0">
                <a:solidFill>
                  <a:prstClr val="black"/>
                </a:solidFill>
                <a:latin typeface="Times New Roman"/>
                <a:cs typeface="Times New Roman"/>
              </a:rPr>
              <a:t> </a:t>
            </a:r>
            <a:r>
              <a:rPr sz="2000" dirty="0">
                <a:solidFill>
                  <a:prstClr val="black"/>
                </a:solidFill>
                <a:latin typeface="Times New Roman"/>
                <a:cs typeface="Times New Roman"/>
              </a:rPr>
              <a:t>formatted</a:t>
            </a:r>
            <a:r>
              <a:rPr sz="2000" spc="-25" dirty="0">
                <a:solidFill>
                  <a:prstClr val="black"/>
                </a:solidFill>
                <a:latin typeface="Times New Roman"/>
                <a:cs typeface="Times New Roman"/>
              </a:rPr>
              <a:t> </a:t>
            </a:r>
            <a:r>
              <a:rPr sz="2000" dirty="0">
                <a:solidFill>
                  <a:prstClr val="black"/>
                </a:solidFill>
                <a:latin typeface="Times New Roman"/>
                <a:cs typeface="Times New Roman"/>
              </a:rPr>
              <a:t>I/O,</a:t>
            </a:r>
            <a:r>
              <a:rPr sz="2000" spc="-25" dirty="0">
                <a:solidFill>
                  <a:prstClr val="black"/>
                </a:solidFill>
                <a:latin typeface="Times New Roman"/>
                <a:cs typeface="Times New Roman"/>
              </a:rPr>
              <a:t> </a:t>
            </a:r>
            <a:r>
              <a:rPr sz="2000" dirty="0">
                <a:solidFill>
                  <a:prstClr val="black"/>
                </a:solidFill>
                <a:latin typeface="Times New Roman"/>
                <a:cs typeface="Times New Roman"/>
              </a:rPr>
              <a:t>numbers</a:t>
            </a:r>
            <a:r>
              <a:rPr sz="2000" spc="-30" dirty="0">
                <a:solidFill>
                  <a:prstClr val="black"/>
                </a:solidFill>
                <a:latin typeface="Times New Roman"/>
                <a:cs typeface="Times New Roman"/>
              </a:rPr>
              <a:t> </a:t>
            </a:r>
            <a:r>
              <a:rPr sz="2000" spc="-25" dirty="0">
                <a:solidFill>
                  <a:prstClr val="black"/>
                </a:solidFill>
                <a:latin typeface="Times New Roman"/>
                <a:cs typeface="Times New Roman"/>
              </a:rPr>
              <a:t>are </a:t>
            </a:r>
            <a:r>
              <a:rPr sz="2000" dirty="0">
                <a:solidFill>
                  <a:prstClr val="black"/>
                </a:solidFill>
                <a:latin typeface="Times New Roman"/>
                <a:cs typeface="Times New Roman"/>
              </a:rPr>
              <a:t>stored</a:t>
            </a:r>
            <a:r>
              <a:rPr sz="2000" spc="-25" dirty="0">
                <a:solidFill>
                  <a:prstClr val="black"/>
                </a:solidFill>
                <a:latin typeface="Times New Roman"/>
                <a:cs typeface="Times New Roman"/>
              </a:rPr>
              <a:t> </a:t>
            </a:r>
            <a:r>
              <a:rPr sz="2000" dirty="0">
                <a:solidFill>
                  <a:prstClr val="black"/>
                </a:solidFill>
                <a:latin typeface="Times New Roman"/>
                <a:cs typeface="Times New Roman"/>
              </a:rPr>
              <a:t>on</a:t>
            </a:r>
            <a:r>
              <a:rPr sz="2000" spc="-10" dirty="0">
                <a:solidFill>
                  <a:prstClr val="black"/>
                </a:solidFill>
                <a:latin typeface="Times New Roman"/>
                <a:cs typeface="Times New Roman"/>
              </a:rPr>
              <a:t> </a:t>
            </a:r>
            <a:r>
              <a:rPr sz="2000" dirty="0">
                <a:solidFill>
                  <a:prstClr val="black"/>
                </a:solidFill>
                <a:latin typeface="Times New Roman"/>
                <a:cs typeface="Times New Roman"/>
              </a:rPr>
              <a:t>disk</a:t>
            </a:r>
            <a:r>
              <a:rPr sz="2000" spc="-15" dirty="0">
                <a:solidFill>
                  <a:prstClr val="black"/>
                </a:solidFill>
                <a:latin typeface="Times New Roman"/>
                <a:cs typeface="Times New Roman"/>
              </a:rPr>
              <a:t> </a:t>
            </a:r>
            <a:r>
              <a:rPr sz="2000" dirty="0">
                <a:solidFill>
                  <a:prstClr val="black"/>
                </a:solidFill>
                <a:latin typeface="Times New Roman"/>
                <a:cs typeface="Times New Roman"/>
              </a:rPr>
              <a:t>as</a:t>
            </a:r>
            <a:r>
              <a:rPr sz="2000" spc="-10" dirty="0">
                <a:solidFill>
                  <a:prstClr val="black"/>
                </a:solidFill>
                <a:latin typeface="Times New Roman"/>
                <a:cs typeface="Times New Roman"/>
              </a:rPr>
              <a:t> </a:t>
            </a:r>
            <a:r>
              <a:rPr sz="2000" dirty="0">
                <a:solidFill>
                  <a:prstClr val="black"/>
                </a:solidFill>
                <a:latin typeface="Times New Roman"/>
                <a:cs typeface="Times New Roman"/>
              </a:rPr>
              <a:t>a series</a:t>
            </a:r>
            <a:r>
              <a:rPr sz="2000" spc="-25" dirty="0">
                <a:solidFill>
                  <a:prstClr val="black"/>
                </a:solidFill>
                <a:latin typeface="Times New Roman"/>
                <a:cs typeface="Times New Roman"/>
              </a:rPr>
              <a:t> of </a:t>
            </a:r>
            <a:r>
              <a:rPr sz="2000" dirty="0">
                <a:solidFill>
                  <a:prstClr val="black"/>
                </a:solidFill>
                <a:latin typeface="Times New Roman"/>
                <a:cs typeface="Times New Roman"/>
              </a:rPr>
              <a:t>characters.</a:t>
            </a:r>
            <a:r>
              <a:rPr sz="2000" spc="-80" dirty="0">
                <a:solidFill>
                  <a:prstClr val="black"/>
                </a:solidFill>
                <a:latin typeface="Times New Roman"/>
                <a:cs typeface="Times New Roman"/>
              </a:rPr>
              <a:t> </a:t>
            </a:r>
            <a:r>
              <a:rPr sz="2000" dirty="0">
                <a:solidFill>
                  <a:prstClr val="black"/>
                </a:solidFill>
                <a:latin typeface="Times New Roman"/>
                <a:cs typeface="Times New Roman"/>
              </a:rPr>
              <a:t>Thus</a:t>
            </a:r>
            <a:r>
              <a:rPr sz="2000" spc="-15" dirty="0">
                <a:solidFill>
                  <a:prstClr val="black"/>
                </a:solidFill>
                <a:latin typeface="Times New Roman"/>
                <a:cs typeface="Times New Roman"/>
              </a:rPr>
              <a:t> </a:t>
            </a:r>
            <a:r>
              <a:rPr sz="2000" dirty="0">
                <a:solidFill>
                  <a:prstClr val="black"/>
                </a:solidFill>
                <a:latin typeface="Times New Roman"/>
                <a:cs typeface="Times New Roman"/>
              </a:rPr>
              <a:t>6.02,</a:t>
            </a:r>
            <a:r>
              <a:rPr sz="2000" spc="-25" dirty="0">
                <a:solidFill>
                  <a:prstClr val="black"/>
                </a:solidFill>
                <a:latin typeface="Times New Roman"/>
                <a:cs typeface="Times New Roman"/>
              </a:rPr>
              <a:t> </a:t>
            </a:r>
            <a:r>
              <a:rPr sz="2000" dirty="0">
                <a:solidFill>
                  <a:prstClr val="black"/>
                </a:solidFill>
                <a:latin typeface="Times New Roman"/>
                <a:cs typeface="Times New Roman"/>
              </a:rPr>
              <a:t>rather</a:t>
            </a:r>
            <a:r>
              <a:rPr sz="2000" spc="-20" dirty="0">
                <a:solidFill>
                  <a:prstClr val="black"/>
                </a:solidFill>
                <a:latin typeface="Times New Roman"/>
                <a:cs typeface="Times New Roman"/>
              </a:rPr>
              <a:t> than </a:t>
            </a:r>
            <a:r>
              <a:rPr sz="2000" dirty="0">
                <a:solidFill>
                  <a:prstClr val="black"/>
                </a:solidFill>
                <a:latin typeface="Times New Roman"/>
                <a:cs typeface="Times New Roman"/>
              </a:rPr>
              <a:t>being</a:t>
            </a:r>
            <a:r>
              <a:rPr sz="2000" spc="-30" dirty="0">
                <a:solidFill>
                  <a:prstClr val="black"/>
                </a:solidFill>
                <a:latin typeface="Times New Roman"/>
                <a:cs typeface="Times New Roman"/>
              </a:rPr>
              <a:t> </a:t>
            </a:r>
            <a:r>
              <a:rPr sz="2000" dirty="0">
                <a:solidFill>
                  <a:prstClr val="black"/>
                </a:solidFill>
                <a:latin typeface="Times New Roman"/>
                <a:cs typeface="Times New Roman"/>
              </a:rPr>
              <a:t>stored</a:t>
            </a:r>
            <a:r>
              <a:rPr sz="2000" spc="-25" dirty="0">
                <a:solidFill>
                  <a:prstClr val="black"/>
                </a:solidFill>
                <a:latin typeface="Times New Roman"/>
                <a:cs typeface="Times New Roman"/>
              </a:rPr>
              <a:t> </a:t>
            </a:r>
            <a:r>
              <a:rPr sz="2000" dirty="0">
                <a:solidFill>
                  <a:prstClr val="black"/>
                </a:solidFill>
                <a:latin typeface="Times New Roman"/>
                <a:cs typeface="Times New Roman"/>
              </a:rPr>
              <a:t>as a</a:t>
            </a:r>
            <a:r>
              <a:rPr sz="2000" spc="-15" dirty="0">
                <a:solidFill>
                  <a:prstClr val="black"/>
                </a:solidFill>
                <a:latin typeface="Times New Roman"/>
                <a:cs typeface="Times New Roman"/>
              </a:rPr>
              <a:t> </a:t>
            </a:r>
            <a:r>
              <a:rPr sz="2000" dirty="0">
                <a:solidFill>
                  <a:prstClr val="black"/>
                </a:solidFill>
                <a:latin typeface="Times New Roman"/>
                <a:cs typeface="Times New Roman"/>
              </a:rPr>
              <a:t>4-byte</a:t>
            </a:r>
            <a:r>
              <a:rPr sz="2000" spc="-30" dirty="0">
                <a:solidFill>
                  <a:prstClr val="black"/>
                </a:solidFill>
                <a:latin typeface="Times New Roman"/>
                <a:cs typeface="Times New Roman"/>
              </a:rPr>
              <a:t> </a:t>
            </a:r>
            <a:r>
              <a:rPr sz="2000" dirty="0">
                <a:solidFill>
                  <a:prstClr val="black"/>
                </a:solidFill>
                <a:latin typeface="Times New Roman"/>
                <a:cs typeface="Times New Roman"/>
              </a:rPr>
              <a:t>type </a:t>
            </a:r>
            <a:r>
              <a:rPr sz="2000" spc="-10" dirty="0">
                <a:solidFill>
                  <a:prstClr val="black"/>
                </a:solidFill>
                <a:latin typeface="Times New Roman"/>
                <a:cs typeface="Times New Roman"/>
              </a:rPr>
              <a:t>float </a:t>
            </a:r>
            <a:r>
              <a:rPr sz="2000" dirty="0">
                <a:solidFill>
                  <a:prstClr val="black"/>
                </a:solidFill>
                <a:latin typeface="Times New Roman"/>
                <a:cs typeface="Times New Roman"/>
              </a:rPr>
              <a:t>or</a:t>
            </a:r>
            <a:r>
              <a:rPr sz="2000" spc="-20" dirty="0">
                <a:solidFill>
                  <a:prstClr val="black"/>
                </a:solidFill>
                <a:latin typeface="Times New Roman"/>
                <a:cs typeface="Times New Roman"/>
              </a:rPr>
              <a:t> </a:t>
            </a:r>
            <a:r>
              <a:rPr sz="2000" dirty="0">
                <a:solidFill>
                  <a:prstClr val="black"/>
                </a:solidFill>
                <a:latin typeface="Times New Roman"/>
                <a:cs typeface="Times New Roman"/>
              </a:rPr>
              <a:t>an 8-byte</a:t>
            </a:r>
            <a:r>
              <a:rPr sz="2000" spc="-30" dirty="0">
                <a:solidFill>
                  <a:prstClr val="black"/>
                </a:solidFill>
                <a:latin typeface="Times New Roman"/>
                <a:cs typeface="Times New Roman"/>
              </a:rPr>
              <a:t> </a:t>
            </a:r>
            <a:r>
              <a:rPr sz="2000" dirty="0">
                <a:solidFill>
                  <a:prstClr val="black"/>
                </a:solidFill>
                <a:latin typeface="Times New Roman"/>
                <a:cs typeface="Times New Roman"/>
              </a:rPr>
              <a:t>type</a:t>
            </a:r>
            <a:r>
              <a:rPr sz="2000" spc="-5" dirty="0">
                <a:solidFill>
                  <a:prstClr val="black"/>
                </a:solidFill>
                <a:latin typeface="Times New Roman"/>
                <a:cs typeface="Times New Roman"/>
              </a:rPr>
              <a:t> </a:t>
            </a:r>
            <a:r>
              <a:rPr sz="2000" dirty="0">
                <a:solidFill>
                  <a:prstClr val="black"/>
                </a:solidFill>
                <a:latin typeface="Times New Roman"/>
                <a:cs typeface="Times New Roman"/>
              </a:rPr>
              <a:t>double,</a:t>
            </a:r>
            <a:r>
              <a:rPr sz="2000" spc="-45" dirty="0">
                <a:solidFill>
                  <a:prstClr val="black"/>
                </a:solidFill>
                <a:latin typeface="Times New Roman"/>
                <a:cs typeface="Times New Roman"/>
              </a:rPr>
              <a:t> </a:t>
            </a:r>
            <a:r>
              <a:rPr sz="2000" dirty="0">
                <a:solidFill>
                  <a:prstClr val="black"/>
                </a:solidFill>
                <a:latin typeface="Times New Roman"/>
                <a:cs typeface="Times New Roman"/>
              </a:rPr>
              <a:t>is </a:t>
            </a:r>
            <a:r>
              <a:rPr sz="2000" spc="-10" dirty="0">
                <a:solidFill>
                  <a:prstClr val="black"/>
                </a:solidFill>
                <a:latin typeface="Times New Roman"/>
                <a:cs typeface="Times New Roman"/>
              </a:rPr>
              <a:t>stored </a:t>
            </a:r>
            <a:r>
              <a:rPr sz="2000" dirty="0">
                <a:solidFill>
                  <a:prstClr val="black"/>
                </a:solidFill>
                <a:latin typeface="Times New Roman"/>
                <a:cs typeface="Times New Roman"/>
              </a:rPr>
              <a:t>as</a:t>
            </a:r>
            <a:r>
              <a:rPr sz="2000" spc="-15"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characters</a:t>
            </a:r>
            <a:r>
              <a:rPr sz="2000" spc="-30" dirty="0">
                <a:solidFill>
                  <a:prstClr val="black"/>
                </a:solidFill>
                <a:latin typeface="Times New Roman"/>
                <a:cs typeface="Times New Roman"/>
              </a:rPr>
              <a:t> </a:t>
            </a:r>
            <a:r>
              <a:rPr sz="2000" dirty="0">
                <a:solidFill>
                  <a:prstClr val="black"/>
                </a:solidFill>
                <a:latin typeface="Times New Roman"/>
                <a:cs typeface="Times New Roman"/>
              </a:rPr>
              <a:t>‘6’,</a:t>
            </a:r>
            <a:r>
              <a:rPr sz="2000" spc="-30" dirty="0">
                <a:solidFill>
                  <a:prstClr val="black"/>
                </a:solidFill>
                <a:latin typeface="Times New Roman"/>
                <a:cs typeface="Times New Roman"/>
              </a:rPr>
              <a:t> </a:t>
            </a:r>
            <a:r>
              <a:rPr sz="2000" dirty="0">
                <a:solidFill>
                  <a:prstClr val="black"/>
                </a:solidFill>
                <a:latin typeface="Times New Roman"/>
                <a:cs typeface="Times New Roman"/>
              </a:rPr>
              <a:t>‘.’,</a:t>
            </a:r>
            <a:r>
              <a:rPr sz="2000" spc="-30" dirty="0">
                <a:solidFill>
                  <a:prstClr val="black"/>
                </a:solidFill>
                <a:latin typeface="Times New Roman"/>
                <a:cs typeface="Times New Roman"/>
              </a:rPr>
              <a:t> </a:t>
            </a:r>
            <a:r>
              <a:rPr sz="2000" dirty="0">
                <a:solidFill>
                  <a:prstClr val="black"/>
                </a:solidFill>
                <a:latin typeface="Times New Roman"/>
                <a:cs typeface="Times New Roman"/>
              </a:rPr>
              <a:t>‘0’,</a:t>
            </a:r>
            <a:r>
              <a:rPr sz="2000" spc="-30" dirty="0">
                <a:solidFill>
                  <a:prstClr val="black"/>
                </a:solidFill>
                <a:latin typeface="Times New Roman"/>
                <a:cs typeface="Times New Roman"/>
              </a:rPr>
              <a:t> </a:t>
            </a:r>
            <a:r>
              <a:rPr sz="2000" spc="-25" dirty="0">
                <a:solidFill>
                  <a:prstClr val="black"/>
                </a:solidFill>
                <a:latin typeface="Times New Roman"/>
                <a:cs typeface="Times New Roman"/>
              </a:rPr>
              <a:t>and </a:t>
            </a:r>
            <a:r>
              <a:rPr sz="2000" spc="-20" dirty="0">
                <a:solidFill>
                  <a:prstClr val="black"/>
                </a:solidFill>
                <a:latin typeface="Times New Roman"/>
                <a:cs typeface="Times New Roman"/>
              </a:rPr>
              <a:t>‘2’.</a:t>
            </a:r>
            <a:endParaRPr sz="2000">
              <a:solidFill>
                <a:prstClr val="black"/>
              </a:solidFill>
              <a:latin typeface="Times New Roman"/>
              <a:cs typeface="Times New Roman"/>
            </a:endParaRPr>
          </a:p>
          <a:p>
            <a:pPr marL="355600" marR="179070" indent="-343535">
              <a:buFont typeface="Arial MT"/>
              <a:buChar char="•"/>
              <a:tabLst>
                <a:tab pos="355600" algn="l"/>
              </a:tabLst>
            </a:pPr>
            <a:r>
              <a:rPr sz="2000" dirty="0">
                <a:solidFill>
                  <a:prstClr val="black"/>
                </a:solidFill>
                <a:latin typeface="Times New Roman"/>
                <a:cs typeface="Times New Roman"/>
              </a:rPr>
              <a:t>Characters</a:t>
            </a:r>
            <a:r>
              <a:rPr sz="2000" spc="-35" dirty="0">
                <a:solidFill>
                  <a:prstClr val="black"/>
                </a:solidFill>
                <a:latin typeface="Times New Roman"/>
                <a:cs typeface="Times New Roman"/>
              </a:rPr>
              <a:t> </a:t>
            </a:r>
            <a:r>
              <a:rPr sz="2000" dirty="0">
                <a:solidFill>
                  <a:prstClr val="black"/>
                </a:solidFill>
                <a:latin typeface="Times New Roman"/>
                <a:cs typeface="Times New Roman"/>
              </a:rPr>
              <a:t>and</a:t>
            </a:r>
            <a:r>
              <a:rPr sz="2000" spc="-15" dirty="0">
                <a:solidFill>
                  <a:prstClr val="black"/>
                </a:solidFill>
                <a:latin typeface="Times New Roman"/>
                <a:cs typeface="Times New Roman"/>
              </a:rPr>
              <a:t> </a:t>
            </a:r>
            <a:r>
              <a:rPr sz="2000" dirty="0">
                <a:solidFill>
                  <a:prstClr val="black"/>
                </a:solidFill>
                <a:latin typeface="Times New Roman"/>
                <a:cs typeface="Times New Roman"/>
              </a:rPr>
              <a:t>strings</a:t>
            </a:r>
            <a:r>
              <a:rPr sz="2000" spc="-40" dirty="0">
                <a:solidFill>
                  <a:prstClr val="black"/>
                </a:solidFill>
                <a:latin typeface="Times New Roman"/>
                <a:cs typeface="Times New Roman"/>
              </a:rPr>
              <a:t> </a:t>
            </a:r>
            <a:r>
              <a:rPr sz="2000" dirty="0">
                <a:solidFill>
                  <a:prstClr val="black"/>
                </a:solidFill>
                <a:latin typeface="Times New Roman"/>
                <a:cs typeface="Times New Roman"/>
              </a:rPr>
              <a:t>are</a:t>
            </a:r>
            <a:r>
              <a:rPr sz="2000" spc="-10" dirty="0">
                <a:solidFill>
                  <a:prstClr val="black"/>
                </a:solidFill>
                <a:latin typeface="Times New Roman"/>
                <a:cs typeface="Times New Roman"/>
              </a:rPr>
              <a:t> stored </a:t>
            </a:r>
            <a:r>
              <a:rPr sz="2000" dirty="0">
                <a:solidFill>
                  <a:prstClr val="black"/>
                </a:solidFill>
                <a:latin typeface="Times New Roman"/>
                <a:cs typeface="Times New Roman"/>
              </a:rPr>
              <a:t>more</a:t>
            </a:r>
            <a:r>
              <a:rPr sz="2000" spc="-20" dirty="0">
                <a:solidFill>
                  <a:prstClr val="black"/>
                </a:solidFill>
                <a:latin typeface="Times New Roman"/>
                <a:cs typeface="Times New Roman"/>
              </a:rPr>
              <a:t> </a:t>
            </a:r>
            <a:r>
              <a:rPr sz="2000" dirty="0">
                <a:solidFill>
                  <a:prstClr val="black"/>
                </a:solidFill>
                <a:latin typeface="Times New Roman"/>
                <a:cs typeface="Times New Roman"/>
              </a:rPr>
              <a:t>or</a:t>
            </a:r>
            <a:r>
              <a:rPr sz="2000" spc="-15" dirty="0">
                <a:solidFill>
                  <a:prstClr val="black"/>
                </a:solidFill>
                <a:latin typeface="Times New Roman"/>
                <a:cs typeface="Times New Roman"/>
              </a:rPr>
              <a:t> </a:t>
            </a:r>
            <a:r>
              <a:rPr sz="2000" dirty="0">
                <a:solidFill>
                  <a:prstClr val="black"/>
                </a:solidFill>
                <a:latin typeface="Times New Roman"/>
                <a:cs typeface="Times New Roman"/>
              </a:rPr>
              <a:t>less</a:t>
            </a:r>
            <a:r>
              <a:rPr sz="2000" spc="-25" dirty="0">
                <a:solidFill>
                  <a:prstClr val="black"/>
                </a:solidFill>
                <a:latin typeface="Times New Roman"/>
                <a:cs typeface="Times New Roman"/>
              </a:rPr>
              <a:t> </a:t>
            </a:r>
            <a:r>
              <a:rPr sz="2000" spc="-10" dirty="0">
                <a:solidFill>
                  <a:prstClr val="black"/>
                </a:solidFill>
                <a:latin typeface="Times New Roman"/>
                <a:cs typeface="Times New Roman"/>
              </a:rPr>
              <a:t>normally.</a:t>
            </a:r>
            <a:endParaRPr sz="2000">
              <a:solidFill>
                <a:prstClr val="black"/>
              </a:solidFill>
              <a:latin typeface="Times New Roman"/>
              <a:cs typeface="Times New Roman"/>
            </a:endParaRPr>
          </a:p>
          <a:p>
            <a:pPr>
              <a:spcBef>
                <a:spcPts val="100"/>
              </a:spcBef>
              <a:buFont typeface="Arial MT"/>
              <a:buChar char="•"/>
            </a:pPr>
            <a:endParaRPr sz="2000">
              <a:solidFill>
                <a:prstClr val="black"/>
              </a:solidFill>
              <a:latin typeface="Times New Roman"/>
              <a:cs typeface="Times New Roman"/>
            </a:endParaRPr>
          </a:p>
          <a:p>
            <a:pPr marL="355600" marR="5080" indent="-343535">
              <a:spcBef>
                <a:spcPts val="5"/>
              </a:spcBef>
              <a:buFont typeface="Arial MT"/>
              <a:buChar char="•"/>
              <a:tabLst>
                <a:tab pos="355600" algn="l"/>
              </a:tabLst>
            </a:pP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following</a:t>
            </a:r>
            <a:r>
              <a:rPr sz="2000" spc="-45" dirty="0">
                <a:solidFill>
                  <a:prstClr val="black"/>
                </a:solidFill>
                <a:latin typeface="Times New Roman"/>
                <a:cs typeface="Times New Roman"/>
              </a:rPr>
              <a:t> </a:t>
            </a:r>
            <a:r>
              <a:rPr sz="2000" dirty="0">
                <a:solidFill>
                  <a:prstClr val="black"/>
                </a:solidFill>
                <a:latin typeface="Times New Roman"/>
                <a:cs typeface="Times New Roman"/>
              </a:rPr>
              <a:t>program</a:t>
            </a:r>
            <a:r>
              <a:rPr sz="2000" spc="-45" dirty="0">
                <a:solidFill>
                  <a:prstClr val="black"/>
                </a:solidFill>
                <a:latin typeface="Times New Roman"/>
                <a:cs typeface="Times New Roman"/>
              </a:rPr>
              <a:t> </a:t>
            </a:r>
            <a:r>
              <a:rPr sz="2000" dirty="0">
                <a:solidFill>
                  <a:prstClr val="black"/>
                </a:solidFill>
                <a:latin typeface="Times New Roman"/>
                <a:cs typeface="Times New Roman"/>
              </a:rPr>
              <a:t>writes</a:t>
            </a:r>
            <a:r>
              <a:rPr sz="2000" spc="-25" dirty="0">
                <a:solidFill>
                  <a:prstClr val="black"/>
                </a:solidFill>
                <a:latin typeface="Times New Roman"/>
                <a:cs typeface="Times New Roman"/>
              </a:rPr>
              <a:t> </a:t>
            </a:r>
            <a:r>
              <a:rPr sz="2000" spc="-60" dirty="0">
                <a:solidFill>
                  <a:prstClr val="black"/>
                </a:solidFill>
                <a:latin typeface="Times New Roman"/>
                <a:cs typeface="Times New Roman"/>
              </a:rPr>
              <a:t>a </a:t>
            </a:r>
            <a:r>
              <a:rPr sz="2000" dirty="0">
                <a:solidFill>
                  <a:prstClr val="black"/>
                </a:solidFill>
                <a:latin typeface="Times New Roman"/>
                <a:cs typeface="Times New Roman"/>
              </a:rPr>
              <a:t>character,</a:t>
            </a:r>
            <a:r>
              <a:rPr sz="2000" spc="-75" dirty="0">
                <a:solidFill>
                  <a:prstClr val="black"/>
                </a:solidFill>
                <a:latin typeface="Times New Roman"/>
                <a:cs typeface="Times New Roman"/>
              </a:rPr>
              <a:t> </a:t>
            </a:r>
            <a:r>
              <a:rPr sz="2000" dirty="0">
                <a:solidFill>
                  <a:prstClr val="black"/>
                </a:solidFill>
                <a:latin typeface="Times New Roman"/>
                <a:cs typeface="Times New Roman"/>
              </a:rPr>
              <a:t>an</a:t>
            </a:r>
            <a:r>
              <a:rPr sz="2000" spc="-45" dirty="0">
                <a:solidFill>
                  <a:prstClr val="black"/>
                </a:solidFill>
                <a:latin typeface="Times New Roman"/>
                <a:cs typeface="Times New Roman"/>
              </a:rPr>
              <a:t> </a:t>
            </a:r>
            <a:r>
              <a:rPr sz="2000" dirty="0">
                <a:solidFill>
                  <a:prstClr val="black"/>
                </a:solidFill>
                <a:latin typeface="Times New Roman"/>
                <a:cs typeface="Times New Roman"/>
              </a:rPr>
              <a:t>integer,</a:t>
            </a:r>
            <a:r>
              <a:rPr sz="2000" spc="-70" dirty="0">
                <a:solidFill>
                  <a:prstClr val="black"/>
                </a:solidFill>
                <a:latin typeface="Times New Roman"/>
                <a:cs typeface="Times New Roman"/>
              </a:rPr>
              <a:t> </a:t>
            </a:r>
            <a:r>
              <a:rPr sz="2000" dirty="0">
                <a:solidFill>
                  <a:prstClr val="black"/>
                </a:solidFill>
                <a:latin typeface="Times New Roman"/>
                <a:cs typeface="Times New Roman"/>
              </a:rPr>
              <a:t>a</a:t>
            </a:r>
            <a:r>
              <a:rPr sz="2000" spc="-45" dirty="0">
                <a:solidFill>
                  <a:prstClr val="black"/>
                </a:solidFill>
                <a:latin typeface="Times New Roman"/>
                <a:cs typeface="Times New Roman"/>
              </a:rPr>
              <a:t> </a:t>
            </a:r>
            <a:r>
              <a:rPr sz="2000" spc="-20" dirty="0">
                <a:solidFill>
                  <a:prstClr val="black"/>
                </a:solidFill>
                <a:latin typeface="Times New Roman"/>
                <a:cs typeface="Times New Roman"/>
              </a:rPr>
              <a:t>type </a:t>
            </a:r>
            <a:r>
              <a:rPr sz="2000" dirty="0">
                <a:solidFill>
                  <a:prstClr val="black"/>
                </a:solidFill>
                <a:latin typeface="Times New Roman"/>
                <a:cs typeface="Times New Roman"/>
              </a:rPr>
              <a:t>double,</a:t>
            </a:r>
            <a:r>
              <a:rPr sz="2000" spc="-45" dirty="0">
                <a:solidFill>
                  <a:prstClr val="black"/>
                </a:solidFill>
                <a:latin typeface="Times New Roman"/>
                <a:cs typeface="Times New Roman"/>
              </a:rPr>
              <a:t> </a:t>
            </a:r>
            <a:r>
              <a:rPr sz="2000" dirty="0">
                <a:solidFill>
                  <a:prstClr val="black"/>
                </a:solidFill>
                <a:latin typeface="Times New Roman"/>
                <a:cs typeface="Times New Roman"/>
              </a:rPr>
              <a:t>and</a:t>
            </a:r>
            <a:r>
              <a:rPr sz="2000" spc="5" dirty="0">
                <a:solidFill>
                  <a:prstClr val="black"/>
                </a:solidFill>
                <a:latin typeface="Times New Roman"/>
                <a:cs typeface="Times New Roman"/>
              </a:rPr>
              <a:t> </a:t>
            </a:r>
            <a:r>
              <a:rPr sz="2000" dirty="0">
                <a:solidFill>
                  <a:prstClr val="black"/>
                </a:solidFill>
                <a:latin typeface="Times New Roman"/>
                <a:cs typeface="Times New Roman"/>
              </a:rPr>
              <a:t>two</a:t>
            </a:r>
            <a:r>
              <a:rPr sz="2000" spc="-15" dirty="0">
                <a:solidFill>
                  <a:prstClr val="black"/>
                </a:solidFill>
                <a:latin typeface="Times New Roman"/>
                <a:cs typeface="Times New Roman"/>
              </a:rPr>
              <a:t> </a:t>
            </a:r>
            <a:r>
              <a:rPr sz="2000" dirty="0">
                <a:solidFill>
                  <a:prstClr val="black"/>
                </a:solidFill>
                <a:latin typeface="Times New Roman"/>
                <a:cs typeface="Times New Roman"/>
              </a:rPr>
              <a:t>string</a:t>
            </a:r>
            <a:r>
              <a:rPr sz="2000" spc="-25" dirty="0">
                <a:solidFill>
                  <a:prstClr val="black"/>
                </a:solidFill>
                <a:latin typeface="Times New Roman"/>
                <a:cs typeface="Times New Roman"/>
              </a:rPr>
              <a:t> </a:t>
            </a:r>
            <a:r>
              <a:rPr sz="2000" dirty="0">
                <a:solidFill>
                  <a:prstClr val="black"/>
                </a:solidFill>
                <a:latin typeface="Times New Roman"/>
                <a:cs typeface="Times New Roman"/>
              </a:rPr>
              <a:t>objects</a:t>
            </a:r>
            <a:r>
              <a:rPr sz="2000" spc="-35" dirty="0">
                <a:solidFill>
                  <a:prstClr val="black"/>
                </a:solidFill>
                <a:latin typeface="Times New Roman"/>
                <a:cs typeface="Times New Roman"/>
              </a:rPr>
              <a:t> </a:t>
            </a:r>
            <a:r>
              <a:rPr sz="2000" dirty="0">
                <a:solidFill>
                  <a:prstClr val="black"/>
                </a:solidFill>
                <a:latin typeface="Times New Roman"/>
                <a:cs typeface="Times New Roman"/>
              </a:rPr>
              <a:t>to</a:t>
            </a:r>
            <a:r>
              <a:rPr sz="2000" spc="-5" dirty="0">
                <a:solidFill>
                  <a:prstClr val="black"/>
                </a:solidFill>
                <a:latin typeface="Times New Roman"/>
                <a:cs typeface="Times New Roman"/>
              </a:rPr>
              <a:t> </a:t>
            </a:r>
            <a:r>
              <a:rPr sz="2000" spc="-50" dirty="0">
                <a:solidFill>
                  <a:prstClr val="black"/>
                </a:solidFill>
                <a:latin typeface="Times New Roman"/>
                <a:cs typeface="Times New Roman"/>
              </a:rPr>
              <a:t>a </a:t>
            </a:r>
            <a:r>
              <a:rPr sz="2000" dirty="0">
                <a:solidFill>
                  <a:prstClr val="black"/>
                </a:solidFill>
                <a:latin typeface="Times New Roman"/>
                <a:cs typeface="Times New Roman"/>
              </a:rPr>
              <a:t>disk</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file.</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7049656" y="743575"/>
            <a:ext cx="3182614" cy="5471432"/>
          </a:xfrm>
          <a:prstGeom prst="rect">
            <a:avLst/>
          </a:prstGeom>
        </p:spPr>
      </p:pic>
      <p:sp>
        <p:nvSpPr>
          <p:cNvPr id="7" name="object 7"/>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8" name="object 8"/>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9" name="Date Placeholder 8">
            <a:extLst>
              <a:ext uri="{FF2B5EF4-FFF2-40B4-BE49-F238E27FC236}">
                <a16:creationId xmlns:a16="http://schemas.microsoft.com/office/drawing/2014/main" id="{8A7D214E-6401-79B9-883A-F5B99F29CFC7}"/>
              </a:ext>
            </a:extLst>
          </p:cNvPr>
          <p:cNvSpPr>
            <a:spLocks noGrp="1"/>
          </p:cNvSpPr>
          <p:nvPr>
            <p:ph type="dt" sz="half" idx="10"/>
          </p:nvPr>
        </p:nvSpPr>
        <p:spPr/>
        <p:txBody>
          <a:bodyPr/>
          <a:lstStyle/>
          <a:p>
            <a:fld id="{5CB9758F-71E2-4B30-A8A4-754E1B70A93F}" type="datetime1">
              <a:rPr lang="en-US" smtClean="0">
                <a:solidFill>
                  <a:prstClr val="black">
                    <a:tint val="75000"/>
                  </a:prstClr>
                </a:solidFill>
              </a:rPr>
              <a:pPr/>
              <a:t>11/17/2025</a:t>
            </a:fld>
            <a:endParaRPr lang="en-US">
              <a:solidFill>
                <a:prstClr val="black">
                  <a:tint val="75000"/>
                </a:prstClr>
              </a:solidFill>
            </a:endParaRPr>
          </a:p>
        </p:txBody>
      </p:sp>
      <p:sp>
        <p:nvSpPr>
          <p:cNvPr id="10" name="Slide Number Placeholder 9">
            <a:extLst>
              <a:ext uri="{FF2B5EF4-FFF2-40B4-BE49-F238E27FC236}">
                <a16:creationId xmlns:a16="http://schemas.microsoft.com/office/drawing/2014/main" id="{D8025616-4E91-F4C5-6C99-5B8B250CC164}"/>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82</a:t>
            </a:fld>
            <a:endParaRPr spc="-25" dirty="0">
              <a:solidFill>
                <a:prstClr val="black">
                  <a:tint val="75000"/>
                </a:prstClr>
              </a:solidFill>
            </a:endParaRPr>
          </a:p>
        </p:txBody>
      </p:sp>
    </p:spTree>
    <p:extLst>
      <p:ext uri="{BB962C8B-B14F-4D97-AF65-F5344CB8AC3E}">
        <p14:creationId xmlns:p14="http://schemas.microsoft.com/office/powerpoint/2010/main" val="35181954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Reading</a:t>
            </a:r>
            <a:r>
              <a:rPr spc="-50" dirty="0"/>
              <a:t> </a:t>
            </a:r>
            <a:r>
              <a:rPr dirty="0"/>
              <a:t>Data</a:t>
            </a:r>
            <a:r>
              <a:rPr spc="-50" dirty="0"/>
              <a:t> </a:t>
            </a:r>
            <a:r>
              <a:rPr dirty="0"/>
              <a:t>from</a:t>
            </a:r>
            <a:r>
              <a:rPr spc="-20" dirty="0"/>
              <a:t> </a:t>
            </a:r>
            <a:r>
              <a:rPr dirty="0"/>
              <a:t>a</a:t>
            </a:r>
            <a:r>
              <a:rPr spc="-50" dirty="0"/>
              <a:t> </a:t>
            </a:r>
            <a:r>
              <a:rPr spc="-20" dirty="0"/>
              <a:t>File</a:t>
            </a:r>
          </a:p>
        </p:txBody>
      </p:sp>
      <p:sp>
        <p:nvSpPr>
          <p:cNvPr id="12" name="object 12"/>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795399"/>
            <a:ext cx="3862704" cy="2160270"/>
          </a:xfrm>
          <a:prstGeom prst="rect">
            <a:avLst/>
          </a:prstGeom>
        </p:spPr>
        <p:txBody>
          <a:bodyPr vert="horz" wrap="square" lIns="0" tIns="13335" rIns="0" bIns="0" rtlCol="0">
            <a:spAutoFit/>
          </a:bodyPr>
          <a:lstStyle/>
          <a:p>
            <a:pPr marL="355600" marR="148590" indent="-343535">
              <a:spcBef>
                <a:spcPts val="105"/>
              </a:spcBef>
              <a:buFont typeface="Arial MT"/>
              <a:buChar char="•"/>
              <a:tabLst>
                <a:tab pos="355600" algn="l"/>
              </a:tabLst>
            </a:pPr>
            <a:r>
              <a:rPr sz="2000" spc="-50" dirty="0">
                <a:solidFill>
                  <a:prstClr val="black"/>
                </a:solidFill>
                <a:latin typeface="Times New Roman"/>
                <a:cs typeface="Times New Roman"/>
              </a:rPr>
              <a:t>We</a:t>
            </a:r>
            <a:r>
              <a:rPr sz="2000" spc="-45" dirty="0">
                <a:solidFill>
                  <a:prstClr val="black"/>
                </a:solidFill>
                <a:latin typeface="Times New Roman"/>
                <a:cs typeface="Times New Roman"/>
              </a:rPr>
              <a:t> </a:t>
            </a:r>
            <a:r>
              <a:rPr sz="2000" dirty="0">
                <a:solidFill>
                  <a:prstClr val="black"/>
                </a:solidFill>
                <a:latin typeface="Times New Roman"/>
                <a:cs typeface="Times New Roman"/>
              </a:rPr>
              <a:t>can</a:t>
            </a:r>
            <a:r>
              <a:rPr sz="2000" spc="-25" dirty="0">
                <a:solidFill>
                  <a:prstClr val="black"/>
                </a:solidFill>
                <a:latin typeface="Times New Roman"/>
                <a:cs typeface="Times New Roman"/>
              </a:rPr>
              <a:t> </a:t>
            </a:r>
            <a:r>
              <a:rPr sz="2000" dirty="0">
                <a:solidFill>
                  <a:prstClr val="black"/>
                </a:solidFill>
                <a:latin typeface="Times New Roman"/>
                <a:cs typeface="Times New Roman"/>
              </a:rPr>
              <a:t>read</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35" dirty="0">
                <a:solidFill>
                  <a:prstClr val="black"/>
                </a:solidFill>
                <a:latin typeface="Times New Roman"/>
                <a:cs typeface="Times New Roman"/>
              </a:rPr>
              <a:t> </a:t>
            </a:r>
            <a:r>
              <a:rPr sz="2000" dirty="0">
                <a:solidFill>
                  <a:prstClr val="black"/>
                </a:solidFill>
                <a:latin typeface="Times New Roman"/>
                <a:cs typeface="Times New Roman"/>
              </a:rPr>
              <a:t>file</a:t>
            </a:r>
            <a:r>
              <a:rPr sz="2000" spc="-20" dirty="0">
                <a:solidFill>
                  <a:prstClr val="black"/>
                </a:solidFill>
                <a:latin typeface="Times New Roman"/>
                <a:cs typeface="Times New Roman"/>
              </a:rPr>
              <a:t> </a:t>
            </a:r>
            <a:r>
              <a:rPr sz="2000" dirty="0">
                <a:solidFill>
                  <a:prstClr val="black"/>
                </a:solidFill>
                <a:latin typeface="Times New Roman"/>
                <a:cs typeface="Times New Roman"/>
              </a:rPr>
              <a:t>by</a:t>
            </a:r>
            <a:r>
              <a:rPr sz="2000" spc="-15" dirty="0">
                <a:solidFill>
                  <a:prstClr val="black"/>
                </a:solidFill>
                <a:latin typeface="Times New Roman"/>
                <a:cs typeface="Times New Roman"/>
              </a:rPr>
              <a:t> </a:t>
            </a:r>
            <a:r>
              <a:rPr sz="2000" dirty="0">
                <a:solidFill>
                  <a:prstClr val="black"/>
                </a:solidFill>
                <a:latin typeface="Times New Roman"/>
                <a:cs typeface="Times New Roman"/>
              </a:rPr>
              <a:t>using</a:t>
            </a:r>
            <a:r>
              <a:rPr sz="2000" spc="-35" dirty="0">
                <a:solidFill>
                  <a:prstClr val="black"/>
                </a:solidFill>
                <a:latin typeface="Times New Roman"/>
                <a:cs typeface="Times New Roman"/>
              </a:rPr>
              <a:t> </a:t>
            </a:r>
            <a:r>
              <a:rPr sz="2000" spc="-25" dirty="0">
                <a:solidFill>
                  <a:prstClr val="black"/>
                </a:solidFill>
                <a:latin typeface="Times New Roman"/>
                <a:cs typeface="Times New Roman"/>
              </a:rPr>
              <a:t>an </a:t>
            </a:r>
            <a:r>
              <a:rPr sz="2000" b="1" dirty="0">
                <a:solidFill>
                  <a:prstClr val="black"/>
                </a:solidFill>
                <a:latin typeface="Times New Roman"/>
                <a:cs typeface="Times New Roman"/>
              </a:rPr>
              <a:t>ifstream</a:t>
            </a:r>
            <a:r>
              <a:rPr sz="2000" b="1" spc="-55" dirty="0">
                <a:solidFill>
                  <a:prstClr val="black"/>
                </a:solidFill>
                <a:latin typeface="Times New Roman"/>
                <a:cs typeface="Times New Roman"/>
              </a:rPr>
              <a:t> </a:t>
            </a:r>
            <a:r>
              <a:rPr sz="2000" dirty="0">
                <a:solidFill>
                  <a:prstClr val="black"/>
                </a:solidFill>
                <a:latin typeface="Times New Roman"/>
                <a:cs typeface="Times New Roman"/>
              </a:rPr>
              <a:t>object,</a:t>
            </a:r>
            <a:r>
              <a:rPr sz="2000" spc="-40" dirty="0">
                <a:solidFill>
                  <a:prstClr val="black"/>
                </a:solidFill>
                <a:latin typeface="Times New Roman"/>
                <a:cs typeface="Times New Roman"/>
              </a:rPr>
              <a:t> </a:t>
            </a:r>
            <a:r>
              <a:rPr sz="2000" dirty="0">
                <a:solidFill>
                  <a:prstClr val="black"/>
                </a:solidFill>
                <a:latin typeface="Times New Roman"/>
                <a:cs typeface="Times New Roman"/>
              </a:rPr>
              <a:t>initialized</a:t>
            </a:r>
            <a:r>
              <a:rPr sz="2000" spc="-45" dirty="0">
                <a:solidFill>
                  <a:prstClr val="black"/>
                </a:solidFill>
                <a:latin typeface="Times New Roman"/>
                <a:cs typeface="Times New Roman"/>
              </a:rPr>
              <a:t> </a:t>
            </a:r>
            <a:r>
              <a:rPr sz="2000" dirty="0">
                <a:solidFill>
                  <a:prstClr val="black"/>
                </a:solidFill>
                <a:latin typeface="Times New Roman"/>
                <a:cs typeface="Times New Roman"/>
              </a:rPr>
              <a:t>to</a:t>
            </a:r>
            <a:r>
              <a:rPr sz="2000" spc="-20" dirty="0">
                <a:solidFill>
                  <a:prstClr val="black"/>
                </a:solidFill>
                <a:latin typeface="Times New Roman"/>
                <a:cs typeface="Times New Roman"/>
              </a:rPr>
              <a:t> </a:t>
            </a:r>
            <a:r>
              <a:rPr sz="2000" spc="-25" dirty="0">
                <a:solidFill>
                  <a:prstClr val="black"/>
                </a:solidFill>
                <a:latin typeface="Times New Roman"/>
                <a:cs typeface="Times New Roman"/>
              </a:rPr>
              <a:t>the </a:t>
            </a:r>
            <a:r>
              <a:rPr sz="2000" dirty="0">
                <a:solidFill>
                  <a:prstClr val="black"/>
                </a:solidFill>
                <a:latin typeface="Times New Roman"/>
                <a:cs typeface="Times New Roman"/>
              </a:rPr>
              <a:t>name</a:t>
            </a:r>
            <a:r>
              <a:rPr sz="2000" spc="-10" dirty="0">
                <a:solidFill>
                  <a:prstClr val="black"/>
                </a:solidFill>
                <a:latin typeface="Times New Roman"/>
                <a:cs typeface="Times New Roman"/>
              </a:rPr>
              <a:t> </a:t>
            </a:r>
            <a:r>
              <a:rPr sz="2000" dirty="0">
                <a:solidFill>
                  <a:prstClr val="black"/>
                </a:solidFill>
                <a:latin typeface="Times New Roman"/>
                <a:cs typeface="Times New Roman"/>
              </a:rPr>
              <a:t>of</a:t>
            </a:r>
            <a:r>
              <a:rPr sz="2000" spc="-15"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file.</a:t>
            </a:r>
            <a:endParaRPr sz="2000">
              <a:solidFill>
                <a:prstClr val="black"/>
              </a:solidFill>
              <a:latin typeface="Times New Roman"/>
              <a:cs typeface="Times New Roman"/>
            </a:endParaRPr>
          </a:p>
          <a:p>
            <a:pPr marL="355600" marR="231140" indent="-343535">
              <a:buFont typeface="Arial MT"/>
              <a:buChar char="•"/>
              <a:tabLst>
                <a:tab pos="355600" algn="l"/>
              </a:tabLst>
            </a:pP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dirty="0">
                <a:solidFill>
                  <a:prstClr val="black"/>
                </a:solidFill>
                <a:latin typeface="Times New Roman"/>
                <a:cs typeface="Times New Roman"/>
              </a:rPr>
              <a:t>file</a:t>
            </a:r>
            <a:r>
              <a:rPr sz="2000" spc="-20" dirty="0">
                <a:solidFill>
                  <a:prstClr val="black"/>
                </a:solidFill>
                <a:latin typeface="Times New Roman"/>
                <a:cs typeface="Times New Roman"/>
              </a:rPr>
              <a:t> </a:t>
            </a:r>
            <a:r>
              <a:rPr sz="2000" dirty="0">
                <a:solidFill>
                  <a:prstClr val="black"/>
                </a:solidFill>
                <a:latin typeface="Times New Roman"/>
                <a:cs typeface="Times New Roman"/>
              </a:rPr>
              <a:t>is</a:t>
            </a:r>
            <a:r>
              <a:rPr sz="2000" spc="-25" dirty="0">
                <a:solidFill>
                  <a:prstClr val="black"/>
                </a:solidFill>
                <a:latin typeface="Times New Roman"/>
                <a:cs typeface="Times New Roman"/>
              </a:rPr>
              <a:t> </a:t>
            </a:r>
            <a:r>
              <a:rPr sz="2000" dirty="0">
                <a:solidFill>
                  <a:prstClr val="black"/>
                </a:solidFill>
                <a:latin typeface="Times New Roman"/>
                <a:cs typeface="Times New Roman"/>
              </a:rPr>
              <a:t>automatically</a:t>
            </a:r>
            <a:r>
              <a:rPr sz="2000" spc="-45" dirty="0">
                <a:solidFill>
                  <a:prstClr val="black"/>
                </a:solidFill>
                <a:latin typeface="Times New Roman"/>
                <a:cs typeface="Times New Roman"/>
              </a:rPr>
              <a:t> </a:t>
            </a:r>
            <a:r>
              <a:rPr sz="2000" spc="-10" dirty="0">
                <a:solidFill>
                  <a:prstClr val="black"/>
                </a:solidFill>
                <a:latin typeface="Times New Roman"/>
                <a:cs typeface="Times New Roman"/>
              </a:rPr>
              <a:t>opened </a:t>
            </a:r>
            <a:r>
              <a:rPr sz="2000" dirty="0">
                <a:solidFill>
                  <a:prstClr val="black"/>
                </a:solidFill>
                <a:latin typeface="Times New Roman"/>
                <a:cs typeface="Times New Roman"/>
              </a:rPr>
              <a:t>when</a:t>
            </a:r>
            <a:r>
              <a:rPr sz="2000" spc="-15"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object</a:t>
            </a:r>
            <a:r>
              <a:rPr sz="2000" spc="-40" dirty="0">
                <a:solidFill>
                  <a:prstClr val="black"/>
                </a:solidFill>
                <a:latin typeface="Times New Roman"/>
                <a:cs typeface="Times New Roman"/>
              </a:rPr>
              <a:t> </a:t>
            </a:r>
            <a:r>
              <a:rPr sz="2000" dirty="0">
                <a:solidFill>
                  <a:prstClr val="black"/>
                </a:solidFill>
                <a:latin typeface="Times New Roman"/>
                <a:cs typeface="Times New Roman"/>
              </a:rPr>
              <a:t>is</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created.</a:t>
            </a:r>
            <a:endParaRPr sz="2000">
              <a:solidFill>
                <a:prstClr val="black"/>
              </a:solidFill>
              <a:latin typeface="Times New Roman"/>
              <a:cs typeface="Times New Roman"/>
            </a:endParaRPr>
          </a:p>
          <a:p>
            <a:pPr marL="355600" indent="-342900">
              <a:buFont typeface="Arial MT"/>
              <a:buChar char="•"/>
              <a:tabLst>
                <a:tab pos="355600" algn="l"/>
              </a:tabLst>
            </a:pPr>
            <a:r>
              <a:rPr sz="2000" spc="-50" dirty="0">
                <a:solidFill>
                  <a:prstClr val="black"/>
                </a:solidFill>
                <a:latin typeface="Times New Roman"/>
                <a:cs typeface="Times New Roman"/>
              </a:rPr>
              <a:t>We</a:t>
            </a:r>
            <a:r>
              <a:rPr sz="2000" spc="-30" dirty="0">
                <a:solidFill>
                  <a:prstClr val="black"/>
                </a:solidFill>
                <a:latin typeface="Times New Roman"/>
                <a:cs typeface="Times New Roman"/>
              </a:rPr>
              <a:t> </a:t>
            </a:r>
            <a:r>
              <a:rPr sz="2000" dirty="0">
                <a:solidFill>
                  <a:prstClr val="black"/>
                </a:solidFill>
                <a:latin typeface="Times New Roman"/>
                <a:cs typeface="Times New Roman"/>
              </a:rPr>
              <a:t>can</a:t>
            </a:r>
            <a:r>
              <a:rPr sz="2000" spc="-30" dirty="0">
                <a:solidFill>
                  <a:prstClr val="black"/>
                </a:solidFill>
                <a:latin typeface="Times New Roman"/>
                <a:cs typeface="Times New Roman"/>
              </a:rPr>
              <a:t> </a:t>
            </a:r>
            <a:r>
              <a:rPr sz="2000" dirty="0">
                <a:solidFill>
                  <a:prstClr val="black"/>
                </a:solidFill>
                <a:latin typeface="Times New Roman"/>
                <a:cs typeface="Times New Roman"/>
              </a:rPr>
              <a:t>then</a:t>
            </a:r>
            <a:r>
              <a:rPr sz="2000" spc="-10" dirty="0">
                <a:solidFill>
                  <a:prstClr val="black"/>
                </a:solidFill>
                <a:latin typeface="Times New Roman"/>
                <a:cs typeface="Times New Roman"/>
              </a:rPr>
              <a:t> </a:t>
            </a:r>
            <a:r>
              <a:rPr sz="2000" dirty="0">
                <a:solidFill>
                  <a:prstClr val="black"/>
                </a:solidFill>
                <a:latin typeface="Times New Roman"/>
                <a:cs typeface="Times New Roman"/>
              </a:rPr>
              <a:t>read</a:t>
            </a:r>
            <a:r>
              <a:rPr sz="2000" spc="-25" dirty="0">
                <a:solidFill>
                  <a:prstClr val="black"/>
                </a:solidFill>
                <a:latin typeface="Times New Roman"/>
                <a:cs typeface="Times New Roman"/>
              </a:rPr>
              <a:t> </a:t>
            </a:r>
            <a:r>
              <a:rPr sz="2000" dirty="0">
                <a:solidFill>
                  <a:prstClr val="black"/>
                </a:solidFill>
                <a:latin typeface="Times New Roman"/>
                <a:cs typeface="Times New Roman"/>
              </a:rPr>
              <a:t>from</a:t>
            </a:r>
            <a:r>
              <a:rPr sz="2000" spc="-45" dirty="0">
                <a:solidFill>
                  <a:prstClr val="black"/>
                </a:solidFill>
                <a:latin typeface="Times New Roman"/>
                <a:cs typeface="Times New Roman"/>
              </a:rPr>
              <a:t> </a:t>
            </a:r>
            <a:r>
              <a:rPr sz="2000" dirty="0">
                <a:solidFill>
                  <a:prstClr val="black"/>
                </a:solidFill>
                <a:latin typeface="Times New Roman"/>
                <a:cs typeface="Times New Roman"/>
              </a:rPr>
              <a:t>it</a:t>
            </a:r>
            <a:r>
              <a:rPr sz="2000" spc="-20" dirty="0">
                <a:solidFill>
                  <a:prstClr val="black"/>
                </a:solidFill>
                <a:latin typeface="Times New Roman"/>
                <a:cs typeface="Times New Roman"/>
              </a:rPr>
              <a:t> </a:t>
            </a:r>
            <a:r>
              <a:rPr sz="2000" dirty="0">
                <a:solidFill>
                  <a:prstClr val="black"/>
                </a:solidFill>
                <a:latin typeface="Times New Roman"/>
                <a:cs typeface="Times New Roman"/>
              </a:rPr>
              <a:t>using</a:t>
            </a:r>
            <a:r>
              <a:rPr sz="2000" spc="-30" dirty="0">
                <a:solidFill>
                  <a:prstClr val="black"/>
                </a:solidFill>
                <a:latin typeface="Times New Roman"/>
                <a:cs typeface="Times New Roman"/>
              </a:rPr>
              <a:t> </a:t>
            </a:r>
            <a:r>
              <a:rPr sz="2000" spc="-25" dirty="0">
                <a:solidFill>
                  <a:prstClr val="black"/>
                </a:solidFill>
                <a:latin typeface="Times New Roman"/>
                <a:cs typeface="Times New Roman"/>
              </a:rPr>
              <a:t>the</a:t>
            </a:r>
            <a:endParaRPr sz="2000">
              <a:solidFill>
                <a:prstClr val="black"/>
              </a:solidFill>
              <a:latin typeface="Times New Roman"/>
              <a:cs typeface="Times New Roman"/>
            </a:endParaRPr>
          </a:p>
          <a:p>
            <a:pPr marL="355600">
              <a:spcBef>
                <a:spcPts val="5"/>
              </a:spcBef>
            </a:pPr>
            <a:r>
              <a:rPr sz="2000" dirty="0">
                <a:solidFill>
                  <a:prstClr val="black"/>
                </a:solidFill>
                <a:latin typeface="Times New Roman"/>
                <a:cs typeface="Times New Roman"/>
              </a:rPr>
              <a:t>extraction</a:t>
            </a:r>
            <a:r>
              <a:rPr sz="2000" spc="-40" dirty="0">
                <a:solidFill>
                  <a:prstClr val="black"/>
                </a:solidFill>
                <a:latin typeface="Times New Roman"/>
                <a:cs typeface="Times New Roman"/>
              </a:rPr>
              <a:t> </a:t>
            </a:r>
            <a:r>
              <a:rPr sz="2000" dirty="0">
                <a:solidFill>
                  <a:prstClr val="black"/>
                </a:solidFill>
                <a:latin typeface="Times New Roman"/>
                <a:cs typeface="Times New Roman"/>
              </a:rPr>
              <a:t>(&gt;&gt;)</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operator.</a:t>
            </a:r>
            <a:endParaRPr sz="2000">
              <a:solidFill>
                <a:prstClr val="black"/>
              </a:solidFill>
              <a:latin typeface="Times New Roman"/>
              <a:cs typeface="Times New Roman"/>
            </a:endParaRPr>
          </a:p>
        </p:txBody>
      </p:sp>
      <p:grpSp>
        <p:nvGrpSpPr>
          <p:cNvPr id="4" name="object 4"/>
          <p:cNvGrpSpPr/>
          <p:nvPr/>
        </p:nvGrpSpPr>
        <p:grpSpPr>
          <a:xfrm>
            <a:off x="6637717" y="359409"/>
            <a:ext cx="4722495" cy="5743575"/>
            <a:chOff x="6637717" y="359409"/>
            <a:chExt cx="4722495" cy="5743575"/>
          </a:xfrm>
        </p:grpSpPr>
        <p:pic>
          <p:nvPicPr>
            <p:cNvPr id="5" name="object 5"/>
            <p:cNvPicPr/>
            <p:nvPr/>
          </p:nvPicPr>
          <p:blipFill>
            <a:blip r:embed="rId2" cstate="print"/>
            <a:stretch>
              <a:fillRect/>
            </a:stretch>
          </p:blipFill>
          <p:spPr>
            <a:xfrm>
              <a:off x="6637717" y="790526"/>
              <a:ext cx="3990658" cy="5312171"/>
            </a:xfrm>
            <a:prstGeom prst="rect">
              <a:avLst/>
            </a:prstGeom>
          </p:spPr>
        </p:pic>
        <p:sp>
          <p:nvSpPr>
            <p:cNvPr id="6" name="object 6"/>
            <p:cNvSpPr/>
            <p:nvPr/>
          </p:nvSpPr>
          <p:spPr>
            <a:xfrm>
              <a:off x="9567672" y="365759"/>
              <a:ext cx="1431290" cy="788035"/>
            </a:xfrm>
            <a:custGeom>
              <a:avLst/>
              <a:gdLst/>
              <a:ahLst/>
              <a:cxnLst/>
              <a:rect l="l" t="t" r="r" b="b"/>
              <a:pathLst>
                <a:path w="1431290" h="788035">
                  <a:moveTo>
                    <a:pt x="1431035" y="0"/>
                  </a:moveTo>
                  <a:lnTo>
                    <a:pt x="0" y="0"/>
                  </a:lnTo>
                  <a:lnTo>
                    <a:pt x="0" y="787908"/>
                  </a:lnTo>
                  <a:lnTo>
                    <a:pt x="1431035" y="787908"/>
                  </a:lnTo>
                  <a:lnTo>
                    <a:pt x="1431035"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9567672" y="365759"/>
              <a:ext cx="1431290" cy="788035"/>
            </a:xfrm>
            <a:custGeom>
              <a:avLst/>
              <a:gdLst/>
              <a:ahLst/>
              <a:cxnLst/>
              <a:rect l="l" t="t" r="r" b="b"/>
              <a:pathLst>
                <a:path w="1431290" h="788035">
                  <a:moveTo>
                    <a:pt x="0" y="787908"/>
                  </a:moveTo>
                  <a:lnTo>
                    <a:pt x="1431035" y="787908"/>
                  </a:lnTo>
                  <a:lnTo>
                    <a:pt x="1431035" y="0"/>
                  </a:lnTo>
                  <a:lnTo>
                    <a:pt x="0" y="0"/>
                  </a:lnTo>
                  <a:lnTo>
                    <a:pt x="0" y="787908"/>
                  </a:lnTo>
                  <a:close/>
                </a:path>
              </a:pathLst>
            </a:custGeom>
            <a:ln w="12700">
              <a:solidFill>
                <a:srgbClr val="FFFFFF"/>
              </a:solidFill>
            </a:ln>
          </p:spPr>
          <p:txBody>
            <a:bodyPr wrap="square" lIns="0" tIns="0" rIns="0" bIns="0" rtlCol="0"/>
            <a:lstStyle/>
            <a:p>
              <a:endParaRPr>
                <a:solidFill>
                  <a:prstClr val="black"/>
                </a:solidFill>
              </a:endParaRPr>
            </a:p>
          </p:txBody>
        </p:sp>
        <p:sp>
          <p:nvSpPr>
            <p:cNvPr id="8" name="object 8"/>
            <p:cNvSpPr/>
            <p:nvPr/>
          </p:nvSpPr>
          <p:spPr>
            <a:xfrm>
              <a:off x="9832848" y="3755136"/>
              <a:ext cx="1033780" cy="463550"/>
            </a:xfrm>
            <a:custGeom>
              <a:avLst/>
              <a:gdLst/>
              <a:ahLst/>
              <a:cxnLst/>
              <a:rect l="l" t="t" r="r" b="b"/>
              <a:pathLst>
                <a:path w="1033779" h="463550">
                  <a:moveTo>
                    <a:pt x="1033272" y="0"/>
                  </a:moveTo>
                  <a:lnTo>
                    <a:pt x="0" y="0"/>
                  </a:lnTo>
                  <a:lnTo>
                    <a:pt x="0" y="463295"/>
                  </a:lnTo>
                  <a:lnTo>
                    <a:pt x="1033272" y="463295"/>
                  </a:lnTo>
                  <a:lnTo>
                    <a:pt x="1033272" y="0"/>
                  </a:lnTo>
                  <a:close/>
                </a:path>
              </a:pathLst>
            </a:custGeom>
            <a:solidFill>
              <a:srgbClr val="FFFFFF"/>
            </a:solidFill>
          </p:spPr>
          <p:txBody>
            <a:bodyPr wrap="square" lIns="0" tIns="0" rIns="0" bIns="0" rtlCol="0"/>
            <a:lstStyle/>
            <a:p>
              <a:endParaRPr>
                <a:solidFill>
                  <a:prstClr val="black"/>
                </a:solidFill>
              </a:endParaRPr>
            </a:p>
          </p:txBody>
        </p:sp>
        <p:sp>
          <p:nvSpPr>
            <p:cNvPr id="9" name="object 9"/>
            <p:cNvSpPr/>
            <p:nvPr/>
          </p:nvSpPr>
          <p:spPr>
            <a:xfrm>
              <a:off x="9832848" y="3755136"/>
              <a:ext cx="1033780" cy="463550"/>
            </a:xfrm>
            <a:custGeom>
              <a:avLst/>
              <a:gdLst/>
              <a:ahLst/>
              <a:cxnLst/>
              <a:rect l="l" t="t" r="r" b="b"/>
              <a:pathLst>
                <a:path w="1033779" h="463550">
                  <a:moveTo>
                    <a:pt x="0" y="463295"/>
                  </a:moveTo>
                  <a:lnTo>
                    <a:pt x="1033272" y="463295"/>
                  </a:lnTo>
                  <a:lnTo>
                    <a:pt x="1033272" y="0"/>
                  </a:lnTo>
                  <a:lnTo>
                    <a:pt x="0" y="0"/>
                  </a:lnTo>
                  <a:lnTo>
                    <a:pt x="0" y="463295"/>
                  </a:lnTo>
                  <a:close/>
                </a:path>
              </a:pathLst>
            </a:custGeom>
            <a:ln w="12700">
              <a:solidFill>
                <a:srgbClr val="FFFFFF"/>
              </a:solidFill>
            </a:ln>
          </p:spPr>
          <p:txBody>
            <a:bodyPr wrap="square" lIns="0" tIns="0" rIns="0" bIns="0" rtlCol="0"/>
            <a:lstStyle/>
            <a:p>
              <a:endParaRPr>
                <a:solidFill>
                  <a:prstClr val="black"/>
                </a:solidFill>
              </a:endParaRPr>
            </a:p>
          </p:txBody>
        </p:sp>
        <p:sp>
          <p:nvSpPr>
            <p:cNvPr id="10" name="object 10"/>
            <p:cNvSpPr/>
            <p:nvPr/>
          </p:nvSpPr>
          <p:spPr>
            <a:xfrm>
              <a:off x="9965436" y="4486656"/>
              <a:ext cx="1388745" cy="681355"/>
            </a:xfrm>
            <a:custGeom>
              <a:avLst/>
              <a:gdLst/>
              <a:ahLst/>
              <a:cxnLst/>
              <a:rect l="l" t="t" r="r" b="b"/>
              <a:pathLst>
                <a:path w="1388745" h="681354">
                  <a:moveTo>
                    <a:pt x="1388364" y="0"/>
                  </a:moveTo>
                  <a:lnTo>
                    <a:pt x="0" y="0"/>
                  </a:lnTo>
                  <a:lnTo>
                    <a:pt x="0" y="681228"/>
                  </a:lnTo>
                  <a:lnTo>
                    <a:pt x="1388364" y="681228"/>
                  </a:lnTo>
                  <a:lnTo>
                    <a:pt x="1388364" y="0"/>
                  </a:lnTo>
                  <a:close/>
                </a:path>
              </a:pathLst>
            </a:custGeom>
            <a:solidFill>
              <a:srgbClr val="FFFFFF"/>
            </a:solidFill>
          </p:spPr>
          <p:txBody>
            <a:bodyPr wrap="square" lIns="0" tIns="0" rIns="0" bIns="0" rtlCol="0"/>
            <a:lstStyle/>
            <a:p>
              <a:endParaRPr>
                <a:solidFill>
                  <a:prstClr val="black"/>
                </a:solidFill>
              </a:endParaRPr>
            </a:p>
          </p:txBody>
        </p:sp>
        <p:sp>
          <p:nvSpPr>
            <p:cNvPr id="11" name="object 11"/>
            <p:cNvSpPr/>
            <p:nvPr/>
          </p:nvSpPr>
          <p:spPr>
            <a:xfrm>
              <a:off x="9965436" y="4486656"/>
              <a:ext cx="1388745" cy="681355"/>
            </a:xfrm>
            <a:custGeom>
              <a:avLst/>
              <a:gdLst/>
              <a:ahLst/>
              <a:cxnLst/>
              <a:rect l="l" t="t" r="r" b="b"/>
              <a:pathLst>
                <a:path w="1388745" h="681354">
                  <a:moveTo>
                    <a:pt x="0" y="681228"/>
                  </a:moveTo>
                  <a:lnTo>
                    <a:pt x="1388364" y="681228"/>
                  </a:lnTo>
                  <a:lnTo>
                    <a:pt x="1388364" y="0"/>
                  </a:lnTo>
                  <a:lnTo>
                    <a:pt x="0" y="0"/>
                  </a:lnTo>
                  <a:lnTo>
                    <a:pt x="0" y="681228"/>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14" name="object 14"/>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5" name="object 15"/>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6" name="Date Placeholder 15">
            <a:extLst>
              <a:ext uri="{FF2B5EF4-FFF2-40B4-BE49-F238E27FC236}">
                <a16:creationId xmlns:a16="http://schemas.microsoft.com/office/drawing/2014/main" id="{DFA8BD8D-2075-C0E8-C3D5-77CED2691945}"/>
              </a:ext>
            </a:extLst>
          </p:cNvPr>
          <p:cNvSpPr>
            <a:spLocks noGrp="1"/>
          </p:cNvSpPr>
          <p:nvPr>
            <p:ph type="dt" sz="half" idx="10"/>
          </p:nvPr>
        </p:nvSpPr>
        <p:spPr/>
        <p:txBody>
          <a:bodyPr/>
          <a:lstStyle/>
          <a:p>
            <a:fld id="{79775D3C-EB16-49DD-A8B1-12CED4C7E6ED}" type="datetime1">
              <a:rPr lang="en-US" smtClean="0">
                <a:solidFill>
                  <a:prstClr val="black">
                    <a:tint val="75000"/>
                  </a:prstClr>
                </a:solidFill>
              </a:rPr>
              <a:pPr/>
              <a:t>11/17/2025</a:t>
            </a:fld>
            <a:endParaRPr lang="en-US">
              <a:solidFill>
                <a:prstClr val="black">
                  <a:tint val="75000"/>
                </a:prstClr>
              </a:solidFill>
            </a:endParaRPr>
          </a:p>
        </p:txBody>
      </p:sp>
      <p:sp>
        <p:nvSpPr>
          <p:cNvPr id="17" name="Slide Number Placeholder 16">
            <a:extLst>
              <a:ext uri="{FF2B5EF4-FFF2-40B4-BE49-F238E27FC236}">
                <a16:creationId xmlns:a16="http://schemas.microsoft.com/office/drawing/2014/main" id="{A2A6405A-582E-955D-7084-D2B8BA9663BD}"/>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83</a:t>
            </a:fld>
            <a:endParaRPr spc="-25" dirty="0">
              <a:solidFill>
                <a:prstClr val="black">
                  <a:tint val="75000"/>
                </a:prstClr>
              </a:solidFill>
            </a:endParaRPr>
          </a:p>
        </p:txBody>
      </p:sp>
    </p:spTree>
    <p:extLst>
      <p:ext uri="{BB962C8B-B14F-4D97-AF65-F5344CB8AC3E}">
        <p14:creationId xmlns:p14="http://schemas.microsoft.com/office/powerpoint/2010/main" val="28944680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Strings</a:t>
            </a:r>
            <a:r>
              <a:rPr spc="-60" dirty="0"/>
              <a:t> </a:t>
            </a:r>
            <a:r>
              <a:rPr dirty="0"/>
              <a:t>with</a:t>
            </a:r>
            <a:r>
              <a:rPr spc="-55" dirty="0"/>
              <a:t> </a:t>
            </a:r>
            <a:r>
              <a:rPr dirty="0"/>
              <a:t>Embedded</a:t>
            </a:r>
            <a:r>
              <a:rPr spc="-55" dirty="0"/>
              <a:t> </a:t>
            </a:r>
            <a:r>
              <a:rPr dirty="0"/>
              <a:t>Blanks</a:t>
            </a:r>
            <a:r>
              <a:rPr spc="-55" dirty="0"/>
              <a:t> </a:t>
            </a:r>
            <a:r>
              <a:rPr dirty="0"/>
              <a:t>in</a:t>
            </a:r>
            <a:r>
              <a:rPr spc="-55" dirty="0"/>
              <a:t> </a:t>
            </a:r>
            <a:r>
              <a:rPr dirty="0"/>
              <a:t>File</a:t>
            </a:r>
            <a:r>
              <a:rPr spc="-55" dirty="0"/>
              <a:t> </a:t>
            </a:r>
            <a:r>
              <a:rPr spc="-25" dirty="0"/>
              <a:t>I/O</a:t>
            </a:r>
          </a:p>
        </p:txBody>
      </p:sp>
      <p:sp>
        <p:nvSpPr>
          <p:cNvPr id="9" name="object 9"/>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645107"/>
            <a:ext cx="10494010" cy="1245870"/>
          </a:xfrm>
          <a:prstGeom prst="rect">
            <a:avLst/>
          </a:prstGeom>
        </p:spPr>
        <p:txBody>
          <a:bodyPr vert="horz" wrap="square" lIns="0" tIns="13335" rIns="0" bIns="0" rtlCol="0">
            <a:spAutoFit/>
          </a:bodyPr>
          <a:lstStyle/>
          <a:p>
            <a:pPr marL="355600" indent="-342900">
              <a:spcBef>
                <a:spcPts val="105"/>
              </a:spcBef>
              <a:buFont typeface="Arial MT"/>
              <a:buChar char="•"/>
              <a:tabLst>
                <a:tab pos="355600" algn="l"/>
              </a:tabLst>
            </a:pPr>
            <a:r>
              <a:rPr sz="2000" dirty="0">
                <a:solidFill>
                  <a:prstClr val="black"/>
                </a:solidFill>
                <a:latin typeface="Times New Roman"/>
                <a:cs typeface="Times New Roman"/>
              </a:rPr>
              <a:t>The</a:t>
            </a:r>
            <a:r>
              <a:rPr sz="2000" spc="-20" dirty="0">
                <a:solidFill>
                  <a:prstClr val="black"/>
                </a:solidFill>
                <a:latin typeface="Times New Roman"/>
                <a:cs typeface="Times New Roman"/>
              </a:rPr>
              <a:t> </a:t>
            </a:r>
            <a:r>
              <a:rPr sz="2000" dirty="0">
                <a:solidFill>
                  <a:prstClr val="black"/>
                </a:solidFill>
                <a:latin typeface="Times New Roman"/>
                <a:cs typeface="Times New Roman"/>
              </a:rPr>
              <a:t>technique</a:t>
            </a:r>
            <a:r>
              <a:rPr sz="2000" spc="-45" dirty="0">
                <a:solidFill>
                  <a:prstClr val="black"/>
                </a:solidFill>
                <a:latin typeface="Times New Roman"/>
                <a:cs typeface="Times New Roman"/>
              </a:rPr>
              <a:t> </a:t>
            </a:r>
            <a:r>
              <a:rPr sz="2000" dirty="0">
                <a:solidFill>
                  <a:prstClr val="black"/>
                </a:solidFill>
                <a:latin typeface="Times New Roman"/>
                <a:cs typeface="Times New Roman"/>
              </a:rPr>
              <a:t>of</a:t>
            </a:r>
            <a:r>
              <a:rPr sz="2000" spc="-25" dirty="0">
                <a:solidFill>
                  <a:prstClr val="black"/>
                </a:solidFill>
                <a:latin typeface="Times New Roman"/>
                <a:cs typeface="Times New Roman"/>
              </a:rPr>
              <a:t> </a:t>
            </a:r>
            <a:r>
              <a:rPr sz="2000" dirty="0">
                <a:solidFill>
                  <a:prstClr val="black"/>
                </a:solidFill>
                <a:latin typeface="Times New Roman"/>
                <a:cs typeface="Times New Roman"/>
              </a:rPr>
              <a:t>our</a:t>
            </a:r>
            <a:r>
              <a:rPr sz="2000" spc="-35" dirty="0">
                <a:solidFill>
                  <a:prstClr val="black"/>
                </a:solidFill>
                <a:latin typeface="Times New Roman"/>
                <a:cs typeface="Times New Roman"/>
              </a:rPr>
              <a:t> </a:t>
            </a:r>
            <a:r>
              <a:rPr sz="2000" dirty="0">
                <a:solidFill>
                  <a:prstClr val="black"/>
                </a:solidFill>
                <a:latin typeface="Times New Roman"/>
                <a:cs typeface="Times New Roman"/>
              </a:rPr>
              <a:t>last</a:t>
            </a:r>
            <a:r>
              <a:rPr sz="2000" spc="-25" dirty="0">
                <a:solidFill>
                  <a:prstClr val="black"/>
                </a:solidFill>
                <a:latin typeface="Times New Roman"/>
                <a:cs typeface="Times New Roman"/>
              </a:rPr>
              <a:t> </a:t>
            </a:r>
            <a:r>
              <a:rPr sz="2000" dirty="0">
                <a:solidFill>
                  <a:prstClr val="black"/>
                </a:solidFill>
                <a:latin typeface="Times New Roman"/>
                <a:cs typeface="Times New Roman"/>
              </a:rPr>
              <a:t>examples</a:t>
            </a:r>
            <a:r>
              <a:rPr sz="2000" spc="-25" dirty="0">
                <a:solidFill>
                  <a:prstClr val="black"/>
                </a:solidFill>
                <a:latin typeface="Times New Roman"/>
                <a:cs typeface="Times New Roman"/>
              </a:rPr>
              <a:t> </a:t>
            </a:r>
            <a:r>
              <a:rPr sz="2000" dirty="0">
                <a:solidFill>
                  <a:prstClr val="black"/>
                </a:solidFill>
                <a:latin typeface="Times New Roman"/>
                <a:cs typeface="Times New Roman"/>
              </a:rPr>
              <a:t>won’t</a:t>
            </a:r>
            <a:r>
              <a:rPr sz="2000" spc="-50" dirty="0">
                <a:solidFill>
                  <a:prstClr val="black"/>
                </a:solidFill>
                <a:latin typeface="Times New Roman"/>
                <a:cs typeface="Times New Roman"/>
              </a:rPr>
              <a:t> </a:t>
            </a:r>
            <a:r>
              <a:rPr sz="2000" dirty="0">
                <a:solidFill>
                  <a:prstClr val="black"/>
                </a:solidFill>
                <a:latin typeface="Times New Roman"/>
                <a:cs typeface="Times New Roman"/>
              </a:rPr>
              <a:t>work</a:t>
            </a:r>
            <a:r>
              <a:rPr sz="2000" spc="-20" dirty="0">
                <a:solidFill>
                  <a:prstClr val="black"/>
                </a:solidFill>
                <a:latin typeface="Times New Roman"/>
                <a:cs typeface="Times New Roman"/>
              </a:rPr>
              <a:t> </a:t>
            </a:r>
            <a:r>
              <a:rPr sz="2000" dirty="0">
                <a:solidFill>
                  <a:prstClr val="black"/>
                </a:solidFill>
                <a:latin typeface="Times New Roman"/>
                <a:cs typeface="Times New Roman"/>
              </a:rPr>
              <a:t>with</a:t>
            </a:r>
            <a:r>
              <a:rPr sz="2000" spc="-25" dirty="0">
                <a:solidFill>
                  <a:prstClr val="black"/>
                </a:solidFill>
                <a:latin typeface="Times New Roman"/>
                <a:cs typeface="Times New Roman"/>
              </a:rPr>
              <a:t> </a:t>
            </a:r>
            <a:r>
              <a:rPr sz="2000" dirty="0">
                <a:solidFill>
                  <a:prstClr val="black"/>
                </a:solidFill>
                <a:latin typeface="Times New Roman"/>
                <a:cs typeface="Times New Roman"/>
              </a:rPr>
              <a:t>char*</a:t>
            </a:r>
            <a:r>
              <a:rPr sz="2000" spc="-25" dirty="0">
                <a:solidFill>
                  <a:prstClr val="black"/>
                </a:solidFill>
                <a:latin typeface="Times New Roman"/>
                <a:cs typeface="Times New Roman"/>
              </a:rPr>
              <a:t> </a:t>
            </a:r>
            <a:r>
              <a:rPr sz="2000" dirty="0">
                <a:solidFill>
                  <a:prstClr val="black"/>
                </a:solidFill>
                <a:latin typeface="Times New Roman"/>
                <a:cs typeface="Times New Roman"/>
              </a:rPr>
              <a:t>strings</a:t>
            </a:r>
            <a:r>
              <a:rPr sz="2000" spc="-55" dirty="0">
                <a:solidFill>
                  <a:prstClr val="black"/>
                </a:solidFill>
                <a:latin typeface="Times New Roman"/>
                <a:cs typeface="Times New Roman"/>
              </a:rPr>
              <a:t> </a:t>
            </a:r>
            <a:r>
              <a:rPr sz="2000" dirty="0">
                <a:solidFill>
                  <a:prstClr val="black"/>
                </a:solidFill>
                <a:latin typeface="Times New Roman"/>
                <a:cs typeface="Times New Roman"/>
              </a:rPr>
              <a:t>containing</a:t>
            </a:r>
            <a:r>
              <a:rPr sz="2000" spc="-40" dirty="0">
                <a:solidFill>
                  <a:prstClr val="black"/>
                </a:solidFill>
                <a:latin typeface="Times New Roman"/>
                <a:cs typeface="Times New Roman"/>
              </a:rPr>
              <a:t> </a:t>
            </a:r>
            <a:r>
              <a:rPr sz="2000" dirty="0">
                <a:solidFill>
                  <a:prstClr val="black"/>
                </a:solidFill>
                <a:latin typeface="Times New Roman"/>
                <a:cs typeface="Times New Roman"/>
              </a:rPr>
              <a:t>embedded</a:t>
            </a:r>
            <a:r>
              <a:rPr sz="2000" spc="-30" dirty="0">
                <a:solidFill>
                  <a:prstClr val="black"/>
                </a:solidFill>
                <a:latin typeface="Times New Roman"/>
                <a:cs typeface="Times New Roman"/>
              </a:rPr>
              <a:t> </a:t>
            </a:r>
            <a:r>
              <a:rPr sz="2000" spc="-10" dirty="0">
                <a:solidFill>
                  <a:prstClr val="black"/>
                </a:solidFill>
                <a:latin typeface="Times New Roman"/>
                <a:cs typeface="Times New Roman"/>
              </a:rPr>
              <a:t>blanks.</a:t>
            </a:r>
            <a:endParaRPr sz="2000">
              <a:solidFill>
                <a:prstClr val="black"/>
              </a:solidFill>
              <a:latin typeface="Times New Roman"/>
              <a:cs typeface="Times New Roman"/>
            </a:endParaRPr>
          </a:p>
          <a:p>
            <a:pPr marL="355600" marR="5080" indent="-343535">
              <a:buFont typeface="Arial MT"/>
              <a:buChar char="•"/>
              <a:tabLst>
                <a:tab pos="355600" algn="l"/>
              </a:tabLst>
            </a:pPr>
            <a:r>
              <a:rPr sz="2000" spc="-35" dirty="0">
                <a:solidFill>
                  <a:prstClr val="black"/>
                </a:solidFill>
                <a:latin typeface="Times New Roman"/>
                <a:cs typeface="Times New Roman"/>
              </a:rPr>
              <a:t>To</a:t>
            </a:r>
            <a:r>
              <a:rPr sz="2000" spc="-10" dirty="0">
                <a:solidFill>
                  <a:prstClr val="black"/>
                </a:solidFill>
                <a:latin typeface="Times New Roman"/>
                <a:cs typeface="Times New Roman"/>
              </a:rPr>
              <a:t> </a:t>
            </a:r>
            <a:r>
              <a:rPr sz="2000" dirty="0">
                <a:solidFill>
                  <a:prstClr val="black"/>
                </a:solidFill>
                <a:latin typeface="Times New Roman"/>
                <a:cs typeface="Times New Roman"/>
              </a:rPr>
              <a:t>handle</a:t>
            </a:r>
            <a:r>
              <a:rPr sz="2000" spc="-35" dirty="0">
                <a:solidFill>
                  <a:prstClr val="black"/>
                </a:solidFill>
                <a:latin typeface="Times New Roman"/>
                <a:cs typeface="Times New Roman"/>
              </a:rPr>
              <a:t> </a:t>
            </a:r>
            <a:r>
              <a:rPr sz="2000" dirty="0">
                <a:solidFill>
                  <a:prstClr val="black"/>
                </a:solidFill>
                <a:latin typeface="Times New Roman"/>
                <a:cs typeface="Times New Roman"/>
              </a:rPr>
              <a:t>such</a:t>
            </a:r>
            <a:r>
              <a:rPr sz="2000" spc="-20" dirty="0">
                <a:solidFill>
                  <a:prstClr val="black"/>
                </a:solidFill>
                <a:latin typeface="Times New Roman"/>
                <a:cs typeface="Times New Roman"/>
              </a:rPr>
              <a:t> </a:t>
            </a:r>
            <a:r>
              <a:rPr sz="2000" dirty="0">
                <a:solidFill>
                  <a:prstClr val="black"/>
                </a:solidFill>
                <a:latin typeface="Times New Roman"/>
                <a:cs typeface="Times New Roman"/>
              </a:rPr>
              <a:t>strings,</a:t>
            </a:r>
            <a:r>
              <a:rPr sz="2000" spc="-40" dirty="0">
                <a:solidFill>
                  <a:prstClr val="black"/>
                </a:solidFill>
                <a:latin typeface="Times New Roman"/>
                <a:cs typeface="Times New Roman"/>
              </a:rPr>
              <a:t> </a:t>
            </a:r>
            <a:r>
              <a:rPr sz="2000" dirty="0">
                <a:solidFill>
                  <a:prstClr val="black"/>
                </a:solidFill>
                <a:latin typeface="Times New Roman"/>
                <a:cs typeface="Times New Roman"/>
              </a:rPr>
              <a:t>you</a:t>
            </a:r>
            <a:r>
              <a:rPr sz="2000" spc="-20" dirty="0">
                <a:solidFill>
                  <a:prstClr val="black"/>
                </a:solidFill>
                <a:latin typeface="Times New Roman"/>
                <a:cs typeface="Times New Roman"/>
              </a:rPr>
              <a:t> </a:t>
            </a:r>
            <a:r>
              <a:rPr sz="2000" dirty="0">
                <a:solidFill>
                  <a:prstClr val="black"/>
                </a:solidFill>
                <a:latin typeface="Times New Roman"/>
                <a:cs typeface="Times New Roman"/>
              </a:rPr>
              <a:t>need</a:t>
            </a:r>
            <a:r>
              <a:rPr sz="2000" spc="-15" dirty="0">
                <a:solidFill>
                  <a:prstClr val="black"/>
                </a:solidFill>
                <a:latin typeface="Times New Roman"/>
                <a:cs typeface="Times New Roman"/>
              </a:rPr>
              <a:t> </a:t>
            </a:r>
            <a:r>
              <a:rPr sz="2000" dirty="0">
                <a:solidFill>
                  <a:prstClr val="black"/>
                </a:solidFill>
                <a:latin typeface="Times New Roman"/>
                <a:cs typeface="Times New Roman"/>
              </a:rPr>
              <a:t>to</a:t>
            </a:r>
            <a:r>
              <a:rPr sz="2000" spc="-20" dirty="0">
                <a:solidFill>
                  <a:prstClr val="black"/>
                </a:solidFill>
                <a:latin typeface="Times New Roman"/>
                <a:cs typeface="Times New Roman"/>
              </a:rPr>
              <a:t> </a:t>
            </a:r>
            <a:r>
              <a:rPr sz="2000" dirty="0">
                <a:solidFill>
                  <a:prstClr val="black"/>
                </a:solidFill>
                <a:latin typeface="Times New Roman"/>
                <a:cs typeface="Times New Roman"/>
              </a:rPr>
              <a:t>write</a:t>
            </a:r>
            <a:r>
              <a:rPr sz="2000" spc="-30" dirty="0">
                <a:solidFill>
                  <a:prstClr val="black"/>
                </a:solidFill>
                <a:latin typeface="Times New Roman"/>
                <a:cs typeface="Times New Roman"/>
              </a:rPr>
              <a:t> </a:t>
            </a:r>
            <a:r>
              <a:rPr sz="2000" dirty="0">
                <a:solidFill>
                  <a:prstClr val="black"/>
                </a:solidFill>
                <a:latin typeface="Times New Roman"/>
                <a:cs typeface="Times New Roman"/>
              </a:rPr>
              <a:t>a</a:t>
            </a:r>
            <a:r>
              <a:rPr sz="2000" spc="-10" dirty="0">
                <a:solidFill>
                  <a:prstClr val="black"/>
                </a:solidFill>
                <a:latin typeface="Times New Roman"/>
                <a:cs typeface="Times New Roman"/>
              </a:rPr>
              <a:t> </a:t>
            </a:r>
            <a:r>
              <a:rPr sz="2000" dirty="0">
                <a:solidFill>
                  <a:prstClr val="black"/>
                </a:solidFill>
                <a:latin typeface="Times New Roman"/>
                <a:cs typeface="Times New Roman"/>
              </a:rPr>
              <a:t>specific</a:t>
            </a:r>
            <a:r>
              <a:rPr sz="2000" spc="-45" dirty="0">
                <a:solidFill>
                  <a:prstClr val="black"/>
                </a:solidFill>
                <a:latin typeface="Times New Roman"/>
                <a:cs typeface="Times New Roman"/>
              </a:rPr>
              <a:t> </a:t>
            </a:r>
            <a:r>
              <a:rPr sz="2000" dirty="0">
                <a:solidFill>
                  <a:prstClr val="black"/>
                </a:solidFill>
                <a:latin typeface="Times New Roman"/>
                <a:cs typeface="Times New Roman"/>
              </a:rPr>
              <a:t>delimiter</a:t>
            </a:r>
            <a:r>
              <a:rPr sz="2000" spc="-30" dirty="0">
                <a:solidFill>
                  <a:prstClr val="black"/>
                </a:solidFill>
                <a:latin typeface="Times New Roman"/>
                <a:cs typeface="Times New Roman"/>
              </a:rPr>
              <a:t> </a:t>
            </a:r>
            <a:r>
              <a:rPr sz="2000" dirty="0">
                <a:solidFill>
                  <a:prstClr val="black"/>
                </a:solidFill>
                <a:latin typeface="Times New Roman"/>
                <a:cs typeface="Times New Roman"/>
              </a:rPr>
              <a:t>character</a:t>
            </a:r>
            <a:r>
              <a:rPr sz="2000" spc="-30" dirty="0">
                <a:solidFill>
                  <a:prstClr val="black"/>
                </a:solidFill>
                <a:latin typeface="Times New Roman"/>
                <a:cs typeface="Times New Roman"/>
              </a:rPr>
              <a:t> </a:t>
            </a:r>
            <a:r>
              <a:rPr sz="2000" dirty="0">
                <a:solidFill>
                  <a:prstClr val="black"/>
                </a:solidFill>
                <a:latin typeface="Times New Roman"/>
                <a:cs typeface="Times New Roman"/>
              </a:rPr>
              <a:t>after</a:t>
            </a:r>
            <a:r>
              <a:rPr sz="2000" spc="-40" dirty="0">
                <a:solidFill>
                  <a:prstClr val="black"/>
                </a:solidFill>
                <a:latin typeface="Times New Roman"/>
                <a:cs typeface="Times New Roman"/>
              </a:rPr>
              <a:t> </a:t>
            </a:r>
            <a:r>
              <a:rPr sz="2000" dirty="0">
                <a:solidFill>
                  <a:prstClr val="black"/>
                </a:solidFill>
                <a:latin typeface="Times New Roman"/>
                <a:cs typeface="Times New Roman"/>
              </a:rPr>
              <a:t>each</a:t>
            </a:r>
            <a:r>
              <a:rPr sz="2000" spc="-20" dirty="0">
                <a:solidFill>
                  <a:prstClr val="black"/>
                </a:solidFill>
                <a:latin typeface="Times New Roman"/>
                <a:cs typeface="Times New Roman"/>
              </a:rPr>
              <a:t> </a:t>
            </a:r>
            <a:r>
              <a:rPr sz="2000" dirty="0">
                <a:solidFill>
                  <a:prstClr val="black"/>
                </a:solidFill>
                <a:latin typeface="Times New Roman"/>
                <a:cs typeface="Times New Roman"/>
              </a:rPr>
              <a:t>string,</a:t>
            </a:r>
            <a:r>
              <a:rPr sz="2000" spc="-35" dirty="0">
                <a:solidFill>
                  <a:prstClr val="black"/>
                </a:solidFill>
                <a:latin typeface="Times New Roman"/>
                <a:cs typeface="Times New Roman"/>
              </a:rPr>
              <a:t> </a:t>
            </a:r>
            <a:r>
              <a:rPr sz="2000" dirty="0">
                <a:solidFill>
                  <a:prstClr val="black"/>
                </a:solidFill>
                <a:latin typeface="Times New Roman"/>
                <a:cs typeface="Times New Roman"/>
              </a:rPr>
              <a:t>and</a:t>
            </a:r>
            <a:r>
              <a:rPr sz="2000" spc="-25" dirty="0">
                <a:solidFill>
                  <a:prstClr val="black"/>
                </a:solidFill>
                <a:latin typeface="Times New Roman"/>
                <a:cs typeface="Times New Roman"/>
              </a:rPr>
              <a:t> </a:t>
            </a:r>
            <a:r>
              <a:rPr sz="2000" dirty="0">
                <a:solidFill>
                  <a:prstClr val="black"/>
                </a:solidFill>
                <a:latin typeface="Times New Roman"/>
                <a:cs typeface="Times New Roman"/>
              </a:rPr>
              <a:t>use</a:t>
            </a:r>
            <a:r>
              <a:rPr sz="2000" spc="-20" dirty="0">
                <a:solidFill>
                  <a:prstClr val="black"/>
                </a:solidFill>
                <a:latin typeface="Times New Roman"/>
                <a:cs typeface="Times New Roman"/>
              </a:rPr>
              <a:t> </a:t>
            </a:r>
            <a:r>
              <a:rPr sz="2000" spc="-25" dirty="0">
                <a:solidFill>
                  <a:prstClr val="black"/>
                </a:solidFill>
                <a:latin typeface="Times New Roman"/>
                <a:cs typeface="Times New Roman"/>
              </a:rPr>
              <a:t>the </a:t>
            </a:r>
            <a:r>
              <a:rPr sz="2000" dirty="0">
                <a:solidFill>
                  <a:prstClr val="black"/>
                </a:solidFill>
                <a:latin typeface="Times New Roman"/>
                <a:cs typeface="Times New Roman"/>
              </a:rPr>
              <a:t>getline()function.</a:t>
            </a:r>
            <a:r>
              <a:rPr sz="2000" spc="-80" dirty="0">
                <a:solidFill>
                  <a:prstClr val="black"/>
                </a:solidFill>
                <a:latin typeface="Times New Roman"/>
                <a:cs typeface="Times New Roman"/>
              </a:rPr>
              <a:t> </a:t>
            </a:r>
            <a:r>
              <a:rPr sz="2000" dirty="0">
                <a:solidFill>
                  <a:prstClr val="black"/>
                </a:solidFill>
                <a:latin typeface="Times New Roman"/>
                <a:cs typeface="Times New Roman"/>
              </a:rPr>
              <a:t>This</a:t>
            </a:r>
            <a:r>
              <a:rPr sz="2000" spc="-20" dirty="0">
                <a:solidFill>
                  <a:prstClr val="black"/>
                </a:solidFill>
                <a:latin typeface="Times New Roman"/>
                <a:cs typeface="Times New Roman"/>
              </a:rPr>
              <a:t> </a:t>
            </a:r>
            <a:r>
              <a:rPr sz="2000" dirty="0">
                <a:solidFill>
                  <a:prstClr val="black"/>
                </a:solidFill>
                <a:latin typeface="Times New Roman"/>
                <a:cs typeface="Times New Roman"/>
              </a:rPr>
              <a:t>function</a:t>
            </a:r>
            <a:r>
              <a:rPr sz="2000" spc="-45" dirty="0">
                <a:solidFill>
                  <a:prstClr val="black"/>
                </a:solidFill>
                <a:latin typeface="Times New Roman"/>
                <a:cs typeface="Times New Roman"/>
              </a:rPr>
              <a:t> </a:t>
            </a:r>
            <a:r>
              <a:rPr sz="2000" dirty="0">
                <a:solidFill>
                  <a:prstClr val="black"/>
                </a:solidFill>
                <a:latin typeface="Times New Roman"/>
                <a:cs typeface="Times New Roman"/>
              </a:rPr>
              <a:t>reads</a:t>
            </a:r>
            <a:r>
              <a:rPr sz="2000" spc="-25" dirty="0">
                <a:solidFill>
                  <a:prstClr val="black"/>
                </a:solidFill>
                <a:latin typeface="Times New Roman"/>
                <a:cs typeface="Times New Roman"/>
              </a:rPr>
              <a:t> </a:t>
            </a:r>
            <a:r>
              <a:rPr sz="2000" dirty="0">
                <a:solidFill>
                  <a:prstClr val="black"/>
                </a:solidFill>
                <a:latin typeface="Times New Roman"/>
                <a:cs typeface="Times New Roman"/>
              </a:rPr>
              <a:t>characters,</a:t>
            </a:r>
            <a:r>
              <a:rPr sz="2000" spc="-45" dirty="0">
                <a:solidFill>
                  <a:prstClr val="black"/>
                </a:solidFill>
                <a:latin typeface="Times New Roman"/>
                <a:cs typeface="Times New Roman"/>
              </a:rPr>
              <a:t> </a:t>
            </a:r>
            <a:r>
              <a:rPr sz="2000" dirty="0">
                <a:solidFill>
                  <a:prstClr val="black"/>
                </a:solidFill>
                <a:latin typeface="Times New Roman"/>
                <a:cs typeface="Times New Roman"/>
              </a:rPr>
              <a:t>including</a:t>
            </a:r>
            <a:r>
              <a:rPr sz="2000" spc="-45" dirty="0">
                <a:solidFill>
                  <a:prstClr val="black"/>
                </a:solidFill>
                <a:latin typeface="Times New Roman"/>
                <a:cs typeface="Times New Roman"/>
              </a:rPr>
              <a:t> </a:t>
            </a:r>
            <a:r>
              <a:rPr sz="2000" dirty="0">
                <a:solidFill>
                  <a:prstClr val="black"/>
                </a:solidFill>
                <a:latin typeface="Times New Roman"/>
                <a:cs typeface="Times New Roman"/>
              </a:rPr>
              <a:t>whitespace,</a:t>
            </a:r>
            <a:r>
              <a:rPr sz="2000" spc="-35" dirty="0">
                <a:solidFill>
                  <a:prstClr val="black"/>
                </a:solidFill>
                <a:latin typeface="Times New Roman"/>
                <a:cs typeface="Times New Roman"/>
              </a:rPr>
              <a:t> </a:t>
            </a:r>
            <a:r>
              <a:rPr sz="2000" dirty="0">
                <a:solidFill>
                  <a:prstClr val="black"/>
                </a:solidFill>
                <a:latin typeface="Times New Roman"/>
                <a:cs typeface="Times New Roman"/>
              </a:rPr>
              <a:t>until</a:t>
            </a:r>
            <a:r>
              <a:rPr sz="2000" spc="-30" dirty="0">
                <a:solidFill>
                  <a:prstClr val="black"/>
                </a:solidFill>
                <a:latin typeface="Times New Roman"/>
                <a:cs typeface="Times New Roman"/>
              </a:rPr>
              <a:t> </a:t>
            </a:r>
            <a:r>
              <a:rPr sz="2000" dirty="0">
                <a:solidFill>
                  <a:prstClr val="black"/>
                </a:solidFill>
                <a:latin typeface="Times New Roman"/>
                <a:cs typeface="Times New Roman"/>
              </a:rPr>
              <a:t>it</a:t>
            </a:r>
            <a:r>
              <a:rPr sz="2000" spc="-25" dirty="0">
                <a:solidFill>
                  <a:prstClr val="black"/>
                </a:solidFill>
                <a:latin typeface="Times New Roman"/>
                <a:cs typeface="Times New Roman"/>
              </a:rPr>
              <a:t> </a:t>
            </a:r>
            <a:r>
              <a:rPr sz="2000" dirty="0">
                <a:solidFill>
                  <a:prstClr val="black"/>
                </a:solidFill>
                <a:latin typeface="Times New Roman"/>
                <a:cs typeface="Times New Roman"/>
              </a:rPr>
              <a:t>encounters</a:t>
            </a:r>
            <a:r>
              <a:rPr sz="2000" spc="-45"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spc="-20" dirty="0">
                <a:solidFill>
                  <a:prstClr val="black"/>
                </a:solidFill>
                <a:latin typeface="Times New Roman"/>
                <a:cs typeface="Times New Roman"/>
              </a:rPr>
              <a:t>‘\n’ </a:t>
            </a:r>
            <a:r>
              <a:rPr sz="2000" dirty="0">
                <a:solidFill>
                  <a:prstClr val="black"/>
                </a:solidFill>
                <a:latin typeface="Times New Roman"/>
                <a:cs typeface="Times New Roman"/>
              </a:rPr>
              <a:t>character,</a:t>
            </a:r>
            <a:r>
              <a:rPr sz="2000" spc="-40" dirty="0">
                <a:solidFill>
                  <a:prstClr val="black"/>
                </a:solidFill>
                <a:latin typeface="Times New Roman"/>
                <a:cs typeface="Times New Roman"/>
              </a:rPr>
              <a:t> </a:t>
            </a:r>
            <a:r>
              <a:rPr sz="2000" dirty="0">
                <a:solidFill>
                  <a:prstClr val="black"/>
                </a:solidFill>
                <a:latin typeface="Times New Roman"/>
                <a:cs typeface="Times New Roman"/>
              </a:rPr>
              <a:t>and</a:t>
            </a:r>
            <a:r>
              <a:rPr sz="2000" spc="-25" dirty="0">
                <a:solidFill>
                  <a:prstClr val="black"/>
                </a:solidFill>
                <a:latin typeface="Times New Roman"/>
                <a:cs typeface="Times New Roman"/>
              </a:rPr>
              <a:t> </a:t>
            </a:r>
            <a:r>
              <a:rPr sz="2000" dirty="0">
                <a:solidFill>
                  <a:prstClr val="black"/>
                </a:solidFill>
                <a:latin typeface="Times New Roman"/>
                <a:cs typeface="Times New Roman"/>
              </a:rPr>
              <a:t>places</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35" dirty="0">
                <a:solidFill>
                  <a:prstClr val="black"/>
                </a:solidFill>
                <a:latin typeface="Times New Roman"/>
                <a:cs typeface="Times New Roman"/>
              </a:rPr>
              <a:t> </a:t>
            </a:r>
            <a:r>
              <a:rPr sz="2000" dirty="0">
                <a:solidFill>
                  <a:prstClr val="black"/>
                </a:solidFill>
                <a:latin typeface="Times New Roman"/>
                <a:cs typeface="Times New Roman"/>
              </a:rPr>
              <a:t>resulting</a:t>
            </a:r>
            <a:r>
              <a:rPr sz="2000" spc="-50" dirty="0">
                <a:solidFill>
                  <a:prstClr val="black"/>
                </a:solidFill>
                <a:latin typeface="Times New Roman"/>
                <a:cs typeface="Times New Roman"/>
              </a:rPr>
              <a:t> </a:t>
            </a:r>
            <a:r>
              <a:rPr sz="2000" dirty="0">
                <a:solidFill>
                  <a:prstClr val="black"/>
                </a:solidFill>
                <a:latin typeface="Times New Roman"/>
                <a:cs typeface="Times New Roman"/>
              </a:rPr>
              <a:t>string</a:t>
            </a:r>
            <a:r>
              <a:rPr sz="2000" spc="-35" dirty="0">
                <a:solidFill>
                  <a:prstClr val="black"/>
                </a:solidFill>
                <a:latin typeface="Times New Roman"/>
                <a:cs typeface="Times New Roman"/>
              </a:rPr>
              <a:t> </a:t>
            </a:r>
            <a:r>
              <a:rPr sz="2000" dirty="0">
                <a:solidFill>
                  <a:prstClr val="black"/>
                </a:solidFill>
                <a:latin typeface="Times New Roman"/>
                <a:cs typeface="Times New Roman"/>
              </a:rPr>
              <a:t>in</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20" dirty="0">
                <a:solidFill>
                  <a:prstClr val="black"/>
                </a:solidFill>
                <a:latin typeface="Times New Roman"/>
                <a:cs typeface="Times New Roman"/>
              </a:rPr>
              <a:t> </a:t>
            </a:r>
            <a:r>
              <a:rPr sz="2000" dirty="0">
                <a:solidFill>
                  <a:prstClr val="black"/>
                </a:solidFill>
                <a:latin typeface="Times New Roman"/>
                <a:cs typeface="Times New Roman"/>
              </a:rPr>
              <a:t>buffer</a:t>
            </a:r>
            <a:r>
              <a:rPr sz="2000" spc="-45" dirty="0">
                <a:solidFill>
                  <a:prstClr val="black"/>
                </a:solidFill>
                <a:latin typeface="Times New Roman"/>
                <a:cs typeface="Times New Roman"/>
              </a:rPr>
              <a:t> </a:t>
            </a:r>
            <a:r>
              <a:rPr sz="2000" dirty="0">
                <a:solidFill>
                  <a:prstClr val="black"/>
                </a:solidFill>
                <a:latin typeface="Times New Roman"/>
                <a:cs typeface="Times New Roman"/>
              </a:rPr>
              <a:t>supplied</a:t>
            </a:r>
            <a:r>
              <a:rPr sz="2000" spc="-50" dirty="0">
                <a:solidFill>
                  <a:prstClr val="black"/>
                </a:solidFill>
                <a:latin typeface="Times New Roman"/>
                <a:cs typeface="Times New Roman"/>
              </a:rPr>
              <a:t> </a:t>
            </a:r>
            <a:r>
              <a:rPr sz="2000" dirty="0">
                <a:solidFill>
                  <a:prstClr val="black"/>
                </a:solidFill>
                <a:latin typeface="Times New Roman"/>
                <a:cs typeface="Times New Roman"/>
              </a:rPr>
              <a:t>as</a:t>
            </a:r>
            <a:r>
              <a:rPr sz="2000" spc="-15" dirty="0">
                <a:solidFill>
                  <a:prstClr val="black"/>
                </a:solidFill>
                <a:latin typeface="Times New Roman"/>
                <a:cs typeface="Times New Roman"/>
              </a:rPr>
              <a:t> </a:t>
            </a:r>
            <a:r>
              <a:rPr sz="2000" dirty="0">
                <a:solidFill>
                  <a:prstClr val="black"/>
                </a:solidFill>
                <a:latin typeface="Times New Roman"/>
                <a:cs typeface="Times New Roman"/>
              </a:rPr>
              <a:t>an</a:t>
            </a:r>
            <a:r>
              <a:rPr sz="2000" spc="-10" dirty="0">
                <a:solidFill>
                  <a:prstClr val="black"/>
                </a:solidFill>
                <a:latin typeface="Times New Roman"/>
                <a:cs typeface="Times New Roman"/>
              </a:rPr>
              <a:t> argument.</a:t>
            </a:r>
            <a:endParaRPr sz="2000">
              <a:solidFill>
                <a:prstClr val="black"/>
              </a:solidFill>
              <a:latin typeface="Times New Roman"/>
              <a:cs typeface="Times New Roman"/>
            </a:endParaRPr>
          </a:p>
        </p:txBody>
      </p:sp>
      <p:grpSp>
        <p:nvGrpSpPr>
          <p:cNvPr id="4" name="object 4"/>
          <p:cNvGrpSpPr/>
          <p:nvPr/>
        </p:nvGrpSpPr>
        <p:grpSpPr>
          <a:xfrm>
            <a:off x="1025471" y="3486741"/>
            <a:ext cx="6110605" cy="2263775"/>
            <a:chOff x="1025471" y="3486741"/>
            <a:chExt cx="6110605" cy="2263775"/>
          </a:xfrm>
        </p:grpSpPr>
        <p:pic>
          <p:nvPicPr>
            <p:cNvPr id="5" name="object 5"/>
            <p:cNvPicPr/>
            <p:nvPr/>
          </p:nvPicPr>
          <p:blipFill>
            <a:blip r:embed="rId2" cstate="print"/>
            <a:stretch>
              <a:fillRect/>
            </a:stretch>
          </p:blipFill>
          <p:spPr>
            <a:xfrm>
              <a:off x="1025471" y="3486741"/>
              <a:ext cx="5992548" cy="2263480"/>
            </a:xfrm>
            <a:prstGeom prst="rect">
              <a:avLst/>
            </a:prstGeom>
          </p:spPr>
        </p:pic>
        <p:sp>
          <p:nvSpPr>
            <p:cNvPr id="6" name="object 6"/>
            <p:cNvSpPr/>
            <p:nvPr/>
          </p:nvSpPr>
          <p:spPr>
            <a:xfrm>
              <a:off x="4956048" y="3855719"/>
              <a:ext cx="2173605" cy="490855"/>
            </a:xfrm>
            <a:custGeom>
              <a:avLst/>
              <a:gdLst/>
              <a:ahLst/>
              <a:cxnLst/>
              <a:rect l="l" t="t" r="r" b="b"/>
              <a:pathLst>
                <a:path w="2173604" h="490854">
                  <a:moveTo>
                    <a:pt x="2173224" y="0"/>
                  </a:moveTo>
                  <a:lnTo>
                    <a:pt x="0" y="0"/>
                  </a:lnTo>
                  <a:lnTo>
                    <a:pt x="0" y="490727"/>
                  </a:lnTo>
                  <a:lnTo>
                    <a:pt x="2173224" y="490727"/>
                  </a:lnTo>
                  <a:lnTo>
                    <a:pt x="2173224"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4956048" y="3855719"/>
              <a:ext cx="2173605" cy="490855"/>
            </a:xfrm>
            <a:custGeom>
              <a:avLst/>
              <a:gdLst/>
              <a:ahLst/>
              <a:cxnLst/>
              <a:rect l="l" t="t" r="r" b="b"/>
              <a:pathLst>
                <a:path w="2173604" h="490854">
                  <a:moveTo>
                    <a:pt x="0" y="490727"/>
                  </a:moveTo>
                  <a:lnTo>
                    <a:pt x="2173224" y="490727"/>
                  </a:lnTo>
                  <a:lnTo>
                    <a:pt x="2173224" y="0"/>
                  </a:lnTo>
                  <a:lnTo>
                    <a:pt x="0" y="0"/>
                  </a:lnTo>
                  <a:lnTo>
                    <a:pt x="0" y="490727"/>
                  </a:lnTo>
                  <a:close/>
                </a:path>
              </a:pathLst>
            </a:custGeom>
            <a:ln w="12700">
              <a:solidFill>
                <a:srgbClr val="FFFFFF"/>
              </a:solidFill>
            </a:ln>
          </p:spPr>
          <p:txBody>
            <a:bodyPr wrap="square" lIns="0" tIns="0" rIns="0" bIns="0" rtlCol="0"/>
            <a:lstStyle/>
            <a:p>
              <a:endParaRPr>
                <a:solidFill>
                  <a:prstClr val="black"/>
                </a:solidFill>
              </a:endParaRPr>
            </a:p>
          </p:txBody>
        </p:sp>
      </p:grpSp>
      <p:pic>
        <p:nvPicPr>
          <p:cNvPr id="8" name="object 8"/>
          <p:cNvPicPr/>
          <p:nvPr/>
        </p:nvPicPr>
        <p:blipFill>
          <a:blip r:embed="rId3" cstate="print"/>
          <a:stretch>
            <a:fillRect/>
          </a:stretch>
        </p:blipFill>
        <p:spPr>
          <a:xfrm>
            <a:off x="7963834" y="3471064"/>
            <a:ext cx="3439323" cy="2716251"/>
          </a:xfrm>
          <a:prstGeom prst="rect">
            <a:avLst/>
          </a:prstGeom>
        </p:spPr>
      </p:pic>
      <p:sp>
        <p:nvSpPr>
          <p:cNvPr id="11" name="object 11"/>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2" name="object 12"/>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3" name="Date Placeholder 12">
            <a:extLst>
              <a:ext uri="{FF2B5EF4-FFF2-40B4-BE49-F238E27FC236}">
                <a16:creationId xmlns:a16="http://schemas.microsoft.com/office/drawing/2014/main" id="{BA724465-0177-65D6-9E81-F78D35D38B96}"/>
              </a:ext>
            </a:extLst>
          </p:cNvPr>
          <p:cNvSpPr>
            <a:spLocks noGrp="1"/>
          </p:cNvSpPr>
          <p:nvPr>
            <p:ph type="dt" sz="half" idx="10"/>
          </p:nvPr>
        </p:nvSpPr>
        <p:spPr/>
        <p:txBody>
          <a:bodyPr/>
          <a:lstStyle/>
          <a:p>
            <a:fld id="{49051225-47EC-41E6-9375-89DDD0F3CC97}" type="datetime1">
              <a:rPr lang="en-US" smtClean="0">
                <a:solidFill>
                  <a:prstClr val="black">
                    <a:tint val="75000"/>
                  </a:prstClr>
                </a:solidFill>
              </a:rPr>
              <a:pPr/>
              <a:t>11/17/2025</a:t>
            </a:fld>
            <a:endParaRPr lang="en-US">
              <a:solidFill>
                <a:prstClr val="black">
                  <a:tint val="75000"/>
                </a:prstClr>
              </a:solidFill>
            </a:endParaRPr>
          </a:p>
        </p:txBody>
      </p:sp>
      <p:sp>
        <p:nvSpPr>
          <p:cNvPr id="14" name="Slide Number Placeholder 13">
            <a:extLst>
              <a:ext uri="{FF2B5EF4-FFF2-40B4-BE49-F238E27FC236}">
                <a16:creationId xmlns:a16="http://schemas.microsoft.com/office/drawing/2014/main" id="{475C54DE-20CD-89EA-643F-2E392924DA2F}"/>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84</a:t>
            </a:fld>
            <a:endParaRPr spc="-25" dirty="0">
              <a:solidFill>
                <a:prstClr val="black">
                  <a:tint val="75000"/>
                </a:prstClr>
              </a:solidFill>
            </a:endParaRPr>
          </a:p>
        </p:txBody>
      </p:sp>
    </p:spTree>
    <p:extLst>
      <p:ext uri="{BB962C8B-B14F-4D97-AF65-F5344CB8AC3E}">
        <p14:creationId xmlns:p14="http://schemas.microsoft.com/office/powerpoint/2010/main" val="249871064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Character</a:t>
            </a:r>
            <a:r>
              <a:rPr spc="-85" dirty="0"/>
              <a:t> </a:t>
            </a:r>
            <a:r>
              <a:rPr dirty="0"/>
              <a:t>I/O</a:t>
            </a:r>
            <a:r>
              <a:rPr spc="-85" dirty="0"/>
              <a:t> </a:t>
            </a:r>
            <a:r>
              <a:rPr dirty="0"/>
              <a:t>in</a:t>
            </a:r>
            <a:r>
              <a:rPr spc="-65" dirty="0"/>
              <a:t> </a:t>
            </a:r>
            <a:r>
              <a:rPr spc="-20" dirty="0"/>
              <a:t>File</a:t>
            </a:r>
          </a:p>
        </p:txBody>
      </p:sp>
      <p:sp>
        <p:nvSpPr>
          <p:cNvPr id="12" name="object 12"/>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645107"/>
            <a:ext cx="9752330" cy="636270"/>
          </a:xfrm>
          <a:prstGeom prst="rect">
            <a:avLst/>
          </a:prstGeom>
        </p:spPr>
        <p:txBody>
          <a:bodyPr vert="horz" wrap="square" lIns="0" tIns="13335" rIns="0" bIns="0" rtlCol="0">
            <a:spAutoFit/>
          </a:bodyPr>
          <a:lstStyle/>
          <a:p>
            <a:pPr marL="355600" indent="-342900">
              <a:spcBef>
                <a:spcPts val="105"/>
              </a:spcBef>
              <a:buFont typeface="Arial MT"/>
              <a:buChar char="•"/>
              <a:tabLst>
                <a:tab pos="355600" algn="l"/>
              </a:tabLst>
            </a:pP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dirty="0">
                <a:solidFill>
                  <a:prstClr val="black"/>
                </a:solidFill>
                <a:latin typeface="Times New Roman"/>
                <a:cs typeface="Times New Roman"/>
              </a:rPr>
              <a:t>put()</a:t>
            </a:r>
            <a:r>
              <a:rPr sz="2000" spc="-35" dirty="0">
                <a:solidFill>
                  <a:prstClr val="black"/>
                </a:solidFill>
                <a:latin typeface="Times New Roman"/>
                <a:cs typeface="Times New Roman"/>
              </a:rPr>
              <a:t> </a:t>
            </a:r>
            <a:r>
              <a:rPr sz="2000" dirty="0">
                <a:solidFill>
                  <a:prstClr val="black"/>
                </a:solidFill>
                <a:latin typeface="Times New Roman"/>
                <a:cs typeface="Times New Roman"/>
              </a:rPr>
              <a:t>and</a:t>
            </a:r>
            <a:r>
              <a:rPr sz="2000" spc="-20" dirty="0">
                <a:solidFill>
                  <a:prstClr val="black"/>
                </a:solidFill>
                <a:latin typeface="Times New Roman"/>
                <a:cs typeface="Times New Roman"/>
              </a:rPr>
              <a:t> </a:t>
            </a:r>
            <a:r>
              <a:rPr sz="2000" dirty="0">
                <a:solidFill>
                  <a:prstClr val="black"/>
                </a:solidFill>
                <a:latin typeface="Times New Roman"/>
                <a:cs typeface="Times New Roman"/>
              </a:rPr>
              <a:t>get()</a:t>
            </a:r>
            <a:r>
              <a:rPr sz="2000" spc="-30" dirty="0">
                <a:solidFill>
                  <a:prstClr val="black"/>
                </a:solidFill>
                <a:latin typeface="Times New Roman"/>
                <a:cs typeface="Times New Roman"/>
              </a:rPr>
              <a:t> </a:t>
            </a:r>
            <a:r>
              <a:rPr sz="2000" dirty="0">
                <a:solidFill>
                  <a:prstClr val="black"/>
                </a:solidFill>
                <a:latin typeface="Times New Roman"/>
                <a:cs typeface="Times New Roman"/>
              </a:rPr>
              <a:t>functions,</a:t>
            </a:r>
            <a:r>
              <a:rPr sz="2000" spc="-45" dirty="0">
                <a:solidFill>
                  <a:prstClr val="black"/>
                </a:solidFill>
                <a:latin typeface="Times New Roman"/>
                <a:cs typeface="Times New Roman"/>
              </a:rPr>
              <a:t> </a:t>
            </a:r>
            <a:r>
              <a:rPr sz="2000" spc="-10" dirty="0">
                <a:solidFill>
                  <a:prstClr val="black"/>
                </a:solidFill>
                <a:latin typeface="Times New Roman"/>
                <a:cs typeface="Times New Roman"/>
              </a:rPr>
              <a:t>respectively,</a:t>
            </a:r>
            <a:r>
              <a:rPr sz="2000" spc="-35" dirty="0">
                <a:solidFill>
                  <a:prstClr val="black"/>
                </a:solidFill>
                <a:latin typeface="Times New Roman"/>
                <a:cs typeface="Times New Roman"/>
              </a:rPr>
              <a:t> </a:t>
            </a:r>
            <a:r>
              <a:rPr sz="2000" dirty="0">
                <a:solidFill>
                  <a:prstClr val="black"/>
                </a:solidFill>
                <a:latin typeface="Times New Roman"/>
                <a:cs typeface="Times New Roman"/>
              </a:rPr>
              <a:t>can</a:t>
            </a:r>
            <a:r>
              <a:rPr sz="2000" spc="-10" dirty="0">
                <a:solidFill>
                  <a:prstClr val="black"/>
                </a:solidFill>
                <a:latin typeface="Times New Roman"/>
                <a:cs typeface="Times New Roman"/>
              </a:rPr>
              <a:t> </a:t>
            </a:r>
            <a:r>
              <a:rPr sz="2000" dirty="0">
                <a:solidFill>
                  <a:prstClr val="black"/>
                </a:solidFill>
                <a:latin typeface="Times New Roman"/>
                <a:cs typeface="Times New Roman"/>
              </a:rPr>
              <a:t>be</a:t>
            </a:r>
            <a:r>
              <a:rPr sz="2000" spc="-10" dirty="0">
                <a:solidFill>
                  <a:prstClr val="black"/>
                </a:solidFill>
                <a:latin typeface="Times New Roman"/>
                <a:cs typeface="Times New Roman"/>
              </a:rPr>
              <a:t> </a:t>
            </a:r>
            <a:r>
              <a:rPr sz="2000" dirty="0">
                <a:solidFill>
                  <a:prstClr val="black"/>
                </a:solidFill>
                <a:latin typeface="Times New Roman"/>
                <a:cs typeface="Times New Roman"/>
              </a:rPr>
              <a:t>used</a:t>
            </a:r>
            <a:r>
              <a:rPr sz="2000" spc="-20" dirty="0">
                <a:solidFill>
                  <a:prstClr val="black"/>
                </a:solidFill>
                <a:latin typeface="Times New Roman"/>
                <a:cs typeface="Times New Roman"/>
              </a:rPr>
              <a:t> </a:t>
            </a:r>
            <a:r>
              <a:rPr sz="2000" dirty="0">
                <a:solidFill>
                  <a:prstClr val="black"/>
                </a:solidFill>
                <a:latin typeface="Times New Roman"/>
                <a:cs typeface="Times New Roman"/>
              </a:rPr>
              <a:t>to</a:t>
            </a:r>
            <a:r>
              <a:rPr sz="2000" spc="-25" dirty="0">
                <a:solidFill>
                  <a:prstClr val="black"/>
                </a:solidFill>
                <a:latin typeface="Times New Roman"/>
                <a:cs typeface="Times New Roman"/>
              </a:rPr>
              <a:t> </a:t>
            </a:r>
            <a:r>
              <a:rPr sz="2000" dirty="0">
                <a:solidFill>
                  <a:prstClr val="black"/>
                </a:solidFill>
                <a:latin typeface="Times New Roman"/>
                <a:cs typeface="Times New Roman"/>
              </a:rPr>
              <a:t>output</a:t>
            </a:r>
            <a:r>
              <a:rPr sz="2000" spc="-35" dirty="0">
                <a:solidFill>
                  <a:prstClr val="black"/>
                </a:solidFill>
                <a:latin typeface="Times New Roman"/>
                <a:cs typeface="Times New Roman"/>
              </a:rPr>
              <a:t> </a:t>
            </a:r>
            <a:r>
              <a:rPr sz="2000" dirty="0">
                <a:solidFill>
                  <a:prstClr val="black"/>
                </a:solidFill>
                <a:latin typeface="Times New Roman"/>
                <a:cs typeface="Times New Roman"/>
              </a:rPr>
              <a:t>and</a:t>
            </a:r>
            <a:r>
              <a:rPr sz="2000" spc="-25" dirty="0">
                <a:solidFill>
                  <a:prstClr val="black"/>
                </a:solidFill>
                <a:latin typeface="Times New Roman"/>
                <a:cs typeface="Times New Roman"/>
              </a:rPr>
              <a:t> </a:t>
            </a:r>
            <a:r>
              <a:rPr sz="2000" dirty="0">
                <a:solidFill>
                  <a:prstClr val="black"/>
                </a:solidFill>
                <a:latin typeface="Times New Roman"/>
                <a:cs typeface="Times New Roman"/>
              </a:rPr>
              <a:t>input</a:t>
            </a:r>
            <a:r>
              <a:rPr sz="2000" spc="-30" dirty="0">
                <a:solidFill>
                  <a:prstClr val="black"/>
                </a:solidFill>
                <a:latin typeface="Times New Roman"/>
                <a:cs typeface="Times New Roman"/>
              </a:rPr>
              <a:t> </a:t>
            </a:r>
            <a:r>
              <a:rPr sz="2000" dirty="0">
                <a:solidFill>
                  <a:prstClr val="black"/>
                </a:solidFill>
                <a:latin typeface="Times New Roman"/>
                <a:cs typeface="Times New Roman"/>
              </a:rPr>
              <a:t>single</a:t>
            </a:r>
            <a:r>
              <a:rPr sz="2000" spc="-45" dirty="0">
                <a:solidFill>
                  <a:prstClr val="black"/>
                </a:solidFill>
                <a:latin typeface="Times New Roman"/>
                <a:cs typeface="Times New Roman"/>
              </a:rPr>
              <a:t> </a:t>
            </a:r>
            <a:r>
              <a:rPr sz="2000" spc="-10" dirty="0">
                <a:solidFill>
                  <a:prstClr val="black"/>
                </a:solidFill>
                <a:latin typeface="Times New Roman"/>
                <a:cs typeface="Times New Roman"/>
              </a:rPr>
              <a:t>characters.</a:t>
            </a:r>
            <a:endParaRPr sz="2000">
              <a:solidFill>
                <a:prstClr val="black"/>
              </a:solidFill>
              <a:latin typeface="Times New Roman"/>
              <a:cs typeface="Times New Roman"/>
            </a:endParaRPr>
          </a:p>
          <a:p>
            <a:pPr marL="355600" indent="-342900">
              <a:buFont typeface="Arial MT"/>
              <a:buChar char="•"/>
              <a:tabLst>
                <a:tab pos="355600" algn="l"/>
              </a:tabLst>
            </a:pPr>
            <a:r>
              <a:rPr sz="2000" dirty="0">
                <a:solidFill>
                  <a:prstClr val="black"/>
                </a:solidFill>
                <a:latin typeface="Times New Roman"/>
                <a:cs typeface="Times New Roman"/>
              </a:rPr>
              <a:t>These</a:t>
            </a:r>
            <a:r>
              <a:rPr sz="2000" spc="-15" dirty="0">
                <a:solidFill>
                  <a:prstClr val="black"/>
                </a:solidFill>
                <a:latin typeface="Times New Roman"/>
                <a:cs typeface="Times New Roman"/>
              </a:rPr>
              <a:t> </a:t>
            </a:r>
            <a:r>
              <a:rPr sz="2000" dirty="0">
                <a:solidFill>
                  <a:prstClr val="black"/>
                </a:solidFill>
                <a:latin typeface="Times New Roman"/>
                <a:cs typeface="Times New Roman"/>
              </a:rPr>
              <a:t>are</a:t>
            </a:r>
            <a:r>
              <a:rPr sz="2000" spc="-25" dirty="0">
                <a:solidFill>
                  <a:prstClr val="black"/>
                </a:solidFill>
                <a:latin typeface="Times New Roman"/>
                <a:cs typeface="Times New Roman"/>
              </a:rPr>
              <a:t> </a:t>
            </a:r>
            <a:r>
              <a:rPr sz="2000" dirty="0">
                <a:solidFill>
                  <a:prstClr val="black"/>
                </a:solidFill>
                <a:latin typeface="Times New Roman"/>
                <a:cs typeface="Times New Roman"/>
              </a:rPr>
              <a:t>members</a:t>
            </a:r>
            <a:r>
              <a:rPr sz="2000" spc="-10" dirty="0">
                <a:solidFill>
                  <a:prstClr val="black"/>
                </a:solidFill>
                <a:latin typeface="Times New Roman"/>
                <a:cs typeface="Times New Roman"/>
              </a:rPr>
              <a:t> </a:t>
            </a:r>
            <a:r>
              <a:rPr sz="2000" dirty="0">
                <a:solidFill>
                  <a:prstClr val="black"/>
                </a:solidFill>
                <a:latin typeface="Times New Roman"/>
                <a:cs typeface="Times New Roman"/>
              </a:rPr>
              <a:t>of</a:t>
            </a:r>
            <a:r>
              <a:rPr sz="2000" spc="-5" dirty="0">
                <a:solidFill>
                  <a:prstClr val="black"/>
                </a:solidFill>
                <a:latin typeface="Times New Roman"/>
                <a:cs typeface="Times New Roman"/>
              </a:rPr>
              <a:t> </a:t>
            </a:r>
            <a:r>
              <a:rPr sz="2000" dirty="0">
                <a:solidFill>
                  <a:prstClr val="black"/>
                </a:solidFill>
                <a:latin typeface="Times New Roman"/>
                <a:cs typeface="Times New Roman"/>
              </a:rPr>
              <a:t>ostream</a:t>
            </a:r>
            <a:r>
              <a:rPr sz="2000" spc="-55" dirty="0">
                <a:solidFill>
                  <a:prstClr val="black"/>
                </a:solidFill>
                <a:latin typeface="Times New Roman"/>
                <a:cs typeface="Times New Roman"/>
              </a:rPr>
              <a:t> </a:t>
            </a:r>
            <a:r>
              <a:rPr sz="2000" dirty="0">
                <a:solidFill>
                  <a:prstClr val="black"/>
                </a:solidFill>
                <a:latin typeface="Times New Roman"/>
                <a:cs typeface="Times New Roman"/>
              </a:rPr>
              <a:t>and</a:t>
            </a:r>
            <a:r>
              <a:rPr sz="2000" spc="-5" dirty="0">
                <a:solidFill>
                  <a:prstClr val="black"/>
                </a:solidFill>
                <a:latin typeface="Times New Roman"/>
                <a:cs typeface="Times New Roman"/>
              </a:rPr>
              <a:t> </a:t>
            </a:r>
            <a:r>
              <a:rPr sz="2000" dirty="0">
                <a:solidFill>
                  <a:prstClr val="black"/>
                </a:solidFill>
                <a:latin typeface="Times New Roman"/>
                <a:cs typeface="Times New Roman"/>
              </a:rPr>
              <a:t>istream</a:t>
            </a:r>
            <a:r>
              <a:rPr sz="2000" spc="-35" dirty="0">
                <a:solidFill>
                  <a:prstClr val="black"/>
                </a:solidFill>
                <a:latin typeface="Times New Roman"/>
                <a:cs typeface="Times New Roman"/>
              </a:rPr>
              <a:t> </a:t>
            </a:r>
            <a:r>
              <a:rPr sz="2000" spc="-10" dirty="0">
                <a:solidFill>
                  <a:prstClr val="black"/>
                </a:solidFill>
                <a:latin typeface="Times New Roman"/>
                <a:cs typeface="Times New Roman"/>
              </a:rPr>
              <a:t>class.</a:t>
            </a:r>
            <a:endParaRPr sz="2000">
              <a:solidFill>
                <a:prstClr val="black"/>
              </a:solidFill>
              <a:latin typeface="Times New Roman"/>
              <a:cs typeface="Times New Roman"/>
            </a:endParaRPr>
          </a:p>
        </p:txBody>
      </p:sp>
      <p:grpSp>
        <p:nvGrpSpPr>
          <p:cNvPr id="4" name="object 4"/>
          <p:cNvGrpSpPr/>
          <p:nvPr/>
        </p:nvGrpSpPr>
        <p:grpSpPr>
          <a:xfrm>
            <a:off x="911652" y="2677414"/>
            <a:ext cx="5788660" cy="3416300"/>
            <a:chOff x="911652" y="2677414"/>
            <a:chExt cx="5788660" cy="3416300"/>
          </a:xfrm>
        </p:grpSpPr>
        <p:pic>
          <p:nvPicPr>
            <p:cNvPr id="5" name="object 5"/>
            <p:cNvPicPr/>
            <p:nvPr/>
          </p:nvPicPr>
          <p:blipFill>
            <a:blip r:embed="rId2" cstate="print"/>
            <a:stretch>
              <a:fillRect/>
            </a:stretch>
          </p:blipFill>
          <p:spPr>
            <a:xfrm>
              <a:off x="911652" y="2746716"/>
              <a:ext cx="5697809" cy="3346940"/>
            </a:xfrm>
            <a:prstGeom prst="rect">
              <a:avLst/>
            </a:prstGeom>
          </p:spPr>
        </p:pic>
        <p:sp>
          <p:nvSpPr>
            <p:cNvPr id="6" name="object 6"/>
            <p:cNvSpPr/>
            <p:nvPr/>
          </p:nvSpPr>
          <p:spPr>
            <a:xfrm>
              <a:off x="4241291" y="2683764"/>
              <a:ext cx="2106295" cy="429895"/>
            </a:xfrm>
            <a:custGeom>
              <a:avLst/>
              <a:gdLst/>
              <a:ahLst/>
              <a:cxnLst/>
              <a:rect l="l" t="t" r="r" b="b"/>
              <a:pathLst>
                <a:path w="2106295" h="429894">
                  <a:moveTo>
                    <a:pt x="2106167" y="0"/>
                  </a:moveTo>
                  <a:lnTo>
                    <a:pt x="0" y="0"/>
                  </a:lnTo>
                  <a:lnTo>
                    <a:pt x="0" y="429767"/>
                  </a:lnTo>
                  <a:lnTo>
                    <a:pt x="2106167" y="429767"/>
                  </a:lnTo>
                  <a:lnTo>
                    <a:pt x="2106167"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4241291" y="2683764"/>
              <a:ext cx="2106295" cy="429895"/>
            </a:xfrm>
            <a:custGeom>
              <a:avLst/>
              <a:gdLst/>
              <a:ahLst/>
              <a:cxnLst/>
              <a:rect l="l" t="t" r="r" b="b"/>
              <a:pathLst>
                <a:path w="2106295" h="429894">
                  <a:moveTo>
                    <a:pt x="0" y="429767"/>
                  </a:moveTo>
                  <a:lnTo>
                    <a:pt x="2106167" y="429767"/>
                  </a:lnTo>
                  <a:lnTo>
                    <a:pt x="2106167" y="0"/>
                  </a:lnTo>
                  <a:lnTo>
                    <a:pt x="0" y="0"/>
                  </a:lnTo>
                  <a:lnTo>
                    <a:pt x="0" y="429767"/>
                  </a:lnTo>
                  <a:close/>
                </a:path>
              </a:pathLst>
            </a:custGeom>
            <a:ln w="12699">
              <a:solidFill>
                <a:srgbClr val="FFFFFF"/>
              </a:solidFill>
            </a:ln>
          </p:spPr>
          <p:txBody>
            <a:bodyPr wrap="square" lIns="0" tIns="0" rIns="0" bIns="0" rtlCol="0"/>
            <a:lstStyle/>
            <a:p>
              <a:endParaRPr>
                <a:solidFill>
                  <a:prstClr val="black"/>
                </a:solidFill>
              </a:endParaRPr>
            </a:p>
          </p:txBody>
        </p:sp>
        <p:sp>
          <p:nvSpPr>
            <p:cNvPr id="8" name="object 8"/>
            <p:cNvSpPr/>
            <p:nvPr/>
          </p:nvSpPr>
          <p:spPr>
            <a:xfrm>
              <a:off x="4346447" y="4744212"/>
              <a:ext cx="2346960" cy="716280"/>
            </a:xfrm>
            <a:custGeom>
              <a:avLst/>
              <a:gdLst/>
              <a:ahLst/>
              <a:cxnLst/>
              <a:rect l="l" t="t" r="r" b="b"/>
              <a:pathLst>
                <a:path w="2346959" h="716279">
                  <a:moveTo>
                    <a:pt x="2346959" y="0"/>
                  </a:moveTo>
                  <a:lnTo>
                    <a:pt x="0" y="0"/>
                  </a:lnTo>
                  <a:lnTo>
                    <a:pt x="0" y="716279"/>
                  </a:lnTo>
                  <a:lnTo>
                    <a:pt x="2346959" y="716279"/>
                  </a:lnTo>
                  <a:lnTo>
                    <a:pt x="2346959" y="0"/>
                  </a:lnTo>
                  <a:close/>
                </a:path>
              </a:pathLst>
            </a:custGeom>
            <a:solidFill>
              <a:srgbClr val="FFFFFF"/>
            </a:solidFill>
          </p:spPr>
          <p:txBody>
            <a:bodyPr wrap="square" lIns="0" tIns="0" rIns="0" bIns="0" rtlCol="0"/>
            <a:lstStyle/>
            <a:p>
              <a:endParaRPr>
                <a:solidFill>
                  <a:prstClr val="black"/>
                </a:solidFill>
              </a:endParaRPr>
            </a:p>
          </p:txBody>
        </p:sp>
        <p:sp>
          <p:nvSpPr>
            <p:cNvPr id="9" name="object 9"/>
            <p:cNvSpPr/>
            <p:nvPr/>
          </p:nvSpPr>
          <p:spPr>
            <a:xfrm>
              <a:off x="4346447" y="4744212"/>
              <a:ext cx="2346960" cy="716280"/>
            </a:xfrm>
            <a:custGeom>
              <a:avLst/>
              <a:gdLst/>
              <a:ahLst/>
              <a:cxnLst/>
              <a:rect l="l" t="t" r="r" b="b"/>
              <a:pathLst>
                <a:path w="2346959" h="716279">
                  <a:moveTo>
                    <a:pt x="0" y="716279"/>
                  </a:moveTo>
                  <a:lnTo>
                    <a:pt x="2346959" y="716279"/>
                  </a:lnTo>
                  <a:lnTo>
                    <a:pt x="2346959" y="0"/>
                  </a:lnTo>
                  <a:lnTo>
                    <a:pt x="0" y="0"/>
                  </a:lnTo>
                  <a:lnTo>
                    <a:pt x="0" y="716279"/>
                  </a:lnTo>
                  <a:close/>
                </a:path>
              </a:pathLst>
            </a:custGeom>
            <a:ln w="12700">
              <a:solidFill>
                <a:srgbClr val="FFFFFF"/>
              </a:solidFill>
            </a:ln>
          </p:spPr>
          <p:txBody>
            <a:bodyPr wrap="square" lIns="0" tIns="0" rIns="0" bIns="0" rtlCol="0"/>
            <a:lstStyle/>
            <a:p>
              <a:endParaRPr>
                <a:solidFill>
                  <a:prstClr val="black"/>
                </a:solidFill>
              </a:endParaRPr>
            </a:p>
          </p:txBody>
        </p:sp>
      </p:grpSp>
      <p:pic>
        <p:nvPicPr>
          <p:cNvPr id="10" name="object 10"/>
          <p:cNvPicPr/>
          <p:nvPr/>
        </p:nvPicPr>
        <p:blipFill>
          <a:blip r:embed="rId3" cstate="print"/>
          <a:stretch>
            <a:fillRect/>
          </a:stretch>
        </p:blipFill>
        <p:spPr>
          <a:xfrm>
            <a:off x="8448350" y="3706422"/>
            <a:ext cx="2706543" cy="2349880"/>
          </a:xfrm>
          <a:prstGeom prst="rect">
            <a:avLst/>
          </a:prstGeom>
        </p:spPr>
      </p:pic>
      <p:pic>
        <p:nvPicPr>
          <p:cNvPr id="11" name="object 11"/>
          <p:cNvPicPr/>
          <p:nvPr/>
        </p:nvPicPr>
        <p:blipFill>
          <a:blip r:embed="rId4" cstate="print"/>
          <a:stretch>
            <a:fillRect/>
          </a:stretch>
        </p:blipFill>
        <p:spPr>
          <a:xfrm>
            <a:off x="8418328" y="2848024"/>
            <a:ext cx="1825608" cy="569733"/>
          </a:xfrm>
          <a:prstGeom prst="rect">
            <a:avLst/>
          </a:prstGeom>
        </p:spPr>
      </p:pic>
      <p:sp>
        <p:nvSpPr>
          <p:cNvPr id="14" name="object 14"/>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5" name="object 15"/>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6" name="Date Placeholder 15">
            <a:extLst>
              <a:ext uri="{FF2B5EF4-FFF2-40B4-BE49-F238E27FC236}">
                <a16:creationId xmlns:a16="http://schemas.microsoft.com/office/drawing/2014/main" id="{6CAD4FAD-EA93-78BE-304F-2A7D8D6BB541}"/>
              </a:ext>
            </a:extLst>
          </p:cNvPr>
          <p:cNvSpPr>
            <a:spLocks noGrp="1"/>
          </p:cNvSpPr>
          <p:nvPr>
            <p:ph type="dt" sz="half" idx="10"/>
          </p:nvPr>
        </p:nvSpPr>
        <p:spPr/>
        <p:txBody>
          <a:bodyPr/>
          <a:lstStyle/>
          <a:p>
            <a:fld id="{43301C07-1F35-48F9-81C6-38152857E5B9}" type="datetime1">
              <a:rPr lang="en-US" smtClean="0">
                <a:solidFill>
                  <a:prstClr val="black">
                    <a:tint val="75000"/>
                  </a:prstClr>
                </a:solidFill>
              </a:rPr>
              <a:pPr/>
              <a:t>11/17/2025</a:t>
            </a:fld>
            <a:endParaRPr lang="en-US">
              <a:solidFill>
                <a:prstClr val="black">
                  <a:tint val="75000"/>
                </a:prstClr>
              </a:solidFill>
            </a:endParaRPr>
          </a:p>
        </p:txBody>
      </p:sp>
      <p:sp>
        <p:nvSpPr>
          <p:cNvPr id="17" name="Slide Number Placeholder 16">
            <a:extLst>
              <a:ext uri="{FF2B5EF4-FFF2-40B4-BE49-F238E27FC236}">
                <a16:creationId xmlns:a16="http://schemas.microsoft.com/office/drawing/2014/main" id="{FD1B1753-DB24-9308-9508-6264F89ED8A2}"/>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85</a:t>
            </a:fld>
            <a:endParaRPr spc="-25" dirty="0">
              <a:solidFill>
                <a:prstClr val="black">
                  <a:tint val="75000"/>
                </a:prstClr>
              </a:solidFill>
            </a:endParaRPr>
          </a:p>
        </p:txBody>
      </p:sp>
    </p:spTree>
    <p:extLst>
      <p:ext uri="{BB962C8B-B14F-4D97-AF65-F5344CB8AC3E}">
        <p14:creationId xmlns:p14="http://schemas.microsoft.com/office/powerpoint/2010/main" val="20451074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Binary</a:t>
            </a:r>
            <a:r>
              <a:rPr spc="-100" dirty="0"/>
              <a:t> </a:t>
            </a:r>
            <a:r>
              <a:rPr spc="-25" dirty="0"/>
              <a:t>I/O</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6" name="object 6"/>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7" name="object 7"/>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3" name="object 3"/>
          <p:cNvSpPr txBox="1"/>
          <p:nvPr/>
        </p:nvSpPr>
        <p:spPr>
          <a:xfrm>
            <a:off x="916939" y="1574368"/>
            <a:ext cx="10258425" cy="4599940"/>
          </a:xfrm>
          <a:prstGeom prst="rect">
            <a:avLst/>
          </a:prstGeom>
        </p:spPr>
        <p:txBody>
          <a:bodyPr vert="horz" wrap="square" lIns="0" tIns="13335" rIns="0" bIns="0" rtlCol="0">
            <a:spAutoFit/>
          </a:bodyPr>
          <a:lstStyle/>
          <a:p>
            <a:pPr marL="351790" marR="5715" indent="-339725" algn="just">
              <a:spcBef>
                <a:spcPts val="105"/>
              </a:spcBef>
              <a:buFont typeface="Arial MT"/>
              <a:buChar char="•"/>
              <a:tabLst>
                <a:tab pos="355600" algn="l"/>
              </a:tabLst>
            </a:pPr>
            <a:r>
              <a:rPr sz="2000" spc="-25" dirty="0">
                <a:solidFill>
                  <a:prstClr val="black"/>
                </a:solidFill>
                <a:latin typeface="Times New Roman"/>
                <a:cs typeface="Times New Roman"/>
              </a:rPr>
              <a:t>You</a:t>
            </a:r>
            <a:r>
              <a:rPr sz="2000" spc="15" dirty="0">
                <a:solidFill>
                  <a:prstClr val="black"/>
                </a:solidFill>
                <a:latin typeface="Times New Roman"/>
                <a:cs typeface="Times New Roman"/>
              </a:rPr>
              <a:t> </a:t>
            </a:r>
            <a:r>
              <a:rPr sz="2000" dirty="0">
                <a:solidFill>
                  <a:prstClr val="black"/>
                </a:solidFill>
                <a:latin typeface="Times New Roman"/>
                <a:cs typeface="Times New Roman"/>
              </a:rPr>
              <a:t>can</a:t>
            </a:r>
            <a:r>
              <a:rPr sz="2000" spc="20" dirty="0">
                <a:solidFill>
                  <a:prstClr val="black"/>
                </a:solidFill>
                <a:latin typeface="Times New Roman"/>
                <a:cs typeface="Times New Roman"/>
              </a:rPr>
              <a:t> </a:t>
            </a:r>
            <a:r>
              <a:rPr sz="2000" dirty="0">
                <a:solidFill>
                  <a:prstClr val="black"/>
                </a:solidFill>
                <a:latin typeface="Times New Roman"/>
                <a:cs typeface="Times New Roman"/>
              </a:rPr>
              <a:t>write a</a:t>
            </a:r>
            <a:r>
              <a:rPr sz="2000" spc="20" dirty="0">
                <a:solidFill>
                  <a:prstClr val="black"/>
                </a:solidFill>
                <a:latin typeface="Times New Roman"/>
                <a:cs typeface="Times New Roman"/>
              </a:rPr>
              <a:t> </a:t>
            </a:r>
            <a:r>
              <a:rPr sz="2000" dirty="0">
                <a:solidFill>
                  <a:prstClr val="black"/>
                </a:solidFill>
                <a:latin typeface="Times New Roman"/>
                <a:cs typeface="Times New Roman"/>
              </a:rPr>
              <a:t>few</a:t>
            </a:r>
            <a:r>
              <a:rPr sz="2000" spc="5" dirty="0">
                <a:solidFill>
                  <a:prstClr val="black"/>
                </a:solidFill>
                <a:latin typeface="Times New Roman"/>
                <a:cs typeface="Times New Roman"/>
              </a:rPr>
              <a:t> </a:t>
            </a:r>
            <a:r>
              <a:rPr sz="2000" dirty="0">
                <a:solidFill>
                  <a:prstClr val="black"/>
                </a:solidFill>
                <a:latin typeface="Times New Roman"/>
                <a:cs typeface="Times New Roman"/>
              </a:rPr>
              <a:t>numbers</a:t>
            </a:r>
            <a:r>
              <a:rPr sz="2000" spc="15" dirty="0">
                <a:solidFill>
                  <a:prstClr val="black"/>
                </a:solidFill>
                <a:latin typeface="Times New Roman"/>
                <a:cs typeface="Times New Roman"/>
              </a:rPr>
              <a:t> </a:t>
            </a:r>
            <a:r>
              <a:rPr sz="2000" dirty="0">
                <a:solidFill>
                  <a:prstClr val="black"/>
                </a:solidFill>
                <a:latin typeface="Times New Roman"/>
                <a:cs typeface="Times New Roman"/>
              </a:rPr>
              <a:t>to</a:t>
            </a:r>
            <a:r>
              <a:rPr sz="2000" spc="20" dirty="0">
                <a:solidFill>
                  <a:prstClr val="black"/>
                </a:solidFill>
                <a:latin typeface="Times New Roman"/>
                <a:cs typeface="Times New Roman"/>
              </a:rPr>
              <a:t> </a:t>
            </a:r>
            <a:r>
              <a:rPr sz="2000" dirty="0">
                <a:solidFill>
                  <a:prstClr val="black"/>
                </a:solidFill>
                <a:latin typeface="Times New Roman"/>
                <a:cs typeface="Times New Roman"/>
              </a:rPr>
              <a:t>disk</a:t>
            </a:r>
            <a:r>
              <a:rPr sz="2000" spc="20" dirty="0">
                <a:solidFill>
                  <a:prstClr val="black"/>
                </a:solidFill>
                <a:latin typeface="Times New Roman"/>
                <a:cs typeface="Times New Roman"/>
              </a:rPr>
              <a:t> </a:t>
            </a:r>
            <a:r>
              <a:rPr sz="2000" dirty="0">
                <a:solidFill>
                  <a:prstClr val="black"/>
                </a:solidFill>
                <a:latin typeface="Times New Roman"/>
                <a:cs typeface="Times New Roman"/>
              </a:rPr>
              <a:t>using</a:t>
            </a:r>
            <a:r>
              <a:rPr sz="2000" spc="20" dirty="0">
                <a:solidFill>
                  <a:prstClr val="black"/>
                </a:solidFill>
                <a:latin typeface="Times New Roman"/>
                <a:cs typeface="Times New Roman"/>
              </a:rPr>
              <a:t> </a:t>
            </a:r>
            <a:r>
              <a:rPr sz="2000" dirty="0">
                <a:solidFill>
                  <a:prstClr val="black"/>
                </a:solidFill>
                <a:latin typeface="Times New Roman"/>
                <a:cs typeface="Times New Roman"/>
              </a:rPr>
              <a:t>formatted</a:t>
            </a:r>
            <a:r>
              <a:rPr sz="2000" spc="10" dirty="0">
                <a:solidFill>
                  <a:prstClr val="black"/>
                </a:solidFill>
                <a:latin typeface="Times New Roman"/>
                <a:cs typeface="Times New Roman"/>
              </a:rPr>
              <a:t> </a:t>
            </a:r>
            <a:r>
              <a:rPr sz="2000" dirty="0">
                <a:solidFill>
                  <a:prstClr val="black"/>
                </a:solidFill>
                <a:latin typeface="Times New Roman"/>
                <a:cs typeface="Times New Roman"/>
              </a:rPr>
              <a:t>I/O,</a:t>
            </a:r>
            <a:r>
              <a:rPr sz="2000" spc="5" dirty="0">
                <a:solidFill>
                  <a:prstClr val="black"/>
                </a:solidFill>
                <a:latin typeface="Times New Roman"/>
                <a:cs typeface="Times New Roman"/>
              </a:rPr>
              <a:t> </a:t>
            </a:r>
            <a:r>
              <a:rPr sz="2000" dirty="0">
                <a:solidFill>
                  <a:prstClr val="black"/>
                </a:solidFill>
                <a:latin typeface="Times New Roman"/>
                <a:cs typeface="Times New Roman"/>
              </a:rPr>
              <a:t>but</a:t>
            </a:r>
            <a:r>
              <a:rPr sz="2000" spc="10" dirty="0">
                <a:solidFill>
                  <a:prstClr val="black"/>
                </a:solidFill>
                <a:latin typeface="Times New Roman"/>
                <a:cs typeface="Times New Roman"/>
              </a:rPr>
              <a:t> </a:t>
            </a:r>
            <a:r>
              <a:rPr sz="2000" dirty="0">
                <a:solidFill>
                  <a:prstClr val="black"/>
                </a:solidFill>
                <a:latin typeface="Times New Roman"/>
                <a:cs typeface="Times New Roman"/>
              </a:rPr>
              <a:t>if</a:t>
            </a:r>
            <a:r>
              <a:rPr sz="2000" spc="30" dirty="0">
                <a:solidFill>
                  <a:prstClr val="black"/>
                </a:solidFill>
                <a:latin typeface="Times New Roman"/>
                <a:cs typeface="Times New Roman"/>
              </a:rPr>
              <a:t> </a:t>
            </a:r>
            <a:r>
              <a:rPr sz="2000" dirty="0">
                <a:solidFill>
                  <a:prstClr val="black"/>
                </a:solidFill>
                <a:latin typeface="Times New Roman"/>
                <a:cs typeface="Times New Roman"/>
              </a:rPr>
              <a:t>you’re</a:t>
            </a:r>
            <a:r>
              <a:rPr sz="2000" spc="15" dirty="0">
                <a:solidFill>
                  <a:prstClr val="black"/>
                </a:solidFill>
                <a:latin typeface="Times New Roman"/>
                <a:cs typeface="Times New Roman"/>
              </a:rPr>
              <a:t> </a:t>
            </a:r>
            <a:r>
              <a:rPr sz="2000" dirty="0">
                <a:solidFill>
                  <a:prstClr val="black"/>
                </a:solidFill>
                <a:latin typeface="Times New Roman"/>
                <a:cs typeface="Times New Roman"/>
              </a:rPr>
              <a:t>storing</a:t>
            </a:r>
            <a:r>
              <a:rPr sz="2000" spc="30" dirty="0">
                <a:solidFill>
                  <a:prstClr val="black"/>
                </a:solidFill>
                <a:latin typeface="Times New Roman"/>
                <a:cs typeface="Times New Roman"/>
              </a:rPr>
              <a:t> </a:t>
            </a:r>
            <a:r>
              <a:rPr sz="2000" dirty="0">
                <a:solidFill>
                  <a:prstClr val="black"/>
                </a:solidFill>
                <a:latin typeface="Times New Roman"/>
                <a:cs typeface="Times New Roman"/>
              </a:rPr>
              <a:t>a</a:t>
            </a:r>
            <a:r>
              <a:rPr sz="2000" spc="10" dirty="0">
                <a:solidFill>
                  <a:prstClr val="black"/>
                </a:solidFill>
                <a:latin typeface="Times New Roman"/>
                <a:cs typeface="Times New Roman"/>
              </a:rPr>
              <a:t> </a:t>
            </a:r>
            <a:r>
              <a:rPr sz="2000" dirty="0">
                <a:solidFill>
                  <a:prstClr val="black"/>
                </a:solidFill>
                <a:latin typeface="Times New Roman"/>
                <a:cs typeface="Times New Roman"/>
              </a:rPr>
              <a:t>large</a:t>
            </a:r>
            <a:r>
              <a:rPr sz="2000" spc="15" dirty="0">
                <a:solidFill>
                  <a:prstClr val="black"/>
                </a:solidFill>
                <a:latin typeface="Times New Roman"/>
                <a:cs typeface="Times New Roman"/>
              </a:rPr>
              <a:t> </a:t>
            </a:r>
            <a:r>
              <a:rPr sz="2000" dirty="0">
                <a:solidFill>
                  <a:prstClr val="black"/>
                </a:solidFill>
                <a:latin typeface="Times New Roman"/>
                <a:cs typeface="Times New Roman"/>
              </a:rPr>
              <a:t>amount</a:t>
            </a:r>
            <a:r>
              <a:rPr sz="2000" spc="10" dirty="0">
                <a:solidFill>
                  <a:prstClr val="black"/>
                </a:solidFill>
                <a:latin typeface="Times New Roman"/>
                <a:cs typeface="Times New Roman"/>
              </a:rPr>
              <a:t> </a:t>
            </a:r>
            <a:r>
              <a:rPr sz="2000" spc="-25" dirty="0">
                <a:solidFill>
                  <a:prstClr val="black"/>
                </a:solidFill>
                <a:latin typeface="Times New Roman"/>
                <a:cs typeface="Times New Roman"/>
              </a:rPr>
              <a:t>of 	</a:t>
            </a:r>
            <a:r>
              <a:rPr sz="2000" dirty="0">
                <a:solidFill>
                  <a:prstClr val="black"/>
                </a:solidFill>
                <a:latin typeface="Times New Roman"/>
                <a:cs typeface="Times New Roman"/>
              </a:rPr>
              <a:t>numerical</a:t>
            </a:r>
            <a:r>
              <a:rPr sz="2000" spc="114" dirty="0">
                <a:solidFill>
                  <a:prstClr val="black"/>
                </a:solidFill>
                <a:latin typeface="Times New Roman"/>
                <a:cs typeface="Times New Roman"/>
              </a:rPr>
              <a:t> </a:t>
            </a:r>
            <a:r>
              <a:rPr sz="2000" dirty="0">
                <a:solidFill>
                  <a:prstClr val="black"/>
                </a:solidFill>
                <a:latin typeface="Times New Roman"/>
                <a:cs typeface="Times New Roman"/>
              </a:rPr>
              <a:t>data</a:t>
            </a:r>
            <a:r>
              <a:rPr sz="2000" spc="120" dirty="0">
                <a:solidFill>
                  <a:prstClr val="black"/>
                </a:solidFill>
                <a:latin typeface="Times New Roman"/>
                <a:cs typeface="Times New Roman"/>
              </a:rPr>
              <a:t> </a:t>
            </a:r>
            <a:r>
              <a:rPr sz="2000" dirty="0">
                <a:solidFill>
                  <a:prstClr val="black"/>
                </a:solidFill>
                <a:latin typeface="Times New Roman"/>
                <a:cs typeface="Times New Roman"/>
              </a:rPr>
              <a:t>it’s</a:t>
            </a:r>
            <a:r>
              <a:rPr sz="2000" spc="135" dirty="0">
                <a:solidFill>
                  <a:prstClr val="black"/>
                </a:solidFill>
                <a:latin typeface="Times New Roman"/>
                <a:cs typeface="Times New Roman"/>
              </a:rPr>
              <a:t> </a:t>
            </a:r>
            <a:r>
              <a:rPr sz="2000" dirty="0">
                <a:solidFill>
                  <a:prstClr val="black"/>
                </a:solidFill>
                <a:latin typeface="Times New Roman"/>
                <a:cs typeface="Times New Roman"/>
              </a:rPr>
              <a:t>more</a:t>
            </a:r>
            <a:r>
              <a:rPr sz="2000" spc="140" dirty="0">
                <a:solidFill>
                  <a:prstClr val="black"/>
                </a:solidFill>
                <a:latin typeface="Times New Roman"/>
                <a:cs typeface="Times New Roman"/>
              </a:rPr>
              <a:t> </a:t>
            </a:r>
            <a:r>
              <a:rPr sz="2000" dirty="0">
                <a:solidFill>
                  <a:prstClr val="black"/>
                </a:solidFill>
                <a:latin typeface="Times New Roman"/>
                <a:cs typeface="Times New Roman"/>
              </a:rPr>
              <a:t>efficient</a:t>
            </a:r>
            <a:r>
              <a:rPr sz="2000" spc="130" dirty="0">
                <a:solidFill>
                  <a:prstClr val="black"/>
                </a:solidFill>
                <a:latin typeface="Times New Roman"/>
                <a:cs typeface="Times New Roman"/>
              </a:rPr>
              <a:t> </a:t>
            </a:r>
            <a:r>
              <a:rPr sz="2000" dirty="0">
                <a:solidFill>
                  <a:prstClr val="black"/>
                </a:solidFill>
                <a:latin typeface="Times New Roman"/>
                <a:cs typeface="Times New Roman"/>
              </a:rPr>
              <a:t>to</a:t>
            </a:r>
            <a:r>
              <a:rPr sz="2000" spc="140" dirty="0">
                <a:solidFill>
                  <a:prstClr val="black"/>
                </a:solidFill>
                <a:latin typeface="Times New Roman"/>
                <a:cs typeface="Times New Roman"/>
              </a:rPr>
              <a:t> </a:t>
            </a:r>
            <a:r>
              <a:rPr sz="2000" dirty="0">
                <a:solidFill>
                  <a:prstClr val="black"/>
                </a:solidFill>
                <a:latin typeface="Times New Roman"/>
                <a:cs typeface="Times New Roman"/>
              </a:rPr>
              <a:t>use</a:t>
            </a:r>
            <a:r>
              <a:rPr sz="2000" spc="114" dirty="0">
                <a:solidFill>
                  <a:prstClr val="black"/>
                </a:solidFill>
                <a:latin typeface="Times New Roman"/>
                <a:cs typeface="Times New Roman"/>
              </a:rPr>
              <a:t> </a:t>
            </a:r>
            <a:r>
              <a:rPr sz="2000" dirty="0">
                <a:solidFill>
                  <a:prstClr val="black"/>
                </a:solidFill>
                <a:latin typeface="Times New Roman"/>
                <a:cs typeface="Times New Roman"/>
              </a:rPr>
              <a:t>binary</a:t>
            </a:r>
            <a:r>
              <a:rPr sz="2000" spc="135" dirty="0">
                <a:solidFill>
                  <a:prstClr val="black"/>
                </a:solidFill>
                <a:latin typeface="Times New Roman"/>
                <a:cs typeface="Times New Roman"/>
              </a:rPr>
              <a:t> </a:t>
            </a:r>
            <a:r>
              <a:rPr sz="2000" dirty="0">
                <a:solidFill>
                  <a:prstClr val="black"/>
                </a:solidFill>
                <a:latin typeface="Times New Roman"/>
                <a:cs typeface="Times New Roman"/>
              </a:rPr>
              <a:t>I/O,</a:t>
            </a:r>
            <a:r>
              <a:rPr sz="2000" spc="140" dirty="0">
                <a:solidFill>
                  <a:prstClr val="black"/>
                </a:solidFill>
                <a:latin typeface="Times New Roman"/>
                <a:cs typeface="Times New Roman"/>
              </a:rPr>
              <a:t> </a:t>
            </a:r>
            <a:r>
              <a:rPr sz="2000" dirty="0">
                <a:solidFill>
                  <a:prstClr val="black"/>
                </a:solidFill>
                <a:latin typeface="Times New Roman"/>
                <a:cs typeface="Times New Roman"/>
              </a:rPr>
              <a:t>in</a:t>
            </a:r>
            <a:r>
              <a:rPr sz="2000" spc="140" dirty="0">
                <a:solidFill>
                  <a:prstClr val="black"/>
                </a:solidFill>
                <a:latin typeface="Times New Roman"/>
                <a:cs typeface="Times New Roman"/>
              </a:rPr>
              <a:t> </a:t>
            </a:r>
            <a:r>
              <a:rPr sz="2000" dirty="0">
                <a:solidFill>
                  <a:prstClr val="black"/>
                </a:solidFill>
                <a:latin typeface="Times New Roman"/>
                <a:cs typeface="Times New Roman"/>
              </a:rPr>
              <a:t>which</a:t>
            </a:r>
            <a:r>
              <a:rPr sz="2000" spc="135" dirty="0">
                <a:solidFill>
                  <a:prstClr val="black"/>
                </a:solidFill>
                <a:latin typeface="Times New Roman"/>
                <a:cs typeface="Times New Roman"/>
              </a:rPr>
              <a:t> </a:t>
            </a:r>
            <a:r>
              <a:rPr sz="2000" dirty="0">
                <a:solidFill>
                  <a:prstClr val="black"/>
                </a:solidFill>
                <a:latin typeface="Times New Roman"/>
                <a:cs typeface="Times New Roman"/>
              </a:rPr>
              <a:t>numbers</a:t>
            </a:r>
            <a:r>
              <a:rPr sz="2000" spc="135" dirty="0">
                <a:solidFill>
                  <a:prstClr val="black"/>
                </a:solidFill>
                <a:latin typeface="Times New Roman"/>
                <a:cs typeface="Times New Roman"/>
              </a:rPr>
              <a:t> </a:t>
            </a:r>
            <a:r>
              <a:rPr sz="2000" dirty="0">
                <a:solidFill>
                  <a:prstClr val="black"/>
                </a:solidFill>
                <a:latin typeface="Times New Roman"/>
                <a:cs typeface="Times New Roman"/>
              </a:rPr>
              <a:t>are</a:t>
            </a:r>
            <a:r>
              <a:rPr sz="2000" spc="130" dirty="0">
                <a:solidFill>
                  <a:prstClr val="black"/>
                </a:solidFill>
                <a:latin typeface="Times New Roman"/>
                <a:cs typeface="Times New Roman"/>
              </a:rPr>
              <a:t> </a:t>
            </a:r>
            <a:r>
              <a:rPr sz="2000" dirty="0">
                <a:solidFill>
                  <a:prstClr val="black"/>
                </a:solidFill>
                <a:latin typeface="Times New Roman"/>
                <a:cs typeface="Times New Roman"/>
              </a:rPr>
              <a:t>stored</a:t>
            </a:r>
            <a:r>
              <a:rPr sz="2000" spc="140" dirty="0">
                <a:solidFill>
                  <a:prstClr val="black"/>
                </a:solidFill>
                <a:latin typeface="Times New Roman"/>
                <a:cs typeface="Times New Roman"/>
              </a:rPr>
              <a:t> </a:t>
            </a:r>
            <a:r>
              <a:rPr sz="2000" dirty="0">
                <a:solidFill>
                  <a:prstClr val="black"/>
                </a:solidFill>
                <a:latin typeface="Times New Roman"/>
                <a:cs typeface="Times New Roman"/>
              </a:rPr>
              <a:t>as</a:t>
            </a:r>
            <a:r>
              <a:rPr sz="2000" spc="135" dirty="0">
                <a:solidFill>
                  <a:prstClr val="black"/>
                </a:solidFill>
                <a:latin typeface="Times New Roman"/>
                <a:cs typeface="Times New Roman"/>
              </a:rPr>
              <a:t> </a:t>
            </a:r>
            <a:r>
              <a:rPr sz="2000" dirty="0">
                <a:solidFill>
                  <a:prstClr val="black"/>
                </a:solidFill>
                <a:latin typeface="Times New Roman"/>
                <a:cs typeface="Times New Roman"/>
              </a:rPr>
              <a:t>they</a:t>
            </a:r>
            <a:r>
              <a:rPr sz="2000" spc="130" dirty="0">
                <a:solidFill>
                  <a:prstClr val="black"/>
                </a:solidFill>
                <a:latin typeface="Times New Roman"/>
                <a:cs typeface="Times New Roman"/>
              </a:rPr>
              <a:t> </a:t>
            </a:r>
            <a:r>
              <a:rPr sz="2000" dirty="0">
                <a:solidFill>
                  <a:prstClr val="black"/>
                </a:solidFill>
                <a:latin typeface="Times New Roman"/>
                <a:cs typeface="Times New Roman"/>
              </a:rPr>
              <a:t>are</a:t>
            </a:r>
            <a:r>
              <a:rPr sz="2000" spc="135" dirty="0">
                <a:solidFill>
                  <a:prstClr val="black"/>
                </a:solidFill>
                <a:latin typeface="Times New Roman"/>
                <a:cs typeface="Times New Roman"/>
              </a:rPr>
              <a:t> </a:t>
            </a:r>
            <a:r>
              <a:rPr sz="2000" spc="-25" dirty="0">
                <a:solidFill>
                  <a:prstClr val="black"/>
                </a:solidFill>
                <a:latin typeface="Times New Roman"/>
                <a:cs typeface="Times New Roman"/>
              </a:rPr>
              <a:t>in 	</a:t>
            </a:r>
            <a:r>
              <a:rPr sz="2000" dirty="0">
                <a:solidFill>
                  <a:prstClr val="black"/>
                </a:solidFill>
                <a:latin typeface="Times New Roman"/>
                <a:cs typeface="Times New Roman"/>
              </a:rPr>
              <a:t>the</a:t>
            </a:r>
            <a:r>
              <a:rPr sz="2000" spc="-30" dirty="0">
                <a:solidFill>
                  <a:prstClr val="black"/>
                </a:solidFill>
                <a:latin typeface="Times New Roman"/>
                <a:cs typeface="Times New Roman"/>
              </a:rPr>
              <a:t> </a:t>
            </a:r>
            <a:r>
              <a:rPr sz="2000" dirty="0">
                <a:solidFill>
                  <a:prstClr val="black"/>
                </a:solidFill>
                <a:latin typeface="Times New Roman"/>
                <a:cs typeface="Times New Roman"/>
              </a:rPr>
              <a:t>computer’s</a:t>
            </a:r>
            <a:r>
              <a:rPr sz="2000" spc="-65" dirty="0">
                <a:solidFill>
                  <a:prstClr val="black"/>
                </a:solidFill>
                <a:latin typeface="Times New Roman"/>
                <a:cs typeface="Times New Roman"/>
              </a:rPr>
              <a:t> </a:t>
            </a:r>
            <a:r>
              <a:rPr sz="2000" dirty="0">
                <a:solidFill>
                  <a:prstClr val="black"/>
                </a:solidFill>
                <a:latin typeface="Times New Roman"/>
                <a:cs typeface="Times New Roman"/>
              </a:rPr>
              <a:t>RAM</a:t>
            </a:r>
            <a:r>
              <a:rPr sz="2000" spc="-25" dirty="0">
                <a:solidFill>
                  <a:prstClr val="black"/>
                </a:solidFill>
                <a:latin typeface="Times New Roman"/>
                <a:cs typeface="Times New Roman"/>
              </a:rPr>
              <a:t> </a:t>
            </a:r>
            <a:r>
              <a:rPr sz="2000" spc="-10" dirty="0">
                <a:solidFill>
                  <a:prstClr val="black"/>
                </a:solidFill>
                <a:latin typeface="Times New Roman"/>
                <a:cs typeface="Times New Roman"/>
              </a:rPr>
              <a:t>memory,</a:t>
            </a:r>
            <a:r>
              <a:rPr sz="2000" spc="5" dirty="0">
                <a:solidFill>
                  <a:prstClr val="black"/>
                </a:solidFill>
                <a:latin typeface="Times New Roman"/>
                <a:cs typeface="Times New Roman"/>
              </a:rPr>
              <a:t> </a:t>
            </a:r>
            <a:r>
              <a:rPr sz="2000" dirty="0">
                <a:solidFill>
                  <a:prstClr val="black"/>
                </a:solidFill>
                <a:latin typeface="Times New Roman"/>
                <a:cs typeface="Times New Roman"/>
              </a:rPr>
              <a:t>rather</a:t>
            </a:r>
            <a:r>
              <a:rPr sz="2000" spc="-40" dirty="0">
                <a:solidFill>
                  <a:prstClr val="black"/>
                </a:solidFill>
                <a:latin typeface="Times New Roman"/>
                <a:cs typeface="Times New Roman"/>
              </a:rPr>
              <a:t> </a:t>
            </a:r>
            <a:r>
              <a:rPr sz="2000" dirty="0">
                <a:solidFill>
                  <a:prstClr val="black"/>
                </a:solidFill>
                <a:latin typeface="Times New Roman"/>
                <a:cs typeface="Times New Roman"/>
              </a:rPr>
              <a:t>than</a:t>
            </a:r>
            <a:r>
              <a:rPr sz="2000" spc="-35" dirty="0">
                <a:solidFill>
                  <a:prstClr val="black"/>
                </a:solidFill>
                <a:latin typeface="Times New Roman"/>
                <a:cs typeface="Times New Roman"/>
              </a:rPr>
              <a:t> </a:t>
            </a:r>
            <a:r>
              <a:rPr sz="2000" dirty="0">
                <a:solidFill>
                  <a:prstClr val="black"/>
                </a:solidFill>
                <a:latin typeface="Times New Roman"/>
                <a:cs typeface="Times New Roman"/>
              </a:rPr>
              <a:t>as</a:t>
            </a:r>
            <a:r>
              <a:rPr sz="2000" spc="-30" dirty="0">
                <a:solidFill>
                  <a:prstClr val="black"/>
                </a:solidFill>
                <a:latin typeface="Times New Roman"/>
                <a:cs typeface="Times New Roman"/>
              </a:rPr>
              <a:t> </a:t>
            </a:r>
            <a:r>
              <a:rPr sz="2000" dirty="0">
                <a:solidFill>
                  <a:prstClr val="black"/>
                </a:solidFill>
                <a:latin typeface="Times New Roman"/>
                <a:cs typeface="Times New Roman"/>
              </a:rPr>
              <a:t>strings</a:t>
            </a:r>
            <a:r>
              <a:rPr sz="2000" spc="-50" dirty="0">
                <a:solidFill>
                  <a:prstClr val="black"/>
                </a:solidFill>
                <a:latin typeface="Times New Roman"/>
                <a:cs typeface="Times New Roman"/>
              </a:rPr>
              <a:t> </a:t>
            </a:r>
            <a:r>
              <a:rPr sz="2000" dirty="0">
                <a:solidFill>
                  <a:prstClr val="black"/>
                </a:solidFill>
                <a:latin typeface="Times New Roman"/>
                <a:cs typeface="Times New Roman"/>
              </a:rPr>
              <a:t>of</a:t>
            </a:r>
            <a:r>
              <a:rPr sz="2000" spc="-35" dirty="0">
                <a:solidFill>
                  <a:prstClr val="black"/>
                </a:solidFill>
                <a:latin typeface="Times New Roman"/>
                <a:cs typeface="Times New Roman"/>
              </a:rPr>
              <a:t> </a:t>
            </a:r>
            <a:r>
              <a:rPr sz="2000" spc="-10" dirty="0">
                <a:solidFill>
                  <a:prstClr val="black"/>
                </a:solidFill>
                <a:latin typeface="Times New Roman"/>
                <a:cs typeface="Times New Roman"/>
              </a:rPr>
              <a:t>characters.</a:t>
            </a:r>
            <a:endParaRPr sz="2000">
              <a:solidFill>
                <a:prstClr val="black"/>
              </a:solidFill>
              <a:latin typeface="Times New Roman"/>
              <a:cs typeface="Times New Roman"/>
            </a:endParaRPr>
          </a:p>
          <a:p>
            <a:pPr>
              <a:spcBef>
                <a:spcPts val="100"/>
              </a:spcBef>
              <a:buFont typeface="Arial MT"/>
              <a:buChar char="•"/>
            </a:pPr>
            <a:endParaRPr sz="2000">
              <a:solidFill>
                <a:prstClr val="black"/>
              </a:solidFill>
              <a:latin typeface="Times New Roman"/>
              <a:cs typeface="Times New Roman"/>
            </a:endParaRPr>
          </a:p>
          <a:p>
            <a:pPr marL="351790" marR="5080" indent="-339725" algn="just">
              <a:spcBef>
                <a:spcPts val="5"/>
              </a:spcBef>
              <a:buFont typeface="Arial MT"/>
              <a:buChar char="•"/>
              <a:tabLst>
                <a:tab pos="355600" algn="l"/>
              </a:tabLst>
            </a:pPr>
            <a:r>
              <a:rPr sz="2000" dirty="0">
                <a:solidFill>
                  <a:prstClr val="black"/>
                </a:solidFill>
                <a:latin typeface="Times New Roman"/>
                <a:cs typeface="Times New Roman"/>
              </a:rPr>
              <a:t>In</a:t>
            </a:r>
            <a:r>
              <a:rPr sz="2000" spc="110" dirty="0">
                <a:solidFill>
                  <a:prstClr val="black"/>
                </a:solidFill>
                <a:latin typeface="Times New Roman"/>
                <a:cs typeface="Times New Roman"/>
              </a:rPr>
              <a:t> </a:t>
            </a:r>
            <a:r>
              <a:rPr sz="2000" dirty="0">
                <a:solidFill>
                  <a:prstClr val="black"/>
                </a:solidFill>
                <a:latin typeface="Times New Roman"/>
                <a:cs typeface="Times New Roman"/>
              </a:rPr>
              <a:t>binary</a:t>
            </a:r>
            <a:r>
              <a:rPr sz="2000" spc="110" dirty="0">
                <a:solidFill>
                  <a:prstClr val="black"/>
                </a:solidFill>
                <a:latin typeface="Times New Roman"/>
                <a:cs typeface="Times New Roman"/>
              </a:rPr>
              <a:t> </a:t>
            </a:r>
            <a:r>
              <a:rPr sz="2000" dirty="0">
                <a:solidFill>
                  <a:prstClr val="black"/>
                </a:solidFill>
                <a:latin typeface="Times New Roman"/>
                <a:cs typeface="Times New Roman"/>
              </a:rPr>
              <a:t>I/O</a:t>
            </a:r>
            <a:r>
              <a:rPr sz="2000" spc="135" dirty="0">
                <a:solidFill>
                  <a:prstClr val="black"/>
                </a:solidFill>
                <a:latin typeface="Times New Roman"/>
                <a:cs typeface="Times New Roman"/>
              </a:rPr>
              <a:t> </a:t>
            </a:r>
            <a:r>
              <a:rPr sz="2000" dirty="0">
                <a:solidFill>
                  <a:prstClr val="black"/>
                </a:solidFill>
                <a:latin typeface="Times New Roman"/>
                <a:cs typeface="Times New Roman"/>
              </a:rPr>
              <a:t>an</a:t>
            </a:r>
            <a:r>
              <a:rPr sz="2000" spc="130" dirty="0">
                <a:solidFill>
                  <a:prstClr val="black"/>
                </a:solidFill>
                <a:latin typeface="Times New Roman"/>
                <a:cs typeface="Times New Roman"/>
              </a:rPr>
              <a:t> </a:t>
            </a:r>
            <a:r>
              <a:rPr sz="2000" dirty="0">
                <a:solidFill>
                  <a:prstClr val="black"/>
                </a:solidFill>
                <a:latin typeface="Times New Roman"/>
                <a:cs typeface="Times New Roman"/>
              </a:rPr>
              <a:t>int</a:t>
            </a:r>
            <a:r>
              <a:rPr sz="2000" spc="120" dirty="0">
                <a:solidFill>
                  <a:prstClr val="black"/>
                </a:solidFill>
                <a:latin typeface="Times New Roman"/>
                <a:cs typeface="Times New Roman"/>
              </a:rPr>
              <a:t> </a:t>
            </a:r>
            <a:r>
              <a:rPr sz="2000" dirty="0">
                <a:solidFill>
                  <a:prstClr val="black"/>
                </a:solidFill>
                <a:latin typeface="Times New Roman"/>
                <a:cs typeface="Times New Roman"/>
              </a:rPr>
              <a:t>is</a:t>
            </a:r>
            <a:r>
              <a:rPr sz="2000" spc="114" dirty="0">
                <a:solidFill>
                  <a:prstClr val="black"/>
                </a:solidFill>
                <a:latin typeface="Times New Roman"/>
                <a:cs typeface="Times New Roman"/>
              </a:rPr>
              <a:t> </a:t>
            </a:r>
            <a:r>
              <a:rPr sz="2000" dirty="0">
                <a:solidFill>
                  <a:prstClr val="black"/>
                </a:solidFill>
                <a:latin typeface="Times New Roman"/>
                <a:cs typeface="Times New Roman"/>
              </a:rPr>
              <a:t>stored</a:t>
            </a:r>
            <a:r>
              <a:rPr sz="2000" spc="110" dirty="0">
                <a:solidFill>
                  <a:prstClr val="black"/>
                </a:solidFill>
                <a:latin typeface="Times New Roman"/>
                <a:cs typeface="Times New Roman"/>
              </a:rPr>
              <a:t> </a:t>
            </a:r>
            <a:r>
              <a:rPr sz="2000" dirty="0">
                <a:solidFill>
                  <a:prstClr val="black"/>
                </a:solidFill>
                <a:latin typeface="Times New Roman"/>
                <a:cs typeface="Times New Roman"/>
              </a:rPr>
              <a:t>in</a:t>
            </a:r>
            <a:r>
              <a:rPr sz="2000" spc="120" dirty="0">
                <a:solidFill>
                  <a:prstClr val="black"/>
                </a:solidFill>
                <a:latin typeface="Times New Roman"/>
                <a:cs typeface="Times New Roman"/>
              </a:rPr>
              <a:t> </a:t>
            </a:r>
            <a:r>
              <a:rPr sz="2000" dirty="0">
                <a:solidFill>
                  <a:prstClr val="black"/>
                </a:solidFill>
                <a:latin typeface="Times New Roman"/>
                <a:cs typeface="Times New Roman"/>
              </a:rPr>
              <a:t>4</a:t>
            </a:r>
            <a:r>
              <a:rPr sz="2000" spc="120" dirty="0">
                <a:solidFill>
                  <a:prstClr val="black"/>
                </a:solidFill>
                <a:latin typeface="Times New Roman"/>
                <a:cs typeface="Times New Roman"/>
              </a:rPr>
              <a:t> </a:t>
            </a:r>
            <a:r>
              <a:rPr sz="2000" dirty="0">
                <a:solidFill>
                  <a:prstClr val="black"/>
                </a:solidFill>
                <a:latin typeface="Times New Roman"/>
                <a:cs typeface="Times New Roman"/>
              </a:rPr>
              <a:t>bytes,</a:t>
            </a:r>
            <a:r>
              <a:rPr sz="2000" spc="135" dirty="0">
                <a:solidFill>
                  <a:prstClr val="black"/>
                </a:solidFill>
                <a:latin typeface="Times New Roman"/>
                <a:cs typeface="Times New Roman"/>
              </a:rPr>
              <a:t> </a:t>
            </a:r>
            <a:r>
              <a:rPr sz="2000" dirty="0">
                <a:solidFill>
                  <a:prstClr val="black"/>
                </a:solidFill>
                <a:latin typeface="Times New Roman"/>
                <a:cs typeface="Times New Roman"/>
              </a:rPr>
              <a:t>whereas</a:t>
            </a:r>
            <a:r>
              <a:rPr sz="2000" spc="114" dirty="0">
                <a:solidFill>
                  <a:prstClr val="black"/>
                </a:solidFill>
                <a:latin typeface="Times New Roman"/>
                <a:cs typeface="Times New Roman"/>
              </a:rPr>
              <a:t> </a:t>
            </a:r>
            <a:r>
              <a:rPr sz="2000" dirty="0">
                <a:solidFill>
                  <a:prstClr val="black"/>
                </a:solidFill>
                <a:latin typeface="Times New Roman"/>
                <a:cs typeface="Times New Roman"/>
              </a:rPr>
              <a:t>its</a:t>
            </a:r>
            <a:r>
              <a:rPr sz="2000" spc="130" dirty="0">
                <a:solidFill>
                  <a:prstClr val="black"/>
                </a:solidFill>
                <a:latin typeface="Times New Roman"/>
                <a:cs typeface="Times New Roman"/>
              </a:rPr>
              <a:t> </a:t>
            </a:r>
            <a:r>
              <a:rPr sz="2000" dirty="0">
                <a:solidFill>
                  <a:prstClr val="black"/>
                </a:solidFill>
                <a:latin typeface="Times New Roman"/>
                <a:cs typeface="Times New Roman"/>
              </a:rPr>
              <a:t>text</a:t>
            </a:r>
            <a:r>
              <a:rPr sz="2000" spc="114" dirty="0">
                <a:solidFill>
                  <a:prstClr val="black"/>
                </a:solidFill>
                <a:latin typeface="Times New Roman"/>
                <a:cs typeface="Times New Roman"/>
              </a:rPr>
              <a:t> </a:t>
            </a:r>
            <a:r>
              <a:rPr sz="2000" dirty="0">
                <a:solidFill>
                  <a:prstClr val="black"/>
                </a:solidFill>
                <a:latin typeface="Times New Roman"/>
                <a:cs typeface="Times New Roman"/>
              </a:rPr>
              <a:t>version</a:t>
            </a:r>
            <a:r>
              <a:rPr sz="2000" spc="125" dirty="0">
                <a:solidFill>
                  <a:prstClr val="black"/>
                </a:solidFill>
                <a:latin typeface="Times New Roman"/>
                <a:cs typeface="Times New Roman"/>
              </a:rPr>
              <a:t> </a:t>
            </a:r>
            <a:r>
              <a:rPr sz="2000" dirty="0">
                <a:solidFill>
                  <a:prstClr val="black"/>
                </a:solidFill>
                <a:latin typeface="Times New Roman"/>
                <a:cs typeface="Times New Roman"/>
              </a:rPr>
              <a:t>might</a:t>
            </a:r>
            <a:r>
              <a:rPr sz="2000" spc="125" dirty="0">
                <a:solidFill>
                  <a:prstClr val="black"/>
                </a:solidFill>
                <a:latin typeface="Times New Roman"/>
                <a:cs typeface="Times New Roman"/>
              </a:rPr>
              <a:t> </a:t>
            </a:r>
            <a:r>
              <a:rPr sz="2000" dirty="0">
                <a:solidFill>
                  <a:prstClr val="black"/>
                </a:solidFill>
                <a:latin typeface="Times New Roman"/>
                <a:cs typeface="Times New Roman"/>
              </a:rPr>
              <a:t>be</a:t>
            </a:r>
            <a:r>
              <a:rPr sz="2000" spc="125" dirty="0">
                <a:solidFill>
                  <a:prstClr val="black"/>
                </a:solidFill>
                <a:latin typeface="Times New Roman"/>
                <a:cs typeface="Times New Roman"/>
              </a:rPr>
              <a:t> </a:t>
            </a:r>
            <a:r>
              <a:rPr sz="2000" dirty="0">
                <a:solidFill>
                  <a:prstClr val="black"/>
                </a:solidFill>
                <a:latin typeface="Times New Roman"/>
                <a:cs typeface="Times New Roman"/>
              </a:rPr>
              <a:t>“12345”,</a:t>
            </a:r>
            <a:r>
              <a:rPr sz="2000" spc="110" dirty="0">
                <a:solidFill>
                  <a:prstClr val="black"/>
                </a:solidFill>
                <a:latin typeface="Times New Roman"/>
                <a:cs typeface="Times New Roman"/>
              </a:rPr>
              <a:t> </a:t>
            </a:r>
            <a:r>
              <a:rPr sz="2000" dirty="0">
                <a:solidFill>
                  <a:prstClr val="black"/>
                </a:solidFill>
                <a:latin typeface="Times New Roman"/>
                <a:cs typeface="Times New Roman"/>
              </a:rPr>
              <a:t>requiring</a:t>
            </a:r>
            <a:r>
              <a:rPr sz="2000" spc="120" dirty="0">
                <a:solidFill>
                  <a:prstClr val="black"/>
                </a:solidFill>
                <a:latin typeface="Times New Roman"/>
                <a:cs typeface="Times New Roman"/>
              </a:rPr>
              <a:t> </a:t>
            </a:r>
            <a:r>
              <a:rPr sz="2000" spc="-50" dirty="0">
                <a:solidFill>
                  <a:prstClr val="black"/>
                </a:solidFill>
                <a:latin typeface="Times New Roman"/>
                <a:cs typeface="Times New Roman"/>
              </a:rPr>
              <a:t>5 	</a:t>
            </a:r>
            <a:r>
              <a:rPr sz="2000" dirty="0">
                <a:solidFill>
                  <a:prstClr val="black"/>
                </a:solidFill>
                <a:latin typeface="Times New Roman"/>
                <a:cs typeface="Times New Roman"/>
              </a:rPr>
              <a:t>bytes.</a:t>
            </a:r>
            <a:r>
              <a:rPr sz="2000" spc="484" dirty="0">
                <a:solidFill>
                  <a:prstClr val="black"/>
                </a:solidFill>
                <a:latin typeface="Times New Roman"/>
                <a:cs typeface="Times New Roman"/>
              </a:rPr>
              <a:t> </a:t>
            </a:r>
            <a:r>
              <a:rPr sz="2000" dirty="0">
                <a:solidFill>
                  <a:prstClr val="black"/>
                </a:solidFill>
                <a:latin typeface="Times New Roman"/>
                <a:cs typeface="Times New Roman"/>
              </a:rPr>
              <a:t>Similarly,</a:t>
            </a:r>
            <a:r>
              <a:rPr sz="2000" spc="490" dirty="0">
                <a:solidFill>
                  <a:prstClr val="black"/>
                </a:solidFill>
                <a:latin typeface="Times New Roman"/>
                <a:cs typeface="Times New Roman"/>
              </a:rPr>
              <a:t> </a:t>
            </a:r>
            <a:r>
              <a:rPr sz="2000" dirty="0">
                <a:solidFill>
                  <a:prstClr val="black"/>
                </a:solidFill>
                <a:latin typeface="Times New Roman"/>
                <a:cs typeface="Times New Roman"/>
              </a:rPr>
              <a:t>a</a:t>
            </a:r>
            <a:r>
              <a:rPr sz="2000" spc="484" dirty="0">
                <a:solidFill>
                  <a:prstClr val="black"/>
                </a:solidFill>
                <a:latin typeface="Times New Roman"/>
                <a:cs typeface="Times New Roman"/>
              </a:rPr>
              <a:t> </a:t>
            </a:r>
            <a:r>
              <a:rPr sz="2000" dirty="0">
                <a:solidFill>
                  <a:prstClr val="black"/>
                </a:solidFill>
                <a:latin typeface="Times New Roman"/>
                <a:cs typeface="Times New Roman"/>
              </a:rPr>
              <a:t>float</a:t>
            </a:r>
            <a:r>
              <a:rPr sz="2000" spc="484" dirty="0">
                <a:solidFill>
                  <a:prstClr val="black"/>
                </a:solidFill>
                <a:latin typeface="Times New Roman"/>
                <a:cs typeface="Times New Roman"/>
              </a:rPr>
              <a:t> </a:t>
            </a:r>
            <a:r>
              <a:rPr sz="2000" dirty="0">
                <a:solidFill>
                  <a:prstClr val="black"/>
                </a:solidFill>
                <a:latin typeface="Times New Roman"/>
                <a:cs typeface="Times New Roman"/>
              </a:rPr>
              <a:t>is</a:t>
            </a:r>
            <a:r>
              <a:rPr sz="2000" spc="484" dirty="0">
                <a:solidFill>
                  <a:prstClr val="black"/>
                </a:solidFill>
                <a:latin typeface="Times New Roman"/>
                <a:cs typeface="Times New Roman"/>
              </a:rPr>
              <a:t> </a:t>
            </a:r>
            <a:r>
              <a:rPr sz="2000" dirty="0">
                <a:solidFill>
                  <a:prstClr val="black"/>
                </a:solidFill>
                <a:latin typeface="Times New Roman"/>
                <a:cs typeface="Times New Roman"/>
              </a:rPr>
              <a:t>always</a:t>
            </a:r>
            <a:r>
              <a:rPr sz="2000" spc="484" dirty="0">
                <a:solidFill>
                  <a:prstClr val="black"/>
                </a:solidFill>
                <a:latin typeface="Times New Roman"/>
                <a:cs typeface="Times New Roman"/>
              </a:rPr>
              <a:t> </a:t>
            </a:r>
            <a:r>
              <a:rPr sz="2000" dirty="0">
                <a:solidFill>
                  <a:prstClr val="black"/>
                </a:solidFill>
                <a:latin typeface="Times New Roman"/>
                <a:cs typeface="Times New Roman"/>
              </a:rPr>
              <a:t>stored</a:t>
            </a:r>
            <a:r>
              <a:rPr sz="2000" spc="490" dirty="0">
                <a:solidFill>
                  <a:prstClr val="black"/>
                </a:solidFill>
                <a:latin typeface="Times New Roman"/>
                <a:cs typeface="Times New Roman"/>
              </a:rPr>
              <a:t> </a:t>
            </a:r>
            <a:r>
              <a:rPr sz="2000" dirty="0">
                <a:solidFill>
                  <a:prstClr val="black"/>
                </a:solidFill>
                <a:latin typeface="Times New Roman"/>
                <a:cs typeface="Times New Roman"/>
              </a:rPr>
              <a:t>in</a:t>
            </a:r>
            <a:r>
              <a:rPr sz="2000" spc="495" dirty="0">
                <a:solidFill>
                  <a:prstClr val="black"/>
                </a:solidFill>
                <a:latin typeface="Times New Roman"/>
                <a:cs typeface="Times New Roman"/>
              </a:rPr>
              <a:t> </a:t>
            </a:r>
            <a:r>
              <a:rPr sz="2000" dirty="0">
                <a:solidFill>
                  <a:prstClr val="black"/>
                </a:solidFill>
                <a:latin typeface="Times New Roman"/>
                <a:cs typeface="Times New Roman"/>
              </a:rPr>
              <a:t>4</a:t>
            </a:r>
            <a:r>
              <a:rPr sz="2000" spc="480" dirty="0">
                <a:solidFill>
                  <a:prstClr val="black"/>
                </a:solidFill>
                <a:latin typeface="Times New Roman"/>
                <a:cs typeface="Times New Roman"/>
              </a:rPr>
              <a:t> </a:t>
            </a:r>
            <a:r>
              <a:rPr sz="2000" dirty="0">
                <a:solidFill>
                  <a:prstClr val="black"/>
                </a:solidFill>
                <a:latin typeface="Times New Roman"/>
                <a:cs typeface="Times New Roman"/>
              </a:rPr>
              <a:t>bytes,</a:t>
            </a:r>
            <a:r>
              <a:rPr sz="2000" spc="484" dirty="0">
                <a:solidFill>
                  <a:prstClr val="black"/>
                </a:solidFill>
                <a:latin typeface="Times New Roman"/>
                <a:cs typeface="Times New Roman"/>
              </a:rPr>
              <a:t> </a:t>
            </a:r>
            <a:r>
              <a:rPr sz="2000" dirty="0">
                <a:solidFill>
                  <a:prstClr val="black"/>
                </a:solidFill>
                <a:latin typeface="Times New Roman"/>
                <a:cs typeface="Times New Roman"/>
              </a:rPr>
              <a:t>while</a:t>
            </a:r>
            <a:r>
              <a:rPr sz="2000" spc="484" dirty="0">
                <a:solidFill>
                  <a:prstClr val="black"/>
                </a:solidFill>
                <a:latin typeface="Times New Roman"/>
                <a:cs typeface="Times New Roman"/>
              </a:rPr>
              <a:t> </a:t>
            </a:r>
            <a:r>
              <a:rPr sz="2000" dirty="0">
                <a:solidFill>
                  <a:prstClr val="black"/>
                </a:solidFill>
                <a:latin typeface="Times New Roman"/>
                <a:cs typeface="Times New Roman"/>
              </a:rPr>
              <a:t>its</a:t>
            </a:r>
            <a:r>
              <a:rPr sz="2000" spc="475" dirty="0">
                <a:solidFill>
                  <a:prstClr val="black"/>
                </a:solidFill>
                <a:latin typeface="Times New Roman"/>
                <a:cs typeface="Times New Roman"/>
              </a:rPr>
              <a:t> </a:t>
            </a:r>
            <a:r>
              <a:rPr sz="2000" dirty="0">
                <a:solidFill>
                  <a:prstClr val="black"/>
                </a:solidFill>
                <a:latin typeface="Times New Roman"/>
                <a:cs typeface="Times New Roman"/>
              </a:rPr>
              <a:t>formatted</a:t>
            </a:r>
            <a:r>
              <a:rPr sz="2000" spc="490" dirty="0">
                <a:solidFill>
                  <a:prstClr val="black"/>
                </a:solidFill>
                <a:latin typeface="Times New Roman"/>
                <a:cs typeface="Times New Roman"/>
              </a:rPr>
              <a:t> </a:t>
            </a:r>
            <a:r>
              <a:rPr sz="2000" dirty="0">
                <a:solidFill>
                  <a:prstClr val="black"/>
                </a:solidFill>
                <a:latin typeface="Times New Roman"/>
                <a:cs typeface="Times New Roman"/>
              </a:rPr>
              <a:t>version</a:t>
            </a:r>
            <a:r>
              <a:rPr sz="2000" spc="490" dirty="0">
                <a:solidFill>
                  <a:prstClr val="black"/>
                </a:solidFill>
                <a:latin typeface="Times New Roman"/>
                <a:cs typeface="Times New Roman"/>
              </a:rPr>
              <a:t> </a:t>
            </a:r>
            <a:r>
              <a:rPr sz="2000" dirty="0">
                <a:solidFill>
                  <a:prstClr val="black"/>
                </a:solidFill>
                <a:latin typeface="Times New Roman"/>
                <a:cs typeface="Times New Roman"/>
              </a:rPr>
              <a:t>might</a:t>
            </a:r>
            <a:r>
              <a:rPr sz="2000" spc="480" dirty="0">
                <a:solidFill>
                  <a:prstClr val="black"/>
                </a:solidFill>
                <a:latin typeface="Times New Roman"/>
                <a:cs typeface="Times New Roman"/>
              </a:rPr>
              <a:t> </a:t>
            </a:r>
            <a:r>
              <a:rPr sz="2000" spc="-25" dirty="0">
                <a:solidFill>
                  <a:prstClr val="black"/>
                </a:solidFill>
                <a:latin typeface="Times New Roman"/>
                <a:cs typeface="Times New Roman"/>
              </a:rPr>
              <a:t>be 	</a:t>
            </a:r>
            <a:r>
              <a:rPr sz="2000" dirty="0">
                <a:solidFill>
                  <a:prstClr val="black"/>
                </a:solidFill>
                <a:latin typeface="Times New Roman"/>
                <a:cs typeface="Times New Roman"/>
              </a:rPr>
              <a:t>“6.02314e13”,</a:t>
            </a:r>
            <a:r>
              <a:rPr sz="2000" spc="-35" dirty="0">
                <a:solidFill>
                  <a:prstClr val="black"/>
                </a:solidFill>
                <a:latin typeface="Times New Roman"/>
                <a:cs typeface="Times New Roman"/>
              </a:rPr>
              <a:t> </a:t>
            </a:r>
            <a:r>
              <a:rPr sz="2000" dirty="0">
                <a:solidFill>
                  <a:prstClr val="black"/>
                </a:solidFill>
                <a:latin typeface="Times New Roman"/>
                <a:cs typeface="Times New Roman"/>
              </a:rPr>
              <a:t>requiring</a:t>
            </a:r>
            <a:r>
              <a:rPr sz="2000" spc="-40" dirty="0">
                <a:solidFill>
                  <a:prstClr val="black"/>
                </a:solidFill>
                <a:latin typeface="Times New Roman"/>
                <a:cs typeface="Times New Roman"/>
              </a:rPr>
              <a:t> </a:t>
            </a:r>
            <a:r>
              <a:rPr sz="2000" dirty="0">
                <a:solidFill>
                  <a:prstClr val="black"/>
                </a:solidFill>
                <a:latin typeface="Times New Roman"/>
                <a:cs typeface="Times New Roman"/>
              </a:rPr>
              <a:t>10</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bytes.</a:t>
            </a:r>
            <a:endParaRPr sz="2000">
              <a:solidFill>
                <a:prstClr val="black"/>
              </a:solidFill>
              <a:latin typeface="Times New Roman"/>
              <a:cs typeface="Times New Roman"/>
            </a:endParaRPr>
          </a:p>
          <a:p>
            <a:pPr>
              <a:spcBef>
                <a:spcPts val="100"/>
              </a:spcBef>
              <a:buFont typeface="Arial MT"/>
              <a:buChar char="•"/>
            </a:pPr>
            <a:endParaRPr sz="2000">
              <a:solidFill>
                <a:prstClr val="black"/>
              </a:solidFill>
              <a:latin typeface="Times New Roman"/>
              <a:cs typeface="Times New Roman"/>
            </a:endParaRPr>
          </a:p>
          <a:p>
            <a:pPr marL="355600" indent="-342900">
              <a:buFont typeface="Arial MT"/>
              <a:buChar char="•"/>
              <a:tabLst>
                <a:tab pos="355600" algn="l"/>
              </a:tabLst>
            </a:pPr>
            <a:r>
              <a:rPr sz="2000" spc="-40" dirty="0">
                <a:solidFill>
                  <a:prstClr val="black"/>
                </a:solidFill>
                <a:latin typeface="Times New Roman"/>
                <a:cs typeface="Times New Roman"/>
              </a:rPr>
              <a:t>We </a:t>
            </a:r>
            <a:r>
              <a:rPr sz="2000" dirty="0">
                <a:solidFill>
                  <a:prstClr val="black"/>
                </a:solidFill>
                <a:latin typeface="Times New Roman"/>
                <a:cs typeface="Times New Roman"/>
              </a:rPr>
              <a:t>use</a:t>
            </a:r>
            <a:r>
              <a:rPr sz="2000" spc="-35" dirty="0">
                <a:solidFill>
                  <a:prstClr val="black"/>
                </a:solidFill>
                <a:latin typeface="Times New Roman"/>
                <a:cs typeface="Times New Roman"/>
              </a:rPr>
              <a:t> </a:t>
            </a:r>
            <a:r>
              <a:rPr sz="2000" dirty="0">
                <a:solidFill>
                  <a:prstClr val="black"/>
                </a:solidFill>
                <a:latin typeface="Times New Roman"/>
                <a:cs typeface="Times New Roman"/>
              </a:rPr>
              <a:t>two</a:t>
            </a:r>
            <a:r>
              <a:rPr sz="2000" spc="-20" dirty="0">
                <a:solidFill>
                  <a:prstClr val="black"/>
                </a:solidFill>
                <a:latin typeface="Times New Roman"/>
                <a:cs typeface="Times New Roman"/>
              </a:rPr>
              <a:t> </a:t>
            </a:r>
            <a:r>
              <a:rPr sz="2000" dirty="0">
                <a:solidFill>
                  <a:prstClr val="black"/>
                </a:solidFill>
                <a:latin typeface="Times New Roman"/>
                <a:cs typeface="Times New Roman"/>
              </a:rPr>
              <a:t>new</a:t>
            </a:r>
            <a:r>
              <a:rPr sz="2000" spc="-15" dirty="0">
                <a:solidFill>
                  <a:prstClr val="black"/>
                </a:solidFill>
                <a:latin typeface="Times New Roman"/>
                <a:cs typeface="Times New Roman"/>
              </a:rPr>
              <a:t> </a:t>
            </a:r>
            <a:r>
              <a:rPr sz="2000" dirty="0">
                <a:solidFill>
                  <a:prstClr val="black"/>
                </a:solidFill>
                <a:latin typeface="Times New Roman"/>
                <a:cs typeface="Times New Roman"/>
              </a:rPr>
              <a:t>functions:</a:t>
            </a:r>
            <a:r>
              <a:rPr sz="2000" spc="-55" dirty="0">
                <a:solidFill>
                  <a:prstClr val="black"/>
                </a:solidFill>
                <a:latin typeface="Times New Roman"/>
                <a:cs typeface="Times New Roman"/>
              </a:rPr>
              <a:t> </a:t>
            </a:r>
            <a:r>
              <a:rPr sz="2000" b="1" dirty="0">
                <a:solidFill>
                  <a:prstClr val="black"/>
                </a:solidFill>
                <a:latin typeface="Times New Roman"/>
                <a:cs typeface="Times New Roman"/>
              </a:rPr>
              <a:t>write()</a:t>
            </a:r>
            <a:r>
              <a:rPr sz="2000" dirty="0">
                <a:solidFill>
                  <a:prstClr val="black"/>
                </a:solidFill>
                <a:latin typeface="Times New Roman"/>
                <a:cs typeface="Times New Roman"/>
              </a:rPr>
              <a:t>,</a:t>
            </a:r>
            <a:r>
              <a:rPr sz="2000" spc="-45" dirty="0">
                <a:solidFill>
                  <a:prstClr val="black"/>
                </a:solidFill>
                <a:latin typeface="Times New Roman"/>
                <a:cs typeface="Times New Roman"/>
              </a:rPr>
              <a:t> </a:t>
            </a:r>
            <a:r>
              <a:rPr sz="2000" dirty="0">
                <a:solidFill>
                  <a:prstClr val="black"/>
                </a:solidFill>
                <a:latin typeface="Times New Roman"/>
                <a:cs typeface="Times New Roman"/>
              </a:rPr>
              <a:t>a</a:t>
            </a:r>
            <a:r>
              <a:rPr sz="2000" spc="-15" dirty="0">
                <a:solidFill>
                  <a:prstClr val="black"/>
                </a:solidFill>
                <a:latin typeface="Times New Roman"/>
                <a:cs typeface="Times New Roman"/>
              </a:rPr>
              <a:t> </a:t>
            </a:r>
            <a:r>
              <a:rPr sz="2000" dirty="0">
                <a:solidFill>
                  <a:prstClr val="black"/>
                </a:solidFill>
                <a:latin typeface="Times New Roman"/>
                <a:cs typeface="Times New Roman"/>
              </a:rPr>
              <a:t>member</a:t>
            </a:r>
            <a:r>
              <a:rPr sz="2000" spc="-5"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ofstream;</a:t>
            </a:r>
            <a:r>
              <a:rPr sz="2000" spc="-55" dirty="0">
                <a:solidFill>
                  <a:prstClr val="black"/>
                </a:solidFill>
                <a:latin typeface="Times New Roman"/>
                <a:cs typeface="Times New Roman"/>
              </a:rPr>
              <a:t> </a:t>
            </a:r>
            <a:r>
              <a:rPr sz="2000" dirty="0">
                <a:solidFill>
                  <a:prstClr val="black"/>
                </a:solidFill>
                <a:latin typeface="Times New Roman"/>
                <a:cs typeface="Times New Roman"/>
              </a:rPr>
              <a:t>and</a:t>
            </a:r>
            <a:r>
              <a:rPr sz="2000" spc="-15" dirty="0">
                <a:solidFill>
                  <a:prstClr val="black"/>
                </a:solidFill>
                <a:latin typeface="Times New Roman"/>
                <a:cs typeface="Times New Roman"/>
              </a:rPr>
              <a:t> </a:t>
            </a:r>
            <a:r>
              <a:rPr sz="2000" b="1" dirty="0">
                <a:solidFill>
                  <a:prstClr val="black"/>
                </a:solidFill>
                <a:latin typeface="Times New Roman"/>
                <a:cs typeface="Times New Roman"/>
              </a:rPr>
              <a:t>read()</a:t>
            </a:r>
            <a:r>
              <a:rPr sz="2000" dirty="0">
                <a:solidFill>
                  <a:prstClr val="black"/>
                </a:solidFill>
                <a:latin typeface="Times New Roman"/>
                <a:cs typeface="Times New Roman"/>
              </a:rPr>
              <a:t>,</a:t>
            </a:r>
            <a:r>
              <a:rPr sz="2000" spc="-60" dirty="0">
                <a:solidFill>
                  <a:prstClr val="black"/>
                </a:solidFill>
                <a:latin typeface="Times New Roman"/>
                <a:cs typeface="Times New Roman"/>
              </a:rPr>
              <a:t> </a:t>
            </a:r>
            <a:r>
              <a:rPr sz="2000" dirty="0">
                <a:solidFill>
                  <a:prstClr val="black"/>
                </a:solidFill>
                <a:latin typeface="Times New Roman"/>
                <a:cs typeface="Times New Roman"/>
              </a:rPr>
              <a:t>a</a:t>
            </a:r>
            <a:r>
              <a:rPr sz="2000" spc="-10" dirty="0">
                <a:solidFill>
                  <a:prstClr val="black"/>
                </a:solidFill>
                <a:latin typeface="Times New Roman"/>
                <a:cs typeface="Times New Roman"/>
              </a:rPr>
              <a:t> </a:t>
            </a:r>
            <a:r>
              <a:rPr sz="2000" dirty="0">
                <a:solidFill>
                  <a:prstClr val="black"/>
                </a:solidFill>
                <a:latin typeface="Times New Roman"/>
                <a:cs typeface="Times New Roman"/>
              </a:rPr>
              <a:t>member</a:t>
            </a:r>
            <a:r>
              <a:rPr sz="2000" spc="10" dirty="0">
                <a:solidFill>
                  <a:prstClr val="black"/>
                </a:solidFill>
                <a:latin typeface="Times New Roman"/>
                <a:cs typeface="Times New Roman"/>
              </a:rPr>
              <a:t> </a:t>
            </a:r>
            <a:r>
              <a:rPr sz="2000" dirty="0">
                <a:solidFill>
                  <a:prstClr val="black"/>
                </a:solidFill>
                <a:latin typeface="Times New Roman"/>
                <a:cs typeface="Times New Roman"/>
              </a:rPr>
              <a:t>of</a:t>
            </a:r>
            <a:r>
              <a:rPr sz="2000" spc="-35" dirty="0">
                <a:solidFill>
                  <a:prstClr val="black"/>
                </a:solidFill>
                <a:latin typeface="Times New Roman"/>
                <a:cs typeface="Times New Roman"/>
              </a:rPr>
              <a:t> </a:t>
            </a:r>
            <a:r>
              <a:rPr sz="2000" spc="-10" dirty="0">
                <a:solidFill>
                  <a:prstClr val="black"/>
                </a:solidFill>
                <a:latin typeface="Times New Roman"/>
                <a:cs typeface="Times New Roman"/>
              </a:rPr>
              <a:t>ifstream.</a:t>
            </a:r>
            <a:endParaRPr sz="2000">
              <a:solidFill>
                <a:prstClr val="black"/>
              </a:solidFill>
              <a:latin typeface="Times New Roman"/>
              <a:cs typeface="Times New Roman"/>
            </a:endParaRPr>
          </a:p>
          <a:p>
            <a:pPr marL="355600" indent="-342900">
              <a:buFont typeface="Arial MT"/>
              <a:buChar char="•"/>
              <a:tabLst>
                <a:tab pos="355600" algn="l"/>
              </a:tabLst>
            </a:pPr>
            <a:r>
              <a:rPr sz="2000" dirty="0">
                <a:solidFill>
                  <a:prstClr val="black"/>
                </a:solidFill>
                <a:latin typeface="Times New Roman"/>
                <a:cs typeface="Times New Roman"/>
              </a:rPr>
              <a:t>These</a:t>
            </a:r>
            <a:r>
              <a:rPr sz="2000" spc="105" dirty="0">
                <a:solidFill>
                  <a:prstClr val="black"/>
                </a:solidFill>
                <a:latin typeface="Times New Roman"/>
                <a:cs typeface="Times New Roman"/>
              </a:rPr>
              <a:t> </a:t>
            </a:r>
            <a:r>
              <a:rPr sz="2000" dirty="0">
                <a:solidFill>
                  <a:prstClr val="black"/>
                </a:solidFill>
                <a:latin typeface="Times New Roman"/>
                <a:cs typeface="Times New Roman"/>
              </a:rPr>
              <a:t>functions</a:t>
            </a:r>
            <a:r>
              <a:rPr sz="2000" spc="140" dirty="0">
                <a:solidFill>
                  <a:prstClr val="black"/>
                </a:solidFill>
                <a:latin typeface="Times New Roman"/>
                <a:cs typeface="Times New Roman"/>
              </a:rPr>
              <a:t> </a:t>
            </a:r>
            <a:r>
              <a:rPr sz="2000" dirty="0">
                <a:solidFill>
                  <a:prstClr val="black"/>
                </a:solidFill>
                <a:latin typeface="Times New Roman"/>
                <a:cs typeface="Times New Roman"/>
              </a:rPr>
              <a:t>think</a:t>
            </a:r>
            <a:r>
              <a:rPr sz="2000" spc="135" dirty="0">
                <a:solidFill>
                  <a:prstClr val="black"/>
                </a:solidFill>
                <a:latin typeface="Times New Roman"/>
                <a:cs typeface="Times New Roman"/>
              </a:rPr>
              <a:t> </a:t>
            </a:r>
            <a:r>
              <a:rPr sz="2000" dirty="0">
                <a:solidFill>
                  <a:prstClr val="black"/>
                </a:solidFill>
                <a:latin typeface="Times New Roman"/>
                <a:cs typeface="Times New Roman"/>
              </a:rPr>
              <a:t>about</a:t>
            </a:r>
            <a:r>
              <a:rPr sz="2000" spc="114" dirty="0">
                <a:solidFill>
                  <a:prstClr val="black"/>
                </a:solidFill>
                <a:latin typeface="Times New Roman"/>
                <a:cs typeface="Times New Roman"/>
              </a:rPr>
              <a:t> </a:t>
            </a:r>
            <a:r>
              <a:rPr sz="2000" dirty="0">
                <a:solidFill>
                  <a:prstClr val="black"/>
                </a:solidFill>
                <a:latin typeface="Times New Roman"/>
                <a:cs typeface="Times New Roman"/>
              </a:rPr>
              <a:t>data</a:t>
            </a:r>
            <a:r>
              <a:rPr sz="2000" spc="130" dirty="0">
                <a:solidFill>
                  <a:prstClr val="black"/>
                </a:solidFill>
                <a:latin typeface="Times New Roman"/>
                <a:cs typeface="Times New Roman"/>
              </a:rPr>
              <a:t> </a:t>
            </a:r>
            <a:r>
              <a:rPr sz="2000" dirty="0">
                <a:solidFill>
                  <a:prstClr val="black"/>
                </a:solidFill>
                <a:latin typeface="Times New Roman"/>
                <a:cs typeface="Times New Roman"/>
              </a:rPr>
              <a:t>in</a:t>
            </a:r>
            <a:r>
              <a:rPr sz="2000" spc="130" dirty="0">
                <a:solidFill>
                  <a:prstClr val="black"/>
                </a:solidFill>
                <a:latin typeface="Times New Roman"/>
                <a:cs typeface="Times New Roman"/>
              </a:rPr>
              <a:t> </a:t>
            </a:r>
            <a:r>
              <a:rPr sz="2000" dirty="0">
                <a:solidFill>
                  <a:prstClr val="black"/>
                </a:solidFill>
                <a:latin typeface="Times New Roman"/>
                <a:cs typeface="Times New Roman"/>
              </a:rPr>
              <a:t>terms</a:t>
            </a:r>
            <a:r>
              <a:rPr sz="2000" spc="125" dirty="0">
                <a:solidFill>
                  <a:prstClr val="black"/>
                </a:solidFill>
                <a:latin typeface="Times New Roman"/>
                <a:cs typeface="Times New Roman"/>
              </a:rPr>
              <a:t> </a:t>
            </a:r>
            <a:r>
              <a:rPr sz="2000" dirty="0">
                <a:solidFill>
                  <a:prstClr val="black"/>
                </a:solidFill>
                <a:latin typeface="Times New Roman"/>
                <a:cs typeface="Times New Roman"/>
              </a:rPr>
              <a:t>of</a:t>
            </a:r>
            <a:r>
              <a:rPr sz="2000" spc="130" dirty="0">
                <a:solidFill>
                  <a:prstClr val="black"/>
                </a:solidFill>
                <a:latin typeface="Times New Roman"/>
                <a:cs typeface="Times New Roman"/>
              </a:rPr>
              <a:t> </a:t>
            </a:r>
            <a:r>
              <a:rPr sz="2000" dirty="0">
                <a:solidFill>
                  <a:prstClr val="black"/>
                </a:solidFill>
                <a:latin typeface="Times New Roman"/>
                <a:cs typeface="Times New Roman"/>
              </a:rPr>
              <a:t>bytes</a:t>
            </a:r>
            <a:r>
              <a:rPr sz="2000" spc="125" dirty="0">
                <a:solidFill>
                  <a:prstClr val="black"/>
                </a:solidFill>
                <a:latin typeface="Times New Roman"/>
                <a:cs typeface="Times New Roman"/>
              </a:rPr>
              <a:t> </a:t>
            </a:r>
            <a:r>
              <a:rPr sz="2000" dirty="0">
                <a:solidFill>
                  <a:prstClr val="black"/>
                </a:solidFill>
                <a:latin typeface="Times New Roman"/>
                <a:cs typeface="Times New Roman"/>
              </a:rPr>
              <a:t>(type</a:t>
            </a:r>
            <a:r>
              <a:rPr sz="2000" spc="135" dirty="0">
                <a:solidFill>
                  <a:prstClr val="black"/>
                </a:solidFill>
                <a:latin typeface="Times New Roman"/>
                <a:cs typeface="Times New Roman"/>
              </a:rPr>
              <a:t> </a:t>
            </a:r>
            <a:r>
              <a:rPr sz="2000" dirty="0">
                <a:solidFill>
                  <a:prstClr val="black"/>
                </a:solidFill>
                <a:latin typeface="Times New Roman"/>
                <a:cs typeface="Times New Roman"/>
              </a:rPr>
              <a:t>char).</a:t>
            </a:r>
            <a:r>
              <a:rPr sz="2000" spc="130" dirty="0">
                <a:solidFill>
                  <a:prstClr val="black"/>
                </a:solidFill>
                <a:latin typeface="Times New Roman"/>
                <a:cs typeface="Times New Roman"/>
              </a:rPr>
              <a:t> </a:t>
            </a:r>
            <a:r>
              <a:rPr sz="2000" dirty="0">
                <a:solidFill>
                  <a:prstClr val="black"/>
                </a:solidFill>
                <a:latin typeface="Times New Roman"/>
                <a:cs typeface="Times New Roman"/>
              </a:rPr>
              <a:t>They</a:t>
            </a:r>
            <a:r>
              <a:rPr sz="2000" spc="120" dirty="0">
                <a:solidFill>
                  <a:prstClr val="black"/>
                </a:solidFill>
                <a:latin typeface="Times New Roman"/>
                <a:cs typeface="Times New Roman"/>
              </a:rPr>
              <a:t> </a:t>
            </a:r>
            <a:r>
              <a:rPr sz="2000" dirty="0">
                <a:solidFill>
                  <a:prstClr val="black"/>
                </a:solidFill>
                <a:latin typeface="Times New Roman"/>
                <a:cs typeface="Times New Roman"/>
              </a:rPr>
              <a:t>don’t</a:t>
            </a:r>
            <a:r>
              <a:rPr sz="2000" spc="140" dirty="0">
                <a:solidFill>
                  <a:prstClr val="black"/>
                </a:solidFill>
                <a:latin typeface="Times New Roman"/>
                <a:cs typeface="Times New Roman"/>
              </a:rPr>
              <a:t> </a:t>
            </a:r>
            <a:r>
              <a:rPr sz="2000" dirty="0">
                <a:solidFill>
                  <a:prstClr val="black"/>
                </a:solidFill>
                <a:latin typeface="Times New Roman"/>
                <a:cs typeface="Times New Roman"/>
              </a:rPr>
              <a:t>care</a:t>
            </a:r>
            <a:r>
              <a:rPr sz="2000" spc="125" dirty="0">
                <a:solidFill>
                  <a:prstClr val="black"/>
                </a:solidFill>
                <a:latin typeface="Times New Roman"/>
                <a:cs typeface="Times New Roman"/>
              </a:rPr>
              <a:t> </a:t>
            </a:r>
            <a:r>
              <a:rPr sz="2000" dirty="0">
                <a:solidFill>
                  <a:prstClr val="black"/>
                </a:solidFill>
                <a:latin typeface="Times New Roman"/>
                <a:cs typeface="Times New Roman"/>
              </a:rPr>
              <a:t>how</a:t>
            </a:r>
            <a:r>
              <a:rPr sz="2000" spc="135" dirty="0">
                <a:solidFill>
                  <a:prstClr val="black"/>
                </a:solidFill>
                <a:latin typeface="Times New Roman"/>
                <a:cs typeface="Times New Roman"/>
              </a:rPr>
              <a:t> </a:t>
            </a:r>
            <a:r>
              <a:rPr sz="2000" dirty="0">
                <a:solidFill>
                  <a:prstClr val="black"/>
                </a:solidFill>
                <a:latin typeface="Times New Roman"/>
                <a:cs typeface="Times New Roman"/>
              </a:rPr>
              <a:t>the</a:t>
            </a:r>
            <a:r>
              <a:rPr sz="2000" spc="120" dirty="0">
                <a:solidFill>
                  <a:prstClr val="black"/>
                </a:solidFill>
                <a:latin typeface="Times New Roman"/>
                <a:cs typeface="Times New Roman"/>
              </a:rPr>
              <a:t> </a:t>
            </a:r>
            <a:r>
              <a:rPr sz="2000" dirty="0">
                <a:solidFill>
                  <a:prstClr val="black"/>
                </a:solidFill>
                <a:latin typeface="Times New Roman"/>
                <a:cs typeface="Times New Roman"/>
              </a:rPr>
              <a:t>data</a:t>
            </a:r>
            <a:r>
              <a:rPr sz="2000" spc="130" dirty="0">
                <a:solidFill>
                  <a:prstClr val="black"/>
                </a:solidFill>
                <a:latin typeface="Times New Roman"/>
                <a:cs typeface="Times New Roman"/>
              </a:rPr>
              <a:t> </a:t>
            </a:r>
            <a:r>
              <a:rPr sz="2000" spc="-25" dirty="0">
                <a:solidFill>
                  <a:prstClr val="black"/>
                </a:solidFill>
                <a:latin typeface="Times New Roman"/>
                <a:cs typeface="Times New Roman"/>
              </a:rPr>
              <a:t>is</a:t>
            </a:r>
            <a:endParaRPr sz="2000">
              <a:solidFill>
                <a:prstClr val="black"/>
              </a:solidFill>
              <a:latin typeface="Times New Roman"/>
              <a:cs typeface="Times New Roman"/>
            </a:endParaRPr>
          </a:p>
          <a:p>
            <a:pPr marL="355600">
              <a:lnSpc>
                <a:spcPts val="2375"/>
              </a:lnSpc>
            </a:pPr>
            <a:r>
              <a:rPr sz="2000" dirty="0">
                <a:solidFill>
                  <a:prstClr val="black"/>
                </a:solidFill>
                <a:latin typeface="Times New Roman"/>
                <a:cs typeface="Times New Roman"/>
              </a:rPr>
              <a:t>formatted,</a:t>
            </a:r>
            <a:r>
              <a:rPr sz="2000" spc="-35" dirty="0">
                <a:solidFill>
                  <a:prstClr val="black"/>
                </a:solidFill>
                <a:latin typeface="Times New Roman"/>
                <a:cs typeface="Times New Roman"/>
              </a:rPr>
              <a:t> </a:t>
            </a:r>
            <a:r>
              <a:rPr sz="2000" dirty="0">
                <a:solidFill>
                  <a:prstClr val="black"/>
                </a:solidFill>
                <a:latin typeface="Times New Roman"/>
                <a:cs typeface="Times New Roman"/>
              </a:rPr>
              <a:t>they</a:t>
            </a:r>
            <a:r>
              <a:rPr sz="2000" spc="-20" dirty="0">
                <a:solidFill>
                  <a:prstClr val="black"/>
                </a:solidFill>
                <a:latin typeface="Times New Roman"/>
                <a:cs typeface="Times New Roman"/>
              </a:rPr>
              <a:t> </a:t>
            </a:r>
            <a:r>
              <a:rPr sz="2000" dirty="0">
                <a:solidFill>
                  <a:prstClr val="black"/>
                </a:solidFill>
                <a:latin typeface="Times New Roman"/>
                <a:cs typeface="Times New Roman"/>
              </a:rPr>
              <a:t>simply</a:t>
            </a:r>
            <a:r>
              <a:rPr sz="2000" spc="-10" dirty="0">
                <a:solidFill>
                  <a:prstClr val="black"/>
                </a:solidFill>
                <a:latin typeface="Times New Roman"/>
                <a:cs typeface="Times New Roman"/>
              </a:rPr>
              <a:t> </a:t>
            </a:r>
            <a:r>
              <a:rPr sz="2000" dirty="0">
                <a:solidFill>
                  <a:prstClr val="black"/>
                </a:solidFill>
                <a:latin typeface="Times New Roman"/>
                <a:cs typeface="Times New Roman"/>
              </a:rPr>
              <a:t>transfer</a:t>
            </a:r>
            <a:r>
              <a:rPr sz="2000" spc="-40" dirty="0">
                <a:solidFill>
                  <a:prstClr val="black"/>
                </a:solidFill>
                <a:latin typeface="Times New Roman"/>
                <a:cs typeface="Times New Roman"/>
              </a:rPr>
              <a:t> </a:t>
            </a:r>
            <a:r>
              <a:rPr sz="2000" dirty="0">
                <a:solidFill>
                  <a:prstClr val="black"/>
                </a:solidFill>
                <a:latin typeface="Times New Roman"/>
                <a:cs typeface="Times New Roman"/>
              </a:rPr>
              <a:t>a</a:t>
            </a:r>
            <a:r>
              <a:rPr sz="2000" spc="-5" dirty="0">
                <a:solidFill>
                  <a:prstClr val="black"/>
                </a:solidFill>
                <a:latin typeface="Times New Roman"/>
                <a:cs typeface="Times New Roman"/>
              </a:rPr>
              <a:t> </a:t>
            </a:r>
            <a:r>
              <a:rPr sz="2000" dirty="0">
                <a:solidFill>
                  <a:prstClr val="black"/>
                </a:solidFill>
                <a:latin typeface="Times New Roman"/>
                <a:cs typeface="Times New Roman"/>
              </a:rPr>
              <a:t>buffer</a:t>
            </a:r>
            <a:r>
              <a:rPr sz="2000" spc="-40" dirty="0">
                <a:solidFill>
                  <a:prstClr val="black"/>
                </a:solidFill>
                <a:latin typeface="Times New Roman"/>
                <a:cs typeface="Times New Roman"/>
              </a:rPr>
              <a:t> </a:t>
            </a:r>
            <a:r>
              <a:rPr sz="2000" dirty="0">
                <a:solidFill>
                  <a:prstClr val="black"/>
                </a:solidFill>
                <a:latin typeface="Times New Roman"/>
                <a:cs typeface="Times New Roman"/>
              </a:rPr>
              <a:t>full</a:t>
            </a:r>
            <a:r>
              <a:rPr sz="2000" spc="-45" dirty="0">
                <a:solidFill>
                  <a:prstClr val="black"/>
                </a:solidFill>
                <a:latin typeface="Times New Roman"/>
                <a:cs typeface="Times New Roman"/>
              </a:rPr>
              <a:t> </a:t>
            </a:r>
            <a:r>
              <a:rPr sz="2000" dirty="0">
                <a:solidFill>
                  <a:prstClr val="black"/>
                </a:solidFill>
                <a:latin typeface="Times New Roman"/>
                <a:cs typeface="Times New Roman"/>
              </a:rPr>
              <a:t>of</a:t>
            </a:r>
            <a:r>
              <a:rPr sz="2000" spc="-10" dirty="0">
                <a:solidFill>
                  <a:prstClr val="black"/>
                </a:solidFill>
                <a:latin typeface="Times New Roman"/>
                <a:cs typeface="Times New Roman"/>
              </a:rPr>
              <a:t> </a:t>
            </a:r>
            <a:r>
              <a:rPr sz="2000" dirty="0">
                <a:solidFill>
                  <a:prstClr val="black"/>
                </a:solidFill>
                <a:latin typeface="Times New Roman"/>
                <a:cs typeface="Times New Roman"/>
              </a:rPr>
              <a:t>bytes</a:t>
            </a:r>
            <a:r>
              <a:rPr sz="2000" spc="-30" dirty="0">
                <a:solidFill>
                  <a:prstClr val="black"/>
                </a:solidFill>
                <a:latin typeface="Times New Roman"/>
                <a:cs typeface="Times New Roman"/>
              </a:rPr>
              <a:t> </a:t>
            </a:r>
            <a:r>
              <a:rPr sz="2000" dirty="0">
                <a:solidFill>
                  <a:prstClr val="black"/>
                </a:solidFill>
                <a:latin typeface="Times New Roman"/>
                <a:cs typeface="Times New Roman"/>
              </a:rPr>
              <a:t>from</a:t>
            </a:r>
            <a:r>
              <a:rPr sz="2000" spc="-30" dirty="0">
                <a:solidFill>
                  <a:prstClr val="black"/>
                </a:solidFill>
                <a:latin typeface="Times New Roman"/>
                <a:cs typeface="Times New Roman"/>
              </a:rPr>
              <a:t> </a:t>
            </a:r>
            <a:r>
              <a:rPr sz="2000" dirty="0">
                <a:solidFill>
                  <a:prstClr val="black"/>
                </a:solidFill>
                <a:latin typeface="Times New Roman"/>
                <a:cs typeface="Times New Roman"/>
              </a:rPr>
              <a:t>and</a:t>
            </a:r>
            <a:r>
              <a:rPr sz="2000" spc="-15" dirty="0">
                <a:solidFill>
                  <a:prstClr val="black"/>
                </a:solidFill>
                <a:latin typeface="Times New Roman"/>
                <a:cs typeface="Times New Roman"/>
              </a:rPr>
              <a:t> </a:t>
            </a:r>
            <a:r>
              <a:rPr sz="2000" dirty="0">
                <a:solidFill>
                  <a:prstClr val="black"/>
                </a:solidFill>
                <a:latin typeface="Times New Roman"/>
                <a:cs typeface="Times New Roman"/>
              </a:rPr>
              <a:t>to</a:t>
            </a:r>
            <a:r>
              <a:rPr sz="2000" spc="-10" dirty="0">
                <a:solidFill>
                  <a:prstClr val="black"/>
                </a:solidFill>
                <a:latin typeface="Times New Roman"/>
                <a:cs typeface="Times New Roman"/>
              </a:rPr>
              <a:t> </a:t>
            </a:r>
            <a:r>
              <a:rPr sz="2000" dirty="0">
                <a:solidFill>
                  <a:prstClr val="black"/>
                </a:solidFill>
                <a:latin typeface="Times New Roman"/>
                <a:cs typeface="Times New Roman"/>
              </a:rPr>
              <a:t>a</a:t>
            </a:r>
            <a:r>
              <a:rPr sz="2000" spc="-5" dirty="0">
                <a:solidFill>
                  <a:prstClr val="black"/>
                </a:solidFill>
                <a:latin typeface="Times New Roman"/>
                <a:cs typeface="Times New Roman"/>
              </a:rPr>
              <a:t> </a:t>
            </a:r>
            <a:r>
              <a:rPr sz="2000" dirty="0">
                <a:solidFill>
                  <a:prstClr val="black"/>
                </a:solidFill>
                <a:latin typeface="Times New Roman"/>
                <a:cs typeface="Times New Roman"/>
              </a:rPr>
              <a:t>disk</a:t>
            </a:r>
            <a:r>
              <a:rPr sz="2000" spc="-30" dirty="0">
                <a:solidFill>
                  <a:prstClr val="black"/>
                </a:solidFill>
                <a:latin typeface="Times New Roman"/>
                <a:cs typeface="Times New Roman"/>
              </a:rPr>
              <a:t> </a:t>
            </a:r>
            <a:r>
              <a:rPr sz="2000" spc="-10" dirty="0">
                <a:solidFill>
                  <a:prstClr val="black"/>
                </a:solidFill>
                <a:latin typeface="Times New Roman"/>
                <a:cs typeface="Times New Roman"/>
              </a:rPr>
              <a:t>file.</a:t>
            </a:r>
            <a:endParaRPr sz="2000">
              <a:solidFill>
                <a:prstClr val="black"/>
              </a:solidFill>
              <a:latin typeface="Times New Roman"/>
              <a:cs typeface="Times New Roman"/>
            </a:endParaRPr>
          </a:p>
          <a:p>
            <a:pPr marL="469900">
              <a:lnSpc>
                <a:spcPts val="2375"/>
              </a:lnSpc>
            </a:pPr>
            <a:r>
              <a:rPr sz="2000" b="1" spc="-10" dirty="0">
                <a:solidFill>
                  <a:prstClr val="black"/>
                </a:solidFill>
                <a:cs typeface="Calibri"/>
              </a:rPr>
              <a:t>os.write(</a:t>
            </a:r>
            <a:r>
              <a:rPr sz="2000" b="1" spc="-45" dirty="0">
                <a:solidFill>
                  <a:prstClr val="black"/>
                </a:solidFill>
                <a:cs typeface="Calibri"/>
              </a:rPr>
              <a:t> </a:t>
            </a:r>
            <a:r>
              <a:rPr sz="2000" b="1" spc="-10" dirty="0">
                <a:solidFill>
                  <a:prstClr val="black"/>
                </a:solidFill>
                <a:cs typeface="Calibri"/>
              </a:rPr>
              <a:t>reinterpret_cast&lt;char*&gt;(buff), MAX*sizeof(int)</a:t>
            </a:r>
            <a:r>
              <a:rPr sz="2000" b="1" spc="-45" dirty="0">
                <a:solidFill>
                  <a:prstClr val="black"/>
                </a:solidFill>
                <a:cs typeface="Calibri"/>
              </a:rPr>
              <a:t> </a:t>
            </a:r>
            <a:r>
              <a:rPr sz="2000" b="1" spc="-25" dirty="0">
                <a:solidFill>
                  <a:prstClr val="black"/>
                </a:solidFill>
                <a:cs typeface="Calibri"/>
              </a:rPr>
              <a:t>);</a:t>
            </a:r>
            <a:endParaRPr sz="2000">
              <a:solidFill>
                <a:prstClr val="black"/>
              </a:solidFill>
              <a:cs typeface="Calibri"/>
            </a:endParaRPr>
          </a:p>
          <a:p>
            <a:pPr marL="355600" indent="-342900">
              <a:spcBef>
                <a:spcPts val="50"/>
              </a:spcBef>
              <a:buFont typeface="Arial MT"/>
              <a:buChar char="•"/>
              <a:tabLst>
                <a:tab pos="355600" algn="l"/>
              </a:tabLst>
            </a:pP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parameters</a:t>
            </a:r>
            <a:r>
              <a:rPr sz="2000" spc="-15" dirty="0">
                <a:solidFill>
                  <a:prstClr val="black"/>
                </a:solidFill>
                <a:latin typeface="Times New Roman"/>
                <a:cs typeface="Times New Roman"/>
              </a:rPr>
              <a:t> </a:t>
            </a:r>
            <a:r>
              <a:rPr sz="2000" dirty="0">
                <a:solidFill>
                  <a:prstClr val="black"/>
                </a:solidFill>
                <a:latin typeface="Times New Roman"/>
                <a:cs typeface="Times New Roman"/>
              </a:rPr>
              <a:t>to</a:t>
            </a:r>
            <a:r>
              <a:rPr sz="2000" spc="-10" dirty="0">
                <a:solidFill>
                  <a:prstClr val="black"/>
                </a:solidFill>
                <a:latin typeface="Times New Roman"/>
                <a:cs typeface="Times New Roman"/>
              </a:rPr>
              <a:t> </a:t>
            </a:r>
            <a:r>
              <a:rPr sz="2000" dirty="0">
                <a:solidFill>
                  <a:prstClr val="black"/>
                </a:solidFill>
                <a:latin typeface="Times New Roman"/>
                <a:cs typeface="Times New Roman"/>
              </a:rPr>
              <a:t>write()</a:t>
            </a:r>
            <a:r>
              <a:rPr sz="2000" spc="-35" dirty="0">
                <a:solidFill>
                  <a:prstClr val="black"/>
                </a:solidFill>
                <a:latin typeface="Times New Roman"/>
                <a:cs typeface="Times New Roman"/>
              </a:rPr>
              <a:t> </a:t>
            </a:r>
            <a:r>
              <a:rPr sz="2000" dirty="0">
                <a:solidFill>
                  <a:prstClr val="black"/>
                </a:solidFill>
                <a:latin typeface="Times New Roman"/>
                <a:cs typeface="Times New Roman"/>
              </a:rPr>
              <a:t>and read()</a:t>
            </a:r>
            <a:r>
              <a:rPr sz="2000" spc="-40" dirty="0">
                <a:solidFill>
                  <a:prstClr val="black"/>
                </a:solidFill>
                <a:latin typeface="Times New Roman"/>
                <a:cs typeface="Times New Roman"/>
              </a:rPr>
              <a:t> </a:t>
            </a:r>
            <a:r>
              <a:rPr sz="2000" dirty="0">
                <a:solidFill>
                  <a:prstClr val="black"/>
                </a:solidFill>
                <a:latin typeface="Times New Roman"/>
                <a:cs typeface="Times New Roman"/>
              </a:rPr>
              <a:t>are</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dirty="0">
                <a:solidFill>
                  <a:prstClr val="black"/>
                </a:solidFill>
                <a:latin typeface="Times New Roman"/>
                <a:cs typeface="Times New Roman"/>
              </a:rPr>
              <a:t>address</a:t>
            </a:r>
            <a:r>
              <a:rPr sz="2000" spc="-25"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b="1" dirty="0">
                <a:solidFill>
                  <a:prstClr val="black"/>
                </a:solidFill>
                <a:latin typeface="Times New Roman"/>
                <a:cs typeface="Times New Roman"/>
              </a:rPr>
              <a:t>data</a:t>
            </a:r>
            <a:r>
              <a:rPr sz="2000" b="1" spc="-20" dirty="0">
                <a:solidFill>
                  <a:prstClr val="black"/>
                </a:solidFill>
                <a:latin typeface="Times New Roman"/>
                <a:cs typeface="Times New Roman"/>
              </a:rPr>
              <a:t> </a:t>
            </a:r>
            <a:r>
              <a:rPr sz="2000" b="1" dirty="0">
                <a:solidFill>
                  <a:prstClr val="black"/>
                </a:solidFill>
                <a:latin typeface="Times New Roman"/>
                <a:cs typeface="Times New Roman"/>
              </a:rPr>
              <a:t>buffer</a:t>
            </a:r>
            <a:r>
              <a:rPr sz="2000" b="1" spc="-70" dirty="0">
                <a:solidFill>
                  <a:prstClr val="black"/>
                </a:solidFill>
                <a:latin typeface="Times New Roman"/>
                <a:cs typeface="Times New Roman"/>
              </a:rPr>
              <a:t> </a:t>
            </a:r>
            <a:r>
              <a:rPr sz="2000" dirty="0">
                <a:solidFill>
                  <a:prstClr val="black"/>
                </a:solidFill>
                <a:latin typeface="Times New Roman"/>
                <a:cs typeface="Times New Roman"/>
              </a:rPr>
              <a:t>and</a:t>
            </a:r>
            <a:r>
              <a:rPr sz="2000" spc="-10" dirty="0">
                <a:solidFill>
                  <a:prstClr val="black"/>
                </a:solidFill>
                <a:latin typeface="Times New Roman"/>
                <a:cs typeface="Times New Roman"/>
              </a:rPr>
              <a:t> </a:t>
            </a:r>
            <a:r>
              <a:rPr sz="2000" dirty="0">
                <a:solidFill>
                  <a:prstClr val="black"/>
                </a:solidFill>
                <a:latin typeface="Times New Roman"/>
                <a:cs typeface="Times New Roman"/>
              </a:rPr>
              <a:t>its</a:t>
            </a:r>
            <a:r>
              <a:rPr sz="2000" spc="-10" dirty="0">
                <a:solidFill>
                  <a:prstClr val="black"/>
                </a:solidFill>
                <a:latin typeface="Times New Roman"/>
                <a:cs typeface="Times New Roman"/>
              </a:rPr>
              <a:t> </a:t>
            </a:r>
            <a:r>
              <a:rPr sz="2000" b="1" spc="-10" dirty="0">
                <a:solidFill>
                  <a:prstClr val="black"/>
                </a:solidFill>
                <a:latin typeface="Times New Roman"/>
                <a:cs typeface="Times New Roman"/>
              </a:rPr>
              <a:t>length</a:t>
            </a:r>
            <a:r>
              <a:rPr sz="2000" spc="-10" dirty="0">
                <a:solidFill>
                  <a:prstClr val="black"/>
                </a:solidFill>
                <a:latin typeface="Times New Roman"/>
                <a:cs typeface="Times New Roman"/>
              </a:rPr>
              <a:t>.</a:t>
            </a:r>
            <a:endParaRPr sz="2000">
              <a:solidFill>
                <a:prstClr val="black"/>
              </a:solidFill>
              <a:latin typeface="Times New Roman"/>
              <a:cs typeface="Times New Roman"/>
            </a:endParaRPr>
          </a:p>
          <a:p>
            <a:pPr marL="355600" indent="-342900">
              <a:buFont typeface="Arial MT"/>
              <a:buChar char="•"/>
              <a:tabLst>
                <a:tab pos="355600" algn="l"/>
              </a:tabLst>
            </a:pPr>
            <a:r>
              <a:rPr sz="2000" dirty="0">
                <a:solidFill>
                  <a:prstClr val="black"/>
                </a:solidFill>
                <a:latin typeface="Times New Roman"/>
                <a:cs typeface="Times New Roman"/>
              </a:rPr>
              <a:t>The</a:t>
            </a:r>
            <a:r>
              <a:rPr sz="2000" spc="165" dirty="0">
                <a:solidFill>
                  <a:prstClr val="black"/>
                </a:solidFill>
                <a:latin typeface="Times New Roman"/>
                <a:cs typeface="Times New Roman"/>
              </a:rPr>
              <a:t> </a:t>
            </a:r>
            <a:r>
              <a:rPr sz="2000" dirty="0">
                <a:solidFill>
                  <a:prstClr val="black"/>
                </a:solidFill>
                <a:latin typeface="Times New Roman"/>
                <a:cs typeface="Times New Roman"/>
              </a:rPr>
              <a:t>address</a:t>
            </a:r>
            <a:r>
              <a:rPr sz="2000" spc="150" dirty="0">
                <a:solidFill>
                  <a:prstClr val="black"/>
                </a:solidFill>
                <a:latin typeface="Times New Roman"/>
                <a:cs typeface="Times New Roman"/>
              </a:rPr>
              <a:t> </a:t>
            </a:r>
            <a:r>
              <a:rPr sz="2000" dirty="0">
                <a:solidFill>
                  <a:prstClr val="black"/>
                </a:solidFill>
                <a:latin typeface="Times New Roman"/>
                <a:cs typeface="Times New Roman"/>
              </a:rPr>
              <a:t>must</a:t>
            </a:r>
            <a:r>
              <a:rPr sz="2000" spc="140" dirty="0">
                <a:solidFill>
                  <a:prstClr val="black"/>
                </a:solidFill>
                <a:latin typeface="Times New Roman"/>
                <a:cs typeface="Times New Roman"/>
              </a:rPr>
              <a:t> </a:t>
            </a:r>
            <a:r>
              <a:rPr sz="2000" dirty="0">
                <a:solidFill>
                  <a:prstClr val="black"/>
                </a:solidFill>
                <a:latin typeface="Times New Roman"/>
                <a:cs typeface="Times New Roman"/>
              </a:rPr>
              <a:t>be</a:t>
            </a:r>
            <a:r>
              <a:rPr sz="2000" spc="160" dirty="0">
                <a:solidFill>
                  <a:prstClr val="black"/>
                </a:solidFill>
                <a:latin typeface="Times New Roman"/>
                <a:cs typeface="Times New Roman"/>
              </a:rPr>
              <a:t> </a:t>
            </a:r>
            <a:r>
              <a:rPr sz="2000" dirty="0">
                <a:solidFill>
                  <a:prstClr val="black"/>
                </a:solidFill>
                <a:latin typeface="Times New Roman"/>
                <a:cs typeface="Times New Roman"/>
              </a:rPr>
              <a:t>cast,</a:t>
            </a:r>
            <a:r>
              <a:rPr sz="2000" spc="155" dirty="0">
                <a:solidFill>
                  <a:prstClr val="black"/>
                </a:solidFill>
                <a:latin typeface="Times New Roman"/>
                <a:cs typeface="Times New Roman"/>
              </a:rPr>
              <a:t> </a:t>
            </a:r>
            <a:r>
              <a:rPr sz="2000" dirty="0">
                <a:solidFill>
                  <a:prstClr val="black"/>
                </a:solidFill>
                <a:latin typeface="Times New Roman"/>
                <a:cs typeface="Times New Roman"/>
              </a:rPr>
              <a:t>using</a:t>
            </a:r>
            <a:r>
              <a:rPr sz="2000" spc="160" dirty="0">
                <a:solidFill>
                  <a:prstClr val="black"/>
                </a:solidFill>
                <a:latin typeface="Times New Roman"/>
                <a:cs typeface="Times New Roman"/>
              </a:rPr>
              <a:t> </a:t>
            </a:r>
            <a:r>
              <a:rPr sz="2000" b="1" i="1" dirty="0">
                <a:solidFill>
                  <a:prstClr val="black"/>
                </a:solidFill>
                <a:latin typeface="Times New Roman"/>
                <a:cs typeface="Times New Roman"/>
              </a:rPr>
              <a:t>reinterpret</a:t>
            </a:r>
            <a:r>
              <a:rPr sz="2000" dirty="0">
                <a:solidFill>
                  <a:prstClr val="black"/>
                </a:solidFill>
                <a:latin typeface="Times New Roman"/>
                <a:cs typeface="Times New Roman"/>
              </a:rPr>
              <a:t>_cast,</a:t>
            </a:r>
            <a:r>
              <a:rPr sz="2000" spc="165" dirty="0">
                <a:solidFill>
                  <a:prstClr val="black"/>
                </a:solidFill>
                <a:latin typeface="Times New Roman"/>
                <a:cs typeface="Times New Roman"/>
              </a:rPr>
              <a:t> </a:t>
            </a:r>
            <a:r>
              <a:rPr sz="2000" dirty="0">
                <a:solidFill>
                  <a:prstClr val="black"/>
                </a:solidFill>
                <a:latin typeface="Times New Roman"/>
                <a:cs typeface="Times New Roman"/>
              </a:rPr>
              <a:t>to</a:t>
            </a:r>
            <a:r>
              <a:rPr sz="2000" spc="160" dirty="0">
                <a:solidFill>
                  <a:prstClr val="black"/>
                </a:solidFill>
                <a:latin typeface="Times New Roman"/>
                <a:cs typeface="Times New Roman"/>
              </a:rPr>
              <a:t> </a:t>
            </a:r>
            <a:r>
              <a:rPr sz="2000" dirty="0">
                <a:solidFill>
                  <a:prstClr val="black"/>
                </a:solidFill>
                <a:latin typeface="Times New Roman"/>
                <a:cs typeface="Times New Roman"/>
              </a:rPr>
              <a:t>type</a:t>
            </a:r>
            <a:r>
              <a:rPr sz="2000" spc="145" dirty="0">
                <a:solidFill>
                  <a:prstClr val="black"/>
                </a:solidFill>
                <a:latin typeface="Times New Roman"/>
                <a:cs typeface="Times New Roman"/>
              </a:rPr>
              <a:t> </a:t>
            </a:r>
            <a:r>
              <a:rPr sz="2000" b="1" i="1" dirty="0">
                <a:solidFill>
                  <a:prstClr val="black"/>
                </a:solidFill>
                <a:latin typeface="Times New Roman"/>
                <a:cs typeface="Times New Roman"/>
              </a:rPr>
              <a:t>char*,</a:t>
            </a:r>
            <a:r>
              <a:rPr sz="2000" b="1" i="1" spc="160" dirty="0">
                <a:solidFill>
                  <a:prstClr val="black"/>
                </a:solidFill>
                <a:latin typeface="Times New Roman"/>
                <a:cs typeface="Times New Roman"/>
              </a:rPr>
              <a:t> </a:t>
            </a:r>
            <a:r>
              <a:rPr sz="2000" dirty="0">
                <a:solidFill>
                  <a:prstClr val="black"/>
                </a:solidFill>
                <a:latin typeface="Times New Roman"/>
                <a:cs typeface="Times New Roman"/>
              </a:rPr>
              <a:t>and</a:t>
            </a:r>
            <a:r>
              <a:rPr sz="2000" spc="160" dirty="0">
                <a:solidFill>
                  <a:prstClr val="black"/>
                </a:solidFill>
                <a:latin typeface="Times New Roman"/>
                <a:cs typeface="Times New Roman"/>
              </a:rPr>
              <a:t> </a:t>
            </a:r>
            <a:r>
              <a:rPr sz="2000" dirty="0">
                <a:solidFill>
                  <a:prstClr val="black"/>
                </a:solidFill>
                <a:latin typeface="Times New Roman"/>
                <a:cs typeface="Times New Roman"/>
              </a:rPr>
              <a:t>the</a:t>
            </a:r>
            <a:r>
              <a:rPr sz="2000" spc="160" dirty="0">
                <a:solidFill>
                  <a:prstClr val="black"/>
                </a:solidFill>
                <a:latin typeface="Times New Roman"/>
                <a:cs typeface="Times New Roman"/>
              </a:rPr>
              <a:t> </a:t>
            </a:r>
            <a:r>
              <a:rPr sz="2000" dirty="0">
                <a:solidFill>
                  <a:prstClr val="black"/>
                </a:solidFill>
                <a:latin typeface="Times New Roman"/>
                <a:cs typeface="Times New Roman"/>
              </a:rPr>
              <a:t>length</a:t>
            </a:r>
            <a:r>
              <a:rPr sz="2000" spc="160" dirty="0">
                <a:solidFill>
                  <a:prstClr val="black"/>
                </a:solidFill>
                <a:latin typeface="Times New Roman"/>
                <a:cs typeface="Times New Roman"/>
              </a:rPr>
              <a:t> </a:t>
            </a:r>
            <a:r>
              <a:rPr sz="2000" dirty="0">
                <a:solidFill>
                  <a:prstClr val="black"/>
                </a:solidFill>
                <a:latin typeface="Times New Roman"/>
                <a:cs typeface="Times New Roman"/>
              </a:rPr>
              <a:t>is</a:t>
            </a:r>
            <a:r>
              <a:rPr sz="2000" spc="150" dirty="0">
                <a:solidFill>
                  <a:prstClr val="black"/>
                </a:solidFill>
                <a:latin typeface="Times New Roman"/>
                <a:cs typeface="Times New Roman"/>
              </a:rPr>
              <a:t> </a:t>
            </a:r>
            <a:r>
              <a:rPr sz="2000" dirty="0">
                <a:solidFill>
                  <a:prstClr val="black"/>
                </a:solidFill>
                <a:latin typeface="Times New Roman"/>
                <a:cs typeface="Times New Roman"/>
              </a:rPr>
              <a:t>the</a:t>
            </a:r>
            <a:r>
              <a:rPr sz="2000" spc="155" dirty="0">
                <a:solidFill>
                  <a:prstClr val="black"/>
                </a:solidFill>
                <a:latin typeface="Times New Roman"/>
                <a:cs typeface="Times New Roman"/>
              </a:rPr>
              <a:t> </a:t>
            </a:r>
            <a:r>
              <a:rPr sz="2000" dirty="0">
                <a:solidFill>
                  <a:prstClr val="black"/>
                </a:solidFill>
                <a:latin typeface="Times New Roman"/>
                <a:cs typeface="Times New Roman"/>
              </a:rPr>
              <a:t>length</a:t>
            </a:r>
            <a:r>
              <a:rPr sz="2000" spc="155" dirty="0">
                <a:solidFill>
                  <a:prstClr val="black"/>
                </a:solidFill>
                <a:latin typeface="Times New Roman"/>
                <a:cs typeface="Times New Roman"/>
              </a:rPr>
              <a:t> </a:t>
            </a:r>
            <a:r>
              <a:rPr sz="2000" spc="-25" dirty="0">
                <a:solidFill>
                  <a:prstClr val="black"/>
                </a:solidFill>
                <a:latin typeface="Times New Roman"/>
                <a:cs typeface="Times New Roman"/>
              </a:rPr>
              <a:t>in</a:t>
            </a:r>
            <a:endParaRPr sz="2000">
              <a:solidFill>
                <a:prstClr val="black"/>
              </a:solidFill>
              <a:latin typeface="Times New Roman"/>
              <a:cs typeface="Times New Roman"/>
            </a:endParaRPr>
          </a:p>
          <a:p>
            <a:pPr marL="355600">
              <a:spcBef>
                <a:spcPts val="5"/>
              </a:spcBef>
            </a:pPr>
            <a:r>
              <a:rPr sz="2000" b="1" i="1" dirty="0">
                <a:solidFill>
                  <a:prstClr val="black"/>
                </a:solidFill>
                <a:latin typeface="Times New Roman"/>
                <a:cs typeface="Times New Roman"/>
              </a:rPr>
              <a:t>bytes</a:t>
            </a:r>
            <a:r>
              <a:rPr sz="2000" b="1" i="1" spc="-30" dirty="0">
                <a:solidFill>
                  <a:prstClr val="black"/>
                </a:solidFill>
                <a:latin typeface="Times New Roman"/>
                <a:cs typeface="Times New Roman"/>
              </a:rPr>
              <a:t> </a:t>
            </a:r>
            <a:r>
              <a:rPr sz="2000" b="1" i="1" dirty="0">
                <a:solidFill>
                  <a:prstClr val="black"/>
                </a:solidFill>
                <a:latin typeface="Times New Roman"/>
                <a:cs typeface="Times New Roman"/>
              </a:rPr>
              <a:t>(characters)</a:t>
            </a:r>
            <a:r>
              <a:rPr sz="2000" dirty="0">
                <a:solidFill>
                  <a:prstClr val="black"/>
                </a:solidFill>
                <a:latin typeface="Times New Roman"/>
                <a:cs typeface="Times New Roman"/>
              </a:rPr>
              <a:t>,</a:t>
            </a:r>
            <a:r>
              <a:rPr sz="2000" spc="-50" dirty="0">
                <a:solidFill>
                  <a:prstClr val="black"/>
                </a:solidFill>
                <a:latin typeface="Times New Roman"/>
                <a:cs typeface="Times New Roman"/>
              </a:rPr>
              <a:t> </a:t>
            </a:r>
            <a:r>
              <a:rPr sz="2000" dirty="0">
                <a:solidFill>
                  <a:prstClr val="black"/>
                </a:solidFill>
                <a:latin typeface="Times New Roman"/>
                <a:cs typeface="Times New Roman"/>
              </a:rPr>
              <a:t>not</a:t>
            </a:r>
            <a:r>
              <a:rPr sz="2000" spc="-30"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dirty="0">
                <a:solidFill>
                  <a:prstClr val="black"/>
                </a:solidFill>
                <a:latin typeface="Times New Roman"/>
                <a:cs typeface="Times New Roman"/>
              </a:rPr>
              <a:t>number</a:t>
            </a:r>
            <a:r>
              <a:rPr sz="2000" spc="-15" dirty="0">
                <a:solidFill>
                  <a:prstClr val="black"/>
                </a:solidFill>
                <a:latin typeface="Times New Roman"/>
                <a:cs typeface="Times New Roman"/>
              </a:rPr>
              <a:t> </a:t>
            </a:r>
            <a:r>
              <a:rPr sz="2000" dirty="0">
                <a:solidFill>
                  <a:prstClr val="black"/>
                </a:solidFill>
                <a:latin typeface="Times New Roman"/>
                <a:cs typeface="Times New Roman"/>
              </a:rPr>
              <a:t>of</a:t>
            </a:r>
            <a:r>
              <a:rPr sz="2000" spc="-25" dirty="0">
                <a:solidFill>
                  <a:prstClr val="black"/>
                </a:solidFill>
                <a:latin typeface="Times New Roman"/>
                <a:cs typeface="Times New Roman"/>
              </a:rPr>
              <a:t> </a:t>
            </a:r>
            <a:r>
              <a:rPr sz="2000" dirty="0">
                <a:solidFill>
                  <a:prstClr val="black"/>
                </a:solidFill>
                <a:latin typeface="Times New Roman"/>
                <a:cs typeface="Times New Roman"/>
              </a:rPr>
              <a:t>data</a:t>
            </a:r>
            <a:r>
              <a:rPr sz="2000" spc="-15" dirty="0">
                <a:solidFill>
                  <a:prstClr val="black"/>
                </a:solidFill>
                <a:latin typeface="Times New Roman"/>
                <a:cs typeface="Times New Roman"/>
              </a:rPr>
              <a:t> </a:t>
            </a:r>
            <a:r>
              <a:rPr sz="2000" dirty="0">
                <a:solidFill>
                  <a:prstClr val="black"/>
                </a:solidFill>
                <a:latin typeface="Times New Roman"/>
                <a:cs typeface="Times New Roman"/>
              </a:rPr>
              <a:t>items in</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buffer.</a:t>
            </a:r>
            <a:endParaRPr sz="2000">
              <a:solidFill>
                <a:prstClr val="black"/>
              </a:solidFill>
              <a:latin typeface="Times New Roman"/>
              <a:cs typeface="Times New Roman"/>
            </a:endParaRPr>
          </a:p>
        </p:txBody>
      </p:sp>
      <p:sp>
        <p:nvSpPr>
          <p:cNvPr id="8" name="Date Placeholder 7">
            <a:extLst>
              <a:ext uri="{FF2B5EF4-FFF2-40B4-BE49-F238E27FC236}">
                <a16:creationId xmlns:a16="http://schemas.microsoft.com/office/drawing/2014/main" id="{209C5602-D404-AE2E-D589-FD5FA068E099}"/>
              </a:ext>
            </a:extLst>
          </p:cNvPr>
          <p:cNvSpPr>
            <a:spLocks noGrp="1"/>
          </p:cNvSpPr>
          <p:nvPr>
            <p:ph type="dt" sz="half" idx="10"/>
          </p:nvPr>
        </p:nvSpPr>
        <p:spPr/>
        <p:txBody>
          <a:bodyPr/>
          <a:lstStyle/>
          <a:p>
            <a:fld id="{E1FA6626-FC79-4CA8-909B-DEFC67752738}" type="datetime1">
              <a:rPr lang="en-US" smtClean="0">
                <a:solidFill>
                  <a:prstClr val="black">
                    <a:tint val="75000"/>
                  </a:prstClr>
                </a:solidFill>
              </a:rPr>
              <a:pPr/>
              <a:t>11/17/2025</a:t>
            </a:fld>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CC83D810-0B85-C5D1-DF20-FD719811AD15}"/>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86</a:t>
            </a:fld>
            <a:endParaRPr spc="-25" dirty="0">
              <a:solidFill>
                <a:prstClr val="black">
                  <a:tint val="75000"/>
                </a:prstClr>
              </a:solidFill>
            </a:endParaRPr>
          </a:p>
        </p:txBody>
      </p:sp>
    </p:spTree>
    <p:extLst>
      <p:ext uri="{BB962C8B-B14F-4D97-AF65-F5344CB8AC3E}">
        <p14:creationId xmlns:p14="http://schemas.microsoft.com/office/powerpoint/2010/main" val="38733396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Binary</a:t>
            </a:r>
            <a:r>
              <a:rPr spc="-100" dirty="0"/>
              <a:t> </a:t>
            </a:r>
            <a:r>
              <a:rPr spc="-25" dirty="0"/>
              <a:t>I/O</a:t>
            </a:r>
          </a:p>
        </p:txBody>
      </p:sp>
      <p:sp>
        <p:nvSpPr>
          <p:cNvPr id="14" name="object 14"/>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574368"/>
            <a:ext cx="3498215" cy="2160905"/>
          </a:xfrm>
          <a:prstGeom prst="rect">
            <a:avLst/>
          </a:prstGeom>
        </p:spPr>
        <p:txBody>
          <a:bodyPr vert="horz" wrap="square" lIns="0" tIns="13335" rIns="0" bIns="0" rtlCol="0">
            <a:spAutoFit/>
          </a:bodyPr>
          <a:lstStyle/>
          <a:p>
            <a:pPr marL="351790" marR="5080" indent="-339725" algn="just">
              <a:spcBef>
                <a:spcPts val="105"/>
              </a:spcBef>
              <a:buFont typeface="Arial MT"/>
              <a:buChar char="•"/>
              <a:tabLst>
                <a:tab pos="355600" algn="l"/>
              </a:tabLst>
            </a:pPr>
            <a:r>
              <a:rPr sz="2000" dirty="0">
                <a:solidFill>
                  <a:prstClr val="black"/>
                </a:solidFill>
                <a:latin typeface="Times New Roman"/>
                <a:cs typeface="Times New Roman"/>
              </a:rPr>
              <a:t>Here</a:t>
            </a:r>
            <a:r>
              <a:rPr sz="2000" spc="30" dirty="0">
                <a:solidFill>
                  <a:prstClr val="black"/>
                </a:solidFill>
                <a:latin typeface="Times New Roman"/>
                <a:cs typeface="Times New Roman"/>
              </a:rPr>
              <a:t>  </a:t>
            </a:r>
            <a:r>
              <a:rPr sz="2000" dirty="0">
                <a:solidFill>
                  <a:prstClr val="black"/>
                </a:solidFill>
                <a:latin typeface="Times New Roman"/>
                <a:cs typeface="Times New Roman"/>
              </a:rPr>
              <a:t>both</a:t>
            </a:r>
            <a:r>
              <a:rPr sz="2000" spc="40" dirty="0">
                <a:solidFill>
                  <a:prstClr val="black"/>
                </a:solidFill>
                <a:latin typeface="Times New Roman"/>
                <a:cs typeface="Times New Roman"/>
              </a:rPr>
              <a:t>  </a:t>
            </a:r>
            <a:r>
              <a:rPr sz="2000" dirty="0">
                <a:solidFill>
                  <a:prstClr val="black"/>
                </a:solidFill>
                <a:latin typeface="Times New Roman"/>
                <a:cs typeface="Times New Roman"/>
              </a:rPr>
              <a:t>the</a:t>
            </a:r>
            <a:r>
              <a:rPr sz="2000" spc="30" dirty="0">
                <a:solidFill>
                  <a:prstClr val="black"/>
                </a:solidFill>
                <a:latin typeface="Times New Roman"/>
                <a:cs typeface="Times New Roman"/>
              </a:rPr>
              <a:t>  </a:t>
            </a:r>
            <a:r>
              <a:rPr sz="2000" dirty="0">
                <a:solidFill>
                  <a:prstClr val="black"/>
                </a:solidFill>
                <a:latin typeface="Times New Roman"/>
                <a:cs typeface="Times New Roman"/>
              </a:rPr>
              <a:t>output</a:t>
            </a:r>
            <a:r>
              <a:rPr sz="2000" spc="30" dirty="0">
                <a:solidFill>
                  <a:prstClr val="black"/>
                </a:solidFill>
                <a:latin typeface="Times New Roman"/>
                <a:cs typeface="Times New Roman"/>
              </a:rPr>
              <a:t>  </a:t>
            </a:r>
            <a:r>
              <a:rPr sz="2000" spc="-10" dirty="0">
                <a:solidFill>
                  <a:prstClr val="black"/>
                </a:solidFill>
                <a:latin typeface="Times New Roman"/>
                <a:cs typeface="Times New Roman"/>
              </a:rPr>
              <a:t>stream 	</a:t>
            </a:r>
            <a:r>
              <a:rPr sz="2000" dirty="0">
                <a:solidFill>
                  <a:prstClr val="black"/>
                </a:solidFill>
                <a:latin typeface="Times New Roman"/>
                <a:cs typeface="Times New Roman"/>
              </a:rPr>
              <a:t>and</a:t>
            </a:r>
            <a:r>
              <a:rPr sz="2000" spc="425" dirty="0">
                <a:solidFill>
                  <a:prstClr val="black"/>
                </a:solidFill>
                <a:latin typeface="Times New Roman"/>
                <a:cs typeface="Times New Roman"/>
              </a:rPr>
              <a:t>  </a:t>
            </a:r>
            <a:r>
              <a:rPr sz="2000" dirty="0">
                <a:solidFill>
                  <a:prstClr val="black"/>
                </a:solidFill>
                <a:latin typeface="Times New Roman"/>
                <a:cs typeface="Times New Roman"/>
              </a:rPr>
              <a:t>the</a:t>
            </a:r>
            <a:r>
              <a:rPr sz="2000" spc="430" dirty="0">
                <a:solidFill>
                  <a:prstClr val="black"/>
                </a:solidFill>
                <a:latin typeface="Times New Roman"/>
                <a:cs typeface="Times New Roman"/>
              </a:rPr>
              <a:t>  </a:t>
            </a:r>
            <a:r>
              <a:rPr sz="2000" dirty="0">
                <a:solidFill>
                  <a:prstClr val="black"/>
                </a:solidFill>
                <a:latin typeface="Times New Roman"/>
                <a:cs typeface="Times New Roman"/>
              </a:rPr>
              <a:t>input</a:t>
            </a:r>
            <a:r>
              <a:rPr sz="2000" spc="420" dirty="0">
                <a:solidFill>
                  <a:prstClr val="black"/>
                </a:solidFill>
                <a:latin typeface="Times New Roman"/>
                <a:cs typeface="Times New Roman"/>
              </a:rPr>
              <a:t>  </a:t>
            </a:r>
            <a:r>
              <a:rPr sz="2000" dirty="0">
                <a:solidFill>
                  <a:prstClr val="black"/>
                </a:solidFill>
                <a:latin typeface="Times New Roman"/>
                <a:cs typeface="Times New Roman"/>
              </a:rPr>
              <a:t>stream</a:t>
            </a:r>
            <a:r>
              <a:rPr sz="2000" spc="420" dirty="0">
                <a:solidFill>
                  <a:prstClr val="black"/>
                </a:solidFill>
                <a:latin typeface="Times New Roman"/>
                <a:cs typeface="Times New Roman"/>
              </a:rPr>
              <a:t>  </a:t>
            </a:r>
            <a:r>
              <a:rPr sz="2000" spc="-25" dirty="0">
                <a:solidFill>
                  <a:prstClr val="black"/>
                </a:solidFill>
                <a:latin typeface="Times New Roman"/>
                <a:cs typeface="Times New Roman"/>
              </a:rPr>
              <a:t>are 	</a:t>
            </a:r>
            <a:r>
              <a:rPr sz="2000" dirty="0">
                <a:solidFill>
                  <a:prstClr val="black"/>
                </a:solidFill>
                <a:latin typeface="Times New Roman"/>
                <a:cs typeface="Times New Roman"/>
              </a:rPr>
              <a:t>associated</a:t>
            </a:r>
            <a:r>
              <a:rPr sz="2000" spc="280" dirty="0">
                <a:solidFill>
                  <a:prstClr val="black"/>
                </a:solidFill>
                <a:latin typeface="Times New Roman"/>
                <a:cs typeface="Times New Roman"/>
              </a:rPr>
              <a:t> </a:t>
            </a:r>
            <a:r>
              <a:rPr sz="2000" dirty="0">
                <a:solidFill>
                  <a:prstClr val="black"/>
                </a:solidFill>
                <a:latin typeface="Times New Roman"/>
                <a:cs typeface="Times New Roman"/>
              </a:rPr>
              <a:t>with</a:t>
            </a:r>
            <a:r>
              <a:rPr sz="2000" spc="275" dirty="0">
                <a:solidFill>
                  <a:prstClr val="black"/>
                </a:solidFill>
                <a:latin typeface="Times New Roman"/>
                <a:cs typeface="Times New Roman"/>
              </a:rPr>
              <a:t> </a:t>
            </a:r>
            <a:r>
              <a:rPr sz="2000" dirty="0">
                <a:solidFill>
                  <a:prstClr val="black"/>
                </a:solidFill>
                <a:latin typeface="Times New Roman"/>
                <a:cs typeface="Times New Roman"/>
              </a:rPr>
              <a:t>the</a:t>
            </a:r>
            <a:r>
              <a:rPr sz="2000" spc="265" dirty="0">
                <a:solidFill>
                  <a:prstClr val="black"/>
                </a:solidFill>
                <a:latin typeface="Times New Roman"/>
                <a:cs typeface="Times New Roman"/>
              </a:rPr>
              <a:t> </a:t>
            </a:r>
            <a:r>
              <a:rPr sz="2000" dirty="0">
                <a:solidFill>
                  <a:prstClr val="black"/>
                </a:solidFill>
                <a:latin typeface="Times New Roman"/>
                <a:cs typeface="Times New Roman"/>
              </a:rPr>
              <a:t>same</a:t>
            </a:r>
            <a:r>
              <a:rPr sz="2000" spc="275" dirty="0">
                <a:solidFill>
                  <a:prstClr val="black"/>
                </a:solidFill>
                <a:latin typeface="Times New Roman"/>
                <a:cs typeface="Times New Roman"/>
              </a:rPr>
              <a:t> </a:t>
            </a:r>
            <a:r>
              <a:rPr sz="2000" spc="-20" dirty="0">
                <a:solidFill>
                  <a:prstClr val="black"/>
                </a:solidFill>
                <a:latin typeface="Times New Roman"/>
                <a:cs typeface="Times New Roman"/>
              </a:rPr>
              <a:t>file, 	</a:t>
            </a:r>
            <a:r>
              <a:rPr sz="2000" dirty="0">
                <a:solidFill>
                  <a:prstClr val="black"/>
                </a:solidFill>
                <a:latin typeface="Times New Roman"/>
                <a:cs typeface="Times New Roman"/>
              </a:rPr>
              <a:t>the</a:t>
            </a:r>
            <a:r>
              <a:rPr sz="2000" spc="40" dirty="0">
                <a:solidFill>
                  <a:prstClr val="black"/>
                </a:solidFill>
                <a:latin typeface="Times New Roman"/>
                <a:cs typeface="Times New Roman"/>
              </a:rPr>
              <a:t> </a:t>
            </a:r>
            <a:r>
              <a:rPr sz="2000" dirty="0">
                <a:solidFill>
                  <a:prstClr val="black"/>
                </a:solidFill>
                <a:latin typeface="Times New Roman"/>
                <a:cs typeface="Times New Roman"/>
              </a:rPr>
              <a:t>first</a:t>
            </a:r>
            <a:r>
              <a:rPr sz="2000" spc="40" dirty="0">
                <a:solidFill>
                  <a:prstClr val="black"/>
                </a:solidFill>
                <a:latin typeface="Times New Roman"/>
                <a:cs typeface="Times New Roman"/>
              </a:rPr>
              <a:t> </a:t>
            </a:r>
            <a:r>
              <a:rPr sz="2000" dirty="0">
                <a:solidFill>
                  <a:prstClr val="black"/>
                </a:solidFill>
                <a:latin typeface="Times New Roman"/>
                <a:cs typeface="Times New Roman"/>
              </a:rPr>
              <a:t>stream</a:t>
            </a:r>
            <a:r>
              <a:rPr sz="2000" spc="30" dirty="0">
                <a:solidFill>
                  <a:prstClr val="black"/>
                </a:solidFill>
                <a:latin typeface="Times New Roman"/>
                <a:cs typeface="Times New Roman"/>
              </a:rPr>
              <a:t> </a:t>
            </a:r>
            <a:r>
              <a:rPr sz="2000" dirty="0">
                <a:solidFill>
                  <a:prstClr val="black"/>
                </a:solidFill>
                <a:latin typeface="Times New Roman"/>
                <a:cs typeface="Times New Roman"/>
              </a:rPr>
              <a:t>must</a:t>
            </a:r>
            <a:r>
              <a:rPr sz="2000" spc="50" dirty="0">
                <a:solidFill>
                  <a:prstClr val="black"/>
                </a:solidFill>
                <a:latin typeface="Times New Roman"/>
                <a:cs typeface="Times New Roman"/>
              </a:rPr>
              <a:t> </a:t>
            </a:r>
            <a:r>
              <a:rPr sz="2000" dirty="0">
                <a:solidFill>
                  <a:prstClr val="black"/>
                </a:solidFill>
                <a:latin typeface="Times New Roman"/>
                <a:cs typeface="Times New Roman"/>
              </a:rPr>
              <a:t>be</a:t>
            </a:r>
            <a:r>
              <a:rPr sz="2000" spc="55" dirty="0">
                <a:solidFill>
                  <a:prstClr val="black"/>
                </a:solidFill>
                <a:latin typeface="Times New Roman"/>
                <a:cs typeface="Times New Roman"/>
              </a:rPr>
              <a:t> </a:t>
            </a:r>
            <a:r>
              <a:rPr sz="2000" spc="-10" dirty="0">
                <a:solidFill>
                  <a:prstClr val="black"/>
                </a:solidFill>
                <a:latin typeface="Times New Roman"/>
                <a:cs typeface="Times New Roman"/>
              </a:rPr>
              <a:t>closed 	</a:t>
            </a:r>
            <a:r>
              <a:rPr sz="2000" dirty="0">
                <a:solidFill>
                  <a:prstClr val="black"/>
                </a:solidFill>
                <a:latin typeface="Times New Roman"/>
                <a:cs typeface="Times New Roman"/>
              </a:rPr>
              <a:t>before</a:t>
            </a:r>
            <a:r>
              <a:rPr sz="2000" spc="-30"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second</a:t>
            </a:r>
            <a:r>
              <a:rPr sz="2000" spc="-15" dirty="0">
                <a:solidFill>
                  <a:prstClr val="black"/>
                </a:solidFill>
                <a:latin typeface="Times New Roman"/>
                <a:cs typeface="Times New Roman"/>
              </a:rPr>
              <a:t> </a:t>
            </a:r>
            <a:r>
              <a:rPr sz="2000" dirty="0">
                <a:solidFill>
                  <a:prstClr val="black"/>
                </a:solidFill>
                <a:latin typeface="Times New Roman"/>
                <a:cs typeface="Times New Roman"/>
              </a:rPr>
              <a:t>is</a:t>
            </a:r>
            <a:r>
              <a:rPr sz="2000" spc="-5" dirty="0">
                <a:solidFill>
                  <a:prstClr val="black"/>
                </a:solidFill>
                <a:latin typeface="Times New Roman"/>
                <a:cs typeface="Times New Roman"/>
              </a:rPr>
              <a:t> </a:t>
            </a:r>
            <a:r>
              <a:rPr sz="2000" spc="-10" dirty="0">
                <a:solidFill>
                  <a:prstClr val="black"/>
                </a:solidFill>
                <a:latin typeface="Times New Roman"/>
                <a:cs typeface="Times New Roman"/>
              </a:rPr>
              <a:t>opened.</a:t>
            </a:r>
            <a:endParaRPr sz="2000">
              <a:solidFill>
                <a:prstClr val="black"/>
              </a:solidFill>
              <a:latin typeface="Times New Roman"/>
              <a:cs typeface="Times New Roman"/>
            </a:endParaRPr>
          </a:p>
          <a:p>
            <a:pPr marL="352425" indent="-339725" algn="just">
              <a:spcBef>
                <a:spcPts val="5"/>
              </a:spcBef>
              <a:buFont typeface="Arial MT"/>
              <a:buChar char="•"/>
              <a:tabLst>
                <a:tab pos="352425" algn="l"/>
              </a:tabLst>
            </a:pPr>
            <a:r>
              <a:rPr sz="2000" dirty="0">
                <a:solidFill>
                  <a:prstClr val="black"/>
                </a:solidFill>
                <a:latin typeface="Times New Roman"/>
                <a:cs typeface="Times New Roman"/>
              </a:rPr>
              <a:t>We</a:t>
            </a:r>
            <a:r>
              <a:rPr sz="2000" spc="85" dirty="0">
                <a:solidFill>
                  <a:prstClr val="black"/>
                </a:solidFill>
                <a:latin typeface="Times New Roman"/>
                <a:cs typeface="Times New Roman"/>
              </a:rPr>
              <a:t>  </a:t>
            </a:r>
            <a:r>
              <a:rPr sz="2000" dirty="0">
                <a:solidFill>
                  <a:prstClr val="black"/>
                </a:solidFill>
                <a:latin typeface="Times New Roman"/>
                <a:cs typeface="Times New Roman"/>
              </a:rPr>
              <a:t>use</a:t>
            </a:r>
            <a:r>
              <a:rPr sz="2000" spc="90" dirty="0">
                <a:solidFill>
                  <a:prstClr val="black"/>
                </a:solidFill>
                <a:latin typeface="Times New Roman"/>
                <a:cs typeface="Times New Roman"/>
              </a:rPr>
              <a:t>  </a:t>
            </a:r>
            <a:r>
              <a:rPr sz="2000" dirty="0">
                <a:solidFill>
                  <a:prstClr val="black"/>
                </a:solidFill>
                <a:latin typeface="Times New Roman"/>
                <a:cs typeface="Times New Roman"/>
              </a:rPr>
              <a:t>the</a:t>
            </a:r>
            <a:r>
              <a:rPr sz="2000" spc="90" dirty="0">
                <a:solidFill>
                  <a:prstClr val="black"/>
                </a:solidFill>
                <a:latin typeface="Times New Roman"/>
                <a:cs typeface="Times New Roman"/>
              </a:rPr>
              <a:t>  </a:t>
            </a:r>
            <a:r>
              <a:rPr sz="2000" dirty="0">
                <a:solidFill>
                  <a:prstClr val="black"/>
                </a:solidFill>
                <a:latin typeface="Times New Roman"/>
                <a:cs typeface="Times New Roman"/>
              </a:rPr>
              <a:t>close()</a:t>
            </a:r>
            <a:r>
              <a:rPr sz="2000" spc="90" dirty="0">
                <a:solidFill>
                  <a:prstClr val="black"/>
                </a:solidFill>
                <a:latin typeface="Times New Roman"/>
                <a:cs typeface="Times New Roman"/>
              </a:rPr>
              <a:t>  </a:t>
            </a:r>
            <a:r>
              <a:rPr sz="2000" spc="-10" dirty="0">
                <a:solidFill>
                  <a:prstClr val="black"/>
                </a:solidFill>
                <a:latin typeface="Times New Roman"/>
                <a:cs typeface="Times New Roman"/>
              </a:rPr>
              <a:t>member</a:t>
            </a:r>
            <a:endParaRPr sz="2000">
              <a:solidFill>
                <a:prstClr val="black"/>
              </a:solidFill>
              <a:latin typeface="Times New Roman"/>
              <a:cs typeface="Times New Roman"/>
            </a:endParaRPr>
          </a:p>
          <a:p>
            <a:pPr marL="355600" algn="just"/>
            <a:r>
              <a:rPr sz="2000" dirty="0">
                <a:solidFill>
                  <a:prstClr val="black"/>
                </a:solidFill>
                <a:latin typeface="Times New Roman"/>
                <a:cs typeface="Times New Roman"/>
              </a:rPr>
              <a:t>function</a:t>
            </a:r>
            <a:r>
              <a:rPr sz="2000" spc="-35" dirty="0">
                <a:solidFill>
                  <a:prstClr val="black"/>
                </a:solidFill>
                <a:latin typeface="Times New Roman"/>
                <a:cs typeface="Times New Roman"/>
              </a:rPr>
              <a:t> </a:t>
            </a:r>
            <a:r>
              <a:rPr sz="2000" dirty="0">
                <a:solidFill>
                  <a:prstClr val="black"/>
                </a:solidFill>
                <a:latin typeface="Times New Roman"/>
                <a:cs typeface="Times New Roman"/>
              </a:rPr>
              <a:t>for</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this.</a:t>
            </a:r>
            <a:endParaRPr sz="2000">
              <a:solidFill>
                <a:prstClr val="black"/>
              </a:solidFill>
              <a:latin typeface="Times New Roman"/>
              <a:cs typeface="Times New Roman"/>
            </a:endParaRPr>
          </a:p>
        </p:txBody>
      </p:sp>
      <p:grpSp>
        <p:nvGrpSpPr>
          <p:cNvPr id="4" name="object 4"/>
          <p:cNvGrpSpPr/>
          <p:nvPr/>
        </p:nvGrpSpPr>
        <p:grpSpPr>
          <a:xfrm>
            <a:off x="4977148" y="197890"/>
            <a:ext cx="5763260" cy="6015355"/>
            <a:chOff x="4977148" y="197890"/>
            <a:chExt cx="5763260" cy="6015355"/>
          </a:xfrm>
        </p:grpSpPr>
        <p:pic>
          <p:nvPicPr>
            <p:cNvPr id="5" name="object 5"/>
            <p:cNvPicPr/>
            <p:nvPr/>
          </p:nvPicPr>
          <p:blipFill>
            <a:blip r:embed="rId2" cstate="print"/>
            <a:stretch>
              <a:fillRect/>
            </a:stretch>
          </p:blipFill>
          <p:spPr>
            <a:xfrm>
              <a:off x="4977148" y="197890"/>
              <a:ext cx="5694486" cy="6014985"/>
            </a:xfrm>
            <a:prstGeom prst="rect">
              <a:avLst/>
            </a:prstGeom>
          </p:spPr>
        </p:pic>
        <p:sp>
          <p:nvSpPr>
            <p:cNvPr id="6" name="object 6"/>
            <p:cNvSpPr/>
            <p:nvPr/>
          </p:nvSpPr>
          <p:spPr>
            <a:xfrm>
              <a:off x="8548116" y="2650235"/>
              <a:ext cx="1271270" cy="186055"/>
            </a:xfrm>
            <a:custGeom>
              <a:avLst/>
              <a:gdLst/>
              <a:ahLst/>
              <a:cxnLst/>
              <a:rect l="l" t="t" r="r" b="b"/>
              <a:pathLst>
                <a:path w="1271270" h="186055">
                  <a:moveTo>
                    <a:pt x="1271016" y="0"/>
                  </a:moveTo>
                  <a:lnTo>
                    <a:pt x="0" y="0"/>
                  </a:lnTo>
                  <a:lnTo>
                    <a:pt x="0" y="185927"/>
                  </a:lnTo>
                  <a:lnTo>
                    <a:pt x="1271016" y="185927"/>
                  </a:lnTo>
                  <a:lnTo>
                    <a:pt x="1271016"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8548116" y="2650235"/>
              <a:ext cx="1271270" cy="186055"/>
            </a:xfrm>
            <a:custGeom>
              <a:avLst/>
              <a:gdLst/>
              <a:ahLst/>
              <a:cxnLst/>
              <a:rect l="l" t="t" r="r" b="b"/>
              <a:pathLst>
                <a:path w="1271270" h="186055">
                  <a:moveTo>
                    <a:pt x="0" y="185927"/>
                  </a:moveTo>
                  <a:lnTo>
                    <a:pt x="1271016" y="185927"/>
                  </a:lnTo>
                  <a:lnTo>
                    <a:pt x="1271016" y="0"/>
                  </a:lnTo>
                  <a:lnTo>
                    <a:pt x="0" y="0"/>
                  </a:lnTo>
                  <a:lnTo>
                    <a:pt x="0" y="185927"/>
                  </a:lnTo>
                  <a:close/>
                </a:path>
              </a:pathLst>
            </a:custGeom>
            <a:ln w="12700">
              <a:solidFill>
                <a:srgbClr val="FFFFFF"/>
              </a:solidFill>
            </a:ln>
          </p:spPr>
          <p:txBody>
            <a:bodyPr wrap="square" lIns="0" tIns="0" rIns="0" bIns="0" rtlCol="0"/>
            <a:lstStyle/>
            <a:p>
              <a:endParaRPr>
                <a:solidFill>
                  <a:prstClr val="black"/>
                </a:solidFill>
              </a:endParaRPr>
            </a:p>
          </p:txBody>
        </p:sp>
        <p:sp>
          <p:nvSpPr>
            <p:cNvPr id="8" name="object 8"/>
            <p:cNvSpPr/>
            <p:nvPr/>
          </p:nvSpPr>
          <p:spPr>
            <a:xfrm>
              <a:off x="8548116" y="1815084"/>
              <a:ext cx="2185670" cy="637540"/>
            </a:xfrm>
            <a:custGeom>
              <a:avLst/>
              <a:gdLst/>
              <a:ahLst/>
              <a:cxnLst/>
              <a:rect l="l" t="t" r="r" b="b"/>
              <a:pathLst>
                <a:path w="2185670" h="637539">
                  <a:moveTo>
                    <a:pt x="2185416" y="0"/>
                  </a:moveTo>
                  <a:lnTo>
                    <a:pt x="0" y="0"/>
                  </a:lnTo>
                  <a:lnTo>
                    <a:pt x="0" y="637032"/>
                  </a:lnTo>
                  <a:lnTo>
                    <a:pt x="2185416" y="637032"/>
                  </a:lnTo>
                  <a:lnTo>
                    <a:pt x="2185416" y="0"/>
                  </a:lnTo>
                  <a:close/>
                </a:path>
              </a:pathLst>
            </a:custGeom>
            <a:solidFill>
              <a:srgbClr val="FFFFFF"/>
            </a:solidFill>
          </p:spPr>
          <p:txBody>
            <a:bodyPr wrap="square" lIns="0" tIns="0" rIns="0" bIns="0" rtlCol="0"/>
            <a:lstStyle/>
            <a:p>
              <a:endParaRPr>
                <a:solidFill>
                  <a:prstClr val="black"/>
                </a:solidFill>
              </a:endParaRPr>
            </a:p>
          </p:txBody>
        </p:sp>
        <p:sp>
          <p:nvSpPr>
            <p:cNvPr id="9" name="object 9"/>
            <p:cNvSpPr/>
            <p:nvPr/>
          </p:nvSpPr>
          <p:spPr>
            <a:xfrm>
              <a:off x="8548116" y="1815084"/>
              <a:ext cx="2185670" cy="637540"/>
            </a:xfrm>
            <a:custGeom>
              <a:avLst/>
              <a:gdLst/>
              <a:ahLst/>
              <a:cxnLst/>
              <a:rect l="l" t="t" r="r" b="b"/>
              <a:pathLst>
                <a:path w="2185670" h="637539">
                  <a:moveTo>
                    <a:pt x="0" y="637032"/>
                  </a:moveTo>
                  <a:lnTo>
                    <a:pt x="2185416" y="637032"/>
                  </a:lnTo>
                  <a:lnTo>
                    <a:pt x="2185416" y="0"/>
                  </a:lnTo>
                  <a:lnTo>
                    <a:pt x="0" y="0"/>
                  </a:lnTo>
                  <a:lnTo>
                    <a:pt x="0" y="637032"/>
                  </a:lnTo>
                  <a:close/>
                </a:path>
              </a:pathLst>
            </a:custGeom>
            <a:ln w="12700">
              <a:solidFill>
                <a:srgbClr val="FFFFFF"/>
              </a:solidFill>
            </a:ln>
          </p:spPr>
          <p:txBody>
            <a:bodyPr wrap="square" lIns="0" tIns="0" rIns="0" bIns="0" rtlCol="0"/>
            <a:lstStyle/>
            <a:p>
              <a:endParaRPr>
                <a:solidFill>
                  <a:prstClr val="black"/>
                </a:solidFill>
              </a:endParaRPr>
            </a:p>
          </p:txBody>
        </p:sp>
        <p:sp>
          <p:nvSpPr>
            <p:cNvPr id="10" name="object 10"/>
            <p:cNvSpPr/>
            <p:nvPr/>
          </p:nvSpPr>
          <p:spPr>
            <a:xfrm>
              <a:off x="8548116" y="3429000"/>
              <a:ext cx="1973580" cy="635635"/>
            </a:xfrm>
            <a:custGeom>
              <a:avLst/>
              <a:gdLst/>
              <a:ahLst/>
              <a:cxnLst/>
              <a:rect l="l" t="t" r="r" b="b"/>
              <a:pathLst>
                <a:path w="1973579" h="635635">
                  <a:moveTo>
                    <a:pt x="1973579" y="0"/>
                  </a:moveTo>
                  <a:lnTo>
                    <a:pt x="0" y="0"/>
                  </a:lnTo>
                  <a:lnTo>
                    <a:pt x="0" y="635507"/>
                  </a:lnTo>
                  <a:lnTo>
                    <a:pt x="1973579" y="635507"/>
                  </a:lnTo>
                  <a:lnTo>
                    <a:pt x="1973579" y="0"/>
                  </a:lnTo>
                  <a:close/>
                </a:path>
              </a:pathLst>
            </a:custGeom>
            <a:solidFill>
              <a:srgbClr val="FFFFFF"/>
            </a:solidFill>
          </p:spPr>
          <p:txBody>
            <a:bodyPr wrap="square" lIns="0" tIns="0" rIns="0" bIns="0" rtlCol="0"/>
            <a:lstStyle/>
            <a:p>
              <a:endParaRPr>
                <a:solidFill>
                  <a:prstClr val="black"/>
                </a:solidFill>
              </a:endParaRPr>
            </a:p>
          </p:txBody>
        </p:sp>
        <p:sp>
          <p:nvSpPr>
            <p:cNvPr id="11" name="object 11"/>
            <p:cNvSpPr/>
            <p:nvPr/>
          </p:nvSpPr>
          <p:spPr>
            <a:xfrm>
              <a:off x="8548116" y="3429000"/>
              <a:ext cx="1973580" cy="635635"/>
            </a:xfrm>
            <a:custGeom>
              <a:avLst/>
              <a:gdLst/>
              <a:ahLst/>
              <a:cxnLst/>
              <a:rect l="l" t="t" r="r" b="b"/>
              <a:pathLst>
                <a:path w="1973579" h="635635">
                  <a:moveTo>
                    <a:pt x="0" y="635507"/>
                  </a:moveTo>
                  <a:lnTo>
                    <a:pt x="1973579" y="635507"/>
                  </a:lnTo>
                  <a:lnTo>
                    <a:pt x="1973579" y="0"/>
                  </a:lnTo>
                  <a:lnTo>
                    <a:pt x="0" y="0"/>
                  </a:lnTo>
                  <a:lnTo>
                    <a:pt x="0" y="635507"/>
                  </a:lnTo>
                  <a:close/>
                </a:path>
              </a:pathLst>
            </a:custGeom>
            <a:ln w="12700">
              <a:solidFill>
                <a:srgbClr val="FFFFFF"/>
              </a:solidFill>
            </a:ln>
          </p:spPr>
          <p:txBody>
            <a:bodyPr wrap="square" lIns="0" tIns="0" rIns="0" bIns="0" rtlCol="0"/>
            <a:lstStyle/>
            <a:p>
              <a:endParaRPr>
                <a:solidFill>
                  <a:prstClr val="black"/>
                </a:solidFill>
              </a:endParaRPr>
            </a:p>
          </p:txBody>
        </p:sp>
        <p:sp>
          <p:nvSpPr>
            <p:cNvPr id="12" name="object 12"/>
            <p:cNvSpPr/>
            <p:nvPr/>
          </p:nvSpPr>
          <p:spPr>
            <a:xfrm>
              <a:off x="8548116" y="4379975"/>
              <a:ext cx="1363980" cy="139065"/>
            </a:xfrm>
            <a:custGeom>
              <a:avLst/>
              <a:gdLst/>
              <a:ahLst/>
              <a:cxnLst/>
              <a:rect l="l" t="t" r="r" b="b"/>
              <a:pathLst>
                <a:path w="1363979" h="139064">
                  <a:moveTo>
                    <a:pt x="1363979" y="0"/>
                  </a:moveTo>
                  <a:lnTo>
                    <a:pt x="0" y="0"/>
                  </a:lnTo>
                  <a:lnTo>
                    <a:pt x="0" y="138684"/>
                  </a:lnTo>
                  <a:lnTo>
                    <a:pt x="1363979" y="138684"/>
                  </a:lnTo>
                  <a:lnTo>
                    <a:pt x="1363979" y="0"/>
                  </a:lnTo>
                  <a:close/>
                </a:path>
              </a:pathLst>
            </a:custGeom>
            <a:solidFill>
              <a:srgbClr val="FFFFFF"/>
            </a:solidFill>
          </p:spPr>
          <p:txBody>
            <a:bodyPr wrap="square" lIns="0" tIns="0" rIns="0" bIns="0" rtlCol="0"/>
            <a:lstStyle/>
            <a:p>
              <a:endParaRPr>
                <a:solidFill>
                  <a:prstClr val="black"/>
                </a:solidFill>
              </a:endParaRPr>
            </a:p>
          </p:txBody>
        </p:sp>
        <p:sp>
          <p:nvSpPr>
            <p:cNvPr id="13" name="object 13"/>
            <p:cNvSpPr/>
            <p:nvPr/>
          </p:nvSpPr>
          <p:spPr>
            <a:xfrm>
              <a:off x="8548116" y="4379975"/>
              <a:ext cx="1363980" cy="139065"/>
            </a:xfrm>
            <a:custGeom>
              <a:avLst/>
              <a:gdLst/>
              <a:ahLst/>
              <a:cxnLst/>
              <a:rect l="l" t="t" r="r" b="b"/>
              <a:pathLst>
                <a:path w="1363979" h="139064">
                  <a:moveTo>
                    <a:pt x="0" y="138684"/>
                  </a:moveTo>
                  <a:lnTo>
                    <a:pt x="1363979" y="138684"/>
                  </a:lnTo>
                  <a:lnTo>
                    <a:pt x="1363979" y="0"/>
                  </a:lnTo>
                  <a:lnTo>
                    <a:pt x="0" y="0"/>
                  </a:lnTo>
                  <a:lnTo>
                    <a:pt x="0" y="138684"/>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16" name="object 16"/>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7" name="object 17"/>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8" name="Date Placeholder 17">
            <a:extLst>
              <a:ext uri="{FF2B5EF4-FFF2-40B4-BE49-F238E27FC236}">
                <a16:creationId xmlns:a16="http://schemas.microsoft.com/office/drawing/2014/main" id="{CB0680D3-3A84-F613-387E-F3E556609E84}"/>
              </a:ext>
            </a:extLst>
          </p:cNvPr>
          <p:cNvSpPr>
            <a:spLocks noGrp="1"/>
          </p:cNvSpPr>
          <p:nvPr>
            <p:ph type="dt" sz="half" idx="10"/>
          </p:nvPr>
        </p:nvSpPr>
        <p:spPr/>
        <p:txBody>
          <a:bodyPr/>
          <a:lstStyle/>
          <a:p>
            <a:fld id="{42FA2AC1-64B0-494E-A027-05262694A12A}" type="datetime1">
              <a:rPr lang="en-US" smtClean="0">
                <a:solidFill>
                  <a:prstClr val="black">
                    <a:tint val="75000"/>
                  </a:prstClr>
                </a:solidFill>
              </a:rPr>
              <a:pPr/>
              <a:t>11/17/2025</a:t>
            </a:fld>
            <a:endParaRPr lang="en-US">
              <a:solidFill>
                <a:prstClr val="black">
                  <a:tint val="75000"/>
                </a:prstClr>
              </a:solidFill>
            </a:endParaRPr>
          </a:p>
        </p:txBody>
      </p:sp>
      <p:sp>
        <p:nvSpPr>
          <p:cNvPr id="19" name="Slide Number Placeholder 18">
            <a:extLst>
              <a:ext uri="{FF2B5EF4-FFF2-40B4-BE49-F238E27FC236}">
                <a16:creationId xmlns:a16="http://schemas.microsoft.com/office/drawing/2014/main" id="{0C2DCC92-5010-F187-6201-019EB7266A6F}"/>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87</a:t>
            </a:fld>
            <a:endParaRPr spc="-25" dirty="0">
              <a:solidFill>
                <a:prstClr val="black">
                  <a:tint val="75000"/>
                </a:prstClr>
              </a:solidFill>
            </a:endParaRPr>
          </a:p>
        </p:txBody>
      </p:sp>
    </p:spTree>
    <p:extLst>
      <p:ext uri="{BB962C8B-B14F-4D97-AF65-F5344CB8AC3E}">
        <p14:creationId xmlns:p14="http://schemas.microsoft.com/office/powerpoint/2010/main" val="27294201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Object</a:t>
            </a:r>
            <a:r>
              <a:rPr spc="-114" dirty="0"/>
              <a:t> </a:t>
            </a:r>
            <a:r>
              <a:rPr spc="-25" dirty="0"/>
              <a:t>I/O</a:t>
            </a:r>
          </a:p>
        </p:txBody>
      </p:sp>
      <p:sp>
        <p:nvSpPr>
          <p:cNvPr id="15" name="object 1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574368"/>
            <a:ext cx="4321175" cy="3684904"/>
          </a:xfrm>
          <a:prstGeom prst="rect">
            <a:avLst/>
          </a:prstGeom>
        </p:spPr>
        <p:txBody>
          <a:bodyPr vert="horz" wrap="square" lIns="0" tIns="13335" rIns="0" bIns="0" rtlCol="0">
            <a:spAutoFit/>
          </a:bodyPr>
          <a:lstStyle/>
          <a:p>
            <a:pPr marL="12700" algn="just">
              <a:spcBef>
                <a:spcPts val="105"/>
              </a:spcBef>
            </a:pPr>
            <a:r>
              <a:rPr sz="2000" b="1" dirty="0">
                <a:solidFill>
                  <a:prstClr val="black"/>
                </a:solidFill>
                <a:latin typeface="Times New Roman"/>
                <a:cs typeface="Times New Roman"/>
              </a:rPr>
              <a:t>Writing</a:t>
            </a:r>
            <a:r>
              <a:rPr sz="2000" b="1" spc="-45" dirty="0">
                <a:solidFill>
                  <a:prstClr val="black"/>
                </a:solidFill>
                <a:latin typeface="Times New Roman"/>
                <a:cs typeface="Times New Roman"/>
              </a:rPr>
              <a:t> </a:t>
            </a:r>
            <a:r>
              <a:rPr sz="2000" b="1" dirty="0">
                <a:solidFill>
                  <a:prstClr val="black"/>
                </a:solidFill>
                <a:latin typeface="Times New Roman"/>
                <a:cs typeface="Times New Roman"/>
              </a:rPr>
              <a:t>an</a:t>
            </a:r>
            <a:r>
              <a:rPr sz="2000" b="1" spc="-25" dirty="0">
                <a:solidFill>
                  <a:prstClr val="black"/>
                </a:solidFill>
                <a:latin typeface="Times New Roman"/>
                <a:cs typeface="Times New Roman"/>
              </a:rPr>
              <a:t> </a:t>
            </a:r>
            <a:r>
              <a:rPr sz="2000" b="1" dirty="0">
                <a:solidFill>
                  <a:prstClr val="black"/>
                </a:solidFill>
                <a:latin typeface="Times New Roman"/>
                <a:cs typeface="Times New Roman"/>
              </a:rPr>
              <a:t>Object</a:t>
            </a:r>
            <a:r>
              <a:rPr sz="2000" b="1" spc="-40" dirty="0">
                <a:solidFill>
                  <a:prstClr val="black"/>
                </a:solidFill>
                <a:latin typeface="Times New Roman"/>
                <a:cs typeface="Times New Roman"/>
              </a:rPr>
              <a:t> </a:t>
            </a:r>
            <a:r>
              <a:rPr sz="2000" b="1" dirty="0">
                <a:solidFill>
                  <a:prstClr val="black"/>
                </a:solidFill>
                <a:latin typeface="Times New Roman"/>
                <a:cs typeface="Times New Roman"/>
              </a:rPr>
              <a:t>to</a:t>
            </a:r>
            <a:r>
              <a:rPr sz="2000" b="1" spc="-30" dirty="0">
                <a:solidFill>
                  <a:prstClr val="black"/>
                </a:solidFill>
                <a:latin typeface="Times New Roman"/>
                <a:cs typeface="Times New Roman"/>
              </a:rPr>
              <a:t> </a:t>
            </a:r>
            <a:r>
              <a:rPr sz="2000" b="1" spc="-10" dirty="0">
                <a:solidFill>
                  <a:prstClr val="black"/>
                </a:solidFill>
                <a:latin typeface="Times New Roman"/>
                <a:cs typeface="Times New Roman"/>
              </a:rPr>
              <a:t>Disk:</a:t>
            </a:r>
            <a:endParaRPr sz="2000">
              <a:solidFill>
                <a:prstClr val="black"/>
              </a:solidFill>
              <a:latin typeface="Times New Roman"/>
              <a:cs typeface="Times New Roman"/>
            </a:endParaRPr>
          </a:p>
          <a:p>
            <a:pPr marL="351790" marR="5715" indent="-339725" algn="just">
              <a:spcBef>
                <a:spcPts val="5"/>
              </a:spcBef>
              <a:buFont typeface="Arial MT"/>
              <a:buChar char="•"/>
              <a:tabLst>
                <a:tab pos="355600" algn="l"/>
              </a:tabLst>
            </a:pPr>
            <a:r>
              <a:rPr sz="2000" dirty="0">
                <a:solidFill>
                  <a:prstClr val="black"/>
                </a:solidFill>
                <a:latin typeface="Times New Roman"/>
                <a:cs typeface="Times New Roman"/>
              </a:rPr>
              <a:t>When</a:t>
            </a:r>
            <a:r>
              <a:rPr sz="2000" spc="190" dirty="0">
                <a:solidFill>
                  <a:prstClr val="black"/>
                </a:solidFill>
                <a:latin typeface="Times New Roman"/>
                <a:cs typeface="Times New Roman"/>
              </a:rPr>
              <a:t> </a:t>
            </a:r>
            <a:r>
              <a:rPr sz="2000" dirty="0">
                <a:solidFill>
                  <a:prstClr val="black"/>
                </a:solidFill>
                <a:latin typeface="Times New Roman"/>
                <a:cs typeface="Times New Roman"/>
              </a:rPr>
              <a:t>writing</a:t>
            </a:r>
            <a:r>
              <a:rPr sz="2000" spc="180" dirty="0">
                <a:solidFill>
                  <a:prstClr val="black"/>
                </a:solidFill>
                <a:latin typeface="Times New Roman"/>
                <a:cs typeface="Times New Roman"/>
              </a:rPr>
              <a:t> </a:t>
            </a:r>
            <a:r>
              <a:rPr sz="2000" dirty="0">
                <a:solidFill>
                  <a:prstClr val="black"/>
                </a:solidFill>
                <a:latin typeface="Times New Roman"/>
                <a:cs typeface="Times New Roman"/>
              </a:rPr>
              <a:t>an</a:t>
            </a:r>
            <a:r>
              <a:rPr sz="2000" spc="190" dirty="0">
                <a:solidFill>
                  <a:prstClr val="black"/>
                </a:solidFill>
                <a:latin typeface="Times New Roman"/>
                <a:cs typeface="Times New Roman"/>
              </a:rPr>
              <a:t> </a:t>
            </a:r>
            <a:r>
              <a:rPr sz="2000" dirty="0">
                <a:solidFill>
                  <a:prstClr val="black"/>
                </a:solidFill>
                <a:latin typeface="Times New Roman"/>
                <a:cs typeface="Times New Roman"/>
              </a:rPr>
              <a:t>object,</a:t>
            </a:r>
            <a:r>
              <a:rPr sz="2000" spc="190" dirty="0">
                <a:solidFill>
                  <a:prstClr val="black"/>
                </a:solidFill>
                <a:latin typeface="Times New Roman"/>
                <a:cs typeface="Times New Roman"/>
              </a:rPr>
              <a:t> </a:t>
            </a:r>
            <a:r>
              <a:rPr sz="2000" dirty="0">
                <a:solidFill>
                  <a:prstClr val="black"/>
                </a:solidFill>
                <a:latin typeface="Times New Roman"/>
                <a:cs typeface="Times New Roman"/>
              </a:rPr>
              <a:t>we</a:t>
            </a:r>
            <a:r>
              <a:rPr sz="2000" spc="170" dirty="0">
                <a:solidFill>
                  <a:prstClr val="black"/>
                </a:solidFill>
                <a:latin typeface="Times New Roman"/>
                <a:cs typeface="Times New Roman"/>
              </a:rPr>
              <a:t> </a:t>
            </a:r>
            <a:r>
              <a:rPr sz="2000" spc="-10" dirty="0">
                <a:solidFill>
                  <a:prstClr val="black"/>
                </a:solidFill>
                <a:latin typeface="Times New Roman"/>
                <a:cs typeface="Times New Roman"/>
              </a:rPr>
              <a:t>generally 	</a:t>
            </a:r>
            <a:r>
              <a:rPr sz="2000" dirty="0">
                <a:solidFill>
                  <a:prstClr val="black"/>
                </a:solidFill>
                <a:latin typeface="Times New Roman"/>
                <a:cs typeface="Times New Roman"/>
              </a:rPr>
              <a:t>use</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binary</a:t>
            </a:r>
            <a:r>
              <a:rPr sz="2000" spc="-20" dirty="0">
                <a:solidFill>
                  <a:prstClr val="black"/>
                </a:solidFill>
                <a:latin typeface="Times New Roman"/>
                <a:cs typeface="Times New Roman"/>
              </a:rPr>
              <a:t> </a:t>
            </a:r>
            <a:r>
              <a:rPr sz="2000" spc="-10" dirty="0">
                <a:solidFill>
                  <a:prstClr val="black"/>
                </a:solidFill>
                <a:latin typeface="Times New Roman"/>
                <a:cs typeface="Times New Roman"/>
              </a:rPr>
              <a:t>mode.</a:t>
            </a:r>
            <a:endParaRPr sz="2000">
              <a:solidFill>
                <a:prstClr val="black"/>
              </a:solidFill>
              <a:latin typeface="Times New Roman"/>
              <a:cs typeface="Times New Roman"/>
            </a:endParaRPr>
          </a:p>
          <a:p>
            <a:pPr marL="351790" marR="5715" indent="-339725" algn="just">
              <a:buFont typeface="Arial MT"/>
              <a:buChar char="•"/>
              <a:tabLst>
                <a:tab pos="355600" algn="l"/>
              </a:tabLst>
            </a:pPr>
            <a:r>
              <a:rPr sz="2000" dirty="0">
                <a:solidFill>
                  <a:prstClr val="black"/>
                </a:solidFill>
                <a:latin typeface="Times New Roman"/>
                <a:cs typeface="Times New Roman"/>
              </a:rPr>
              <a:t>This</a:t>
            </a:r>
            <a:r>
              <a:rPr sz="2000" spc="135" dirty="0">
                <a:solidFill>
                  <a:prstClr val="black"/>
                </a:solidFill>
                <a:latin typeface="Times New Roman"/>
                <a:cs typeface="Times New Roman"/>
              </a:rPr>
              <a:t> </a:t>
            </a:r>
            <a:r>
              <a:rPr sz="2000" dirty="0">
                <a:solidFill>
                  <a:prstClr val="black"/>
                </a:solidFill>
                <a:latin typeface="Times New Roman"/>
                <a:cs typeface="Times New Roman"/>
              </a:rPr>
              <a:t>writes</a:t>
            </a:r>
            <a:r>
              <a:rPr sz="2000" spc="135" dirty="0">
                <a:solidFill>
                  <a:prstClr val="black"/>
                </a:solidFill>
                <a:latin typeface="Times New Roman"/>
                <a:cs typeface="Times New Roman"/>
              </a:rPr>
              <a:t> </a:t>
            </a:r>
            <a:r>
              <a:rPr sz="2000" dirty="0">
                <a:solidFill>
                  <a:prstClr val="black"/>
                </a:solidFill>
                <a:latin typeface="Times New Roman"/>
                <a:cs typeface="Times New Roman"/>
              </a:rPr>
              <a:t>the</a:t>
            </a:r>
            <a:r>
              <a:rPr sz="2000" spc="135" dirty="0">
                <a:solidFill>
                  <a:prstClr val="black"/>
                </a:solidFill>
                <a:latin typeface="Times New Roman"/>
                <a:cs typeface="Times New Roman"/>
              </a:rPr>
              <a:t> </a:t>
            </a:r>
            <a:r>
              <a:rPr sz="2000" dirty="0">
                <a:solidFill>
                  <a:prstClr val="black"/>
                </a:solidFill>
                <a:latin typeface="Times New Roman"/>
                <a:cs typeface="Times New Roman"/>
              </a:rPr>
              <a:t>same</a:t>
            </a:r>
            <a:r>
              <a:rPr sz="2000" spc="145" dirty="0">
                <a:solidFill>
                  <a:prstClr val="black"/>
                </a:solidFill>
                <a:latin typeface="Times New Roman"/>
                <a:cs typeface="Times New Roman"/>
              </a:rPr>
              <a:t> </a:t>
            </a:r>
            <a:r>
              <a:rPr sz="2000" dirty="0">
                <a:solidFill>
                  <a:prstClr val="black"/>
                </a:solidFill>
                <a:latin typeface="Times New Roman"/>
                <a:cs typeface="Times New Roman"/>
              </a:rPr>
              <a:t>bit</a:t>
            </a:r>
            <a:r>
              <a:rPr sz="2000" spc="150" dirty="0">
                <a:solidFill>
                  <a:prstClr val="black"/>
                </a:solidFill>
                <a:latin typeface="Times New Roman"/>
                <a:cs typeface="Times New Roman"/>
              </a:rPr>
              <a:t> </a:t>
            </a:r>
            <a:r>
              <a:rPr sz="2000" spc="-10" dirty="0">
                <a:solidFill>
                  <a:prstClr val="black"/>
                </a:solidFill>
                <a:latin typeface="Times New Roman"/>
                <a:cs typeface="Times New Roman"/>
              </a:rPr>
              <a:t>configuration 	</a:t>
            </a:r>
            <a:r>
              <a:rPr sz="2000" dirty="0">
                <a:solidFill>
                  <a:prstClr val="black"/>
                </a:solidFill>
                <a:latin typeface="Times New Roman"/>
                <a:cs typeface="Times New Roman"/>
              </a:rPr>
              <a:t>to</a:t>
            </a:r>
            <a:r>
              <a:rPr sz="2000" spc="10" dirty="0">
                <a:solidFill>
                  <a:prstClr val="black"/>
                </a:solidFill>
                <a:latin typeface="Times New Roman"/>
                <a:cs typeface="Times New Roman"/>
              </a:rPr>
              <a:t> </a:t>
            </a:r>
            <a:r>
              <a:rPr sz="2000" dirty="0">
                <a:solidFill>
                  <a:prstClr val="black"/>
                </a:solidFill>
                <a:latin typeface="Times New Roman"/>
                <a:cs typeface="Times New Roman"/>
              </a:rPr>
              <a:t>disk</a:t>
            </a:r>
            <a:r>
              <a:rPr sz="2000" spc="10" dirty="0">
                <a:solidFill>
                  <a:prstClr val="black"/>
                </a:solidFill>
                <a:latin typeface="Times New Roman"/>
                <a:cs typeface="Times New Roman"/>
              </a:rPr>
              <a:t> </a:t>
            </a:r>
            <a:r>
              <a:rPr sz="2000" dirty="0">
                <a:solidFill>
                  <a:prstClr val="black"/>
                </a:solidFill>
                <a:latin typeface="Times New Roman"/>
                <a:cs typeface="Times New Roman"/>
              </a:rPr>
              <a:t>that was stored</a:t>
            </a:r>
            <a:r>
              <a:rPr sz="2000" spc="10" dirty="0">
                <a:solidFill>
                  <a:prstClr val="black"/>
                </a:solidFill>
                <a:latin typeface="Times New Roman"/>
                <a:cs typeface="Times New Roman"/>
              </a:rPr>
              <a:t> </a:t>
            </a:r>
            <a:r>
              <a:rPr sz="2000" dirty="0">
                <a:solidFill>
                  <a:prstClr val="black"/>
                </a:solidFill>
                <a:latin typeface="Times New Roman"/>
                <a:cs typeface="Times New Roman"/>
              </a:rPr>
              <a:t>in</a:t>
            </a:r>
            <a:r>
              <a:rPr sz="2000" spc="10" dirty="0">
                <a:solidFill>
                  <a:prstClr val="black"/>
                </a:solidFill>
                <a:latin typeface="Times New Roman"/>
                <a:cs typeface="Times New Roman"/>
              </a:rPr>
              <a:t> </a:t>
            </a:r>
            <a:r>
              <a:rPr sz="2000" spc="-10" dirty="0">
                <a:solidFill>
                  <a:prstClr val="black"/>
                </a:solidFill>
                <a:latin typeface="Times New Roman"/>
                <a:cs typeface="Times New Roman"/>
              </a:rPr>
              <a:t>memory,</a:t>
            </a:r>
            <a:r>
              <a:rPr sz="2000" spc="15" dirty="0">
                <a:solidFill>
                  <a:prstClr val="black"/>
                </a:solidFill>
                <a:latin typeface="Times New Roman"/>
                <a:cs typeface="Times New Roman"/>
              </a:rPr>
              <a:t> </a:t>
            </a:r>
            <a:r>
              <a:rPr sz="2000" spc="-25" dirty="0">
                <a:solidFill>
                  <a:prstClr val="black"/>
                </a:solidFill>
                <a:latin typeface="Times New Roman"/>
                <a:cs typeface="Times New Roman"/>
              </a:rPr>
              <a:t>and 	</a:t>
            </a:r>
            <a:r>
              <a:rPr sz="2000" dirty="0">
                <a:solidFill>
                  <a:prstClr val="black"/>
                </a:solidFill>
                <a:latin typeface="Times New Roman"/>
                <a:cs typeface="Times New Roman"/>
              </a:rPr>
              <a:t>ensures</a:t>
            </a:r>
            <a:r>
              <a:rPr sz="2000" spc="240" dirty="0">
                <a:solidFill>
                  <a:prstClr val="black"/>
                </a:solidFill>
                <a:latin typeface="Times New Roman"/>
                <a:cs typeface="Times New Roman"/>
              </a:rPr>
              <a:t> </a:t>
            </a:r>
            <a:r>
              <a:rPr sz="2000" dirty="0">
                <a:solidFill>
                  <a:prstClr val="black"/>
                </a:solidFill>
                <a:latin typeface="Times New Roman"/>
                <a:cs typeface="Times New Roman"/>
              </a:rPr>
              <a:t>that</a:t>
            </a:r>
            <a:r>
              <a:rPr sz="2000" spc="235" dirty="0">
                <a:solidFill>
                  <a:prstClr val="black"/>
                </a:solidFill>
                <a:latin typeface="Times New Roman"/>
                <a:cs typeface="Times New Roman"/>
              </a:rPr>
              <a:t> </a:t>
            </a:r>
            <a:r>
              <a:rPr sz="2000" dirty="0">
                <a:solidFill>
                  <a:prstClr val="black"/>
                </a:solidFill>
                <a:latin typeface="Times New Roman"/>
                <a:cs typeface="Times New Roman"/>
              </a:rPr>
              <a:t>numerical</a:t>
            </a:r>
            <a:r>
              <a:rPr sz="2000" spc="229" dirty="0">
                <a:solidFill>
                  <a:prstClr val="black"/>
                </a:solidFill>
                <a:latin typeface="Times New Roman"/>
                <a:cs typeface="Times New Roman"/>
              </a:rPr>
              <a:t> </a:t>
            </a:r>
            <a:r>
              <a:rPr sz="2000" dirty="0">
                <a:solidFill>
                  <a:prstClr val="black"/>
                </a:solidFill>
                <a:latin typeface="Times New Roman"/>
                <a:cs typeface="Times New Roman"/>
              </a:rPr>
              <a:t>data</a:t>
            </a:r>
            <a:r>
              <a:rPr sz="2000" spc="229" dirty="0">
                <a:solidFill>
                  <a:prstClr val="black"/>
                </a:solidFill>
                <a:latin typeface="Times New Roman"/>
                <a:cs typeface="Times New Roman"/>
              </a:rPr>
              <a:t> </a:t>
            </a:r>
            <a:r>
              <a:rPr sz="2000" spc="-10" dirty="0">
                <a:solidFill>
                  <a:prstClr val="black"/>
                </a:solidFill>
                <a:latin typeface="Times New Roman"/>
                <a:cs typeface="Times New Roman"/>
              </a:rPr>
              <a:t>contained 	</a:t>
            </a:r>
            <a:r>
              <a:rPr sz="2000" dirty="0">
                <a:solidFill>
                  <a:prstClr val="black"/>
                </a:solidFill>
                <a:latin typeface="Times New Roman"/>
                <a:cs typeface="Times New Roman"/>
              </a:rPr>
              <a:t>in</a:t>
            </a:r>
            <a:r>
              <a:rPr sz="2000" spc="-10" dirty="0">
                <a:solidFill>
                  <a:prstClr val="black"/>
                </a:solidFill>
                <a:latin typeface="Times New Roman"/>
                <a:cs typeface="Times New Roman"/>
              </a:rPr>
              <a:t> </a:t>
            </a:r>
            <a:r>
              <a:rPr sz="2000" dirty="0">
                <a:solidFill>
                  <a:prstClr val="black"/>
                </a:solidFill>
                <a:latin typeface="Times New Roman"/>
                <a:cs typeface="Times New Roman"/>
              </a:rPr>
              <a:t>objects</a:t>
            </a:r>
            <a:r>
              <a:rPr sz="2000" spc="-40" dirty="0">
                <a:solidFill>
                  <a:prstClr val="black"/>
                </a:solidFill>
                <a:latin typeface="Times New Roman"/>
                <a:cs typeface="Times New Roman"/>
              </a:rPr>
              <a:t> </a:t>
            </a:r>
            <a:r>
              <a:rPr sz="2000" dirty="0">
                <a:solidFill>
                  <a:prstClr val="black"/>
                </a:solidFill>
                <a:latin typeface="Times New Roman"/>
                <a:cs typeface="Times New Roman"/>
              </a:rPr>
              <a:t>is</a:t>
            </a:r>
            <a:r>
              <a:rPr sz="2000" spc="-15" dirty="0">
                <a:solidFill>
                  <a:prstClr val="black"/>
                </a:solidFill>
                <a:latin typeface="Times New Roman"/>
                <a:cs typeface="Times New Roman"/>
              </a:rPr>
              <a:t> </a:t>
            </a:r>
            <a:r>
              <a:rPr sz="2000" dirty="0">
                <a:solidFill>
                  <a:prstClr val="black"/>
                </a:solidFill>
                <a:latin typeface="Times New Roman"/>
                <a:cs typeface="Times New Roman"/>
              </a:rPr>
              <a:t>handled</a:t>
            </a:r>
            <a:r>
              <a:rPr sz="2000" spc="-25" dirty="0">
                <a:solidFill>
                  <a:prstClr val="black"/>
                </a:solidFill>
                <a:latin typeface="Times New Roman"/>
                <a:cs typeface="Times New Roman"/>
              </a:rPr>
              <a:t> </a:t>
            </a:r>
            <a:r>
              <a:rPr sz="2000" spc="-10" dirty="0">
                <a:solidFill>
                  <a:prstClr val="black"/>
                </a:solidFill>
                <a:latin typeface="Times New Roman"/>
                <a:cs typeface="Times New Roman"/>
              </a:rPr>
              <a:t>properly.</a:t>
            </a:r>
            <a:endParaRPr sz="2000">
              <a:solidFill>
                <a:prstClr val="black"/>
              </a:solidFill>
              <a:latin typeface="Times New Roman"/>
              <a:cs typeface="Times New Roman"/>
            </a:endParaRPr>
          </a:p>
          <a:p>
            <a:pPr marL="351790" marR="5080" indent="-339725" algn="just">
              <a:buFont typeface="Arial MT"/>
              <a:buChar char="•"/>
              <a:tabLst>
                <a:tab pos="355600" algn="l"/>
              </a:tabLst>
            </a:pPr>
            <a:r>
              <a:rPr sz="2000" dirty="0">
                <a:solidFill>
                  <a:prstClr val="black"/>
                </a:solidFill>
                <a:latin typeface="Times New Roman"/>
                <a:cs typeface="Times New Roman"/>
              </a:rPr>
              <a:t>The</a:t>
            </a:r>
            <a:r>
              <a:rPr sz="2000" spc="45" dirty="0">
                <a:solidFill>
                  <a:prstClr val="black"/>
                </a:solidFill>
                <a:latin typeface="Times New Roman"/>
                <a:cs typeface="Times New Roman"/>
              </a:rPr>
              <a:t>  </a:t>
            </a:r>
            <a:r>
              <a:rPr sz="2000" dirty="0">
                <a:solidFill>
                  <a:prstClr val="black"/>
                </a:solidFill>
                <a:latin typeface="Times New Roman"/>
                <a:cs typeface="Times New Roman"/>
              </a:rPr>
              <a:t>contents</a:t>
            </a:r>
            <a:r>
              <a:rPr sz="2000" spc="40" dirty="0">
                <a:solidFill>
                  <a:prstClr val="black"/>
                </a:solidFill>
                <a:latin typeface="Times New Roman"/>
                <a:cs typeface="Times New Roman"/>
              </a:rPr>
              <a:t>  </a:t>
            </a:r>
            <a:r>
              <a:rPr sz="2000" dirty="0">
                <a:solidFill>
                  <a:prstClr val="black"/>
                </a:solidFill>
                <a:latin typeface="Times New Roman"/>
                <a:cs typeface="Times New Roman"/>
              </a:rPr>
              <a:t>of</a:t>
            </a:r>
            <a:r>
              <a:rPr sz="2000" spc="40" dirty="0">
                <a:solidFill>
                  <a:prstClr val="black"/>
                </a:solidFill>
                <a:latin typeface="Times New Roman"/>
                <a:cs typeface="Times New Roman"/>
              </a:rPr>
              <a:t>  </a:t>
            </a:r>
            <a:r>
              <a:rPr sz="2000" dirty="0">
                <a:solidFill>
                  <a:prstClr val="black"/>
                </a:solidFill>
                <a:latin typeface="Times New Roman"/>
                <a:cs typeface="Times New Roman"/>
              </a:rPr>
              <a:t>the</a:t>
            </a:r>
            <a:r>
              <a:rPr sz="2000" spc="40" dirty="0">
                <a:solidFill>
                  <a:prstClr val="black"/>
                </a:solidFill>
                <a:latin typeface="Times New Roman"/>
                <a:cs typeface="Times New Roman"/>
              </a:rPr>
              <a:t>  </a:t>
            </a:r>
            <a:r>
              <a:rPr sz="2000" dirty="0">
                <a:solidFill>
                  <a:prstClr val="black"/>
                </a:solidFill>
                <a:latin typeface="Times New Roman"/>
                <a:cs typeface="Times New Roman"/>
              </a:rPr>
              <a:t>pers</a:t>
            </a:r>
            <a:r>
              <a:rPr sz="2000" spc="45" dirty="0">
                <a:solidFill>
                  <a:prstClr val="black"/>
                </a:solidFill>
                <a:latin typeface="Times New Roman"/>
                <a:cs typeface="Times New Roman"/>
              </a:rPr>
              <a:t>  </a:t>
            </a:r>
            <a:r>
              <a:rPr sz="2000" dirty="0">
                <a:solidFill>
                  <a:prstClr val="black"/>
                </a:solidFill>
                <a:latin typeface="Times New Roman"/>
                <a:cs typeface="Times New Roman"/>
              </a:rPr>
              <a:t>object</a:t>
            </a:r>
            <a:r>
              <a:rPr sz="2000" spc="45" dirty="0">
                <a:solidFill>
                  <a:prstClr val="black"/>
                </a:solidFill>
                <a:latin typeface="Times New Roman"/>
                <a:cs typeface="Times New Roman"/>
              </a:rPr>
              <a:t>  </a:t>
            </a:r>
            <a:r>
              <a:rPr sz="2000" spc="-25" dirty="0">
                <a:solidFill>
                  <a:prstClr val="black"/>
                </a:solidFill>
                <a:latin typeface="Times New Roman"/>
                <a:cs typeface="Times New Roman"/>
              </a:rPr>
              <a:t>are 	</a:t>
            </a:r>
            <a:r>
              <a:rPr sz="2000" dirty="0">
                <a:solidFill>
                  <a:prstClr val="black"/>
                </a:solidFill>
                <a:latin typeface="Times New Roman"/>
                <a:cs typeface="Times New Roman"/>
              </a:rPr>
              <a:t>then</a:t>
            </a:r>
            <a:r>
              <a:rPr sz="2000" spc="165" dirty="0">
                <a:solidFill>
                  <a:prstClr val="black"/>
                </a:solidFill>
                <a:latin typeface="Times New Roman"/>
                <a:cs typeface="Times New Roman"/>
              </a:rPr>
              <a:t> </a:t>
            </a:r>
            <a:r>
              <a:rPr sz="2000" dirty="0">
                <a:solidFill>
                  <a:prstClr val="black"/>
                </a:solidFill>
                <a:latin typeface="Times New Roman"/>
                <a:cs typeface="Times New Roman"/>
              </a:rPr>
              <a:t>written</a:t>
            </a:r>
            <a:r>
              <a:rPr sz="2000" spc="175" dirty="0">
                <a:solidFill>
                  <a:prstClr val="black"/>
                </a:solidFill>
                <a:latin typeface="Times New Roman"/>
                <a:cs typeface="Times New Roman"/>
              </a:rPr>
              <a:t> </a:t>
            </a:r>
            <a:r>
              <a:rPr sz="2000" dirty="0">
                <a:solidFill>
                  <a:prstClr val="black"/>
                </a:solidFill>
                <a:latin typeface="Times New Roman"/>
                <a:cs typeface="Times New Roman"/>
              </a:rPr>
              <a:t>to</a:t>
            </a:r>
            <a:r>
              <a:rPr sz="2000" spc="160" dirty="0">
                <a:solidFill>
                  <a:prstClr val="black"/>
                </a:solidFill>
                <a:latin typeface="Times New Roman"/>
                <a:cs typeface="Times New Roman"/>
              </a:rPr>
              <a:t> </a:t>
            </a:r>
            <a:r>
              <a:rPr sz="2000" dirty="0">
                <a:solidFill>
                  <a:prstClr val="black"/>
                </a:solidFill>
                <a:latin typeface="Times New Roman"/>
                <a:cs typeface="Times New Roman"/>
              </a:rPr>
              <a:t>disk,</a:t>
            </a:r>
            <a:r>
              <a:rPr sz="2000" spc="165" dirty="0">
                <a:solidFill>
                  <a:prstClr val="black"/>
                </a:solidFill>
                <a:latin typeface="Times New Roman"/>
                <a:cs typeface="Times New Roman"/>
              </a:rPr>
              <a:t> </a:t>
            </a:r>
            <a:r>
              <a:rPr sz="2000" dirty="0">
                <a:solidFill>
                  <a:prstClr val="black"/>
                </a:solidFill>
                <a:latin typeface="Times New Roman"/>
                <a:cs typeface="Times New Roman"/>
              </a:rPr>
              <a:t>using</a:t>
            </a:r>
            <a:r>
              <a:rPr sz="2000" spc="175" dirty="0">
                <a:solidFill>
                  <a:prstClr val="black"/>
                </a:solidFill>
                <a:latin typeface="Times New Roman"/>
                <a:cs typeface="Times New Roman"/>
              </a:rPr>
              <a:t> </a:t>
            </a:r>
            <a:r>
              <a:rPr sz="2000" dirty="0">
                <a:solidFill>
                  <a:prstClr val="black"/>
                </a:solidFill>
                <a:latin typeface="Times New Roman"/>
                <a:cs typeface="Times New Roman"/>
              </a:rPr>
              <a:t>the</a:t>
            </a:r>
            <a:r>
              <a:rPr sz="2000" spc="165" dirty="0">
                <a:solidFill>
                  <a:prstClr val="black"/>
                </a:solidFill>
                <a:latin typeface="Times New Roman"/>
                <a:cs typeface="Times New Roman"/>
              </a:rPr>
              <a:t> </a:t>
            </a:r>
            <a:r>
              <a:rPr sz="2000" b="1" spc="-10" dirty="0">
                <a:solidFill>
                  <a:prstClr val="black"/>
                </a:solidFill>
                <a:latin typeface="Times New Roman"/>
                <a:cs typeface="Times New Roman"/>
              </a:rPr>
              <a:t>write() 	</a:t>
            </a:r>
            <a:r>
              <a:rPr sz="2000" spc="-10" dirty="0">
                <a:solidFill>
                  <a:prstClr val="black"/>
                </a:solidFill>
                <a:latin typeface="Times New Roman"/>
                <a:cs typeface="Times New Roman"/>
              </a:rPr>
              <a:t>function.</a:t>
            </a:r>
            <a:endParaRPr sz="2000">
              <a:solidFill>
                <a:prstClr val="black"/>
              </a:solidFill>
              <a:latin typeface="Times New Roman"/>
              <a:cs typeface="Times New Roman"/>
            </a:endParaRPr>
          </a:p>
          <a:p>
            <a:pPr marL="351790" marR="6985" indent="-339725" algn="just">
              <a:buFont typeface="Arial MT"/>
              <a:buChar char="•"/>
              <a:tabLst>
                <a:tab pos="355600" algn="l"/>
              </a:tabLst>
            </a:pPr>
            <a:r>
              <a:rPr sz="2000" dirty="0">
                <a:solidFill>
                  <a:prstClr val="black"/>
                </a:solidFill>
                <a:latin typeface="Times New Roman"/>
                <a:cs typeface="Times New Roman"/>
              </a:rPr>
              <a:t>We</a:t>
            </a:r>
            <a:r>
              <a:rPr sz="2000" spc="130" dirty="0">
                <a:solidFill>
                  <a:prstClr val="black"/>
                </a:solidFill>
                <a:latin typeface="Times New Roman"/>
                <a:cs typeface="Times New Roman"/>
              </a:rPr>
              <a:t> </a:t>
            </a:r>
            <a:r>
              <a:rPr sz="2000" dirty="0">
                <a:solidFill>
                  <a:prstClr val="black"/>
                </a:solidFill>
                <a:latin typeface="Times New Roman"/>
                <a:cs typeface="Times New Roman"/>
              </a:rPr>
              <a:t>use</a:t>
            </a:r>
            <a:r>
              <a:rPr sz="2000" spc="130" dirty="0">
                <a:solidFill>
                  <a:prstClr val="black"/>
                </a:solidFill>
                <a:latin typeface="Times New Roman"/>
                <a:cs typeface="Times New Roman"/>
              </a:rPr>
              <a:t> </a:t>
            </a:r>
            <a:r>
              <a:rPr sz="2000" dirty="0">
                <a:solidFill>
                  <a:prstClr val="black"/>
                </a:solidFill>
                <a:latin typeface="Times New Roman"/>
                <a:cs typeface="Times New Roman"/>
              </a:rPr>
              <a:t>the</a:t>
            </a:r>
            <a:r>
              <a:rPr sz="2000" spc="145" dirty="0">
                <a:solidFill>
                  <a:prstClr val="black"/>
                </a:solidFill>
                <a:latin typeface="Times New Roman"/>
                <a:cs typeface="Times New Roman"/>
              </a:rPr>
              <a:t> </a:t>
            </a:r>
            <a:r>
              <a:rPr sz="2000" b="1" dirty="0">
                <a:solidFill>
                  <a:prstClr val="black"/>
                </a:solidFill>
                <a:latin typeface="Times New Roman"/>
                <a:cs typeface="Times New Roman"/>
              </a:rPr>
              <a:t>sizeof</a:t>
            </a:r>
            <a:r>
              <a:rPr sz="2000" b="1" spc="145" dirty="0">
                <a:solidFill>
                  <a:prstClr val="black"/>
                </a:solidFill>
                <a:latin typeface="Times New Roman"/>
                <a:cs typeface="Times New Roman"/>
              </a:rPr>
              <a:t> </a:t>
            </a:r>
            <a:r>
              <a:rPr sz="2000" dirty="0">
                <a:solidFill>
                  <a:prstClr val="black"/>
                </a:solidFill>
                <a:latin typeface="Times New Roman"/>
                <a:cs typeface="Times New Roman"/>
              </a:rPr>
              <a:t>operator</a:t>
            </a:r>
            <a:r>
              <a:rPr sz="2000" spc="145" dirty="0">
                <a:solidFill>
                  <a:prstClr val="black"/>
                </a:solidFill>
                <a:latin typeface="Times New Roman"/>
                <a:cs typeface="Times New Roman"/>
              </a:rPr>
              <a:t> </a:t>
            </a:r>
            <a:r>
              <a:rPr sz="2000" dirty="0">
                <a:solidFill>
                  <a:prstClr val="black"/>
                </a:solidFill>
                <a:latin typeface="Times New Roman"/>
                <a:cs typeface="Times New Roman"/>
              </a:rPr>
              <a:t>to</a:t>
            </a:r>
            <a:r>
              <a:rPr sz="2000" spc="135" dirty="0">
                <a:solidFill>
                  <a:prstClr val="black"/>
                </a:solidFill>
                <a:latin typeface="Times New Roman"/>
                <a:cs typeface="Times New Roman"/>
              </a:rPr>
              <a:t> </a:t>
            </a:r>
            <a:r>
              <a:rPr sz="2000" dirty="0">
                <a:solidFill>
                  <a:prstClr val="black"/>
                </a:solidFill>
                <a:latin typeface="Times New Roman"/>
                <a:cs typeface="Times New Roman"/>
              </a:rPr>
              <a:t>find</a:t>
            </a:r>
            <a:r>
              <a:rPr sz="2000" spc="145" dirty="0">
                <a:solidFill>
                  <a:prstClr val="black"/>
                </a:solidFill>
                <a:latin typeface="Times New Roman"/>
                <a:cs typeface="Times New Roman"/>
              </a:rPr>
              <a:t> </a:t>
            </a:r>
            <a:r>
              <a:rPr sz="2000" spc="-25" dirty="0">
                <a:solidFill>
                  <a:prstClr val="black"/>
                </a:solidFill>
                <a:latin typeface="Times New Roman"/>
                <a:cs typeface="Times New Roman"/>
              </a:rPr>
              <a:t>the 	</a:t>
            </a:r>
            <a:r>
              <a:rPr sz="2000" dirty="0">
                <a:solidFill>
                  <a:prstClr val="black"/>
                </a:solidFill>
                <a:latin typeface="Times New Roman"/>
                <a:cs typeface="Times New Roman"/>
              </a:rPr>
              <a:t>length</a:t>
            </a:r>
            <a:r>
              <a:rPr sz="2000" spc="-30"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5" dirty="0">
                <a:solidFill>
                  <a:prstClr val="black"/>
                </a:solidFill>
                <a:latin typeface="Times New Roman"/>
                <a:cs typeface="Times New Roman"/>
              </a:rPr>
              <a:t> </a:t>
            </a:r>
            <a:r>
              <a:rPr sz="2000" dirty="0">
                <a:solidFill>
                  <a:prstClr val="black"/>
                </a:solidFill>
                <a:latin typeface="Times New Roman"/>
                <a:cs typeface="Times New Roman"/>
              </a:rPr>
              <a:t>pers</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object.</a:t>
            </a:r>
            <a:endParaRPr sz="2000">
              <a:solidFill>
                <a:prstClr val="black"/>
              </a:solidFill>
              <a:latin typeface="Times New Roman"/>
              <a:cs typeface="Times New Roman"/>
            </a:endParaRPr>
          </a:p>
        </p:txBody>
      </p:sp>
      <p:grpSp>
        <p:nvGrpSpPr>
          <p:cNvPr id="4" name="object 4"/>
          <p:cNvGrpSpPr/>
          <p:nvPr/>
        </p:nvGrpSpPr>
        <p:grpSpPr>
          <a:xfrm>
            <a:off x="6003941" y="1296669"/>
            <a:ext cx="4449445" cy="2719705"/>
            <a:chOff x="6003941" y="1296669"/>
            <a:chExt cx="4449445" cy="2719705"/>
          </a:xfrm>
        </p:grpSpPr>
        <p:pic>
          <p:nvPicPr>
            <p:cNvPr id="5" name="object 5"/>
            <p:cNvPicPr/>
            <p:nvPr/>
          </p:nvPicPr>
          <p:blipFill>
            <a:blip r:embed="rId2" cstate="print"/>
            <a:stretch>
              <a:fillRect/>
            </a:stretch>
          </p:blipFill>
          <p:spPr>
            <a:xfrm>
              <a:off x="6003941" y="1405727"/>
              <a:ext cx="4398882" cy="2610337"/>
            </a:xfrm>
            <a:prstGeom prst="rect">
              <a:avLst/>
            </a:prstGeom>
          </p:spPr>
        </p:pic>
        <p:sp>
          <p:nvSpPr>
            <p:cNvPr id="6" name="object 6"/>
            <p:cNvSpPr/>
            <p:nvPr/>
          </p:nvSpPr>
          <p:spPr>
            <a:xfrm>
              <a:off x="9290303" y="1303019"/>
              <a:ext cx="1156970" cy="1705610"/>
            </a:xfrm>
            <a:custGeom>
              <a:avLst/>
              <a:gdLst/>
              <a:ahLst/>
              <a:cxnLst/>
              <a:rect l="l" t="t" r="r" b="b"/>
              <a:pathLst>
                <a:path w="1156970" h="1705610">
                  <a:moveTo>
                    <a:pt x="1156716" y="0"/>
                  </a:moveTo>
                  <a:lnTo>
                    <a:pt x="0" y="0"/>
                  </a:lnTo>
                  <a:lnTo>
                    <a:pt x="0" y="1705355"/>
                  </a:lnTo>
                  <a:lnTo>
                    <a:pt x="1156716" y="1705355"/>
                  </a:lnTo>
                  <a:lnTo>
                    <a:pt x="1156716"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9290303" y="1303019"/>
              <a:ext cx="1156970" cy="1705610"/>
            </a:xfrm>
            <a:custGeom>
              <a:avLst/>
              <a:gdLst/>
              <a:ahLst/>
              <a:cxnLst/>
              <a:rect l="l" t="t" r="r" b="b"/>
              <a:pathLst>
                <a:path w="1156970" h="1705610">
                  <a:moveTo>
                    <a:pt x="0" y="1705355"/>
                  </a:moveTo>
                  <a:lnTo>
                    <a:pt x="1156716" y="1705355"/>
                  </a:lnTo>
                  <a:lnTo>
                    <a:pt x="1156716" y="0"/>
                  </a:lnTo>
                  <a:lnTo>
                    <a:pt x="0" y="0"/>
                  </a:lnTo>
                  <a:lnTo>
                    <a:pt x="0" y="1705355"/>
                  </a:lnTo>
                  <a:close/>
                </a:path>
              </a:pathLst>
            </a:custGeom>
            <a:ln w="12700">
              <a:solidFill>
                <a:srgbClr val="FFFFFF"/>
              </a:solidFill>
            </a:ln>
          </p:spPr>
          <p:txBody>
            <a:bodyPr wrap="square" lIns="0" tIns="0" rIns="0" bIns="0" rtlCol="0"/>
            <a:lstStyle/>
            <a:p>
              <a:endParaRPr>
                <a:solidFill>
                  <a:prstClr val="black"/>
                </a:solidFill>
              </a:endParaRPr>
            </a:p>
          </p:txBody>
        </p:sp>
      </p:grpSp>
      <p:pic>
        <p:nvPicPr>
          <p:cNvPr id="8" name="object 8"/>
          <p:cNvPicPr/>
          <p:nvPr/>
        </p:nvPicPr>
        <p:blipFill>
          <a:blip r:embed="rId3" cstate="print"/>
          <a:stretch>
            <a:fillRect/>
          </a:stretch>
        </p:blipFill>
        <p:spPr>
          <a:xfrm>
            <a:off x="6023893" y="679227"/>
            <a:ext cx="1860716" cy="581501"/>
          </a:xfrm>
          <a:prstGeom prst="rect">
            <a:avLst/>
          </a:prstGeom>
        </p:spPr>
      </p:pic>
      <p:grpSp>
        <p:nvGrpSpPr>
          <p:cNvPr id="9" name="object 9"/>
          <p:cNvGrpSpPr/>
          <p:nvPr/>
        </p:nvGrpSpPr>
        <p:grpSpPr>
          <a:xfrm>
            <a:off x="6003416" y="4133343"/>
            <a:ext cx="6034405" cy="2127250"/>
            <a:chOff x="6003416" y="4133343"/>
            <a:chExt cx="6034405" cy="2127250"/>
          </a:xfrm>
        </p:grpSpPr>
        <p:pic>
          <p:nvPicPr>
            <p:cNvPr id="10" name="object 10"/>
            <p:cNvPicPr/>
            <p:nvPr/>
          </p:nvPicPr>
          <p:blipFill>
            <a:blip r:embed="rId4" cstate="print"/>
            <a:stretch>
              <a:fillRect/>
            </a:stretch>
          </p:blipFill>
          <p:spPr>
            <a:xfrm>
              <a:off x="6003416" y="4133343"/>
              <a:ext cx="6034404" cy="2126738"/>
            </a:xfrm>
            <a:prstGeom prst="rect">
              <a:avLst/>
            </a:prstGeom>
          </p:spPr>
        </p:pic>
        <p:sp>
          <p:nvSpPr>
            <p:cNvPr id="11" name="object 11"/>
            <p:cNvSpPr/>
            <p:nvPr/>
          </p:nvSpPr>
          <p:spPr>
            <a:xfrm>
              <a:off x="9290303" y="4492752"/>
              <a:ext cx="2331720" cy="664845"/>
            </a:xfrm>
            <a:custGeom>
              <a:avLst/>
              <a:gdLst/>
              <a:ahLst/>
              <a:cxnLst/>
              <a:rect l="l" t="t" r="r" b="b"/>
              <a:pathLst>
                <a:path w="2331720" h="664845">
                  <a:moveTo>
                    <a:pt x="2331720" y="0"/>
                  </a:moveTo>
                  <a:lnTo>
                    <a:pt x="0" y="0"/>
                  </a:lnTo>
                  <a:lnTo>
                    <a:pt x="0" y="664464"/>
                  </a:lnTo>
                  <a:lnTo>
                    <a:pt x="2331720" y="664464"/>
                  </a:lnTo>
                  <a:lnTo>
                    <a:pt x="2331720" y="0"/>
                  </a:lnTo>
                  <a:close/>
                </a:path>
              </a:pathLst>
            </a:custGeom>
            <a:solidFill>
              <a:srgbClr val="FFFFFF"/>
            </a:solidFill>
          </p:spPr>
          <p:txBody>
            <a:bodyPr wrap="square" lIns="0" tIns="0" rIns="0" bIns="0" rtlCol="0"/>
            <a:lstStyle/>
            <a:p>
              <a:endParaRPr>
                <a:solidFill>
                  <a:prstClr val="black"/>
                </a:solidFill>
              </a:endParaRPr>
            </a:p>
          </p:txBody>
        </p:sp>
        <p:sp>
          <p:nvSpPr>
            <p:cNvPr id="12" name="object 12"/>
            <p:cNvSpPr/>
            <p:nvPr/>
          </p:nvSpPr>
          <p:spPr>
            <a:xfrm>
              <a:off x="9290303" y="4492752"/>
              <a:ext cx="2331720" cy="664845"/>
            </a:xfrm>
            <a:custGeom>
              <a:avLst/>
              <a:gdLst/>
              <a:ahLst/>
              <a:cxnLst/>
              <a:rect l="l" t="t" r="r" b="b"/>
              <a:pathLst>
                <a:path w="2331720" h="664845">
                  <a:moveTo>
                    <a:pt x="0" y="664464"/>
                  </a:moveTo>
                  <a:lnTo>
                    <a:pt x="2331720" y="664464"/>
                  </a:lnTo>
                  <a:lnTo>
                    <a:pt x="2331720" y="0"/>
                  </a:lnTo>
                  <a:lnTo>
                    <a:pt x="0" y="0"/>
                  </a:lnTo>
                  <a:lnTo>
                    <a:pt x="0" y="664464"/>
                  </a:lnTo>
                  <a:close/>
                </a:path>
              </a:pathLst>
            </a:custGeom>
            <a:ln w="12699">
              <a:solidFill>
                <a:srgbClr val="FFFFFF"/>
              </a:solidFill>
            </a:ln>
          </p:spPr>
          <p:txBody>
            <a:bodyPr wrap="square" lIns="0" tIns="0" rIns="0" bIns="0" rtlCol="0"/>
            <a:lstStyle/>
            <a:p>
              <a:endParaRPr>
                <a:solidFill>
                  <a:prstClr val="black"/>
                </a:solidFill>
              </a:endParaRPr>
            </a:p>
          </p:txBody>
        </p:sp>
        <p:sp>
          <p:nvSpPr>
            <p:cNvPr id="13" name="object 13"/>
            <p:cNvSpPr/>
            <p:nvPr/>
          </p:nvSpPr>
          <p:spPr>
            <a:xfrm>
              <a:off x="9262871" y="5430012"/>
              <a:ext cx="1391920" cy="190500"/>
            </a:xfrm>
            <a:custGeom>
              <a:avLst/>
              <a:gdLst/>
              <a:ahLst/>
              <a:cxnLst/>
              <a:rect l="l" t="t" r="r" b="b"/>
              <a:pathLst>
                <a:path w="1391920" h="190500">
                  <a:moveTo>
                    <a:pt x="1391412" y="0"/>
                  </a:moveTo>
                  <a:lnTo>
                    <a:pt x="0" y="0"/>
                  </a:lnTo>
                  <a:lnTo>
                    <a:pt x="0" y="190500"/>
                  </a:lnTo>
                  <a:lnTo>
                    <a:pt x="1391412" y="190500"/>
                  </a:lnTo>
                  <a:lnTo>
                    <a:pt x="1391412" y="0"/>
                  </a:lnTo>
                  <a:close/>
                </a:path>
              </a:pathLst>
            </a:custGeom>
            <a:solidFill>
              <a:srgbClr val="FFFFFF"/>
            </a:solidFill>
          </p:spPr>
          <p:txBody>
            <a:bodyPr wrap="square" lIns="0" tIns="0" rIns="0" bIns="0" rtlCol="0"/>
            <a:lstStyle/>
            <a:p>
              <a:endParaRPr>
                <a:solidFill>
                  <a:prstClr val="black"/>
                </a:solidFill>
              </a:endParaRPr>
            </a:p>
          </p:txBody>
        </p:sp>
        <p:sp>
          <p:nvSpPr>
            <p:cNvPr id="14" name="object 14"/>
            <p:cNvSpPr/>
            <p:nvPr/>
          </p:nvSpPr>
          <p:spPr>
            <a:xfrm>
              <a:off x="9262871" y="5430012"/>
              <a:ext cx="1391920" cy="190500"/>
            </a:xfrm>
            <a:custGeom>
              <a:avLst/>
              <a:gdLst/>
              <a:ahLst/>
              <a:cxnLst/>
              <a:rect l="l" t="t" r="r" b="b"/>
              <a:pathLst>
                <a:path w="1391920" h="190500">
                  <a:moveTo>
                    <a:pt x="0" y="190500"/>
                  </a:moveTo>
                  <a:lnTo>
                    <a:pt x="1391412" y="190500"/>
                  </a:lnTo>
                  <a:lnTo>
                    <a:pt x="1391412" y="0"/>
                  </a:lnTo>
                  <a:lnTo>
                    <a:pt x="0" y="0"/>
                  </a:lnTo>
                  <a:lnTo>
                    <a:pt x="0" y="190500"/>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17" name="object 17"/>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8" name="object 18"/>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9" name="Date Placeholder 18">
            <a:extLst>
              <a:ext uri="{FF2B5EF4-FFF2-40B4-BE49-F238E27FC236}">
                <a16:creationId xmlns:a16="http://schemas.microsoft.com/office/drawing/2014/main" id="{65698CA2-9A74-2648-CC25-0B0253F022E1}"/>
              </a:ext>
            </a:extLst>
          </p:cNvPr>
          <p:cNvSpPr>
            <a:spLocks noGrp="1"/>
          </p:cNvSpPr>
          <p:nvPr>
            <p:ph type="dt" sz="half" idx="10"/>
          </p:nvPr>
        </p:nvSpPr>
        <p:spPr/>
        <p:txBody>
          <a:bodyPr/>
          <a:lstStyle/>
          <a:p>
            <a:fld id="{2C7D4254-7868-4F03-9199-03231B8E66D5}" type="datetime1">
              <a:rPr lang="en-US" smtClean="0">
                <a:solidFill>
                  <a:prstClr val="black">
                    <a:tint val="75000"/>
                  </a:prstClr>
                </a:solidFill>
              </a:rPr>
              <a:pPr/>
              <a:t>11/17/2025</a:t>
            </a:fld>
            <a:endParaRPr lang="en-US">
              <a:solidFill>
                <a:prstClr val="black">
                  <a:tint val="75000"/>
                </a:prstClr>
              </a:solidFill>
            </a:endParaRPr>
          </a:p>
        </p:txBody>
      </p:sp>
      <p:sp>
        <p:nvSpPr>
          <p:cNvPr id="20" name="Slide Number Placeholder 19">
            <a:extLst>
              <a:ext uri="{FF2B5EF4-FFF2-40B4-BE49-F238E27FC236}">
                <a16:creationId xmlns:a16="http://schemas.microsoft.com/office/drawing/2014/main" id="{3BAA5655-FCCF-FE53-C7BE-2CA74F7C5876}"/>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88</a:t>
            </a:fld>
            <a:endParaRPr spc="-25" dirty="0">
              <a:solidFill>
                <a:prstClr val="black">
                  <a:tint val="75000"/>
                </a:prstClr>
              </a:solidFill>
            </a:endParaRPr>
          </a:p>
        </p:txBody>
      </p:sp>
    </p:spTree>
    <p:extLst>
      <p:ext uri="{BB962C8B-B14F-4D97-AF65-F5344CB8AC3E}">
        <p14:creationId xmlns:p14="http://schemas.microsoft.com/office/powerpoint/2010/main" val="20986695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Object</a:t>
            </a:r>
            <a:r>
              <a:rPr spc="-114" dirty="0"/>
              <a:t> </a:t>
            </a:r>
            <a:r>
              <a:rPr spc="-25" dirty="0"/>
              <a:t>I/O</a:t>
            </a:r>
          </a:p>
        </p:txBody>
      </p:sp>
      <p:sp>
        <p:nvSpPr>
          <p:cNvPr id="20" name="object 20"/>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574368"/>
            <a:ext cx="4319270" cy="1246505"/>
          </a:xfrm>
          <a:prstGeom prst="rect">
            <a:avLst/>
          </a:prstGeom>
        </p:spPr>
        <p:txBody>
          <a:bodyPr vert="horz" wrap="square" lIns="0" tIns="13335" rIns="0" bIns="0" rtlCol="0">
            <a:spAutoFit/>
          </a:bodyPr>
          <a:lstStyle/>
          <a:p>
            <a:pPr marL="12700" algn="just">
              <a:spcBef>
                <a:spcPts val="105"/>
              </a:spcBef>
            </a:pPr>
            <a:r>
              <a:rPr sz="2000" b="1" dirty="0">
                <a:solidFill>
                  <a:prstClr val="black"/>
                </a:solidFill>
                <a:latin typeface="Times New Roman"/>
                <a:cs typeface="Times New Roman"/>
              </a:rPr>
              <a:t>Reading</a:t>
            </a:r>
            <a:r>
              <a:rPr sz="2000" b="1" spc="-40" dirty="0">
                <a:solidFill>
                  <a:prstClr val="black"/>
                </a:solidFill>
                <a:latin typeface="Times New Roman"/>
                <a:cs typeface="Times New Roman"/>
              </a:rPr>
              <a:t> </a:t>
            </a:r>
            <a:r>
              <a:rPr sz="2000" b="1" dirty="0">
                <a:solidFill>
                  <a:prstClr val="black"/>
                </a:solidFill>
                <a:latin typeface="Times New Roman"/>
                <a:cs typeface="Times New Roman"/>
              </a:rPr>
              <a:t>an</a:t>
            </a:r>
            <a:r>
              <a:rPr sz="2000" b="1" spc="-20" dirty="0">
                <a:solidFill>
                  <a:prstClr val="black"/>
                </a:solidFill>
                <a:latin typeface="Times New Roman"/>
                <a:cs typeface="Times New Roman"/>
              </a:rPr>
              <a:t> </a:t>
            </a:r>
            <a:r>
              <a:rPr sz="2000" b="1" dirty="0">
                <a:solidFill>
                  <a:prstClr val="black"/>
                </a:solidFill>
                <a:latin typeface="Times New Roman"/>
                <a:cs typeface="Times New Roman"/>
              </a:rPr>
              <a:t>Object</a:t>
            </a:r>
            <a:r>
              <a:rPr sz="2000" b="1" spc="-40" dirty="0">
                <a:solidFill>
                  <a:prstClr val="black"/>
                </a:solidFill>
                <a:latin typeface="Times New Roman"/>
                <a:cs typeface="Times New Roman"/>
              </a:rPr>
              <a:t> </a:t>
            </a:r>
            <a:r>
              <a:rPr sz="2000" b="1" dirty="0">
                <a:solidFill>
                  <a:prstClr val="black"/>
                </a:solidFill>
                <a:latin typeface="Times New Roman"/>
                <a:cs typeface="Times New Roman"/>
              </a:rPr>
              <a:t>from</a:t>
            </a:r>
            <a:r>
              <a:rPr sz="2000" b="1" spc="-25" dirty="0">
                <a:solidFill>
                  <a:prstClr val="black"/>
                </a:solidFill>
                <a:latin typeface="Times New Roman"/>
                <a:cs typeface="Times New Roman"/>
              </a:rPr>
              <a:t> </a:t>
            </a:r>
            <a:r>
              <a:rPr sz="2000" b="1" spc="-20" dirty="0">
                <a:solidFill>
                  <a:prstClr val="black"/>
                </a:solidFill>
                <a:latin typeface="Times New Roman"/>
                <a:cs typeface="Times New Roman"/>
              </a:rPr>
              <a:t>Disk:</a:t>
            </a:r>
            <a:endParaRPr sz="2000">
              <a:solidFill>
                <a:prstClr val="black"/>
              </a:solidFill>
              <a:latin typeface="Times New Roman"/>
              <a:cs typeface="Times New Roman"/>
            </a:endParaRPr>
          </a:p>
          <a:p>
            <a:pPr marL="351790" marR="5080" indent="-339725" algn="just">
              <a:spcBef>
                <a:spcPts val="5"/>
              </a:spcBef>
              <a:buFont typeface="Arial MT"/>
              <a:buChar char="•"/>
              <a:tabLst>
                <a:tab pos="355600" algn="l"/>
              </a:tabLst>
            </a:pPr>
            <a:r>
              <a:rPr sz="2000" dirty="0">
                <a:solidFill>
                  <a:prstClr val="black"/>
                </a:solidFill>
                <a:latin typeface="Times New Roman"/>
                <a:cs typeface="Times New Roman"/>
              </a:rPr>
              <a:t>The</a:t>
            </a:r>
            <a:r>
              <a:rPr sz="2000" spc="254" dirty="0">
                <a:solidFill>
                  <a:prstClr val="black"/>
                </a:solidFill>
                <a:latin typeface="Times New Roman"/>
                <a:cs typeface="Times New Roman"/>
              </a:rPr>
              <a:t> </a:t>
            </a:r>
            <a:r>
              <a:rPr sz="2000" dirty="0">
                <a:solidFill>
                  <a:prstClr val="black"/>
                </a:solidFill>
                <a:latin typeface="Times New Roman"/>
                <a:cs typeface="Times New Roman"/>
              </a:rPr>
              <a:t>contents</a:t>
            </a:r>
            <a:r>
              <a:rPr sz="2000" spc="245" dirty="0">
                <a:solidFill>
                  <a:prstClr val="black"/>
                </a:solidFill>
                <a:latin typeface="Times New Roman"/>
                <a:cs typeface="Times New Roman"/>
              </a:rPr>
              <a:t> </a:t>
            </a:r>
            <a:r>
              <a:rPr sz="2000" dirty="0">
                <a:solidFill>
                  <a:prstClr val="black"/>
                </a:solidFill>
                <a:latin typeface="Times New Roman"/>
                <a:cs typeface="Times New Roman"/>
              </a:rPr>
              <a:t>of</a:t>
            </a:r>
            <a:r>
              <a:rPr sz="2000" spc="250" dirty="0">
                <a:solidFill>
                  <a:prstClr val="black"/>
                </a:solidFill>
                <a:latin typeface="Times New Roman"/>
                <a:cs typeface="Times New Roman"/>
              </a:rPr>
              <a:t> </a:t>
            </a:r>
            <a:r>
              <a:rPr sz="2000" dirty="0">
                <a:solidFill>
                  <a:prstClr val="black"/>
                </a:solidFill>
                <a:latin typeface="Times New Roman"/>
                <a:cs typeface="Times New Roman"/>
              </a:rPr>
              <a:t>the</a:t>
            </a:r>
            <a:r>
              <a:rPr sz="2000" spc="245" dirty="0">
                <a:solidFill>
                  <a:prstClr val="black"/>
                </a:solidFill>
                <a:latin typeface="Times New Roman"/>
                <a:cs typeface="Times New Roman"/>
              </a:rPr>
              <a:t> </a:t>
            </a:r>
            <a:r>
              <a:rPr sz="2000" dirty="0">
                <a:solidFill>
                  <a:prstClr val="black"/>
                </a:solidFill>
                <a:latin typeface="Times New Roman"/>
                <a:cs typeface="Times New Roman"/>
              </a:rPr>
              <a:t>person</a:t>
            </a:r>
            <a:r>
              <a:rPr sz="2000" spc="250" dirty="0">
                <a:solidFill>
                  <a:prstClr val="black"/>
                </a:solidFill>
                <a:latin typeface="Times New Roman"/>
                <a:cs typeface="Times New Roman"/>
              </a:rPr>
              <a:t> </a:t>
            </a:r>
            <a:r>
              <a:rPr sz="2000" dirty="0">
                <a:solidFill>
                  <a:prstClr val="black"/>
                </a:solidFill>
                <a:latin typeface="Times New Roman"/>
                <a:cs typeface="Times New Roman"/>
              </a:rPr>
              <a:t>object</a:t>
            </a:r>
            <a:r>
              <a:rPr sz="2000" spc="250" dirty="0">
                <a:solidFill>
                  <a:prstClr val="black"/>
                </a:solidFill>
                <a:latin typeface="Times New Roman"/>
                <a:cs typeface="Times New Roman"/>
              </a:rPr>
              <a:t> </a:t>
            </a:r>
            <a:r>
              <a:rPr sz="2000" spc="-25" dirty="0">
                <a:solidFill>
                  <a:prstClr val="black"/>
                </a:solidFill>
                <a:latin typeface="Times New Roman"/>
                <a:cs typeface="Times New Roman"/>
              </a:rPr>
              <a:t>are 	</a:t>
            </a:r>
            <a:r>
              <a:rPr sz="2000" dirty="0">
                <a:solidFill>
                  <a:prstClr val="black"/>
                </a:solidFill>
                <a:latin typeface="Times New Roman"/>
                <a:cs typeface="Times New Roman"/>
              </a:rPr>
              <a:t>read</a:t>
            </a:r>
            <a:r>
              <a:rPr sz="2000" spc="335" dirty="0">
                <a:solidFill>
                  <a:prstClr val="black"/>
                </a:solidFill>
                <a:latin typeface="Times New Roman"/>
                <a:cs typeface="Times New Roman"/>
              </a:rPr>
              <a:t>  </a:t>
            </a:r>
            <a:r>
              <a:rPr sz="2000" dirty="0">
                <a:solidFill>
                  <a:prstClr val="black"/>
                </a:solidFill>
                <a:latin typeface="Times New Roman"/>
                <a:cs typeface="Times New Roman"/>
              </a:rPr>
              <a:t>from</a:t>
            </a:r>
            <a:r>
              <a:rPr sz="2000" spc="325" dirty="0">
                <a:solidFill>
                  <a:prstClr val="black"/>
                </a:solidFill>
                <a:latin typeface="Times New Roman"/>
                <a:cs typeface="Times New Roman"/>
              </a:rPr>
              <a:t>  </a:t>
            </a:r>
            <a:r>
              <a:rPr sz="2000" dirty="0">
                <a:solidFill>
                  <a:prstClr val="black"/>
                </a:solidFill>
                <a:latin typeface="Times New Roman"/>
                <a:cs typeface="Times New Roman"/>
              </a:rPr>
              <a:t>disk,</a:t>
            </a:r>
            <a:r>
              <a:rPr sz="2000" spc="335" dirty="0">
                <a:solidFill>
                  <a:prstClr val="black"/>
                </a:solidFill>
                <a:latin typeface="Times New Roman"/>
                <a:cs typeface="Times New Roman"/>
              </a:rPr>
              <a:t>  </a:t>
            </a:r>
            <a:r>
              <a:rPr sz="2000" dirty="0">
                <a:solidFill>
                  <a:prstClr val="black"/>
                </a:solidFill>
                <a:latin typeface="Times New Roman"/>
                <a:cs typeface="Times New Roman"/>
              </a:rPr>
              <a:t>using</a:t>
            </a:r>
            <a:r>
              <a:rPr sz="2000" spc="340" dirty="0">
                <a:solidFill>
                  <a:prstClr val="black"/>
                </a:solidFill>
                <a:latin typeface="Times New Roman"/>
                <a:cs typeface="Times New Roman"/>
              </a:rPr>
              <a:t>  </a:t>
            </a:r>
            <a:r>
              <a:rPr sz="2000" dirty="0">
                <a:solidFill>
                  <a:prstClr val="black"/>
                </a:solidFill>
                <a:latin typeface="Times New Roman"/>
                <a:cs typeface="Times New Roman"/>
              </a:rPr>
              <a:t>the</a:t>
            </a:r>
            <a:r>
              <a:rPr sz="2000" spc="335" dirty="0">
                <a:solidFill>
                  <a:prstClr val="black"/>
                </a:solidFill>
                <a:latin typeface="Times New Roman"/>
                <a:cs typeface="Times New Roman"/>
              </a:rPr>
              <a:t>  </a:t>
            </a:r>
            <a:r>
              <a:rPr sz="2000" spc="-10" dirty="0">
                <a:solidFill>
                  <a:prstClr val="black"/>
                </a:solidFill>
                <a:latin typeface="Times New Roman"/>
                <a:cs typeface="Times New Roman"/>
              </a:rPr>
              <a:t>read() 	</a:t>
            </a:r>
            <a:r>
              <a:rPr sz="2000" dirty="0">
                <a:solidFill>
                  <a:prstClr val="black"/>
                </a:solidFill>
                <a:latin typeface="Times New Roman"/>
                <a:cs typeface="Times New Roman"/>
              </a:rPr>
              <a:t>member</a:t>
            </a:r>
            <a:r>
              <a:rPr sz="2000" spc="-40" dirty="0">
                <a:solidFill>
                  <a:prstClr val="black"/>
                </a:solidFill>
                <a:latin typeface="Times New Roman"/>
                <a:cs typeface="Times New Roman"/>
              </a:rPr>
              <a:t> </a:t>
            </a:r>
            <a:r>
              <a:rPr sz="2000" spc="-10" dirty="0">
                <a:solidFill>
                  <a:prstClr val="black"/>
                </a:solidFill>
                <a:latin typeface="Times New Roman"/>
                <a:cs typeface="Times New Roman"/>
              </a:rPr>
              <a:t>function.</a:t>
            </a:r>
            <a:endParaRPr sz="2000">
              <a:solidFill>
                <a:prstClr val="black"/>
              </a:solidFill>
              <a:latin typeface="Times New Roman"/>
              <a:cs typeface="Times New Roman"/>
            </a:endParaRPr>
          </a:p>
        </p:txBody>
      </p:sp>
      <p:grpSp>
        <p:nvGrpSpPr>
          <p:cNvPr id="4" name="object 4"/>
          <p:cNvGrpSpPr/>
          <p:nvPr/>
        </p:nvGrpSpPr>
        <p:grpSpPr>
          <a:xfrm>
            <a:off x="5569965" y="565150"/>
            <a:ext cx="6233795" cy="5678805"/>
            <a:chOff x="5569965" y="565150"/>
            <a:chExt cx="6233795" cy="5678805"/>
          </a:xfrm>
        </p:grpSpPr>
        <p:pic>
          <p:nvPicPr>
            <p:cNvPr id="5" name="object 5"/>
            <p:cNvPicPr/>
            <p:nvPr/>
          </p:nvPicPr>
          <p:blipFill>
            <a:blip r:embed="rId2" cstate="print"/>
            <a:stretch>
              <a:fillRect/>
            </a:stretch>
          </p:blipFill>
          <p:spPr>
            <a:xfrm>
              <a:off x="5619293" y="571500"/>
              <a:ext cx="6113524" cy="5672030"/>
            </a:xfrm>
            <a:prstGeom prst="rect">
              <a:avLst/>
            </a:prstGeom>
          </p:spPr>
        </p:pic>
        <p:sp>
          <p:nvSpPr>
            <p:cNvPr id="6" name="object 6"/>
            <p:cNvSpPr/>
            <p:nvPr/>
          </p:nvSpPr>
          <p:spPr>
            <a:xfrm>
              <a:off x="8852915" y="571500"/>
              <a:ext cx="1815464" cy="356870"/>
            </a:xfrm>
            <a:custGeom>
              <a:avLst/>
              <a:gdLst/>
              <a:ahLst/>
              <a:cxnLst/>
              <a:rect l="l" t="t" r="r" b="b"/>
              <a:pathLst>
                <a:path w="1815465" h="356869">
                  <a:moveTo>
                    <a:pt x="1815083" y="0"/>
                  </a:moveTo>
                  <a:lnTo>
                    <a:pt x="0" y="0"/>
                  </a:lnTo>
                  <a:lnTo>
                    <a:pt x="0" y="356615"/>
                  </a:lnTo>
                  <a:lnTo>
                    <a:pt x="1815083" y="356615"/>
                  </a:lnTo>
                  <a:lnTo>
                    <a:pt x="1815083" y="0"/>
                  </a:lnTo>
                  <a:close/>
                </a:path>
              </a:pathLst>
            </a:custGeom>
            <a:solidFill>
              <a:srgbClr val="FFFFFF"/>
            </a:solidFill>
          </p:spPr>
          <p:txBody>
            <a:bodyPr wrap="square" lIns="0" tIns="0" rIns="0" bIns="0" rtlCol="0"/>
            <a:lstStyle/>
            <a:p>
              <a:endParaRPr>
                <a:solidFill>
                  <a:prstClr val="black"/>
                </a:solidFill>
              </a:endParaRPr>
            </a:p>
          </p:txBody>
        </p:sp>
        <p:sp>
          <p:nvSpPr>
            <p:cNvPr id="7" name="object 7"/>
            <p:cNvSpPr/>
            <p:nvPr/>
          </p:nvSpPr>
          <p:spPr>
            <a:xfrm>
              <a:off x="8852915" y="571500"/>
              <a:ext cx="1815464" cy="356870"/>
            </a:xfrm>
            <a:custGeom>
              <a:avLst/>
              <a:gdLst/>
              <a:ahLst/>
              <a:cxnLst/>
              <a:rect l="l" t="t" r="r" b="b"/>
              <a:pathLst>
                <a:path w="1815465" h="356869">
                  <a:moveTo>
                    <a:pt x="0" y="356615"/>
                  </a:moveTo>
                  <a:lnTo>
                    <a:pt x="1815083" y="356615"/>
                  </a:lnTo>
                  <a:lnTo>
                    <a:pt x="1815083" y="0"/>
                  </a:lnTo>
                  <a:lnTo>
                    <a:pt x="0" y="0"/>
                  </a:lnTo>
                  <a:lnTo>
                    <a:pt x="0" y="356615"/>
                  </a:lnTo>
                  <a:close/>
                </a:path>
              </a:pathLst>
            </a:custGeom>
            <a:ln w="12700">
              <a:solidFill>
                <a:srgbClr val="FFFFFF"/>
              </a:solidFill>
            </a:ln>
          </p:spPr>
          <p:txBody>
            <a:bodyPr wrap="square" lIns="0" tIns="0" rIns="0" bIns="0" rtlCol="0"/>
            <a:lstStyle/>
            <a:p>
              <a:endParaRPr>
                <a:solidFill>
                  <a:prstClr val="black"/>
                </a:solidFill>
              </a:endParaRPr>
            </a:p>
          </p:txBody>
        </p:sp>
        <p:sp>
          <p:nvSpPr>
            <p:cNvPr id="8" name="object 8"/>
            <p:cNvSpPr/>
            <p:nvPr/>
          </p:nvSpPr>
          <p:spPr>
            <a:xfrm>
              <a:off x="5576315" y="1245108"/>
              <a:ext cx="6221095" cy="200025"/>
            </a:xfrm>
            <a:custGeom>
              <a:avLst/>
              <a:gdLst/>
              <a:ahLst/>
              <a:cxnLst/>
              <a:rect l="l" t="t" r="r" b="b"/>
              <a:pathLst>
                <a:path w="6221095" h="200025">
                  <a:moveTo>
                    <a:pt x="6220968" y="0"/>
                  </a:moveTo>
                  <a:lnTo>
                    <a:pt x="0" y="0"/>
                  </a:lnTo>
                  <a:lnTo>
                    <a:pt x="0" y="199644"/>
                  </a:lnTo>
                  <a:lnTo>
                    <a:pt x="6220968" y="199644"/>
                  </a:lnTo>
                  <a:lnTo>
                    <a:pt x="6220968" y="0"/>
                  </a:lnTo>
                  <a:close/>
                </a:path>
              </a:pathLst>
            </a:custGeom>
            <a:solidFill>
              <a:srgbClr val="FFFFFF"/>
            </a:solidFill>
          </p:spPr>
          <p:txBody>
            <a:bodyPr wrap="square" lIns="0" tIns="0" rIns="0" bIns="0" rtlCol="0"/>
            <a:lstStyle/>
            <a:p>
              <a:endParaRPr>
                <a:solidFill>
                  <a:prstClr val="black"/>
                </a:solidFill>
              </a:endParaRPr>
            </a:p>
          </p:txBody>
        </p:sp>
        <p:sp>
          <p:nvSpPr>
            <p:cNvPr id="9" name="object 9"/>
            <p:cNvSpPr/>
            <p:nvPr/>
          </p:nvSpPr>
          <p:spPr>
            <a:xfrm>
              <a:off x="5576315" y="1245108"/>
              <a:ext cx="6221095" cy="200025"/>
            </a:xfrm>
            <a:custGeom>
              <a:avLst/>
              <a:gdLst/>
              <a:ahLst/>
              <a:cxnLst/>
              <a:rect l="l" t="t" r="r" b="b"/>
              <a:pathLst>
                <a:path w="6221095" h="200025">
                  <a:moveTo>
                    <a:pt x="0" y="199644"/>
                  </a:moveTo>
                  <a:lnTo>
                    <a:pt x="6220968" y="199644"/>
                  </a:lnTo>
                  <a:lnTo>
                    <a:pt x="6220968" y="0"/>
                  </a:lnTo>
                  <a:lnTo>
                    <a:pt x="0" y="0"/>
                  </a:lnTo>
                  <a:lnTo>
                    <a:pt x="0" y="199644"/>
                  </a:lnTo>
                  <a:close/>
                </a:path>
              </a:pathLst>
            </a:custGeom>
            <a:ln w="12700">
              <a:solidFill>
                <a:srgbClr val="FFFFFF"/>
              </a:solidFill>
            </a:ln>
          </p:spPr>
          <p:txBody>
            <a:bodyPr wrap="square" lIns="0" tIns="0" rIns="0" bIns="0" rtlCol="0"/>
            <a:lstStyle/>
            <a:p>
              <a:endParaRPr>
                <a:solidFill>
                  <a:prstClr val="black"/>
                </a:solidFill>
              </a:endParaRPr>
            </a:p>
          </p:txBody>
        </p:sp>
        <p:sp>
          <p:nvSpPr>
            <p:cNvPr id="10" name="object 10"/>
            <p:cNvSpPr/>
            <p:nvPr/>
          </p:nvSpPr>
          <p:spPr>
            <a:xfrm>
              <a:off x="8852915" y="1444752"/>
              <a:ext cx="2239010" cy="1603375"/>
            </a:xfrm>
            <a:custGeom>
              <a:avLst/>
              <a:gdLst/>
              <a:ahLst/>
              <a:cxnLst/>
              <a:rect l="l" t="t" r="r" b="b"/>
              <a:pathLst>
                <a:path w="2239009" h="1603375">
                  <a:moveTo>
                    <a:pt x="2238755" y="0"/>
                  </a:moveTo>
                  <a:lnTo>
                    <a:pt x="0" y="0"/>
                  </a:lnTo>
                  <a:lnTo>
                    <a:pt x="0" y="1603248"/>
                  </a:lnTo>
                  <a:lnTo>
                    <a:pt x="2238755" y="1603248"/>
                  </a:lnTo>
                  <a:lnTo>
                    <a:pt x="2238755" y="0"/>
                  </a:lnTo>
                  <a:close/>
                </a:path>
              </a:pathLst>
            </a:custGeom>
            <a:solidFill>
              <a:srgbClr val="FFFFFF"/>
            </a:solidFill>
          </p:spPr>
          <p:txBody>
            <a:bodyPr wrap="square" lIns="0" tIns="0" rIns="0" bIns="0" rtlCol="0"/>
            <a:lstStyle/>
            <a:p>
              <a:endParaRPr>
                <a:solidFill>
                  <a:prstClr val="black"/>
                </a:solidFill>
              </a:endParaRPr>
            </a:p>
          </p:txBody>
        </p:sp>
        <p:sp>
          <p:nvSpPr>
            <p:cNvPr id="11" name="object 11"/>
            <p:cNvSpPr/>
            <p:nvPr/>
          </p:nvSpPr>
          <p:spPr>
            <a:xfrm>
              <a:off x="8852915" y="1444752"/>
              <a:ext cx="2239010" cy="1603375"/>
            </a:xfrm>
            <a:custGeom>
              <a:avLst/>
              <a:gdLst/>
              <a:ahLst/>
              <a:cxnLst/>
              <a:rect l="l" t="t" r="r" b="b"/>
              <a:pathLst>
                <a:path w="2239009" h="1603375">
                  <a:moveTo>
                    <a:pt x="0" y="1603248"/>
                  </a:moveTo>
                  <a:lnTo>
                    <a:pt x="2238755" y="1603248"/>
                  </a:lnTo>
                  <a:lnTo>
                    <a:pt x="2238755" y="0"/>
                  </a:lnTo>
                  <a:lnTo>
                    <a:pt x="0" y="0"/>
                  </a:lnTo>
                  <a:lnTo>
                    <a:pt x="0" y="1603248"/>
                  </a:lnTo>
                  <a:close/>
                </a:path>
              </a:pathLst>
            </a:custGeom>
            <a:ln w="12700">
              <a:solidFill>
                <a:srgbClr val="FFFFFF"/>
              </a:solidFill>
            </a:ln>
          </p:spPr>
          <p:txBody>
            <a:bodyPr wrap="square" lIns="0" tIns="0" rIns="0" bIns="0" rtlCol="0"/>
            <a:lstStyle/>
            <a:p>
              <a:endParaRPr>
                <a:solidFill>
                  <a:prstClr val="black"/>
                </a:solidFill>
              </a:endParaRPr>
            </a:p>
          </p:txBody>
        </p:sp>
        <p:sp>
          <p:nvSpPr>
            <p:cNvPr id="12" name="object 12"/>
            <p:cNvSpPr/>
            <p:nvPr/>
          </p:nvSpPr>
          <p:spPr>
            <a:xfrm>
              <a:off x="5576315" y="4069079"/>
              <a:ext cx="6221095" cy="198120"/>
            </a:xfrm>
            <a:custGeom>
              <a:avLst/>
              <a:gdLst/>
              <a:ahLst/>
              <a:cxnLst/>
              <a:rect l="l" t="t" r="r" b="b"/>
              <a:pathLst>
                <a:path w="6221095" h="198120">
                  <a:moveTo>
                    <a:pt x="6220968" y="0"/>
                  </a:moveTo>
                  <a:lnTo>
                    <a:pt x="0" y="0"/>
                  </a:lnTo>
                  <a:lnTo>
                    <a:pt x="0" y="198120"/>
                  </a:lnTo>
                  <a:lnTo>
                    <a:pt x="6220968" y="198120"/>
                  </a:lnTo>
                  <a:lnTo>
                    <a:pt x="6220968" y="0"/>
                  </a:lnTo>
                  <a:close/>
                </a:path>
              </a:pathLst>
            </a:custGeom>
            <a:solidFill>
              <a:srgbClr val="FFFFFF"/>
            </a:solidFill>
          </p:spPr>
          <p:txBody>
            <a:bodyPr wrap="square" lIns="0" tIns="0" rIns="0" bIns="0" rtlCol="0"/>
            <a:lstStyle/>
            <a:p>
              <a:endParaRPr>
                <a:solidFill>
                  <a:prstClr val="black"/>
                </a:solidFill>
              </a:endParaRPr>
            </a:p>
          </p:txBody>
        </p:sp>
        <p:sp>
          <p:nvSpPr>
            <p:cNvPr id="13" name="object 13"/>
            <p:cNvSpPr/>
            <p:nvPr/>
          </p:nvSpPr>
          <p:spPr>
            <a:xfrm>
              <a:off x="5576315" y="4069079"/>
              <a:ext cx="6221095" cy="198120"/>
            </a:xfrm>
            <a:custGeom>
              <a:avLst/>
              <a:gdLst/>
              <a:ahLst/>
              <a:cxnLst/>
              <a:rect l="l" t="t" r="r" b="b"/>
              <a:pathLst>
                <a:path w="6221095" h="198120">
                  <a:moveTo>
                    <a:pt x="0" y="198120"/>
                  </a:moveTo>
                  <a:lnTo>
                    <a:pt x="6220968" y="198120"/>
                  </a:lnTo>
                  <a:lnTo>
                    <a:pt x="6220968" y="0"/>
                  </a:lnTo>
                  <a:lnTo>
                    <a:pt x="0" y="0"/>
                  </a:lnTo>
                  <a:lnTo>
                    <a:pt x="0" y="198120"/>
                  </a:lnTo>
                  <a:close/>
                </a:path>
              </a:pathLst>
            </a:custGeom>
            <a:ln w="12700">
              <a:solidFill>
                <a:srgbClr val="FFFFFF"/>
              </a:solidFill>
            </a:ln>
          </p:spPr>
          <p:txBody>
            <a:bodyPr wrap="square" lIns="0" tIns="0" rIns="0" bIns="0" rtlCol="0"/>
            <a:lstStyle/>
            <a:p>
              <a:endParaRPr>
                <a:solidFill>
                  <a:prstClr val="black"/>
                </a:solidFill>
              </a:endParaRPr>
            </a:p>
          </p:txBody>
        </p:sp>
        <p:sp>
          <p:nvSpPr>
            <p:cNvPr id="14" name="object 14"/>
            <p:cNvSpPr/>
            <p:nvPr/>
          </p:nvSpPr>
          <p:spPr>
            <a:xfrm>
              <a:off x="8852915" y="4718303"/>
              <a:ext cx="2345690" cy="198120"/>
            </a:xfrm>
            <a:custGeom>
              <a:avLst/>
              <a:gdLst/>
              <a:ahLst/>
              <a:cxnLst/>
              <a:rect l="l" t="t" r="r" b="b"/>
              <a:pathLst>
                <a:path w="2345690" h="198120">
                  <a:moveTo>
                    <a:pt x="2345435" y="0"/>
                  </a:moveTo>
                  <a:lnTo>
                    <a:pt x="0" y="0"/>
                  </a:lnTo>
                  <a:lnTo>
                    <a:pt x="0" y="198120"/>
                  </a:lnTo>
                  <a:lnTo>
                    <a:pt x="2345435" y="198120"/>
                  </a:lnTo>
                  <a:lnTo>
                    <a:pt x="2345435" y="0"/>
                  </a:lnTo>
                  <a:close/>
                </a:path>
              </a:pathLst>
            </a:custGeom>
            <a:solidFill>
              <a:srgbClr val="FFFFFF"/>
            </a:solidFill>
          </p:spPr>
          <p:txBody>
            <a:bodyPr wrap="square" lIns="0" tIns="0" rIns="0" bIns="0" rtlCol="0"/>
            <a:lstStyle/>
            <a:p>
              <a:endParaRPr>
                <a:solidFill>
                  <a:prstClr val="black"/>
                </a:solidFill>
              </a:endParaRPr>
            </a:p>
          </p:txBody>
        </p:sp>
        <p:sp>
          <p:nvSpPr>
            <p:cNvPr id="15" name="object 15"/>
            <p:cNvSpPr/>
            <p:nvPr/>
          </p:nvSpPr>
          <p:spPr>
            <a:xfrm>
              <a:off x="8852915" y="4718303"/>
              <a:ext cx="2345690" cy="198120"/>
            </a:xfrm>
            <a:custGeom>
              <a:avLst/>
              <a:gdLst/>
              <a:ahLst/>
              <a:cxnLst/>
              <a:rect l="l" t="t" r="r" b="b"/>
              <a:pathLst>
                <a:path w="2345690" h="198120">
                  <a:moveTo>
                    <a:pt x="0" y="198120"/>
                  </a:moveTo>
                  <a:lnTo>
                    <a:pt x="2345435" y="198120"/>
                  </a:lnTo>
                  <a:lnTo>
                    <a:pt x="2345435" y="0"/>
                  </a:lnTo>
                  <a:lnTo>
                    <a:pt x="0" y="0"/>
                  </a:lnTo>
                  <a:lnTo>
                    <a:pt x="0" y="198120"/>
                  </a:lnTo>
                  <a:close/>
                </a:path>
              </a:pathLst>
            </a:custGeom>
            <a:ln w="12700">
              <a:solidFill>
                <a:srgbClr val="FFFFFF"/>
              </a:solidFill>
            </a:ln>
          </p:spPr>
          <p:txBody>
            <a:bodyPr wrap="square" lIns="0" tIns="0" rIns="0" bIns="0" rtlCol="0"/>
            <a:lstStyle/>
            <a:p>
              <a:endParaRPr>
                <a:solidFill>
                  <a:prstClr val="black"/>
                </a:solidFill>
              </a:endParaRPr>
            </a:p>
          </p:txBody>
        </p:sp>
        <p:sp>
          <p:nvSpPr>
            <p:cNvPr id="16" name="object 16"/>
            <p:cNvSpPr/>
            <p:nvPr/>
          </p:nvSpPr>
          <p:spPr>
            <a:xfrm>
              <a:off x="10123931" y="4876800"/>
              <a:ext cx="1445260" cy="509270"/>
            </a:xfrm>
            <a:custGeom>
              <a:avLst/>
              <a:gdLst/>
              <a:ahLst/>
              <a:cxnLst/>
              <a:rect l="l" t="t" r="r" b="b"/>
              <a:pathLst>
                <a:path w="1445259" h="509270">
                  <a:moveTo>
                    <a:pt x="1444752" y="0"/>
                  </a:moveTo>
                  <a:lnTo>
                    <a:pt x="0" y="0"/>
                  </a:lnTo>
                  <a:lnTo>
                    <a:pt x="0" y="509016"/>
                  </a:lnTo>
                  <a:lnTo>
                    <a:pt x="1444752" y="509016"/>
                  </a:lnTo>
                  <a:lnTo>
                    <a:pt x="1444752" y="0"/>
                  </a:lnTo>
                  <a:close/>
                </a:path>
              </a:pathLst>
            </a:custGeom>
            <a:solidFill>
              <a:srgbClr val="FFFFFF"/>
            </a:solidFill>
          </p:spPr>
          <p:txBody>
            <a:bodyPr wrap="square" lIns="0" tIns="0" rIns="0" bIns="0" rtlCol="0"/>
            <a:lstStyle/>
            <a:p>
              <a:endParaRPr>
                <a:solidFill>
                  <a:prstClr val="black"/>
                </a:solidFill>
              </a:endParaRPr>
            </a:p>
          </p:txBody>
        </p:sp>
        <p:sp>
          <p:nvSpPr>
            <p:cNvPr id="17" name="object 17"/>
            <p:cNvSpPr/>
            <p:nvPr/>
          </p:nvSpPr>
          <p:spPr>
            <a:xfrm>
              <a:off x="10123931" y="4876800"/>
              <a:ext cx="1445260" cy="509270"/>
            </a:xfrm>
            <a:custGeom>
              <a:avLst/>
              <a:gdLst/>
              <a:ahLst/>
              <a:cxnLst/>
              <a:rect l="l" t="t" r="r" b="b"/>
              <a:pathLst>
                <a:path w="1445259" h="509270">
                  <a:moveTo>
                    <a:pt x="0" y="509016"/>
                  </a:moveTo>
                  <a:lnTo>
                    <a:pt x="1444752" y="509016"/>
                  </a:lnTo>
                  <a:lnTo>
                    <a:pt x="1444752" y="0"/>
                  </a:lnTo>
                  <a:lnTo>
                    <a:pt x="0" y="0"/>
                  </a:lnTo>
                  <a:lnTo>
                    <a:pt x="0" y="509016"/>
                  </a:lnTo>
                  <a:close/>
                </a:path>
              </a:pathLst>
            </a:custGeom>
            <a:ln w="12700">
              <a:solidFill>
                <a:srgbClr val="FFFFFF"/>
              </a:solidFill>
            </a:ln>
          </p:spPr>
          <p:txBody>
            <a:bodyPr wrap="square" lIns="0" tIns="0" rIns="0" bIns="0" rtlCol="0"/>
            <a:lstStyle/>
            <a:p>
              <a:endParaRPr>
                <a:solidFill>
                  <a:prstClr val="black"/>
                </a:solidFill>
              </a:endParaRPr>
            </a:p>
          </p:txBody>
        </p:sp>
        <p:sp>
          <p:nvSpPr>
            <p:cNvPr id="18" name="object 18"/>
            <p:cNvSpPr/>
            <p:nvPr/>
          </p:nvSpPr>
          <p:spPr>
            <a:xfrm>
              <a:off x="10123931" y="5612891"/>
              <a:ext cx="1565275" cy="204470"/>
            </a:xfrm>
            <a:custGeom>
              <a:avLst/>
              <a:gdLst/>
              <a:ahLst/>
              <a:cxnLst/>
              <a:rect l="l" t="t" r="r" b="b"/>
              <a:pathLst>
                <a:path w="1565275" h="204470">
                  <a:moveTo>
                    <a:pt x="1565148" y="0"/>
                  </a:moveTo>
                  <a:lnTo>
                    <a:pt x="0" y="0"/>
                  </a:lnTo>
                  <a:lnTo>
                    <a:pt x="0" y="204215"/>
                  </a:lnTo>
                  <a:lnTo>
                    <a:pt x="1565148" y="204215"/>
                  </a:lnTo>
                  <a:lnTo>
                    <a:pt x="1565148" y="0"/>
                  </a:lnTo>
                  <a:close/>
                </a:path>
              </a:pathLst>
            </a:custGeom>
            <a:solidFill>
              <a:srgbClr val="FFFFFF"/>
            </a:solidFill>
          </p:spPr>
          <p:txBody>
            <a:bodyPr wrap="square" lIns="0" tIns="0" rIns="0" bIns="0" rtlCol="0"/>
            <a:lstStyle/>
            <a:p>
              <a:endParaRPr>
                <a:solidFill>
                  <a:prstClr val="black"/>
                </a:solidFill>
              </a:endParaRPr>
            </a:p>
          </p:txBody>
        </p:sp>
        <p:sp>
          <p:nvSpPr>
            <p:cNvPr id="19" name="object 19"/>
            <p:cNvSpPr/>
            <p:nvPr/>
          </p:nvSpPr>
          <p:spPr>
            <a:xfrm>
              <a:off x="10123931" y="5612891"/>
              <a:ext cx="1565275" cy="204470"/>
            </a:xfrm>
            <a:custGeom>
              <a:avLst/>
              <a:gdLst/>
              <a:ahLst/>
              <a:cxnLst/>
              <a:rect l="l" t="t" r="r" b="b"/>
              <a:pathLst>
                <a:path w="1565275" h="204470">
                  <a:moveTo>
                    <a:pt x="0" y="204215"/>
                  </a:moveTo>
                  <a:lnTo>
                    <a:pt x="1565148" y="204215"/>
                  </a:lnTo>
                  <a:lnTo>
                    <a:pt x="1565148" y="0"/>
                  </a:lnTo>
                  <a:lnTo>
                    <a:pt x="0" y="0"/>
                  </a:lnTo>
                  <a:lnTo>
                    <a:pt x="0" y="204215"/>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22" name="object 22"/>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23" name="object 23"/>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24" name="Date Placeholder 23">
            <a:extLst>
              <a:ext uri="{FF2B5EF4-FFF2-40B4-BE49-F238E27FC236}">
                <a16:creationId xmlns:a16="http://schemas.microsoft.com/office/drawing/2014/main" id="{E4710460-4B18-21E2-785E-0FEE7BB4C9EB}"/>
              </a:ext>
            </a:extLst>
          </p:cNvPr>
          <p:cNvSpPr>
            <a:spLocks noGrp="1"/>
          </p:cNvSpPr>
          <p:nvPr>
            <p:ph type="dt" sz="half" idx="10"/>
          </p:nvPr>
        </p:nvSpPr>
        <p:spPr/>
        <p:txBody>
          <a:bodyPr/>
          <a:lstStyle/>
          <a:p>
            <a:fld id="{D1561D78-27EA-4187-B390-D5CD07F1F0DC}" type="datetime1">
              <a:rPr lang="en-US" smtClean="0">
                <a:solidFill>
                  <a:prstClr val="black">
                    <a:tint val="75000"/>
                  </a:prstClr>
                </a:solidFill>
              </a:rPr>
              <a:pPr/>
              <a:t>11/17/2025</a:t>
            </a:fld>
            <a:endParaRPr lang="en-US">
              <a:solidFill>
                <a:prstClr val="black">
                  <a:tint val="75000"/>
                </a:prstClr>
              </a:solidFill>
            </a:endParaRPr>
          </a:p>
        </p:txBody>
      </p:sp>
      <p:sp>
        <p:nvSpPr>
          <p:cNvPr id="25" name="Slide Number Placeholder 24">
            <a:extLst>
              <a:ext uri="{FF2B5EF4-FFF2-40B4-BE49-F238E27FC236}">
                <a16:creationId xmlns:a16="http://schemas.microsoft.com/office/drawing/2014/main" id="{C88F8FEC-9747-5C2A-1EE3-1D27DE591650}"/>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89</a:t>
            </a:fld>
            <a:endParaRPr spc="-25" dirty="0">
              <a:solidFill>
                <a:prstClr val="black">
                  <a:tint val="75000"/>
                </a:prstClr>
              </a:solidFill>
            </a:endParaRPr>
          </a:p>
        </p:txBody>
      </p:sp>
    </p:spTree>
    <p:extLst>
      <p:ext uri="{BB962C8B-B14F-4D97-AF65-F5344CB8AC3E}">
        <p14:creationId xmlns:p14="http://schemas.microsoft.com/office/powerpoint/2010/main" val="13327210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Multiple</a:t>
            </a:r>
            <a:r>
              <a:rPr spc="-145" dirty="0"/>
              <a:t> </a:t>
            </a:r>
            <a:r>
              <a:rPr dirty="0"/>
              <a:t>Objects</a:t>
            </a:r>
            <a:r>
              <a:rPr spc="-120" dirty="0"/>
              <a:t> </a:t>
            </a:r>
            <a:r>
              <a:rPr spc="-25" dirty="0"/>
              <a:t>I/O</a:t>
            </a:r>
          </a:p>
        </p:txBody>
      </p:sp>
      <p:sp>
        <p:nvSpPr>
          <p:cNvPr id="27" name="object 27"/>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grpSp>
        <p:nvGrpSpPr>
          <p:cNvPr id="3" name="object 3"/>
          <p:cNvGrpSpPr/>
          <p:nvPr/>
        </p:nvGrpSpPr>
        <p:grpSpPr>
          <a:xfrm>
            <a:off x="831850" y="1665477"/>
            <a:ext cx="4751070" cy="2682875"/>
            <a:chOff x="831850" y="1665477"/>
            <a:chExt cx="4751070" cy="2682875"/>
          </a:xfrm>
        </p:grpSpPr>
        <p:pic>
          <p:nvPicPr>
            <p:cNvPr id="4" name="object 4"/>
            <p:cNvPicPr/>
            <p:nvPr/>
          </p:nvPicPr>
          <p:blipFill>
            <a:blip r:embed="rId2" cstate="print"/>
            <a:stretch>
              <a:fillRect/>
            </a:stretch>
          </p:blipFill>
          <p:spPr>
            <a:xfrm>
              <a:off x="876306" y="1700399"/>
              <a:ext cx="4553705" cy="2647583"/>
            </a:xfrm>
            <a:prstGeom prst="rect">
              <a:avLst/>
            </a:prstGeom>
          </p:spPr>
        </p:pic>
        <p:sp>
          <p:nvSpPr>
            <p:cNvPr id="5" name="object 5"/>
            <p:cNvSpPr/>
            <p:nvPr/>
          </p:nvSpPr>
          <p:spPr>
            <a:xfrm>
              <a:off x="3643883" y="1671827"/>
              <a:ext cx="1786255" cy="264160"/>
            </a:xfrm>
            <a:custGeom>
              <a:avLst/>
              <a:gdLst/>
              <a:ahLst/>
              <a:cxnLst/>
              <a:rect l="l" t="t" r="r" b="b"/>
              <a:pathLst>
                <a:path w="1786254" h="264160">
                  <a:moveTo>
                    <a:pt x="1786127" y="0"/>
                  </a:moveTo>
                  <a:lnTo>
                    <a:pt x="0" y="0"/>
                  </a:lnTo>
                  <a:lnTo>
                    <a:pt x="0" y="263651"/>
                  </a:lnTo>
                  <a:lnTo>
                    <a:pt x="1786127" y="263651"/>
                  </a:lnTo>
                  <a:lnTo>
                    <a:pt x="1786127" y="0"/>
                  </a:lnTo>
                  <a:close/>
                </a:path>
              </a:pathLst>
            </a:custGeom>
            <a:solidFill>
              <a:srgbClr val="FFFFFF"/>
            </a:solidFill>
          </p:spPr>
          <p:txBody>
            <a:bodyPr wrap="square" lIns="0" tIns="0" rIns="0" bIns="0" rtlCol="0"/>
            <a:lstStyle/>
            <a:p>
              <a:endParaRPr>
                <a:solidFill>
                  <a:prstClr val="black"/>
                </a:solidFill>
              </a:endParaRPr>
            </a:p>
          </p:txBody>
        </p:sp>
        <p:sp>
          <p:nvSpPr>
            <p:cNvPr id="6" name="object 6"/>
            <p:cNvSpPr/>
            <p:nvPr/>
          </p:nvSpPr>
          <p:spPr>
            <a:xfrm>
              <a:off x="3643883" y="1671827"/>
              <a:ext cx="1786255" cy="264160"/>
            </a:xfrm>
            <a:custGeom>
              <a:avLst/>
              <a:gdLst/>
              <a:ahLst/>
              <a:cxnLst/>
              <a:rect l="l" t="t" r="r" b="b"/>
              <a:pathLst>
                <a:path w="1786254" h="264160">
                  <a:moveTo>
                    <a:pt x="0" y="263651"/>
                  </a:moveTo>
                  <a:lnTo>
                    <a:pt x="1786127" y="263651"/>
                  </a:lnTo>
                  <a:lnTo>
                    <a:pt x="1786127" y="0"/>
                  </a:lnTo>
                  <a:lnTo>
                    <a:pt x="0" y="0"/>
                  </a:lnTo>
                  <a:lnTo>
                    <a:pt x="0" y="263651"/>
                  </a:lnTo>
                  <a:close/>
                </a:path>
              </a:pathLst>
            </a:custGeom>
            <a:ln w="12700">
              <a:solidFill>
                <a:srgbClr val="FFFFFF"/>
              </a:solidFill>
            </a:ln>
          </p:spPr>
          <p:txBody>
            <a:bodyPr wrap="square" lIns="0" tIns="0" rIns="0" bIns="0" rtlCol="0"/>
            <a:lstStyle/>
            <a:p>
              <a:endParaRPr>
                <a:solidFill>
                  <a:prstClr val="black"/>
                </a:solidFill>
              </a:endParaRPr>
            </a:p>
          </p:txBody>
        </p:sp>
        <p:sp>
          <p:nvSpPr>
            <p:cNvPr id="7" name="object 7"/>
            <p:cNvSpPr/>
            <p:nvPr/>
          </p:nvSpPr>
          <p:spPr>
            <a:xfrm>
              <a:off x="838200" y="2240279"/>
              <a:ext cx="4738370" cy="198120"/>
            </a:xfrm>
            <a:custGeom>
              <a:avLst/>
              <a:gdLst/>
              <a:ahLst/>
              <a:cxnLst/>
              <a:rect l="l" t="t" r="r" b="b"/>
              <a:pathLst>
                <a:path w="4738370" h="198119">
                  <a:moveTo>
                    <a:pt x="4738116" y="0"/>
                  </a:moveTo>
                  <a:lnTo>
                    <a:pt x="0" y="0"/>
                  </a:lnTo>
                  <a:lnTo>
                    <a:pt x="0" y="198120"/>
                  </a:lnTo>
                  <a:lnTo>
                    <a:pt x="4738116" y="198120"/>
                  </a:lnTo>
                  <a:lnTo>
                    <a:pt x="4738116" y="0"/>
                  </a:lnTo>
                  <a:close/>
                </a:path>
              </a:pathLst>
            </a:custGeom>
            <a:solidFill>
              <a:srgbClr val="FFFFFF"/>
            </a:solidFill>
          </p:spPr>
          <p:txBody>
            <a:bodyPr wrap="square" lIns="0" tIns="0" rIns="0" bIns="0" rtlCol="0"/>
            <a:lstStyle/>
            <a:p>
              <a:endParaRPr>
                <a:solidFill>
                  <a:prstClr val="black"/>
                </a:solidFill>
              </a:endParaRPr>
            </a:p>
          </p:txBody>
        </p:sp>
        <p:sp>
          <p:nvSpPr>
            <p:cNvPr id="8" name="object 8"/>
            <p:cNvSpPr/>
            <p:nvPr/>
          </p:nvSpPr>
          <p:spPr>
            <a:xfrm>
              <a:off x="838200" y="2240279"/>
              <a:ext cx="4738370" cy="198120"/>
            </a:xfrm>
            <a:custGeom>
              <a:avLst/>
              <a:gdLst/>
              <a:ahLst/>
              <a:cxnLst/>
              <a:rect l="l" t="t" r="r" b="b"/>
              <a:pathLst>
                <a:path w="4738370" h="198119">
                  <a:moveTo>
                    <a:pt x="0" y="198120"/>
                  </a:moveTo>
                  <a:lnTo>
                    <a:pt x="4738116" y="198120"/>
                  </a:lnTo>
                  <a:lnTo>
                    <a:pt x="4738116" y="0"/>
                  </a:lnTo>
                  <a:lnTo>
                    <a:pt x="0" y="0"/>
                  </a:lnTo>
                  <a:lnTo>
                    <a:pt x="0" y="198120"/>
                  </a:lnTo>
                  <a:close/>
                </a:path>
              </a:pathLst>
            </a:custGeom>
            <a:ln w="12699">
              <a:solidFill>
                <a:srgbClr val="FFFFFF"/>
              </a:solidFill>
            </a:ln>
          </p:spPr>
          <p:txBody>
            <a:bodyPr wrap="square" lIns="0" tIns="0" rIns="0" bIns="0" rtlCol="0"/>
            <a:lstStyle/>
            <a:p>
              <a:endParaRPr>
                <a:solidFill>
                  <a:prstClr val="black"/>
                </a:solidFill>
              </a:endParaRPr>
            </a:p>
          </p:txBody>
        </p:sp>
        <p:sp>
          <p:nvSpPr>
            <p:cNvPr id="9" name="object 9"/>
            <p:cNvSpPr/>
            <p:nvPr/>
          </p:nvSpPr>
          <p:spPr>
            <a:xfrm>
              <a:off x="3765804" y="2345436"/>
              <a:ext cx="1637030" cy="1477010"/>
            </a:xfrm>
            <a:custGeom>
              <a:avLst/>
              <a:gdLst/>
              <a:ahLst/>
              <a:cxnLst/>
              <a:rect l="l" t="t" r="r" b="b"/>
              <a:pathLst>
                <a:path w="1637029" h="1477010">
                  <a:moveTo>
                    <a:pt x="1636776" y="0"/>
                  </a:moveTo>
                  <a:lnTo>
                    <a:pt x="0" y="0"/>
                  </a:lnTo>
                  <a:lnTo>
                    <a:pt x="0" y="1476756"/>
                  </a:lnTo>
                  <a:lnTo>
                    <a:pt x="1636776" y="1476756"/>
                  </a:lnTo>
                  <a:lnTo>
                    <a:pt x="1636776" y="0"/>
                  </a:lnTo>
                  <a:close/>
                </a:path>
              </a:pathLst>
            </a:custGeom>
            <a:solidFill>
              <a:srgbClr val="FFFFFF"/>
            </a:solidFill>
          </p:spPr>
          <p:txBody>
            <a:bodyPr wrap="square" lIns="0" tIns="0" rIns="0" bIns="0" rtlCol="0"/>
            <a:lstStyle/>
            <a:p>
              <a:endParaRPr>
                <a:solidFill>
                  <a:prstClr val="black"/>
                </a:solidFill>
              </a:endParaRPr>
            </a:p>
          </p:txBody>
        </p:sp>
        <p:sp>
          <p:nvSpPr>
            <p:cNvPr id="10" name="object 10"/>
            <p:cNvSpPr/>
            <p:nvPr/>
          </p:nvSpPr>
          <p:spPr>
            <a:xfrm>
              <a:off x="3765804" y="2345436"/>
              <a:ext cx="1637030" cy="1477010"/>
            </a:xfrm>
            <a:custGeom>
              <a:avLst/>
              <a:gdLst/>
              <a:ahLst/>
              <a:cxnLst/>
              <a:rect l="l" t="t" r="r" b="b"/>
              <a:pathLst>
                <a:path w="1637029" h="1477010">
                  <a:moveTo>
                    <a:pt x="0" y="1476756"/>
                  </a:moveTo>
                  <a:lnTo>
                    <a:pt x="1636776" y="1476756"/>
                  </a:lnTo>
                  <a:lnTo>
                    <a:pt x="1636776" y="0"/>
                  </a:lnTo>
                  <a:lnTo>
                    <a:pt x="0" y="0"/>
                  </a:lnTo>
                  <a:lnTo>
                    <a:pt x="0" y="1476756"/>
                  </a:lnTo>
                  <a:close/>
                </a:path>
              </a:pathLst>
            </a:custGeom>
            <a:ln w="12700">
              <a:solidFill>
                <a:srgbClr val="FFFFFF"/>
              </a:solidFill>
            </a:ln>
          </p:spPr>
          <p:txBody>
            <a:bodyPr wrap="square" lIns="0" tIns="0" rIns="0" bIns="0" rtlCol="0"/>
            <a:lstStyle/>
            <a:p>
              <a:endParaRPr>
                <a:solidFill>
                  <a:prstClr val="black"/>
                </a:solidFill>
              </a:endParaRPr>
            </a:p>
          </p:txBody>
        </p:sp>
      </p:grpSp>
      <p:grpSp>
        <p:nvGrpSpPr>
          <p:cNvPr id="11" name="object 11"/>
          <p:cNvGrpSpPr/>
          <p:nvPr/>
        </p:nvGrpSpPr>
        <p:grpSpPr>
          <a:xfrm>
            <a:off x="1174249" y="4524502"/>
            <a:ext cx="3364865" cy="1305560"/>
            <a:chOff x="1174249" y="4524502"/>
            <a:chExt cx="3364865" cy="1305560"/>
          </a:xfrm>
        </p:grpSpPr>
        <p:pic>
          <p:nvPicPr>
            <p:cNvPr id="12" name="object 12"/>
            <p:cNvPicPr/>
            <p:nvPr/>
          </p:nvPicPr>
          <p:blipFill>
            <a:blip r:embed="rId3" cstate="print"/>
            <a:stretch>
              <a:fillRect/>
            </a:stretch>
          </p:blipFill>
          <p:spPr>
            <a:xfrm>
              <a:off x="1174249" y="4534294"/>
              <a:ext cx="3077710" cy="1295752"/>
            </a:xfrm>
            <a:prstGeom prst="rect">
              <a:avLst/>
            </a:prstGeom>
          </p:spPr>
        </p:pic>
        <p:sp>
          <p:nvSpPr>
            <p:cNvPr id="13" name="object 13"/>
            <p:cNvSpPr/>
            <p:nvPr/>
          </p:nvSpPr>
          <p:spPr>
            <a:xfrm>
              <a:off x="3738372" y="4530852"/>
              <a:ext cx="794385" cy="346075"/>
            </a:xfrm>
            <a:custGeom>
              <a:avLst/>
              <a:gdLst/>
              <a:ahLst/>
              <a:cxnLst/>
              <a:rect l="l" t="t" r="r" b="b"/>
              <a:pathLst>
                <a:path w="794385" h="346075">
                  <a:moveTo>
                    <a:pt x="794003" y="0"/>
                  </a:moveTo>
                  <a:lnTo>
                    <a:pt x="0" y="0"/>
                  </a:lnTo>
                  <a:lnTo>
                    <a:pt x="0" y="345948"/>
                  </a:lnTo>
                  <a:lnTo>
                    <a:pt x="794003" y="345948"/>
                  </a:lnTo>
                  <a:lnTo>
                    <a:pt x="794003" y="0"/>
                  </a:lnTo>
                  <a:close/>
                </a:path>
              </a:pathLst>
            </a:custGeom>
            <a:solidFill>
              <a:srgbClr val="FFFFFF"/>
            </a:solidFill>
          </p:spPr>
          <p:txBody>
            <a:bodyPr wrap="square" lIns="0" tIns="0" rIns="0" bIns="0" rtlCol="0"/>
            <a:lstStyle/>
            <a:p>
              <a:endParaRPr>
                <a:solidFill>
                  <a:prstClr val="black"/>
                </a:solidFill>
              </a:endParaRPr>
            </a:p>
          </p:txBody>
        </p:sp>
        <p:sp>
          <p:nvSpPr>
            <p:cNvPr id="14" name="object 14"/>
            <p:cNvSpPr/>
            <p:nvPr/>
          </p:nvSpPr>
          <p:spPr>
            <a:xfrm>
              <a:off x="3738372" y="4530852"/>
              <a:ext cx="794385" cy="346075"/>
            </a:xfrm>
            <a:custGeom>
              <a:avLst/>
              <a:gdLst/>
              <a:ahLst/>
              <a:cxnLst/>
              <a:rect l="l" t="t" r="r" b="b"/>
              <a:pathLst>
                <a:path w="794385" h="346075">
                  <a:moveTo>
                    <a:pt x="0" y="345948"/>
                  </a:moveTo>
                  <a:lnTo>
                    <a:pt x="794003" y="345948"/>
                  </a:lnTo>
                  <a:lnTo>
                    <a:pt x="794003" y="0"/>
                  </a:lnTo>
                  <a:lnTo>
                    <a:pt x="0" y="0"/>
                  </a:lnTo>
                  <a:lnTo>
                    <a:pt x="0" y="345948"/>
                  </a:lnTo>
                  <a:close/>
                </a:path>
              </a:pathLst>
            </a:custGeom>
            <a:ln w="12700">
              <a:solidFill>
                <a:srgbClr val="FFFFFF"/>
              </a:solidFill>
            </a:ln>
          </p:spPr>
          <p:txBody>
            <a:bodyPr wrap="square" lIns="0" tIns="0" rIns="0" bIns="0" rtlCol="0"/>
            <a:lstStyle/>
            <a:p>
              <a:endParaRPr>
                <a:solidFill>
                  <a:prstClr val="black"/>
                </a:solidFill>
              </a:endParaRPr>
            </a:p>
          </p:txBody>
        </p:sp>
      </p:grpSp>
      <p:grpSp>
        <p:nvGrpSpPr>
          <p:cNvPr id="15" name="object 15"/>
          <p:cNvGrpSpPr/>
          <p:nvPr/>
        </p:nvGrpSpPr>
        <p:grpSpPr>
          <a:xfrm>
            <a:off x="6112692" y="513510"/>
            <a:ext cx="5389245" cy="5674995"/>
            <a:chOff x="6112692" y="513510"/>
            <a:chExt cx="5389245" cy="5674995"/>
          </a:xfrm>
        </p:grpSpPr>
        <p:pic>
          <p:nvPicPr>
            <p:cNvPr id="16" name="object 16"/>
            <p:cNvPicPr/>
            <p:nvPr/>
          </p:nvPicPr>
          <p:blipFill>
            <a:blip r:embed="rId4" cstate="print"/>
            <a:stretch>
              <a:fillRect/>
            </a:stretch>
          </p:blipFill>
          <p:spPr>
            <a:xfrm>
              <a:off x="6112692" y="513510"/>
              <a:ext cx="5388936" cy="5674867"/>
            </a:xfrm>
            <a:prstGeom prst="rect">
              <a:avLst/>
            </a:prstGeom>
          </p:spPr>
        </p:pic>
        <p:sp>
          <p:nvSpPr>
            <p:cNvPr id="17" name="object 17"/>
            <p:cNvSpPr/>
            <p:nvPr/>
          </p:nvSpPr>
          <p:spPr>
            <a:xfrm>
              <a:off x="8852916" y="905256"/>
              <a:ext cx="2345690" cy="699770"/>
            </a:xfrm>
            <a:custGeom>
              <a:avLst/>
              <a:gdLst/>
              <a:ahLst/>
              <a:cxnLst/>
              <a:rect l="l" t="t" r="r" b="b"/>
              <a:pathLst>
                <a:path w="2345690" h="699769">
                  <a:moveTo>
                    <a:pt x="2345435" y="0"/>
                  </a:moveTo>
                  <a:lnTo>
                    <a:pt x="0" y="0"/>
                  </a:lnTo>
                  <a:lnTo>
                    <a:pt x="0" y="699515"/>
                  </a:lnTo>
                  <a:lnTo>
                    <a:pt x="2345435" y="699515"/>
                  </a:lnTo>
                  <a:lnTo>
                    <a:pt x="2345435" y="0"/>
                  </a:lnTo>
                  <a:close/>
                </a:path>
              </a:pathLst>
            </a:custGeom>
            <a:solidFill>
              <a:srgbClr val="FFFFFF"/>
            </a:solidFill>
          </p:spPr>
          <p:txBody>
            <a:bodyPr wrap="square" lIns="0" tIns="0" rIns="0" bIns="0" rtlCol="0"/>
            <a:lstStyle/>
            <a:p>
              <a:endParaRPr>
                <a:solidFill>
                  <a:prstClr val="black"/>
                </a:solidFill>
              </a:endParaRPr>
            </a:p>
          </p:txBody>
        </p:sp>
        <p:sp>
          <p:nvSpPr>
            <p:cNvPr id="18" name="object 18"/>
            <p:cNvSpPr/>
            <p:nvPr/>
          </p:nvSpPr>
          <p:spPr>
            <a:xfrm>
              <a:off x="8852916" y="905256"/>
              <a:ext cx="2345690" cy="699770"/>
            </a:xfrm>
            <a:custGeom>
              <a:avLst/>
              <a:gdLst/>
              <a:ahLst/>
              <a:cxnLst/>
              <a:rect l="l" t="t" r="r" b="b"/>
              <a:pathLst>
                <a:path w="2345690" h="699769">
                  <a:moveTo>
                    <a:pt x="0" y="699515"/>
                  </a:moveTo>
                  <a:lnTo>
                    <a:pt x="2345435" y="699515"/>
                  </a:lnTo>
                  <a:lnTo>
                    <a:pt x="2345435" y="0"/>
                  </a:lnTo>
                  <a:lnTo>
                    <a:pt x="0" y="0"/>
                  </a:lnTo>
                  <a:lnTo>
                    <a:pt x="0" y="699515"/>
                  </a:lnTo>
                  <a:close/>
                </a:path>
              </a:pathLst>
            </a:custGeom>
            <a:ln w="12700">
              <a:solidFill>
                <a:srgbClr val="FFFFFF"/>
              </a:solidFill>
            </a:ln>
          </p:spPr>
          <p:txBody>
            <a:bodyPr wrap="square" lIns="0" tIns="0" rIns="0" bIns="0" rtlCol="0"/>
            <a:lstStyle/>
            <a:p>
              <a:endParaRPr>
                <a:solidFill>
                  <a:prstClr val="black"/>
                </a:solidFill>
              </a:endParaRPr>
            </a:p>
          </p:txBody>
        </p:sp>
        <p:sp>
          <p:nvSpPr>
            <p:cNvPr id="19" name="object 19"/>
            <p:cNvSpPr/>
            <p:nvPr/>
          </p:nvSpPr>
          <p:spPr>
            <a:xfrm>
              <a:off x="8852916" y="2022347"/>
              <a:ext cx="2345690" cy="204470"/>
            </a:xfrm>
            <a:custGeom>
              <a:avLst/>
              <a:gdLst/>
              <a:ahLst/>
              <a:cxnLst/>
              <a:rect l="l" t="t" r="r" b="b"/>
              <a:pathLst>
                <a:path w="2345690" h="204469">
                  <a:moveTo>
                    <a:pt x="2345435" y="0"/>
                  </a:moveTo>
                  <a:lnTo>
                    <a:pt x="0" y="0"/>
                  </a:lnTo>
                  <a:lnTo>
                    <a:pt x="0" y="204215"/>
                  </a:lnTo>
                  <a:lnTo>
                    <a:pt x="2345435" y="204215"/>
                  </a:lnTo>
                  <a:lnTo>
                    <a:pt x="2345435" y="0"/>
                  </a:lnTo>
                  <a:close/>
                </a:path>
              </a:pathLst>
            </a:custGeom>
            <a:solidFill>
              <a:srgbClr val="FFFFFF"/>
            </a:solidFill>
          </p:spPr>
          <p:txBody>
            <a:bodyPr wrap="square" lIns="0" tIns="0" rIns="0" bIns="0" rtlCol="0"/>
            <a:lstStyle/>
            <a:p>
              <a:endParaRPr>
                <a:solidFill>
                  <a:prstClr val="black"/>
                </a:solidFill>
              </a:endParaRPr>
            </a:p>
          </p:txBody>
        </p:sp>
        <p:sp>
          <p:nvSpPr>
            <p:cNvPr id="20" name="object 20"/>
            <p:cNvSpPr/>
            <p:nvPr/>
          </p:nvSpPr>
          <p:spPr>
            <a:xfrm>
              <a:off x="8852916" y="2022347"/>
              <a:ext cx="2345690" cy="204470"/>
            </a:xfrm>
            <a:custGeom>
              <a:avLst/>
              <a:gdLst/>
              <a:ahLst/>
              <a:cxnLst/>
              <a:rect l="l" t="t" r="r" b="b"/>
              <a:pathLst>
                <a:path w="2345690" h="204469">
                  <a:moveTo>
                    <a:pt x="0" y="204215"/>
                  </a:moveTo>
                  <a:lnTo>
                    <a:pt x="2345435" y="204215"/>
                  </a:lnTo>
                  <a:lnTo>
                    <a:pt x="2345435" y="0"/>
                  </a:lnTo>
                  <a:lnTo>
                    <a:pt x="0" y="0"/>
                  </a:lnTo>
                  <a:lnTo>
                    <a:pt x="0" y="204215"/>
                  </a:lnTo>
                  <a:close/>
                </a:path>
              </a:pathLst>
            </a:custGeom>
            <a:ln w="12700">
              <a:solidFill>
                <a:srgbClr val="FFFFFF"/>
              </a:solidFill>
            </a:ln>
          </p:spPr>
          <p:txBody>
            <a:bodyPr wrap="square" lIns="0" tIns="0" rIns="0" bIns="0" rtlCol="0"/>
            <a:lstStyle/>
            <a:p>
              <a:endParaRPr>
                <a:solidFill>
                  <a:prstClr val="black"/>
                </a:solidFill>
              </a:endParaRPr>
            </a:p>
          </p:txBody>
        </p:sp>
        <p:sp>
          <p:nvSpPr>
            <p:cNvPr id="21" name="object 21"/>
            <p:cNvSpPr/>
            <p:nvPr/>
          </p:nvSpPr>
          <p:spPr>
            <a:xfrm>
              <a:off x="8958072" y="2570988"/>
              <a:ext cx="2028825" cy="379730"/>
            </a:xfrm>
            <a:custGeom>
              <a:avLst/>
              <a:gdLst/>
              <a:ahLst/>
              <a:cxnLst/>
              <a:rect l="l" t="t" r="r" b="b"/>
              <a:pathLst>
                <a:path w="2028825" h="379730">
                  <a:moveTo>
                    <a:pt x="2028444" y="0"/>
                  </a:moveTo>
                  <a:lnTo>
                    <a:pt x="0" y="0"/>
                  </a:lnTo>
                  <a:lnTo>
                    <a:pt x="0" y="379475"/>
                  </a:lnTo>
                  <a:lnTo>
                    <a:pt x="2028444" y="379475"/>
                  </a:lnTo>
                  <a:lnTo>
                    <a:pt x="2028444" y="0"/>
                  </a:lnTo>
                  <a:close/>
                </a:path>
              </a:pathLst>
            </a:custGeom>
            <a:solidFill>
              <a:srgbClr val="FFFFFF"/>
            </a:solidFill>
          </p:spPr>
          <p:txBody>
            <a:bodyPr wrap="square" lIns="0" tIns="0" rIns="0" bIns="0" rtlCol="0"/>
            <a:lstStyle/>
            <a:p>
              <a:endParaRPr>
                <a:solidFill>
                  <a:prstClr val="black"/>
                </a:solidFill>
              </a:endParaRPr>
            </a:p>
          </p:txBody>
        </p:sp>
        <p:sp>
          <p:nvSpPr>
            <p:cNvPr id="22" name="object 22"/>
            <p:cNvSpPr/>
            <p:nvPr/>
          </p:nvSpPr>
          <p:spPr>
            <a:xfrm>
              <a:off x="8958072" y="2570988"/>
              <a:ext cx="2028825" cy="379730"/>
            </a:xfrm>
            <a:custGeom>
              <a:avLst/>
              <a:gdLst/>
              <a:ahLst/>
              <a:cxnLst/>
              <a:rect l="l" t="t" r="r" b="b"/>
              <a:pathLst>
                <a:path w="2028825" h="379730">
                  <a:moveTo>
                    <a:pt x="0" y="379475"/>
                  </a:moveTo>
                  <a:lnTo>
                    <a:pt x="2028444" y="379475"/>
                  </a:lnTo>
                  <a:lnTo>
                    <a:pt x="2028444" y="0"/>
                  </a:lnTo>
                  <a:lnTo>
                    <a:pt x="0" y="0"/>
                  </a:lnTo>
                  <a:lnTo>
                    <a:pt x="0" y="379475"/>
                  </a:lnTo>
                  <a:close/>
                </a:path>
              </a:pathLst>
            </a:custGeom>
            <a:ln w="12700">
              <a:solidFill>
                <a:srgbClr val="FFFFFF"/>
              </a:solidFill>
            </a:ln>
          </p:spPr>
          <p:txBody>
            <a:bodyPr wrap="square" lIns="0" tIns="0" rIns="0" bIns="0" rtlCol="0"/>
            <a:lstStyle/>
            <a:p>
              <a:endParaRPr>
                <a:solidFill>
                  <a:prstClr val="black"/>
                </a:solidFill>
              </a:endParaRPr>
            </a:p>
          </p:txBody>
        </p:sp>
        <p:sp>
          <p:nvSpPr>
            <p:cNvPr id="23" name="object 23"/>
            <p:cNvSpPr/>
            <p:nvPr/>
          </p:nvSpPr>
          <p:spPr>
            <a:xfrm>
              <a:off x="8958072" y="3671316"/>
              <a:ext cx="2133600" cy="609600"/>
            </a:xfrm>
            <a:custGeom>
              <a:avLst/>
              <a:gdLst/>
              <a:ahLst/>
              <a:cxnLst/>
              <a:rect l="l" t="t" r="r" b="b"/>
              <a:pathLst>
                <a:path w="2133600" h="609600">
                  <a:moveTo>
                    <a:pt x="2133600" y="0"/>
                  </a:moveTo>
                  <a:lnTo>
                    <a:pt x="0" y="0"/>
                  </a:lnTo>
                  <a:lnTo>
                    <a:pt x="0" y="609599"/>
                  </a:lnTo>
                  <a:lnTo>
                    <a:pt x="2133600" y="609599"/>
                  </a:lnTo>
                  <a:lnTo>
                    <a:pt x="2133600" y="0"/>
                  </a:lnTo>
                  <a:close/>
                </a:path>
              </a:pathLst>
            </a:custGeom>
            <a:solidFill>
              <a:srgbClr val="FFFFFF"/>
            </a:solidFill>
          </p:spPr>
          <p:txBody>
            <a:bodyPr wrap="square" lIns="0" tIns="0" rIns="0" bIns="0" rtlCol="0"/>
            <a:lstStyle/>
            <a:p>
              <a:endParaRPr>
                <a:solidFill>
                  <a:prstClr val="black"/>
                </a:solidFill>
              </a:endParaRPr>
            </a:p>
          </p:txBody>
        </p:sp>
        <p:sp>
          <p:nvSpPr>
            <p:cNvPr id="24" name="object 24"/>
            <p:cNvSpPr/>
            <p:nvPr/>
          </p:nvSpPr>
          <p:spPr>
            <a:xfrm>
              <a:off x="8958072" y="3671316"/>
              <a:ext cx="2133600" cy="609600"/>
            </a:xfrm>
            <a:custGeom>
              <a:avLst/>
              <a:gdLst/>
              <a:ahLst/>
              <a:cxnLst/>
              <a:rect l="l" t="t" r="r" b="b"/>
              <a:pathLst>
                <a:path w="2133600" h="609600">
                  <a:moveTo>
                    <a:pt x="0" y="609599"/>
                  </a:moveTo>
                  <a:lnTo>
                    <a:pt x="2133600" y="609599"/>
                  </a:lnTo>
                  <a:lnTo>
                    <a:pt x="2133600" y="0"/>
                  </a:lnTo>
                  <a:lnTo>
                    <a:pt x="0" y="0"/>
                  </a:lnTo>
                  <a:lnTo>
                    <a:pt x="0" y="609599"/>
                  </a:lnTo>
                  <a:close/>
                </a:path>
              </a:pathLst>
            </a:custGeom>
            <a:ln w="12700">
              <a:solidFill>
                <a:srgbClr val="FFFFFF"/>
              </a:solidFill>
            </a:ln>
          </p:spPr>
          <p:txBody>
            <a:bodyPr wrap="square" lIns="0" tIns="0" rIns="0" bIns="0" rtlCol="0"/>
            <a:lstStyle/>
            <a:p>
              <a:endParaRPr>
                <a:solidFill>
                  <a:prstClr val="black"/>
                </a:solidFill>
              </a:endParaRPr>
            </a:p>
          </p:txBody>
        </p:sp>
        <p:sp>
          <p:nvSpPr>
            <p:cNvPr id="25" name="object 25"/>
            <p:cNvSpPr/>
            <p:nvPr/>
          </p:nvSpPr>
          <p:spPr>
            <a:xfrm>
              <a:off x="8891016" y="4520184"/>
              <a:ext cx="2095500" cy="685800"/>
            </a:xfrm>
            <a:custGeom>
              <a:avLst/>
              <a:gdLst/>
              <a:ahLst/>
              <a:cxnLst/>
              <a:rect l="l" t="t" r="r" b="b"/>
              <a:pathLst>
                <a:path w="2095500" h="685800">
                  <a:moveTo>
                    <a:pt x="2095500" y="0"/>
                  </a:moveTo>
                  <a:lnTo>
                    <a:pt x="0" y="0"/>
                  </a:lnTo>
                  <a:lnTo>
                    <a:pt x="0" y="685800"/>
                  </a:lnTo>
                  <a:lnTo>
                    <a:pt x="2095500" y="685800"/>
                  </a:lnTo>
                  <a:lnTo>
                    <a:pt x="2095500" y="0"/>
                  </a:lnTo>
                  <a:close/>
                </a:path>
              </a:pathLst>
            </a:custGeom>
            <a:solidFill>
              <a:srgbClr val="FFFFFF"/>
            </a:solidFill>
          </p:spPr>
          <p:txBody>
            <a:bodyPr wrap="square" lIns="0" tIns="0" rIns="0" bIns="0" rtlCol="0"/>
            <a:lstStyle/>
            <a:p>
              <a:endParaRPr>
                <a:solidFill>
                  <a:prstClr val="black"/>
                </a:solidFill>
              </a:endParaRPr>
            </a:p>
          </p:txBody>
        </p:sp>
        <p:sp>
          <p:nvSpPr>
            <p:cNvPr id="26" name="object 26"/>
            <p:cNvSpPr/>
            <p:nvPr/>
          </p:nvSpPr>
          <p:spPr>
            <a:xfrm>
              <a:off x="8891016" y="4520184"/>
              <a:ext cx="2095500" cy="685800"/>
            </a:xfrm>
            <a:custGeom>
              <a:avLst/>
              <a:gdLst/>
              <a:ahLst/>
              <a:cxnLst/>
              <a:rect l="l" t="t" r="r" b="b"/>
              <a:pathLst>
                <a:path w="2095500" h="685800">
                  <a:moveTo>
                    <a:pt x="0" y="685800"/>
                  </a:moveTo>
                  <a:lnTo>
                    <a:pt x="2095500" y="685800"/>
                  </a:lnTo>
                  <a:lnTo>
                    <a:pt x="2095500" y="0"/>
                  </a:lnTo>
                  <a:lnTo>
                    <a:pt x="0" y="0"/>
                  </a:lnTo>
                  <a:lnTo>
                    <a:pt x="0" y="685800"/>
                  </a:lnTo>
                  <a:close/>
                </a:path>
              </a:pathLst>
            </a:custGeom>
            <a:ln w="12700">
              <a:solidFill>
                <a:srgbClr val="FFFFFF"/>
              </a:solidFill>
            </a:ln>
          </p:spPr>
          <p:txBody>
            <a:bodyPr wrap="square" lIns="0" tIns="0" rIns="0" bIns="0" rtlCol="0"/>
            <a:lstStyle/>
            <a:p>
              <a:endParaRPr>
                <a:solidFill>
                  <a:prstClr val="black"/>
                </a:solidFill>
              </a:endParaRPr>
            </a:p>
          </p:txBody>
        </p:sp>
      </p:grpSp>
      <p:sp>
        <p:nvSpPr>
          <p:cNvPr id="29" name="object 29"/>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30" name="object 30"/>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31" name="Date Placeholder 30">
            <a:extLst>
              <a:ext uri="{FF2B5EF4-FFF2-40B4-BE49-F238E27FC236}">
                <a16:creationId xmlns:a16="http://schemas.microsoft.com/office/drawing/2014/main" id="{F24506FA-B821-B697-3128-D8F8BDC6118B}"/>
              </a:ext>
            </a:extLst>
          </p:cNvPr>
          <p:cNvSpPr>
            <a:spLocks noGrp="1"/>
          </p:cNvSpPr>
          <p:nvPr>
            <p:ph type="dt" sz="half" idx="10"/>
          </p:nvPr>
        </p:nvSpPr>
        <p:spPr/>
        <p:txBody>
          <a:bodyPr/>
          <a:lstStyle/>
          <a:p>
            <a:fld id="{D851B455-75EA-4C0E-8E4B-5CFC2AA5A302}" type="datetime1">
              <a:rPr lang="en-US" smtClean="0">
                <a:solidFill>
                  <a:prstClr val="black">
                    <a:tint val="75000"/>
                  </a:prstClr>
                </a:solidFill>
              </a:rPr>
              <a:pPr/>
              <a:t>11/17/2025</a:t>
            </a:fld>
            <a:endParaRPr lang="en-US">
              <a:solidFill>
                <a:prstClr val="black">
                  <a:tint val="75000"/>
                </a:prstClr>
              </a:solidFill>
            </a:endParaRPr>
          </a:p>
        </p:txBody>
      </p:sp>
      <p:sp>
        <p:nvSpPr>
          <p:cNvPr id="32" name="Slide Number Placeholder 31">
            <a:extLst>
              <a:ext uri="{FF2B5EF4-FFF2-40B4-BE49-F238E27FC236}">
                <a16:creationId xmlns:a16="http://schemas.microsoft.com/office/drawing/2014/main" id="{D95C9C47-55FE-41FA-E22D-2BF7C071E221}"/>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90</a:t>
            </a:fld>
            <a:endParaRPr spc="-25" dirty="0">
              <a:solidFill>
                <a:prstClr val="black">
                  <a:tint val="75000"/>
                </a:prstClr>
              </a:solidFill>
            </a:endParaRPr>
          </a:p>
        </p:txBody>
      </p:sp>
    </p:spTree>
    <p:extLst>
      <p:ext uri="{BB962C8B-B14F-4D97-AF65-F5344CB8AC3E}">
        <p14:creationId xmlns:p14="http://schemas.microsoft.com/office/powerpoint/2010/main" val="11078903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File</a:t>
            </a:r>
            <a:r>
              <a:rPr spc="-70" dirty="0"/>
              <a:t> </a:t>
            </a:r>
            <a:r>
              <a:rPr spc="-10" dirty="0"/>
              <a:t>Pointers</a:t>
            </a:r>
          </a:p>
        </p:txBody>
      </p:sp>
      <p:sp>
        <p:nvSpPr>
          <p:cNvPr id="6" name="object 6"/>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1574368"/>
            <a:ext cx="5445125" cy="4599940"/>
          </a:xfrm>
          <a:prstGeom prst="rect">
            <a:avLst/>
          </a:prstGeom>
        </p:spPr>
        <p:txBody>
          <a:bodyPr vert="horz" wrap="square" lIns="0" tIns="13335" rIns="0" bIns="0" rtlCol="0">
            <a:spAutoFit/>
          </a:bodyPr>
          <a:lstStyle/>
          <a:p>
            <a:pPr marL="355600" indent="-342900">
              <a:spcBef>
                <a:spcPts val="105"/>
              </a:spcBef>
              <a:buFont typeface="Arial MT"/>
              <a:buChar char="•"/>
              <a:tabLst>
                <a:tab pos="355600" algn="l"/>
              </a:tabLst>
            </a:pPr>
            <a:r>
              <a:rPr sz="2000" dirty="0">
                <a:solidFill>
                  <a:prstClr val="black"/>
                </a:solidFill>
                <a:latin typeface="Times New Roman"/>
                <a:cs typeface="Times New Roman"/>
              </a:rPr>
              <a:t>The</a:t>
            </a:r>
            <a:r>
              <a:rPr sz="2000" spc="-30" dirty="0">
                <a:solidFill>
                  <a:prstClr val="black"/>
                </a:solidFill>
                <a:latin typeface="Times New Roman"/>
                <a:cs typeface="Times New Roman"/>
              </a:rPr>
              <a:t> </a:t>
            </a:r>
            <a:r>
              <a:rPr sz="2000" b="1" dirty="0">
                <a:solidFill>
                  <a:prstClr val="black"/>
                </a:solidFill>
                <a:latin typeface="Times New Roman"/>
                <a:cs typeface="Times New Roman"/>
              </a:rPr>
              <a:t>seekg()</a:t>
            </a:r>
            <a:r>
              <a:rPr sz="2000" b="1" spc="-30" dirty="0">
                <a:solidFill>
                  <a:prstClr val="black"/>
                </a:solidFill>
                <a:latin typeface="Times New Roman"/>
                <a:cs typeface="Times New Roman"/>
              </a:rPr>
              <a:t> </a:t>
            </a:r>
            <a:r>
              <a:rPr sz="2000" dirty="0">
                <a:solidFill>
                  <a:prstClr val="black"/>
                </a:solidFill>
                <a:latin typeface="Times New Roman"/>
                <a:cs typeface="Times New Roman"/>
              </a:rPr>
              <a:t>function</a:t>
            </a:r>
            <a:r>
              <a:rPr sz="2000" spc="-40" dirty="0">
                <a:solidFill>
                  <a:prstClr val="black"/>
                </a:solidFill>
                <a:latin typeface="Times New Roman"/>
                <a:cs typeface="Times New Roman"/>
              </a:rPr>
              <a:t> </a:t>
            </a:r>
            <a:r>
              <a:rPr sz="2000" dirty="0">
                <a:solidFill>
                  <a:prstClr val="black"/>
                </a:solidFill>
                <a:latin typeface="Times New Roman"/>
                <a:cs typeface="Times New Roman"/>
              </a:rPr>
              <a:t>allow</a:t>
            </a:r>
            <a:r>
              <a:rPr sz="2000" spc="-20" dirty="0">
                <a:solidFill>
                  <a:prstClr val="black"/>
                </a:solidFill>
                <a:latin typeface="Times New Roman"/>
                <a:cs typeface="Times New Roman"/>
              </a:rPr>
              <a:t> </a:t>
            </a:r>
            <a:r>
              <a:rPr sz="2000" dirty="0">
                <a:solidFill>
                  <a:prstClr val="black"/>
                </a:solidFill>
                <a:latin typeface="Times New Roman"/>
                <a:cs typeface="Times New Roman"/>
              </a:rPr>
              <a:t>you</a:t>
            </a:r>
            <a:r>
              <a:rPr sz="2000" spc="-5" dirty="0">
                <a:solidFill>
                  <a:prstClr val="black"/>
                </a:solidFill>
                <a:latin typeface="Times New Roman"/>
                <a:cs typeface="Times New Roman"/>
              </a:rPr>
              <a:t> </a:t>
            </a:r>
            <a:r>
              <a:rPr sz="2000" dirty="0">
                <a:solidFill>
                  <a:prstClr val="black"/>
                </a:solidFill>
                <a:latin typeface="Times New Roman"/>
                <a:cs typeface="Times New Roman"/>
              </a:rPr>
              <a:t>to</a:t>
            </a:r>
            <a:r>
              <a:rPr sz="2000" spc="-20" dirty="0">
                <a:solidFill>
                  <a:prstClr val="black"/>
                </a:solidFill>
                <a:latin typeface="Times New Roman"/>
                <a:cs typeface="Times New Roman"/>
              </a:rPr>
              <a:t> </a:t>
            </a:r>
            <a:r>
              <a:rPr sz="2000" dirty="0">
                <a:solidFill>
                  <a:prstClr val="black"/>
                </a:solidFill>
                <a:latin typeface="Times New Roman"/>
                <a:cs typeface="Times New Roman"/>
              </a:rPr>
              <a:t>set</a:t>
            </a:r>
            <a:r>
              <a:rPr sz="2000" spc="-15"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spc="-10" dirty="0">
                <a:solidFill>
                  <a:prstClr val="black"/>
                </a:solidFill>
                <a:latin typeface="Times New Roman"/>
                <a:cs typeface="Times New Roman"/>
              </a:rPr>
              <a:t>pointer.</a:t>
            </a:r>
            <a:endParaRPr sz="2000">
              <a:solidFill>
                <a:prstClr val="black"/>
              </a:solidFill>
              <a:latin typeface="Times New Roman"/>
              <a:cs typeface="Times New Roman"/>
            </a:endParaRPr>
          </a:p>
          <a:p>
            <a:pPr marL="355600" indent="-342900">
              <a:lnSpc>
                <a:spcPts val="2370"/>
              </a:lnSpc>
              <a:spcBef>
                <a:spcPts val="5"/>
              </a:spcBef>
              <a:buFont typeface="Arial MT"/>
              <a:buChar char="•"/>
              <a:tabLst>
                <a:tab pos="355600" algn="l"/>
              </a:tabLst>
            </a:pPr>
            <a:r>
              <a:rPr sz="2000" dirty="0">
                <a:solidFill>
                  <a:prstClr val="black"/>
                </a:solidFill>
                <a:latin typeface="Times New Roman"/>
                <a:cs typeface="Times New Roman"/>
              </a:rPr>
              <a:t>The</a:t>
            </a:r>
            <a:r>
              <a:rPr sz="2000" spc="-20" dirty="0">
                <a:solidFill>
                  <a:prstClr val="black"/>
                </a:solidFill>
                <a:latin typeface="Times New Roman"/>
                <a:cs typeface="Times New Roman"/>
              </a:rPr>
              <a:t> </a:t>
            </a:r>
            <a:r>
              <a:rPr sz="2000" dirty="0">
                <a:solidFill>
                  <a:prstClr val="black"/>
                </a:solidFill>
                <a:latin typeface="Times New Roman"/>
                <a:cs typeface="Times New Roman"/>
              </a:rPr>
              <a:t>seekg()</a:t>
            </a:r>
            <a:r>
              <a:rPr sz="2000" spc="-40" dirty="0">
                <a:solidFill>
                  <a:prstClr val="black"/>
                </a:solidFill>
                <a:latin typeface="Times New Roman"/>
                <a:cs typeface="Times New Roman"/>
              </a:rPr>
              <a:t> </a:t>
            </a:r>
            <a:r>
              <a:rPr sz="2000" dirty="0">
                <a:solidFill>
                  <a:prstClr val="black"/>
                </a:solidFill>
                <a:latin typeface="Times New Roman"/>
                <a:cs typeface="Times New Roman"/>
              </a:rPr>
              <a:t>function</a:t>
            </a:r>
            <a:r>
              <a:rPr sz="2000" spc="-35" dirty="0">
                <a:solidFill>
                  <a:prstClr val="black"/>
                </a:solidFill>
                <a:latin typeface="Times New Roman"/>
                <a:cs typeface="Times New Roman"/>
              </a:rPr>
              <a:t> </a:t>
            </a:r>
            <a:r>
              <a:rPr sz="2000" dirty="0">
                <a:solidFill>
                  <a:prstClr val="black"/>
                </a:solidFill>
                <a:latin typeface="Times New Roman"/>
                <a:cs typeface="Times New Roman"/>
              </a:rPr>
              <a:t>can be</a:t>
            </a:r>
            <a:r>
              <a:rPr sz="2000" spc="-10" dirty="0">
                <a:solidFill>
                  <a:prstClr val="black"/>
                </a:solidFill>
                <a:latin typeface="Times New Roman"/>
                <a:cs typeface="Times New Roman"/>
              </a:rPr>
              <a:t> </a:t>
            </a:r>
            <a:r>
              <a:rPr sz="2000" dirty="0">
                <a:solidFill>
                  <a:prstClr val="black"/>
                </a:solidFill>
                <a:latin typeface="Times New Roman"/>
                <a:cs typeface="Times New Roman"/>
              </a:rPr>
              <a:t>used</a:t>
            </a:r>
            <a:r>
              <a:rPr sz="2000" spc="-15" dirty="0">
                <a:solidFill>
                  <a:prstClr val="black"/>
                </a:solidFill>
                <a:latin typeface="Times New Roman"/>
                <a:cs typeface="Times New Roman"/>
              </a:rPr>
              <a:t> </a:t>
            </a:r>
            <a:r>
              <a:rPr sz="2000" dirty="0">
                <a:solidFill>
                  <a:prstClr val="black"/>
                </a:solidFill>
                <a:latin typeface="Times New Roman"/>
                <a:cs typeface="Times New Roman"/>
              </a:rPr>
              <a:t>in</a:t>
            </a:r>
            <a:r>
              <a:rPr sz="2000" spc="-5" dirty="0">
                <a:solidFill>
                  <a:prstClr val="black"/>
                </a:solidFill>
                <a:latin typeface="Times New Roman"/>
                <a:cs typeface="Times New Roman"/>
              </a:rPr>
              <a:t> </a:t>
            </a:r>
            <a:r>
              <a:rPr sz="2000" dirty="0">
                <a:solidFill>
                  <a:prstClr val="black"/>
                </a:solidFill>
                <a:latin typeface="Times New Roman"/>
                <a:cs typeface="Times New Roman"/>
              </a:rPr>
              <a:t>two</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ways.</a:t>
            </a:r>
            <a:endParaRPr sz="2000">
              <a:solidFill>
                <a:prstClr val="black"/>
              </a:solidFill>
              <a:latin typeface="Times New Roman"/>
              <a:cs typeface="Times New Roman"/>
            </a:endParaRPr>
          </a:p>
          <a:p>
            <a:pPr marL="469900">
              <a:lnSpc>
                <a:spcPts val="2370"/>
              </a:lnSpc>
            </a:pPr>
            <a:r>
              <a:rPr sz="2000" spc="-10" dirty="0">
                <a:solidFill>
                  <a:prstClr val="black"/>
                </a:solidFill>
                <a:cs typeface="Calibri"/>
              </a:rPr>
              <a:t>file.seekg(0);</a:t>
            </a:r>
            <a:endParaRPr sz="2000">
              <a:solidFill>
                <a:prstClr val="black"/>
              </a:solidFill>
              <a:cs typeface="Calibri"/>
            </a:endParaRPr>
          </a:p>
          <a:p>
            <a:pPr marL="351790" marR="5715" indent="-339725" algn="just">
              <a:spcBef>
                <a:spcPts val="60"/>
              </a:spcBef>
              <a:buFont typeface="Arial MT"/>
              <a:buChar char="•"/>
              <a:tabLst>
                <a:tab pos="355600" algn="l"/>
              </a:tabLst>
            </a:pPr>
            <a:r>
              <a:rPr sz="2000" dirty="0">
                <a:solidFill>
                  <a:prstClr val="black"/>
                </a:solidFill>
                <a:latin typeface="Times New Roman"/>
                <a:cs typeface="Times New Roman"/>
              </a:rPr>
              <a:t>The</a:t>
            </a:r>
            <a:r>
              <a:rPr sz="2000" spc="90" dirty="0">
                <a:solidFill>
                  <a:prstClr val="black"/>
                </a:solidFill>
                <a:latin typeface="Times New Roman"/>
                <a:cs typeface="Times New Roman"/>
              </a:rPr>
              <a:t> </a:t>
            </a:r>
            <a:r>
              <a:rPr sz="2000" dirty="0">
                <a:solidFill>
                  <a:prstClr val="black"/>
                </a:solidFill>
                <a:latin typeface="Times New Roman"/>
                <a:cs typeface="Times New Roman"/>
              </a:rPr>
              <a:t>single</a:t>
            </a:r>
            <a:r>
              <a:rPr sz="2000" spc="95" dirty="0">
                <a:solidFill>
                  <a:prstClr val="black"/>
                </a:solidFill>
                <a:latin typeface="Times New Roman"/>
                <a:cs typeface="Times New Roman"/>
              </a:rPr>
              <a:t> </a:t>
            </a:r>
            <a:r>
              <a:rPr sz="2000" dirty="0">
                <a:solidFill>
                  <a:prstClr val="black"/>
                </a:solidFill>
                <a:latin typeface="Times New Roman"/>
                <a:cs typeface="Times New Roman"/>
              </a:rPr>
              <a:t>argument</a:t>
            </a:r>
            <a:r>
              <a:rPr sz="2000" spc="95" dirty="0">
                <a:solidFill>
                  <a:prstClr val="black"/>
                </a:solidFill>
                <a:latin typeface="Times New Roman"/>
                <a:cs typeface="Times New Roman"/>
              </a:rPr>
              <a:t> </a:t>
            </a:r>
            <a:r>
              <a:rPr sz="2000" dirty="0">
                <a:solidFill>
                  <a:prstClr val="black"/>
                </a:solidFill>
                <a:latin typeface="Times New Roman"/>
                <a:cs typeface="Times New Roman"/>
              </a:rPr>
              <a:t>represents</a:t>
            </a:r>
            <a:r>
              <a:rPr sz="2000" spc="100" dirty="0">
                <a:solidFill>
                  <a:prstClr val="black"/>
                </a:solidFill>
                <a:latin typeface="Times New Roman"/>
                <a:cs typeface="Times New Roman"/>
              </a:rPr>
              <a:t> </a:t>
            </a:r>
            <a:r>
              <a:rPr sz="2000" dirty="0">
                <a:solidFill>
                  <a:prstClr val="black"/>
                </a:solidFill>
                <a:latin typeface="Times New Roman"/>
                <a:cs typeface="Times New Roman"/>
              </a:rPr>
              <a:t>the</a:t>
            </a:r>
            <a:r>
              <a:rPr sz="2000" spc="95" dirty="0">
                <a:solidFill>
                  <a:prstClr val="black"/>
                </a:solidFill>
                <a:latin typeface="Times New Roman"/>
                <a:cs typeface="Times New Roman"/>
              </a:rPr>
              <a:t> </a:t>
            </a:r>
            <a:r>
              <a:rPr sz="2000" dirty="0">
                <a:solidFill>
                  <a:prstClr val="black"/>
                </a:solidFill>
                <a:latin typeface="Times New Roman"/>
                <a:cs typeface="Times New Roman"/>
              </a:rPr>
              <a:t>position</a:t>
            </a:r>
            <a:r>
              <a:rPr sz="2000" spc="95" dirty="0">
                <a:solidFill>
                  <a:prstClr val="black"/>
                </a:solidFill>
                <a:latin typeface="Times New Roman"/>
                <a:cs typeface="Times New Roman"/>
              </a:rPr>
              <a:t> </a:t>
            </a:r>
            <a:r>
              <a:rPr sz="2000" spc="-20" dirty="0">
                <a:solidFill>
                  <a:prstClr val="black"/>
                </a:solidFill>
                <a:latin typeface="Times New Roman"/>
                <a:cs typeface="Times New Roman"/>
              </a:rPr>
              <a:t>from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start</a:t>
            </a:r>
            <a:r>
              <a:rPr sz="2000" spc="-25"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file.</a:t>
            </a:r>
            <a:endParaRPr sz="2000">
              <a:solidFill>
                <a:prstClr val="black"/>
              </a:solidFill>
              <a:latin typeface="Times New Roman"/>
              <a:cs typeface="Times New Roman"/>
            </a:endParaRPr>
          </a:p>
          <a:p>
            <a:pPr marL="469900">
              <a:lnSpc>
                <a:spcPts val="2350"/>
              </a:lnSpc>
            </a:pPr>
            <a:r>
              <a:rPr sz="2000" spc="-10" dirty="0">
                <a:solidFill>
                  <a:prstClr val="black"/>
                </a:solidFill>
                <a:cs typeface="Calibri"/>
              </a:rPr>
              <a:t>seekg(-</a:t>
            </a:r>
            <a:r>
              <a:rPr sz="2000" dirty="0">
                <a:solidFill>
                  <a:prstClr val="black"/>
                </a:solidFill>
                <a:cs typeface="Calibri"/>
              </a:rPr>
              <a:t>10,</a:t>
            </a:r>
            <a:r>
              <a:rPr sz="2000" spc="5" dirty="0">
                <a:solidFill>
                  <a:prstClr val="black"/>
                </a:solidFill>
                <a:cs typeface="Calibri"/>
              </a:rPr>
              <a:t> </a:t>
            </a:r>
            <a:r>
              <a:rPr sz="2000" spc="-10" dirty="0">
                <a:solidFill>
                  <a:prstClr val="black"/>
                </a:solidFill>
                <a:cs typeface="Calibri"/>
              </a:rPr>
              <a:t>ios::end);</a:t>
            </a:r>
            <a:endParaRPr sz="2000">
              <a:solidFill>
                <a:prstClr val="black"/>
              </a:solidFill>
              <a:cs typeface="Calibri"/>
            </a:endParaRPr>
          </a:p>
          <a:p>
            <a:pPr marL="351790" marR="5080" indent="-339725" algn="just">
              <a:spcBef>
                <a:spcPts val="50"/>
              </a:spcBef>
              <a:buFont typeface="Arial MT"/>
              <a:buChar char="•"/>
              <a:tabLst>
                <a:tab pos="355600" algn="l"/>
              </a:tabLst>
            </a:pPr>
            <a:r>
              <a:rPr sz="2000" dirty="0">
                <a:solidFill>
                  <a:prstClr val="black"/>
                </a:solidFill>
                <a:latin typeface="Times New Roman"/>
                <a:cs typeface="Times New Roman"/>
              </a:rPr>
              <a:t>The</a:t>
            </a:r>
            <a:r>
              <a:rPr sz="2000" spc="75" dirty="0">
                <a:solidFill>
                  <a:prstClr val="black"/>
                </a:solidFill>
                <a:latin typeface="Times New Roman"/>
                <a:cs typeface="Times New Roman"/>
              </a:rPr>
              <a:t>  </a:t>
            </a:r>
            <a:r>
              <a:rPr sz="2000" dirty="0">
                <a:solidFill>
                  <a:prstClr val="black"/>
                </a:solidFill>
                <a:latin typeface="Times New Roman"/>
                <a:cs typeface="Times New Roman"/>
              </a:rPr>
              <a:t>two</a:t>
            </a:r>
            <a:r>
              <a:rPr sz="2000" spc="80" dirty="0">
                <a:solidFill>
                  <a:prstClr val="black"/>
                </a:solidFill>
                <a:latin typeface="Times New Roman"/>
                <a:cs typeface="Times New Roman"/>
              </a:rPr>
              <a:t>  </a:t>
            </a:r>
            <a:r>
              <a:rPr sz="2000" dirty="0">
                <a:solidFill>
                  <a:prstClr val="black"/>
                </a:solidFill>
                <a:latin typeface="Times New Roman"/>
                <a:cs typeface="Times New Roman"/>
              </a:rPr>
              <a:t>arguments,</a:t>
            </a:r>
            <a:r>
              <a:rPr sz="2000" spc="75" dirty="0">
                <a:solidFill>
                  <a:prstClr val="black"/>
                </a:solidFill>
                <a:latin typeface="Times New Roman"/>
                <a:cs typeface="Times New Roman"/>
              </a:rPr>
              <a:t>  </a:t>
            </a:r>
            <a:r>
              <a:rPr sz="2000" dirty="0">
                <a:solidFill>
                  <a:prstClr val="black"/>
                </a:solidFill>
                <a:latin typeface="Times New Roman"/>
                <a:cs typeface="Times New Roman"/>
              </a:rPr>
              <a:t>where</a:t>
            </a:r>
            <a:r>
              <a:rPr sz="2000" spc="75" dirty="0">
                <a:solidFill>
                  <a:prstClr val="black"/>
                </a:solidFill>
                <a:latin typeface="Times New Roman"/>
                <a:cs typeface="Times New Roman"/>
              </a:rPr>
              <a:t>  </a:t>
            </a:r>
            <a:r>
              <a:rPr sz="2000" dirty="0">
                <a:solidFill>
                  <a:prstClr val="black"/>
                </a:solidFill>
                <a:latin typeface="Times New Roman"/>
                <a:cs typeface="Times New Roman"/>
              </a:rPr>
              <a:t>the</a:t>
            </a:r>
            <a:r>
              <a:rPr sz="2000" spc="65" dirty="0">
                <a:solidFill>
                  <a:prstClr val="black"/>
                </a:solidFill>
                <a:latin typeface="Times New Roman"/>
                <a:cs typeface="Times New Roman"/>
              </a:rPr>
              <a:t>  </a:t>
            </a:r>
            <a:r>
              <a:rPr sz="2000" dirty="0">
                <a:solidFill>
                  <a:prstClr val="black"/>
                </a:solidFill>
                <a:latin typeface="Times New Roman"/>
                <a:cs typeface="Times New Roman"/>
              </a:rPr>
              <a:t>first</a:t>
            </a:r>
            <a:r>
              <a:rPr sz="2000" spc="70" dirty="0">
                <a:solidFill>
                  <a:prstClr val="black"/>
                </a:solidFill>
                <a:latin typeface="Times New Roman"/>
                <a:cs typeface="Times New Roman"/>
              </a:rPr>
              <a:t>  </a:t>
            </a:r>
            <a:r>
              <a:rPr sz="2000" spc="-10" dirty="0">
                <a:solidFill>
                  <a:prstClr val="black"/>
                </a:solidFill>
                <a:latin typeface="Times New Roman"/>
                <a:cs typeface="Times New Roman"/>
              </a:rPr>
              <a:t>argument 	</a:t>
            </a:r>
            <a:r>
              <a:rPr sz="2000" dirty="0">
                <a:solidFill>
                  <a:prstClr val="black"/>
                </a:solidFill>
                <a:latin typeface="Times New Roman"/>
                <a:cs typeface="Times New Roman"/>
              </a:rPr>
              <a:t>represents</a:t>
            </a:r>
            <a:r>
              <a:rPr sz="2000" spc="200" dirty="0">
                <a:solidFill>
                  <a:prstClr val="black"/>
                </a:solidFill>
                <a:latin typeface="Times New Roman"/>
                <a:cs typeface="Times New Roman"/>
              </a:rPr>
              <a:t> </a:t>
            </a:r>
            <a:r>
              <a:rPr sz="2000" dirty="0">
                <a:solidFill>
                  <a:prstClr val="black"/>
                </a:solidFill>
                <a:latin typeface="Times New Roman"/>
                <a:cs typeface="Times New Roman"/>
              </a:rPr>
              <a:t>an</a:t>
            </a:r>
            <a:r>
              <a:rPr sz="2000" spc="200" dirty="0">
                <a:solidFill>
                  <a:prstClr val="black"/>
                </a:solidFill>
                <a:latin typeface="Times New Roman"/>
                <a:cs typeface="Times New Roman"/>
              </a:rPr>
              <a:t> </a:t>
            </a:r>
            <a:r>
              <a:rPr sz="2000" dirty="0">
                <a:solidFill>
                  <a:prstClr val="black"/>
                </a:solidFill>
                <a:latin typeface="Times New Roman"/>
                <a:cs typeface="Times New Roman"/>
              </a:rPr>
              <a:t>offset</a:t>
            </a:r>
            <a:r>
              <a:rPr sz="2000" spc="185" dirty="0">
                <a:solidFill>
                  <a:prstClr val="black"/>
                </a:solidFill>
                <a:latin typeface="Times New Roman"/>
                <a:cs typeface="Times New Roman"/>
              </a:rPr>
              <a:t> </a:t>
            </a:r>
            <a:r>
              <a:rPr sz="2000" dirty="0">
                <a:solidFill>
                  <a:prstClr val="black"/>
                </a:solidFill>
                <a:latin typeface="Times New Roman"/>
                <a:cs typeface="Times New Roman"/>
              </a:rPr>
              <a:t>from</a:t>
            </a:r>
            <a:r>
              <a:rPr sz="2000" spc="190" dirty="0">
                <a:solidFill>
                  <a:prstClr val="black"/>
                </a:solidFill>
                <a:latin typeface="Times New Roman"/>
                <a:cs typeface="Times New Roman"/>
              </a:rPr>
              <a:t> </a:t>
            </a:r>
            <a:r>
              <a:rPr sz="2000" dirty="0">
                <a:solidFill>
                  <a:prstClr val="black"/>
                </a:solidFill>
                <a:latin typeface="Times New Roman"/>
                <a:cs typeface="Times New Roman"/>
              </a:rPr>
              <a:t>a</a:t>
            </a:r>
            <a:r>
              <a:rPr sz="2000" spc="190" dirty="0">
                <a:solidFill>
                  <a:prstClr val="black"/>
                </a:solidFill>
                <a:latin typeface="Times New Roman"/>
                <a:cs typeface="Times New Roman"/>
              </a:rPr>
              <a:t> </a:t>
            </a:r>
            <a:r>
              <a:rPr sz="2000" dirty="0">
                <a:solidFill>
                  <a:prstClr val="black"/>
                </a:solidFill>
                <a:latin typeface="Times New Roman"/>
                <a:cs typeface="Times New Roman"/>
              </a:rPr>
              <a:t>particular</a:t>
            </a:r>
            <a:r>
              <a:rPr sz="2000" spc="204" dirty="0">
                <a:solidFill>
                  <a:prstClr val="black"/>
                </a:solidFill>
                <a:latin typeface="Times New Roman"/>
                <a:cs typeface="Times New Roman"/>
              </a:rPr>
              <a:t> </a:t>
            </a:r>
            <a:r>
              <a:rPr sz="2000" dirty="0">
                <a:solidFill>
                  <a:prstClr val="black"/>
                </a:solidFill>
                <a:latin typeface="Times New Roman"/>
                <a:cs typeface="Times New Roman"/>
              </a:rPr>
              <a:t>location</a:t>
            </a:r>
            <a:r>
              <a:rPr sz="2000" spc="215" dirty="0">
                <a:solidFill>
                  <a:prstClr val="black"/>
                </a:solidFill>
                <a:latin typeface="Times New Roman"/>
                <a:cs typeface="Times New Roman"/>
              </a:rPr>
              <a:t> </a:t>
            </a:r>
            <a:r>
              <a:rPr sz="2000" spc="-25" dirty="0">
                <a:solidFill>
                  <a:prstClr val="black"/>
                </a:solidFill>
                <a:latin typeface="Times New Roman"/>
                <a:cs typeface="Times New Roman"/>
              </a:rPr>
              <a:t>in 	</a:t>
            </a:r>
            <a:r>
              <a:rPr sz="2000" dirty="0">
                <a:solidFill>
                  <a:prstClr val="black"/>
                </a:solidFill>
                <a:latin typeface="Times New Roman"/>
                <a:cs typeface="Times New Roman"/>
              </a:rPr>
              <a:t>the</a:t>
            </a:r>
            <a:r>
              <a:rPr sz="2000" spc="35" dirty="0">
                <a:solidFill>
                  <a:prstClr val="black"/>
                </a:solidFill>
                <a:latin typeface="Times New Roman"/>
                <a:cs typeface="Times New Roman"/>
              </a:rPr>
              <a:t>  </a:t>
            </a:r>
            <a:r>
              <a:rPr sz="2000" dirty="0">
                <a:solidFill>
                  <a:prstClr val="black"/>
                </a:solidFill>
                <a:latin typeface="Times New Roman"/>
                <a:cs typeface="Times New Roman"/>
              </a:rPr>
              <a:t>file,</a:t>
            </a:r>
            <a:r>
              <a:rPr sz="2000" spc="40" dirty="0">
                <a:solidFill>
                  <a:prstClr val="black"/>
                </a:solidFill>
                <a:latin typeface="Times New Roman"/>
                <a:cs typeface="Times New Roman"/>
              </a:rPr>
              <a:t>  </a:t>
            </a:r>
            <a:r>
              <a:rPr sz="2000" dirty="0">
                <a:solidFill>
                  <a:prstClr val="black"/>
                </a:solidFill>
                <a:latin typeface="Times New Roman"/>
                <a:cs typeface="Times New Roman"/>
              </a:rPr>
              <a:t>and</a:t>
            </a:r>
            <a:r>
              <a:rPr sz="2000" spc="35" dirty="0">
                <a:solidFill>
                  <a:prstClr val="black"/>
                </a:solidFill>
                <a:latin typeface="Times New Roman"/>
                <a:cs typeface="Times New Roman"/>
              </a:rPr>
              <a:t>  </a:t>
            </a:r>
            <a:r>
              <a:rPr sz="2000" dirty="0">
                <a:solidFill>
                  <a:prstClr val="black"/>
                </a:solidFill>
                <a:latin typeface="Times New Roman"/>
                <a:cs typeface="Times New Roman"/>
              </a:rPr>
              <a:t>the</a:t>
            </a:r>
            <a:r>
              <a:rPr sz="2000" spc="40" dirty="0">
                <a:solidFill>
                  <a:prstClr val="black"/>
                </a:solidFill>
                <a:latin typeface="Times New Roman"/>
                <a:cs typeface="Times New Roman"/>
              </a:rPr>
              <a:t>  </a:t>
            </a:r>
            <a:r>
              <a:rPr sz="2000" dirty="0">
                <a:solidFill>
                  <a:prstClr val="black"/>
                </a:solidFill>
                <a:latin typeface="Times New Roman"/>
                <a:cs typeface="Times New Roman"/>
              </a:rPr>
              <a:t>second</a:t>
            </a:r>
            <a:r>
              <a:rPr sz="2000" spc="45" dirty="0">
                <a:solidFill>
                  <a:prstClr val="black"/>
                </a:solidFill>
                <a:latin typeface="Times New Roman"/>
                <a:cs typeface="Times New Roman"/>
              </a:rPr>
              <a:t>  </a:t>
            </a:r>
            <a:r>
              <a:rPr sz="2000" dirty="0">
                <a:solidFill>
                  <a:prstClr val="black"/>
                </a:solidFill>
                <a:latin typeface="Times New Roman"/>
                <a:cs typeface="Times New Roman"/>
              </a:rPr>
              <a:t>specifies</a:t>
            </a:r>
            <a:r>
              <a:rPr sz="2000" spc="35" dirty="0">
                <a:solidFill>
                  <a:prstClr val="black"/>
                </a:solidFill>
                <a:latin typeface="Times New Roman"/>
                <a:cs typeface="Times New Roman"/>
              </a:rPr>
              <a:t>  </a:t>
            </a:r>
            <a:r>
              <a:rPr sz="2000" dirty="0">
                <a:solidFill>
                  <a:prstClr val="black"/>
                </a:solidFill>
                <a:latin typeface="Times New Roman"/>
                <a:cs typeface="Times New Roman"/>
              </a:rPr>
              <a:t>the</a:t>
            </a:r>
            <a:r>
              <a:rPr sz="2000" spc="40" dirty="0">
                <a:solidFill>
                  <a:prstClr val="black"/>
                </a:solidFill>
                <a:latin typeface="Times New Roman"/>
                <a:cs typeface="Times New Roman"/>
              </a:rPr>
              <a:t>  </a:t>
            </a:r>
            <a:r>
              <a:rPr sz="2000" spc="-10" dirty="0">
                <a:solidFill>
                  <a:prstClr val="black"/>
                </a:solidFill>
                <a:latin typeface="Times New Roman"/>
                <a:cs typeface="Times New Roman"/>
              </a:rPr>
              <a:t>location 	</a:t>
            </a:r>
            <a:r>
              <a:rPr sz="2000" dirty="0">
                <a:solidFill>
                  <a:prstClr val="black"/>
                </a:solidFill>
                <a:latin typeface="Times New Roman"/>
                <a:cs typeface="Times New Roman"/>
              </a:rPr>
              <a:t>from</a:t>
            </a:r>
            <a:r>
              <a:rPr sz="2000" spc="-45" dirty="0">
                <a:solidFill>
                  <a:prstClr val="black"/>
                </a:solidFill>
                <a:latin typeface="Times New Roman"/>
                <a:cs typeface="Times New Roman"/>
              </a:rPr>
              <a:t> </a:t>
            </a:r>
            <a:r>
              <a:rPr sz="2000" dirty="0">
                <a:solidFill>
                  <a:prstClr val="black"/>
                </a:solidFill>
                <a:latin typeface="Times New Roman"/>
                <a:cs typeface="Times New Roman"/>
              </a:rPr>
              <a:t>which</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30" dirty="0">
                <a:solidFill>
                  <a:prstClr val="black"/>
                </a:solidFill>
                <a:latin typeface="Times New Roman"/>
                <a:cs typeface="Times New Roman"/>
              </a:rPr>
              <a:t> </a:t>
            </a:r>
            <a:r>
              <a:rPr sz="2000" dirty="0">
                <a:solidFill>
                  <a:prstClr val="black"/>
                </a:solidFill>
                <a:latin typeface="Times New Roman"/>
                <a:cs typeface="Times New Roman"/>
              </a:rPr>
              <a:t>offset</a:t>
            </a:r>
            <a:r>
              <a:rPr sz="2000" spc="-50" dirty="0">
                <a:solidFill>
                  <a:prstClr val="black"/>
                </a:solidFill>
                <a:latin typeface="Times New Roman"/>
                <a:cs typeface="Times New Roman"/>
              </a:rPr>
              <a:t> </a:t>
            </a:r>
            <a:r>
              <a:rPr sz="2000" dirty="0">
                <a:solidFill>
                  <a:prstClr val="black"/>
                </a:solidFill>
                <a:latin typeface="Times New Roman"/>
                <a:cs typeface="Times New Roman"/>
              </a:rPr>
              <a:t>is</a:t>
            </a:r>
            <a:r>
              <a:rPr sz="2000" spc="-15" dirty="0">
                <a:solidFill>
                  <a:prstClr val="black"/>
                </a:solidFill>
                <a:latin typeface="Times New Roman"/>
                <a:cs typeface="Times New Roman"/>
              </a:rPr>
              <a:t> </a:t>
            </a:r>
            <a:r>
              <a:rPr sz="2000" spc="-10" dirty="0">
                <a:solidFill>
                  <a:prstClr val="black"/>
                </a:solidFill>
                <a:latin typeface="Times New Roman"/>
                <a:cs typeface="Times New Roman"/>
              </a:rPr>
              <a:t>measured.</a:t>
            </a:r>
            <a:endParaRPr sz="2000">
              <a:solidFill>
                <a:prstClr val="black"/>
              </a:solidFill>
              <a:latin typeface="Times New Roman"/>
              <a:cs typeface="Times New Roman"/>
            </a:endParaRPr>
          </a:p>
          <a:p>
            <a:pPr marL="351790" marR="5080" indent="-339725" algn="just">
              <a:buFont typeface="Arial MT"/>
              <a:buChar char="•"/>
              <a:tabLst>
                <a:tab pos="355600" algn="l"/>
              </a:tabLst>
            </a:pPr>
            <a:r>
              <a:rPr sz="2000" dirty="0">
                <a:solidFill>
                  <a:prstClr val="black"/>
                </a:solidFill>
                <a:latin typeface="Times New Roman"/>
                <a:cs typeface="Times New Roman"/>
              </a:rPr>
              <a:t>There</a:t>
            </a:r>
            <a:r>
              <a:rPr sz="2000" spc="240" dirty="0">
                <a:solidFill>
                  <a:prstClr val="black"/>
                </a:solidFill>
                <a:latin typeface="Times New Roman"/>
                <a:cs typeface="Times New Roman"/>
              </a:rPr>
              <a:t>  </a:t>
            </a:r>
            <a:r>
              <a:rPr sz="2000" dirty="0">
                <a:solidFill>
                  <a:prstClr val="black"/>
                </a:solidFill>
                <a:latin typeface="Times New Roman"/>
                <a:cs typeface="Times New Roman"/>
              </a:rPr>
              <a:t>are</a:t>
            </a:r>
            <a:r>
              <a:rPr sz="2000" spc="254" dirty="0">
                <a:solidFill>
                  <a:prstClr val="black"/>
                </a:solidFill>
                <a:latin typeface="Times New Roman"/>
                <a:cs typeface="Times New Roman"/>
              </a:rPr>
              <a:t>  </a:t>
            </a:r>
            <a:r>
              <a:rPr sz="2000" dirty="0">
                <a:solidFill>
                  <a:prstClr val="black"/>
                </a:solidFill>
                <a:latin typeface="Times New Roman"/>
                <a:cs typeface="Times New Roman"/>
              </a:rPr>
              <a:t>three</a:t>
            </a:r>
            <a:r>
              <a:rPr sz="2000" spc="240" dirty="0">
                <a:solidFill>
                  <a:prstClr val="black"/>
                </a:solidFill>
                <a:latin typeface="Times New Roman"/>
                <a:cs typeface="Times New Roman"/>
              </a:rPr>
              <a:t>  </a:t>
            </a:r>
            <a:r>
              <a:rPr sz="2000" dirty="0">
                <a:solidFill>
                  <a:prstClr val="black"/>
                </a:solidFill>
                <a:latin typeface="Times New Roman"/>
                <a:cs typeface="Times New Roman"/>
              </a:rPr>
              <a:t>possibilities</a:t>
            </a:r>
            <a:r>
              <a:rPr sz="2000" spc="245" dirty="0">
                <a:solidFill>
                  <a:prstClr val="black"/>
                </a:solidFill>
                <a:latin typeface="Times New Roman"/>
                <a:cs typeface="Times New Roman"/>
              </a:rPr>
              <a:t>  </a:t>
            </a:r>
            <a:r>
              <a:rPr sz="2000" dirty="0">
                <a:solidFill>
                  <a:prstClr val="black"/>
                </a:solidFill>
                <a:latin typeface="Times New Roman"/>
                <a:cs typeface="Times New Roman"/>
              </a:rPr>
              <a:t>for</a:t>
            </a:r>
            <a:r>
              <a:rPr sz="2000" spc="240" dirty="0">
                <a:solidFill>
                  <a:prstClr val="black"/>
                </a:solidFill>
                <a:latin typeface="Times New Roman"/>
                <a:cs typeface="Times New Roman"/>
              </a:rPr>
              <a:t>  </a:t>
            </a:r>
            <a:r>
              <a:rPr sz="2000" dirty="0">
                <a:solidFill>
                  <a:prstClr val="black"/>
                </a:solidFill>
                <a:latin typeface="Times New Roman"/>
                <a:cs typeface="Times New Roman"/>
              </a:rPr>
              <a:t>the</a:t>
            </a:r>
            <a:r>
              <a:rPr sz="2000" spc="245" dirty="0">
                <a:solidFill>
                  <a:prstClr val="black"/>
                </a:solidFill>
                <a:latin typeface="Times New Roman"/>
                <a:cs typeface="Times New Roman"/>
              </a:rPr>
              <a:t>  </a:t>
            </a:r>
            <a:r>
              <a:rPr sz="2000" spc="-10" dirty="0">
                <a:solidFill>
                  <a:prstClr val="black"/>
                </a:solidFill>
                <a:latin typeface="Times New Roman"/>
                <a:cs typeface="Times New Roman"/>
              </a:rPr>
              <a:t>second 	argument:</a:t>
            </a:r>
            <a:endParaRPr sz="2000">
              <a:solidFill>
                <a:prstClr val="black"/>
              </a:solidFill>
              <a:latin typeface="Times New Roman"/>
              <a:cs typeface="Times New Roman"/>
            </a:endParaRPr>
          </a:p>
          <a:p>
            <a:pPr marL="812800" lvl="1" indent="-342900">
              <a:buFont typeface="Arial MT"/>
              <a:buChar char="•"/>
              <a:tabLst>
                <a:tab pos="812800" algn="l"/>
              </a:tabLst>
            </a:pPr>
            <a:r>
              <a:rPr sz="2000" b="1" dirty="0">
                <a:solidFill>
                  <a:prstClr val="black"/>
                </a:solidFill>
                <a:latin typeface="Times New Roman"/>
                <a:cs typeface="Times New Roman"/>
              </a:rPr>
              <a:t>beg</a:t>
            </a:r>
            <a:r>
              <a:rPr sz="2000" b="1" spc="-5" dirty="0">
                <a:solidFill>
                  <a:prstClr val="black"/>
                </a:solidFill>
                <a:latin typeface="Times New Roman"/>
                <a:cs typeface="Times New Roman"/>
              </a:rPr>
              <a:t> </a:t>
            </a:r>
            <a:r>
              <a:rPr sz="2000" dirty="0">
                <a:solidFill>
                  <a:prstClr val="black"/>
                </a:solidFill>
                <a:latin typeface="Times New Roman"/>
                <a:cs typeface="Times New Roman"/>
              </a:rPr>
              <a:t>-</a:t>
            </a:r>
            <a:r>
              <a:rPr sz="2000" spc="-5" dirty="0">
                <a:solidFill>
                  <a:prstClr val="black"/>
                </a:solidFill>
                <a:latin typeface="Times New Roman"/>
                <a:cs typeface="Times New Roman"/>
              </a:rPr>
              <a:t> </a:t>
            </a:r>
            <a:r>
              <a:rPr sz="2000" dirty="0">
                <a:solidFill>
                  <a:prstClr val="black"/>
                </a:solidFill>
                <a:latin typeface="Times New Roman"/>
                <a:cs typeface="Times New Roman"/>
              </a:rPr>
              <a:t>is</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beginning</a:t>
            </a:r>
            <a:r>
              <a:rPr sz="2000" spc="-30"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file,</a:t>
            </a:r>
            <a:endParaRPr sz="2000">
              <a:solidFill>
                <a:prstClr val="black"/>
              </a:solidFill>
              <a:latin typeface="Times New Roman"/>
              <a:cs typeface="Times New Roman"/>
            </a:endParaRPr>
          </a:p>
          <a:p>
            <a:pPr marL="812800" lvl="1" indent="-342900">
              <a:buFont typeface="Arial MT"/>
              <a:buChar char="•"/>
              <a:tabLst>
                <a:tab pos="812800" algn="l"/>
              </a:tabLst>
            </a:pPr>
            <a:r>
              <a:rPr sz="2000" b="1" dirty="0">
                <a:solidFill>
                  <a:prstClr val="black"/>
                </a:solidFill>
                <a:latin typeface="Times New Roman"/>
                <a:cs typeface="Times New Roman"/>
              </a:rPr>
              <a:t>cur</a:t>
            </a:r>
            <a:r>
              <a:rPr sz="2000" b="1" spc="-10" dirty="0">
                <a:solidFill>
                  <a:prstClr val="black"/>
                </a:solidFill>
                <a:latin typeface="Times New Roman"/>
                <a:cs typeface="Times New Roman"/>
              </a:rPr>
              <a:t> </a:t>
            </a:r>
            <a:r>
              <a:rPr sz="2000" dirty="0">
                <a:solidFill>
                  <a:prstClr val="black"/>
                </a:solidFill>
                <a:latin typeface="Times New Roman"/>
                <a:cs typeface="Times New Roman"/>
              </a:rPr>
              <a:t>-</a:t>
            </a:r>
            <a:r>
              <a:rPr sz="2000" spc="-5" dirty="0">
                <a:solidFill>
                  <a:prstClr val="black"/>
                </a:solidFill>
                <a:latin typeface="Times New Roman"/>
                <a:cs typeface="Times New Roman"/>
              </a:rPr>
              <a:t> </a:t>
            </a:r>
            <a:r>
              <a:rPr sz="2000" dirty="0">
                <a:solidFill>
                  <a:prstClr val="black"/>
                </a:solidFill>
                <a:latin typeface="Times New Roman"/>
                <a:cs typeface="Times New Roman"/>
              </a:rPr>
              <a:t>is</a:t>
            </a:r>
            <a:r>
              <a:rPr sz="2000" spc="-5"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current</a:t>
            </a:r>
            <a:r>
              <a:rPr sz="2000" spc="-25" dirty="0">
                <a:solidFill>
                  <a:prstClr val="black"/>
                </a:solidFill>
                <a:latin typeface="Times New Roman"/>
                <a:cs typeface="Times New Roman"/>
              </a:rPr>
              <a:t> </a:t>
            </a:r>
            <a:r>
              <a:rPr sz="2000" dirty="0">
                <a:solidFill>
                  <a:prstClr val="black"/>
                </a:solidFill>
                <a:latin typeface="Times New Roman"/>
                <a:cs typeface="Times New Roman"/>
              </a:rPr>
              <a:t>pointer</a:t>
            </a:r>
            <a:r>
              <a:rPr sz="2000" spc="-45" dirty="0">
                <a:solidFill>
                  <a:prstClr val="black"/>
                </a:solidFill>
                <a:latin typeface="Times New Roman"/>
                <a:cs typeface="Times New Roman"/>
              </a:rPr>
              <a:t> </a:t>
            </a:r>
            <a:r>
              <a:rPr sz="2000" dirty="0">
                <a:solidFill>
                  <a:prstClr val="black"/>
                </a:solidFill>
                <a:latin typeface="Times New Roman"/>
                <a:cs typeface="Times New Roman"/>
              </a:rPr>
              <a:t>position,</a:t>
            </a:r>
            <a:r>
              <a:rPr sz="2000" spc="-30" dirty="0">
                <a:solidFill>
                  <a:prstClr val="black"/>
                </a:solidFill>
                <a:latin typeface="Times New Roman"/>
                <a:cs typeface="Times New Roman"/>
              </a:rPr>
              <a:t> </a:t>
            </a:r>
            <a:r>
              <a:rPr sz="2000" spc="-25" dirty="0">
                <a:solidFill>
                  <a:prstClr val="black"/>
                </a:solidFill>
                <a:latin typeface="Times New Roman"/>
                <a:cs typeface="Times New Roman"/>
              </a:rPr>
              <a:t>and</a:t>
            </a:r>
            <a:endParaRPr sz="2000">
              <a:solidFill>
                <a:prstClr val="black"/>
              </a:solidFill>
              <a:latin typeface="Times New Roman"/>
              <a:cs typeface="Times New Roman"/>
            </a:endParaRPr>
          </a:p>
          <a:p>
            <a:pPr marL="812800" lvl="1" indent="-342900">
              <a:spcBef>
                <a:spcPts val="5"/>
              </a:spcBef>
              <a:buFont typeface="Arial MT"/>
              <a:buChar char="•"/>
              <a:tabLst>
                <a:tab pos="812800" algn="l"/>
              </a:tabLst>
            </a:pPr>
            <a:r>
              <a:rPr sz="2000" b="1" dirty="0">
                <a:solidFill>
                  <a:prstClr val="black"/>
                </a:solidFill>
                <a:latin typeface="Times New Roman"/>
                <a:cs typeface="Times New Roman"/>
              </a:rPr>
              <a:t>end</a:t>
            </a:r>
            <a:r>
              <a:rPr sz="2000" b="1" spc="-15" dirty="0">
                <a:solidFill>
                  <a:prstClr val="black"/>
                </a:solidFill>
                <a:latin typeface="Times New Roman"/>
                <a:cs typeface="Times New Roman"/>
              </a:rPr>
              <a:t> </a:t>
            </a:r>
            <a:r>
              <a:rPr sz="2000" dirty="0">
                <a:solidFill>
                  <a:prstClr val="black"/>
                </a:solidFill>
                <a:latin typeface="Times New Roman"/>
                <a:cs typeface="Times New Roman"/>
              </a:rPr>
              <a:t>-</a:t>
            </a:r>
            <a:r>
              <a:rPr sz="2000" spc="-5" dirty="0">
                <a:solidFill>
                  <a:prstClr val="black"/>
                </a:solidFill>
                <a:latin typeface="Times New Roman"/>
                <a:cs typeface="Times New Roman"/>
              </a:rPr>
              <a:t> </a:t>
            </a:r>
            <a:r>
              <a:rPr sz="2000" dirty="0">
                <a:solidFill>
                  <a:prstClr val="black"/>
                </a:solidFill>
                <a:latin typeface="Times New Roman"/>
                <a:cs typeface="Times New Roman"/>
              </a:rPr>
              <a:t>is</a:t>
            </a:r>
            <a:r>
              <a:rPr sz="2000" spc="-10"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end</a:t>
            </a:r>
            <a:r>
              <a:rPr sz="2000" spc="-10" dirty="0">
                <a:solidFill>
                  <a:prstClr val="black"/>
                </a:solidFill>
                <a:latin typeface="Times New Roman"/>
                <a:cs typeface="Times New Roman"/>
              </a:rPr>
              <a:t> </a:t>
            </a:r>
            <a:r>
              <a:rPr sz="2000" dirty="0">
                <a:solidFill>
                  <a:prstClr val="black"/>
                </a:solidFill>
                <a:latin typeface="Times New Roman"/>
                <a:cs typeface="Times New Roman"/>
              </a:rPr>
              <a:t>of</a:t>
            </a:r>
            <a:r>
              <a:rPr sz="2000" spc="-20" dirty="0">
                <a:solidFill>
                  <a:prstClr val="black"/>
                </a:solidFill>
                <a:latin typeface="Times New Roman"/>
                <a:cs typeface="Times New Roman"/>
              </a:rPr>
              <a:t> </a:t>
            </a:r>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spc="-20" dirty="0">
                <a:solidFill>
                  <a:prstClr val="black"/>
                </a:solidFill>
                <a:latin typeface="Times New Roman"/>
                <a:cs typeface="Times New Roman"/>
              </a:rPr>
              <a:t>file.</a:t>
            </a:r>
            <a:endParaRPr sz="2000">
              <a:solidFill>
                <a:prstClr val="black"/>
              </a:solidFill>
              <a:latin typeface="Times New Roman"/>
              <a:cs typeface="Times New Roman"/>
            </a:endParaRPr>
          </a:p>
        </p:txBody>
      </p:sp>
      <p:pic>
        <p:nvPicPr>
          <p:cNvPr id="4" name="object 4"/>
          <p:cNvPicPr/>
          <p:nvPr/>
        </p:nvPicPr>
        <p:blipFill>
          <a:blip r:embed="rId2" cstate="print"/>
          <a:stretch>
            <a:fillRect/>
          </a:stretch>
        </p:blipFill>
        <p:spPr>
          <a:xfrm>
            <a:off x="7879080" y="405384"/>
            <a:ext cx="3029712" cy="1496568"/>
          </a:xfrm>
          <a:prstGeom prst="rect">
            <a:avLst/>
          </a:prstGeom>
        </p:spPr>
      </p:pic>
      <p:pic>
        <p:nvPicPr>
          <p:cNvPr id="5" name="object 5"/>
          <p:cNvPicPr/>
          <p:nvPr/>
        </p:nvPicPr>
        <p:blipFill>
          <a:blip r:embed="rId3" cstate="print"/>
          <a:stretch>
            <a:fillRect/>
          </a:stretch>
        </p:blipFill>
        <p:spPr>
          <a:xfrm>
            <a:off x="7879080" y="2121407"/>
            <a:ext cx="3000755" cy="4137660"/>
          </a:xfrm>
          <a:prstGeom prst="rect">
            <a:avLst/>
          </a:prstGeom>
        </p:spPr>
      </p:pic>
      <p:sp>
        <p:nvSpPr>
          <p:cNvPr id="8" name="object 8"/>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9" name="object 9"/>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0" name="Date Placeholder 9">
            <a:extLst>
              <a:ext uri="{FF2B5EF4-FFF2-40B4-BE49-F238E27FC236}">
                <a16:creationId xmlns:a16="http://schemas.microsoft.com/office/drawing/2014/main" id="{630CB056-3AB0-EAF8-73BE-B5251723E9D1}"/>
              </a:ext>
            </a:extLst>
          </p:cNvPr>
          <p:cNvSpPr>
            <a:spLocks noGrp="1"/>
          </p:cNvSpPr>
          <p:nvPr>
            <p:ph type="dt" sz="half" idx="10"/>
          </p:nvPr>
        </p:nvSpPr>
        <p:spPr/>
        <p:txBody>
          <a:bodyPr/>
          <a:lstStyle/>
          <a:p>
            <a:fld id="{F975AE59-41E2-4EB5-94DF-0E904DD450F9}" type="datetime1">
              <a:rPr lang="en-US" smtClean="0">
                <a:solidFill>
                  <a:prstClr val="black">
                    <a:tint val="75000"/>
                  </a:prstClr>
                </a:solidFill>
              </a:rPr>
              <a:pPr/>
              <a:t>11/17/2025</a:t>
            </a:fld>
            <a:endParaRPr lang="en-US">
              <a:solidFill>
                <a:prstClr val="black">
                  <a:tint val="75000"/>
                </a:prstClr>
              </a:solidFill>
            </a:endParaRPr>
          </a:p>
        </p:txBody>
      </p:sp>
      <p:sp>
        <p:nvSpPr>
          <p:cNvPr id="11" name="Slide Number Placeholder 10">
            <a:extLst>
              <a:ext uri="{FF2B5EF4-FFF2-40B4-BE49-F238E27FC236}">
                <a16:creationId xmlns:a16="http://schemas.microsoft.com/office/drawing/2014/main" id="{1BA5F5DC-D808-1EFC-1EFA-E7FB076213E4}"/>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91</a:t>
            </a:fld>
            <a:endParaRPr spc="-25" dirty="0">
              <a:solidFill>
                <a:prstClr val="black">
                  <a:tint val="75000"/>
                </a:prstClr>
              </a:solidFill>
            </a:endParaRPr>
          </a:p>
        </p:txBody>
      </p:sp>
    </p:spTree>
    <p:extLst>
      <p:ext uri="{BB962C8B-B14F-4D97-AF65-F5344CB8AC3E}">
        <p14:creationId xmlns:p14="http://schemas.microsoft.com/office/powerpoint/2010/main" val="17369276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File</a:t>
            </a:r>
            <a:r>
              <a:rPr spc="-70" dirty="0"/>
              <a:t> </a:t>
            </a:r>
            <a:r>
              <a:rPr spc="-10" dirty="0"/>
              <a:t>Pointers</a:t>
            </a:r>
          </a:p>
        </p:txBody>
      </p:sp>
      <p:sp>
        <p:nvSpPr>
          <p:cNvPr id="5" name="object 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sp>
        <p:nvSpPr>
          <p:cNvPr id="3" name="object 3"/>
          <p:cNvSpPr txBox="1"/>
          <p:nvPr/>
        </p:nvSpPr>
        <p:spPr>
          <a:xfrm>
            <a:off x="916939" y="2064842"/>
            <a:ext cx="5444490" cy="1238250"/>
          </a:xfrm>
          <a:prstGeom prst="rect">
            <a:avLst/>
          </a:prstGeom>
        </p:spPr>
        <p:txBody>
          <a:bodyPr vert="horz" wrap="square" lIns="0" tIns="13335" rIns="0" bIns="0" rtlCol="0">
            <a:spAutoFit/>
          </a:bodyPr>
          <a:lstStyle/>
          <a:p>
            <a:pPr marL="355600" indent="-342900">
              <a:spcBef>
                <a:spcPts val="105"/>
              </a:spcBef>
              <a:buFont typeface="Arial MT"/>
              <a:buChar char="•"/>
              <a:tabLst>
                <a:tab pos="355600" algn="l"/>
              </a:tabLst>
            </a:pPr>
            <a:r>
              <a:rPr sz="2000" dirty="0">
                <a:solidFill>
                  <a:prstClr val="black"/>
                </a:solidFill>
                <a:latin typeface="Times New Roman"/>
                <a:cs typeface="Times New Roman"/>
              </a:rPr>
              <a:t>The</a:t>
            </a:r>
            <a:r>
              <a:rPr sz="2000" spc="-40" dirty="0">
                <a:solidFill>
                  <a:prstClr val="black"/>
                </a:solidFill>
                <a:latin typeface="Times New Roman"/>
                <a:cs typeface="Times New Roman"/>
              </a:rPr>
              <a:t> </a:t>
            </a:r>
            <a:r>
              <a:rPr sz="2000" b="1" dirty="0">
                <a:solidFill>
                  <a:prstClr val="black"/>
                </a:solidFill>
                <a:latin typeface="Times New Roman"/>
                <a:cs typeface="Times New Roman"/>
              </a:rPr>
              <a:t>tellg()</a:t>
            </a:r>
            <a:r>
              <a:rPr sz="2000" b="1" spc="-30" dirty="0">
                <a:solidFill>
                  <a:prstClr val="black"/>
                </a:solidFill>
                <a:latin typeface="Times New Roman"/>
                <a:cs typeface="Times New Roman"/>
              </a:rPr>
              <a:t> </a:t>
            </a:r>
            <a:r>
              <a:rPr sz="2000" dirty="0">
                <a:solidFill>
                  <a:prstClr val="black"/>
                </a:solidFill>
                <a:latin typeface="Times New Roman"/>
                <a:cs typeface="Times New Roman"/>
              </a:rPr>
              <a:t>function</a:t>
            </a:r>
            <a:r>
              <a:rPr sz="2000" spc="-30" dirty="0">
                <a:solidFill>
                  <a:prstClr val="black"/>
                </a:solidFill>
                <a:latin typeface="Times New Roman"/>
                <a:cs typeface="Times New Roman"/>
              </a:rPr>
              <a:t> </a:t>
            </a:r>
            <a:r>
              <a:rPr sz="2000" dirty="0">
                <a:solidFill>
                  <a:prstClr val="black"/>
                </a:solidFill>
                <a:latin typeface="Times New Roman"/>
                <a:cs typeface="Times New Roman"/>
              </a:rPr>
              <a:t>returns</a:t>
            </a:r>
            <a:r>
              <a:rPr sz="2000" spc="-30" dirty="0">
                <a:solidFill>
                  <a:prstClr val="black"/>
                </a:solidFill>
                <a:latin typeface="Times New Roman"/>
                <a:cs typeface="Times New Roman"/>
              </a:rPr>
              <a:t> </a:t>
            </a:r>
            <a:r>
              <a:rPr sz="2000" dirty="0">
                <a:solidFill>
                  <a:prstClr val="black"/>
                </a:solidFill>
                <a:latin typeface="Times New Roman"/>
                <a:cs typeface="Times New Roman"/>
              </a:rPr>
              <a:t>the</a:t>
            </a:r>
            <a:r>
              <a:rPr sz="2000" spc="-25" dirty="0">
                <a:solidFill>
                  <a:prstClr val="black"/>
                </a:solidFill>
                <a:latin typeface="Times New Roman"/>
                <a:cs typeface="Times New Roman"/>
              </a:rPr>
              <a:t> </a:t>
            </a:r>
            <a:r>
              <a:rPr sz="2000" dirty="0">
                <a:solidFill>
                  <a:prstClr val="black"/>
                </a:solidFill>
                <a:latin typeface="Times New Roman"/>
                <a:cs typeface="Times New Roman"/>
              </a:rPr>
              <a:t>current</a:t>
            </a:r>
            <a:r>
              <a:rPr sz="2000" spc="-35" dirty="0">
                <a:solidFill>
                  <a:prstClr val="black"/>
                </a:solidFill>
                <a:latin typeface="Times New Roman"/>
                <a:cs typeface="Times New Roman"/>
              </a:rPr>
              <a:t> </a:t>
            </a:r>
            <a:r>
              <a:rPr sz="2000" dirty="0">
                <a:solidFill>
                  <a:prstClr val="black"/>
                </a:solidFill>
                <a:latin typeface="Times New Roman"/>
                <a:cs typeface="Times New Roman"/>
              </a:rPr>
              <a:t>position</a:t>
            </a:r>
            <a:r>
              <a:rPr sz="2000" spc="-25" dirty="0">
                <a:solidFill>
                  <a:prstClr val="black"/>
                </a:solidFill>
                <a:latin typeface="Times New Roman"/>
                <a:cs typeface="Times New Roman"/>
              </a:rPr>
              <a:t> of</a:t>
            </a:r>
            <a:endParaRPr sz="2000">
              <a:solidFill>
                <a:prstClr val="black"/>
              </a:solidFill>
              <a:latin typeface="Times New Roman"/>
              <a:cs typeface="Times New Roman"/>
            </a:endParaRPr>
          </a:p>
          <a:p>
            <a:pPr marL="355600"/>
            <a:r>
              <a:rPr sz="2000" dirty="0">
                <a:solidFill>
                  <a:prstClr val="black"/>
                </a:solidFill>
                <a:latin typeface="Times New Roman"/>
                <a:cs typeface="Times New Roman"/>
              </a:rPr>
              <a:t>the</a:t>
            </a:r>
            <a:r>
              <a:rPr sz="2000" spc="-10" dirty="0">
                <a:solidFill>
                  <a:prstClr val="black"/>
                </a:solidFill>
                <a:latin typeface="Times New Roman"/>
                <a:cs typeface="Times New Roman"/>
              </a:rPr>
              <a:t> </a:t>
            </a:r>
            <a:r>
              <a:rPr sz="2000" dirty="0">
                <a:solidFill>
                  <a:prstClr val="black"/>
                </a:solidFill>
                <a:latin typeface="Times New Roman"/>
                <a:cs typeface="Times New Roman"/>
              </a:rPr>
              <a:t>get</a:t>
            </a:r>
            <a:r>
              <a:rPr sz="2000" spc="-10" dirty="0">
                <a:solidFill>
                  <a:prstClr val="black"/>
                </a:solidFill>
                <a:latin typeface="Times New Roman"/>
                <a:cs typeface="Times New Roman"/>
              </a:rPr>
              <a:t> pointer.</a:t>
            </a:r>
            <a:endParaRPr sz="2000">
              <a:solidFill>
                <a:prstClr val="black"/>
              </a:solidFill>
              <a:latin typeface="Times New Roman"/>
              <a:cs typeface="Times New Roman"/>
            </a:endParaRPr>
          </a:p>
          <a:p>
            <a:pPr>
              <a:spcBef>
                <a:spcPts val="40"/>
              </a:spcBef>
            </a:pPr>
            <a:endParaRPr sz="2000">
              <a:solidFill>
                <a:prstClr val="black"/>
              </a:solidFill>
              <a:latin typeface="Times New Roman"/>
              <a:cs typeface="Times New Roman"/>
            </a:endParaRPr>
          </a:p>
          <a:p>
            <a:pPr marL="469900"/>
            <a:r>
              <a:rPr sz="2000" dirty="0">
                <a:solidFill>
                  <a:prstClr val="black"/>
                </a:solidFill>
                <a:cs typeface="Calibri"/>
              </a:rPr>
              <a:t>int</a:t>
            </a:r>
            <a:r>
              <a:rPr sz="2000" spc="-25" dirty="0">
                <a:solidFill>
                  <a:prstClr val="black"/>
                </a:solidFill>
                <a:cs typeface="Calibri"/>
              </a:rPr>
              <a:t> </a:t>
            </a:r>
            <a:r>
              <a:rPr sz="2000" dirty="0">
                <a:solidFill>
                  <a:prstClr val="black"/>
                </a:solidFill>
                <a:cs typeface="Calibri"/>
              </a:rPr>
              <a:t>endposition</a:t>
            </a:r>
            <a:r>
              <a:rPr sz="2000" spc="-35" dirty="0">
                <a:solidFill>
                  <a:prstClr val="black"/>
                </a:solidFill>
                <a:cs typeface="Calibri"/>
              </a:rPr>
              <a:t> </a:t>
            </a:r>
            <a:r>
              <a:rPr sz="2000" dirty="0">
                <a:solidFill>
                  <a:prstClr val="black"/>
                </a:solidFill>
                <a:cs typeface="Calibri"/>
              </a:rPr>
              <a:t>=</a:t>
            </a:r>
            <a:r>
              <a:rPr sz="2000" spc="-30" dirty="0">
                <a:solidFill>
                  <a:prstClr val="black"/>
                </a:solidFill>
                <a:cs typeface="Calibri"/>
              </a:rPr>
              <a:t> </a:t>
            </a:r>
            <a:r>
              <a:rPr sz="2000" spc="-10" dirty="0">
                <a:solidFill>
                  <a:prstClr val="black"/>
                </a:solidFill>
                <a:cs typeface="Calibri"/>
              </a:rPr>
              <a:t>infile.tellg();</a:t>
            </a:r>
            <a:endParaRPr sz="2000">
              <a:solidFill>
                <a:prstClr val="black"/>
              </a:solidFill>
              <a:cs typeface="Calibri"/>
            </a:endParaRPr>
          </a:p>
        </p:txBody>
      </p:sp>
      <p:pic>
        <p:nvPicPr>
          <p:cNvPr id="4" name="object 4"/>
          <p:cNvPicPr/>
          <p:nvPr/>
        </p:nvPicPr>
        <p:blipFill>
          <a:blip r:embed="rId2" cstate="print"/>
          <a:stretch>
            <a:fillRect/>
          </a:stretch>
        </p:blipFill>
        <p:spPr>
          <a:xfrm>
            <a:off x="8051292" y="2478023"/>
            <a:ext cx="3412236" cy="1685544"/>
          </a:xfrm>
          <a:prstGeom prst="rect">
            <a:avLst/>
          </a:prstGeom>
        </p:spPr>
      </p:pic>
      <p:sp>
        <p:nvSpPr>
          <p:cNvPr id="7" name="object 7"/>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8" name="object 8"/>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9" name="Date Placeholder 8">
            <a:extLst>
              <a:ext uri="{FF2B5EF4-FFF2-40B4-BE49-F238E27FC236}">
                <a16:creationId xmlns:a16="http://schemas.microsoft.com/office/drawing/2014/main" id="{7C5037DF-6C49-61A9-DB40-0AC6C311DAAA}"/>
              </a:ext>
            </a:extLst>
          </p:cNvPr>
          <p:cNvSpPr>
            <a:spLocks noGrp="1"/>
          </p:cNvSpPr>
          <p:nvPr>
            <p:ph type="dt" sz="half" idx="10"/>
          </p:nvPr>
        </p:nvSpPr>
        <p:spPr/>
        <p:txBody>
          <a:bodyPr/>
          <a:lstStyle/>
          <a:p>
            <a:fld id="{D2CCB3BE-043D-4FC8-94D9-E6EEBE905BAB}" type="datetime1">
              <a:rPr lang="en-US" smtClean="0">
                <a:solidFill>
                  <a:prstClr val="black">
                    <a:tint val="75000"/>
                  </a:prstClr>
                </a:solidFill>
              </a:rPr>
              <a:pPr/>
              <a:t>11/17/2025</a:t>
            </a:fld>
            <a:endParaRPr lang="en-US">
              <a:solidFill>
                <a:prstClr val="black">
                  <a:tint val="75000"/>
                </a:prstClr>
              </a:solidFill>
            </a:endParaRPr>
          </a:p>
        </p:txBody>
      </p:sp>
      <p:sp>
        <p:nvSpPr>
          <p:cNvPr id="10" name="Slide Number Placeholder 9">
            <a:extLst>
              <a:ext uri="{FF2B5EF4-FFF2-40B4-BE49-F238E27FC236}">
                <a16:creationId xmlns:a16="http://schemas.microsoft.com/office/drawing/2014/main" id="{3097215D-0A94-8864-5791-41A0C97E1C91}"/>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92</a:t>
            </a:fld>
            <a:endParaRPr spc="-25" dirty="0">
              <a:solidFill>
                <a:prstClr val="black">
                  <a:tint val="75000"/>
                </a:prstClr>
              </a:solidFill>
            </a:endParaRPr>
          </a:p>
        </p:txBody>
      </p:sp>
    </p:spTree>
    <p:extLst>
      <p:ext uri="{BB962C8B-B14F-4D97-AF65-F5344CB8AC3E}">
        <p14:creationId xmlns:p14="http://schemas.microsoft.com/office/powerpoint/2010/main" val="184240660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034" rIns="0" bIns="0" rtlCol="0">
            <a:spAutoFit/>
          </a:bodyPr>
          <a:lstStyle/>
          <a:p>
            <a:pPr marL="12700">
              <a:lnSpc>
                <a:spcPct val="100000"/>
              </a:lnSpc>
              <a:spcBef>
                <a:spcPts val="95"/>
              </a:spcBef>
            </a:pPr>
            <a:r>
              <a:rPr dirty="0"/>
              <a:t>Reacting</a:t>
            </a:r>
            <a:r>
              <a:rPr spc="-90" dirty="0"/>
              <a:t> </a:t>
            </a:r>
            <a:r>
              <a:rPr dirty="0"/>
              <a:t>to</a:t>
            </a:r>
            <a:r>
              <a:rPr spc="-100" dirty="0"/>
              <a:t> </a:t>
            </a:r>
            <a:r>
              <a:rPr spc="-10" dirty="0"/>
              <a:t>Errors</a:t>
            </a:r>
          </a:p>
        </p:txBody>
      </p:sp>
      <p:sp>
        <p:nvSpPr>
          <p:cNvPr id="15" name="object 15"/>
          <p:cNvSpPr txBox="1">
            <a:spLocks noGrp="1"/>
          </p:cNvSpPr>
          <p:nvPr>
            <p:ph type="ftr" sz="quarter" idx="11"/>
          </p:nvPr>
        </p:nvSpPr>
        <p:spPr>
          <a:prstGeom prst="rect">
            <a:avLst/>
          </a:prstGeom>
        </p:spPr>
        <p:txBody>
          <a:bodyPr vert="horz" wrap="square" lIns="0" tIns="0" rIns="0" bIns="0" rtlCol="0">
            <a:spAutoFit/>
          </a:bodyPr>
          <a:lstStyle/>
          <a:p>
            <a:pPr marL="12700">
              <a:lnSpc>
                <a:spcPts val="2720"/>
              </a:lnSpc>
            </a:pPr>
            <a:r>
              <a:rPr lang="en-US">
                <a:solidFill>
                  <a:prstClr val="black">
                    <a:tint val="75000"/>
                  </a:prstClr>
                </a:solidFill>
              </a:rPr>
              <a:t>Mehedi Hasan</a:t>
            </a:r>
            <a:endParaRPr spc="-10" dirty="0">
              <a:solidFill>
                <a:prstClr val="black">
                  <a:tint val="75000"/>
                </a:prstClr>
              </a:solidFill>
            </a:endParaRPr>
          </a:p>
        </p:txBody>
      </p:sp>
      <p:grpSp>
        <p:nvGrpSpPr>
          <p:cNvPr id="3" name="object 3"/>
          <p:cNvGrpSpPr/>
          <p:nvPr/>
        </p:nvGrpSpPr>
        <p:grpSpPr>
          <a:xfrm>
            <a:off x="872588" y="2445766"/>
            <a:ext cx="5697220" cy="2477135"/>
            <a:chOff x="872588" y="2445766"/>
            <a:chExt cx="5697220" cy="2477135"/>
          </a:xfrm>
        </p:grpSpPr>
        <p:pic>
          <p:nvPicPr>
            <p:cNvPr id="4" name="object 4"/>
            <p:cNvPicPr/>
            <p:nvPr/>
          </p:nvPicPr>
          <p:blipFill>
            <a:blip r:embed="rId2" cstate="print"/>
            <a:stretch>
              <a:fillRect/>
            </a:stretch>
          </p:blipFill>
          <p:spPr>
            <a:xfrm>
              <a:off x="872588" y="2493469"/>
              <a:ext cx="5697110" cy="2361650"/>
            </a:xfrm>
            <a:prstGeom prst="rect">
              <a:avLst/>
            </a:prstGeom>
          </p:spPr>
        </p:pic>
        <p:sp>
          <p:nvSpPr>
            <p:cNvPr id="5" name="object 5"/>
            <p:cNvSpPr/>
            <p:nvPr/>
          </p:nvSpPr>
          <p:spPr>
            <a:xfrm>
              <a:off x="4346447" y="2452116"/>
              <a:ext cx="2186940" cy="398145"/>
            </a:xfrm>
            <a:custGeom>
              <a:avLst/>
              <a:gdLst/>
              <a:ahLst/>
              <a:cxnLst/>
              <a:rect l="l" t="t" r="r" b="b"/>
              <a:pathLst>
                <a:path w="2186940" h="398144">
                  <a:moveTo>
                    <a:pt x="2186940" y="0"/>
                  </a:moveTo>
                  <a:lnTo>
                    <a:pt x="0" y="0"/>
                  </a:lnTo>
                  <a:lnTo>
                    <a:pt x="0" y="397763"/>
                  </a:lnTo>
                  <a:lnTo>
                    <a:pt x="2186940" y="397763"/>
                  </a:lnTo>
                  <a:lnTo>
                    <a:pt x="2186940" y="0"/>
                  </a:lnTo>
                  <a:close/>
                </a:path>
              </a:pathLst>
            </a:custGeom>
            <a:solidFill>
              <a:srgbClr val="FFFFFF"/>
            </a:solidFill>
          </p:spPr>
          <p:txBody>
            <a:bodyPr wrap="square" lIns="0" tIns="0" rIns="0" bIns="0" rtlCol="0"/>
            <a:lstStyle/>
            <a:p>
              <a:endParaRPr>
                <a:solidFill>
                  <a:prstClr val="black"/>
                </a:solidFill>
              </a:endParaRPr>
            </a:p>
          </p:txBody>
        </p:sp>
        <p:sp>
          <p:nvSpPr>
            <p:cNvPr id="6" name="object 6"/>
            <p:cNvSpPr/>
            <p:nvPr/>
          </p:nvSpPr>
          <p:spPr>
            <a:xfrm>
              <a:off x="4346447" y="2452116"/>
              <a:ext cx="2186940" cy="398145"/>
            </a:xfrm>
            <a:custGeom>
              <a:avLst/>
              <a:gdLst/>
              <a:ahLst/>
              <a:cxnLst/>
              <a:rect l="l" t="t" r="r" b="b"/>
              <a:pathLst>
                <a:path w="2186940" h="398144">
                  <a:moveTo>
                    <a:pt x="0" y="397763"/>
                  </a:moveTo>
                  <a:lnTo>
                    <a:pt x="2186940" y="397763"/>
                  </a:lnTo>
                  <a:lnTo>
                    <a:pt x="2186940" y="0"/>
                  </a:lnTo>
                  <a:lnTo>
                    <a:pt x="0" y="0"/>
                  </a:lnTo>
                  <a:lnTo>
                    <a:pt x="0" y="397763"/>
                  </a:lnTo>
                  <a:close/>
                </a:path>
              </a:pathLst>
            </a:custGeom>
            <a:ln w="12700">
              <a:solidFill>
                <a:srgbClr val="FFFFFF"/>
              </a:solidFill>
            </a:ln>
          </p:spPr>
          <p:txBody>
            <a:bodyPr wrap="square" lIns="0" tIns="0" rIns="0" bIns="0" rtlCol="0"/>
            <a:lstStyle/>
            <a:p>
              <a:endParaRPr>
                <a:solidFill>
                  <a:prstClr val="black"/>
                </a:solidFill>
              </a:endParaRPr>
            </a:p>
          </p:txBody>
        </p:sp>
        <p:sp>
          <p:nvSpPr>
            <p:cNvPr id="7" name="object 7"/>
            <p:cNvSpPr/>
            <p:nvPr/>
          </p:nvSpPr>
          <p:spPr>
            <a:xfrm>
              <a:off x="4346447" y="3697224"/>
              <a:ext cx="2080260" cy="311150"/>
            </a:xfrm>
            <a:custGeom>
              <a:avLst/>
              <a:gdLst/>
              <a:ahLst/>
              <a:cxnLst/>
              <a:rect l="l" t="t" r="r" b="b"/>
              <a:pathLst>
                <a:path w="2080260" h="311150">
                  <a:moveTo>
                    <a:pt x="2080260" y="0"/>
                  </a:moveTo>
                  <a:lnTo>
                    <a:pt x="0" y="0"/>
                  </a:lnTo>
                  <a:lnTo>
                    <a:pt x="0" y="310895"/>
                  </a:lnTo>
                  <a:lnTo>
                    <a:pt x="2080260" y="310895"/>
                  </a:lnTo>
                  <a:lnTo>
                    <a:pt x="2080260" y="0"/>
                  </a:lnTo>
                  <a:close/>
                </a:path>
              </a:pathLst>
            </a:custGeom>
            <a:solidFill>
              <a:srgbClr val="FFFFFF"/>
            </a:solidFill>
          </p:spPr>
          <p:txBody>
            <a:bodyPr wrap="square" lIns="0" tIns="0" rIns="0" bIns="0" rtlCol="0"/>
            <a:lstStyle/>
            <a:p>
              <a:endParaRPr>
                <a:solidFill>
                  <a:prstClr val="black"/>
                </a:solidFill>
              </a:endParaRPr>
            </a:p>
          </p:txBody>
        </p:sp>
        <p:sp>
          <p:nvSpPr>
            <p:cNvPr id="8" name="object 8"/>
            <p:cNvSpPr/>
            <p:nvPr/>
          </p:nvSpPr>
          <p:spPr>
            <a:xfrm>
              <a:off x="4346447" y="3697224"/>
              <a:ext cx="2080260" cy="311150"/>
            </a:xfrm>
            <a:custGeom>
              <a:avLst/>
              <a:gdLst/>
              <a:ahLst/>
              <a:cxnLst/>
              <a:rect l="l" t="t" r="r" b="b"/>
              <a:pathLst>
                <a:path w="2080260" h="311150">
                  <a:moveTo>
                    <a:pt x="0" y="310895"/>
                  </a:moveTo>
                  <a:lnTo>
                    <a:pt x="2080260" y="310895"/>
                  </a:lnTo>
                  <a:lnTo>
                    <a:pt x="2080260" y="0"/>
                  </a:lnTo>
                  <a:lnTo>
                    <a:pt x="0" y="0"/>
                  </a:lnTo>
                  <a:lnTo>
                    <a:pt x="0" y="310895"/>
                  </a:lnTo>
                  <a:close/>
                </a:path>
              </a:pathLst>
            </a:custGeom>
            <a:ln w="12699">
              <a:solidFill>
                <a:srgbClr val="FFFFFF"/>
              </a:solidFill>
            </a:ln>
          </p:spPr>
          <p:txBody>
            <a:bodyPr wrap="square" lIns="0" tIns="0" rIns="0" bIns="0" rtlCol="0"/>
            <a:lstStyle/>
            <a:p>
              <a:endParaRPr>
                <a:solidFill>
                  <a:prstClr val="black"/>
                </a:solidFill>
              </a:endParaRPr>
            </a:p>
          </p:txBody>
        </p:sp>
        <p:sp>
          <p:nvSpPr>
            <p:cNvPr id="9" name="object 9"/>
            <p:cNvSpPr/>
            <p:nvPr/>
          </p:nvSpPr>
          <p:spPr>
            <a:xfrm>
              <a:off x="4346447" y="4689348"/>
              <a:ext cx="1577340" cy="227329"/>
            </a:xfrm>
            <a:custGeom>
              <a:avLst/>
              <a:gdLst/>
              <a:ahLst/>
              <a:cxnLst/>
              <a:rect l="l" t="t" r="r" b="b"/>
              <a:pathLst>
                <a:path w="1577339" h="227329">
                  <a:moveTo>
                    <a:pt x="1577339" y="0"/>
                  </a:moveTo>
                  <a:lnTo>
                    <a:pt x="0" y="0"/>
                  </a:lnTo>
                  <a:lnTo>
                    <a:pt x="0" y="227075"/>
                  </a:lnTo>
                  <a:lnTo>
                    <a:pt x="1577339" y="227075"/>
                  </a:lnTo>
                  <a:lnTo>
                    <a:pt x="1577339" y="0"/>
                  </a:lnTo>
                  <a:close/>
                </a:path>
              </a:pathLst>
            </a:custGeom>
            <a:solidFill>
              <a:srgbClr val="FFFFFF"/>
            </a:solidFill>
          </p:spPr>
          <p:txBody>
            <a:bodyPr wrap="square" lIns="0" tIns="0" rIns="0" bIns="0" rtlCol="0"/>
            <a:lstStyle/>
            <a:p>
              <a:endParaRPr>
                <a:solidFill>
                  <a:prstClr val="black"/>
                </a:solidFill>
              </a:endParaRPr>
            </a:p>
          </p:txBody>
        </p:sp>
        <p:sp>
          <p:nvSpPr>
            <p:cNvPr id="10" name="object 10"/>
            <p:cNvSpPr/>
            <p:nvPr/>
          </p:nvSpPr>
          <p:spPr>
            <a:xfrm>
              <a:off x="4346447" y="4689348"/>
              <a:ext cx="1577340" cy="227329"/>
            </a:xfrm>
            <a:custGeom>
              <a:avLst/>
              <a:gdLst/>
              <a:ahLst/>
              <a:cxnLst/>
              <a:rect l="l" t="t" r="r" b="b"/>
              <a:pathLst>
                <a:path w="1577339" h="227329">
                  <a:moveTo>
                    <a:pt x="0" y="227075"/>
                  </a:moveTo>
                  <a:lnTo>
                    <a:pt x="1577339" y="227075"/>
                  </a:lnTo>
                  <a:lnTo>
                    <a:pt x="1577339" y="0"/>
                  </a:lnTo>
                  <a:lnTo>
                    <a:pt x="0" y="0"/>
                  </a:lnTo>
                  <a:lnTo>
                    <a:pt x="0" y="227075"/>
                  </a:lnTo>
                  <a:close/>
                </a:path>
              </a:pathLst>
            </a:custGeom>
            <a:ln w="12700">
              <a:solidFill>
                <a:srgbClr val="FFFFFF"/>
              </a:solidFill>
            </a:ln>
          </p:spPr>
          <p:txBody>
            <a:bodyPr wrap="square" lIns="0" tIns="0" rIns="0" bIns="0" rtlCol="0"/>
            <a:lstStyle/>
            <a:p>
              <a:endParaRPr>
                <a:solidFill>
                  <a:prstClr val="black"/>
                </a:solidFill>
              </a:endParaRPr>
            </a:p>
          </p:txBody>
        </p:sp>
      </p:grpSp>
      <p:pic>
        <p:nvPicPr>
          <p:cNvPr id="11" name="object 11"/>
          <p:cNvPicPr/>
          <p:nvPr/>
        </p:nvPicPr>
        <p:blipFill>
          <a:blip r:embed="rId3" cstate="print"/>
          <a:stretch>
            <a:fillRect/>
          </a:stretch>
        </p:blipFill>
        <p:spPr>
          <a:xfrm>
            <a:off x="7812298" y="2801364"/>
            <a:ext cx="3887227" cy="1452547"/>
          </a:xfrm>
          <a:prstGeom prst="rect">
            <a:avLst/>
          </a:prstGeom>
        </p:spPr>
      </p:pic>
      <p:grpSp>
        <p:nvGrpSpPr>
          <p:cNvPr id="12" name="object 12"/>
          <p:cNvGrpSpPr/>
          <p:nvPr/>
        </p:nvGrpSpPr>
        <p:grpSpPr>
          <a:xfrm>
            <a:off x="6964426" y="2153157"/>
            <a:ext cx="83185" cy="4003040"/>
            <a:chOff x="6964426" y="2153157"/>
            <a:chExt cx="83185" cy="4003040"/>
          </a:xfrm>
        </p:grpSpPr>
        <p:sp>
          <p:nvSpPr>
            <p:cNvPr id="13" name="object 13"/>
            <p:cNvSpPr/>
            <p:nvPr/>
          </p:nvSpPr>
          <p:spPr>
            <a:xfrm>
              <a:off x="6970776" y="2159507"/>
              <a:ext cx="70485" cy="3990340"/>
            </a:xfrm>
            <a:custGeom>
              <a:avLst/>
              <a:gdLst/>
              <a:ahLst/>
              <a:cxnLst/>
              <a:rect l="l" t="t" r="r" b="b"/>
              <a:pathLst>
                <a:path w="70484" h="3990340">
                  <a:moveTo>
                    <a:pt x="70103" y="0"/>
                  </a:moveTo>
                  <a:lnTo>
                    <a:pt x="0" y="0"/>
                  </a:lnTo>
                  <a:lnTo>
                    <a:pt x="0" y="3989832"/>
                  </a:lnTo>
                  <a:lnTo>
                    <a:pt x="70103" y="3989832"/>
                  </a:lnTo>
                  <a:lnTo>
                    <a:pt x="70103" y="0"/>
                  </a:lnTo>
                  <a:close/>
                </a:path>
              </a:pathLst>
            </a:custGeom>
            <a:solidFill>
              <a:srgbClr val="000000"/>
            </a:solidFill>
          </p:spPr>
          <p:txBody>
            <a:bodyPr wrap="square" lIns="0" tIns="0" rIns="0" bIns="0" rtlCol="0"/>
            <a:lstStyle/>
            <a:p>
              <a:endParaRPr>
                <a:solidFill>
                  <a:prstClr val="black"/>
                </a:solidFill>
              </a:endParaRPr>
            </a:p>
          </p:txBody>
        </p:sp>
        <p:sp>
          <p:nvSpPr>
            <p:cNvPr id="14" name="object 14"/>
            <p:cNvSpPr/>
            <p:nvPr/>
          </p:nvSpPr>
          <p:spPr>
            <a:xfrm>
              <a:off x="6970776" y="2159507"/>
              <a:ext cx="70485" cy="3990340"/>
            </a:xfrm>
            <a:custGeom>
              <a:avLst/>
              <a:gdLst/>
              <a:ahLst/>
              <a:cxnLst/>
              <a:rect l="l" t="t" r="r" b="b"/>
              <a:pathLst>
                <a:path w="70484" h="3990340">
                  <a:moveTo>
                    <a:pt x="0" y="3989832"/>
                  </a:moveTo>
                  <a:lnTo>
                    <a:pt x="70103" y="3989832"/>
                  </a:lnTo>
                  <a:lnTo>
                    <a:pt x="70103" y="0"/>
                  </a:lnTo>
                  <a:lnTo>
                    <a:pt x="0" y="0"/>
                  </a:lnTo>
                  <a:lnTo>
                    <a:pt x="0" y="3989832"/>
                  </a:lnTo>
                  <a:close/>
                </a:path>
              </a:pathLst>
            </a:custGeom>
            <a:ln w="12699">
              <a:solidFill>
                <a:srgbClr val="000000"/>
              </a:solidFill>
            </a:ln>
          </p:spPr>
          <p:txBody>
            <a:bodyPr wrap="square" lIns="0" tIns="0" rIns="0" bIns="0" rtlCol="0"/>
            <a:lstStyle/>
            <a:p>
              <a:endParaRPr>
                <a:solidFill>
                  <a:prstClr val="black"/>
                </a:solidFill>
              </a:endParaRPr>
            </a:p>
          </p:txBody>
        </p:sp>
      </p:grpSp>
      <p:sp>
        <p:nvSpPr>
          <p:cNvPr id="17" name="object 17"/>
          <p:cNvSpPr txBox="1"/>
          <p:nvPr/>
        </p:nvSpPr>
        <p:spPr>
          <a:xfrm>
            <a:off x="10044176" y="6367803"/>
            <a:ext cx="488315" cy="363855"/>
          </a:xfrm>
          <a:prstGeom prst="rect">
            <a:avLst/>
          </a:prstGeom>
        </p:spPr>
        <p:txBody>
          <a:bodyPr vert="horz" wrap="square" lIns="0" tIns="0" rIns="0" bIns="0" rtlCol="0">
            <a:spAutoFit/>
          </a:bodyPr>
          <a:lstStyle/>
          <a:p>
            <a:pPr marL="12700">
              <a:lnSpc>
                <a:spcPts val="2000"/>
              </a:lnSpc>
            </a:pPr>
            <a:r>
              <a:rPr sz="3600" spc="-30" baseline="-16203" dirty="0">
                <a:solidFill>
                  <a:srgbClr val="FFFFFF"/>
                </a:solidFill>
                <a:latin typeface="Times New Roman"/>
                <a:cs typeface="Times New Roman"/>
              </a:rPr>
              <a:t>25</a:t>
            </a:r>
            <a:r>
              <a:rPr sz="1600" spc="-20" dirty="0">
                <a:solidFill>
                  <a:srgbClr val="FFFFFF"/>
                </a:solidFill>
                <a:latin typeface="Times New Roman"/>
                <a:cs typeface="Times New Roman"/>
              </a:rPr>
              <a:t>th</a:t>
            </a:r>
            <a:endParaRPr sz="1600">
              <a:solidFill>
                <a:prstClr val="black"/>
              </a:solidFill>
              <a:latin typeface="Times New Roman"/>
              <a:cs typeface="Times New Roman"/>
            </a:endParaRPr>
          </a:p>
        </p:txBody>
      </p:sp>
      <p:sp>
        <p:nvSpPr>
          <p:cNvPr id="18" name="object 18"/>
          <p:cNvSpPr txBox="1"/>
          <p:nvPr/>
        </p:nvSpPr>
        <p:spPr>
          <a:xfrm>
            <a:off x="10585195" y="6368253"/>
            <a:ext cx="1325880" cy="363220"/>
          </a:xfrm>
          <a:prstGeom prst="rect">
            <a:avLst/>
          </a:prstGeom>
        </p:spPr>
        <p:txBody>
          <a:bodyPr vert="horz" wrap="square" lIns="0" tIns="0" rIns="0" bIns="0" rtlCol="0">
            <a:spAutoFit/>
          </a:bodyPr>
          <a:lstStyle/>
          <a:p>
            <a:pPr marL="12700">
              <a:lnSpc>
                <a:spcPts val="2720"/>
              </a:lnSpc>
            </a:pPr>
            <a:r>
              <a:rPr sz="2400" spc="-20" dirty="0">
                <a:solidFill>
                  <a:srgbClr val="FFFFFF"/>
                </a:solidFill>
                <a:latin typeface="Times New Roman"/>
                <a:cs typeface="Times New Roman"/>
              </a:rPr>
              <a:t>May,</a:t>
            </a:r>
            <a:r>
              <a:rPr sz="2400" spc="-125" dirty="0">
                <a:solidFill>
                  <a:srgbClr val="FFFFFF"/>
                </a:solidFill>
                <a:latin typeface="Times New Roman"/>
                <a:cs typeface="Times New Roman"/>
              </a:rPr>
              <a:t> </a:t>
            </a:r>
            <a:r>
              <a:rPr sz="2400" spc="-20" dirty="0">
                <a:solidFill>
                  <a:srgbClr val="FFFFFF"/>
                </a:solidFill>
                <a:latin typeface="Times New Roman"/>
                <a:cs typeface="Times New Roman"/>
              </a:rPr>
              <a:t>2021</a:t>
            </a:r>
            <a:endParaRPr sz="2400">
              <a:solidFill>
                <a:prstClr val="black"/>
              </a:solidFill>
              <a:latin typeface="Times New Roman"/>
              <a:cs typeface="Times New Roman"/>
            </a:endParaRPr>
          </a:p>
        </p:txBody>
      </p:sp>
      <p:sp>
        <p:nvSpPr>
          <p:cNvPr id="19" name="Date Placeholder 18">
            <a:extLst>
              <a:ext uri="{FF2B5EF4-FFF2-40B4-BE49-F238E27FC236}">
                <a16:creationId xmlns:a16="http://schemas.microsoft.com/office/drawing/2014/main" id="{68740513-9A3C-0F49-9F56-CB83260910A5}"/>
              </a:ext>
            </a:extLst>
          </p:cNvPr>
          <p:cNvSpPr>
            <a:spLocks noGrp="1"/>
          </p:cNvSpPr>
          <p:nvPr>
            <p:ph type="dt" sz="half" idx="10"/>
          </p:nvPr>
        </p:nvSpPr>
        <p:spPr/>
        <p:txBody>
          <a:bodyPr/>
          <a:lstStyle/>
          <a:p>
            <a:fld id="{4616C971-1395-4A31-9B7B-E81C68B67B05}" type="datetime1">
              <a:rPr lang="en-US" smtClean="0">
                <a:solidFill>
                  <a:prstClr val="black">
                    <a:tint val="75000"/>
                  </a:prstClr>
                </a:solidFill>
              </a:rPr>
              <a:pPr/>
              <a:t>11/17/2025</a:t>
            </a:fld>
            <a:endParaRPr lang="en-US">
              <a:solidFill>
                <a:prstClr val="black">
                  <a:tint val="75000"/>
                </a:prstClr>
              </a:solidFill>
            </a:endParaRPr>
          </a:p>
        </p:txBody>
      </p:sp>
      <p:sp>
        <p:nvSpPr>
          <p:cNvPr id="20" name="Slide Number Placeholder 19">
            <a:extLst>
              <a:ext uri="{FF2B5EF4-FFF2-40B4-BE49-F238E27FC236}">
                <a16:creationId xmlns:a16="http://schemas.microsoft.com/office/drawing/2014/main" id="{63B43F00-E5B4-CACB-D384-8249C83A47B8}"/>
              </a:ext>
            </a:extLst>
          </p:cNvPr>
          <p:cNvSpPr>
            <a:spLocks noGrp="1"/>
          </p:cNvSpPr>
          <p:nvPr>
            <p:ph type="sldNum" sz="quarter" idx="12"/>
          </p:nvPr>
        </p:nvSpPr>
        <p:spPr/>
        <p:txBody>
          <a:bodyPr/>
          <a:lstStyle/>
          <a:p>
            <a:pPr marL="12700">
              <a:lnSpc>
                <a:spcPts val="2720"/>
              </a:lnSpc>
              <a:tabLst>
                <a:tab pos="1499870" algn="l"/>
              </a:tabLst>
            </a:pPr>
            <a:r>
              <a:rPr lang="en-US">
                <a:solidFill>
                  <a:prstClr val="black">
                    <a:tint val="75000"/>
                  </a:prstClr>
                </a:solidFill>
              </a:rPr>
              <a:t>Lecture</a:t>
            </a:r>
            <a:r>
              <a:rPr lang="en-US" spc="-25">
                <a:solidFill>
                  <a:prstClr val="black">
                    <a:tint val="75000"/>
                  </a:prstClr>
                </a:solidFill>
              </a:rPr>
              <a:t> </a:t>
            </a:r>
            <a:r>
              <a:rPr lang="en-US">
                <a:solidFill>
                  <a:prstClr val="black">
                    <a:tint val="75000"/>
                  </a:prstClr>
                </a:solidFill>
              </a:rPr>
              <a:t>1</a:t>
            </a:r>
            <a:r>
              <a:rPr lang="en-US" spc="5">
                <a:solidFill>
                  <a:prstClr val="black">
                    <a:tint val="75000"/>
                  </a:prstClr>
                </a:solidFill>
              </a:rPr>
              <a:t> </a:t>
            </a:r>
            <a:r>
              <a:rPr lang="en-US" spc="-50">
                <a:solidFill>
                  <a:prstClr val="black">
                    <a:tint val="75000"/>
                  </a:prstClr>
                </a:solidFill>
              </a:rPr>
              <a:t>-</a:t>
            </a:r>
            <a:r>
              <a:rPr lang="en-US">
                <a:solidFill>
                  <a:prstClr val="black">
                    <a:tint val="75000"/>
                  </a:prstClr>
                </a:solidFill>
              </a:rPr>
              <a:t>	</a:t>
            </a:r>
            <a:fld id="{81D60167-4931-47E6-BA6A-407CBD079E47}" type="slidenum">
              <a:rPr spc="-25" smtClean="0">
                <a:solidFill>
                  <a:prstClr val="black">
                    <a:tint val="75000"/>
                  </a:prstClr>
                </a:solidFill>
              </a:rPr>
              <a:pPr marL="12700">
                <a:lnSpc>
                  <a:spcPts val="2720"/>
                </a:lnSpc>
                <a:tabLst>
                  <a:tab pos="1499870" algn="l"/>
                </a:tabLst>
              </a:pPr>
              <a:t>93</a:t>
            </a:fld>
            <a:endParaRPr spc="-25" dirty="0">
              <a:solidFill>
                <a:prstClr val="black">
                  <a:tint val="75000"/>
                </a:prstClr>
              </a:solidFill>
            </a:endParaRPr>
          </a:p>
        </p:txBody>
      </p:sp>
    </p:spTree>
    <p:extLst>
      <p:ext uri="{BB962C8B-B14F-4D97-AF65-F5344CB8AC3E}">
        <p14:creationId xmlns:p14="http://schemas.microsoft.com/office/powerpoint/2010/main" val="1813830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258</TotalTime>
  <Words>7983</Words>
  <Application>Microsoft Office PowerPoint</Application>
  <PresentationFormat>Widescreen</PresentationFormat>
  <Paragraphs>1121</Paragraphs>
  <Slides>93</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93</vt:i4>
      </vt:variant>
    </vt:vector>
  </HeadingPairs>
  <TitlesOfParts>
    <vt:vector size="107" baseType="lpstr">
      <vt:lpstr>Agency FB</vt:lpstr>
      <vt:lpstr>Algerian</vt:lpstr>
      <vt:lpstr>Arial</vt:lpstr>
      <vt:lpstr>Arial MT</vt:lpstr>
      <vt:lpstr>Calibri</vt:lpstr>
      <vt:lpstr>Calibri Light</vt:lpstr>
      <vt:lpstr>Consolas</vt:lpstr>
      <vt:lpstr>Courier New</vt:lpstr>
      <vt:lpstr>Forte</vt:lpstr>
      <vt:lpstr>Segoe UI</vt:lpstr>
      <vt:lpstr>Stencil</vt:lpstr>
      <vt:lpstr>Times New Roman</vt:lpstr>
      <vt:lpstr>Wingdings</vt:lpstr>
      <vt:lpstr>Office Theme</vt:lpstr>
      <vt:lpstr>CSE-2103 Object Oriented Programming </vt:lpstr>
      <vt:lpstr>Exception Handling</vt:lpstr>
      <vt:lpstr>Exception</vt:lpstr>
      <vt:lpstr>Exception</vt:lpstr>
      <vt:lpstr>Exception</vt:lpstr>
      <vt:lpstr>Exception VS ERROR</vt:lpstr>
      <vt:lpstr>Exception VS ERROR</vt:lpstr>
      <vt:lpstr>Exception Handling </vt:lpstr>
      <vt:lpstr>Exception Handling</vt:lpstr>
      <vt:lpstr>Exception Handling</vt:lpstr>
      <vt:lpstr>Exception Handling</vt:lpstr>
      <vt:lpstr>Exception Handling</vt:lpstr>
      <vt:lpstr>Exception Handling</vt:lpstr>
      <vt:lpstr>Exception Handling(Multiple Catch)</vt:lpstr>
      <vt:lpstr>PowerPoint Presentation</vt:lpstr>
      <vt:lpstr>Exceptions</vt:lpstr>
      <vt:lpstr>Exceptions</vt:lpstr>
      <vt:lpstr>Exceptions</vt:lpstr>
      <vt:lpstr>Defining an Exception Class</vt:lpstr>
      <vt:lpstr>Defining an Exception Class</vt:lpstr>
      <vt:lpstr>Defining an Exception Class</vt:lpstr>
      <vt:lpstr>PowerPoint Presentation</vt:lpstr>
      <vt:lpstr>CSE-2103 Object Oriented Programming</vt:lpstr>
      <vt:lpstr>The Standard Template Library STL</vt:lpstr>
      <vt:lpstr>The Standard Template Library</vt:lpstr>
      <vt:lpstr>The Standard Template Library</vt:lpstr>
      <vt:lpstr>The Container</vt:lpstr>
      <vt:lpstr>Sequence Containers</vt:lpstr>
      <vt:lpstr>Vectors</vt:lpstr>
      <vt:lpstr>Vectors</vt:lpstr>
      <vt:lpstr>Vectors</vt:lpstr>
      <vt:lpstr>Vectors</vt:lpstr>
      <vt:lpstr>Vectors: Loop Through a Vector</vt:lpstr>
      <vt:lpstr>Vectors</vt:lpstr>
      <vt:lpstr>Vectors</vt:lpstr>
      <vt:lpstr>Vectors Vs Arrays</vt:lpstr>
      <vt:lpstr>Lists </vt:lpstr>
      <vt:lpstr>Lists</vt:lpstr>
      <vt:lpstr>Lists</vt:lpstr>
      <vt:lpstr>Lists</vt:lpstr>
      <vt:lpstr>Lists</vt:lpstr>
      <vt:lpstr>QUEUE</vt:lpstr>
      <vt:lpstr>QUEUE</vt:lpstr>
      <vt:lpstr>Deques</vt:lpstr>
      <vt:lpstr>Deques</vt:lpstr>
      <vt:lpstr>Deques</vt:lpstr>
      <vt:lpstr>Sequence containers</vt:lpstr>
      <vt:lpstr>Associative Containers</vt:lpstr>
      <vt:lpstr>Sets</vt:lpstr>
      <vt:lpstr>SET</vt:lpstr>
      <vt:lpstr>SET</vt:lpstr>
      <vt:lpstr>SET</vt:lpstr>
      <vt:lpstr>Sets</vt:lpstr>
      <vt:lpstr>Spot Test</vt:lpstr>
      <vt:lpstr>Spot Test Result</vt:lpstr>
      <vt:lpstr>Maps</vt:lpstr>
      <vt:lpstr>Maps</vt:lpstr>
      <vt:lpstr>Container Adapters</vt:lpstr>
      <vt:lpstr>Algorithms</vt:lpstr>
      <vt:lpstr>Algorithms</vt:lpstr>
      <vt:lpstr>The find() Algorithm</vt:lpstr>
      <vt:lpstr>The count() Algorithm</vt:lpstr>
      <vt:lpstr>The sort() Algorithm</vt:lpstr>
      <vt:lpstr>The search() Algorithm</vt:lpstr>
      <vt:lpstr>The merge() Algorithm</vt:lpstr>
      <vt:lpstr>The for_each() Algorithm</vt:lpstr>
      <vt:lpstr>Iterators</vt:lpstr>
      <vt:lpstr>Iterators as Smart Pointers</vt:lpstr>
      <vt:lpstr>CSE-2103 Object Oriented Programming </vt:lpstr>
      <vt:lpstr>Streams and Files</vt:lpstr>
      <vt:lpstr>Stream Classes</vt:lpstr>
      <vt:lpstr>The ios Class</vt:lpstr>
      <vt:lpstr>The ios Class</vt:lpstr>
      <vt:lpstr>The ios Class</vt:lpstr>
      <vt:lpstr>The istream Class</vt:lpstr>
      <vt:lpstr>The ostream Class</vt:lpstr>
      <vt:lpstr>Stream Errors</vt:lpstr>
      <vt:lpstr>Stream Errors</vt:lpstr>
      <vt:lpstr>Stream Errors</vt:lpstr>
      <vt:lpstr>File I/O</vt:lpstr>
      <vt:lpstr>File I/O</vt:lpstr>
      <vt:lpstr>Writing Data to a File</vt:lpstr>
      <vt:lpstr>Reading Data from a File</vt:lpstr>
      <vt:lpstr>Strings with Embedded Blanks in File I/O</vt:lpstr>
      <vt:lpstr>Character I/O in File</vt:lpstr>
      <vt:lpstr>Binary I/O</vt:lpstr>
      <vt:lpstr>Binary I/O</vt:lpstr>
      <vt:lpstr>Object I/O</vt:lpstr>
      <vt:lpstr>Object I/O</vt:lpstr>
      <vt:lpstr>Multiple Objects I/O</vt:lpstr>
      <vt:lpstr>File Pointers</vt:lpstr>
      <vt:lpstr>File Pointers</vt:lpstr>
      <vt:lpstr>Reacting to Errors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CSE-2103 Object Oriented Programming</dc:title>
  <dc:creator>Mehedi Hasan Shagor</dc:creator>
  <cp:lastModifiedBy>Mehedi Hasan</cp:lastModifiedBy>
  <cp:revision>60</cp:revision>
  <dcterms:created xsi:type="dcterms:W3CDTF">2025-07-26T05:33:03Z</dcterms:created>
  <dcterms:modified xsi:type="dcterms:W3CDTF">2025-11-17T07:15:15Z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2025-07-26T00:00:00Z</vt:filetime>
  </property>
  <property fmtid="{D5CDD505-2E9C-101B-9397-08002B2CF9AE}" pid="3" name="LastSaved">
    <vt:filetime>2025-07-26T00:00:00Z</vt:filetime>
  </property>
</Properties>
</file>