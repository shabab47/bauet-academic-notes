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66" r:id="rId4"/>
    <p:sldId id="267" r:id="rId5"/>
    <p:sldId id="269" r:id="rId6"/>
    <p:sldId id="270" r:id="rId7"/>
    <p:sldId id="271" r:id="rId8"/>
    <p:sldId id="258" r:id="rId9"/>
    <p:sldId id="259" r:id="rId10"/>
    <p:sldId id="260" r:id="rId11"/>
    <p:sldId id="268" r:id="rId12"/>
    <p:sldId id="261" r:id="rId13"/>
    <p:sldId id="262" r:id="rId14"/>
    <p:sldId id="275" r:id="rId15"/>
    <p:sldId id="276" r:id="rId16"/>
    <p:sldId id="263" r:id="rId17"/>
    <p:sldId id="277" r:id="rId18"/>
    <p:sldId id="272" r:id="rId19"/>
    <p:sldId id="278" r:id="rId20"/>
    <p:sldId id="273" r:id="rId21"/>
    <p:sldId id="279" r:id="rId22"/>
    <p:sldId id="274"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6" d="100"/>
          <a:sy n="56" d="100"/>
        </p:scale>
        <p:origin x="590"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A1D40A-4842-48EC-8185-C7D7ACEB6AC3}" type="datetimeFigureOut">
              <a:rPr lang="en-US" smtClean="0"/>
              <a:t>8/30/2025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6F7A8A-5800-4319-9674-44ECCED80220}" type="slidenum">
              <a:rPr lang="en-US" smtClean="0"/>
              <a:t>‹#›</a:t>
            </a:fld>
            <a:endParaRPr lang="en-US"/>
          </a:p>
        </p:txBody>
      </p:sp>
    </p:spTree>
    <p:extLst>
      <p:ext uri="{BB962C8B-B14F-4D97-AF65-F5344CB8AC3E}">
        <p14:creationId xmlns:p14="http://schemas.microsoft.com/office/powerpoint/2010/main" val="374633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7E14BDA-D9C1-4822-B06B-367A78AFB1D2}" type="datetime5">
              <a:rPr lang="en-IN" smtClean="0"/>
              <a:t>30-Aug-25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MEHEDI HASAN. DEPT. OF CSE, BAUET</a:t>
            </a:r>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271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1860D3-F879-431D-9D20-16788238385E}"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2242139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60140B-4AA7-49A1-A9DB-5DDD526BACAC}"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2701278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9E8F7A-171E-4BB0-B3FB-88CC00F4A83A}" type="datetime5">
              <a:rPr lang="en-IN" smtClean="0"/>
              <a:t>30-Aug-25</a:t>
            </a:fld>
            <a:endParaRPr lang="en-IN"/>
          </a:p>
        </p:txBody>
      </p:sp>
      <p:sp>
        <p:nvSpPr>
          <p:cNvPr id="6" name="Footer Placeholder 5"/>
          <p:cNvSpPr>
            <a:spLocks noGrp="1"/>
          </p:cNvSpPr>
          <p:nvPr>
            <p:ph type="ftr" sz="quarter" idx="11"/>
          </p:nvPr>
        </p:nvSpPr>
        <p:spPr/>
        <p:txBody>
          <a:bodyPr/>
          <a:lstStyle/>
          <a:p>
            <a:r>
              <a:rPr lang="en-US"/>
              <a:t>MEHEDI HASAN. DEPT. OF CSE, BAUET</a:t>
            </a:r>
            <a:endParaRPr lang="en-IN"/>
          </a:p>
        </p:txBody>
      </p:sp>
      <p:sp>
        <p:nvSpPr>
          <p:cNvPr id="7" name="Slide Number Placeholder 6"/>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2320545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6216C-7B64-4918-9238-3700EB5CA85A}" type="datetime5">
              <a:rPr lang="en-IN" smtClean="0"/>
              <a:t>30-Aug-25</a:t>
            </a:fld>
            <a:endParaRPr lang="en-IN"/>
          </a:p>
        </p:txBody>
      </p:sp>
      <p:sp>
        <p:nvSpPr>
          <p:cNvPr id="8" name="Footer Placeholder 7"/>
          <p:cNvSpPr>
            <a:spLocks noGrp="1"/>
          </p:cNvSpPr>
          <p:nvPr>
            <p:ph type="ftr" sz="quarter" idx="11"/>
          </p:nvPr>
        </p:nvSpPr>
        <p:spPr/>
        <p:txBody>
          <a:bodyPr/>
          <a:lstStyle/>
          <a:p>
            <a:r>
              <a:rPr lang="en-US"/>
              <a:t>MEHEDI HASAN. DEPT. OF CSE, BAUET</a:t>
            </a:r>
            <a:endParaRPr lang="en-IN"/>
          </a:p>
        </p:txBody>
      </p:sp>
      <p:sp>
        <p:nvSpPr>
          <p:cNvPr id="9" name="Slide Number Placeholder 8"/>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169512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3B1C02-E1D8-4BCF-84AD-C4B26444FA74}" type="datetime5">
              <a:rPr lang="en-IN" smtClean="0"/>
              <a:t>30-Aug-25</a:t>
            </a:fld>
            <a:endParaRPr lang="en-IN"/>
          </a:p>
        </p:txBody>
      </p:sp>
      <p:sp>
        <p:nvSpPr>
          <p:cNvPr id="4" name="Footer Placeholder 3"/>
          <p:cNvSpPr>
            <a:spLocks noGrp="1"/>
          </p:cNvSpPr>
          <p:nvPr>
            <p:ph type="ftr" sz="quarter" idx="11"/>
          </p:nvPr>
        </p:nvSpPr>
        <p:spPr/>
        <p:txBody>
          <a:bodyPr/>
          <a:lstStyle/>
          <a:p>
            <a:r>
              <a:rPr lang="en-US"/>
              <a:t>MEHEDI HASAN. DEPT. OF CSE, BAUET</a:t>
            </a:r>
            <a:endParaRPr lang="en-IN"/>
          </a:p>
        </p:txBody>
      </p:sp>
      <p:sp>
        <p:nvSpPr>
          <p:cNvPr id="5" name="Slide Number Placeholder 4"/>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1656319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A7ACF4-7EC8-487A-A74C-2B230C66EC9D}" type="datetime5">
              <a:rPr lang="en-IN" smtClean="0"/>
              <a:t>30-Aug-25</a:t>
            </a:fld>
            <a:endParaRPr lang="en-IN"/>
          </a:p>
        </p:txBody>
      </p:sp>
      <p:sp>
        <p:nvSpPr>
          <p:cNvPr id="3" name="Footer Placeholder 2"/>
          <p:cNvSpPr>
            <a:spLocks noGrp="1"/>
          </p:cNvSpPr>
          <p:nvPr>
            <p:ph type="ftr" sz="quarter" idx="11"/>
          </p:nvPr>
        </p:nvSpPr>
        <p:spPr/>
        <p:txBody>
          <a:bodyPr/>
          <a:lstStyle/>
          <a:p>
            <a:r>
              <a:rPr lang="en-US"/>
              <a:t>MEHEDI HASAN. DEPT. OF CSE, BAUET</a:t>
            </a:r>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72013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7CF4DF-254F-4DA7-83D3-CB31CB34283F}" type="datetime5">
              <a:rPr lang="en-IN" smtClean="0"/>
              <a:t>30-Aug-25</a:t>
            </a:fld>
            <a:endParaRPr lang="en-IN"/>
          </a:p>
        </p:txBody>
      </p:sp>
      <p:sp>
        <p:nvSpPr>
          <p:cNvPr id="6" name="Footer Placeholder 5"/>
          <p:cNvSpPr>
            <a:spLocks noGrp="1"/>
          </p:cNvSpPr>
          <p:nvPr>
            <p:ph type="ftr" sz="quarter" idx="11"/>
          </p:nvPr>
        </p:nvSpPr>
        <p:spPr/>
        <p:txBody>
          <a:bodyPr/>
          <a:lstStyle/>
          <a:p>
            <a:r>
              <a:rPr lang="en-US"/>
              <a:t>MEHEDI HASAN. DEPT. OF CSE, BAUET</a:t>
            </a:r>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39241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D1BCCF-FF46-44A8-9D86-D63854C79199}" type="datetime5">
              <a:rPr lang="en-IN" smtClean="0"/>
              <a:t>30-Aug-25</a:t>
            </a:fld>
            <a:endParaRPr lang="en-IN"/>
          </a:p>
        </p:txBody>
      </p:sp>
      <p:sp>
        <p:nvSpPr>
          <p:cNvPr id="6" name="Footer Placeholder 5"/>
          <p:cNvSpPr>
            <a:spLocks noGrp="1"/>
          </p:cNvSpPr>
          <p:nvPr>
            <p:ph type="ftr" sz="quarter" idx="11"/>
          </p:nvPr>
        </p:nvSpPr>
        <p:spPr/>
        <p:txBody>
          <a:bodyPr/>
          <a:lstStyle/>
          <a:p>
            <a:r>
              <a:rPr lang="en-US"/>
              <a:t>MEHEDI HASAN. DEPT. OF CSE, BAUET</a:t>
            </a:r>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1550031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C2387F-8FFD-477C-9B9F-7B2959BFCB09}" type="datetime5">
              <a:rPr lang="en-IN" smtClean="0"/>
              <a:t>30-Aug-25</a:t>
            </a:fld>
            <a:endParaRPr lang="en-IN"/>
          </a:p>
        </p:txBody>
      </p:sp>
      <p:sp>
        <p:nvSpPr>
          <p:cNvPr id="6" name="Footer Placeholder 5"/>
          <p:cNvSpPr>
            <a:spLocks noGrp="1"/>
          </p:cNvSpPr>
          <p:nvPr>
            <p:ph type="ftr" sz="quarter" idx="11"/>
          </p:nvPr>
        </p:nvSpPr>
        <p:spPr/>
        <p:txBody>
          <a:bodyPr/>
          <a:lstStyle/>
          <a:p>
            <a:r>
              <a:rPr lang="en-US"/>
              <a:t>MEHEDI HASAN. DEPT. OF CSE, BAUET</a:t>
            </a:r>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1605070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732FCB5-40F9-4C8C-8660-2172ADD0C4D8}"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4285469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F1E246-9F5E-4383-A465-AA53AFCF7F1B}"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2969186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0237A3-A963-4D12-BF19-594A64500838}"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177867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D1368CB-7C66-4DD6-9F6B-28DF5D27CB1B}" type="datetime5">
              <a:rPr lang="en-IN" smtClean="0"/>
              <a:t>30-Aug-25</a:t>
            </a:fld>
            <a:endParaRPr lang="en-IN"/>
          </a:p>
        </p:txBody>
      </p:sp>
      <p:sp>
        <p:nvSpPr>
          <p:cNvPr id="8" name="Footer Placeholder 7"/>
          <p:cNvSpPr>
            <a:spLocks noGrp="1"/>
          </p:cNvSpPr>
          <p:nvPr>
            <p:ph type="ftr" sz="quarter" idx="11"/>
          </p:nvPr>
        </p:nvSpPr>
        <p:spPr/>
        <p:txBody>
          <a:bodyPr/>
          <a:lstStyle/>
          <a:p>
            <a:r>
              <a:rPr lang="en-US"/>
              <a:t>MEHEDI HASAN. DEPT. OF CSE, BAUET</a:t>
            </a:r>
            <a:endParaRPr lang="en-IN"/>
          </a:p>
        </p:txBody>
      </p:sp>
      <p:sp>
        <p:nvSpPr>
          <p:cNvPr id="9" name="Slide Number Placeholder 8"/>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777425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5F2DC33-86B3-4012-8C65-90953127EA04}" type="datetime5">
              <a:rPr lang="en-IN" smtClean="0"/>
              <a:t>30-Aug-25</a:t>
            </a:fld>
            <a:endParaRPr lang="en-IN"/>
          </a:p>
        </p:txBody>
      </p:sp>
      <p:sp>
        <p:nvSpPr>
          <p:cNvPr id="8" name="Footer Placeholder 7"/>
          <p:cNvSpPr>
            <a:spLocks noGrp="1"/>
          </p:cNvSpPr>
          <p:nvPr>
            <p:ph type="ftr" sz="quarter" idx="11"/>
          </p:nvPr>
        </p:nvSpPr>
        <p:spPr>
          <a:xfrm>
            <a:off x="561111" y="6391838"/>
            <a:ext cx="3644282" cy="304801"/>
          </a:xfrm>
        </p:spPr>
        <p:txBody>
          <a:bodyPr/>
          <a:lstStyle/>
          <a:p>
            <a:r>
              <a:rPr lang="en-US"/>
              <a:t>MEHEDI HASAN. DEPT. OF CSE, BAUET</a:t>
            </a:r>
            <a:endParaRPr lang="en-IN"/>
          </a:p>
        </p:txBody>
      </p:sp>
      <p:sp>
        <p:nvSpPr>
          <p:cNvPr id="9" name="Slide Number Placeholder 8"/>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0592895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60ACC2B4-9439-40C3-A0A8-AC3BDA5082CA}"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418315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5A6B83C-9373-4EBF-917F-2A9E0F8C1E68}" type="datetime5">
              <a:rPr lang="en-IN" smtClean="0"/>
              <a:t>30-Aug-25</a:t>
            </a:fld>
            <a:endParaRPr lang="en-IN"/>
          </a:p>
        </p:txBody>
      </p:sp>
      <p:sp>
        <p:nvSpPr>
          <p:cNvPr id="5" name="Footer Placeholder 4"/>
          <p:cNvSpPr>
            <a:spLocks noGrp="1"/>
          </p:cNvSpPr>
          <p:nvPr>
            <p:ph type="ftr" sz="quarter" idx="11"/>
          </p:nvPr>
        </p:nvSpPr>
        <p:spPr/>
        <p:txBody>
          <a:bodyPr/>
          <a:lstStyle/>
          <a:p>
            <a:r>
              <a:rPr lang="en-US"/>
              <a:t>MEHEDI HASAN. DEPT. OF CSE, BAUET</a:t>
            </a:r>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3774F31-BE14-4E8C-94BE-1981B0E7CCE6}" type="slidenum">
              <a:rPr lang="en-IN" smtClean="0"/>
              <a:t>‹#›</a:t>
            </a:fld>
            <a:endParaRPr lang="en-IN"/>
          </a:p>
        </p:txBody>
      </p:sp>
    </p:spTree>
    <p:extLst>
      <p:ext uri="{BB962C8B-B14F-4D97-AF65-F5344CB8AC3E}">
        <p14:creationId xmlns:p14="http://schemas.microsoft.com/office/powerpoint/2010/main" val="3034238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BBB3031-D292-4718-8039-866B747F74DC}" type="datetime5">
              <a:rPr lang="en-IN" smtClean="0"/>
              <a:t>30-Aug-25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MEHEDI HASAN. DEPT. OF CSE, BAUET</a:t>
            </a:r>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3774F31-BE14-4E8C-94BE-1981B0E7CCE6}" type="slidenum">
              <a:rPr lang="en-IN" smtClean="0"/>
              <a:t>‹#›</a:t>
            </a:fld>
            <a:endParaRPr lang="en-IN"/>
          </a:p>
        </p:txBody>
      </p:sp>
    </p:spTree>
    <p:extLst>
      <p:ext uri="{BB962C8B-B14F-4D97-AF65-F5344CB8AC3E}">
        <p14:creationId xmlns:p14="http://schemas.microsoft.com/office/powerpoint/2010/main" val="4677027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BDF1-D539-46BF-8ABF-F11E18197303}"/>
              </a:ext>
            </a:extLst>
          </p:cNvPr>
          <p:cNvSpPr>
            <a:spLocks noGrp="1"/>
          </p:cNvSpPr>
          <p:nvPr>
            <p:ph type="ctrTitle"/>
          </p:nvPr>
        </p:nvSpPr>
        <p:spPr/>
        <p:txBody>
          <a:bodyPr/>
          <a:lstStyle/>
          <a:p>
            <a:r>
              <a:rPr lang="en-US" dirty="0"/>
              <a:t>INHERITANCE IN C++</a:t>
            </a:r>
            <a:endParaRPr lang="en-IN" dirty="0"/>
          </a:p>
        </p:txBody>
      </p:sp>
      <p:sp>
        <p:nvSpPr>
          <p:cNvPr id="3" name="Subtitle 2">
            <a:extLst>
              <a:ext uri="{FF2B5EF4-FFF2-40B4-BE49-F238E27FC236}">
                <a16:creationId xmlns:a16="http://schemas.microsoft.com/office/drawing/2014/main" id="{5978924F-F930-4988-B074-D7FA5FA7EA94}"/>
              </a:ext>
            </a:extLst>
          </p:cNvPr>
          <p:cNvSpPr>
            <a:spLocks noGrp="1"/>
          </p:cNvSpPr>
          <p:nvPr>
            <p:ph type="subTitle" idx="1"/>
          </p:nvPr>
        </p:nvSpPr>
        <p:spPr/>
        <p:txBody>
          <a:bodyPr>
            <a:normAutofit fontScale="77500" lnSpcReduction="20000"/>
          </a:bodyPr>
          <a:lstStyle/>
          <a:p>
            <a:r>
              <a:rPr lang="en-US" dirty="0"/>
              <a:t>Conducted by </a:t>
            </a:r>
          </a:p>
          <a:p>
            <a:r>
              <a:rPr lang="en-US" dirty="0"/>
              <a:t>			</a:t>
            </a:r>
            <a:r>
              <a:rPr lang="en-US" b="1" dirty="0"/>
              <a:t>Mehedi Hasan </a:t>
            </a:r>
          </a:p>
          <a:p>
            <a:r>
              <a:rPr lang="en-US" dirty="0"/>
              <a:t>			Lecturer, Department of CSE </a:t>
            </a:r>
          </a:p>
          <a:p>
            <a:endParaRPr lang="en-IN" dirty="0"/>
          </a:p>
        </p:txBody>
      </p:sp>
      <p:sp>
        <p:nvSpPr>
          <p:cNvPr id="4" name="Slide Number Placeholder 3">
            <a:extLst>
              <a:ext uri="{FF2B5EF4-FFF2-40B4-BE49-F238E27FC236}">
                <a16:creationId xmlns:a16="http://schemas.microsoft.com/office/drawing/2014/main" id="{CE6E82E6-2D45-FE1A-C7E0-C2E4055D56CA}"/>
              </a:ext>
            </a:extLst>
          </p:cNvPr>
          <p:cNvSpPr>
            <a:spLocks noGrp="1"/>
          </p:cNvSpPr>
          <p:nvPr>
            <p:ph type="sldNum" sz="quarter" idx="12"/>
          </p:nvPr>
        </p:nvSpPr>
        <p:spPr/>
        <p:txBody>
          <a:bodyPr/>
          <a:lstStyle/>
          <a:p>
            <a:fld id="{A3774F31-BE14-4E8C-94BE-1981B0E7CCE6}" type="slidenum">
              <a:rPr lang="en-IN" smtClean="0"/>
              <a:t>1</a:t>
            </a:fld>
            <a:endParaRPr lang="en-IN"/>
          </a:p>
        </p:txBody>
      </p:sp>
    </p:spTree>
    <p:extLst>
      <p:ext uri="{BB962C8B-B14F-4D97-AF65-F5344CB8AC3E}">
        <p14:creationId xmlns:p14="http://schemas.microsoft.com/office/powerpoint/2010/main" val="4235670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0662-A4D3-4E78-93FA-DCA724EC52BC}"/>
              </a:ext>
            </a:extLst>
          </p:cNvPr>
          <p:cNvSpPr>
            <a:spLocks noGrp="1"/>
          </p:cNvSpPr>
          <p:nvPr>
            <p:ph type="title"/>
          </p:nvPr>
        </p:nvSpPr>
        <p:spPr/>
        <p:txBody>
          <a:bodyPr/>
          <a:lstStyle/>
          <a:p>
            <a:r>
              <a:rPr lang="en-US" dirty="0"/>
              <a:t>What is an inheritance?</a:t>
            </a:r>
            <a:endParaRPr lang="en-IN" dirty="0"/>
          </a:p>
        </p:txBody>
      </p:sp>
      <p:sp>
        <p:nvSpPr>
          <p:cNvPr id="3" name="Content Placeholder 2">
            <a:extLst>
              <a:ext uri="{FF2B5EF4-FFF2-40B4-BE49-F238E27FC236}">
                <a16:creationId xmlns:a16="http://schemas.microsoft.com/office/drawing/2014/main" id="{2F0E0070-6D9E-4B71-A35C-FE87FDB7031F}"/>
              </a:ext>
            </a:extLst>
          </p:cNvPr>
          <p:cNvSpPr>
            <a:spLocks noGrp="1"/>
          </p:cNvSpPr>
          <p:nvPr>
            <p:ph idx="1"/>
          </p:nvPr>
        </p:nvSpPr>
        <p:spPr>
          <a:xfrm>
            <a:off x="1154954" y="2603500"/>
            <a:ext cx="10673880" cy="3416300"/>
          </a:xfrm>
        </p:spPr>
        <p:txBody>
          <a:bodyPr>
            <a:normAutofit/>
          </a:bodyPr>
          <a:lstStyle/>
          <a:p>
            <a:pPr algn="just"/>
            <a:r>
              <a:rPr lang="en-US" sz="2400" dirty="0"/>
              <a:t>Inheritance is the process by which new classes, called derived classes, are created from existing classes, called base classes.</a:t>
            </a:r>
          </a:p>
          <a:p>
            <a:pPr algn="just"/>
            <a:r>
              <a:rPr lang="en-US" sz="2400" dirty="0"/>
              <a:t>The derived classes have all the features of the base class and the programmer can choose to add new features specific to the newly created derived class.</a:t>
            </a:r>
          </a:p>
          <a:p>
            <a:pPr algn="just"/>
            <a:r>
              <a:rPr lang="en-US" sz="2400" dirty="0"/>
              <a:t>The idea of inheritance implements a relationship. For example, mammal IS-A animal, dog IS-A mammal, hence dog IS-A animal as well, and so on.</a:t>
            </a:r>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E5F14C4E-7313-EDDE-583C-57043648F61B}"/>
              </a:ext>
            </a:extLst>
          </p:cNvPr>
          <p:cNvSpPr>
            <a:spLocks noGrp="1"/>
          </p:cNvSpPr>
          <p:nvPr>
            <p:ph type="sldNum" sz="quarter" idx="12"/>
          </p:nvPr>
        </p:nvSpPr>
        <p:spPr/>
        <p:txBody>
          <a:bodyPr/>
          <a:lstStyle/>
          <a:p>
            <a:fld id="{A3774F31-BE14-4E8C-94BE-1981B0E7CCE6}" type="slidenum">
              <a:rPr lang="en-IN" smtClean="0"/>
              <a:t>2</a:t>
            </a:fld>
            <a:endParaRPr lang="en-IN"/>
          </a:p>
        </p:txBody>
      </p:sp>
      <p:sp>
        <p:nvSpPr>
          <p:cNvPr id="5" name="Footer Placeholder 4">
            <a:extLst>
              <a:ext uri="{FF2B5EF4-FFF2-40B4-BE49-F238E27FC236}">
                <a16:creationId xmlns:a16="http://schemas.microsoft.com/office/drawing/2014/main" id="{DB71A0C1-9B06-B7A4-4132-87F9AF244F51}"/>
              </a:ext>
            </a:extLst>
          </p:cNvPr>
          <p:cNvSpPr>
            <a:spLocks noGrp="1"/>
          </p:cNvSpPr>
          <p:nvPr>
            <p:ph type="ftr" sz="quarter" idx="11"/>
          </p:nvPr>
        </p:nvSpPr>
        <p:spPr/>
        <p:txBody>
          <a:bodyPr/>
          <a:lstStyle/>
          <a:p>
            <a:r>
              <a:rPr lang="en-US" dirty="0"/>
              <a:t>MEHEDI HASAN. DEPT. OF CSE, BAUET</a:t>
            </a:r>
            <a:endParaRPr lang="en-IN" dirty="0"/>
          </a:p>
        </p:txBody>
      </p:sp>
      <p:sp>
        <p:nvSpPr>
          <p:cNvPr id="6" name="Date Placeholder 5">
            <a:extLst>
              <a:ext uri="{FF2B5EF4-FFF2-40B4-BE49-F238E27FC236}">
                <a16:creationId xmlns:a16="http://schemas.microsoft.com/office/drawing/2014/main" id="{4319D4B8-6F24-8CD5-0CE8-7523E3D4F1F9}"/>
              </a:ext>
            </a:extLst>
          </p:cNvPr>
          <p:cNvSpPr>
            <a:spLocks noGrp="1"/>
          </p:cNvSpPr>
          <p:nvPr>
            <p:ph type="dt" sz="half" idx="10"/>
          </p:nvPr>
        </p:nvSpPr>
        <p:spPr/>
        <p:txBody>
          <a:bodyPr/>
          <a:lstStyle/>
          <a:p>
            <a:fld id="{C87CC68A-90BF-48B9-A00E-E7765158B0FB}" type="datetime5">
              <a:rPr lang="en-IN" smtClean="0"/>
              <a:t>30-Aug-25</a:t>
            </a:fld>
            <a:endParaRPr lang="en-IN"/>
          </a:p>
        </p:txBody>
      </p:sp>
    </p:spTree>
    <p:extLst>
      <p:ext uri="{BB962C8B-B14F-4D97-AF65-F5344CB8AC3E}">
        <p14:creationId xmlns:p14="http://schemas.microsoft.com/office/powerpoint/2010/main" val="244454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733A-AA35-5FC3-3BCB-E6392854A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5D29A-0525-E19F-0CE6-0B83B059D99F}"/>
              </a:ext>
            </a:extLst>
          </p:cNvPr>
          <p:cNvSpPr>
            <a:spLocks noGrp="1"/>
          </p:cNvSpPr>
          <p:nvPr>
            <p:ph type="title"/>
          </p:nvPr>
        </p:nvSpPr>
        <p:spPr/>
        <p:txBody>
          <a:bodyPr/>
          <a:lstStyle/>
          <a:p>
            <a:pPr algn="ctr"/>
            <a:r>
              <a:rPr lang="en-US" altLang="en-US" dirty="0"/>
              <a:t>Example: Insect Taxonomy</a:t>
            </a:r>
            <a:endParaRPr lang="en-IN" dirty="0"/>
          </a:p>
        </p:txBody>
      </p:sp>
      <p:sp>
        <p:nvSpPr>
          <p:cNvPr id="3" name="Content Placeholder 2">
            <a:extLst>
              <a:ext uri="{FF2B5EF4-FFF2-40B4-BE49-F238E27FC236}">
                <a16:creationId xmlns:a16="http://schemas.microsoft.com/office/drawing/2014/main" id="{E8C6D3AC-D985-981D-B804-B74F40D5F5EA}"/>
              </a:ext>
            </a:extLst>
          </p:cNvPr>
          <p:cNvSpPr>
            <a:spLocks noGrp="1"/>
          </p:cNvSpPr>
          <p:nvPr>
            <p:ph idx="1"/>
          </p:nvPr>
        </p:nvSpPr>
        <p:spPr/>
        <p:txBody>
          <a:bodyPr/>
          <a:lstStyle/>
          <a:p>
            <a:pPr marL="0" indent="0">
              <a:buNone/>
            </a:pPr>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01D485A8-3AFF-61C0-035B-9EBEEB2A4320}"/>
              </a:ext>
            </a:extLst>
          </p:cNvPr>
          <p:cNvSpPr>
            <a:spLocks noGrp="1"/>
          </p:cNvSpPr>
          <p:nvPr>
            <p:ph type="sldNum" sz="quarter" idx="12"/>
          </p:nvPr>
        </p:nvSpPr>
        <p:spPr/>
        <p:txBody>
          <a:bodyPr/>
          <a:lstStyle/>
          <a:p>
            <a:fld id="{A3774F31-BE14-4E8C-94BE-1981B0E7CCE6}" type="slidenum">
              <a:rPr lang="en-IN" smtClean="0"/>
              <a:t>3</a:t>
            </a:fld>
            <a:endParaRPr lang="en-IN"/>
          </a:p>
        </p:txBody>
      </p:sp>
      <p:sp>
        <p:nvSpPr>
          <p:cNvPr id="5" name="Footer Placeholder 4">
            <a:extLst>
              <a:ext uri="{FF2B5EF4-FFF2-40B4-BE49-F238E27FC236}">
                <a16:creationId xmlns:a16="http://schemas.microsoft.com/office/drawing/2014/main" id="{119CA582-06C4-BA2B-700A-E3764A4AD1A9}"/>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BBB4E8EA-DFB9-BFFF-DE64-D04B5F2B0267}"/>
              </a:ext>
            </a:extLst>
          </p:cNvPr>
          <p:cNvSpPr>
            <a:spLocks noGrp="1"/>
          </p:cNvSpPr>
          <p:nvPr>
            <p:ph type="dt" sz="half" idx="10"/>
          </p:nvPr>
        </p:nvSpPr>
        <p:spPr/>
        <p:txBody>
          <a:bodyPr/>
          <a:lstStyle/>
          <a:p>
            <a:fld id="{D5F6C333-4E85-47ED-94BC-04EA7EFA695A}" type="datetime5">
              <a:rPr lang="en-IN" smtClean="0"/>
              <a:t>30-Aug-25</a:t>
            </a:fld>
            <a:endParaRPr lang="en-IN"/>
          </a:p>
        </p:txBody>
      </p:sp>
      <p:pic>
        <p:nvPicPr>
          <p:cNvPr id="7" name="Picture 6" descr="1501sowc copy">
            <a:extLst>
              <a:ext uri="{FF2B5EF4-FFF2-40B4-BE49-F238E27FC236}">
                <a16:creationId xmlns:a16="http://schemas.microsoft.com/office/drawing/2014/main" id="{DD973DB9-D62E-360D-DA51-ED52C4A2C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1217" y="2295293"/>
            <a:ext cx="6308241" cy="3687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1157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B4AF-74BD-E95D-A085-4F7A1AD19AAF}"/>
              </a:ext>
            </a:extLst>
          </p:cNvPr>
          <p:cNvSpPr>
            <a:spLocks noGrp="1"/>
          </p:cNvSpPr>
          <p:nvPr>
            <p:ph type="title"/>
          </p:nvPr>
        </p:nvSpPr>
        <p:spPr/>
        <p:txBody>
          <a:bodyPr/>
          <a:lstStyle/>
          <a:p>
            <a:r>
              <a:rPr lang="en-US" altLang="en-US" dirty="0"/>
              <a:t>The "is a" Relationship</a:t>
            </a:r>
            <a:endParaRPr lang="en-US" dirty="0"/>
          </a:p>
        </p:txBody>
      </p:sp>
      <p:sp>
        <p:nvSpPr>
          <p:cNvPr id="3" name="Content Placeholder 2">
            <a:extLst>
              <a:ext uri="{FF2B5EF4-FFF2-40B4-BE49-F238E27FC236}">
                <a16:creationId xmlns:a16="http://schemas.microsoft.com/office/drawing/2014/main" id="{7DE30652-ED17-E7C0-E6D3-DE4AF78A6993}"/>
              </a:ext>
            </a:extLst>
          </p:cNvPr>
          <p:cNvSpPr>
            <a:spLocks noGrp="1"/>
          </p:cNvSpPr>
          <p:nvPr>
            <p:ph idx="1"/>
          </p:nvPr>
        </p:nvSpPr>
        <p:spPr>
          <a:xfrm>
            <a:off x="1154954" y="2276272"/>
            <a:ext cx="8825659" cy="4231532"/>
          </a:xfrm>
        </p:spPr>
        <p:txBody>
          <a:bodyPr>
            <a:normAutofit fontScale="92500" lnSpcReduction="10000"/>
          </a:bodyPr>
          <a:lstStyle/>
          <a:p>
            <a:pPr lvl="0" fontAlgn="base">
              <a:spcAft>
                <a:spcPct val="0"/>
              </a:spcAft>
              <a:buFontTx/>
              <a:buChar char="•"/>
            </a:pPr>
            <a:r>
              <a:rPr lang="en-US" altLang="en-US" kern="0" dirty="0">
                <a:solidFill>
                  <a:srgbClr val="000000"/>
                </a:solidFill>
                <a:cs typeface="Arial"/>
              </a:rPr>
              <a:t>Inheritance establishes an "is a" relationship between classes.</a:t>
            </a:r>
          </a:p>
          <a:p>
            <a:pPr lvl="1" fontAlgn="base">
              <a:spcAft>
                <a:spcPct val="0"/>
              </a:spcAft>
              <a:buFontTx/>
              <a:buChar char="–"/>
            </a:pPr>
            <a:r>
              <a:rPr lang="en-US" dirty="0"/>
              <a:t>A cat/dog/Lion is an animal</a:t>
            </a:r>
            <a:endParaRPr lang="en-US" altLang="en-US" kern="0" dirty="0">
              <a:solidFill>
                <a:srgbClr val="000000"/>
              </a:solidFill>
              <a:cs typeface="Arial"/>
            </a:endParaRPr>
          </a:p>
          <a:p>
            <a:pPr lvl="1" fontAlgn="base">
              <a:spcAft>
                <a:spcPct val="0"/>
              </a:spcAft>
              <a:buFontTx/>
              <a:buChar char="–"/>
            </a:pPr>
            <a:r>
              <a:rPr lang="en-US" altLang="en-US" kern="0" dirty="0">
                <a:solidFill>
                  <a:srgbClr val="000000"/>
                </a:solidFill>
                <a:cs typeface="Arial"/>
              </a:rPr>
              <a:t>A flower is a plant</a:t>
            </a:r>
          </a:p>
          <a:p>
            <a:pPr lvl="1" fontAlgn="base">
              <a:spcAft>
                <a:spcPct val="0"/>
              </a:spcAft>
              <a:buFontTx/>
              <a:buChar char="–"/>
            </a:pPr>
            <a:r>
              <a:rPr lang="en-US" altLang="en-US" kern="0" dirty="0">
                <a:solidFill>
                  <a:srgbClr val="000000"/>
                </a:solidFill>
                <a:cs typeface="Arial"/>
              </a:rPr>
              <a:t>A football player is an athlete</a:t>
            </a:r>
          </a:p>
          <a:p>
            <a:pPr lvl="1" fontAlgn="base">
              <a:spcAft>
                <a:spcPct val="0"/>
              </a:spcAft>
              <a:buFontTx/>
              <a:buChar char="–"/>
            </a:pPr>
            <a:r>
              <a:rPr lang="en-US" altLang="en-US" kern="0" dirty="0">
                <a:solidFill>
                  <a:srgbClr val="000000"/>
                </a:solidFill>
                <a:cs typeface="Arial"/>
              </a:rPr>
              <a:t> </a:t>
            </a:r>
            <a:r>
              <a:rPr lang="en-US" altLang="en-US" dirty="0">
                <a:solidFill>
                  <a:schemeClr val="tx1"/>
                </a:solidFill>
              </a:rPr>
              <a:t>A rose is a flower</a:t>
            </a:r>
          </a:p>
          <a:p>
            <a:pPr lvl="1" fontAlgn="base">
              <a:spcAft>
                <a:spcPct val="0"/>
              </a:spcAft>
              <a:buFontTx/>
              <a:buChar char="–"/>
            </a:pPr>
            <a:r>
              <a:rPr lang="en-US" altLang="en-US" dirty="0">
                <a:solidFill>
                  <a:schemeClr val="tx1"/>
                </a:solidFill>
              </a:rPr>
              <a:t>A parrot is a bird</a:t>
            </a:r>
          </a:p>
          <a:p>
            <a:pPr lvl="1" fontAlgn="base">
              <a:spcAft>
                <a:spcPct val="0"/>
              </a:spcAft>
              <a:buFontTx/>
              <a:buChar char="–"/>
            </a:pPr>
            <a:r>
              <a:rPr lang="en-US" altLang="en-US" dirty="0">
                <a:solidFill>
                  <a:schemeClr val="tx1"/>
                </a:solidFill>
              </a:rPr>
              <a:t>A mango is a fruit</a:t>
            </a:r>
          </a:p>
          <a:p>
            <a:pPr lvl="1" fontAlgn="base">
              <a:spcAft>
                <a:spcPct val="0"/>
              </a:spcAft>
              <a:buFontTx/>
              <a:buChar char="–"/>
            </a:pPr>
            <a:r>
              <a:rPr lang="en-US" altLang="en-US" dirty="0">
                <a:solidFill>
                  <a:schemeClr val="tx1"/>
                </a:solidFill>
              </a:rPr>
              <a:t>A laptop is a computer</a:t>
            </a:r>
          </a:p>
          <a:p>
            <a:pPr lvl="1" fontAlgn="base">
              <a:spcAft>
                <a:spcPct val="0"/>
              </a:spcAft>
              <a:buFontTx/>
              <a:buChar char="–"/>
            </a:pPr>
            <a:r>
              <a:rPr lang="en-US" altLang="en-US" dirty="0">
                <a:solidFill>
                  <a:schemeClr val="tx1"/>
                </a:solidFill>
              </a:rPr>
              <a:t>A train is a transport</a:t>
            </a:r>
          </a:p>
          <a:p>
            <a:pPr lvl="1" fontAlgn="base">
              <a:spcAft>
                <a:spcPct val="0"/>
              </a:spcAft>
              <a:buFontTx/>
              <a:buChar char="–"/>
            </a:pPr>
            <a:r>
              <a:rPr lang="en-US" altLang="en-US" dirty="0">
                <a:solidFill>
                  <a:schemeClr val="tx1"/>
                </a:solidFill>
              </a:rPr>
              <a:t>A guitar is a musical instrument</a:t>
            </a:r>
          </a:p>
          <a:p>
            <a:pPr lvl="1" fontAlgn="base">
              <a:spcAft>
                <a:spcPct val="0"/>
              </a:spcAft>
              <a:buFontTx/>
              <a:buChar char="–"/>
            </a:pPr>
            <a:r>
              <a:rPr lang="en-US" altLang="en-US" dirty="0">
                <a:solidFill>
                  <a:schemeClr val="tx1"/>
                </a:solidFill>
              </a:rPr>
              <a:t>A river is a waterbody</a:t>
            </a:r>
          </a:p>
          <a:p>
            <a:pPr lvl="1" fontAlgn="base">
              <a:spcAft>
                <a:spcPct val="0"/>
              </a:spcAft>
              <a:buFontTx/>
              <a:buChar char="–"/>
            </a:pPr>
            <a:r>
              <a:rPr lang="en-US" altLang="en-US" dirty="0">
                <a:solidFill>
                  <a:schemeClr val="tx1"/>
                </a:solidFill>
              </a:rPr>
              <a:t>A doctor is a professional</a:t>
            </a: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dirty="0">
              <a:solidFill>
                <a:schemeClr val="tx1"/>
              </a:solidFill>
              <a:latin typeface="Arial" panose="020B0604020202020204" pitchFamily="34" charset="0"/>
            </a:endParaRPr>
          </a:p>
          <a:p>
            <a:pPr lvl="1" fontAlgn="base">
              <a:spcAft>
                <a:spcPct val="0"/>
              </a:spcAft>
              <a:buFontTx/>
              <a:buChar char="–"/>
            </a:pPr>
            <a:endParaRPr lang="en-US" altLang="en-US" kern="0" dirty="0">
              <a:solidFill>
                <a:srgbClr val="000000"/>
              </a:solidFill>
              <a:latin typeface="+mj-lt"/>
              <a:cs typeface="Arial"/>
            </a:endParaRPr>
          </a:p>
          <a:p>
            <a:endParaRPr lang="en-US" dirty="0"/>
          </a:p>
        </p:txBody>
      </p:sp>
      <p:sp>
        <p:nvSpPr>
          <p:cNvPr id="4" name="Date Placeholder 3">
            <a:extLst>
              <a:ext uri="{FF2B5EF4-FFF2-40B4-BE49-F238E27FC236}">
                <a16:creationId xmlns:a16="http://schemas.microsoft.com/office/drawing/2014/main" id="{C0AE4976-1ADC-7080-3081-6D5E58D158E1}"/>
              </a:ext>
            </a:extLst>
          </p:cNvPr>
          <p:cNvSpPr>
            <a:spLocks noGrp="1"/>
          </p:cNvSpPr>
          <p:nvPr>
            <p:ph type="dt" sz="half" idx="10"/>
          </p:nvPr>
        </p:nvSpPr>
        <p:spPr/>
        <p:txBody>
          <a:bodyPr/>
          <a:lstStyle/>
          <a:p>
            <a:fld id="{6C1860D3-F879-431D-9D20-16788238385E}" type="datetime5">
              <a:rPr lang="en-IN" smtClean="0"/>
              <a:t>30-Aug-25</a:t>
            </a:fld>
            <a:endParaRPr lang="en-IN"/>
          </a:p>
        </p:txBody>
      </p:sp>
      <p:sp>
        <p:nvSpPr>
          <p:cNvPr id="5" name="Footer Placeholder 4">
            <a:extLst>
              <a:ext uri="{FF2B5EF4-FFF2-40B4-BE49-F238E27FC236}">
                <a16:creationId xmlns:a16="http://schemas.microsoft.com/office/drawing/2014/main" id="{2156FFAA-005B-7047-46F9-4C96C0838CFD}"/>
              </a:ext>
            </a:extLst>
          </p:cNvPr>
          <p:cNvSpPr>
            <a:spLocks noGrp="1"/>
          </p:cNvSpPr>
          <p:nvPr>
            <p:ph type="ftr" sz="quarter" idx="11"/>
          </p:nvPr>
        </p:nvSpPr>
        <p:spPr/>
        <p:txBody>
          <a:bodyPr/>
          <a:lstStyle/>
          <a:p>
            <a:r>
              <a:rPr lang="en-US"/>
              <a:t>MEHEDI HASAN. DEPT. OF CSE, BAUET</a:t>
            </a:r>
            <a:endParaRPr lang="en-IN"/>
          </a:p>
        </p:txBody>
      </p:sp>
      <p:sp>
        <p:nvSpPr>
          <p:cNvPr id="6" name="Slide Number Placeholder 5">
            <a:extLst>
              <a:ext uri="{FF2B5EF4-FFF2-40B4-BE49-F238E27FC236}">
                <a16:creationId xmlns:a16="http://schemas.microsoft.com/office/drawing/2014/main" id="{2F00C816-203F-AC5A-B107-A4324F5FE800}"/>
              </a:ext>
            </a:extLst>
          </p:cNvPr>
          <p:cNvSpPr>
            <a:spLocks noGrp="1"/>
          </p:cNvSpPr>
          <p:nvPr>
            <p:ph type="sldNum" sz="quarter" idx="12"/>
          </p:nvPr>
        </p:nvSpPr>
        <p:spPr/>
        <p:txBody>
          <a:bodyPr/>
          <a:lstStyle/>
          <a:p>
            <a:fld id="{A3774F31-BE14-4E8C-94BE-1981B0E7CCE6}" type="slidenum">
              <a:rPr lang="en-IN" smtClean="0"/>
              <a:t>4</a:t>
            </a:fld>
            <a:endParaRPr lang="en-IN"/>
          </a:p>
        </p:txBody>
      </p:sp>
    </p:spTree>
    <p:extLst>
      <p:ext uri="{BB962C8B-B14F-4D97-AF65-F5344CB8AC3E}">
        <p14:creationId xmlns:p14="http://schemas.microsoft.com/office/powerpoint/2010/main" val="2819203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ADF58-6A6D-9962-BA3F-404EF0C1D8D0}"/>
              </a:ext>
            </a:extLst>
          </p:cNvPr>
          <p:cNvSpPr>
            <a:spLocks noGrp="1"/>
          </p:cNvSpPr>
          <p:nvPr>
            <p:ph type="title"/>
          </p:nvPr>
        </p:nvSpPr>
        <p:spPr/>
        <p:txBody>
          <a:bodyPr/>
          <a:lstStyle/>
          <a:p>
            <a:pPr algn="ctr"/>
            <a:r>
              <a:rPr lang="en-US" b="1" dirty="0">
                <a:solidFill>
                  <a:schemeClr val="bg1"/>
                </a:solidFill>
                <a:cs typeface="Times New Roman" pitchFamily="18" charset="0"/>
              </a:rPr>
              <a:t>Why should inheritance be used?</a:t>
            </a:r>
            <a:br>
              <a:rPr lang="en-US" b="1" dirty="0">
                <a:solidFill>
                  <a:schemeClr val="tx1"/>
                </a:solidFill>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DBECEAE1-5B5D-ACF0-5303-B253D48420B2}"/>
              </a:ext>
            </a:extLst>
          </p:cNvPr>
          <p:cNvSpPr>
            <a:spLocks noGrp="1"/>
          </p:cNvSpPr>
          <p:nvPr>
            <p:ph idx="1"/>
          </p:nvPr>
        </p:nvSpPr>
        <p:spPr/>
        <p:txBody>
          <a:bodyPr/>
          <a:lstStyle/>
          <a:p>
            <a:pPr algn="just"/>
            <a:r>
              <a:rPr lang="en-US" dirty="0">
                <a:latin typeface="Times New Roman" pitchFamily="18" charset="0"/>
                <a:cs typeface="Times New Roman" pitchFamily="18" charset="0"/>
              </a:rPr>
              <a:t> Suppose, in your game, you want three characters - a </a:t>
            </a:r>
            <a:r>
              <a:rPr lang="en-US" dirty="0" err="1">
                <a:latin typeface="Times New Roman" pitchFamily="18" charset="0"/>
                <a:cs typeface="Times New Roman" pitchFamily="18" charset="0"/>
              </a:rPr>
              <a:t>maths</a:t>
            </a:r>
            <a:r>
              <a:rPr lang="en-US" dirty="0">
                <a:latin typeface="Times New Roman" pitchFamily="18" charset="0"/>
                <a:cs typeface="Times New Roman" pitchFamily="18" charset="0"/>
              </a:rPr>
              <a:t> teacher, a footballer and a businessman.</a:t>
            </a:r>
          </a:p>
          <a:p>
            <a:pPr algn="just"/>
            <a:r>
              <a:rPr lang="en-US" dirty="0">
                <a:latin typeface="Times New Roman" pitchFamily="18" charset="0"/>
                <a:cs typeface="Times New Roman" pitchFamily="18" charset="0"/>
              </a:rPr>
              <a:t> Since, all of the characters are persons, they can walk and talk. However, they also have some special skills. A </a:t>
            </a:r>
            <a:r>
              <a:rPr lang="en-US" dirty="0" err="1">
                <a:latin typeface="Times New Roman" pitchFamily="18" charset="0"/>
                <a:cs typeface="Times New Roman" pitchFamily="18" charset="0"/>
              </a:rPr>
              <a:t>maths</a:t>
            </a:r>
            <a:r>
              <a:rPr lang="en-US" dirty="0">
                <a:latin typeface="Times New Roman" pitchFamily="18" charset="0"/>
                <a:cs typeface="Times New Roman" pitchFamily="18" charset="0"/>
              </a:rPr>
              <a:t> teacher can </a:t>
            </a:r>
            <a:r>
              <a:rPr lang="en-US" b="1" dirty="0">
                <a:latin typeface="Times New Roman" pitchFamily="18" charset="0"/>
                <a:cs typeface="Times New Roman" pitchFamily="18" charset="0"/>
              </a:rPr>
              <a:t>teach </a:t>
            </a:r>
            <a:r>
              <a:rPr lang="en-US" b="1" dirty="0" err="1">
                <a:latin typeface="Times New Roman" pitchFamily="18" charset="0"/>
                <a:cs typeface="Times New Roman" pitchFamily="18" charset="0"/>
              </a:rPr>
              <a:t>maths</a:t>
            </a:r>
            <a:r>
              <a:rPr lang="en-US" dirty="0">
                <a:latin typeface="Times New Roman" pitchFamily="18" charset="0"/>
                <a:cs typeface="Times New Roman" pitchFamily="18" charset="0"/>
              </a:rPr>
              <a:t>, a footballer can </a:t>
            </a:r>
            <a:r>
              <a:rPr lang="en-US" b="1" dirty="0">
                <a:latin typeface="Times New Roman" pitchFamily="18" charset="0"/>
                <a:cs typeface="Times New Roman" pitchFamily="18" charset="0"/>
              </a:rPr>
              <a:t>play football</a:t>
            </a:r>
            <a:r>
              <a:rPr lang="en-US" dirty="0">
                <a:latin typeface="Times New Roman" pitchFamily="18" charset="0"/>
                <a:cs typeface="Times New Roman" pitchFamily="18" charset="0"/>
              </a:rPr>
              <a:t> and a businessman can </a:t>
            </a:r>
            <a:r>
              <a:rPr lang="en-US" b="1" dirty="0">
                <a:latin typeface="Times New Roman" pitchFamily="18" charset="0"/>
                <a:cs typeface="Times New Roman" pitchFamily="18" charset="0"/>
              </a:rPr>
              <a:t>run a business</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You can individually create three classes who can walk, talk and perform their special skill as shown in the figure below.</a:t>
            </a:r>
          </a:p>
          <a:p>
            <a:endParaRPr lang="en-US" dirty="0"/>
          </a:p>
        </p:txBody>
      </p:sp>
      <p:sp>
        <p:nvSpPr>
          <p:cNvPr id="4" name="Date Placeholder 3">
            <a:extLst>
              <a:ext uri="{FF2B5EF4-FFF2-40B4-BE49-F238E27FC236}">
                <a16:creationId xmlns:a16="http://schemas.microsoft.com/office/drawing/2014/main" id="{3400A64A-0D29-CA46-ED3A-3FEF74DEC3E4}"/>
              </a:ext>
            </a:extLst>
          </p:cNvPr>
          <p:cNvSpPr>
            <a:spLocks noGrp="1"/>
          </p:cNvSpPr>
          <p:nvPr>
            <p:ph type="dt" sz="half" idx="10"/>
          </p:nvPr>
        </p:nvSpPr>
        <p:spPr/>
        <p:txBody>
          <a:bodyPr/>
          <a:lstStyle/>
          <a:p>
            <a:fld id="{6C1860D3-F879-431D-9D20-16788238385E}" type="datetime5">
              <a:rPr lang="en-IN" smtClean="0"/>
              <a:t>30-Aug-25</a:t>
            </a:fld>
            <a:endParaRPr lang="en-IN"/>
          </a:p>
        </p:txBody>
      </p:sp>
      <p:sp>
        <p:nvSpPr>
          <p:cNvPr id="5" name="Footer Placeholder 4">
            <a:extLst>
              <a:ext uri="{FF2B5EF4-FFF2-40B4-BE49-F238E27FC236}">
                <a16:creationId xmlns:a16="http://schemas.microsoft.com/office/drawing/2014/main" id="{2155359C-7C3C-7D2D-F060-CB0625FB1076}"/>
              </a:ext>
            </a:extLst>
          </p:cNvPr>
          <p:cNvSpPr>
            <a:spLocks noGrp="1"/>
          </p:cNvSpPr>
          <p:nvPr>
            <p:ph type="ftr" sz="quarter" idx="11"/>
          </p:nvPr>
        </p:nvSpPr>
        <p:spPr/>
        <p:txBody>
          <a:bodyPr/>
          <a:lstStyle/>
          <a:p>
            <a:r>
              <a:rPr lang="en-US"/>
              <a:t>MEHEDI HASAN. DEPT. OF CSE, BAUET</a:t>
            </a:r>
            <a:endParaRPr lang="en-IN"/>
          </a:p>
        </p:txBody>
      </p:sp>
      <p:sp>
        <p:nvSpPr>
          <p:cNvPr id="6" name="Slide Number Placeholder 5">
            <a:extLst>
              <a:ext uri="{FF2B5EF4-FFF2-40B4-BE49-F238E27FC236}">
                <a16:creationId xmlns:a16="http://schemas.microsoft.com/office/drawing/2014/main" id="{221295DC-BCFC-C104-B1DB-685A6D953712}"/>
              </a:ext>
            </a:extLst>
          </p:cNvPr>
          <p:cNvSpPr>
            <a:spLocks noGrp="1"/>
          </p:cNvSpPr>
          <p:nvPr>
            <p:ph type="sldNum" sz="quarter" idx="12"/>
          </p:nvPr>
        </p:nvSpPr>
        <p:spPr/>
        <p:txBody>
          <a:bodyPr/>
          <a:lstStyle/>
          <a:p>
            <a:fld id="{A3774F31-BE14-4E8C-94BE-1981B0E7CCE6}" type="slidenum">
              <a:rPr lang="en-IN" smtClean="0"/>
              <a:t>5</a:t>
            </a:fld>
            <a:endParaRPr lang="en-IN"/>
          </a:p>
        </p:txBody>
      </p:sp>
    </p:spTree>
    <p:extLst>
      <p:ext uri="{BB962C8B-B14F-4D97-AF65-F5344CB8AC3E}">
        <p14:creationId xmlns:p14="http://schemas.microsoft.com/office/powerpoint/2010/main" val="3581426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EFD6-C969-6F43-B09E-D419B0DFB792}"/>
              </a:ext>
            </a:extLst>
          </p:cNvPr>
          <p:cNvSpPr>
            <a:spLocks noGrp="1"/>
          </p:cNvSpPr>
          <p:nvPr>
            <p:ph type="title"/>
          </p:nvPr>
        </p:nvSpPr>
        <p:spPr/>
        <p:txBody>
          <a:bodyPr/>
          <a:lstStyle/>
          <a:p>
            <a:pPr algn="ctr"/>
            <a:r>
              <a:rPr lang="en-US" b="1" dirty="0">
                <a:solidFill>
                  <a:schemeClr val="bg1"/>
                </a:solidFill>
                <a:latin typeface="+mn-lt"/>
                <a:cs typeface="Times New Roman" pitchFamily="18" charset="0"/>
              </a:rPr>
              <a:t>Without Using Inheritance</a:t>
            </a:r>
            <a:endParaRPr lang="en-US" dirty="0">
              <a:solidFill>
                <a:schemeClr val="bg1"/>
              </a:solidFill>
              <a:latin typeface="+mn-lt"/>
            </a:endParaRPr>
          </a:p>
        </p:txBody>
      </p:sp>
      <p:sp>
        <p:nvSpPr>
          <p:cNvPr id="4" name="Date Placeholder 3">
            <a:extLst>
              <a:ext uri="{FF2B5EF4-FFF2-40B4-BE49-F238E27FC236}">
                <a16:creationId xmlns:a16="http://schemas.microsoft.com/office/drawing/2014/main" id="{69B70806-2329-2D86-F4FA-3DCE237FBBE7}"/>
              </a:ext>
            </a:extLst>
          </p:cNvPr>
          <p:cNvSpPr>
            <a:spLocks noGrp="1"/>
          </p:cNvSpPr>
          <p:nvPr>
            <p:ph type="dt" sz="half" idx="10"/>
          </p:nvPr>
        </p:nvSpPr>
        <p:spPr/>
        <p:txBody>
          <a:bodyPr/>
          <a:lstStyle/>
          <a:p>
            <a:fld id="{6C1860D3-F879-431D-9D20-16788238385E}" type="datetime5">
              <a:rPr lang="en-IN" smtClean="0">
                <a:solidFill>
                  <a:srgbClr val="0070C0"/>
                </a:solidFill>
              </a:rPr>
              <a:t>30-Aug-25</a:t>
            </a:fld>
            <a:endParaRPr lang="en-IN">
              <a:solidFill>
                <a:srgbClr val="0070C0"/>
              </a:solidFill>
            </a:endParaRPr>
          </a:p>
        </p:txBody>
      </p:sp>
      <p:sp>
        <p:nvSpPr>
          <p:cNvPr id="5" name="Footer Placeholder 4">
            <a:extLst>
              <a:ext uri="{FF2B5EF4-FFF2-40B4-BE49-F238E27FC236}">
                <a16:creationId xmlns:a16="http://schemas.microsoft.com/office/drawing/2014/main" id="{FCECFCD0-DC9B-8C4E-EB14-93099E96374C}"/>
              </a:ext>
            </a:extLst>
          </p:cNvPr>
          <p:cNvSpPr>
            <a:spLocks noGrp="1"/>
          </p:cNvSpPr>
          <p:nvPr>
            <p:ph type="ftr" sz="quarter" idx="11"/>
          </p:nvPr>
        </p:nvSpPr>
        <p:spPr/>
        <p:txBody>
          <a:bodyPr/>
          <a:lstStyle/>
          <a:p>
            <a:r>
              <a:rPr lang="en-US">
                <a:solidFill>
                  <a:srgbClr val="0070C0"/>
                </a:solidFill>
              </a:rPr>
              <a:t>MEHEDI HASAN. DEPT. OF CSE, BAUET</a:t>
            </a:r>
            <a:endParaRPr lang="en-IN">
              <a:solidFill>
                <a:srgbClr val="0070C0"/>
              </a:solidFill>
            </a:endParaRPr>
          </a:p>
        </p:txBody>
      </p:sp>
      <p:sp>
        <p:nvSpPr>
          <p:cNvPr id="6" name="Slide Number Placeholder 5">
            <a:extLst>
              <a:ext uri="{FF2B5EF4-FFF2-40B4-BE49-F238E27FC236}">
                <a16:creationId xmlns:a16="http://schemas.microsoft.com/office/drawing/2014/main" id="{3E87BA8A-D76D-D585-AFA9-223C20AFB136}"/>
              </a:ext>
            </a:extLst>
          </p:cNvPr>
          <p:cNvSpPr>
            <a:spLocks noGrp="1"/>
          </p:cNvSpPr>
          <p:nvPr>
            <p:ph type="sldNum" sz="quarter" idx="12"/>
          </p:nvPr>
        </p:nvSpPr>
        <p:spPr/>
        <p:txBody>
          <a:bodyPr/>
          <a:lstStyle/>
          <a:p>
            <a:fld id="{A3774F31-BE14-4E8C-94BE-1981B0E7CCE6}" type="slidenum">
              <a:rPr lang="en-IN" smtClean="0">
                <a:solidFill>
                  <a:srgbClr val="0070C0"/>
                </a:solidFill>
              </a:rPr>
              <a:t>6</a:t>
            </a:fld>
            <a:endParaRPr lang="en-IN">
              <a:solidFill>
                <a:srgbClr val="0070C0"/>
              </a:solidFill>
            </a:endParaRPr>
          </a:p>
        </p:txBody>
      </p:sp>
      <p:pic>
        <p:nvPicPr>
          <p:cNvPr id="7" name="Content Placeholder 6">
            <a:extLst>
              <a:ext uri="{FF2B5EF4-FFF2-40B4-BE49-F238E27FC236}">
                <a16:creationId xmlns:a16="http://schemas.microsoft.com/office/drawing/2014/main" id="{592F5AC8-C1D8-3FDB-C7B9-1A5A39E64B41}"/>
              </a:ext>
            </a:extLst>
          </p:cNvPr>
          <p:cNvPicPr>
            <a:picLocks noGrp="1" noChangeAspect="1" noChangeArrowheads="1"/>
          </p:cNvPicPr>
          <p:nvPr>
            <p:ph idx="1"/>
          </p:nvPr>
        </p:nvPicPr>
        <p:blipFill>
          <a:blip r:embed="rId2"/>
          <a:srcRect/>
          <a:stretch>
            <a:fillRect/>
          </a:stretch>
        </p:blipFill>
        <p:spPr bwMode="auto">
          <a:xfrm>
            <a:off x="2043906" y="3378200"/>
            <a:ext cx="7048500" cy="1866900"/>
          </a:xfrm>
          <a:prstGeom prst="rect">
            <a:avLst/>
          </a:prstGeom>
          <a:noFill/>
        </p:spPr>
      </p:pic>
    </p:spTree>
    <p:extLst>
      <p:ext uri="{BB962C8B-B14F-4D97-AF65-F5344CB8AC3E}">
        <p14:creationId xmlns:p14="http://schemas.microsoft.com/office/powerpoint/2010/main" val="1689556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8D83-E484-9D44-74FC-36B6A5826A27}"/>
              </a:ext>
            </a:extLst>
          </p:cNvPr>
          <p:cNvSpPr>
            <a:spLocks noGrp="1"/>
          </p:cNvSpPr>
          <p:nvPr>
            <p:ph type="title"/>
          </p:nvPr>
        </p:nvSpPr>
        <p:spPr/>
        <p:txBody>
          <a:bodyPr/>
          <a:lstStyle/>
          <a:p>
            <a:pPr algn="ctr"/>
            <a:r>
              <a:rPr lang="en-US" b="1" dirty="0">
                <a:solidFill>
                  <a:schemeClr val="bg1"/>
                </a:solidFill>
                <a:latin typeface="+mn-lt"/>
                <a:cs typeface="Times New Roman" pitchFamily="18" charset="0"/>
              </a:rPr>
              <a:t>Using</a:t>
            </a:r>
            <a:r>
              <a:rPr lang="en-US" b="1" dirty="0">
                <a:solidFill>
                  <a:srgbClr val="0070C0"/>
                </a:solidFill>
                <a:latin typeface="Times New Roman" pitchFamily="18" charset="0"/>
                <a:cs typeface="Times New Roman" pitchFamily="18" charset="0"/>
              </a:rPr>
              <a:t> </a:t>
            </a:r>
            <a:r>
              <a:rPr lang="en-US" b="1" dirty="0">
                <a:solidFill>
                  <a:schemeClr val="bg1"/>
                </a:solidFill>
                <a:latin typeface="+mn-lt"/>
                <a:cs typeface="Times New Roman" pitchFamily="18" charset="0"/>
              </a:rPr>
              <a:t>inheritance</a:t>
            </a:r>
          </a:p>
        </p:txBody>
      </p:sp>
      <p:sp>
        <p:nvSpPr>
          <p:cNvPr id="4" name="Date Placeholder 3">
            <a:extLst>
              <a:ext uri="{FF2B5EF4-FFF2-40B4-BE49-F238E27FC236}">
                <a16:creationId xmlns:a16="http://schemas.microsoft.com/office/drawing/2014/main" id="{CAA0B53F-C890-481B-AC60-E5AA6B2A9006}"/>
              </a:ext>
            </a:extLst>
          </p:cNvPr>
          <p:cNvSpPr>
            <a:spLocks noGrp="1"/>
          </p:cNvSpPr>
          <p:nvPr>
            <p:ph type="dt" sz="half" idx="10"/>
          </p:nvPr>
        </p:nvSpPr>
        <p:spPr/>
        <p:txBody>
          <a:bodyPr/>
          <a:lstStyle/>
          <a:p>
            <a:fld id="{6C1860D3-F879-431D-9D20-16788238385E}" type="datetime5">
              <a:rPr lang="en-IN" smtClean="0"/>
              <a:t>30-Aug-25</a:t>
            </a:fld>
            <a:endParaRPr lang="en-IN"/>
          </a:p>
        </p:txBody>
      </p:sp>
      <p:sp>
        <p:nvSpPr>
          <p:cNvPr id="5" name="Footer Placeholder 4">
            <a:extLst>
              <a:ext uri="{FF2B5EF4-FFF2-40B4-BE49-F238E27FC236}">
                <a16:creationId xmlns:a16="http://schemas.microsoft.com/office/drawing/2014/main" id="{C8C33A83-E446-A63C-649E-3FA49377B28F}"/>
              </a:ext>
            </a:extLst>
          </p:cNvPr>
          <p:cNvSpPr>
            <a:spLocks noGrp="1"/>
          </p:cNvSpPr>
          <p:nvPr>
            <p:ph type="ftr" sz="quarter" idx="11"/>
          </p:nvPr>
        </p:nvSpPr>
        <p:spPr/>
        <p:txBody>
          <a:bodyPr/>
          <a:lstStyle/>
          <a:p>
            <a:r>
              <a:rPr lang="en-US"/>
              <a:t>MEHEDI HASAN. DEPT. OF CSE, BAUET</a:t>
            </a:r>
            <a:endParaRPr lang="en-IN"/>
          </a:p>
        </p:txBody>
      </p:sp>
      <p:sp>
        <p:nvSpPr>
          <p:cNvPr id="6" name="Slide Number Placeholder 5">
            <a:extLst>
              <a:ext uri="{FF2B5EF4-FFF2-40B4-BE49-F238E27FC236}">
                <a16:creationId xmlns:a16="http://schemas.microsoft.com/office/drawing/2014/main" id="{304F5780-1633-E267-41B9-F07FA4CE4CCF}"/>
              </a:ext>
            </a:extLst>
          </p:cNvPr>
          <p:cNvSpPr>
            <a:spLocks noGrp="1"/>
          </p:cNvSpPr>
          <p:nvPr>
            <p:ph type="sldNum" sz="quarter" idx="12"/>
          </p:nvPr>
        </p:nvSpPr>
        <p:spPr/>
        <p:txBody>
          <a:bodyPr/>
          <a:lstStyle/>
          <a:p>
            <a:fld id="{A3774F31-BE14-4E8C-94BE-1981B0E7CCE6}" type="slidenum">
              <a:rPr lang="en-IN" smtClean="0"/>
              <a:t>7</a:t>
            </a:fld>
            <a:endParaRPr lang="en-IN"/>
          </a:p>
        </p:txBody>
      </p:sp>
      <p:pic>
        <p:nvPicPr>
          <p:cNvPr id="7" name="Content Placeholder 6">
            <a:extLst>
              <a:ext uri="{FF2B5EF4-FFF2-40B4-BE49-F238E27FC236}">
                <a16:creationId xmlns:a16="http://schemas.microsoft.com/office/drawing/2014/main" id="{5058702F-6AAA-36E5-3D31-E6956E0650B9}"/>
              </a:ext>
            </a:extLst>
          </p:cNvPr>
          <p:cNvPicPr>
            <a:picLocks noGrp="1" noChangeAspect="1" noChangeArrowheads="1"/>
          </p:cNvPicPr>
          <p:nvPr>
            <p:ph idx="1"/>
          </p:nvPr>
        </p:nvPicPr>
        <p:blipFill>
          <a:blip r:embed="rId2"/>
          <a:srcRect/>
          <a:stretch>
            <a:fillRect/>
          </a:stretch>
        </p:blipFill>
        <p:spPr bwMode="auto">
          <a:xfrm>
            <a:off x="2043906" y="2725737"/>
            <a:ext cx="7048500" cy="3171825"/>
          </a:xfrm>
          <a:prstGeom prst="rect">
            <a:avLst/>
          </a:prstGeom>
          <a:noFill/>
        </p:spPr>
      </p:pic>
    </p:spTree>
    <p:extLst>
      <p:ext uri="{BB962C8B-B14F-4D97-AF65-F5344CB8AC3E}">
        <p14:creationId xmlns:p14="http://schemas.microsoft.com/office/powerpoint/2010/main" val="4269983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BEF3-0C4F-4E69-B125-F2013A144456}"/>
              </a:ext>
            </a:extLst>
          </p:cNvPr>
          <p:cNvSpPr>
            <a:spLocks noGrp="1"/>
          </p:cNvSpPr>
          <p:nvPr>
            <p:ph type="title"/>
          </p:nvPr>
        </p:nvSpPr>
        <p:spPr>
          <a:xfrm>
            <a:off x="1154954" y="973668"/>
            <a:ext cx="9389829" cy="706964"/>
          </a:xfrm>
        </p:spPr>
        <p:txBody>
          <a:bodyPr/>
          <a:lstStyle/>
          <a:p>
            <a:r>
              <a:rPr lang="en-US" dirty="0"/>
              <a:t>FEATURES/ADVANTAGES OF INHERITANCE</a:t>
            </a:r>
            <a:endParaRPr lang="en-IN" dirty="0"/>
          </a:p>
        </p:txBody>
      </p:sp>
      <p:sp>
        <p:nvSpPr>
          <p:cNvPr id="3" name="Content Placeholder 2">
            <a:extLst>
              <a:ext uri="{FF2B5EF4-FFF2-40B4-BE49-F238E27FC236}">
                <a16:creationId xmlns:a16="http://schemas.microsoft.com/office/drawing/2014/main" id="{13E488F8-0D26-470D-8FEC-A74480389B74}"/>
              </a:ext>
            </a:extLst>
          </p:cNvPr>
          <p:cNvSpPr>
            <a:spLocks noGrp="1"/>
          </p:cNvSpPr>
          <p:nvPr>
            <p:ph idx="1"/>
          </p:nvPr>
        </p:nvSpPr>
        <p:spPr>
          <a:xfrm>
            <a:off x="1154954" y="2603500"/>
            <a:ext cx="10411233" cy="3416300"/>
          </a:xfrm>
        </p:spPr>
        <p:txBody>
          <a:bodyPr>
            <a:normAutofit/>
          </a:bodyPr>
          <a:lstStyle/>
          <a:p>
            <a:pPr algn="just"/>
            <a:r>
              <a:rPr lang="en-US" sz="2400" dirty="0"/>
              <a:t>Reusability of code.</a:t>
            </a:r>
          </a:p>
          <a:p>
            <a:pPr algn="just"/>
            <a:r>
              <a:rPr lang="en-US" sz="2400" dirty="0"/>
              <a:t>Saves time and effort.</a:t>
            </a:r>
          </a:p>
          <a:p>
            <a:pPr algn="just"/>
            <a:r>
              <a:rPr lang="en-US" sz="2400" dirty="0"/>
              <a:t>Faster development, easier maintenance, and easier to extend.</a:t>
            </a:r>
          </a:p>
          <a:p>
            <a:pPr algn="just"/>
            <a:r>
              <a:rPr lang="en-US" sz="2400" dirty="0"/>
              <a:t>Capable of expressing the inheritance relationship and its transitive nature, which ensures closeness with real-world problems.</a:t>
            </a:r>
            <a:endParaRPr lang="en-IN" sz="2400" dirty="0"/>
          </a:p>
        </p:txBody>
      </p:sp>
      <p:sp>
        <p:nvSpPr>
          <p:cNvPr id="4" name="Slide Number Placeholder 3">
            <a:extLst>
              <a:ext uri="{FF2B5EF4-FFF2-40B4-BE49-F238E27FC236}">
                <a16:creationId xmlns:a16="http://schemas.microsoft.com/office/drawing/2014/main" id="{3B8A541E-89BF-8BB1-A0A1-B2A2BC56CF34}"/>
              </a:ext>
            </a:extLst>
          </p:cNvPr>
          <p:cNvSpPr>
            <a:spLocks noGrp="1"/>
          </p:cNvSpPr>
          <p:nvPr>
            <p:ph type="sldNum" sz="quarter" idx="12"/>
          </p:nvPr>
        </p:nvSpPr>
        <p:spPr/>
        <p:txBody>
          <a:bodyPr/>
          <a:lstStyle/>
          <a:p>
            <a:fld id="{A3774F31-BE14-4E8C-94BE-1981B0E7CCE6}" type="slidenum">
              <a:rPr lang="en-IN" smtClean="0"/>
              <a:t>8</a:t>
            </a:fld>
            <a:endParaRPr lang="en-IN"/>
          </a:p>
        </p:txBody>
      </p:sp>
      <p:sp>
        <p:nvSpPr>
          <p:cNvPr id="5" name="Footer Placeholder 4">
            <a:extLst>
              <a:ext uri="{FF2B5EF4-FFF2-40B4-BE49-F238E27FC236}">
                <a16:creationId xmlns:a16="http://schemas.microsoft.com/office/drawing/2014/main" id="{D6066809-7B6A-77FD-D847-B8EE1351FFCA}"/>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3533DE9D-D85C-1D56-ED08-2ECB3648C086}"/>
              </a:ext>
            </a:extLst>
          </p:cNvPr>
          <p:cNvSpPr>
            <a:spLocks noGrp="1"/>
          </p:cNvSpPr>
          <p:nvPr>
            <p:ph type="dt" sz="half" idx="10"/>
          </p:nvPr>
        </p:nvSpPr>
        <p:spPr/>
        <p:txBody>
          <a:bodyPr/>
          <a:lstStyle/>
          <a:p>
            <a:fld id="{A4B1CA30-0971-4E54-8777-8D25C42CE844}" type="datetime5">
              <a:rPr lang="en-IN" smtClean="0"/>
              <a:t>30-Aug-25</a:t>
            </a:fld>
            <a:endParaRPr lang="en-IN"/>
          </a:p>
        </p:txBody>
      </p:sp>
    </p:spTree>
    <p:extLst>
      <p:ext uri="{BB962C8B-B14F-4D97-AF65-F5344CB8AC3E}">
        <p14:creationId xmlns:p14="http://schemas.microsoft.com/office/powerpoint/2010/main" val="62466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A6034-640F-40F3-82CD-BDDF28C38BA2}"/>
              </a:ext>
            </a:extLst>
          </p:cNvPr>
          <p:cNvSpPr>
            <a:spLocks noGrp="1"/>
          </p:cNvSpPr>
          <p:nvPr>
            <p:ph type="title"/>
          </p:nvPr>
        </p:nvSpPr>
        <p:spPr/>
        <p:txBody>
          <a:bodyPr/>
          <a:lstStyle/>
          <a:p>
            <a:r>
              <a:rPr lang="en-US" dirty="0"/>
              <a:t>DISADVANTAGES OF INHERITANCE </a:t>
            </a:r>
            <a:endParaRPr lang="en-IN" dirty="0"/>
          </a:p>
        </p:txBody>
      </p:sp>
      <p:sp>
        <p:nvSpPr>
          <p:cNvPr id="3" name="Content Placeholder 2">
            <a:extLst>
              <a:ext uri="{FF2B5EF4-FFF2-40B4-BE49-F238E27FC236}">
                <a16:creationId xmlns:a16="http://schemas.microsoft.com/office/drawing/2014/main" id="{62D45DD9-4481-47F0-8B88-9D59E26C3A3E}"/>
              </a:ext>
            </a:extLst>
          </p:cNvPr>
          <p:cNvSpPr>
            <a:spLocks noGrp="1"/>
          </p:cNvSpPr>
          <p:nvPr>
            <p:ph idx="1"/>
          </p:nvPr>
        </p:nvSpPr>
        <p:spPr>
          <a:xfrm>
            <a:off x="1154954" y="2603500"/>
            <a:ext cx="10605786" cy="3416300"/>
          </a:xfrm>
        </p:spPr>
        <p:txBody>
          <a:bodyPr>
            <a:normAutofit/>
          </a:bodyPr>
          <a:lstStyle/>
          <a:p>
            <a:pPr algn="just"/>
            <a:r>
              <a:rPr lang="en-US" sz="2400" dirty="0"/>
              <a:t>Inherited functions work more slowly than normal functions as there is indirection.</a:t>
            </a:r>
          </a:p>
          <a:p>
            <a:pPr algn="just"/>
            <a:r>
              <a:rPr lang="en-US" sz="2400" dirty="0"/>
              <a:t>Improper use of inheritance may lead to wrong solutions.</a:t>
            </a:r>
          </a:p>
          <a:p>
            <a:pPr algn="just"/>
            <a:r>
              <a:rPr lang="en-US" sz="2400" dirty="0"/>
              <a:t>Often, data members in the base class are left unused, which may lead to memory wastage.</a:t>
            </a:r>
          </a:p>
          <a:p>
            <a:pPr algn="just"/>
            <a:r>
              <a:rPr lang="en-US" sz="2400" dirty="0"/>
              <a:t>Inheritance increases the coupling between the base class and derived class.</a:t>
            </a:r>
            <a:endParaRPr lang="en-IN" sz="2400" dirty="0"/>
          </a:p>
        </p:txBody>
      </p:sp>
      <p:sp>
        <p:nvSpPr>
          <p:cNvPr id="4" name="Slide Number Placeholder 3">
            <a:extLst>
              <a:ext uri="{FF2B5EF4-FFF2-40B4-BE49-F238E27FC236}">
                <a16:creationId xmlns:a16="http://schemas.microsoft.com/office/drawing/2014/main" id="{8342AC8D-7652-4E92-65A7-D720BE21C474}"/>
              </a:ext>
            </a:extLst>
          </p:cNvPr>
          <p:cNvSpPr>
            <a:spLocks noGrp="1"/>
          </p:cNvSpPr>
          <p:nvPr>
            <p:ph type="sldNum" sz="quarter" idx="12"/>
          </p:nvPr>
        </p:nvSpPr>
        <p:spPr/>
        <p:txBody>
          <a:bodyPr/>
          <a:lstStyle/>
          <a:p>
            <a:fld id="{A3774F31-BE14-4E8C-94BE-1981B0E7CCE6}" type="slidenum">
              <a:rPr lang="en-IN" smtClean="0"/>
              <a:t>9</a:t>
            </a:fld>
            <a:endParaRPr lang="en-IN"/>
          </a:p>
        </p:txBody>
      </p:sp>
      <p:sp>
        <p:nvSpPr>
          <p:cNvPr id="5" name="Footer Placeholder 4">
            <a:extLst>
              <a:ext uri="{FF2B5EF4-FFF2-40B4-BE49-F238E27FC236}">
                <a16:creationId xmlns:a16="http://schemas.microsoft.com/office/drawing/2014/main" id="{3BE9B0A6-440E-C562-9BD6-7C20320777C8}"/>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03E98A1B-EA8E-736B-B2C8-7B1EA84CE0C1}"/>
              </a:ext>
            </a:extLst>
          </p:cNvPr>
          <p:cNvSpPr>
            <a:spLocks noGrp="1"/>
          </p:cNvSpPr>
          <p:nvPr>
            <p:ph type="dt" sz="half" idx="10"/>
          </p:nvPr>
        </p:nvSpPr>
        <p:spPr/>
        <p:txBody>
          <a:bodyPr/>
          <a:lstStyle/>
          <a:p>
            <a:fld id="{85DAE7A8-E421-45D7-AA3F-CAB11A3475A1}" type="datetime5">
              <a:rPr lang="en-IN" smtClean="0"/>
              <a:t>30-Aug-25</a:t>
            </a:fld>
            <a:endParaRPr lang="en-IN"/>
          </a:p>
        </p:txBody>
      </p:sp>
    </p:spTree>
    <p:extLst>
      <p:ext uri="{BB962C8B-B14F-4D97-AF65-F5344CB8AC3E}">
        <p14:creationId xmlns:p14="http://schemas.microsoft.com/office/powerpoint/2010/main" val="3671970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6BB4-178D-4970-90C2-91333248F0F7}"/>
              </a:ext>
            </a:extLst>
          </p:cNvPr>
          <p:cNvSpPr>
            <a:spLocks noGrp="1"/>
          </p:cNvSpPr>
          <p:nvPr>
            <p:ph type="title"/>
          </p:nvPr>
        </p:nvSpPr>
        <p:spPr/>
        <p:txBody>
          <a:bodyPr/>
          <a:lstStyle/>
          <a:p>
            <a:r>
              <a:rPr lang="en-US" dirty="0"/>
              <a:t>APPLICATIONS OF INHERITANCE</a:t>
            </a:r>
            <a:endParaRPr lang="en-IN" dirty="0"/>
          </a:p>
        </p:txBody>
      </p:sp>
      <p:sp>
        <p:nvSpPr>
          <p:cNvPr id="3" name="Content Placeholder 2">
            <a:extLst>
              <a:ext uri="{FF2B5EF4-FFF2-40B4-BE49-F238E27FC236}">
                <a16:creationId xmlns:a16="http://schemas.microsoft.com/office/drawing/2014/main" id="{B3413BD3-AED5-478A-A527-36CB85A76C76}"/>
              </a:ext>
            </a:extLst>
          </p:cNvPr>
          <p:cNvSpPr>
            <a:spLocks noGrp="1"/>
          </p:cNvSpPr>
          <p:nvPr>
            <p:ph idx="1"/>
          </p:nvPr>
        </p:nvSpPr>
        <p:spPr>
          <a:xfrm>
            <a:off x="1154954" y="2603500"/>
            <a:ext cx="10683608" cy="3416300"/>
          </a:xfrm>
        </p:spPr>
        <p:txBody>
          <a:bodyPr>
            <a:normAutofit/>
          </a:bodyPr>
          <a:lstStyle/>
          <a:p>
            <a:pPr algn="just"/>
            <a:r>
              <a:rPr lang="en-US" sz="2400" dirty="0"/>
              <a:t>The main purpose of introducing inheritance is to “REUSE” your code, and in the same way, when you reuse your code, it means you directly OPTIMIZE your code, and it will reduce the redundancy of your code.</a:t>
            </a:r>
          </a:p>
          <a:p>
            <a:pPr algn="just"/>
            <a:r>
              <a:rPr lang="en-US" sz="2400" dirty="0"/>
              <a:t>Inheritance is a fundamental feature of object-oriented programming.</a:t>
            </a:r>
            <a:endParaRPr lang="en-IN" sz="2400" dirty="0"/>
          </a:p>
        </p:txBody>
      </p:sp>
      <p:sp>
        <p:nvSpPr>
          <p:cNvPr id="4" name="Slide Number Placeholder 3">
            <a:extLst>
              <a:ext uri="{FF2B5EF4-FFF2-40B4-BE49-F238E27FC236}">
                <a16:creationId xmlns:a16="http://schemas.microsoft.com/office/drawing/2014/main" id="{7952D908-52B4-D895-FA3A-1BD6D4BD7417}"/>
              </a:ext>
            </a:extLst>
          </p:cNvPr>
          <p:cNvSpPr>
            <a:spLocks noGrp="1"/>
          </p:cNvSpPr>
          <p:nvPr>
            <p:ph type="sldNum" sz="quarter" idx="12"/>
          </p:nvPr>
        </p:nvSpPr>
        <p:spPr/>
        <p:txBody>
          <a:bodyPr/>
          <a:lstStyle/>
          <a:p>
            <a:fld id="{A3774F31-BE14-4E8C-94BE-1981B0E7CCE6}" type="slidenum">
              <a:rPr lang="en-IN" smtClean="0"/>
              <a:t>10</a:t>
            </a:fld>
            <a:endParaRPr lang="en-IN"/>
          </a:p>
        </p:txBody>
      </p:sp>
      <p:sp>
        <p:nvSpPr>
          <p:cNvPr id="5" name="Footer Placeholder 4">
            <a:extLst>
              <a:ext uri="{FF2B5EF4-FFF2-40B4-BE49-F238E27FC236}">
                <a16:creationId xmlns:a16="http://schemas.microsoft.com/office/drawing/2014/main" id="{8F13FECC-96FC-9CE0-1C84-24CC270DA16F}"/>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9FC243D1-0C1D-5189-EA38-B4B1AF3D30B7}"/>
              </a:ext>
            </a:extLst>
          </p:cNvPr>
          <p:cNvSpPr>
            <a:spLocks noGrp="1"/>
          </p:cNvSpPr>
          <p:nvPr>
            <p:ph type="dt" sz="half" idx="10"/>
          </p:nvPr>
        </p:nvSpPr>
        <p:spPr/>
        <p:txBody>
          <a:bodyPr/>
          <a:lstStyle/>
          <a:p>
            <a:fld id="{BF69CCF9-141B-466C-947D-A8DD1FE48AC7}" type="datetime5">
              <a:rPr lang="en-IN" smtClean="0"/>
              <a:t>30-Aug-25</a:t>
            </a:fld>
            <a:endParaRPr lang="en-IN"/>
          </a:p>
        </p:txBody>
      </p:sp>
    </p:spTree>
    <p:extLst>
      <p:ext uri="{BB962C8B-B14F-4D97-AF65-F5344CB8AC3E}">
        <p14:creationId xmlns:p14="http://schemas.microsoft.com/office/powerpoint/2010/main" val="1348269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17D6-BB95-9776-2712-1D7150C3FE38}"/>
              </a:ext>
            </a:extLst>
          </p:cNvPr>
          <p:cNvSpPr>
            <a:spLocks noGrp="1"/>
          </p:cNvSpPr>
          <p:nvPr>
            <p:ph type="title"/>
          </p:nvPr>
        </p:nvSpPr>
        <p:spPr>
          <a:xfrm>
            <a:off x="1154953" y="973668"/>
            <a:ext cx="10800341" cy="913498"/>
          </a:xfrm>
        </p:spPr>
        <p:txBody>
          <a:bodyPr/>
          <a:lstStyle/>
          <a:p>
            <a:r>
              <a:rPr lang="en-US" altLang="en-US" dirty="0"/>
              <a:t>Inheritance – Terminology and Notation in C++</a:t>
            </a:r>
            <a:endParaRPr lang="en-US" dirty="0"/>
          </a:p>
        </p:txBody>
      </p:sp>
      <p:sp>
        <p:nvSpPr>
          <p:cNvPr id="3" name="Content Placeholder 2">
            <a:extLst>
              <a:ext uri="{FF2B5EF4-FFF2-40B4-BE49-F238E27FC236}">
                <a16:creationId xmlns:a16="http://schemas.microsoft.com/office/drawing/2014/main" id="{38DEB23E-8ED9-589C-15A2-9131C528C1E3}"/>
              </a:ext>
            </a:extLst>
          </p:cNvPr>
          <p:cNvSpPr>
            <a:spLocks noGrp="1"/>
          </p:cNvSpPr>
          <p:nvPr>
            <p:ph idx="1"/>
          </p:nvPr>
        </p:nvSpPr>
        <p:spPr>
          <a:xfrm>
            <a:off x="1154954" y="2603500"/>
            <a:ext cx="6996825" cy="3788338"/>
          </a:xfrm>
        </p:spPr>
        <p:txBody>
          <a:bodyPr>
            <a:normAutofit fontScale="70000" lnSpcReduction="20000"/>
          </a:bodyPr>
          <a:lstStyle/>
          <a:p>
            <a:pPr>
              <a:lnSpc>
                <a:spcPct val="85000"/>
              </a:lnSpc>
            </a:pPr>
            <a:r>
              <a:rPr lang="en-US" altLang="en-US" sz="2800" u="sng" dirty="0"/>
              <a:t>Base</a:t>
            </a:r>
            <a:r>
              <a:rPr lang="en-US" altLang="en-US" sz="2800" dirty="0"/>
              <a:t> class (or parent) – inherited from</a:t>
            </a:r>
          </a:p>
          <a:p>
            <a:pPr>
              <a:lnSpc>
                <a:spcPct val="85000"/>
              </a:lnSpc>
            </a:pPr>
            <a:r>
              <a:rPr lang="en-US" altLang="en-US" sz="2800" u="sng" dirty="0"/>
              <a:t>Derived</a:t>
            </a:r>
            <a:r>
              <a:rPr lang="en-US" altLang="en-US" sz="2800" dirty="0"/>
              <a:t> class (or child) – inherits from the base class</a:t>
            </a:r>
          </a:p>
          <a:p>
            <a:pPr>
              <a:lnSpc>
                <a:spcPct val="85000"/>
              </a:lnSpc>
            </a:pPr>
            <a:r>
              <a:rPr lang="en-US" altLang="en-US" sz="2800" dirty="0"/>
              <a:t>Notation:</a:t>
            </a:r>
          </a:p>
          <a:p>
            <a:pPr lvl="1">
              <a:buFontTx/>
              <a:buNone/>
            </a:pPr>
            <a:r>
              <a:rPr lang="en-US" altLang="en-US" sz="2400" dirty="0">
                <a:latin typeface="Courier New" pitchFamily="112" charset="0"/>
              </a:rPr>
              <a:t>	class </a:t>
            </a:r>
            <a:r>
              <a:rPr lang="en-US" altLang="en-US" sz="2400" u="sng" dirty="0"/>
              <a:t>Base</a:t>
            </a:r>
            <a:r>
              <a:rPr lang="en-US" altLang="en-US" sz="2400" dirty="0">
                <a:latin typeface="Courier New" pitchFamily="112" charset="0"/>
              </a:rPr>
              <a:t> 	</a:t>
            </a:r>
            <a:endParaRPr lang="en-US" altLang="en-US" sz="2400" b="1" dirty="0">
              <a:solidFill>
                <a:schemeClr val="accent2"/>
              </a:solidFill>
              <a:latin typeface="Courier New" pitchFamily="112" charset="0"/>
            </a:endParaRPr>
          </a:p>
          <a:p>
            <a:pPr lvl="1">
              <a:buFontTx/>
              <a:buNone/>
            </a:pPr>
            <a:r>
              <a:rPr lang="en-US" altLang="en-US" sz="2400" dirty="0">
                <a:latin typeface="Courier New" pitchFamily="112" charset="0"/>
              </a:rPr>
              <a:t>	{</a:t>
            </a:r>
            <a:r>
              <a:rPr lang="en-US" altLang="en-US" sz="2400" b="1" dirty="0">
                <a:solidFill>
                  <a:schemeClr val="accent2"/>
                </a:solidFill>
                <a:latin typeface="Courier New" pitchFamily="112" charset="0"/>
              </a:rPr>
              <a:t>// base class</a:t>
            </a:r>
            <a:endParaRPr lang="en-US" altLang="en-US" sz="2400" dirty="0">
              <a:latin typeface="Courier New" pitchFamily="112" charset="0"/>
            </a:endParaRPr>
          </a:p>
          <a:p>
            <a:pPr lvl="1">
              <a:buFontTx/>
              <a:buNone/>
            </a:pPr>
            <a:r>
              <a:rPr lang="en-US" altLang="en-US" sz="2400" dirty="0">
                <a:latin typeface="Courier New" pitchFamily="112" charset="0"/>
              </a:rPr>
              <a:t>		. . .</a:t>
            </a:r>
          </a:p>
          <a:p>
            <a:pPr lvl="1">
              <a:buFontTx/>
              <a:buNone/>
            </a:pPr>
            <a:r>
              <a:rPr lang="en-US" altLang="en-US" sz="2400" dirty="0">
                <a:latin typeface="Courier New" pitchFamily="112" charset="0"/>
              </a:rPr>
              <a:t>	};</a:t>
            </a:r>
          </a:p>
          <a:p>
            <a:pPr lvl="1">
              <a:buFontTx/>
              <a:buNone/>
            </a:pPr>
            <a:r>
              <a:rPr lang="en-US" altLang="en-US" sz="2400" dirty="0">
                <a:latin typeface="Courier New" pitchFamily="112" charset="0"/>
              </a:rPr>
              <a:t>	class </a:t>
            </a:r>
            <a:r>
              <a:rPr lang="en-US" altLang="en-US" sz="2400" u="sng" dirty="0"/>
              <a:t>Derived</a:t>
            </a:r>
            <a:r>
              <a:rPr lang="en-US" altLang="en-US" sz="2400" dirty="0">
                <a:latin typeface="Courier New" pitchFamily="112" charset="0"/>
              </a:rPr>
              <a:t>: public </a:t>
            </a:r>
            <a:r>
              <a:rPr lang="en-US" altLang="en-US" sz="2400" u="sng" dirty="0"/>
              <a:t>Base</a:t>
            </a:r>
            <a:r>
              <a:rPr lang="en-US" altLang="en-US" sz="2400" dirty="0">
                <a:latin typeface="Courier New" pitchFamily="112" charset="0"/>
              </a:rPr>
              <a:t> </a:t>
            </a:r>
          </a:p>
          <a:p>
            <a:pPr lvl="1">
              <a:buFontTx/>
              <a:buNone/>
            </a:pPr>
            <a:r>
              <a:rPr lang="en-US" altLang="en-US" sz="2400" dirty="0">
                <a:latin typeface="Courier New" pitchFamily="112" charset="0"/>
              </a:rPr>
              <a:t>	{					</a:t>
            </a:r>
            <a:r>
              <a:rPr lang="en-US" altLang="en-US" sz="2400" b="1" dirty="0">
                <a:solidFill>
                  <a:schemeClr val="accent2"/>
                </a:solidFill>
                <a:latin typeface="Courier New" pitchFamily="112" charset="0"/>
              </a:rPr>
              <a:t>// derived class</a:t>
            </a:r>
          </a:p>
          <a:p>
            <a:pPr lvl="1">
              <a:buFontTx/>
              <a:buNone/>
            </a:pPr>
            <a:r>
              <a:rPr lang="en-US" altLang="en-US" sz="2400" dirty="0">
                <a:latin typeface="Courier New" pitchFamily="112" charset="0"/>
              </a:rPr>
              <a:t>		. . .</a:t>
            </a:r>
          </a:p>
          <a:p>
            <a:pPr lvl="1">
              <a:buFontTx/>
              <a:buNone/>
            </a:pPr>
            <a:r>
              <a:rPr lang="en-US" altLang="en-US" sz="2400" dirty="0">
                <a:latin typeface="Courier New" pitchFamily="112" charset="0"/>
              </a:rPr>
              <a:t>	};</a:t>
            </a:r>
          </a:p>
          <a:p>
            <a:endParaRPr lang="en-US" dirty="0"/>
          </a:p>
          <a:p>
            <a:endParaRPr lang="en-US" dirty="0"/>
          </a:p>
        </p:txBody>
      </p:sp>
      <p:sp>
        <p:nvSpPr>
          <p:cNvPr id="4" name="Date Placeholder 3">
            <a:extLst>
              <a:ext uri="{FF2B5EF4-FFF2-40B4-BE49-F238E27FC236}">
                <a16:creationId xmlns:a16="http://schemas.microsoft.com/office/drawing/2014/main" id="{5040C850-3EAC-6D87-AEB4-EA109D21DB66}"/>
              </a:ext>
            </a:extLst>
          </p:cNvPr>
          <p:cNvSpPr>
            <a:spLocks noGrp="1"/>
          </p:cNvSpPr>
          <p:nvPr>
            <p:ph type="dt" sz="half" idx="10"/>
          </p:nvPr>
        </p:nvSpPr>
        <p:spPr/>
        <p:txBody>
          <a:bodyPr/>
          <a:lstStyle/>
          <a:p>
            <a:fld id="{6C1860D3-F879-431D-9D20-16788238385E}" type="datetime5">
              <a:rPr lang="en-IN" smtClean="0"/>
              <a:t>30-Aug-25</a:t>
            </a:fld>
            <a:endParaRPr lang="en-IN"/>
          </a:p>
        </p:txBody>
      </p:sp>
      <p:sp>
        <p:nvSpPr>
          <p:cNvPr id="5" name="Footer Placeholder 4">
            <a:extLst>
              <a:ext uri="{FF2B5EF4-FFF2-40B4-BE49-F238E27FC236}">
                <a16:creationId xmlns:a16="http://schemas.microsoft.com/office/drawing/2014/main" id="{8E9487C7-B290-1E81-62C7-491EB201C9FA}"/>
              </a:ext>
            </a:extLst>
          </p:cNvPr>
          <p:cNvSpPr>
            <a:spLocks noGrp="1"/>
          </p:cNvSpPr>
          <p:nvPr>
            <p:ph type="ftr" sz="quarter" idx="11"/>
          </p:nvPr>
        </p:nvSpPr>
        <p:spPr/>
        <p:txBody>
          <a:bodyPr/>
          <a:lstStyle/>
          <a:p>
            <a:r>
              <a:rPr lang="en-US"/>
              <a:t>MEHEDI HASAN. DEPT. OF CSE, BAUET</a:t>
            </a:r>
            <a:endParaRPr lang="en-IN"/>
          </a:p>
        </p:txBody>
      </p:sp>
      <p:sp>
        <p:nvSpPr>
          <p:cNvPr id="6" name="Slide Number Placeholder 5">
            <a:extLst>
              <a:ext uri="{FF2B5EF4-FFF2-40B4-BE49-F238E27FC236}">
                <a16:creationId xmlns:a16="http://schemas.microsoft.com/office/drawing/2014/main" id="{3DAB3787-B9FE-6AC8-7EA7-0FB2BE3683DB}"/>
              </a:ext>
            </a:extLst>
          </p:cNvPr>
          <p:cNvSpPr>
            <a:spLocks noGrp="1"/>
          </p:cNvSpPr>
          <p:nvPr>
            <p:ph type="sldNum" sz="quarter" idx="12"/>
          </p:nvPr>
        </p:nvSpPr>
        <p:spPr/>
        <p:txBody>
          <a:bodyPr/>
          <a:lstStyle/>
          <a:p>
            <a:fld id="{A3774F31-BE14-4E8C-94BE-1981B0E7CCE6}" type="slidenum">
              <a:rPr lang="en-IN" smtClean="0"/>
              <a:t>11</a:t>
            </a:fld>
            <a:endParaRPr lang="en-IN"/>
          </a:p>
        </p:txBody>
      </p:sp>
      <p:sp>
        <p:nvSpPr>
          <p:cNvPr id="8" name="Rectangle: Rounded Corners 7">
            <a:extLst>
              <a:ext uri="{FF2B5EF4-FFF2-40B4-BE49-F238E27FC236}">
                <a16:creationId xmlns:a16="http://schemas.microsoft.com/office/drawing/2014/main" id="{03D90509-E512-ECF6-4FCE-7E94F6A18D52}"/>
              </a:ext>
            </a:extLst>
          </p:cNvPr>
          <p:cNvSpPr/>
          <p:nvPr/>
        </p:nvSpPr>
        <p:spPr>
          <a:xfrm>
            <a:off x="7714034" y="2986391"/>
            <a:ext cx="4348264" cy="38716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a:t>class Person </a:t>
            </a:r>
          </a:p>
          <a:p>
            <a:pPr>
              <a:buNone/>
            </a:pPr>
            <a:r>
              <a:rPr lang="en-US"/>
              <a:t>{</a:t>
            </a:r>
          </a:p>
          <a:p>
            <a:pPr>
              <a:buNone/>
            </a:pPr>
            <a:r>
              <a:rPr lang="en-US"/>
              <a:t> ... .. ... </a:t>
            </a:r>
          </a:p>
          <a:p>
            <a:pPr>
              <a:buNone/>
            </a:pPr>
            <a:r>
              <a:rPr lang="en-US"/>
              <a:t>}; </a:t>
            </a:r>
          </a:p>
          <a:p>
            <a:pPr>
              <a:buNone/>
            </a:pPr>
            <a:r>
              <a:rPr lang="en-US"/>
              <a:t>class MathsTeacher : public Person </a:t>
            </a:r>
          </a:p>
          <a:p>
            <a:pPr>
              <a:buNone/>
            </a:pPr>
            <a:r>
              <a:rPr lang="en-US"/>
              <a:t>{ </a:t>
            </a:r>
          </a:p>
          <a:p>
            <a:pPr>
              <a:buNone/>
            </a:pPr>
            <a:r>
              <a:rPr lang="en-US"/>
              <a:t>... .. ... </a:t>
            </a:r>
          </a:p>
          <a:p>
            <a:pPr>
              <a:buNone/>
            </a:pPr>
            <a:r>
              <a:rPr lang="en-US"/>
              <a:t>}; </a:t>
            </a:r>
          </a:p>
          <a:p>
            <a:pPr>
              <a:buNone/>
            </a:pPr>
            <a:r>
              <a:rPr lang="en-US"/>
              <a:t>class Footballer : public Person </a:t>
            </a:r>
          </a:p>
          <a:p>
            <a:pPr>
              <a:buNone/>
            </a:pPr>
            <a:r>
              <a:rPr lang="en-US"/>
              <a:t>{ </a:t>
            </a:r>
          </a:p>
          <a:p>
            <a:pPr>
              <a:buNone/>
            </a:pPr>
            <a:r>
              <a:rPr lang="en-US"/>
              <a:t>.... .. ... </a:t>
            </a:r>
          </a:p>
          <a:p>
            <a:pPr>
              <a:buNone/>
            </a:pPr>
            <a:r>
              <a:rPr lang="en-US"/>
              <a:t>}</a:t>
            </a:r>
            <a:endParaRPr lang="en-US" dirty="0"/>
          </a:p>
        </p:txBody>
      </p:sp>
    </p:spTree>
    <p:extLst>
      <p:ext uri="{BB962C8B-B14F-4D97-AF65-F5344CB8AC3E}">
        <p14:creationId xmlns:p14="http://schemas.microsoft.com/office/powerpoint/2010/main" val="3670599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F7949-CBB3-4E23-8F9E-115CBBE56067}"/>
              </a:ext>
            </a:extLst>
          </p:cNvPr>
          <p:cNvSpPr>
            <a:spLocks noGrp="1"/>
          </p:cNvSpPr>
          <p:nvPr>
            <p:ph type="title"/>
          </p:nvPr>
        </p:nvSpPr>
        <p:spPr/>
        <p:txBody>
          <a:bodyPr/>
          <a:lstStyle/>
          <a:p>
            <a:r>
              <a:rPr lang="en-US" dirty="0"/>
              <a:t>The types of inheritance in </a:t>
            </a:r>
            <a:r>
              <a:rPr lang="en-US" dirty="0" err="1"/>
              <a:t>c++</a:t>
            </a:r>
            <a:endParaRPr lang="en-IN" dirty="0"/>
          </a:p>
        </p:txBody>
      </p:sp>
      <p:sp>
        <p:nvSpPr>
          <p:cNvPr id="3" name="Content Placeholder 2">
            <a:extLst>
              <a:ext uri="{FF2B5EF4-FFF2-40B4-BE49-F238E27FC236}">
                <a16:creationId xmlns:a16="http://schemas.microsoft.com/office/drawing/2014/main" id="{E0CAADBE-179D-4599-9B36-5640166125A2}"/>
              </a:ext>
            </a:extLst>
          </p:cNvPr>
          <p:cNvSpPr>
            <a:spLocks noGrp="1"/>
          </p:cNvSpPr>
          <p:nvPr>
            <p:ph idx="1"/>
          </p:nvPr>
        </p:nvSpPr>
        <p:spPr/>
        <p:txBody>
          <a:bodyPr/>
          <a:lstStyle/>
          <a:p>
            <a:pPr marL="0" indent="0" algn="just">
              <a:buNone/>
            </a:pPr>
            <a:r>
              <a:rPr lang="en-US" dirty="0"/>
              <a:t>  1)  </a:t>
            </a:r>
            <a:r>
              <a:rPr lang="en-US" sz="2400" dirty="0"/>
              <a:t>Single inheritance.</a:t>
            </a:r>
          </a:p>
          <a:p>
            <a:pPr marL="0" indent="0" algn="just">
              <a:buNone/>
            </a:pPr>
            <a:r>
              <a:rPr lang="en-US" sz="2400" dirty="0"/>
              <a:t>  2) Multiple inheritance.</a:t>
            </a:r>
          </a:p>
          <a:p>
            <a:pPr marL="0" indent="0" algn="just">
              <a:buNone/>
            </a:pPr>
            <a:r>
              <a:rPr lang="en-US" sz="2400" dirty="0"/>
              <a:t>  3) Multilevel inheritance.</a:t>
            </a:r>
          </a:p>
          <a:p>
            <a:pPr marL="0" indent="0" algn="just">
              <a:buNone/>
            </a:pPr>
            <a:r>
              <a:rPr lang="en-US" sz="2400" dirty="0"/>
              <a:t>  4) Hierarchical inheritance.</a:t>
            </a:r>
          </a:p>
          <a:p>
            <a:pPr marL="0" indent="0" algn="just">
              <a:buNone/>
            </a:pPr>
            <a:r>
              <a:rPr lang="en-US" sz="2400" dirty="0"/>
              <a:t>  5) Hybrid inheritance.</a:t>
            </a:r>
            <a:endParaRPr lang="en-IN" sz="2400" dirty="0"/>
          </a:p>
        </p:txBody>
      </p:sp>
      <p:sp>
        <p:nvSpPr>
          <p:cNvPr id="4" name="Slide Number Placeholder 3">
            <a:extLst>
              <a:ext uri="{FF2B5EF4-FFF2-40B4-BE49-F238E27FC236}">
                <a16:creationId xmlns:a16="http://schemas.microsoft.com/office/drawing/2014/main" id="{36C93383-1829-711C-F8D1-BE5E34695D5C}"/>
              </a:ext>
            </a:extLst>
          </p:cNvPr>
          <p:cNvSpPr>
            <a:spLocks noGrp="1"/>
          </p:cNvSpPr>
          <p:nvPr>
            <p:ph type="sldNum" sz="quarter" idx="12"/>
          </p:nvPr>
        </p:nvSpPr>
        <p:spPr/>
        <p:txBody>
          <a:bodyPr/>
          <a:lstStyle/>
          <a:p>
            <a:fld id="{A3774F31-BE14-4E8C-94BE-1981B0E7CCE6}" type="slidenum">
              <a:rPr lang="en-IN" smtClean="0"/>
              <a:t>12</a:t>
            </a:fld>
            <a:endParaRPr lang="en-IN"/>
          </a:p>
        </p:txBody>
      </p:sp>
      <p:sp>
        <p:nvSpPr>
          <p:cNvPr id="5" name="Footer Placeholder 4">
            <a:extLst>
              <a:ext uri="{FF2B5EF4-FFF2-40B4-BE49-F238E27FC236}">
                <a16:creationId xmlns:a16="http://schemas.microsoft.com/office/drawing/2014/main" id="{D9711734-E3DD-A6D1-F1CF-B0BCB6AD634A}"/>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ACAF9B19-87BA-AB2F-934B-DFB310C8A4F2}"/>
              </a:ext>
            </a:extLst>
          </p:cNvPr>
          <p:cNvSpPr>
            <a:spLocks noGrp="1"/>
          </p:cNvSpPr>
          <p:nvPr>
            <p:ph type="dt" sz="half" idx="10"/>
          </p:nvPr>
        </p:nvSpPr>
        <p:spPr/>
        <p:txBody>
          <a:bodyPr/>
          <a:lstStyle/>
          <a:p>
            <a:fld id="{01430F42-6218-415F-B3C8-342421060B32}" type="datetime5">
              <a:rPr lang="en-IN" smtClean="0"/>
              <a:t>30-Aug-25</a:t>
            </a:fld>
            <a:endParaRPr lang="en-IN"/>
          </a:p>
        </p:txBody>
      </p:sp>
    </p:spTree>
    <p:extLst>
      <p:ext uri="{BB962C8B-B14F-4D97-AF65-F5344CB8AC3E}">
        <p14:creationId xmlns:p14="http://schemas.microsoft.com/office/powerpoint/2010/main" val="1446942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1290-FD27-42FE-B855-F00079C3FCB2}"/>
              </a:ext>
            </a:extLst>
          </p:cNvPr>
          <p:cNvSpPr>
            <a:spLocks noGrp="1"/>
          </p:cNvSpPr>
          <p:nvPr>
            <p:ph type="title"/>
          </p:nvPr>
        </p:nvSpPr>
        <p:spPr>
          <a:xfrm>
            <a:off x="561110" y="973668"/>
            <a:ext cx="10091994" cy="706964"/>
          </a:xfrm>
        </p:spPr>
        <p:txBody>
          <a:bodyPr/>
          <a:lstStyle/>
          <a:p>
            <a:pPr algn="just"/>
            <a:r>
              <a:rPr lang="en-US" sz="3200" b="1" dirty="0"/>
              <a:t>Single inheritance</a:t>
            </a:r>
            <a:endParaRPr lang="en-IN" sz="3200" dirty="0"/>
          </a:p>
        </p:txBody>
      </p:sp>
      <p:sp>
        <p:nvSpPr>
          <p:cNvPr id="3" name="Content Placeholder 2">
            <a:extLst>
              <a:ext uri="{FF2B5EF4-FFF2-40B4-BE49-F238E27FC236}">
                <a16:creationId xmlns:a16="http://schemas.microsoft.com/office/drawing/2014/main" id="{2682F708-98A7-4D7A-AF40-B6F1F896AE32}"/>
              </a:ext>
            </a:extLst>
          </p:cNvPr>
          <p:cNvSpPr>
            <a:spLocks noGrp="1"/>
          </p:cNvSpPr>
          <p:nvPr>
            <p:ph idx="1"/>
          </p:nvPr>
        </p:nvSpPr>
        <p:spPr>
          <a:xfrm>
            <a:off x="1154954" y="2603500"/>
            <a:ext cx="10616359" cy="1054100"/>
          </a:xfrm>
        </p:spPr>
        <p:txBody>
          <a:bodyPr/>
          <a:lstStyle/>
          <a:p>
            <a:pPr algn="just"/>
            <a:r>
              <a:rPr lang="en-US" sz="2000" b="1" dirty="0"/>
              <a:t>Single inheritance: </a:t>
            </a:r>
            <a:r>
              <a:rPr lang="en-US" sz="2000" dirty="0"/>
              <a:t>It</a:t>
            </a:r>
            <a:r>
              <a:rPr lang="en-US" sz="2000" b="1" dirty="0"/>
              <a:t> </a:t>
            </a:r>
            <a:r>
              <a:rPr lang="en-US" sz="2000" dirty="0"/>
              <a:t>is defined as the inheritance in which a derived class is inherited from only one base class. where ‘A’ is the base class, and ‘B’ is the derived class.</a:t>
            </a:r>
          </a:p>
          <a:p>
            <a:pPr marL="0" indent="0">
              <a:buNone/>
            </a:pPr>
            <a:endParaRPr lang="en-US" b="1" dirty="0"/>
          </a:p>
          <a:p>
            <a:endParaRPr lang="en-US" dirty="0"/>
          </a:p>
          <a:p>
            <a:endParaRPr lang="en-IN" dirty="0"/>
          </a:p>
        </p:txBody>
      </p:sp>
      <p:sp>
        <p:nvSpPr>
          <p:cNvPr id="4" name="Slide Number Placeholder 3">
            <a:extLst>
              <a:ext uri="{FF2B5EF4-FFF2-40B4-BE49-F238E27FC236}">
                <a16:creationId xmlns:a16="http://schemas.microsoft.com/office/drawing/2014/main" id="{806686D8-4A1F-0B92-0335-0142EF9B5862}"/>
              </a:ext>
            </a:extLst>
          </p:cNvPr>
          <p:cNvSpPr>
            <a:spLocks noGrp="1"/>
          </p:cNvSpPr>
          <p:nvPr>
            <p:ph type="sldNum" sz="quarter" idx="12"/>
          </p:nvPr>
        </p:nvSpPr>
        <p:spPr/>
        <p:txBody>
          <a:bodyPr/>
          <a:lstStyle/>
          <a:p>
            <a:fld id="{A3774F31-BE14-4E8C-94BE-1981B0E7CCE6}" type="slidenum">
              <a:rPr lang="en-IN" smtClean="0"/>
              <a:t>13</a:t>
            </a:fld>
            <a:endParaRPr lang="en-IN"/>
          </a:p>
        </p:txBody>
      </p:sp>
      <p:sp>
        <p:nvSpPr>
          <p:cNvPr id="5" name="Footer Placeholder 4">
            <a:extLst>
              <a:ext uri="{FF2B5EF4-FFF2-40B4-BE49-F238E27FC236}">
                <a16:creationId xmlns:a16="http://schemas.microsoft.com/office/drawing/2014/main" id="{E44FDC57-3669-CB2A-B50D-C06E1A43C852}"/>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46201C7D-69B2-5F9C-6512-456CB18C12BB}"/>
              </a:ext>
            </a:extLst>
          </p:cNvPr>
          <p:cNvSpPr>
            <a:spLocks noGrp="1"/>
          </p:cNvSpPr>
          <p:nvPr>
            <p:ph type="dt" sz="half" idx="10"/>
          </p:nvPr>
        </p:nvSpPr>
        <p:spPr/>
        <p:txBody>
          <a:bodyPr/>
          <a:lstStyle/>
          <a:p>
            <a:fld id="{3F329CD4-991B-4760-8C3F-D88415732685}" type="datetime5">
              <a:rPr lang="en-IN" smtClean="0"/>
              <a:t>30-Aug-25</a:t>
            </a:fld>
            <a:endParaRPr lang="en-IN"/>
          </a:p>
        </p:txBody>
      </p:sp>
      <p:pic>
        <p:nvPicPr>
          <p:cNvPr id="8" name="Picture 7">
            <a:extLst>
              <a:ext uri="{FF2B5EF4-FFF2-40B4-BE49-F238E27FC236}">
                <a16:creationId xmlns:a16="http://schemas.microsoft.com/office/drawing/2014/main" id="{D9AC11F0-08A3-73E9-8E78-5E8634C05071}"/>
              </a:ext>
            </a:extLst>
          </p:cNvPr>
          <p:cNvPicPr>
            <a:picLocks noChangeAspect="1" noChangeArrowheads="1"/>
          </p:cNvPicPr>
          <p:nvPr/>
        </p:nvPicPr>
        <p:blipFill>
          <a:blip r:embed="rId2"/>
          <a:srcRect/>
          <a:stretch>
            <a:fillRect/>
          </a:stretch>
        </p:blipFill>
        <p:spPr bwMode="auto">
          <a:xfrm>
            <a:off x="8189913" y="3429000"/>
            <a:ext cx="3581400" cy="2833687"/>
          </a:xfrm>
          <a:prstGeom prst="rect">
            <a:avLst/>
          </a:prstGeom>
          <a:solidFill>
            <a:schemeClr val="tx2">
              <a:lumMod val="75000"/>
            </a:schemeClr>
          </a:solidFill>
          <a:ln>
            <a:solidFill>
              <a:schemeClr val="accent1"/>
            </a:solidFill>
          </a:ln>
        </p:spPr>
      </p:pic>
      <p:sp>
        <p:nvSpPr>
          <p:cNvPr id="9" name="Rectangle: Rounded Corners 8">
            <a:extLst>
              <a:ext uri="{FF2B5EF4-FFF2-40B4-BE49-F238E27FC236}">
                <a16:creationId xmlns:a16="http://schemas.microsoft.com/office/drawing/2014/main" id="{A11D1EA4-9EA2-0B9F-F63C-52C1206303F7}"/>
              </a:ext>
            </a:extLst>
          </p:cNvPr>
          <p:cNvSpPr/>
          <p:nvPr/>
        </p:nvSpPr>
        <p:spPr>
          <a:xfrm>
            <a:off x="1154954" y="3968885"/>
            <a:ext cx="5129114" cy="242295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marL="285750" indent="-285750" fontAlgn="base">
              <a:buFont typeface="Wingdings" panose="05000000000000000000" pitchFamily="2" charset="2"/>
              <a:buChar char="q"/>
            </a:pPr>
            <a:r>
              <a:rPr lang="en-US" sz="2000" dirty="0">
                <a:latin typeface="Times New Roman" pitchFamily="18" charset="0"/>
                <a:cs typeface="Times New Roman" pitchFamily="18" charset="0"/>
              </a:rPr>
              <a:t>An animal is derived from living things</a:t>
            </a:r>
          </a:p>
          <a:p>
            <a:pPr marL="285750" indent="-285750" fontAlgn="base">
              <a:buFont typeface="Wingdings" panose="05000000000000000000" pitchFamily="2" charset="2"/>
              <a:buChar char="q"/>
            </a:pPr>
            <a:r>
              <a:rPr lang="en-US" sz="2000" dirty="0">
                <a:latin typeface="Times New Roman" pitchFamily="18" charset="0"/>
                <a:cs typeface="Times New Roman" pitchFamily="18" charset="0"/>
              </a:rPr>
              <a:t>A car is derived from a vehicle</a:t>
            </a:r>
          </a:p>
          <a:p>
            <a:pPr marL="285750" indent="-285750" fontAlgn="base">
              <a:buFont typeface="Wingdings" panose="05000000000000000000" pitchFamily="2" charset="2"/>
              <a:buChar char="q"/>
            </a:pPr>
            <a:r>
              <a:rPr lang="en-US" sz="2000" dirty="0">
                <a:latin typeface="Times New Roman" pitchFamily="18" charset="0"/>
                <a:cs typeface="Times New Roman" pitchFamily="18" charset="0"/>
              </a:rPr>
              <a:t>Typist is derived from staff</a:t>
            </a:r>
          </a:p>
        </p:txBody>
      </p:sp>
    </p:spTree>
    <p:extLst>
      <p:ext uri="{BB962C8B-B14F-4D97-AF65-F5344CB8AC3E}">
        <p14:creationId xmlns:p14="http://schemas.microsoft.com/office/powerpoint/2010/main" val="3814872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1B567-6154-EFC7-4688-151B88EAB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C82B5-AFDA-2873-EBB1-FB6CAE473162}"/>
              </a:ext>
            </a:extLst>
          </p:cNvPr>
          <p:cNvSpPr>
            <a:spLocks noGrp="1"/>
          </p:cNvSpPr>
          <p:nvPr>
            <p:ph type="title"/>
          </p:nvPr>
        </p:nvSpPr>
        <p:spPr>
          <a:xfrm>
            <a:off x="1001260" y="973668"/>
            <a:ext cx="9651843" cy="706964"/>
          </a:xfrm>
        </p:spPr>
        <p:txBody>
          <a:bodyPr/>
          <a:lstStyle/>
          <a:p>
            <a:pPr algn="just"/>
            <a:r>
              <a:rPr lang="en-US" sz="3200" b="1" dirty="0"/>
              <a:t>Single inheritance: </a:t>
            </a:r>
            <a:r>
              <a:rPr lang="en-US" sz="3200" b="1" dirty="0">
                <a:solidFill>
                  <a:schemeClr val="bg1"/>
                </a:solidFill>
              </a:rPr>
              <a:t>Syntax of Single Inheritance</a:t>
            </a:r>
            <a:endParaRPr lang="en-IN" sz="3200" dirty="0">
              <a:solidFill>
                <a:schemeClr val="bg1"/>
              </a:solidFill>
            </a:endParaRPr>
          </a:p>
        </p:txBody>
      </p:sp>
      <p:sp>
        <p:nvSpPr>
          <p:cNvPr id="3" name="Content Placeholder 2">
            <a:extLst>
              <a:ext uri="{FF2B5EF4-FFF2-40B4-BE49-F238E27FC236}">
                <a16:creationId xmlns:a16="http://schemas.microsoft.com/office/drawing/2014/main" id="{4993C8AB-2215-1738-A075-3C4195B9287D}"/>
              </a:ext>
            </a:extLst>
          </p:cNvPr>
          <p:cNvSpPr>
            <a:spLocks noGrp="1"/>
          </p:cNvSpPr>
          <p:nvPr>
            <p:ph idx="1"/>
          </p:nvPr>
        </p:nvSpPr>
        <p:spPr>
          <a:xfrm>
            <a:off x="924128" y="2358571"/>
            <a:ext cx="6634263" cy="4203699"/>
          </a:xfrm>
        </p:spPr>
        <p:txBody>
          <a:bodyPr>
            <a:normAutofit/>
          </a:bodyPr>
          <a:lstStyle/>
          <a:p>
            <a:pPr>
              <a:buNone/>
            </a:pPr>
            <a:r>
              <a:rPr lang="en-US" dirty="0"/>
              <a:t>class </a:t>
            </a:r>
            <a:r>
              <a:rPr lang="en-US" dirty="0" err="1"/>
              <a:t>base_classname</a:t>
            </a:r>
            <a:r>
              <a:rPr lang="en-US" dirty="0"/>
              <a:t> {    </a:t>
            </a:r>
          </a:p>
          <a:p>
            <a:pPr>
              <a:buNone/>
            </a:pPr>
            <a:r>
              <a:rPr lang="en-US" dirty="0"/>
              <a:t> properties;    </a:t>
            </a:r>
          </a:p>
          <a:p>
            <a:pPr>
              <a:buNone/>
            </a:pPr>
            <a:r>
              <a:rPr lang="en-US" dirty="0"/>
              <a:t> methods; </a:t>
            </a:r>
          </a:p>
          <a:p>
            <a:pPr>
              <a:buNone/>
            </a:pPr>
            <a:r>
              <a:rPr lang="en-US" dirty="0"/>
              <a:t>}; </a:t>
            </a:r>
          </a:p>
          <a:p>
            <a:pPr>
              <a:buNone/>
            </a:pPr>
            <a:r>
              <a:rPr lang="en-US" dirty="0"/>
              <a:t>class </a:t>
            </a:r>
            <a:r>
              <a:rPr lang="en-US" dirty="0" err="1"/>
              <a:t>derived_classname</a:t>
            </a:r>
            <a:r>
              <a:rPr lang="en-US" dirty="0"/>
              <a:t> : </a:t>
            </a:r>
            <a:r>
              <a:rPr lang="en-US" dirty="0" err="1"/>
              <a:t>visibility_mode</a:t>
            </a:r>
            <a:r>
              <a:rPr lang="en-US" dirty="0"/>
              <a:t> </a:t>
            </a:r>
            <a:r>
              <a:rPr lang="en-US" dirty="0" err="1"/>
              <a:t>base_classname</a:t>
            </a:r>
            <a:endParaRPr lang="en-US" dirty="0"/>
          </a:p>
          <a:p>
            <a:pPr>
              <a:buNone/>
            </a:pPr>
            <a:r>
              <a:rPr lang="en-US" dirty="0"/>
              <a:t> {     </a:t>
            </a:r>
          </a:p>
          <a:p>
            <a:pPr>
              <a:buNone/>
            </a:pPr>
            <a:r>
              <a:rPr lang="en-US" dirty="0"/>
              <a:t>properties;     </a:t>
            </a:r>
          </a:p>
          <a:p>
            <a:pPr>
              <a:buNone/>
            </a:pPr>
            <a:r>
              <a:rPr lang="en-US" dirty="0"/>
              <a:t>methods; </a:t>
            </a:r>
          </a:p>
          <a:p>
            <a:pPr>
              <a:buNone/>
            </a:pPr>
            <a:r>
              <a:rPr lang="en-US" dirty="0"/>
              <a:t>};</a:t>
            </a:r>
          </a:p>
          <a:p>
            <a:pPr marL="0" indent="0">
              <a:buNone/>
            </a:pPr>
            <a:endParaRPr lang="en-US" b="1" dirty="0"/>
          </a:p>
          <a:p>
            <a:endParaRPr lang="en-US" dirty="0"/>
          </a:p>
          <a:p>
            <a:endParaRPr lang="en-IN" dirty="0"/>
          </a:p>
        </p:txBody>
      </p:sp>
      <p:sp>
        <p:nvSpPr>
          <p:cNvPr id="4" name="Slide Number Placeholder 3">
            <a:extLst>
              <a:ext uri="{FF2B5EF4-FFF2-40B4-BE49-F238E27FC236}">
                <a16:creationId xmlns:a16="http://schemas.microsoft.com/office/drawing/2014/main" id="{0D3DADD9-EA18-B8E7-6DC3-EE8A3EEDB112}"/>
              </a:ext>
            </a:extLst>
          </p:cNvPr>
          <p:cNvSpPr>
            <a:spLocks noGrp="1"/>
          </p:cNvSpPr>
          <p:nvPr>
            <p:ph type="sldNum" sz="quarter" idx="12"/>
          </p:nvPr>
        </p:nvSpPr>
        <p:spPr/>
        <p:txBody>
          <a:bodyPr/>
          <a:lstStyle/>
          <a:p>
            <a:fld id="{A3774F31-BE14-4E8C-94BE-1981B0E7CCE6}" type="slidenum">
              <a:rPr lang="en-IN" smtClean="0"/>
              <a:t>14</a:t>
            </a:fld>
            <a:endParaRPr lang="en-IN"/>
          </a:p>
        </p:txBody>
      </p:sp>
      <p:sp>
        <p:nvSpPr>
          <p:cNvPr id="5" name="Footer Placeholder 4">
            <a:extLst>
              <a:ext uri="{FF2B5EF4-FFF2-40B4-BE49-F238E27FC236}">
                <a16:creationId xmlns:a16="http://schemas.microsoft.com/office/drawing/2014/main" id="{E250D824-0F3B-5A76-91D2-012FABF1EDE3}"/>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C6ED0B3D-5209-3D11-D2EE-6EDC26A60151}"/>
              </a:ext>
            </a:extLst>
          </p:cNvPr>
          <p:cNvSpPr>
            <a:spLocks noGrp="1"/>
          </p:cNvSpPr>
          <p:nvPr>
            <p:ph type="dt" sz="half" idx="10"/>
          </p:nvPr>
        </p:nvSpPr>
        <p:spPr/>
        <p:txBody>
          <a:bodyPr/>
          <a:lstStyle/>
          <a:p>
            <a:fld id="{3F329CD4-991B-4760-8C3F-D88415732685}" type="datetime5">
              <a:rPr lang="en-IN" smtClean="0"/>
              <a:t>30-Aug-25</a:t>
            </a:fld>
            <a:endParaRPr lang="en-IN"/>
          </a:p>
        </p:txBody>
      </p:sp>
    </p:spTree>
    <p:extLst>
      <p:ext uri="{BB962C8B-B14F-4D97-AF65-F5344CB8AC3E}">
        <p14:creationId xmlns:p14="http://schemas.microsoft.com/office/powerpoint/2010/main" val="3021298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28C6-4ED4-1338-02CA-35CD14746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9B904-E88C-764D-7FD1-72B736142EB8}"/>
              </a:ext>
            </a:extLst>
          </p:cNvPr>
          <p:cNvSpPr>
            <a:spLocks noGrp="1"/>
          </p:cNvSpPr>
          <p:nvPr>
            <p:ph type="title"/>
          </p:nvPr>
        </p:nvSpPr>
        <p:spPr>
          <a:xfrm>
            <a:off x="1001260" y="973668"/>
            <a:ext cx="9651843" cy="706964"/>
          </a:xfrm>
        </p:spPr>
        <p:txBody>
          <a:bodyPr/>
          <a:lstStyle/>
          <a:p>
            <a:pPr algn="just"/>
            <a:r>
              <a:rPr lang="en-US" sz="3200" b="1" dirty="0"/>
              <a:t>Single inheritance: </a:t>
            </a:r>
            <a:r>
              <a:rPr lang="en-US" sz="3200" b="1" dirty="0">
                <a:solidFill>
                  <a:schemeClr val="bg1"/>
                </a:solidFill>
              </a:rPr>
              <a:t>Syntax of Single Inheritance</a:t>
            </a:r>
            <a:endParaRPr lang="en-IN" sz="3200" dirty="0">
              <a:solidFill>
                <a:schemeClr val="bg1"/>
              </a:solidFill>
            </a:endParaRPr>
          </a:p>
        </p:txBody>
      </p:sp>
      <p:sp>
        <p:nvSpPr>
          <p:cNvPr id="3" name="Content Placeholder 2">
            <a:extLst>
              <a:ext uri="{FF2B5EF4-FFF2-40B4-BE49-F238E27FC236}">
                <a16:creationId xmlns:a16="http://schemas.microsoft.com/office/drawing/2014/main" id="{0CABEDCE-DE51-3148-826A-BC6659BCA0F6}"/>
              </a:ext>
            </a:extLst>
          </p:cNvPr>
          <p:cNvSpPr>
            <a:spLocks noGrp="1"/>
          </p:cNvSpPr>
          <p:nvPr>
            <p:ph idx="1"/>
          </p:nvPr>
        </p:nvSpPr>
        <p:spPr>
          <a:xfrm>
            <a:off x="924128" y="2358571"/>
            <a:ext cx="6634263" cy="4713438"/>
          </a:xfrm>
        </p:spPr>
        <p:txBody>
          <a:bodyPr>
            <a:normAutofit fontScale="70000" lnSpcReduction="20000"/>
          </a:bodyPr>
          <a:lstStyle/>
          <a:p>
            <a:pPr>
              <a:buNone/>
            </a:pPr>
            <a:r>
              <a:rPr lang="en-US" dirty="0">
                <a:latin typeface="Times New Roman" pitchFamily="18" charset="0"/>
                <a:cs typeface="Times New Roman" pitchFamily="18" charset="0"/>
              </a:rPr>
              <a:t>class </a:t>
            </a:r>
            <a:r>
              <a:rPr lang="en-US" dirty="0" err="1">
                <a:latin typeface="Times New Roman" pitchFamily="18" charset="0"/>
                <a:cs typeface="Times New Roman" pitchFamily="18" charset="0"/>
              </a:rPr>
              <a:t>AddData</a:t>
            </a: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 //Base Class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protected: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int num1, num2;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public: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void accept()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&lt;&lt;"\n Enter First Number :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&gt;&gt;num1;</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&lt;&lt;"\n Enter Second Number :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cin</a:t>
            </a:r>
            <a:r>
              <a:rPr lang="en-US" dirty="0">
                <a:latin typeface="Times New Roman" pitchFamily="18" charset="0"/>
                <a:cs typeface="Times New Roman" pitchFamily="18" charset="0"/>
              </a:rPr>
              <a:t>&gt;&gt;num2;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class Addition: public </a:t>
            </a:r>
            <a:r>
              <a:rPr lang="en-US" dirty="0" err="1">
                <a:latin typeface="Times New Roman" pitchFamily="18" charset="0"/>
                <a:cs typeface="Times New Roman" pitchFamily="18" charset="0"/>
              </a:rPr>
              <a:t>AddData</a:t>
            </a: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//Class Addition – Derived Class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int sum;</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public:</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void add()</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sum = num1 + num2;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void display()</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&lt;&lt;"\n Addition of Two Numbers : "&lt;&lt;sum;</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a:p>
            <a:pPr marL="0" indent="0">
              <a:buNone/>
            </a:pPr>
            <a:endParaRPr lang="en-US" b="1" dirty="0"/>
          </a:p>
          <a:p>
            <a:endParaRPr lang="en-US" dirty="0"/>
          </a:p>
          <a:p>
            <a:endParaRPr lang="en-IN" dirty="0"/>
          </a:p>
        </p:txBody>
      </p:sp>
      <p:sp>
        <p:nvSpPr>
          <p:cNvPr id="4" name="Slide Number Placeholder 3">
            <a:extLst>
              <a:ext uri="{FF2B5EF4-FFF2-40B4-BE49-F238E27FC236}">
                <a16:creationId xmlns:a16="http://schemas.microsoft.com/office/drawing/2014/main" id="{7CBDF7A8-FA64-E8C3-792F-D334E297C66E}"/>
              </a:ext>
            </a:extLst>
          </p:cNvPr>
          <p:cNvSpPr>
            <a:spLocks noGrp="1"/>
          </p:cNvSpPr>
          <p:nvPr>
            <p:ph type="sldNum" sz="quarter" idx="12"/>
          </p:nvPr>
        </p:nvSpPr>
        <p:spPr/>
        <p:txBody>
          <a:bodyPr/>
          <a:lstStyle/>
          <a:p>
            <a:fld id="{A3774F31-BE14-4E8C-94BE-1981B0E7CCE6}" type="slidenum">
              <a:rPr lang="en-IN" smtClean="0"/>
              <a:t>15</a:t>
            </a:fld>
            <a:endParaRPr lang="en-IN"/>
          </a:p>
        </p:txBody>
      </p:sp>
      <p:sp>
        <p:nvSpPr>
          <p:cNvPr id="5" name="Footer Placeholder 4">
            <a:extLst>
              <a:ext uri="{FF2B5EF4-FFF2-40B4-BE49-F238E27FC236}">
                <a16:creationId xmlns:a16="http://schemas.microsoft.com/office/drawing/2014/main" id="{F38745CC-1E41-9276-FD6C-D0F58C31135B}"/>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BB033686-F458-CBCC-9ABC-4A69AA1A70FF}"/>
              </a:ext>
            </a:extLst>
          </p:cNvPr>
          <p:cNvSpPr>
            <a:spLocks noGrp="1"/>
          </p:cNvSpPr>
          <p:nvPr>
            <p:ph type="dt" sz="half" idx="10"/>
          </p:nvPr>
        </p:nvSpPr>
        <p:spPr/>
        <p:txBody>
          <a:bodyPr/>
          <a:lstStyle/>
          <a:p>
            <a:fld id="{3F329CD4-991B-4760-8C3F-D88415732685}" type="datetime5">
              <a:rPr lang="en-IN" smtClean="0"/>
              <a:t>30-Aug-25</a:t>
            </a:fld>
            <a:endParaRPr lang="en-IN"/>
          </a:p>
        </p:txBody>
      </p:sp>
      <p:sp>
        <p:nvSpPr>
          <p:cNvPr id="7" name="Rectangle 6">
            <a:extLst>
              <a:ext uri="{FF2B5EF4-FFF2-40B4-BE49-F238E27FC236}">
                <a16:creationId xmlns:a16="http://schemas.microsoft.com/office/drawing/2014/main" id="{3AC0A36C-5E33-1240-4266-F58E6DB40C65}"/>
              </a:ext>
            </a:extLst>
          </p:cNvPr>
          <p:cNvSpPr/>
          <p:nvPr/>
        </p:nvSpPr>
        <p:spPr>
          <a:xfrm>
            <a:off x="7558391" y="2850204"/>
            <a:ext cx="4202349" cy="292441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Times New Roman" pitchFamily="18" charset="0"/>
                <a:cs typeface="Times New Roman" pitchFamily="18" charset="0"/>
              </a:rPr>
              <a:t>int main(){</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Addition a;</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a.accept</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a.add</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a.display</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return 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a:t>
            </a:r>
            <a:endParaRPr lang="en-US" dirty="0"/>
          </a:p>
        </p:txBody>
      </p:sp>
    </p:spTree>
    <p:extLst>
      <p:ext uri="{BB962C8B-B14F-4D97-AF65-F5344CB8AC3E}">
        <p14:creationId xmlns:p14="http://schemas.microsoft.com/office/powerpoint/2010/main" val="250704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FE42-629D-4B58-8096-4F51B673789C}"/>
              </a:ext>
            </a:extLst>
          </p:cNvPr>
          <p:cNvSpPr>
            <a:spLocks noGrp="1"/>
          </p:cNvSpPr>
          <p:nvPr>
            <p:ph type="title"/>
          </p:nvPr>
        </p:nvSpPr>
        <p:spPr/>
        <p:txBody>
          <a:bodyPr/>
          <a:lstStyle/>
          <a:p>
            <a:r>
              <a:rPr lang="en-US" b="1" dirty="0"/>
              <a:t>Multiple inheritance</a:t>
            </a:r>
            <a:endParaRPr lang="en-IN" dirty="0"/>
          </a:p>
        </p:txBody>
      </p:sp>
      <p:sp>
        <p:nvSpPr>
          <p:cNvPr id="3" name="Content Placeholder 2">
            <a:extLst>
              <a:ext uri="{FF2B5EF4-FFF2-40B4-BE49-F238E27FC236}">
                <a16:creationId xmlns:a16="http://schemas.microsoft.com/office/drawing/2014/main" id="{9C4507D5-BA0D-4322-9B6A-AC47DF914B71}"/>
              </a:ext>
            </a:extLst>
          </p:cNvPr>
          <p:cNvSpPr>
            <a:spLocks noGrp="1"/>
          </p:cNvSpPr>
          <p:nvPr>
            <p:ph idx="1"/>
          </p:nvPr>
        </p:nvSpPr>
        <p:spPr>
          <a:xfrm>
            <a:off x="1154954" y="2603500"/>
            <a:ext cx="10965710" cy="3416300"/>
          </a:xfrm>
        </p:spPr>
        <p:txBody>
          <a:bodyPr>
            <a:normAutofit/>
          </a:bodyPr>
          <a:lstStyle/>
          <a:p>
            <a:pPr algn="just"/>
            <a:r>
              <a:rPr lang="en-US" sz="2000" b="1" dirty="0"/>
              <a:t>Multiple inheritance: </a:t>
            </a:r>
            <a:r>
              <a:rPr lang="en-US" sz="2000" dirty="0"/>
              <a:t>It is a feature of C++ where a class can inherit from more than one class.</a:t>
            </a:r>
          </a:p>
          <a:p>
            <a:pPr algn="just"/>
            <a:endParaRPr lang="en-US" sz="2000" dirty="0"/>
          </a:p>
        </p:txBody>
      </p:sp>
      <p:sp>
        <p:nvSpPr>
          <p:cNvPr id="4" name="Slide Number Placeholder 3">
            <a:extLst>
              <a:ext uri="{FF2B5EF4-FFF2-40B4-BE49-F238E27FC236}">
                <a16:creationId xmlns:a16="http://schemas.microsoft.com/office/drawing/2014/main" id="{230A6C05-FFB9-A10E-441D-97EA7D3AB6ED}"/>
              </a:ext>
            </a:extLst>
          </p:cNvPr>
          <p:cNvSpPr>
            <a:spLocks noGrp="1"/>
          </p:cNvSpPr>
          <p:nvPr>
            <p:ph type="sldNum" sz="quarter" idx="12"/>
          </p:nvPr>
        </p:nvSpPr>
        <p:spPr/>
        <p:txBody>
          <a:bodyPr/>
          <a:lstStyle/>
          <a:p>
            <a:fld id="{A3774F31-BE14-4E8C-94BE-1981B0E7CCE6}" type="slidenum">
              <a:rPr lang="en-IN" smtClean="0"/>
              <a:t>16</a:t>
            </a:fld>
            <a:endParaRPr lang="en-IN"/>
          </a:p>
        </p:txBody>
      </p:sp>
      <p:sp>
        <p:nvSpPr>
          <p:cNvPr id="5" name="Footer Placeholder 4">
            <a:extLst>
              <a:ext uri="{FF2B5EF4-FFF2-40B4-BE49-F238E27FC236}">
                <a16:creationId xmlns:a16="http://schemas.microsoft.com/office/drawing/2014/main" id="{A3421F6A-9F75-EC13-BA14-722DD29E4573}"/>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1A592BE4-E6DF-8305-E615-E3A114F40929}"/>
              </a:ext>
            </a:extLst>
          </p:cNvPr>
          <p:cNvSpPr>
            <a:spLocks noGrp="1"/>
          </p:cNvSpPr>
          <p:nvPr>
            <p:ph type="dt" sz="half" idx="10"/>
          </p:nvPr>
        </p:nvSpPr>
        <p:spPr/>
        <p:txBody>
          <a:bodyPr/>
          <a:lstStyle/>
          <a:p>
            <a:fld id="{B2BA25A5-0BDA-48F4-958B-8CD0618E3AF7}" type="datetime5">
              <a:rPr lang="en-IN" smtClean="0"/>
              <a:t>30-Aug-25</a:t>
            </a:fld>
            <a:endParaRPr lang="en-IN"/>
          </a:p>
        </p:txBody>
      </p:sp>
      <p:pic>
        <p:nvPicPr>
          <p:cNvPr id="7" name="Picture 6">
            <a:extLst>
              <a:ext uri="{FF2B5EF4-FFF2-40B4-BE49-F238E27FC236}">
                <a16:creationId xmlns:a16="http://schemas.microsoft.com/office/drawing/2014/main" id="{FA0DC136-0E4B-2CFD-61A7-9FB4DC4505BF}"/>
              </a:ext>
            </a:extLst>
          </p:cNvPr>
          <p:cNvPicPr>
            <a:picLocks noChangeAspect="1" noChangeArrowheads="1"/>
          </p:cNvPicPr>
          <p:nvPr/>
        </p:nvPicPr>
        <p:blipFill>
          <a:blip r:embed="rId2"/>
          <a:srcRect/>
          <a:stretch>
            <a:fillRect/>
          </a:stretch>
        </p:blipFill>
        <p:spPr bwMode="auto">
          <a:xfrm>
            <a:off x="6916366" y="3857017"/>
            <a:ext cx="3891064" cy="1828800"/>
          </a:xfrm>
          <a:prstGeom prst="rect">
            <a:avLst/>
          </a:prstGeom>
          <a:noFill/>
        </p:spPr>
      </p:pic>
      <p:sp>
        <p:nvSpPr>
          <p:cNvPr id="8" name="Rectangle: Rounded Corners 7">
            <a:extLst>
              <a:ext uri="{FF2B5EF4-FFF2-40B4-BE49-F238E27FC236}">
                <a16:creationId xmlns:a16="http://schemas.microsoft.com/office/drawing/2014/main" id="{20A3E91B-6423-088D-2913-3FF825DC5EF0}"/>
              </a:ext>
            </a:extLst>
          </p:cNvPr>
          <p:cNvSpPr/>
          <p:nvPr/>
        </p:nvSpPr>
        <p:spPr>
          <a:xfrm>
            <a:off x="1040860" y="3317133"/>
            <a:ext cx="5262663" cy="2237362"/>
          </a:xfrm>
          <a:prstGeom prst="round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dirty="0"/>
              <a:t>class </a:t>
            </a:r>
            <a:r>
              <a:rPr lang="en-US" dirty="0" err="1"/>
              <a:t>subclass_name</a:t>
            </a:r>
            <a:r>
              <a:rPr lang="en-US" dirty="0"/>
              <a:t> : </a:t>
            </a:r>
            <a:r>
              <a:rPr lang="en-US" dirty="0" err="1"/>
              <a:t>access_mode</a:t>
            </a:r>
            <a:r>
              <a:rPr lang="en-US" dirty="0"/>
              <a:t> base_class1, </a:t>
            </a:r>
            <a:r>
              <a:rPr lang="en-US" dirty="0" err="1"/>
              <a:t>access_mode</a:t>
            </a:r>
            <a:r>
              <a:rPr lang="en-US" dirty="0"/>
              <a:t> base_class2, .... </a:t>
            </a:r>
          </a:p>
          <a:p>
            <a:pPr>
              <a:buNone/>
            </a:pPr>
            <a:r>
              <a:rPr lang="en-US" dirty="0"/>
              <a:t>{ </a:t>
            </a:r>
          </a:p>
          <a:p>
            <a:pPr>
              <a:buNone/>
            </a:pPr>
            <a:r>
              <a:rPr lang="en-US" dirty="0"/>
              <a:t>//</a:t>
            </a:r>
          </a:p>
          <a:p>
            <a:pPr>
              <a:buNone/>
            </a:pPr>
            <a:r>
              <a:rPr lang="en-US" dirty="0"/>
              <a:t>body of subclass </a:t>
            </a:r>
          </a:p>
          <a:p>
            <a:pPr>
              <a:buNone/>
            </a:pPr>
            <a:r>
              <a:rPr lang="en-US" dirty="0"/>
              <a:t>};</a:t>
            </a:r>
          </a:p>
        </p:txBody>
      </p:sp>
      <p:sp>
        <p:nvSpPr>
          <p:cNvPr id="9" name="Rectangle: Rounded Corners 8">
            <a:extLst>
              <a:ext uri="{FF2B5EF4-FFF2-40B4-BE49-F238E27FC236}">
                <a16:creationId xmlns:a16="http://schemas.microsoft.com/office/drawing/2014/main" id="{C174B096-4D6F-6CE7-A839-844307AB73DE}"/>
              </a:ext>
            </a:extLst>
          </p:cNvPr>
          <p:cNvSpPr/>
          <p:nvPr/>
        </p:nvSpPr>
        <p:spPr>
          <a:xfrm>
            <a:off x="1315320" y="5685817"/>
            <a:ext cx="4453182" cy="54961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Fig: Syntax of Multiple Inheritance</a:t>
            </a:r>
          </a:p>
        </p:txBody>
      </p:sp>
    </p:spTree>
    <p:extLst>
      <p:ext uri="{BB962C8B-B14F-4D97-AF65-F5344CB8AC3E}">
        <p14:creationId xmlns:p14="http://schemas.microsoft.com/office/powerpoint/2010/main" val="2464788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FDF83-77D7-A66A-1E79-8590BD05B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52947-D627-5636-F290-52BCDBA682E6}"/>
              </a:ext>
            </a:extLst>
          </p:cNvPr>
          <p:cNvSpPr>
            <a:spLocks noGrp="1"/>
          </p:cNvSpPr>
          <p:nvPr>
            <p:ph type="title"/>
          </p:nvPr>
        </p:nvSpPr>
        <p:spPr/>
        <p:txBody>
          <a:bodyPr/>
          <a:lstStyle/>
          <a:p>
            <a:r>
              <a:rPr lang="en-US" b="1" dirty="0"/>
              <a:t>Multiple inheritance</a:t>
            </a:r>
            <a:endParaRPr lang="en-IN" dirty="0"/>
          </a:p>
        </p:txBody>
      </p:sp>
      <p:sp>
        <p:nvSpPr>
          <p:cNvPr id="4" name="Slide Number Placeholder 3">
            <a:extLst>
              <a:ext uri="{FF2B5EF4-FFF2-40B4-BE49-F238E27FC236}">
                <a16:creationId xmlns:a16="http://schemas.microsoft.com/office/drawing/2014/main" id="{816D822A-CB1C-33F5-6D56-4770017569B6}"/>
              </a:ext>
            </a:extLst>
          </p:cNvPr>
          <p:cNvSpPr>
            <a:spLocks noGrp="1"/>
          </p:cNvSpPr>
          <p:nvPr>
            <p:ph type="sldNum" sz="quarter" idx="12"/>
          </p:nvPr>
        </p:nvSpPr>
        <p:spPr/>
        <p:txBody>
          <a:bodyPr/>
          <a:lstStyle/>
          <a:p>
            <a:fld id="{A3774F31-BE14-4E8C-94BE-1981B0E7CCE6}" type="slidenum">
              <a:rPr lang="en-IN" smtClean="0"/>
              <a:t>17</a:t>
            </a:fld>
            <a:endParaRPr lang="en-IN"/>
          </a:p>
        </p:txBody>
      </p:sp>
      <p:sp>
        <p:nvSpPr>
          <p:cNvPr id="5" name="Footer Placeholder 4">
            <a:extLst>
              <a:ext uri="{FF2B5EF4-FFF2-40B4-BE49-F238E27FC236}">
                <a16:creationId xmlns:a16="http://schemas.microsoft.com/office/drawing/2014/main" id="{E3EC39AE-0F6D-56C0-16DB-71E6CE19B2E9}"/>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69935CC5-45D9-E41B-2B48-24688C2A2944}"/>
              </a:ext>
            </a:extLst>
          </p:cNvPr>
          <p:cNvSpPr>
            <a:spLocks noGrp="1"/>
          </p:cNvSpPr>
          <p:nvPr>
            <p:ph type="dt" sz="half" idx="10"/>
          </p:nvPr>
        </p:nvSpPr>
        <p:spPr/>
        <p:txBody>
          <a:bodyPr/>
          <a:lstStyle/>
          <a:p>
            <a:fld id="{B2BA25A5-0BDA-48F4-958B-8CD0618E3AF7}" type="datetime5">
              <a:rPr lang="en-IN" smtClean="0"/>
              <a:t>30-Aug-25</a:t>
            </a:fld>
            <a:endParaRPr lang="en-IN"/>
          </a:p>
        </p:txBody>
      </p:sp>
      <p:graphicFrame>
        <p:nvGraphicFramePr>
          <p:cNvPr id="12" name="Table 11">
            <a:extLst>
              <a:ext uri="{FF2B5EF4-FFF2-40B4-BE49-F238E27FC236}">
                <a16:creationId xmlns:a16="http://schemas.microsoft.com/office/drawing/2014/main" id="{A967E7D3-78D8-F80A-C88C-B1A12F5D317E}"/>
              </a:ext>
            </a:extLst>
          </p:cNvPr>
          <p:cNvGraphicFramePr>
            <a:graphicFrameLocks noGrp="1"/>
          </p:cNvGraphicFramePr>
          <p:nvPr>
            <p:extLst>
              <p:ext uri="{D42A27DB-BD31-4B8C-83A1-F6EECF244321}">
                <p14:modId xmlns:p14="http://schemas.microsoft.com/office/powerpoint/2010/main" val="4015894516"/>
              </p:ext>
            </p:extLst>
          </p:nvPr>
        </p:nvGraphicFramePr>
        <p:xfrm>
          <a:off x="1050587" y="2042810"/>
          <a:ext cx="9766570" cy="4206240"/>
        </p:xfrm>
        <a:graphic>
          <a:graphicData uri="http://schemas.openxmlformats.org/drawingml/2006/table">
            <a:tbl>
              <a:tblPr firstRow="1" bandRow="1">
                <a:tableStyleId>{5C22544A-7EE6-4342-B048-85BDC9FD1C3A}</a:tableStyleId>
              </a:tblPr>
              <a:tblGrid>
                <a:gridCol w="4883285">
                  <a:extLst>
                    <a:ext uri="{9D8B030D-6E8A-4147-A177-3AD203B41FA5}">
                      <a16:colId xmlns:a16="http://schemas.microsoft.com/office/drawing/2014/main" val="834826954"/>
                    </a:ext>
                  </a:extLst>
                </a:gridCol>
                <a:gridCol w="4883285">
                  <a:extLst>
                    <a:ext uri="{9D8B030D-6E8A-4147-A177-3AD203B41FA5}">
                      <a16:colId xmlns:a16="http://schemas.microsoft.com/office/drawing/2014/main" val="587726253"/>
                    </a:ext>
                  </a:extLst>
                </a:gridCol>
              </a:tblGrid>
              <a:tr h="4079782">
                <a:tc>
                  <a:txBody>
                    <a:bodyPr/>
                    <a:lstStyle/>
                    <a:p>
                      <a:pPr>
                        <a:buNone/>
                      </a:pPr>
                      <a:r>
                        <a:rPr lang="en-US" b="1" dirty="0">
                          <a:solidFill>
                            <a:schemeClr val="accent2"/>
                          </a:solidFill>
                        </a:rPr>
                        <a:t>/</a:t>
                      </a:r>
                      <a:r>
                        <a:rPr lang="en-US" sz="1600" b="1" dirty="0">
                          <a:solidFill>
                            <a:schemeClr val="accent2"/>
                          </a:solidFill>
                          <a:latin typeface="Times New Roman" pitchFamily="18" charset="0"/>
                          <a:cs typeface="Times New Roman" pitchFamily="18" charset="0"/>
                        </a:rPr>
                        <a:t>/ first base class</a:t>
                      </a:r>
                    </a:p>
                    <a:p>
                      <a:pPr>
                        <a:buNone/>
                      </a:pPr>
                      <a:r>
                        <a:rPr lang="en-US" sz="1800" b="0" dirty="0">
                          <a:solidFill>
                            <a:schemeClr val="tx1"/>
                          </a:solidFill>
                          <a:latin typeface="Times New Roman" pitchFamily="18" charset="0"/>
                          <a:cs typeface="Times New Roman" pitchFamily="18" charset="0"/>
                        </a:rPr>
                        <a:t>class Vehicle {</a:t>
                      </a:r>
                    </a:p>
                    <a:p>
                      <a:pPr>
                        <a:buNone/>
                      </a:pPr>
                      <a:r>
                        <a:rPr lang="en-US" sz="1800" b="0" dirty="0">
                          <a:solidFill>
                            <a:schemeClr val="tx1"/>
                          </a:solidFill>
                          <a:latin typeface="Times New Roman" pitchFamily="18" charset="0"/>
                          <a:cs typeface="Times New Roman" pitchFamily="18" charset="0"/>
                        </a:rPr>
                        <a:t>  public:</a:t>
                      </a:r>
                    </a:p>
                    <a:p>
                      <a:pPr>
                        <a:buNone/>
                      </a:pPr>
                      <a:r>
                        <a:rPr lang="en-US" sz="1800" b="0" dirty="0">
                          <a:solidFill>
                            <a:schemeClr val="tx1"/>
                          </a:solidFill>
                          <a:latin typeface="Times New Roman" pitchFamily="18" charset="0"/>
                          <a:cs typeface="Times New Roman" pitchFamily="18" charset="0"/>
                        </a:rPr>
                        <a:t>    Vehicle()</a:t>
                      </a:r>
                    </a:p>
                    <a:p>
                      <a:pPr>
                        <a:buNone/>
                      </a:pPr>
                      <a:r>
                        <a:rPr lang="en-US" sz="1800" b="0" dirty="0">
                          <a:solidFill>
                            <a:schemeClr val="tx1"/>
                          </a:solidFill>
                          <a:latin typeface="Times New Roman" pitchFamily="18" charset="0"/>
                          <a:cs typeface="Times New Roman" pitchFamily="18" charset="0"/>
                        </a:rPr>
                        <a:t>    { </a:t>
                      </a:r>
                      <a:r>
                        <a:rPr lang="en-US" sz="1800" b="0" dirty="0" err="1">
                          <a:solidFill>
                            <a:schemeClr val="tx1"/>
                          </a:solidFill>
                          <a:latin typeface="Times New Roman" pitchFamily="18" charset="0"/>
                          <a:cs typeface="Times New Roman" pitchFamily="18" charset="0"/>
                        </a:rPr>
                        <a:t>cout</a:t>
                      </a:r>
                      <a:r>
                        <a:rPr lang="en-US" sz="1800" b="0" dirty="0">
                          <a:solidFill>
                            <a:schemeClr val="tx1"/>
                          </a:solidFill>
                          <a:latin typeface="Times New Roman" pitchFamily="18" charset="0"/>
                          <a:cs typeface="Times New Roman" pitchFamily="18" charset="0"/>
                        </a:rPr>
                        <a:t> &lt;&lt; "This is a Vehicle" &lt;&lt; </a:t>
                      </a:r>
                      <a:r>
                        <a:rPr lang="en-US" sz="1800" b="0" dirty="0" err="1">
                          <a:solidFill>
                            <a:schemeClr val="tx1"/>
                          </a:solidFill>
                          <a:latin typeface="Times New Roman" pitchFamily="18" charset="0"/>
                          <a:cs typeface="Times New Roman" pitchFamily="18" charset="0"/>
                        </a:rPr>
                        <a:t>endl</a:t>
                      </a: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a:t>
                      </a:r>
                    </a:p>
                    <a:p>
                      <a:pPr>
                        <a:buNone/>
                      </a:pPr>
                      <a:r>
                        <a:rPr lang="en-US" sz="1800" b="1" dirty="0">
                          <a:solidFill>
                            <a:schemeClr val="accent2"/>
                          </a:solidFill>
                          <a:latin typeface="Times New Roman" pitchFamily="18" charset="0"/>
                          <a:cs typeface="Times New Roman" pitchFamily="18" charset="0"/>
                        </a:rPr>
                        <a:t> // second base class</a:t>
                      </a:r>
                    </a:p>
                    <a:p>
                      <a:pPr>
                        <a:buNone/>
                      </a:pPr>
                      <a:r>
                        <a:rPr lang="en-US" sz="1800" b="0" dirty="0">
                          <a:solidFill>
                            <a:schemeClr val="tx1"/>
                          </a:solidFill>
                          <a:latin typeface="Times New Roman" pitchFamily="18" charset="0"/>
                          <a:cs typeface="Times New Roman" pitchFamily="18" charset="0"/>
                        </a:rPr>
                        <a:t>class </a:t>
                      </a:r>
                      <a:r>
                        <a:rPr lang="en-US" sz="1800" b="0" dirty="0" err="1">
                          <a:solidFill>
                            <a:schemeClr val="tx1"/>
                          </a:solidFill>
                          <a:latin typeface="Times New Roman" pitchFamily="18" charset="0"/>
                          <a:cs typeface="Times New Roman" pitchFamily="18" charset="0"/>
                        </a:rPr>
                        <a:t>FourWheeler</a:t>
                      </a: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  public:</a:t>
                      </a:r>
                    </a:p>
                    <a:p>
                      <a:pPr>
                        <a:buNone/>
                      </a:pPr>
                      <a:r>
                        <a:rPr lang="en-US" sz="1800" b="0" dirty="0">
                          <a:solidFill>
                            <a:schemeClr val="tx1"/>
                          </a:solidFill>
                          <a:latin typeface="Times New Roman" pitchFamily="18" charset="0"/>
                          <a:cs typeface="Times New Roman" pitchFamily="18" charset="0"/>
                        </a:rPr>
                        <a:t>    </a:t>
                      </a:r>
                      <a:r>
                        <a:rPr lang="en-US" sz="1800" b="0" dirty="0" err="1">
                          <a:solidFill>
                            <a:schemeClr val="tx1"/>
                          </a:solidFill>
                          <a:latin typeface="Times New Roman" pitchFamily="18" charset="0"/>
                          <a:cs typeface="Times New Roman" pitchFamily="18" charset="0"/>
                        </a:rPr>
                        <a:t>FourWheeler</a:t>
                      </a:r>
                      <a:r>
                        <a:rPr lang="en-US" sz="1800" b="0" dirty="0">
                          <a:solidFill>
                            <a:schemeClr val="tx1"/>
                          </a:solidFill>
                          <a:latin typeface="Times New Roman" pitchFamily="18" charset="0"/>
                          <a:cs typeface="Times New Roman" pitchFamily="18" charset="0"/>
                        </a:rPr>
                        <a:t>()</a:t>
                      </a:r>
                    </a:p>
                    <a:p>
                      <a:pPr>
                        <a:buNone/>
                      </a:pP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      </a:t>
                      </a:r>
                      <a:r>
                        <a:rPr lang="en-US" sz="1800" b="0" dirty="0" err="1">
                          <a:solidFill>
                            <a:schemeClr val="tx1"/>
                          </a:solidFill>
                          <a:latin typeface="Times New Roman" pitchFamily="18" charset="0"/>
                          <a:cs typeface="Times New Roman" pitchFamily="18" charset="0"/>
                        </a:rPr>
                        <a:t>cout</a:t>
                      </a:r>
                      <a:r>
                        <a:rPr lang="en-US" sz="1800" b="0" dirty="0">
                          <a:solidFill>
                            <a:schemeClr val="tx1"/>
                          </a:solidFill>
                          <a:latin typeface="Times New Roman" pitchFamily="18" charset="0"/>
                          <a:cs typeface="Times New Roman" pitchFamily="18" charset="0"/>
                        </a:rPr>
                        <a:t> &lt;&lt; "This is a 4 wheeler Vehicle" &lt;&lt; </a:t>
                      </a:r>
                      <a:r>
                        <a:rPr lang="en-US" sz="1800" b="0" dirty="0" err="1">
                          <a:solidFill>
                            <a:schemeClr val="tx1"/>
                          </a:solidFill>
                          <a:latin typeface="Times New Roman" pitchFamily="18" charset="0"/>
                          <a:cs typeface="Times New Roman" pitchFamily="18" charset="0"/>
                        </a:rPr>
                        <a:t>endl</a:t>
                      </a:r>
                      <a:r>
                        <a:rPr lang="en-US" sz="1800" b="0" dirty="0">
                          <a:solidFill>
                            <a:schemeClr val="tx1"/>
                          </a:solidFill>
                          <a:latin typeface="Times New Roman" pitchFamily="18" charset="0"/>
                          <a:cs typeface="Times New Roman" pitchFamily="18" charset="0"/>
                        </a:rPr>
                        <a:t>;</a:t>
                      </a:r>
                    </a:p>
                    <a:p>
                      <a:pPr>
                        <a:buNone/>
                      </a:pP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a:t>
                      </a:r>
                    </a:p>
                    <a:p>
                      <a:pPr>
                        <a:buNone/>
                      </a:pPr>
                      <a:r>
                        <a:rPr lang="en-US" sz="1800" b="0" dirty="0">
                          <a:solidFill>
                            <a:schemeClr val="tx1"/>
                          </a:solidFill>
                          <a:latin typeface="Times New Roman" pitchFamily="18" charset="0"/>
                          <a:cs typeface="Times New Roman" pitchFamily="18" charset="0"/>
                        </a:rPr>
                        <a:t> </a:t>
                      </a:r>
                      <a:endParaRPr lang="en-US" b="0" dirty="0">
                        <a:solidFill>
                          <a:schemeClr val="tx1"/>
                        </a:solidFill>
                      </a:endParaRPr>
                    </a:p>
                  </a:txBody>
                  <a:tcPr>
                    <a:solidFill>
                      <a:schemeClr val="bg1"/>
                    </a:solidFill>
                  </a:tcPr>
                </a:tc>
                <a:tc>
                  <a:txBody>
                    <a:bodyPr/>
                    <a:lstStyle/>
                    <a:p>
                      <a:pPr>
                        <a:buNone/>
                      </a:pPr>
                      <a:endParaRPr lang="en-US" sz="1800" b="1" dirty="0">
                        <a:solidFill>
                          <a:schemeClr val="accent2"/>
                        </a:solidFill>
                        <a:latin typeface="Times New Roman" pitchFamily="18" charset="0"/>
                        <a:cs typeface="Times New Roman" pitchFamily="18" charset="0"/>
                      </a:endParaRPr>
                    </a:p>
                    <a:p>
                      <a:pPr>
                        <a:buNone/>
                      </a:pPr>
                      <a:r>
                        <a:rPr lang="en-US" sz="1800" b="1" dirty="0">
                          <a:solidFill>
                            <a:schemeClr val="accent2"/>
                          </a:solidFill>
                          <a:latin typeface="Times New Roman" pitchFamily="18" charset="0"/>
                          <a:cs typeface="Times New Roman" pitchFamily="18" charset="0"/>
                        </a:rPr>
                        <a:t>// sub class derived from two base classes</a:t>
                      </a:r>
                    </a:p>
                    <a:p>
                      <a:pPr>
                        <a:buNone/>
                      </a:pPr>
                      <a:r>
                        <a:rPr lang="en-US" sz="1800" b="0" dirty="0">
                          <a:solidFill>
                            <a:schemeClr val="tx1"/>
                          </a:solidFill>
                          <a:latin typeface="Times New Roman" pitchFamily="18" charset="0"/>
                          <a:cs typeface="Times New Roman" pitchFamily="18" charset="0"/>
                        </a:rPr>
                        <a:t>class Car: public Vehicle, public </a:t>
                      </a:r>
                      <a:r>
                        <a:rPr lang="en-US" sz="1800" b="0" dirty="0" err="1">
                          <a:solidFill>
                            <a:schemeClr val="tx1"/>
                          </a:solidFill>
                          <a:latin typeface="Times New Roman" pitchFamily="18" charset="0"/>
                          <a:cs typeface="Times New Roman" pitchFamily="18" charset="0"/>
                        </a:rPr>
                        <a:t>FourWheeler</a:t>
                      </a: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 // main function</a:t>
                      </a:r>
                    </a:p>
                    <a:p>
                      <a:pPr>
                        <a:buNone/>
                      </a:pPr>
                      <a:r>
                        <a:rPr lang="en-US" sz="1800" b="0" dirty="0">
                          <a:solidFill>
                            <a:schemeClr val="tx1"/>
                          </a:solidFill>
                          <a:latin typeface="Times New Roman" pitchFamily="18" charset="0"/>
                          <a:cs typeface="Times New Roman" pitchFamily="18" charset="0"/>
                        </a:rPr>
                        <a:t>int main()</a:t>
                      </a:r>
                    </a:p>
                    <a:p>
                      <a:pPr>
                        <a:buNone/>
                      </a:pPr>
                      <a:r>
                        <a:rPr lang="en-US" sz="1800" b="0" dirty="0">
                          <a:solidFill>
                            <a:schemeClr val="tx1"/>
                          </a:solidFill>
                          <a:latin typeface="Times New Roman" pitchFamily="18" charset="0"/>
                          <a:cs typeface="Times New Roman" pitchFamily="18" charset="0"/>
                        </a:rPr>
                        <a:t>{   </a:t>
                      </a:r>
                    </a:p>
                    <a:p>
                      <a:pPr>
                        <a:buNone/>
                      </a:pPr>
                      <a:r>
                        <a:rPr lang="en-US" sz="1800" b="0" dirty="0">
                          <a:solidFill>
                            <a:schemeClr val="tx1"/>
                          </a:solidFill>
                          <a:latin typeface="Times New Roman" pitchFamily="18" charset="0"/>
                          <a:cs typeface="Times New Roman" pitchFamily="18" charset="0"/>
                        </a:rPr>
                        <a:t>    </a:t>
                      </a:r>
                      <a:r>
                        <a:rPr lang="en-US" sz="1800" b="1" dirty="0">
                          <a:solidFill>
                            <a:schemeClr val="accent2"/>
                          </a:solidFill>
                          <a:latin typeface="Times New Roman" pitchFamily="18" charset="0"/>
                          <a:cs typeface="Times New Roman" pitchFamily="18" charset="0"/>
                        </a:rPr>
                        <a:t>// creating object of sub class will</a:t>
                      </a:r>
                    </a:p>
                    <a:p>
                      <a:pPr>
                        <a:buNone/>
                      </a:pPr>
                      <a:r>
                        <a:rPr lang="en-US" sz="1800" b="1" dirty="0">
                          <a:solidFill>
                            <a:schemeClr val="accent2"/>
                          </a:solidFill>
                          <a:latin typeface="Times New Roman" pitchFamily="18" charset="0"/>
                          <a:cs typeface="Times New Roman" pitchFamily="18" charset="0"/>
                        </a:rPr>
                        <a:t>    // invoke the constructor of base classes</a:t>
                      </a:r>
                    </a:p>
                    <a:p>
                      <a:pPr>
                        <a:buNone/>
                      </a:pPr>
                      <a:r>
                        <a:rPr lang="en-US" sz="1800" b="0" dirty="0">
                          <a:solidFill>
                            <a:schemeClr val="tx1"/>
                          </a:solidFill>
                          <a:latin typeface="Times New Roman" pitchFamily="18" charset="0"/>
                          <a:cs typeface="Times New Roman" pitchFamily="18" charset="0"/>
                        </a:rPr>
                        <a:t>    Car obj;</a:t>
                      </a:r>
                    </a:p>
                    <a:p>
                      <a:pPr>
                        <a:buNone/>
                      </a:pPr>
                      <a:r>
                        <a:rPr lang="en-US" sz="1800" b="0" dirty="0">
                          <a:solidFill>
                            <a:schemeClr val="tx1"/>
                          </a:solidFill>
                          <a:latin typeface="Times New Roman" pitchFamily="18" charset="0"/>
                          <a:cs typeface="Times New Roman" pitchFamily="18" charset="0"/>
                        </a:rPr>
                        <a:t>    return 0;</a:t>
                      </a:r>
                    </a:p>
                    <a:p>
                      <a:pPr>
                        <a:buNone/>
                      </a:pPr>
                      <a:r>
                        <a:rPr lang="en-US" sz="1800" b="0" dirty="0">
                          <a:solidFill>
                            <a:schemeClr val="tx1"/>
                          </a:solidFill>
                          <a:latin typeface="Times New Roman" pitchFamily="18" charset="0"/>
                          <a:cs typeface="Times New Roman" pitchFamily="18" charset="0"/>
                        </a:rPr>
                        <a:t>}</a:t>
                      </a:r>
                      <a:endParaRPr lang="en-US" sz="1600" b="0" dirty="0">
                        <a:solidFill>
                          <a:schemeClr val="tx1"/>
                        </a:solidFill>
                        <a:latin typeface="Times New Roman" pitchFamily="18" charset="0"/>
                        <a:cs typeface="Times New Roman" pitchFamily="18" charset="0"/>
                      </a:endParaRPr>
                    </a:p>
                    <a:p>
                      <a:endParaRPr lang="en-US" b="0" dirty="0">
                        <a:solidFill>
                          <a:schemeClr val="tx1"/>
                        </a:solidFill>
                      </a:endParaRPr>
                    </a:p>
                  </a:txBody>
                  <a:tcPr>
                    <a:solidFill>
                      <a:schemeClr val="bg1"/>
                    </a:solidFill>
                  </a:tcPr>
                </a:tc>
                <a:extLst>
                  <a:ext uri="{0D108BD9-81ED-4DB2-BD59-A6C34878D82A}">
                    <a16:rowId xmlns:a16="http://schemas.microsoft.com/office/drawing/2014/main" val="3890813601"/>
                  </a:ext>
                </a:extLst>
              </a:tr>
            </a:tbl>
          </a:graphicData>
        </a:graphic>
      </p:graphicFrame>
      <p:cxnSp>
        <p:nvCxnSpPr>
          <p:cNvPr id="14" name="Straight Connector 13">
            <a:extLst>
              <a:ext uri="{FF2B5EF4-FFF2-40B4-BE49-F238E27FC236}">
                <a16:creationId xmlns:a16="http://schemas.microsoft.com/office/drawing/2014/main" id="{452F51F4-6D77-6389-3D53-F9FF5BC311F5}"/>
              </a:ext>
            </a:extLst>
          </p:cNvPr>
          <p:cNvCxnSpPr>
            <a:cxnSpLocks/>
          </p:cNvCxnSpPr>
          <p:nvPr/>
        </p:nvCxnSpPr>
        <p:spPr>
          <a:xfrm>
            <a:off x="5846323" y="2315184"/>
            <a:ext cx="77822" cy="37840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347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ACA0B-7828-F998-9BB1-CBEB2F9B1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A306F-4411-0F17-343A-77DE1A9ECB4F}"/>
              </a:ext>
            </a:extLst>
          </p:cNvPr>
          <p:cNvSpPr>
            <a:spLocks noGrp="1"/>
          </p:cNvSpPr>
          <p:nvPr>
            <p:ph type="title"/>
          </p:nvPr>
        </p:nvSpPr>
        <p:spPr/>
        <p:txBody>
          <a:bodyPr/>
          <a:lstStyle/>
          <a:p>
            <a:r>
              <a:rPr lang="en-US" b="1" dirty="0"/>
              <a:t>Multilevel inheritance</a:t>
            </a:r>
            <a:endParaRPr lang="en-IN" dirty="0"/>
          </a:p>
        </p:txBody>
      </p:sp>
      <p:sp>
        <p:nvSpPr>
          <p:cNvPr id="3" name="Content Placeholder 2">
            <a:extLst>
              <a:ext uri="{FF2B5EF4-FFF2-40B4-BE49-F238E27FC236}">
                <a16:creationId xmlns:a16="http://schemas.microsoft.com/office/drawing/2014/main" id="{03CFF7E3-C000-5F86-5766-98D6A3EB653F}"/>
              </a:ext>
            </a:extLst>
          </p:cNvPr>
          <p:cNvSpPr>
            <a:spLocks noGrp="1"/>
          </p:cNvSpPr>
          <p:nvPr>
            <p:ph idx="1"/>
          </p:nvPr>
        </p:nvSpPr>
        <p:spPr>
          <a:xfrm>
            <a:off x="1154954" y="2603500"/>
            <a:ext cx="11037046" cy="3416300"/>
          </a:xfrm>
        </p:spPr>
        <p:txBody>
          <a:bodyPr>
            <a:normAutofit/>
          </a:bodyPr>
          <a:lstStyle/>
          <a:p>
            <a:pPr algn="just"/>
            <a:r>
              <a:rPr lang="en-US" sz="2000" b="1" dirty="0"/>
              <a:t>Multilevel inheritance: </a:t>
            </a:r>
            <a:r>
              <a:rPr lang="en-US" sz="2000" dirty="0"/>
              <a:t>If a class is derived from another derived class, then it is called multilevel inheritance. So, in C++ multilevel inheritance, a class has more than one parent class.</a:t>
            </a:r>
            <a:endParaRPr lang="en-US" sz="2000" b="1" dirty="0"/>
          </a:p>
          <a:p>
            <a:pPr marL="0" indent="0">
              <a:buNone/>
            </a:pPr>
            <a:endParaRPr lang="en-US" b="1" dirty="0"/>
          </a:p>
        </p:txBody>
      </p:sp>
      <p:sp>
        <p:nvSpPr>
          <p:cNvPr id="4" name="Slide Number Placeholder 3">
            <a:extLst>
              <a:ext uri="{FF2B5EF4-FFF2-40B4-BE49-F238E27FC236}">
                <a16:creationId xmlns:a16="http://schemas.microsoft.com/office/drawing/2014/main" id="{8355333A-4200-7D2B-FB58-F041276441E9}"/>
              </a:ext>
            </a:extLst>
          </p:cNvPr>
          <p:cNvSpPr>
            <a:spLocks noGrp="1"/>
          </p:cNvSpPr>
          <p:nvPr>
            <p:ph type="sldNum" sz="quarter" idx="12"/>
          </p:nvPr>
        </p:nvSpPr>
        <p:spPr/>
        <p:txBody>
          <a:bodyPr/>
          <a:lstStyle/>
          <a:p>
            <a:fld id="{A3774F31-BE14-4E8C-94BE-1981B0E7CCE6}" type="slidenum">
              <a:rPr lang="en-IN" smtClean="0"/>
              <a:t>18</a:t>
            </a:fld>
            <a:endParaRPr lang="en-IN"/>
          </a:p>
        </p:txBody>
      </p:sp>
      <p:sp>
        <p:nvSpPr>
          <p:cNvPr id="5" name="Footer Placeholder 4">
            <a:extLst>
              <a:ext uri="{FF2B5EF4-FFF2-40B4-BE49-F238E27FC236}">
                <a16:creationId xmlns:a16="http://schemas.microsoft.com/office/drawing/2014/main" id="{7FC6F7AA-8194-FA88-F495-1B45EB2DCA18}"/>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B11080FD-765F-1DE3-8989-CE8372DB499D}"/>
              </a:ext>
            </a:extLst>
          </p:cNvPr>
          <p:cNvSpPr>
            <a:spLocks noGrp="1"/>
          </p:cNvSpPr>
          <p:nvPr>
            <p:ph type="dt" sz="half" idx="10"/>
          </p:nvPr>
        </p:nvSpPr>
        <p:spPr/>
        <p:txBody>
          <a:bodyPr/>
          <a:lstStyle/>
          <a:p>
            <a:fld id="{B2BA25A5-0BDA-48F4-958B-8CD0618E3AF7}" type="datetime5">
              <a:rPr lang="en-IN" smtClean="0"/>
              <a:t>30-Aug-25</a:t>
            </a:fld>
            <a:endParaRPr lang="en-IN"/>
          </a:p>
        </p:txBody>
      </p:sp>
      <p:pic>
        <p:nvPicPr>
          <p:cNvPr id="7" name="Picture 6">
            <a:extLst>
              <a:ext uri="{FF2B5EF4-FFF2-40B4-BE49-F238E27FC236}">
                <a16:creationId xmlns:a16="http://schemas.microsoft.com/office/drawing/2014/main" id="{14F14AEE-1747-A5BF-793D-08518CC67EA0}"/>
              </a:ext>
            </a:extLst>
          </p:cNvPr>
          <p:cNvPicPr>
            <a:picLocks noChangeAspect="1" noChangeArrowheads="1"/>
          </p:cNvPicPr>
          <p:nvPr/>
        </p:nvPicPr>
        <p:blipFill>
          <a:blip r:embed="rId2"/>
          <a:srcRect/>
          <a:stretch>
            <a:fillRect/>
          </a:stretch>
        </p:blipFill>
        <p:spPr bwMode="auto">
          <a:xfrm>
            <a:off x="3871609" y="3437694"/>
            <a:ext cx="5154038" cy="2954144"/>
          </a:xfrm>
          <a:prstGeom prst="rect">
            <a:avLst/>
          </a:prstGeom>
          <a:noFill/>
        </p:spPr>
      </p:pic>
    </p:spTree>
    <p:extLst>
      <p:ext uri="{BB962C8B-B14F-4D97-AF65-F5344CB8AC3E}">
        <p14:creationId xmlns:p14="http://schemas.microsoft.com/office/powerpoint/2010/main" val="2630922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FACE1-924F-1A32-0FDB-B427D6BA6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EEA7D-4693-52BC-F64C-C9C4A5B3BF24}"/>
              </a:ext>
            </a:extLst>
          </p:cNvPr>
          <p:cNvSpPr>
            <a:spLocks noGrp="1"/>
          </p:cNvSpPr>
          <p:nvPr>
            <p:ph type="title"/>
          </p:nvPr>
        </p:nvSpPr>
        <p:spPr/>
        <p:txBody>
          <a:bodyPr/>
          <a:lstStyle/>
          <a:p>
            <a:r>
              <a:rPr lang="en-US" b="1" dirty="0"/>
              <a:t>Multilevel inheritance</a:t>
            </a:r>
            <a:endParaRPr lang="en-IN" dirty="0"/>
          </a:p>
        </p:txBody>
      </p:sp>
      <p:sp>
        <p:nvSpPr>
          <p:cNvPr id="4" name="Slide Number Placeholder 3">
            <a:extLst>
              <a:ext uri="{FF2B5EF4-FFF2-40B4-BE49-F238E27FC236}">
                <a16:creationId xmlns:a16="http://schemas.microsoft.com/office/drawing/2014/main" id="{735B078A-E4D2-4EE7-519C-A2DBA64F96EF}"/>
              </a:ext>
            </a:extLst>
          </p:cNvPr>
          <p:cNvSpPr>
            <a:spLocks noGrp="1"/>
          </p:cNvSpPr>
          <p:nvPr>
            <p:ph type="sldNum" sz="quarter" idx="12"/>
          </p:nvPr>
        </p:nvSpPr>
        <p:spPr/>
        <p:txBody>
          <a:bodyPr/>
          <a:lstStyle/>
          <a:p>
            <a:fld id="{A3774F31-BE14-4E8C-94BE-1981B0E7CCE6}" type="slidenum">
              <a:rPr lang="en-IN" smtClean="0"/>
              <a:t>19</a:t>
            </a:fld>
            <a:endParaRPr lang="en-IN"/>
          </a:p>
        </p:txBody>
      </p:sp>
      <p:sp>
        <p:nvSpPr>
          <p:cNvPr id="5" name="Footer Placeholder 4">
            <a:extLst>
              <a:ext uri="{FF2B5EF4-FFF2-40B4-BE49-F238E27FC236}">
                <a16:creationId xmlns:a16="http://schemas.microsoft.com/office/drawing/2014/main" id="{327DB261-554E-B497-8F6A-745ABEE5D2BB}"/>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56E31632-F025-F14F-96E4-155940A23A53}"/>
              </a:ext>
            </a:extLst>
          </p:cNvPr>
          <p:cNvSpPr>
            <a:spLocks noGrp="1"/>
          </p:cNvSpPr>
          <p:nvPr>
            <p:ph type="dt" sz="half" idx="10"/>
          </p:nvPr>
        </p:nvSpPr>
        <p:spPr/>
        <p:txBody>
          <a:bodyPr/>
          <a:lstStyle/>
          <a:p>
            <a:fld id="{B2BA25A5-0BDA-48F4-958B-8CD0618E3AF7}" type="datetime5">
              <a:rPr lang="en-IN" smtClean="0"/>
              <a:t>30-Aug-25</a:t>
            </a:fld>
            <a:endParaRPr lang="en-IN"/>
          </a:p>
        </p:txBody>
      </p:sp>
      <p:sp>
        <p:nvSpPr>
          <p:cNvPr id="8" name="TextBox 7">
            <a:extLst>
              <a:ext uri="{FF2B5EF4-FFF2-40B4-BE49-F238E27FC236}">
                <a16:creationId xmlns:a16="http://schemas.microsoft.com/office/drawing/2014/main" id="{479B643A-5AF4-CF5B-D07B-95B83EE6CFEC}"/>
              </a:ext>
            </a:extLst>
          </p:cNvPr>
          <p:cNvSpPr txBox="1"/>
          <p:nvPr/>
        </p:nvSpPr>
        <p:spPr>
          <a:xfrm>
            <a:off x="671209" y="2393004"/>
            <a:ext cx="5661497" cy="3970318"/>
          </a:xfrm>
          <a:prstGeom prst="rect">
            <a:avLst/>
          </a:prstGeom>
          <a:noFill/>
        </p:spPr>
        <p:txBody>
          <a:bodyPr wrap="square" rtlCol="0">
            <a:spAutoFit/>
          </a:bodyPr>
          <a:lstStyle/>
          <a:p>
            <a:pPr>
              <a:buNone/>
            </a:pPr>
            <a:r>
              <a:rPr lang="en-US" b="1" dirty="0">
                <a:solidFill>
                  <a:schemeClr val="accent2"/>
                </a:solidFill>
                <a:latin typeface="Times New Roman" pitchFamily="18" charset="0"/>
                <a:cs typeface="Times New Roman" pitchFamily="18" charset="0"/>
              </a:rPr>
              <a:t>// base class</a:t>
            </a:r>
          </a:p>
          <a:p>
            <a:pPr>
              <a:buNone/>
            </a:pPr>
            <a:r>
              <a:rPr lang="en-US" dirty="0">
                <a:latin typeface="Times New Roman" pitchFamily="18" charset="0"/>
                <a:cs typeface="Times New Roman" pitchFamily="18" charset="0"/>
              </a:rPr>
              <a:t>class Vehicle </a:t>
            </a:r>
          </a:p>
          <a:p>
            <a:pPr>
              <a:buNone/>
            </a:pP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public:</a:t>
            </a:r>
          </a:p>
          <a:p>
            <a:pPr>
              <a:buNone/>
            </a:pPr>
            <a:r>
              <a:rPr lang="en-US" dirty="0">
                <a:latin typeface="Times New Roman" pitchFamily="18" charset="0"/>
                <a:cs typeface="Times New Roman" pitchFamily="18" charset="0"/>
              </a:rPr>
              <a:t>    Vehicle()</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"This is a Vehicle"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    };</a:t>
            </a:r>
          </a:p>
          <a:p>
            <a:pPr>
              <a:buNone/>
            </a:pPr>
            <a:r>
              <a:rPr lang="en-US" dirty="0">
                <a:latin typeface="Times New Roman" pitchFamily="18" charset="0"/>
                <a:cs typeface="Times New Roman" pitchFamily="18" charset="0"/>
              </a:rPr>
              <a:t>class </a:t>
            </a:r>
            <a:r>
              <a:rPr lang="en-US" dirty="0" err="1">
                <a:latin typeface="Times New Roman" pitchFamily="18" charset="0"/>
                <a:cs typeface="Times New Roman" pitchFamily="18" charset="0"/>
              </a:rPr>
              <a:t>fourWheeler</a:t>
            </a:r>
            <a:r>
              <a:rPr lang="en-US" dirty="0">
                <a:latin typeface="Times New Roman" pitchFamily="18" charset="0"/>
                <a:cs typeface="Times New Roman" pitchFamily="18" charset="0"/>
              </a:rPr>
              <a:t>: public Vehicle</a:t>
            </a:r>
          </a:p>
          <a:p>
            <a:pPr>
              <a:buNone/>
            </a:pPr>
            <a:r>
              <a:rPr lang="en-US" dirty="0">
                <a:latin typeface="Times New Roman" pitchFamily="18" charset="0"/>
                <a:cs typeface="Times New Roman" pitchFamily="18" charset="0"/>
              </a:rPr>
              <a:t>{  public:</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fourWheeler</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&lt;&lt;"Objects with 4 wheels are vehicles"&lt;&lt;</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   };</a:t>
            </a:r>
          </a:p>
        </p:txBody>
      </p:sp>
      <p:sp>
        <p:nvSpPr>
          <p:cNvPr id="9" name="TextBox 8">
            <a:extLst>
              <a:ext uri="{FF2B5EF4-FFF2-40B4-BE49-F238E27FC236}">
                <a16:creationId xmlns:a16="http://schemas.microsoft.com/office/drawing/2014/main" id="{F8550190-F9D0-AF09-4274-F4856E0E3F05}"/>
              </a:ext>
            </a:extLst>
          </p:cNvPr>
          <p:cNvSpPr txBox="1"/>
          <p:nvPr/>
        </p:nvSpPr>
        <p:spPr>
          <a:xfrm>
            <a:off x="6682903" y="2393004"/>
            <a:ext cx="5509097" cy="4125961"/>
          </a:xfrm>
          <a:prstGeom prst="rect">
            <a:avLst/>
          </a:prstGeom>
          <a:noFill/>
        </p:spPr>
        <p:txBody>
          <a:bodyPr wrap="square" rtlCol="0">
            <a:spAutoFit/>
          </a:bodyPr>
          <a:lstStyle/>
          <a:p>
            <a:pPr>
              <a:buNone/>
            </a:pPr>
            <a:r>
              <a:rPr lang="en-US" b="1" dirty="0">
                <a:solidFill>
                  <a:schemeClr val="accent2"/>
                </a:solidFill>
                <a:latin typeface="Times New Roman" pitchFamily="18" charset="0"/>
                <a:cs typeface="Times New Roman" pitchFamily="18" charset="0"/>
              </a:rPr>
              <a:t>//subclass derived from two base classes</a:t>
            </a:r>
          </a:p>
          <a:p>
            <a:pPr>
              <a:buNone/>
            </a:pPr>
            <a:r>
              <a:rPr lang="en-US" dirty="0">
                <a:latin typeface="Times New Roman" pitchFamily="18" charset="0"/>
                <a:cs typeface="Times New Roman" pitchFamily="18" charset="0"/>
              </a:rPr>
              <a:t>class Car: public </a:t>
            </a:r>
            <a:r>
              <a:rPr lang="en-US" dirty="0" err="1">
                <a:latin typeface="Times New Roman" pitchFamily="18" charset="0"/>
                <a:cs typeface="Times New Roman" pitchFamily="18" charset="0"/>
              </a:rPr>
              <a:t>fourWheeler</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public:</a:t>
            </a:r>
          </a:p>
          <a:p>
            <a:pPr>
              <a:buNone/>
            </a:pPr>
            <a:r>
              <a:rPr lang="en-US" dirty="0">
                <a:latin typeface="Times New Roman" pitchFamily="18" charset="0"/>
                <a:cs typeface="Times New Roman" pitchFamily="18" charset="0"/>
              </a:rPr>
              <a:t>     car()</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&lt;&lt;"Car has 4 Wheels"&lt;&lt;</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   };</a:t>
            </a:r>
          </a:p>
          <a:p>
            <a:pPr>
              <a:buNone/>
            </a:pPr>
            <a:r>
              <a:rPr lang="en-US" b="1" dirty="0">
                <a:solidFill>
                  <a:schemeClr val="accent2"/>
                </a:solidFill>
                <a:latin typeface="Times New Roman" pitchFamily="18" charset="0"/>
                <a:cs typeface="Times New Roman" pitchFamily="18" charset="0"/>
              </a:rPr>
              <a:t>// main function</a:t>
            </a:r>
          </a:p>
          <a:p>
            <a:pPr>
              <a:buNone/>
            </a:pPr>
            <a:r>
              <a:rPr lang="en-US" dirty="0">
                <a:latin typeface="Times New Roman" pitchFamily="18" charset="0"/>
                <a:cs typeface="Times New Roman" pitchFamily="18" charset="0"/>
              </a:rPr>
              <a:t>int main()</a:t>
            </a:r>
          </a:p>
          <a:p>
            <a:pPr>
              <a:buNone/>
            </a:pPr>
            <a:r>
              <a:rPr lang="en-US" dirty="0">
                <a:latin typeface="Times New Roman" pitchFamily="18" charset="0"/>
                <a:cs typeface="Times New Roman" pitchFamily="18" charset="0"/>
              </a:rPr>
              <a:t>{   </a:t>
            </a:r>
          </a:p>
          <a:p>
            <a:pPr>
              <a:buNone/>
            </a:pPr>
            <a:r>
              <a:rPr lang="en-US" b="1"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//Creating an object of a subclass will     invoke the constructor of the base classes</a:t>
            </a:r>
          </a:p>
          <a:p>
            <a:pPr>
              <a:buNone/>
            </a:pPr>
            <a:r>
              <a:rPr lang="en-US" dirty="0">
                <a:latin typeface="Times New Roman" pitchFamily="18" charset="0"/>
                <a:cs typeface="Times New Roman" pitchFamily="18" charset="0"/>
              </a:rPr>
              <a:t>    Car obj;     return 0;       }</a:t>
            </a:r>
          </a:p>
          <a:p>
            <a:endParaRPr lang="en-US" dirty="0"/>
          </a:p>
        </p:txBody>
      </p:sp>
      <p:cxnSp>
        <p:nvCxnSpPr>
          <p:cNvPr id="11" name="Straight Connector 10">
            <a:extLst>
              <a:ext uri="{FF2B5EF4-FFF2-40B4-BE49-F238E27FC236}">
                <a16:creationId xmlns:a16="http://schemas.microsoft.com/office/drawing/2014/main" id="{A55BA93C-D73E-CED2-AFCC-7F5D5E0FB577}"/>
              </a:ext>
            </a:extLst>
          </p:cNvPr>
          <p:cNvCxnSpPr/>
          <p:nvPr/>
        </p:nvCxnSpPr>
        <p:spPr>
          <a:xfrm>
            <a:off x="6332706" y="2247089"/>
            <a:ext cx="97277" cy="46109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453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A820D-ED21-2037-71C7-DA641C1A1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9157E-7182-3DCE-C512-EF5EF6FEF9C7}"/>
              </a:ext>
            </a:extLst>
          </p:cNvPr>
          <p:cNvSpPr>
            <a:spLocks noGrp="1"/>
          </p:cNvSpPr>
          <p:nvPr>
            <p:ph type="title"/>
          </p:nvPr>
        </p:nvSpPr>
        <p:spPr/>
        <p:txBody>
          <a:bodyPr/>
          <a:lstStyle/>
          <a:p>
            <a:r>
              <a:rPr lang="en-US" b="1" dirty="0"/>
              <a:t>Hierarchical inheritance</a:t>
            </a:r>
            <a:endParaRPr lang="en-IN" dirty="0"/>
          </a:p>
        </p:txBody>
      </p:sp>
      <p:sp>
        <p:nvSpPr>
          <p:cNvPr id="3" name="Content Placeholder 2">
            <a:extLst>
              <a:ext uri="{FF2B5EF4-FFF2-40B4-BE49-F238E27FC236}">
                <a16:creationId xmlns:a16="http://schemas.microsoft.com/office/drawing/2014/main" id="{1880C700-1370-0507-8CEF-9A62751A8447}"/>
              </a:ext>
            </a:extLst>
          </p:cNvPr>
          <p:cNvSpPr>
            <a:spLocks noGrp="1"/>
          </p:cNvSpPr>
          <p:nvPr>
            <p:ph idx="1"/>
          </p:nvPr>
        </p:nvSpPr>
        <p:spPr>
          <a:xfrm>
            <a:off x="1154954" y="2603500"/>
            <a:ext cx="11037046" cy="3416300"/>
          </a:xfrm>
        </p:spPr>
        <p:txBody>
          <a:bodyPr>
            <a:normAutofit/>
          </a:bodyPr>
          <a:lstStyle/>
          <a:p>
            <a:pPr algn="just"/>
            <a:r>
              <a:rPr lang="en-US" sz="2000" b="1" dirty="0"/>
              <a:t>Hierarchical inheritance:</a:t>
            </a:r>
            <a:r>
              <a:rPr lang="en-US" sz="2000" dirty="0"/>
              <a:t> When several classes are derived from a common base class, it is called hierarchical inheritance. In C++ hierarchical inheritance, the feature of the base class is inherited by more than one subclass.</a:t>
            </a:r>
          </a:p>
          <a:p>
            <a:pPr algn="just"/>
            <a:endParaRPr lang="en-US" sz="2000" dirty="0"/>
          </a:p>
          <a:p>
            <a:pPr marL="0" indent="0">
              <a:buNone/>
            </a:pPr>
            <a:endParaRPr lang="en-US" b="1" dirty="0"/>
          </a:p>
        </p:txBody>
      </p:sp>
      <p:sp>
        <p:nvSpPr>
          <p:cNvPr id="4" name="Slide Number Placeholder 3">
            <a:extLst>
              <a:ext uri="{FF2B5EF4-FFF2-40B4-BE49-F238E27FC236}">
                <a16:creationId xmlns:a16="http://schemas.microsoft.com/office/drawing/2014/main" id="{A20CD34C-9EE6-44D4-F1B8-CE0509AA40C1}"/>
              </a:ext>
            </a:extLst>
          </p:cNvPr>
          <p:cNvSpPr>
            <a:spLocks noGrp="1"/>
          </p:cNvSpPr>
          <p:nvPr>
            <p:ph type="sldNum" sz="quarter" idx="12"/>
          </p:nvPr>
        </p:nvSpPr>
        <p:spPr/>
        <p:txBody>
          <a:bodyPr/>
          <a:lstStyle/>
          <a:p>
            <a:fld id="{A3774F31-BE14-4E8C-94BE-1981B0E7CCE6}" type="slidenum">
              <a:rPr lang="en-IN" smtClean="0"/>
              <a:t>20</a:t>
            </a:fld>
            <a:endParaRPr lang="en-IN"/>
          </a:p>
        </p:txBody>
      </p:sp>
      <p:sp>
        <p:nvSpPr>
          <p:cNvPr id="5" name="Footer Placeholder 4">
            <a:extLst>
              <a:ext uri="{FF2B5EF4-FFF2-40B4-BE49-F238E27FC236}">
                <a16:creationId xmlns:a16="http://schemas.microsoft.com/office/drawing/2014/main" id="{9E1553C5-AB3E-C5AB-CB0C-97521C37C440}"/>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7C745632-316B-7F3C-6027-DE8394A6764E}"/>
              </a:ext>
            </a:extLst>
          </p:cNvPr>
          <p:cNvSpPr>
            <a:spLocks noGrp="1"/>
          </p:cNvSpPr>
          <p:nvPr>
            <p:ph type="dt" sz="half" idx="10"/>
          </p:nvPr>
        </p:nvSpPr>
        <p:spPr/>
        <p:txBody>
          <a:bodyPr/>
          <a:lstStyle/>
          <a:p>
            <a:fld id="{B2BA25A5-0BDA-48F4-958B-8CD0618E3AF7}" type="datetime5">
              <a:rPr lang="en-IN" smtClean="0"/>
              <a:t>30-Aug-25</a:t>
            </a:fld>
            <a:endParaRPr lang="en-IN"/>
          </a:p>
        </p:txBody>
      </p:sp>
      <p:pic>
        <p:nvPicPr>
          <p:cNvPr id="7" name="Picture 6">
            <a:extLst>
              <a:ext uri="{FF2B5EF4-FFF2-40B4-BE49-F238E27FC236}">
                <a16:creationId xmlns:a16="http://schemas.microsoft.com/office/drawing/2014/main" id="{19454336-180D-FAA2-0A1E-4AEC9B558D55}"/>
              </a:ext>
            </a:extLst>
          </p:cNvPr>
          <p:cNvPicPr>
            <a:picLocks noChangeAspect="1" noChangeArrowheads="1"/>
          </p:cNvPicPr>
          <p:nvPr/>
        </p:nvPicPr>
        <p:blipFill>
          <a:blip r:embed="rId2"/>
          <a:srcRect/>
          <a:stretch>
            <a:fillRect/>
          </a:stretch>
        </p:blipFill>
        <p:spPr bwMode="auto">
          <a:xfrm>
            <a:off x="2349953" y="3915282"/>
            <a:ext cx="8002587" cy="2128837"/>
          </a:xfrm>
          <a:prstGeom prst="rect">
            <a:avLst/>
          </a:prstGeom>
          <a:noFill/>
        </p:spPr>
      </p:pic>
    </p:spTree>
    <p:extLst>
      <p:ext uri="{BB962C8B-B14F-4D97-AF65-F5344CB8AC3E}">
        <p14:creationId xmlns:p14="http://schemas.microsoft.com/office/powerpoint/2010/main" val="367371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AD931-B675-4ADA-108B-66F37E6A2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55DFB-9A66-7BC9-99E2-1B851E6E5E05}"/>
              </a:ext>
            </a:extLst>
          </p:cNvPr>
          <p:cNvSpPr>
            <a:spLocks noGrp="1"/>
          </p:cNvSpPr>
          <p:nvPr>
            <p:ph type="title"/>
          </p:nvPr>
        </p:nvSpPr>
        <p:spPr/>
        <p:txBody>
          <a:bodyPr/>
          <a:lstStyle/>
          <a:p>
            <a:r>
              <a:rPr lang="en-US" b="1" dirty="0"/>
              <a:t>Hierarchical inheritance</a:t>
            </a:r>
            <a:endParaRPr lang="en-IN" dirty="0"/>
          </a:p>
        </p:txBody>
      </p:sp>
      <p:sp>
        <p:nvSpPr>
          <p:cNvPr id="4" name="Slide Number Placeholder 3">
            <a:extLst>
              <a:ext uri="{FF2B5EF4-FFF2-40B4-BE49-F238E27FC236}">
                <a16:creationId xmlns:a16="http://schemas.microsoft.com/office/drawing/2014/main" id="{37348E9B-531A-D3A8-46B0-629D9DCE1622}"/>
              </a:ext>
            </a:extLst>
          </p:cNvPr>
          <p:cNvSpPr>
            <a:spLocks noGrp="1"/>
          </p:cNvSpPr>
          <p:nvPr>
            <p:ph type="sldNum" sz="quarter" idx="12"/>
          </p:nvPr>
        </p:nvSpPr>
        <p:spPr/>
        <p:txBody>
          <a:bodyPr/>
          <a:lstStyle/>
          <a:p>
            <a:fld id="{A3774F31-BE14-4E8C-94BE-1981B0E7CCE6}" type="slidenum">
              <a:rPr lang="en-IN" smtClean="0"/>
              <a:t>21</a:t>
            </a:fld>
            <a:endParaRPr lang="en-IN"/>
          </a:p>
        </p:txBody>
      </p:sp>
      <p:sp>
        <p:nvSpPr>
          <p:cNvPr id="5" name="Footer Placeholder 4">
            <a:extLst>
              <a:ext uri="{FF2B5EF4-FFF2-40B4-BE49-F238E27FC236}">
                <a16:creationId xmlns:a16="http://schemas.microsoft.com/office/drawing/2014/main" id="{A6170D63-2400-58DA-1423-8AA3F0A1CB72}"/>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27887FF8-3B29-C46B-8DFC-B730B91035A4}"/>
              </a:ext>
            </a:extLst>
          </p:cNvPr>
          <p:cNvSpPr>
            <a:spLocks noGrp="1"/>
          </p:cNvSpPr>
          <p:nvPr>
            <p:ph type="dt" sz="half" idx="10"/>
          </p:nvPr>
        </p:nvSpPr>
        <p:spPr/>
        <p:txBody>
          <a:bodyPr/>
          <a:lstStyle/>
          <a:p>
            <a:fld id="{B2BA25A5-0BDA-48F4-958B-8CD0618E3AF7}" type="datetime5">
              <a:rPr lang="en-IN" smtClean="0"/>
              <a:t>30-Aug-25</a:t>
            </a:fld>
            <a:endParaRPr lang="en-IN"/>
          </a:p>
        </p:txBody>
      </p:sp>
      <p:sp>
        <p:nvSpPr>
          <p:cNvPr id="10" name="TextBox 9">
            <a:extLst>
              <a:ext uri="{FF2B5EF4-FFF2-40B4-BE49-F238E27FC236}">
                <a16:creationId xmlns:a16="http://schemas.microsoft.com/office/drawing/2014/main" id="{C23B8FE2-9EDD-0290-48F8-057C8D8CF7BE}"/>
              </a:ext>
            </a:extLst>
          </p:cNvPr>
          <p:cNvSpPr txBox="1"/>
          <p:nvPr/>
        </p:nvSpPr>
        <p:spPr>
          <a:xfrm>
            <a:off x="262647" y="2334638"/>
            <a:ext cx="4503906" cy="3416320"/>
          </a:xfrm>
          <a:prstGeom prst="rect">
            <a:avLst/>
          </a:prstGeom>
          <a:noFill/>
        </p:spPr>
        <p:txBody>
          <a:bodyPr wrap="square" rtlCol="0">
            <a:spAutoFit/>
          </a:bodyPr>
          <a:lstStyle/>
          <a:p>
            <a:pPr>
              <a:buNone/>
            </a:pPr>
            <a:r>
              <a:rPr lang="en-US" b="1" dirty="0">
                <a:solidFill>
                  <a:schemeClr val="accent2"/>
                </a:solidFill>
                <a:latin typeface="Times New Roman" pitchFamily="18" charset="0"/>
                <a:cs typeface="Times New Roman" pitchFamily="18" charset="0"/>
              </a:rPr>
              <a:t>// base class</a:t>
            </a:r>
          </a:p>
          <a:p>
            <a:pPr>
              <a:buNone/>
            </a:pPr>
            <a:r>
              <a:rPr lang="en-US" dirty="0">
                <a:latin typeface="Times New Roman" pitchFamily="18" charset="0"/>
                <a:cs typeface="Times New Roman" pitchFamily="18" charset="0"/>
              </a:rPr>
              <a:t>class Vehicle </a:t>
            </a:r>
          </a:p>
          <a:p>
            <a:pPr>
              <a:buNone/>
            </a:pP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public:</a:t>
            </a:r>
          </a:p>
          <a:p>
            <a:pPr>
              <a:buNone/>
            </a:pPr>
            <a:r>
              <a:rPr lang="en-US" dirty="0">
                <a:latin typeface="Times New Roman" pitchFamily="18" charset="0"/>
                <a:cs typeface="Times New Roman" pitchFamily="18" charset="0"/>
              </a:rPr>
              <a:t>    Vehicle()</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"This is a Vehicle"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pPr>
              <a:buNone/>
            </a:pPr>
            <a:r>
              <a:rPr lang="en-US" dirty="0">
                <a:latin typeface="Times New Roman" pitchFamily="18" charset="0"/>
                <a:cs typeface="Times New Roman" pitchFamily="18" charset="0"/>
              </a:rPr>
              <a:t>    }    };</a:t>
            </a:r>
          </a:p>
          <a:p>
            <a:pPr>
              <a:buNone/>
            </a:pP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 first sub class </a:t>
            </a:r>
          </a:p>
          <a:p>
            <a:pPr>
              <a:buNone/>
            </a:pPr>
            <a:r>
              <a:rPr lang="en-US" dirty="0">
                <a:latin typeface="Times New Roman" pitchFamily="18" charset="0"/>
                <a:cs typeface="Times New Roman" pitchFamily="18" charset="0"/>
              </a:rPr>
              <a:t>class Car: public Vehicle</a:t>
            </a:r>
          </a:p>
          <a:p>
            <a:pPr>
              <a:buNone/>
            </a:pPr>
            <a:r>
              <a:rPr lang="en-US" dirty="0">
                <a:latin typeface="Times New Roman" pitchFamily="18" charset="0"/>
                <a:cs typeface="Times New Roman" pitchFamily="18" charset="0"/>
              </a:rPr>
              <a:t>{     };</a:t>
            </a:r>
          </a:p>
          <a:p>
            <a:endParaRPr lang="en-US" dirty="0"/>
          </a:p>
        </p:txBody>
      </p:sp>
      <p:sp>
        <p:nvSpPr>
          <p:cNvPr id="11" name="TextBox 10">
            <a:extLst>
              <a:ext uri="{FF2B5EF4-FFF2-40B4-BE49-F238E27FC236}">
                <a16:creationId xmlns:a16="http://schemas.microsoft.com/office/drawing/2014/main" id="{59A7F01A-8927-73E9-2BEE-8E73FBB36720}"/>
              </a:ext>
            </a:extLst>
          </p:cNvPr>
          <p:cNvSpPr txBox="1"/>
          <p:nvPr/>
        </p:nvSpPr>
        <p:spPr>
          <a:xfrm>
            <a:off x="6527260" y="2568102"/>
            <a:ext cx="4663479" cy="3693319"/>
          </a:xfrm>
          <a:prstGeom prst="rect">
            <a:avLst/>
          </a:prstGeom>
          <a:noFill/>
        </p:spPr>
        <p:txBody>
          <a:bodyPr wrap="square" rtlCol="0">
            <a:spAutoFit/>
          </a:bodyPr>
          <a:lstStyle/>
          <a:p>
            <a:pPr>
              <a:buNone/>
            </a:pPr>
            <a:r>
              <a:rPr lang="en-US" b="1" dirty="0">
                <a:solidFill>
                  <a:schemeClr val="accent2"/>
                </a:solidFill>
                <a:latin typeface="Times New Roman" pitchFamily="18" charset="0"/>
                <a:cs typeface="Times New Roman" pitchFamily="18" charset="0"/>
              </a:rPr>
              <a:t>// second sub class</a:t>
            </a:r>
          </a:p>
          <a:p>
            <a:pPr>
              <a:buNone/>
            </a:pPr>
            <a:r>
              <a:rPr lang="en-US" dirty="0">
                <a:latin typeface="Times New Roman" pitchFamily="18" charset="0"/>
                <a:cs typeface="Times New Roman" pitchFamily="18" charset="0"/>
              </a:rPr>
              <a:t>class Bus: public Vehicle</a:t>
            </a:r>
          </a:p>
          <a:p>
            <a:pPr>
              <a:buNone/>
            </a:pPr>
            <a:r>
              <a:rPr lang="en-US" dirty="0">
                <a:latin typeface="Times New Roman" pitchFamily="18" charset="0"/>
                <a:cs typeface="Times New Roman" pitchFamily="18" charset="0"/>
              </a:rPr>
              <a:t>{     };</a:t>
            </a:r>
          </a:p>
          <a:p>
            <a:pPr>
              <a:buNone/>
            </a:pP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 main function</a:t>
            </a:r>
          </a:p>
          <a:p>
            <a:pPr>
              <a:buNone/>
            </a:pPr>
            <a:r>
              <a:rPr lang="en-US" dirty="0">
                <a:latin typeface="Times New Roman" pitchFamily="18" charset="0"/>
                <a:cs typeface="Times New Roman" pitchFamily="18" charset="0"/>
              </a:rPr>
              <a:t>int main()</a:t>
            </a:r>
          </a:p>
          <a:p>
            <a:pPr>
              <a:buNone/>
            </a:pPr>
            <a:r>
              <a:rPr lang="en-US" dirty="0">
                <a:latin typeface="Times New Roman" pitchFamily="18" charset="0"/>
                <a:cs typeface="Times New Roman" pitchFamily="18" charset="0"/>
              </a:rPr>
              <a:t>{   </a:t>
            </a:r>
          </a:p>
          <a:p>
            <a:pPr>
              <a:buNone/>
            </a:pPr>
            <a:r>
              <a:rPr lang="en-US" b="1" dirty="0">
                <a:solidFill>
                  <a:schemeClr val="accent2"/>
                </a:solidFill>
                <a:latin typeface="Times New Roman" pitchFamily="18" charset="0"/>
                <a:cs typeface="Times New Roman" pitchFamily="18" charset="0"/>
              </a:rPr>
              <a:t>    // creating object of sub class will</a:t>
            </a:r>
          </a:p>
          <a:p>
            <a:pPr>
              <a:buNone/>
            </a:pPr>
            <a:r>
              <a:rPr lang="en-US" b="1" dirty="0">
                <a:solidFill>
                  <a:schemeClr val="accent2"/>
                </a:solidFill>
                <a:latin typeface="Times New Roman" pitchFamily="18" charset="0"/>
                <a:cs typeface="Times New Roman" pitchFamily="18" charset="0"/>
              </a:rPr>
              <a:t>    // invoke the constructor of base class</a:t>
            </a:r>
          </a:p>
          <a:p>
            <a:pPr>
              <a:buNone/>
            </a:pPr>
            <a:r>
              <a:rPr lang="en-US" dirty="0">
                <a:latin typeface="Times New Roman" pitchFamily="18" charset="0"/>
                <a:cs typeface="Times New Roman" pitchFamily="18" charset="0"/>
              </a:rPr>
              <a:t>    Car obj1;</a:t>
            </a:r>
          </a:p>
          <a:p>
            <a:pPr>
              <a:buNone/>
            </a:pPr>
            <a:r>
              <a:rPr lang="en-US" dirty="0">
                <a:latin typeface="Times New Roman" pitchFamily="18" charset="0"/>
                <a:cs typeface="Times New Roman" pitchFamily="18" charset="0"/>
              </a:rPr>
              <a:t>    Bus obj2;   </a:t>
            </a:r>
          </a:p>
          <a:p>
            <a:pPr>
              <a:buNone/>
            </a:pPr>
            <a:r>
              <a:rPr lang="en-US" dirty="0">
                <a:latin typeface="Times New Roman" pitchFamily="18" charset="0"/>
                <a:cs typeface="Times New Roman" pitchFamily="18" charset="0"/>
              </a:rPr>
              <a:t>    return 0;</a:t>
            </a:r>
          </a:p>
          <a:p>
            <a:pPr>
              <a:buNone/>
            </a:pPr>
            <a:r>
              <a:rPr lang="en-US" dirty="0">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val="4220951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99E8E-5F4F-F47A-7EE7-508827C18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1F27A-6B62-7F8C-2B1A-8717EF2BB910}"/>
              </a:ext>
            </a:extLst>
          </p:cNvPr>
          <p:cNvSpPr>
            <a:spLocks noGrp="1"/>
          </p:cNvSpPr>
          <p:nvPr>
            <p:ph type="title"/>
          </p:nvPr>
        </p:nvSpPr>
        <p:spPr/>
        <p:txBody>
          <a:bodyPr/>
          <a:lstStyle/>
          <a:p>
            <a:r>
              <a:rPr lang="en-US" b="1" dirty="0"/>
              <a:t>Hybrid inheritance</a:t>
            </a:r>
            <a:endParaRPr lang="en-IN" dirty="0"/>
          </a:p>
        </p:txBody>
      </p:sp>
      <p:sp>
        <p:nvSpPr>
          <p:cNvPr id="3" name="Content Placeholder 2">
            <a:extLst>
              <a:ext uri="{FF2B5EF4-FFF2-40B4-BE49-F238E27FC236}">
                <a16:creationId xmlns:a16="http://schemas.microsoft.com/office/drawing/2014/main" id="{62CC0AD9-41EA-7222-9DF3-DCA750EBDBF3}"/>
              </a:ext>
            </a:extLst>
          </p:cNvPr>
          <p:cNvSpPr>
            <a:spLocks noGrp="1"/>
          </p:cNvSpPr>
          <p:nvPr>
            <p:ph idx="1"/>
          </p:nvPr>
        </p:nvSpPr>
        <p:spPr>
          <a:xfrm>
            <a:off x="1154954" y="2603500"/>
            <a:ext cx="10810067" cy="3416300"/>
          </a:xfrm>
        </p:spPr>
        <p:txBody>
          <a:bodyPr>
            <a:normAutofit/>
          </a:bodyPr>
          <a:lstStyle/>
          <a:p>
            <a:pPr algn="just"/>
            <a:r>
              <a:rPr lang="en-US" sz="2000" b="1" dirty="0"/>
              <a:t>Hybrid inheritance: </a:t>
            </a:r>
            <a:r>
              <a:rPr lang="en-US" sz="2000" dirty="0"/>
              <a:t>The inheritance in which the derivation of a class involves more than one form of inheritance is called hybrid inheritance. Basically, in C++, hybrid inheritance is a combination of two or more types of inheritance. It can also be called multi-path inheritance.</a:t>
            </a:r>
            <a:endParaRPr lang="en-IN" sz="2000" b="1" dirty="0"/>
          </a:p>
          <a:p>
            <a:pPr marL="0" indent="0">
              <a:buNone/>
            </a:pPr>
            <a:endParaRPr lang="en-US" b="1" dirty="0"/>
          </a:p>
        </p:txBody>
      </p:sp>
      <p:sp>
        <p:nvSpPr>
          <p:cNvPr id="4" name="Slide Number Placeholder 3">
            <a:extLst>
              <a:ext uri="{FF2B5EF4-FFF2-40B4-BE49-F238E27FC236}">
                <a16:creationId xmlns:a16="http://schemas.microsoft.com/office/drawing/2014/main" id="{AFC22A46-396A-42FB-64DE-3451E6A13BF4}"/>
              </a:ext>
            </a:extLst>
          </p:cNvPr>
          <p:cNvSpPr>
            <a:spLocks noGrp="1"/>
          </p:cNvSpPr>
          <p:nvPr>
            <p:ph type="sldNum" sz="quarter" idx="12"/>
          </p:nvPr>
        </p:nvSpPr>
        <p:spPr/>
        <p:txBody>
          <a:bodyPr/>
          <a:lstStyle/>
          <a:p>
            <a:fld id="{A3774F31-BE14-4E8C-94BE-1981B0E7CCE6}" type="slidenum">
              <a:rPr lang="en-IN" smtClean="0"/>
              <a:t>22</a:t>
            </a:fld>
            <a:endParaRPr lang="en-IN"/>
          </a:p>
        </p:txBody>
      </p:sp>
      <p:sp>
        <p:nvSpPr>
          <p:cNvPr id="5" name="Footer Placeholder 4">
            <a:extLst>
              <a:ext uri="{FF2B5EF4-FFF2-40B4-BE49-F238E27FC236}">
                <a16:creationId xmlns:a16="http://schemas.microsoft.com/office/drawing/2014/main" id="{43D65E28-DD2A-5833-A0A5-1C67976FA8DD}"/>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79476734-20C1-1BCE-A595-D94D912DF54B}"/>
              </a:ext>
            </a:extLst>
          </p:cNvPr>
          <p:cNvSpPr>
            <a:spLocks noGrp="1"/>
          </p:cNvSpPr>
          <p:nvPr>
            <p:ph type="dt" sz="half" idx="10"/>
          </p:nvPr>
        </p:nvSpPr>
        <p:spPr/>
        <p:txBody>
          <a:bodyPr/>
          <a:lstStyle/>
          <a:p>
            <a:fld id="{B2BA25A5-0BDA-48F4-958B-8CD0618E3AF7}" type="datetime5">
              <a:rPr lang="en-IN" smtClean="0"/>
              <a:t>30-Aug-25</a:t>
            </a:fld>
            <a:endParaRPr lang="en-IN"/>
          </a:p>
        </p:txBody>
      </p:sp>
      <p:pic>
        <p:nvPicPr>
          <p:cNvPr id="7" name="Picture 6">
            <a:extLst>
              <a:ext uri="{FF2B5EF4-FFF2-40B4-BE49-F238E27FC236}">
                <a16:creationId xmlns:a16="http://schemas.microsoft.com/office/drawing/2014/main" id="{235E4050-0F86-FABB-918A-3E3F0BB8BF10}"/>
              </a:ext>
            </a:extLst>
          </p:cNvPr>
          <p:cNvPicPr>
            <a:picLocks noGrp="1" noChangeAspect="1" noChangeArrowheads="1"/>
          </p:cNvPicPr>
          <p:nvPr/>
        </p:nvPicPr>
        <p:blipFill>
          <a:blip r:embed="rId2"/>
          <a:stretch>
            <a:fillRect/>
          </a:stretch>
        </p:blipFill>
        <p:spPr bwMode="auto">
          <a:xfrm>
            <a:off x="5450400" y="3947389"/>
            <a:ext cx="4465967" cy="2258430"/>
          </a:xfrm>
          <a:prstGeom prst="rect">
            <a:avLst/>
          </a:prstGeom>
          <a:noFill/>
        </p:spPr>
      </p:pic>
    </p:spTree>
    <p:extLst>
      <p:ext uri="{BB962C8B-B14F-4D97-AF65-F5344CB8AC3E}">
        <p14:creationId xmlns:p14="http://schemas.microsoft.com/office/powerpoint/2010/main" val="3867667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CC14-75F0-F0CE-614B-8A229878C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201A3-35AB-3946-3394-40FFA422CDD4}"/>
              </a:ext>
            </a:extLst>
          </p:cNvPr>
          <p:cNvSpPr>
            <a:spLocks noGrp="1"/>
          </p:cNvSpPr>
          <p:nvPr>
            <p:ph type="title"/>
          </p:nvPr>
        </p:nvSpPr>
        <p:spPr/>
        <p:txBody>
          <a:bodyPr/>
          <a:lstStyle/>
          <a:p>
            <a:r>
              <a:rPr lang="en-US" b="1" dirty="0"/>
              <a:t>Hybrid inheritance</a:t>
            </a:r>
            <a:endParaRPr lang="en-IN" dirty="0"/>
          </a:p>
        </p:txBody>
      </p:sp>
      <p:sp>
        <p:nvSpPr>
          <p:cNvPr id="4" name="Slide Number Placeholder 3">
            <a:extLst>
              <a:ext uri="{FF2B5EF4-FFF2-40B4-BE49-F238E27FC236}">
                <a16:creationId xmlns:a16="http://schemas.microsoft.com/office/drawing/2014/main" id="{1A1852D7-697E-FDDD-6A7C-E52E9451C178}"/>
              </a:ext>
            </a:extLst>
          </p:cNvPr>
          <p:cNvSpPr>
            <a:spLocks noGrp="1"/>
          </p:cNvSpPr>
          <p:nvPr>
            <p:ph type="sldNum" sz="quarter" idx="12"/>
          </p:nvPr>
        </p:nvSpPr>
        <p:spPr/>
        <p:txBody>
          <a:bodyPr/>
          <a:lstStyle/>
          <a:p>
            <a:fld id="{A3774F31-BE14-4E8C-94BE-1981B0E7CCE6}" type="slidenum">
              <a:rPr lang="en-IN" smtClean="0"/>
              <a:t>23</a:t>
            </a:fld>
            <a:endParaRPr lang="en-IN"/>
          </a:p>
        </p:txBody>
      </p:sp>
      <p:sp>
        <p:nvSpPr>
          <p:cNvPr id="5" name="Footer Placeholder 4">
            <a:extLst>
              <a:ext uri="{FF2B5EF4-FFF2-40B4-BE49-F238E27FC236}">
                <a16:creationId xmlns:a16="http://schemas.microsoft.com/office/drawing/2014/main" id="{E78A192E-CA73-8F8E-DB0D-02CD5B2E9CAB}"/>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E5B11E77-5888-5F6D-9549-B9DCE38AEDF2}"/>
              </a:ext>
            </a:extLst>
          </p:cNvPr>
          <p:cNvSpPr>
            <a:spLocks noGrp="1"/>
          </p:cNvSpPr>
          <p:nvPr>
            <p:ph type="dt" sz="half" idx="10"/>
          </p:nvPr>
        </p:nvSpPr>
        <p:spPr/>
        <p:txBody>
          <a:bodyPr/>
          <a:lstStyle/>
          <a:p>
            <a:fld id="{B2BA25A5-0BDA-48F4-958B-8CD0618E3AF7}" type="datetime5">
              <a:rPr lang="en-IN" smtClean="0"/>
              <a:t>30-Aug-25</a:t>
            </a:fld>
            <a:endParaRPr lang="en-IN"/>
          </a:p>
        </p:txBody>
      </p:sp>
      <p:sp>
        <p:nvSpPr>
          <p:cNvPr id="10" name="TextBox 9">
            <a:extLst>
              <a:ext uri="{FF2B5EF4-FFF2-40B4-BE49-F238E27FC236}">
                <a16:creationId xmlns:a16="http://schemas.microsoft.com/office/drawing/2014/main" id="{491CF064-D3C2-EF2D-398E-06C0FED42D06}"/>
              </a:ext>
            </a:extLst>
          </p:cNvPr>
          <p:cNvSpPr txBox="1"/>
          <p:nvPr/>
        </p:nvSpPr>
        <p:spPr>
          <a:xfrm>
            <a:off x="1154954" y="2286000"/>
            <a:ext cx="5382033" cy="3139321"/>
          </a:xfrm>
          <a:prstGeom prst="rect">
            <a:avLst/>
          </a:prstGeom>
          <a:noFill/>
        </p:spPr>
        <p:txBody>
          <a:bodyPr wrap="square" rtlCol="0">
            <a:spAutoFit/>
          </a:bodyPr>
          <a:lstStyle/>
          <a:p>
            <a:pPr fontAlgn="base">
              <a:buNone/>
            </a:pPr>
            <a:r>
              <a:rPr lang="en-US" b="1" dirty="0">
                <a:solidFill>
                  <a:schemeClr val="accent2"/>
                </a:solidFill>
                <a:latin typeface="Times New Roman" pitchFamily="18" charset="0"/>
                <a:cs typeface="Times New Roman" pitchFamily="18" charset="0"/>
              </a:rPr>
              <a:t>// base class </a:t>
            </a:r>
          </a:p>
          <a:p>
            <a:pPr fontAlgn="base">
              <a:buNone/>
            </a:pPr>
            <a:r>
              <a:rPr lang="en-US" dirty="0">
                <a:latin typeface="Times New Roman" pitchFamily="18" charset="0"/>
                <a:cs typeface="Times New Roman" pitchFamily="18" charset="0"/>
              </a:rPr>
              <a:t>class Vehicle </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public:</a:t>
            </a:r>
          </a:p>
          <a:p>
            <a:pPr fontAlgn="base">
              <a:buNone/>
            </a:pPr>
            <a:r>
              <a:rPr lang="en-US" dirty="0">
                <a:latin typeface="Times New Roman" pitchFamily="18" charset="0"/>
                <a:cs typeface="Times New Roman" pitchFamily="18" charset="0"/>
              </a:rPr>
              <a:t>    Vehicle()</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 &lt;&lt; "This is a Vehicle" &lt;&lt; </a:t>
            </a:r>
            <a:r>
              <a:rPr lang="en-US" dirty="0" err="1">
                <a:latin typeface="Times New Roman" pitchFamily="18" charset="0"/>
                <a:cs typeface="Times New Roman" pitchFamily="18" charset="0"/>
              </a:rPr>
              <a:t>endl</a:t>
            </a: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endParaRPr lang="en-US" dirty="0"/>
          </a:p>
        </p:txBody>
      </p:sp>
      <p:sp>
        <p:nvSpPr>
          <p:cNvPr id="11" name="TextBox 10">
            <a:extLst>
              <a:ext uri="{FF2B5EF4-FFF2-40B4-BE49-F238E27FC236}">
                <a16:creationId xmlns:a16="http://schemas.microsoft.com/office/drawing/2014/main" id="{8AAC7DE3-3B14-F9FE-0BBC-BB78165B909C}"/>
              </a:ext>
            </a:extLst>
          </p:cNvPr>
          <p:cNvSpPr txBox="1"/>
          <p:nvPr/>
        </p:nvSpPr>
        <p:spPr>
          <a:xfrm>
            <a:off x="7120647" y="2402732"/>
            <a:ext cx="4465874" cy="2862322"/>
          </a:xfrm>
          <a:prstGeom prst="rect">
            <a:avLst/>
          </a:prstGeom>
          <a:noFill/>
        </p:spPr>
        <p:txBody>
          <a:bodyPr wrap="square" rtlCol="0">
            <a:spAutoFit/>
          </a:bodyPr>
          <a:lstStyle/>
          <a:p>
            <a:pPr fontAlgn="base">
              <a:buNone/>
            </a:pP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//base class</a:t>
            </a:r>
          </a:p>
          <a:p>
            <a:pPr fontAlgn="base">
              <a:buNone/>
            </a:pPr>
            <a:r>
              <a:rPr lang="en-US" dirty="0">
                <a:latin typeface="Times New Roman" pitchFamily="18" charset="0"/>
                <a:cs typeface="Times New Roman" pitchFamily="18" charset="0"/>
              </a:rPr>
              <a:t>class Fare</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public:</a:t>
            </a:r>
          </a:p>
          <a:p>
            <a:pPr fontAlgn="base">
              <a:buNone/>
            </a:pPr>
            <a:r>
              <a:rPr lang="en-US" dirty="0">
                <a:latin typeface="Times New Roman" pitchFamily="18" charset="0"/>
                <a:cs typeface="Times New Roman" pitchFamily="18" charset="0"/>
              </a:rPr>
              <a:t>    Fare()</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cout</a:t>
            </a:r>
            <a:r>
              <a:rPr lang="en-US" dirty="0">
                <a:latin typeface="Times New Roman" pitchFamily="18" charset="0"/>
                <a:cs typeface="Times New Roman" pitchFamily="18" charset="0"/>
              </a:rPr>
              <a:t>&lt;&lt;"Fare of Vehicle\n";</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a:t>
            </a:r>
          </a:p>
          <a:p>
            <a:endParaRPr lang="en-US" dirty="0"/>
          </a:p>
        </p:txBody>
      </p:sp>
      <p:cxnSp>
        <p:nvCxnSpPr>
          <p:cNvPr id="13" name="Straight Connector 12">
            <a:extLst>
              <a:ext uri="{FF2B5EF4-FFF2-40B4-BE49-F238E27FC236}">
                <a16:creationId xmlns:a16="http://schemas.microsoft.com/office/drawing/2014/main" id="{819C42B5-AEAA-F2F8-67F6-C97F1749372A}"/>
              </a:ext>
            </a:extLst>
          </p:cNvPr>
          <p:cNvCxnSpPr/>
          <p:nvPr/>
        </p:nvCxnSpPr>
        <p:spPr>
          <a:xfrm>
            <a:off x="5826868" y="2149813"/>
            <a:ext cx="0" cy="470818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8716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CAE46-C8C6-263E-A1F8-288898FBC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84DCD-F3EC-F1CC-AA19-592125566447}"/>
              </a:ext>
            </a:extLst>
          </p:cNvPr>
          <p:cNvSpPr>
            <a:spLocks noGrp="1"/>
          </p:cNvSpPr>
          <p:nvPr>
            <p:ph type="title"/>
          </p:nvPr>
        </p:nvSpPr>
        <p:spPr/>
        <p:txBody>
          <a:bodyPr/>
          <a:lstStyle/>
          <a:p>
            <a:r>
              <a:rPr lang="en-US" b="1" dirty="0"/>
              <a:t>Hybrid inheritance</a:t>
            </a:r>
            <a:endParaRPr lang="en-IN" dirty="0"/>
          </a:p>
        </p:txBody>
      </p:sp>
      <p:sp>
        <p:nvSpPr>
          <p:cNvPr id="4" name="Slide Number Placeholder 3">
            <a:extLst>
              <a:ext uri="{FF2B5EF4-FFF2-40B4-BE49-F238E27FC236}">
                <a16:creationId xmlns:a16="http://schemas.microsoft.com/office/drawing/2014/main" id="{114E6798-EAEB-CE00-FC34-DF865443134D}"/>
              </a:ext>
            </a:extLst>
          </p:cNvPr>
          <p:cNvSpPr>
            <a:spLocks noGrp="1"/>
          </p:cNvSpPr>
          <p:nvPr>
            <p:ph type="sldNum" sz="quarter" idx="12"/>
          </p:nvPr>
        </p:nvSpPr>
        <p:spPr/>
        <p:txBody>
          <a:bodyPr/>
          <a:lstStyle/>
          <a:p>
            <a:fld id="{A3774F31-BE14-4E8C-94BE-1981B0E7CCE6}" type="slidenum">
              <a:rPr lang="en-IN" smtClean="0"/>
              <a:t>24</a:t>
            </a:fld>
            <a:endParaRPr lang="en-IN"/>
          </a:p>
        </p:txBody>
      </p:sp>
      <p:sp>
        <p:nvSpPr>
          <p:cNvPr id="5" name="Footer Placeholder 4">
            <a:extLst>
              <a:ext uri="{FF2B5EF4-FFF2-40B4-BE49-F238E27FC236}">
                <a16:creationId xmlns:a16="http://schemas.microsoft.com/office/drawing/2014/main" id="{131BC922-DBD5-F4A8-C73F-B48BF70FE466}"/>
              </a:ext>
            </a:extLst>
          </p:cNvPr>
          <p:cNvSpPr>
            <a:spLocks noGrp="1"/>
          </p:cNvSpPr>
          <p:nvPr>
            <p:ph type="ftr" sz="quarter" idx="11"/>
          </p:nvPr>
        </p:nvSpPr>
        <p:spPr/>
        <p:txBody>
          <a:bodyPr/>
          <a:lstStyle/>
          <a:p>
            <a:r>
              <a:rPr lang="en-US"/>
              <a:t>MEHEDI HASAN. DEPT. OF CSE, BAUET</a:t>
            </a:r>
            <a:endParaRPr lang="en-IN"/>
          </a:p>
        </p:txBody>
      </p:sp>
      <p:sp>
        <p:nvSpPr>
          <p:cNvPr id="6" name="Date Placeholder 5">
            <a:extLst>
              <a:ext uri="{FF2B5EF4-FFF2-40B4-BE49-F238E27FC236}">
                <a16:creationId xmlns:a16="http://schemas.microsoft.com/office/drawing/2014/main" id="{F6D2CEEF-01FF-4DA8-DB4D-401F5D153FAF}"/>
              </a:ext>
            </a:extLst>
          </p:cNvPr>
          <p:cNvSpPr>
            <a:spLocks noGrp="1"/>
          </p:cNvSpPr>
          <p:nvPr>
            <p:ph type="dt" sz="half" idx="10"/>
          </p:nvPr>
        </p:nvSpPr>
        <p:spPr/>
        <p:txBody>
          <a:bodyPr/>
          <a:lstStyle/>
          <a:p>
            <a:fld id="{B2BA25A5-0BDA-48F4-958B-8CD0618E3AF7}" type="datetime5">
              <a:rPr lang="en-IN" smtClean="0"/>
              <a:t>30-Aug-25</a:t>
            </a:fld>
            <a:endParaRPr lang="en-IN"/>
          </a:p>
        </p:txBody>
      </p:sp>
      <p:sp>
        <p:nvSpPr>
          <p:cNvPr id="10" name="TextBox 9">
            <a:extLst>
              <a:ext uri="{FF2B5EF4-FFF2-40B4-BE49-F238E27FC236}">
                <a16:creationId xmlns:a16="http://schemas.microsoft.com/office/drawing/2014/main" id="{0A4A9AFD-D72A-F7AA-07EC-D130A4C148F6}"/>
              </a:ext>
            </a:extLst>
          </p:cNvPr>
          <p:cNvSpPr txBox="1"/>
          <p:nvPr/>
        </p:nvSpPr>
        <p:spPr>
          <a:xfrm>
            <a:off x="1154954" y="2286000"/>
            <a:ext cx="5382033" cy="3693319"/>
          </a:xfrm>
          <a:prstGeom prst="rect">
            <a:avLst/>
          </a:prstGeom>
          <a:noFill/>
        </p:spPr>
        <p:txBody>
          <a:bodyPr wrap="square" rtlCol="0">
            <a:spAutoFit/>
          </a:bodyPr>
          <a:lstStyle/>
          <a:p>
            <a:pPr fontAlgn="base">
              <a:buNone/>
            </a:pPr>
            <a:r>
              <a:rPr lang="en-US" b="1" dirty="0">
                <a:solidFill>
                  <a:schemeClr val="accent2"/>
                </a:solidFill>
                <a:latin typeface="Times New Roman" pitchFamily="18" charset="0"/>
                <a:cs typeface="Times New Roman" pitchFamily="18" charset="0"/>
              </a:rPr>
              <a:t>// first sub class </a:t>
            </a:r>
          </a:p>
          <a:p>
            <a:pPr fontAlgn="base">
              <a:buNone/>
            </a:pPr>
            <a:r>
              <a:rPr lang="en-US" dirty="0">
                <a:latin typeface="Times New Roman" pitchFamily="18" charset="0"/>
                <a:cs typeface="Times New Roman" pitchFamily="18" charset="0"/>
              </a:rPr>
              <a:t>class Car: public Vehicle</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pPr fontAlgn="base">
              <a:buNone/>
            </a:pPr>
            <a:r>
              <a:rPr lang="en-US" b="1" dirty="0">
                <a:solidFill>
                  <a:schemeClr val="accent2"/>
                </a:solidFill>
                <a:latin typeface="Times New Roman" pitchFamily="18" charset="0"/>
                <a:cs typeface="Times New Roman" pitchFamily="18" charset="0"/>
              </a:rPr>
              <a:t>// second sub class</a:t>
            </a:r>
          </a:p>
          <a:p>
            <a:pPr fontAlgn="base">
              <a:buNone/>
            </a:pPr>
            <a:r>
              <a:rPr lang="en-US" dirty="0">
                <a:latin typeface="Times New Roman" pitchFamily="18" charset="0"/>
                <a:cs typeface="Times New Roman" pitchFamily="18" charset="0"/>
              </a:rPr>
              <a:t>class Bus: public Vehicle, public Fare</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a:t>
            </a:r>
          </a:p>
          <a:p>
            <a:pPr fontAlgn="base">
              <a:buNone/>
            </a:pPr>
            <a:r>
              <a:rPr lang="en-US" dirty="0">
                <a:latin typeface="Times New Roman" pitchFamily="18" charset="0"/>
                <a:cs typeface="Times New Roman" pitchFamily="18" charset="0"/>
              </a:rPr>
              <a:t> </a:t>
            </a:r>
          </a:p>
          <a:p>
            <a:endParaRPr lang="en-US" dirty="0"/>
          </a:p>
        </p:txBody>
      </p:sp>
      <p:sp>
        <p:nvSpPr>
          <p:cNvPr id="11" name="TextBox 10">
            <a:extLst>
              <a:ext uri="{FF2B5EF4-FFF2-40B4-BE49-F238E27FC236}">
                <a16:creationId xmlns:a16="http://schemas.microsoft.com/office/drawing/2014/main" id="{D0C36DD8-F139-2247-184C-9A456DF2B514}"/>
              </a:ext>
            </a:extLst>
          </p:cNvPr>
          <p:cNvSpPr txBox="1"/>
          <p:nvPr/>
        </p:nvSpPr>
        <p:spPr>
          <a:xfrm>
            <a:off x="7120647" y="2402732"/>
            <a:ext cx="4465874" cy="2585323"/>
          </a:xfrm>
          <a:prstGeom prst="rect">
            <a:avLst/>
          </a:prstGeom>
          <a:noFill/>
        </p:spPr>
        <p:txBody>
          <a:bodyPr wrap="square" rtlCol="0">
            <a:spAutoFit/>
          </a:bodyPr>
          <a:lstStyle/>
          <a:p>
            <a:pPr fontAlgn="base">
              <a:buNone/>
            </a:pPr>
            <a:r>
              <a:rPr lang="en-US" b="1" dirty="0">
                <a:solidFill>
                  <a:schemeClr val="accent2"/>
                </a:solidFill>
                <a:latin typeface="Times New Roman" pitchFamily="18" charset="0"/>
                <a:cs typeface="Times New Roman" pitchFamily="18" charset="0"/>
              </a:rPr>
              <a:t> // main function    </a:t>
            </a:r>
          </a:p>
          <a:p>
            <a:pPr fontAlgn="base">
              <a:buNone/>
            </a:pPr>
            <a:r>
              <a:rPr lang="en-US" dirty="0">
                <a:latin typeface="Times New Roman" pitchFamily="18" charset="0"/>
                <a:cs typeface="Times New Roman" pitchFamily="18" charset="0"/>
              </a:rPr>
              <a:t>int main()</a:t>
            </a:r>
          </a:p>
          <a:p>
            <a:pPr fontAlgn="base">
              <a:buNone/>
            </a:pPr>
            <a:r>
              <a:rPr lang="en-US" dirty="0">
                <a:latin typeface="Times New Roman" pitchFamily="18" charset="0"/>
                <a:cs typeface="Times New Roman" pitchFamily="18" charset="0"/>
              </a:rPr>
              <a:t>{   </a:t>
            </a:r>
          </a:p>
          <a:p>
            <a:pPr fontAlgn="base">
              <a:buNone/>
            </a:pPr>
            <a:r>
              <a:rPr lang="en-US" dirty="0">
                <a:latin typeface="Times New Roman" pitchFamily="18" charset="0"/>
                <a:cs typeface="Times New Roman" pitchFamily="18" charset="0"/>
              </a:rPr>
              <a:t> </a:t>
            </a:r>
            <a:r>
              <a:rPr lang="en-US" b="1" dirty="0">
                <a:solidFill>
                  <a:schemeClr val="accent2"/>
                </a:solidFill>
                <a:latin typeface="Times New Roman" pitchFamily="18" charset="0"/>
                <a:cs typeface="Times New Roman" pitchFamily="18" charset="0"/>
              </a:rPr>
              <a:t>   // creating object of sub class will</a:t>
            </a:r>
          </a:p>
          <a:p>
            <a:pPr fontAlgn="base">
              <a:buNone/>
            </a:pPr>
            <a:r>
              <a:rPr lang="en-US" b="1" dirty="0">
                <a:solidFill>
                  <a:schemeClr val="accent2"/>
                </a:solidFill>
                <a:latin typeface="Times New Roman" pitchFamily="18" charset="0"/>
                <a:cs typeface="Times New Roman" pitchFamily="18" charset="0"/>
              </a:rPr>
              <a:t>    // invoke the constructor of base class</a:t>
            </a:r>
          </a:p>
          <a:p>
            <a:pPr fontAlgn="base">
              <a:buNone/>
            </a:pPr>
            <a:r>
              <a:rPr lang="en-US" dirty="0">
                <a:latin typeface="Times New Roman" pitchFamily="18" charset="0"/>
                <a:cs typeface="Times New Roman" pitchFamily="18" charset="0"/>
              </a:rPr>
              <a:t>    Bus obj2;</a:t>
            </a:r>
          </a:p>
          <a:p>
            <a:pPr fontAlgn="base">
              <a:buNone/>
            </a:pPr>
            <a:r>
              <a:rPr lang="en-US" dirty="0">
                <a:latin typeface="Times New Roman" pitchFamily="18" charset="0"/>
                <a:cs typeface="Times New Roman" pitchFamily="18" charset="0"/>
              </a:rPr>
              <a:t>    return 0;</a:t>
            </a:r>
          </a:p>
          <a:p>
            <a:pPr fontAlgn="base">
              <a:buNone/>
            </a:pPr>
            <a:r>
              <a:rPr lang="en-US" dirty="0">
                <a:latin typeface="Times New Roman" pitchFamily="18" charset="0"/>
                <a:cs typeface="Times New Roman" pitchFamily="18" charset="0"/>
              </a:rPr>
              <a:t>}</a:t>
            </a:r>
          </a:p>
          <a:p>
            <a:endParaRPr lang="en-US" dirty="0"/>
          </a:p>
        </p:txBody>
      </p:sp>
      <p:cxnSp>
        <p:nvCxnSpPr>
          <p:cNvPr id="13" name="Straight Connector 12">
            <a:extLst>
              <a:ext uri="{FF2B5EF4-FFF2-40B4-BE49-F238E27FC236}">
                <a16:creationId xmlns:a16="http://schemas.microsoft.com/office/drawing/2014/main" id="{6E232B05-87EF-35BA-CBF4-E58748874DCF}"/>
              </a:ext>
            </a:extLst>
          </p:cNvPr>
          <p:cNvCxnSpPr/>
          <p:nvPr/>
        </p:nvCxnSpPr>
        <p:spPr>
          <a:xfrm>
            <a:off x="5826868" y="2149813"/>
            <a:ext cx="0" cy="470818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0583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171</TotalTime>
  <Words>1754</Words>
  <Application>Microsoft Office PowerPoint</Application>
  <PresentationFormat>Widescreen</PresentationFormat>
  <Paragraphs>305</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Century Gothic</vt:lpstr>
      <vt:lpstr>Courier New</vt:lpstr>
      <vt:lpstr>Times New Roman</vt:lpstr>
      <vt:lpstr>Wingdings</vt:lpstr>
      <vt:lpstr>Wingdings 3</vt:lpstr>
      <vt:lpstr>Ion Boardroom</vt:lpstr>
      <vt:lpstr>INHERITANCE IN C++</vt:lpstr>
      <vt:lpstr>What is an inheritance?</vt:lpstr>
      <vt:lpstr>Example: Insect Taxonomy</vt:lpstr>
      <vt:lpstr>The "is a" Relationship</vt:lpstr>
      <vt:lpstr>Why should inheritance be used? </vt:lpstr>
      <vt:lpstr>Without Using Inheritance</vt:lpstr>
      <vt:lpstr>Using inheritance</vt:lpstr>
      <vt:lpstr>FEATURES/ADVANTAGES OF INHERITANCE</vt:lpstr>
      <vt:lpstr>DISADVANTAGES OF INHERITANCE </vt:lpstr>
      <vt:lpstr>APPLICATIONS OF INHERITANCE</vt:lpstr>
      <vt:lpstr>Inheritance – Terminology and Notation in C++</vt:lpstr>
      <vt:lpstr>The types of inheritance in c++</vt:lpstr>
      <vt:lpstr>Single inheritance</vt:lpstr>
      <vt:lpstr>Single inheritance: Syntax of Single Inheritance</vt:lpstr>
      <vt:lpstr>Single inheritance: Syntax of Single Inheritance</vt:lpstr>
      <vt:lpstr>Multiple inheritance</vt:lpstr>
      <vt:lpstr>Multiple inheritance</vt:lpstr>
      <vt:lpstr>Multilevel inheritance</vt:lpstr>
      <vt:lpstr>Multilevel inheritance</vt:lpstr>
      <vt:lpstr>Hierarchical inheritance</vt:lpstr>
      <vt:lpstr>Hierarchical inheritance</vt:lpstr>
      <vt:lpstr>Hybrid inheritance</vt:lpstr>
      <vt:lpstr>Hybrid inheritance</vt:lpstr>
      <vt:lpstr>Hybrid inheritance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 IN C++</dc:title>
  <dc:creator>yash</dc:creator>
  <cp:lastModifiedBy>Mehedi Hasan</cp:lastModifiedBy>
  <cp:revision>21</cp:revision>
  <dcterms:created xsi:type="dcterms:W3CDTF">2021-04-23T09:20:10Z</dcterms:created>
  <dcterms:modified xsi:type="dcterms:W3CDTF">2025-08-30T14:55:25Z</dcterms:modified>
</cp:coreProperties>
</file>