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227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4352B-300C-4FD5-8E88-AFC1D8788BF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658DD-D5CB-47BA-8444-9325A860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03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FC3D-9194-4187-AD4E-C83382ED7F65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0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BD38B-C42E-42E1-9E53-AFD69F968114}" type="datetime1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6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07AFE98-AD5A-4D6A-943F-A63D01E01472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1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43233-9424-4D80-907E-67DBEE74A65C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1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A3CB-266D-4A28-BC16-84B32657CD04}" type="datetime1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2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B72C638-3D67-4766-BEC7-2F0E53D2281B}" type="datetime1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2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ABA93-F122-4FE8-861D-CB4CB8395856}" type="datetime1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9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B0D3C-07B1-4083-8C17-81DA9D5CC8E3}" type="datetime1">
              <a:rPr lang="en-US" smtClean="0"/>
              <a:t>8/26/2025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5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5DE5-7CB9-481C-8DE2-B7DAA8009F64}" type="datetime1">
              <a:rPr lang="en-US" smtClean="0"/>
              <a:t>8/26/2025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31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85159-E3AE-416D-8A96-1DFD379E2A07}" type="datetime1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F26C0-6F0B-4262-979D-F92101907C6D}" type="datetime1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7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02C58BE-01A7-4651-8744-071EB9FAAAA6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1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Static Members, Static Class, Friend Function, and Friend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by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Mehedi Hasan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Lecturer, Dept. of CSE 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0CAAD-A101-DB57-9142-C0921C0A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Static Class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dirty="0"/>
              <a:t>Shared across all objects of a class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dirty="0"/>
              <a:t>Memory allocated only once for the class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dirty="0"/>
              <a:t> Accessed using </a:t>
            </a:r>
            <a:r>
              <a:rPr dirty="0" err="1"/>
              <a:t>ClassName</a:t>
            </a:r>
            <a:r>
              <a:rPr dirty="0"/>
              <a:t>::member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dirty="0"/>
              <a:t> Useful for common properties (e.g., interest rate, counters)</a:t>
            </a:r>
          </a:p>
          <a:p>
            <a:pPr algn="just"/>
            <a:endParaRPr dirty="0"/>
          </a:p>
          <a:p>
            <a:pPr marL="0" indent="0" algn="just">
              <a:buNone/>
            </a:pPr>
            <a:r>
              <a:rPr b="1" dirty="0"/>
              <a:t>Real-life Example: Bank interest rate is same for all accounts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2770C-70A7-7D02-CFBE-D807C5FBF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Member</a:t>
            </a:r>
            <a:r>
              <a:rPr dirty="0"/>
              <a:t> : Counting Objects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EEFDC9-6559-CDAF-11E8-AD4CB23B8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462" y="1573662"/>
            <a:ext cx="5940409" cy="425201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7BA32D-02E8-A96B-F09C-DE1D278A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Static Member :</a:t>
            </a:r>
            <a:r>
              <a:rPr dirty="0"/>
              <a:t>Bank Interest Rate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7797DA-905B-B275-D614-18784AF49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937" y="1670935"/>
            <a:ext cx="6243145" cy="459323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A01731-4F89-FBAB-DCA5-3964A953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Example (Difficult): Unique Employee ID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FDE3B2F-A7A4-FD0F-704C-4D1227DD29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621" y="2007476"/>
            <a:ext cx="4624551" cy="2898012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E6BD30-4F53-679D-F503-979A68A9B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392" y="3428999"/>
            <a:ext cx="3587607" cy="221505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E7282F-C738-17F3-C3A9-32C4E33C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Static Class (Simulated)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C++ does not have static class like C#</a:t>
            </a:r>
          </a:p>
          <a:p>
            <a:r>
              <a:rPr dirty="0"/>
              <a:t> We simulate by making all methods static</a:t>
            </a:r>
          </a:p>
          <a:p>
            <a:r>
              <a:rPr dirty="0"/>
              <a:t> Useful for math libraries, helper functions</a:t>
            </a:r>
          </a:p>
          <a:p>
            <a:endParaRPr dirty="0"/>
          </a:p>
          <a:p>
            <a:r>
              <a:rPr dirty="0"/>
              <a:t>Example: </a:t>
            </a:r>
            <a:r>
              <a:rPr dirty="0" err="1"/>
              <a:t>MathUtility</a:t>
            </a:r>
            <a:r>
              <a:rPr dirty="0"/>
              <a:t>::square(5)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D64AB-7FB3-F4CA-FD8D-C54B38E7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Friend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Not a member, but can access private data</a:t>
            </a:r>
          </a:p>
          <a:p>
            <a:r>
              <a:rPr dirty="0"/>
              <a:t>Declared inside class with keyword 'friend'</a:t>
            </a:r>
          </a:p>
          <a:p>
            <a:r>
              <a:rPr dirty="0"/>
              <a:t> Often used in operator overloading</a:t>
            </a:r>
          </a:p>
          <a:p>
            <a:endParaRPr dirty="0"/>
          </a:p>
          <a:p>
            <a:r>
              <a:rPr b="1" dirty="0"/>
              <a:t>Real-life Example: Allowing a special function to access ATM account balance.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BE918-5891-490B-4999-5470BEB0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25821"/>
            <a:ext cx="7772400" cy="1926021"/>
          </a:xfrm>
        </p:spPr>
        <p:txBody>
          <a:bodyPr>
            <a:normAutofit/>
          </a:bodyPr>
          <a:lstStyle/>
          <a:p>
            <a:r>
              <a:rPr lang="en-US" sz="3600" dirty="0"/>
              <a:t>Friend Function :</a:t>
            </a:r>
            <a:r>
              <a:rPr sz="3600" dirty="0"/>
              <a:t>Access Private 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08690"/>
            <a:ext cx="5599386" cy="415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#include &lt;iostream&gt;</a:t>
            </a:r>
          </a:p>
          <a:p>
            <a:pPr marL="0" indent="0">
              <a:buNone/>
            </a:pPr>
            <a:r>
              <a:rPr lang="en-US" sz="1600" dirty="0"/>
              <a:t>using namespace std;</a:t>
            </a:r>
          </a:p>
          <a:p>
            <a:pPr marL="0" indent="0">
              <a:buNone/>
            </a:pPr>
            <a:r>
              <a:rPr lang="en-US" sz="1600" dirty="0"/>
              <a:t>class base {</a:t>
            </a:r>
          </a:p>
          <a:p>
            <a:pPr marL="0" indent="0">
              <a:buNone/>
            </a:pPr>
            <a:r>
              <a:rPr lang="en-US" sz="1600" dirty="0"/>
              <a:t>private:</a:t>
            </a:r>
          </a:p>
          <a:p>
            <a:pPr marL="0" indent="0">
              <a:buNone/>
            </a:pPr>
            <a:r>
              <a:rPr lang="en-US" sz="1600" dirty="0"/>
              <a:t>    int </a:t>
            </a:r>
            <a:r>
              <a:rPr lang="en-US" sz="1600" dirty="0" err="1"/>
              <a:t>private_variable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protected:</a:t>
            </a:r>
          </a:p>
          <a:p>
            <a:pPr marL="0" indent="0">
              <a:buNone/>
            </a:pPr>
            <a:r>
              <a:rPr lang="en-US" sz="1600" dirty="0"/>
              <a:t>    int </a:t>
            </a:r>
            <a:r>
              <a:rPr lang="en-US" sz="1600" dirty="0" err="1"/>
              <a:t>protected_variable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public:</a:t>
            </a:r>
          </a:p>
          <a:p>
            <a:pPr marL="0" indent="0">
              <a:buNone/>
            </a:pPr>
            <a:r>
              <a:rPr lang="en-US" sz="1600" dirty="0"/>
              <a:t>    base() {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private_variable</a:t>
            </a:r>
            <a:r>
              <a:rPr lang="en-US" sz="1600" dirty="0"/>
              <a:t> = 10;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protected_variable</a:t>
            </a:r>
            <a:r>
              <a:rPr lang="en-US" sz="1600" dirty="0"/>
              <a:t> = 99;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    // Friend function declaration</a:t>
            </a:r>
          </a:p>
          <a:p>
            <a:pPr marL="0" indent="0">
              <a:buNone/>
            </a:pPr>
            <a:r>
              <a:rPr lang="en-US" sz="1600" dirty="0"/>
              <a:t>    friend void </a:t>
            </a:r>
            <a:r>
              <a:rPr lang="en-US" sz="1600" dirty="0" err="1"/>
              <a:t>friendFunction</a:t>
            </a:r>
            <a:r>
              <a:rPr lang="en-US" sz="1600" dirty="0"/>
              <a:t>(base&amp; obj);</a:t>
            </a:r>
          </a:p>
          <a:p>
            <a:pPr marL="0" indent="0">
              <a:buNone/>
            </a:pPr>
            <a:r>
              <a:rPr lang="en-US" sz="1600" dirty="0"/>
              <a:t>};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E5F431-F9E7-C6E8-7913-006A2C4E5282}"/>
              </a:ext>
            </a:extLst>
          </p:cNvPr>
          <p:cNvSpPr/>
          <p:nvPr/>
        </p:nvSpPr>
        <p:spPr>
          <a:xfrm>
            <a:off x="4198882" y="1600200"/>
            <a:ext cx="4487918" cy="2141483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// friend function definition</a:t>
            </a:r>
          </a:p>
          <a:p>
            <a:r>
              <a:rPr lang="en-US" dirty="0">
                <a:solidFill>
                  <a:schemeClr val="tx1"/>
                </a:solidFill>
              </a:rPr>
              <a:t>void </a:t>
            </a:r>
            <a:r>
              <a:rPr lang="en-US" dirty="0" err="1">
                <a:solidFill>
                  <a:schemeClr val="tx1"/>
                </a:solidFill>
              </a:rPr>
              <a:t>friendFunction</a:t>
            </a:r>
            <a:r>
              <a:rPr lang="en-US" dirty="0">
                <a:solidFill>
                  <a:schemeClr val="tx1"/>
                </a:solidFill>
              </a:rPr>
              <a:t>(base&amp; obj) {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cout</a:t>
            </a:r>
            <a:r>
              <a:rPr lang="en-US" dirty="0">
                <a:solidFill>
                  <a:schemeClr val="tx1"/>
                </a:solidFill>
              </a:rPr>
              <a:t> &lt;&lt; "Private Variable: " </a:t>
            </a:r>
          </a:p>
          <a:p>
            <a:r>
              <a:rPr lang="en-US" dirty="0">
                <a:solidFill>
                  <a:schemeClr val="tx1"/>
                </a:solidFill>
              </a:rPr>
              <a:t>         &lt;&lt; </a:t>
            </a:r>
            <a:r>
              <a:rPr lang="en-US" dirty="0" err="1">
                <a:solidFill>
                  <a:schemeClr val="tx1"/>
                </a:solidFill>
              </a:rPr>
              <a:t>obj.private_variable</a:t>
            </a:r>
            <a:r>
              <a:rPr lang="en-US" dirty="0">
                <a:solidFill>
                  <a:schemeClr val="tx1"/>
                </a:solidFill>
              </a:rPr>
              <a:t> &lt;&lt; </a:t>
            </a:r>
            <a:r>
              <a:rPr lang="en-US" dirty="0" err="1">
                <a:solidFill>
                  <a:schemeClr val="tx1"/>
                </a:solidFill>
              </a:rPr>
              <a:t>endl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cout</a:t>
            </a:r>
            <a:r>
              <a:rPr lang="en-US" dirty="0">
                <a:solidFill>
                  <a:schemeClr val="tx1"/>
                </a:solidFill>
              </a:rPr>
              <a:t> &lt;&lt; "Protected Variable: " </a:t>
            </a:r>
          </a:p>
          <a:p>
            <a:r>
              <a:rPr lang="en-US" dirty="0">
                <a:solidFill>
                  <a:schemeClr val="tx1"/>
                </a:solidFill>
              </a:rPr>
              <a:t>         &lt;&lt; </a:t>
            </a:r>
            <a:r>
              <a:rPr lang="en-US" dirty="0" err="1">
                <a:solidFill>
                  <a:schemeClr val="tx1"/>
                </a:solidFill>
              </a:rPr>
              <a:t>obj.protected_variable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016BDE-F50C-C762-E791-EC33BB4491C2}"/>
              </a:ext>
            </a:extLst>
          </p:cNvPr>
          <p:cNvSpPr/>
          <p:nvPr/>
        </p:nvSpPr>
        <p:spPr>
          <a:xfrm>
            <a:off x="4322379" y="4230415"/>
            <a:ext cx="4477407" cy="189574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int main() {</a:t>
            </a:r>
          </a:p>
          <a:p>
            <a:r>
              <a:rPr lang="en-US">
                <a:solidFill>
                  <a:schemeClr val="tx1"/>
                </a:solidFill>
              </a:rPr>
              <a:t>    base object1;</a:t>
            </a:r>
          </a:p>
          <a:p>
            <a:r>
              <a:rPr lang="en-US">
                <a:solidFill>
                  <a:schemeClr val="tx1"/>
                </a:solidFill>
              </a:rPr>
              <a:t>    friendFunction(object1);</a:t>
            </a:r>
          </a:p>
          <a:p>
            <a:r>
              <a:rPr lang="en-US">
                <a:solidFill>
                  <a:schemeClr val="tx1"/>
                </a:solidFill>
              </a:rPr>
              <a:t>    return 0;</a:t>
            </a:r>
          </a:p>
          <a:p>
            <a:r>
              <a:rPr lang="en-US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53312E37-2FF1-47B0-D4F8-0D010CC5674C}"/>
              </a:ext>
            </a:extLst>
          </p:cNvPr>
          <p:cNvCxnSpPr>
            <a:cxnSpLocks/>
            <a:endCxn id="4" idx="1"/>
          </p:cNvCxnSpPr>
          <p:nvPr/>
        </p:nvCxnSpPr>
        <p:spPr>
          <a:xfrm rot="16200000" flipV="1">
            <a:off x="3126172" y="3743652"/>
            <a:ext cx="2268922" cy="123501"/>
          </a:xfrm>
          <a:prstGeom prst="curvedConnector4">
            <a:avLst>
              <a:gd name="adj1" fmla="val 26404"/>
              <a:gd name="adj2" fmla="val 2851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552A4-44A1-958A-2B0E-66570D73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6124"/>
            <a:ext cx="7772400" cy="148195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Friend Function :Access Private Member with static member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8083"/>
            <a:ext cx="7772400" cy="45641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class base {</a:t>
            </a:r>
          </a:p>
          <a:p>
            <a:pPr marL="0" indent="0">
              <a:buNone/>
            </a:pPr>
            <a:r>
              <a:rPr lang="en-US" sz="1400" dirty="0"/>
              <a:t>private:</a:t>
            </a:r>
          </a:p>
          <a:p>
            <a:pPr marL="0" indent="0">
              <a:buNone/>
            </a:pPr>
            <a:r>
              <a:rPr lang="en-US" sz="1400" dirty="0"/>
              <a:t>    static int </a:t>
            </a:r>
            <a:r>
              <a:rPr lang="en-US" sz="1400" dirty="0" err="1"/>
              <a:t>static_var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public:</a:t>
            </a:r>
          </a:p>
          <a:p>
            <a:pPr marL="0" indent="0">
              <a:buNone/>
            </a:pPr>
            <a:r>
              <a:rPr lang="en-US" sz="1400" dirty="0"/>
              <a:t>    friend void </a:t>
            </a:r>
            <a:r>
              <a:rPr lang="en-US" sz="1400" dirty="0" err="1"/>
              <a:t>friendFunction</a:t>
            </a:r>
            <a:r>
              <a:rPr lang="en-US" sz="1400" dirty="0"/>
              <a:t>();</a:t>
            </a:r>
          </a:p>
          <a:p>
            <a:pPr marL="0" indent="0">
              <a:buNone/>
            </a:pPr>
            <a:r>
              <a:rPr lang="en-US" sz="1400" dirty="0"/>
              <a:t>};</a:t>
            </a:r>
          </a:p>
          <a:p>
            <a:pPr marL="0" indent="0">
              <a:buNone/>
            </a:pPr>
            <a:r>
              <a:rPr lang="en-US" sz="1400" dirty="0"/>
              <a:t>int base::</a:t>
            </a:r>
            <a:r>
              <a:rPr lang="en-US" sz="1400" dirty="0" err="1"/>
              <a:t>static_var</a:t>
            </a:r>
            <a:r>
              <a:rPr lang="en-US" sz="1400" dirty="0"/>
              <a:t> = 42;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void </a:t>
            </a:r>
            <a:r>
              <a:rPr lang="en-US" sz="1400" dirty="0" err="1"/>
              <a:t>friendFunction</a:t>
            </a:r>
            <a:r>
              <a:rPr lang="en-US" sz="1400" dirty="0"/>
              <a:t>() {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cout</a:t>
            </a:r>
            <a:r>
              <a:rPr lang="en-US" sz="1400" dirty="0"/>
              <a:t> &lt;&lt; "Static Variable: " &lt;&lt; base::</a:t>
            </a:r>
            <a:r>
              <a:rPr lang="en-US" sz="1400" dirty="0" err="1"/>
              <a:t>static_var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dirty="0"/>
              <a:t>int main() {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friendFunction</a:t>
            </a:r>
            <a:r>
              <a:rPr lang="en-US" sz="1400" dirty="0"/>
              <a:t>(); // works without passing an object</a:t>
            </a:r>
          </a:p>
          <a:p>
            <a:pPr marL="0" indent="0">
              <a:buNone/>
            </a:pPr>
            <a:r>
              <a:rPr lang="en-US" sz="1400" dirty="0"/>
              <a:t>    return 0;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pPr marL="0" indent="0">
              <a:buNone/>
            </a:pPr>
            <a:endParaRPr sz="1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B07A67-C08C-4498-067F-52741BC9203C}"/>
              </a:ext>
            </a:extLst>
          </p:cNvPr>
          <p:cNvSpPr/>
          <p:nvPr/>
        </p:nvSpPr>
        <p:spPr>
          <a:xfrm>
            <a:off x="5118538" y="2039007"/>
            <a:ext cx="3568262" cy="239635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N.B: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If a class has a static member, it belongs to the class itself, not to an object.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6B233-1FCB-1BA6-C6EE-4572C08C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D648-BA8F-B7CA-2F55-0E5E9567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 Function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6ED683-6458-00F4-00F6-B1E0CCBD13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3016795"/>
            <a:ext cx="828464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Non-static members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an object to access, </a:t>
            </a:r>
          </a:p>
          <a:p>
            <a:pPr marL="3543300" lvl="8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in a friend function.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members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Can be accessed directly by the friend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function without an object.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883DCA-026F-E888-CA85-6716690A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12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Friend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A class can grant another class access to its private data</a:t>
            </a:r>
          </a:p>
          <a:p>
            <a:pPr algn="just"/>
            <a:r>
              <a:rPr dirty="0"/>
              <a:t> Declared using: friend class </a:t>
            </a:r>
            <a:r>
              <a:rPr dirty="0" err="1"/>
              <a:t>ClassName</a:t>
            </a:r>
            <a:r>
              <a:rPr dirty="0"/>
              <a:t>;</a:t>
            </a:r>
          </a:p>
          <a:p>
            <a:pPr algn="just"/>
            <a:r>
              <a:rPr dirty="0"/>
              <a:t>Useful in strong relationships (e.g., Car ↔ Engine)</a:t>
            </a:r>
          </a:p>
          <a:p>
            <a:pPr algn="just"/>
            <a:endParaRPr dirty="0"/>
          </a:p>
          <a:p>
            <a:pPr algn="just"/>
            <a:r>
              <a:rPr b="1" dirty="0"/>
              <a:t>Real-life Example: A Bank Manager has full access to a Customer Account.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F64E2-BBC3-C241-4FFF-EED85D2B7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25820"/>
            <a:ext cx="7772400" cy="1524946"/>
          </a:xfrm>
        </p:spPr>
        <p:txBody>
          <a:bodyPr/>
          <a:lstStyle/>
          <a:p>
            <a:r>
              <a:rPr dirty="0"/>
              <a:t>Example: Car and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414" y="1040524"/>
            <a:ext cx="8037786" cy="51316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Engine class</a:t>
            </a:r>
          </a:p>
          <a:p>
            <a:pPr marL="0" indent="0">
              <a:buNone/>
            </a:pPr>
            <a:r>
              <a:rPr lang="en-US" dirty="0"/>
              <a:t>class Engine {</a:t>
            </a:r>
          </a:p>
          <a:p>
            <a:pPr marL="0" indent="0">
              <a:buNone/>
            </a:pPr>
            <a:r>
              <a:rPr lang="en-US" dirty="0"/>
              <a:t>private:</a:t>
            </a:r>
          </a:p>
          <a:p>
            <a:pPr marL="0" indent="0">
              <a:buNone/>
            </a:pPr>
            <a:r>
              <a:rPr lang="en-US" dirty="0"/>
              <a:t>    int horsepower;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Engine(int hp) : horsepower(hp) {}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Declare Car as a friend class</a:t>
            </a:r>
          </a:p>
          <a:p>
            <a:pPr marL="0" indent="0">
              <a:buNone/>
            </a:pPr>
            <a:r>
              <a:rPr lang="en-US" dirty="0"/>
              <a:t>    friend class Car;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99F714-FE79-99B6-E989-E82F201A4B92}"/>
              </a:ext>
            </a:extLst>
          </p:cNvPr>
          <p:cNvSpPr/>
          <p:nvPr/>
        </p:nvSpPr>
        <p:spPr>
          <a:xfrm>
            <a:off x="4572000" y="685800"/>
            <a:ext cx="4372303" cy="470600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// Car class</a:t>
            </a:r>
          </a:p>
          <a:p>
            <a:r>
              <a:rPr lang="en-US" dirty="0"/>
              <a:t>class Car {</a:t>
            </a:r>
          </a:p>
          <a:p>
            <a:r>
              <a:rPr lang="en-US" dirty="0"/>
              <a:t>private:</a:t>
            </a:r>
          </a:p>
          <a:p>
            <a:r>
              <a:rPr lang="en-US" dirty="0"/>
              <a:t>    Engine </a:t>
            </a:r>
            <a:r>
              <a:rPr lang="en-US" dirty="0" err="1"/>
              <a:t>engine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public:</a:t>
            </a:r>
          </a:p>
          <a:p>
            <a:r>
              <a:rPr lang="en-US" dirty="0"/>
              <a:t>    Car(int hp) : engine(hp) {}</a:t>
            </a:r>
          </a:p>
          <a:p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showHorsepower</a:t>
            </a:r>
            <a:r>
              <a:rPr lang="en-US" dirty="0"/>
              <a:t>() {</a:t>
            </a:r>
          </a:p>
          <a:p>
            <a:r>
              <a:rPr lang="en-US" dirty="0"/>
              <a:t>        // Accessing private member of Engine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"Car engine horsepower: " &lt;&lt; </a:t>
            </a:r>
            <a:r>
              <a:rPr lang="en-US" dirty="0" err="1"/>
              <a:t>engine.horsepower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C024F3-0873-EC21-557C-3F87349E1718}"/>
              </a:ext>
            </a:extLst>
          </p:cNvPr>
          <p:cNvSpPr/>
          <p:nvPr/>
        </p:nvSpPr>
        <p:spPr>
          <a:xfrm>
            <a:off x="3710152" y="5265682"/>
            <a:ext cx="3720662" cy="182880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Car </a:t>
            </a:r>
            <a:r>
              <a:rPr lang="en-US" dirty="0" err="1"/>
              <a:t>myCar</a:t>
            </a:r>
            <a:r>
              <a:rPr lang="en-US" dirty="0"/>
              <a:t>(250); </a:t>
            </a:r>
            <a:r>
              <a:rPr lang="en-US" dirty="0" err="1"/>
              <a:t>myCar.showHorsepower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D42D7-BACA-266E-11A0-8DDA475A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Static Member: Shared property (Bank interest)</a:t>
            </a:r>
          </a:p>
          <a:p>
            <a:pPr marL="0" indent="0">
              <a:buNone/>
            </a:pPr>
            <a:r>
              <a:rPr dirty="0"/>
              <a:t>• Static Function: Operates only on static data</a:t>
            </a:r>
          </a:p>
          <a:p>
            <a:pPr marL="0" indent="0">
              <a:buNone/>
            </a:pPr>
            <a:r>
              <a:rPr dirty="0"/>
              <a:t>• Static Class: Utility library (Math functions)</a:t>
            </a:r>
          </a:p>
          <a:p>
            <a:pPr marL="0" indent="0">
              <a:buNone/>
            </a:pPr>
            <a:r>
              <a:rPr dirty="0"/>
              <a:t>• Friend Function: Special function access (ATM)</a:t>
            </a:r>
          </a:p>
          <a:p>
            <a:pPr marL="0" indent="0">
              <a:buNone/>
            </a:pPr>
            <a:r>
              <a:rPr dirty="0"/>
              <a:t>• Friend Class: Strong relationship (Bank Manager ↔ Account)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BBCD8-10D6-F519-7D19-854CE712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51</TotalTime>
  <Words>695</Words>
  <Application>Microsoft Office PowerPoint</Application>
  <PresentationFormat>On-screen Show (4:3)</PresentationFormat>
  <Paragraphs>139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Static Members, Static Class, Friend Function, and Friend Class</vt:lpstr>
      <vt:lpstr>1. Static Class Members</vt:lpstr>
      <vt:lpstr>Static Member : Counting Objects</vt:lpstr>
      <vt:lpstr>Static Member :Bank Interest Rate</vt:lpstr>
      <vt:lpstr>Example (Difficult): Unique Employee ID</vt:lpstr>
      <vt:lpstr>2. Static Class (Simulated)</vt:lpstr>
      <vt:lpstr>3. Friend Function</vt:lpstr>
      <vt:lpstr>Friend Function :Access Private Member</vt:lpstr>
      <vt:lpstr>Friend Function :Access Private Member with static member</vt:lpstr>
      <vt:lpstr>Friend Function</vt:lpstr>
      <vt:lpstr>4. Friend Class</vt:lpstr>
      <vt:lpstr>Example: Car and Engine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Mehedi Hasan</cp:lastModifiedBy>
  <cp:revision>7</cp:revision>
  <dcterms:created xsi:type="dcterms:W3CDTF">2013-01-27T09:14:16Z</dcterms:created>
  <dcterms:modified xsi:type="dcterms:W3CDTF">2025-08-26T13:51:06Z</dcterms:modified>
  <cp:category/>
</cp:coreProperties>
</file>