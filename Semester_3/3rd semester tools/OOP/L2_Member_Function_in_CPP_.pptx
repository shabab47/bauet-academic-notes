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7" r:id="rId2"/>
  </p:sldMasterIdLst>
  <p:notesMasterIdLst>
    <p:notesMasterId r:id="rId17"/>
  </p:notesMasterIdLst>
  <p:sldIdLst>
    <p:sldId id="269" r:id="rId3"/>
    <p:sldId id="256" r:id="rId4"/>
    <p:sldId id="257" r:id="rId5"/>
    <p:sldId id="258" r:id="rId6"/>
    <p:sldId id="259" r:id="rId7"/>
    <p:sldId id="261" r:id="rId8"/>
    <p:sldId id="262" r:id="rId9"/>
    <p:sldId id="260" r:id="rId10"/>
    <p:sldId id="267" r:id="rId11"/>
    <p:sldId id="266" r:id="rId12"/>
    <p:sldId id="263" r:id="rId13"/>
    <p:sldId id="264" r:id="rId14"/>
    <p:sldId id="265" r:id="rId15"/>
    <p:sldId id="34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245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72CB6-1432-4E62-AFB2-485222B822C3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B8D3E-A209-439C-8D8D-1FBA44241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9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EF12-D47F-4FD0-A5DF-CF9ADFF7B353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3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461F8-C4DC-4D2F-980B-272E8614CDFA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5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0104-B161-4EEF-A346-644061660D8E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4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E99C-607C-4B60-AEBF-C54A35406878}" type="datetime3">
              <a:rPr lang="en-US" smtClean="0"/>
              <a:t>2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4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B4DC5-EF1E-468D-A006-440BF0FE5229}" type="datetime3">
              <a:rPr lang="en-US" smtClean="0"/>
              <a:t>2 August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4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4FC6A-3E28-4F03-96A4-BAE396067BFC}" type="datetime3">
              <a:rPr lang="en-US" smtClean="0"/>
              <a:t>2 August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19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3ABA-B996-42F1-A357-E9056597AD75}" type="datetime3">
              <a:rPr lang="en-US" smtClean="0"/>
              <a:t>2 August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F294-106A-49B2-A00A-11D84D3436C0}" type="datetime3">
              <a:rPr lang="en-US" smtClean="0"/>
              <a:t>2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9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77632-83F2-4E13-A4CB-FBD0CA5EE38D}" type="datetime3">
              <a:rPr lang="en-US" smtClean="0"/>
              <a:t>2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8487E-187A-4CF5-8EF0-A8BDCEDEC021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9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942B-649D-4134-BAF4-8AB406DBFD5E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4560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996F-33EB-4E82-966D-776C51F0CB2B}" type="datetime3">
              <a:rPr lang="en-US" smtClean="0"/>
              <a:t>2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03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E552-54D4-443F-8F27-005CA2D98321}" type="datetime3">
              <a:rPr lang="en-US" smtClean="0"/>
              <a:t>2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079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9F6B-B097-4400-BE72-C1273468FD5D}" type="datetime3">
              <a:rPr lang="en-US" smtClean="0"/>
              <a:t>2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51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E98E0-6526-4C01-97FF-9DF71FBDB467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279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5CC6-97F8-478D-B002-453979B8B224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43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 u="sng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772C1-7FC8-4B72-AAE9-12D1EB852F87}" type="datetime1">
              <a:rPr lang="en-US" smtClean="0"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spc="-20" dirty="0"/>
              <a:t>23.</a:t>
            </a: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  <p:extLst>
      <p:ext uri="{BB962C8B-B14F-4D97-AF65-F5344CB8AC3E}">
        <p14:creationId xmlns:p14="http://schemas.microsoft.com/office/powerpoint/2010/main" val="3884666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 u="sng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FF942-E28C-4FAB-BDE0-CFDBB4011B61}" type="datetime1">
              <a:rPr lang="en-US" smtClean="0"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spc="-20" dirty="0"/>
              <a:t>23.</a:t>
            </a: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  <p:extLst>
      <p:ext uri="{BB962C8B-B14F-4D97-AF65-F5344CB8AC3E}">
        <p14:creationId xmlns:p14="http://schemas.microsoft.com/office/powerpoint/2010/main" val="2285686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 u="sng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3E68A-C375-4D87-8993-0489CC939415}" type="datetime1">
              <a:rPr lang="en-US" smtClean="0"/>
              <a:t>8/2/2025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spc="-20" dirty="0"/>
              <a:t>23.</a:t>
            </a: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  <p:extLst>
      <p:ext uri="{BB962C8B-B14F-4D97-AF65-F5344CB8AC3E}">
        <p14:creationId xmlns:p14="http://schemas.microsoft.com/office/powerpoint/2010/main" val="2459035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 u="sng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BC23C-3CC1-420C-AACB-7C40F3D67AF1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spc="-20" dirty="0"/>
              <a:t>23.</a:t>
            </a: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  <p:extLst>
      <p:ext uri="{BB962C8B-B14F-4D97-AF65-F5344CB8AC3E}">
        <p14:creationId xmlns:p14="http://schemas.microsoft.com/office/powerpoint/2010/main" val="24971645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C861A-005F-4BD9-B8BB-7E7CCDBD1CEB}" type="datetime1">
              <a:rPr lang="en-US" smtClean="0"/>
              <a:t>8/2/2025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spc="-20" dirty="0"/>
              <a:t>23.</a:t>
            </a: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  <p:extLst>
      <p:ext uri="{BB962C8B-B14F-4D97-AF65-F5344CB8AC3E}">
        <p14:creationId xmlns:p14="http://schemas.microsoft.com/office/powerpoint/2010/main" val="412046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47FF0-AF5A-4682-952D-5D9FAF480D5A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7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44805"/>
            <a:ext cx="80721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 u="sng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6177" y="2978069"/>
            <a:ext cx="6311645" cy="1391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AE605-3152-4CA5-9B72-BF83CD25415C}" type="datetime1">
              <a:rPr lang="en-US" smtClean="0"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540" y="6512211"/>
            <a:ext cx="701040" cy="310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spc="-20" dirty="0"/>
              <a:t>23.</a:t>
            </a: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  <p:extLst>
      <p:ext uri="{BB962C8B-B14F-4D97-AF65-F5344CB8AC3E}">
        <p14:creationId xmlns:p14="http://schemas.microsoft.com/office/powerpoint/2010/main" val="121883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1642" y="2604416"/>
            <a:ext cx="8492358" cy="1385636"/>
          </a:xfrm>
          <a:prstGeom prst="rect">
            <a:avLst/>
          </a:prstGeom>
        </p:spPr>
        <p:txBody>
          <a:bodyPr vert="horz" wrap="square" lIns="0" tIns="158115" rIns="0" bIns="0" rtlCol="0" anchor="ctr">
            <a:spAutoFit/>
          </a:bodyPr>
          <a:lstStyle/>
          <a:p>
            <a:pPr marL="4763" algn="ctr">
              <a:lnSpc>
                <a:spcPct val="100000"/>
              </a:lnSpc>
              <a:spcBef>
                <a:spcPts val="1245"/>
              </a:spcBef>
            </a:pPr>
            <a:r>
              <a:rPr sz="4500" spc="-8" dirty="0"/>
              <a:t>CSE-</a:t>
            </a:r>
            <a:r>
              <a:rPr lang="en-US" sz="4500" spc="-15" dirty="0"/>
              <a:t>2103</a:t>
            </a:r>
            <a:endParaRPr sz="4500" dirty="0"/>
          </a:p>
          <a:p>
            <a:pPr algn="ctr">
              <a:lnSpc>
                <a:spcPct val="100000"/>
              </a:lnSpc>
              <a:spcBef>
                <a:spcPts val="776"/>
              </a:spcBef>
            </a:pPr>
            <a:r>
              <a:rPr lang="en-US" sz="2800" dirty="0"/>
              <a:t>Object-Oriented</a:t>
            </a:r>
            <a:r>
              <a:rPr sz="2800" spc="-116" dirty="0"/>
              <a:t> </a:t>
            </a:r>
            <a:r>
              <a:rPr sz="2800" dirty="0"/>
              <a:t>Programming</a:t>
            </a:r>
            <a:endParaRPr sz="2800" spc="-8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20B70F-A472-02ED-3E00-458EFCC3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4073937" y="5633440"/>
            <a:ext cx="127777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  <a:tabLst>
                <a:tab pos="1124903" algn="l"/>
              </a:tabLst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spc="-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pc="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38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fld id="{81D60167-4931-47E6-BA6A-407CBD079E47}" type="slidenum">
              <a:rPr spc="-38" dirty="0">
                <a:solidFill>
                  <a:srgbClr val="FFFFFF"/>
                </a:solidFill>
                <a:latin typeface="Times New Roman"/>
                <a:cs typeface="Times New Roman"/>
              </a:rPr>
              <a:pPr marL="9525">
                <a:lnSpc>
                  <a:spcPts val="2040"/>
                </a:lnSpc>
                <a:tabLst>
                  <a:tab pos="1124903" algn="l"/>
                </a:tabLst>
              </a:pPr>
              <a:t>1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4532" y="5633102"/>
            <a:ext cx="286703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157D2-EB1B-5B85-4B94-FCF136F40AE6}"/>
              </a:ext>
            </a:extLst>
          </p:cNvPr>
          <p:cNvSpPr txBox="1"/>
          <p:nvPr/>
        </p:nvSpPr>
        <p:spPr>
          <a:xfrm>
            <a:off x="3058510" y="4498428"/>
            <a:ext cx="52870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Conducted by </a:t>
            </a:r>
          </a:p>
          <a:p>
            <a:r>
              <a:rPr lang="en-US" dirty="0"/>
              <a:t>				</a:t>
            </a:r>
            <a:r>
              <a:rPr lang="en-US" b="1" dirty="0"/>
              <a:t>Mehedi Hasan </a:t>
            </a:r>
          </a:p>
          <a:p>
            <a:r>
              <a:rPr lang="en-US" dirty="0"/>
              <a:t>				Lecturer, Department of CSE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283" y="2514601"/>
            <a:ext cx="8650014" cy="2677509"/>
          </a:xfrm>
        </p:spPr>
        <p:txBody>
          <a:bodyPr>
            <a:normAutofit/>
          </a:bodyPr>
          <a:lstStyle/>
          <a:p>
            <a:r>
              <a:rPr sz="4800" dirty="0"/>
              <a:t>Member Function in C++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1D2B9-67FA-2C73-80CC-FF8EBB86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BBE9-93E6-4434-AAE1-2C4C9E79270D}" type="datetime3">
              <a:rPr lang="en-US" smtClean="0"/>
              <a:t>2 August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D4688-B0CC-F931-F095-20BDCE001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D25D0-37D1-C1EB-A41A-E25ABF074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member function is a function defined within a class in C++.</a:t>
            </a:r>
          </a:p>
          <a:p>
            <a:pPr>
              <a:defRPr sz="2400"/>
            </a:pPr>
            <a:r>
              <a:t>It is used to operate on the data members of the class.</a:t>
            </a:r>
          </a:p>
          <a:p>
            <a:pPr>
              <a:defRPr sz="2400"/>
            </a:pPr>
            <a:r>
              <a:t>Member functions implement the behavior of objects in object-oriented programming.</a:t>
            </a:r>
          </a:p>
          <a:p>
            <a:pPr>
              <a:defRPr sz="2400"/>
            </a:pPr>
            <a:r>
              <a:t>They help in binding data and functions together inside a class.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D0340-B987-91A8-B73A-95D88E913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8EB0-76EC-4474-9DD3-BC45D8924FA6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95CE4-4645-9E10-9D80-441BDCB1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BCAC0-24DF-A991-B879-6F33B48D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of Member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400"/>
            </a:pPr>
            <a:r>
              <a:rPr b="1" u="sng" dirty="0"/>
              <a:t>Declaration inside class:</a:t>
            </a:r>
            <a:br>
              <a:rPr dirty="0"/>
            </a:br>
            <a:r>
              <a:rPr dirty="0"/>
              <a:t>class </a:t>
            </a:r>
            <a:r>
              <a:rPr dirty="0" err="1"/>
              <a:t>ClassName</a:t>
            </a:r>
            <a:r>
              <a:rPr dirty="0"/>
              <a:t> {</a:t>
            </a:r>
            <a:br>
              <a:rPr dirty="0"/>
            </a:br>
            <a:r>
              <a:rPr dirty="0"/>
              <a:t>  public:</a:t>
            </a:r>
            <a:br>
              <a:rPr dirty="0"/>
            </a:br>
            <a:r>
              <a:rPr dirty="0"/>
              <a:t>    </a:t>
            </a:r>
            <a:r>
              <a:rPr dirty="0" err="1"/>
              <a:t>returnType</a:t>
            </a:r>
            <a:r>
              <a:rPr dirty="0"/>
              <a:t> </a:t>
            </a:r>
            <a:r>
              <a:rPr dirty="0" err="1"/>
              <a:t>functionName</a:t>
            </a:r>
            <a:r>
              <a:rPr dirty="0"/>
              <a:t>(parameters);</a:t>
            </a:r>
            <a:br>
              <a:rPr dirty="0"/>
            </a:br>
            <a:r>
              <a:rPr dirty="0"/>
              <a:t>};</a:t>
            </a:r>
            <a:endParaRPr lang="en-US" dirty="0"/>
          </a:p>
          <a:p>
            <a:pPr marL="0" indent="0">
              <a:buNone/>
              <a:defRPr sz="2400"/>
            </a:pPr>
            <a:endParaRPr dirty="0"/>
          </a:p>
          <a:p>
            <a:pPr>
              <a:defRPr sz="2400"/>
            </a:pPr>
            <a:r>
              <a:rPr b="1" u="sng" dirty="0"/>
              <a:t>Definition outside class using scope resolution:</a:t>
            </a:r>
            <a:br>
              <a:rPr b="1" u="sng" dirty="0"/>
            </a:br>
            <a:r>
              <a:rPr dirty="0" err="1"/>
              <a:t>returnType</a:t>
            </a:r>
            <a:r>
              <a:rPr dirty="0"/>
              <a:t> </a:t>
            </a:r>
            <a:r>
              <a:rPr dirty="0" err="1"/>
              <a:t>ClassName</a:t>
            </a:r>
            <a:r>
              <a:rPr dirty="0"/>
              <a:t>::</a:t>
            </a:r>
            <a:r>
              <a:rPr dirty="0" err="1"/>
              <a:t>functionName</a:t>
            </a:r>
            <a:r>
              <a:rPr dirty="0"/>
              <a:t>(parameters) {</a:t>
            </a:r>
            <a:br>
              <a:rPr dirty="0"/>
            </a:br>
            <a:r>
              <a:rPr dirty="0"/>
              <a:t>  // function body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D84CA-60E6-C230-07CA-8E0BB520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48453-1D03-428C-8C78-1CEA32D62C09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10031-345D-C5E3-FA79-489C5C1B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4C8D3-D50E-E00F-957C-09695404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Member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1. Inside class definition (implicitly inline).</a:t>
            </a:r>
          </a:p>
          <a:p>
            <a:pPr marL="0" indent="0">
              <a:buNone/>
              <a:defRPr sz="2400"/>
            </a:pPr>
            <a:r>
              <a:rPr dirty="0"/>
              <a:t>2. Outside class definition using scope resolution operator (::).</a:t>
            </a:r>
          </a:p>
          <a:p>
            <a:pPr marL="0" indent="0">
              <a:buNone/>
              <a:defRPr sz="2400"/>
            </a:pPr>
            <a:r>
              <a:rPr dirty="0"/>
              <a:t>3. Inline member functions using 'inline' keyword.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DE822-9E1D-3D68-309E-495BD1B30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9EBF-6A59-4DD1-9536-D5282BA59CA8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8B8DA-D0CE-8268-F41B-173989ED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38482-A3F3-A326-CD8F-B7C5A0E2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Inside Class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class Student {</a:t>
            </a:r>
            <a:br>
              <a:rPr dirty="0"/>
            </a:br>
            <a:r>
              <a:rPr dirty="0"/>
              <a:t>  public:</a:t>
            </a:r>
            <a:br>
              <a:rPr dirty="0"/>
            </a:br>
            <a:r>
              <a:rPr dirty="0"/>
              <a:t>    void display() {</a:t>
            </a:r>
            <a:br>
              <a:rPr dirty="0"/>
            </a:br>
            <a:r>
              <a:rPr dirty="0"/>
              <a:t>      </a:t>
            </a:r>
            <a:r>
              <a:rPr dirty="0" err="1"/>
              <a:t>cout</a:t>
            </a:r>
            <a:r>
              <a:rPr dirty="0"/>
              <a:t> &lt;&lt; "Hello Student!";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};</a:t>
            </a:r>
          </a:p>
          <a:p>
            <a:pPr>
              <a:defRPr sz="2400"/>
            </a:pPr>
            <a:r>
              <a:rPr b="1" dirty="0"/>
              <a:t>Here, 'display()' is defined inside the class and is implicitly inline.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C4C39-ABBF-CEE4-64DE-9853604F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CE13-DE34-4C73-B1D8-A04E696DF2EB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9D812-3E82-7182-BE08-3D38F849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07887-FD50-91D7-AC8A-CB78D1D4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Outside Class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class Student {</a:t>
            </a:r>
            <a:br/>
            <a:r>
              <a:t>  public:</a:t>
            </a:r>
            <a:br/>
            <a:r>
              <a:t>    void display();</a:t>
            </a:r>
            <a:br/>
            <a:r>
              <a:t>};</a:t>
            </a:r>
          </a:p>
          <a:p>
            <a:pPr>
              <a:defRPr sz="2400"/>
            </a:pPr>
            <a:r>
              <a:t>Definition outside class:</a:t>
            </a:r>
            <a:br/>
            <a:r>
              <a:t>void Student::display() {</a:t>
            </a:r>
            <a:br/>
            <a:r>
              <a:t>  cout &lt;&lt; "Hello Student!";</a:t>
            </a:r>
            <a:br/>
            <a: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DF77A-BB5E-BF20-CA9C-6839C8D8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F44A3-C5C4-418B-8B2A-9E3A2DB3D571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F78EE-A503-5E90-C3D1-4D5CBC9B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C096-7BC6-1E53-01F8-5F141EF0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Inline Member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Inline functions are defined inside the class definition.</a:t>
            </a:r>
          </a:p>
          <a:p>
            <a:pPr>
              <a:defRPr sz="2400"/>
            </a:pPr>
            <a:r>
              <a:rPr dirty="0"/>
              <a:t>The compiler replaces the function call with the function code to improve performance.</a:t>
            </a:r>
          </a:p>
          <a:p>
            <a:pPr>
              <a:defRPr sz="2400"/>
            </a:pPr>
            <a:r>
              <a:rPr dirty="0"/>
              <a:t>Best for short and frequently used functions.</a:t>
            </a:r>
            <a:endParaRPr lang="en-US" dirty="0"/>
          </a:p>
          <a:p>
            <a:pPr marL="0" indent="0">
              <a:buNone/>
              <a:defRPr sz="2400"/>
            </a:pP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5260-3528-6687-32E6-8234F5E8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B26F-A2C1-4711-8EAE-76DBBEFBA110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591CB-F7D8-3061-EE96-51660633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10A2-1FF0-77F9-77C2-6B43C87A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1773-DF30-6ACF-7256-B2A65E65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FB64-2E82-2371-F3D4-8E4936DC3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834" y="1366344"/>
            <a:ext cx="6416566" cy="47598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dirty="0"/>
              <a:t>#include &lt;iostream&gt;</a:t>
            </a:r>
          </a:p>
          <a:p>
            <a:pPr marL="0" indent="0">
              <a:buNone/>
            </a:pPr>
            <a:r>
              <a:rPr lang="en-US" sz="1300" dirty="0"/>
              <a:t>using namespace std;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class Rectangle {</a:t>
            </a:r>
          </a:p>
          <a:p>
            <a:pPr marL="0" indent="0">
              <a:buNone/>
            </a:pPr>
            <a:r>
              <a:rPr lang="en-US" sz="1300" dirty="0"/>
              <a:t>private:</a:t>
            </a:r>
          </a:p>
          <a:p>
            <a:pPr marL="0" indent="0">
              <a:buNone/>
            </a:pPr>
            <a:r>
              <a:rPr lang="en-US" sz="1300" dirty="0"/>
              <a:t>int length, width;</a:t>
            </a:r>
          </a:p>
          <a:p>
            <a:pPr marL="0" indent="0">
              <a:buNone/>
            </a:pPr>
            <a:r>
              <a:rPr lang="en-US" sz="1300" dirty="0"/>
              <a:t>public:</a:t>
            </a:r>
          </a:p>
          <a:p>
            <a:pPr marL="0" indent="0">
              <a:buNone/>
            </a:pPr>
            <a:r>
              <a:rPr lang="en-US" sz="1300" b="1" dirty="0"/>
              <a:t>  // Inline function to calculate area</a:t>
            </a:r>
          </a:p>
          <a:p>
            <a:pPr marL="0" indent="0">
              <a:buNone/>
            </a:pPr>
            <a:r>
              <a:rPr lang="en-US" sz="1300" dirty="0"/>
              <a:t>int area() {</a:t>
            </a:r>
          </a:p>
          <a:p>
            <a:pPr marL="0" indent="0">
              <a:buNone/>
            </a:pPr>
            <a:r>
              <a:rPr lang="en-US" sz="1300" dirty="0"/>
              <a:t>        return length * width;</a:t>
            </a:r>
          </a:p>
          <a:p>
            <a:pPr marL="0" indent="0">
              <a:buNone/>
            </a:pPr>
            <a:r>
              <a:rPr lang="en-US" sz="1300" dirty="0"/>
              <a:t>    }</a:t>
            </a:r>
          </a:p>
          <a:p>
            <a:pPr marL="0" indent="0">
              <a:buNone/>
            </a:pPr>
            <a:r>
              <a:rPr lang="en-US" sz="1300" dirty="0"/>
              <a:t>    </a:t>
            </a:r>
            <a:r>
              <a:rPr lang="en-US" sz="1300" b="1" dirty="0"/>
              <a:t>// Inline function to calculate perimeter</a:t>
            </a:r>
          </a:p>
          <a:p>
            <a:pPr marL="0" indent="0">
              <a:buNone/>
            </a:pPr>
            <a:r>
              <a:rPr lang="en-US" sz="1300" dirty="0"/>
              <a:t>    int perimeter() {</a:t>
            </a:r>
          </a:p>
          <a:p>
            <a:pPr marL="0" indent="0">
              <a:buNone/>
            </a:pPr>
            <a:r>
              <a:rPr lang="en-US" sz="1300" dirty="0"/>
              <a:t>        return 2 * (length + width);</a:t>
            </a:r>
          </a:p>
          <a:p>
            <a:pPr marL="0" indent="0">
              <a:buNone/>
            </a:pPr>
            <a:r>
              <a:rPr lang="en-US" sz="1300" dirty="0"/>
              <a:t>    }</a:t>
            </a:r>
          </a:p>
          <a:p>
            <a:pPr marL="0" indent="0">
              <a:buNone/>
            </a:pPr>
            <a:r>
              <a:rPr lang="en-US" sz="1300" dirty="0"/>
              <a:t>};</a:t>
            </a:r>
          </a:p>
          <a:p>
            <a:endParaRPr lang="en-US" sz="1300" dirty="0"/>
          </a:p>
          <a:p>
            <a:endParaRPr lang="en-US" sz="1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15B77-6412-CFA9-754F-593624AC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6E2D-5BE5-47A8-A258-F5CACE4496CC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1F2D0-6478-195D-E400-CF0EDF7C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48C1-B20B-AA18-148A-6894BA77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D4D91-B15D-61B0-1636-BC07778091BD}"/>
              </a:ext>
            </a:extLst>
          </p:cNvPr>
          <p:cNvSpPr txBox="1"/>
          <p:nvPr/>
        </p:nvSpPr>
        <p:spPr>
          <a:xfrm>
            <a:off x="5297214" y="1744717"/>
            <a:ext cx="456327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int main() {</a:t>
            </a:r>
          </a:p>
          <a:p>
            <a:pPr lvl="1"/>
            <a:r>
              <a:rPr lang="en-US" sz="1300" dirty="0"/>
              <a:t>Rectangle obj;</a:t>
            </a:r>
          </a:p>
          <a:p>
            <a:pPr lvl="1"/>
            <a:r>
              <a:rPr lang="en-US" sz="1300" dirty="0" err="1"/>
              <a:t>Obj.length</a:t>
            </a:r>
            <a:r>
              <a:rPr lang="en-US" sz="1300" dirty="0"/>
              <a:t>=5;</a:t>
            </a:r>
          </a:p>
          <a:p>
            <a:pPr lvl="1"/>
            <a:r>
              <a:rPr lang="en-US" sz="1300" dirty="0" err="1"/>
              <a:t>Obj.width</a:t>
            </a:r>
            <a:r>
              <a:rPr lang="en-US" sz="1300" dirty="0"/>
              <a:t>=4;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cout</a:t>
            </a:r>
            <a:r>
              <a:rPr lang="en-US" sz="1300" dirty="0"/>
              <a:t> &lt;&lt; "Area: " &lt;&lt; </a:t>
            </a:r>
            <a:r>
              <a:rPr lang="en-US" sz="1300" dirty="0" err="1"/>
              <a:t>r.area</a:t>
            </a:r>
            <a:r>
              <a:rPr lang="en-US" sz="1300" dirty="0"/>
              <a:t>() &lt;&lt; </a:t>
            </a:r>
            <a:r>
              <a:rPr lang="en-US" sz="1300" dirty="0" err="1"/>
              <a:t>endl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cout</a:t>
            </a:r>
            <a:r>
              <a:rPr lang="en-US" sz="1300" dirty="0"/>
              <a:t> &lt;&lt; "Perimeter: " &lt;&lt; </a:t>
            </a:r>
            <a:r>
              <a:rPr lang="en-US" sz="1300" dirty="0" err="1"/>
              <a:t>r.perimeter</a:t>
            </a:r>
            <a:r>
              <a:rPr lang="en-US" sz="1300" dirty="0"/>
              <a:t>() &lt;&lt; </a:t>
            </a:r>
            <a:r>
              <a:rPr lang="en-US" sz="1300" dirty="0" err="1"/>
              <a:t>endl</a:t>
            </a:r>
            <a:r>
              <a:rPr lang="en-US" sz="1300" dirty="0"/>
              <a:t>;</a:t>
            </a:r>
          </a:p>
          <a:p>
            <a:r>
              <a:rPr lang="en-US" sz="1300" dirty="0"/>
              <a:t>    return 0;</a:t>
            </a:r>
          </a:p>
          <a:p>
            <a:r>
              <a:rPr lang="en-US" sz="1300" dirty="0"/>
              <a:t>}</a:t>
            </a: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A55B52-1E2E-C1BE-D167-33DD1C506EC6}"/>
              </a:ext>
            </a:extLst>
          </p:cNvPr>
          <p:cNvCxnSpPr/>
          <p:nvPr/>
        </p:nvCxnSpPr>
        <p:spPr>
          <a:xfrm>
            <a:off x="4824248" y="1282262"/>
            <a:ext cx="0" cy="5328745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966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FF5C-111D-F332-3868-B2105438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1609A-C7FE-AC35-F5C6-40F19497B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491" y="2133600"/>
            <a:ext cx="702091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// Inline function</a:t>
            </a:r>
          </a:p>
          <a:p>
            <a:pPr marL="0" indent="0">
              <a:buNone/>
            </a:pPr>
            <a:r>
              <a:rPr lang="en-US" dirty="0"/>
              <a:t>inline int square(int x) {</a:t>
            </a:r>
          </a:p>
          <a:p>
            <a:pPr marL="0" indent="0">
              <a:buNone/>
            </a:pPr>
            <a:r>
              <a:rPr lang="en-US" dirty="0"/>
              <a:t>	return x * x;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ABA13-E247-D102-4444-735A313D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CBEB-EE81-47BA-9DFB-DFADBB092E06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8E56F-6EA0-0EA0-BFFD-A1E2D05D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2321F-D9F3-72BE-E69D-6D56D515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163D4-F7F5-5A87-1B6A-4710E6D72D37}"/>
              </a:ext>
            </a:extLst>
          </p:cNvPr>
          <p:cNvSpPr txBox="1"/>
          <p:nvPr/>
        </p:nvSpPr>
        <p:spPr>
          <a:xfrm>
            <a:off x="5486400" y="2869324"/>
            <a:ext cx="3657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main() {</a:t>
            </a:r>
          </a:p>
          <a:p>
            <a:r>
              <a:rPr lang="en-US" sz="2400" dirty="0"/>
              <a:t>int num = 5;</a:t>
            </a:r>
          </a:p>
          <a:p>
            <a:r>
              <a:rPr lang="en-US" sz="2400" dirty="0"/>
              <a:t>// Calling inline function</a:t>
            </a:r>
          </a:p>
          <a:p>
            <a:r>
              <a:rPr lang="en-US" sz="2400" dirty="0"/>
              <a:t>int res = square(num);</a:t>
            </a:r>
          </a:p>
          <a:p>
            <a:r>
              <a:rPr lang="en-US" sz="2400" dirty="0" err="1"/>
              <a:t>cout</a:t>
            </a:r>
            <a:r>
              <a:rPr lang="en-US" sz="2400" dirty="0"/>
              <a:t> &lt;&lt; res;</a:t>
            </a:r>
          </a:p>
          <a:p>
            <a:r>
              <a:rPr lang="en-US" sz="2400" dirty="0"/>
              <a:t>return 0;</a:t>
            </a:r>
          </a:p>
          <a:p>
            <a:r>
              <a:rPr lang="en-US" sz="24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429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Member functions can be public, private, or protected.</a:t>
            </a:r>
          </a:p>
          <a:p>
            <a:pPr>
              <a:defRPr sz="2400"/>
            </a:pPr>
            <a:r>
              <a:t>They operate directly on class data members.</a:t>
            </a:r>
          </a:p>
          <a:p>
            <a:pPr>
              <a:defRPr sz="2400"/>
            </a:pPr>
            <a:r>
              <a:t>Scope resolution (::) is used for defining functions outside the class.</a:t>
            </a:r>
          </a:p>
          <a:p>
            <a:pPr>
              <a:defRPr sz="2400"/>
            </a:pPr>
            <a:r>
              <a:t>Inline functions should be small to avoid code bloat.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AB3FB-7412-2BDD-AB60-F0FD6C95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2D8C-2C9E-4136-AB5F-A4CE27917855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3C405-2E7C-6D7F-528D-7E87F63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0EE3E-D322-5767-D68A-A02D59C9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Encapsulation: Keeps data and functions together.</a:t>
            </a:r>
          </a:p>
          <a:p>
            <a:pPr>
              <a:defRPr sz="2400"/>
            </a:pPr>
            <a:r>
              <a:t>Code reusability: Functions can be reused for multiple objects.</a:t>
            </a:r>
          </a:p>
          <a:p>
            <a:pPr>
              <a:defRPr sz="2400"/>
            </a:pPr>
            <a:r>
              <a:t>Organized structure: Improves readability and maintainability.</a:t>
            </a:r>
          </a:p>
          <a:p>
            <a:pPr>
              <a:defRPr sz="2400"/>
            </a:pPr>
            <a:r>
              <a:t>Security: Provides controlled access to class members.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6EA58-D7E4-2194-D521-F5E9F612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A10B-994A-4842-9639-A304016FF858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EA3F-4949-1C66-3C50-40B9D3B1C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DAF4A-BCB7-E0A9-BE71-3D2D7A67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Member functions define the behavior of objects in C++.</a:t>
            </a:r>
          </a:p>
          <a:p>
            <a:pPr>
              <a:defRPr sz="2400"/>
            </a:pPr>
            <a:r>
              <a:t>They provide a structured way to operate on data members.</a:t>
            </a:r>
          </a:p>
          <a:p>
            <a:pPr>
              <a:defRPr sz="2400"/>
            </a:pPr>
            <a:r>
              <a:t>Understanding member functions is essential for mastering OOP concepts in C++.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D2FFB-88D2-8530-5539-FB051760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4D33-80B9-4CDD-BBF1-07737C3319DE}" type="datetime3">
              <a:rPr lang="en-US" smtClean="0"/>
              <a:t>2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CFB7-E8DD-6536-3CD1-5A326094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55872-45FB-2125-A1E6-9CF4713A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573" y="2734183"/>
            <a:ext cx="40138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5530" marR="5080" indent="-1053465">
              <a:lnSpc>
                <a:spcPct val="100000"/>
              </a:lnSpc>
              <a:spcBef>
                <a:spcPts val="100"/>
              </a:spcBef>
            </a:pPr>
            <a:r>
              <a:rPr sz="3600" i="0" u="none" dirty="0">
                <a:latin typeface="Arial"/>
                <a:cs typeface="Arial"/>
              </a:rPr>
              <a:t>Thanks</a:t>
            </a:r>
            <a:r>
              <a:rPr sz="3600" i="0" u="none" spc="-45" dirty="0">
                <a:latin typeface="Arial"/>
                <a:cs typeface="Arial"/>
              </a:rPr>
              <a:t> </a:t>
            </a:r>
            <a:r>
              <a:rPr sz="3600" i="0" u="none" dirty="0">
                <a:latin typeface="Arial"/>
                <a:cs typeface="Arial"/>
              </a:rPr>
              <a:t>for</a:t>
            </a:r>
            <a:r>
              <a:rPr sz="3600" i="0" u="none" spc="-40" dirty="0">
                <a:latin typeface="Arial"/>
                <a:cs typeface="Arial"/>
              </a:rPr>
              <a:t> </a:t>
            </a:r>
            <a:r>
              <a:rPr sz="3600" i="0" u="none" spc="-10" dirty="0">
                <a:latin typeface="Arial"/>
                <a:cs typeface="Arial"/>
              </a:rPr>
              <a:t>Having Patience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</TotalTime>
  <Words>714</Words>
  <Application>Microsoft Office PowerPoint</Application>
  <PresentationFormat>On-screen Show (4:3)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3</vt:lpstr>
      <vt:lpstr>Wisp</vt:lpstr>
      <vt:lpstr>Office Theme</vt:lpstr>
      <vt:lpstr>CSE-2103 Object-Oriented Programming</vt:lpstr>
      <vt:lpstr>Member Function in C++</vt:lpstr>
      <vt:lpstr>Introduction</vt:lpstr>
      <vt:lpstr>Syntax of Member Function</vt:lpstr>
      <vt:lpstr>Types of Member Functions</vt:lpstr>
      <vt:lpstr>Example: Inside Class Definition</vt:lpstr>
      <vt:lpstr>Example: Outside Class Definition</vt:lpstr>
      <vt:lpstr>Inline Member Functions</vt:lpstr>
      <vt:lpstr>Inline Member Functions</vt:lpstr>
      <vt:lpstr>Inline Member Functions</vt:lpstr>
      <vt:lpstr>Key Points to Remember</vt:lpstr>
      <vt:lpstr>Advantages</vt:lpstr>
      <vt:lpstr>Conclusion</vt:lpstr>
      <vt:lpstr>Thanks for Having Patience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Mehedi Hasan Shagor</dc:creator>
  <cp:keywords/>
  <dc:description>generated using python-pptx</dc:description>
  <cp:lastModifiedBy>Mehedi Hasan</cp:lastModifiedBy>
  <cp:revision>6</cp:revision>
  <dcterms:created xsi:type="dcterms:W3CDTF">2013-01-27T09:14:16Z</dcterms:created>
  <dcterms:modified xsi:type="dcterms:W3CDTF">2025-08-02T14:16:45Z</dcterms:modified>
  <cp:category/>
</cp:coreProperties>
</file>