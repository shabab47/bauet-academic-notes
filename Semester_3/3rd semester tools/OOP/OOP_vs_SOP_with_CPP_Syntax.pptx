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0" r:id="rId1"/>
  </p:sldMasterIdLst>
  <p:notesMasterIdLst>
    <p:notesMasterId r:id="rId19"/>
  </p:notesMasterIdLst>
  <p:handoutMasterIdLst>
    <p:handoutMasterId r:id="rId20"/>
  </p:handoutMasterIdLst>
  <p:sldIdLst>
    <p:sldId id="265" r:id="rId2"/>
    <p:sldId id="256" r:id="rId3"/>
    <p:sldId id="257" r:id="rId4"/>
    <p:sldId id="258" r:id="rId5"/>
    <p:sldId id="259" r:id="rId6"/>
    <p:sldId id="260" r:id="rId7"/>
    <p:sldId id="271" r:id="rId8"/>
    <p:sldId id="272" r:id="rId9"/>
    <p:sldId id="273" r:id="rId10"/>
    <p:sldId id="274" r:id="rId11"/>
    <p:sldId id="275" r:id="rId12"/>
    <p:sldId id="276" r:id="rId13"/>
    <p:sldId id="262" r:id="rId14"/>
    <p:sldId id="279" r:id="rId15"/>
    <p:sldId id="280" r:id="rId16"/>
    <p:sldId id="263" r:id="rId17"/>
    <p:sldId id="26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227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38BD4C-38FD-FB76-83B4-3B31551974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92F84A-F129-EC14-1C70-3AB15E3F2D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CE1DC-4211-4CFE-A55C-ADD3FB5EEDE8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96B22-0894-F953-5B2B-6C8BADCBB5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11CED-704A-FC63-DA25-6BFE0D870B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65B55-B3AB-4C8C-9686-83586E9AE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2543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94720-E1ED-4A42-B03B-54086F4A4370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4C49A-64ED-4B1F-A6FF-E38E76183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83676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BE116686-4435-45E9-9514-BDC1D9E5BFFA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2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963A0-C3D1-4C60-9012-ECEDF5525E4B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6B059312-59FD-4E28-8444-5720EF25CF30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6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B280C-3A2B-4415-ADDD-464F6FD250FC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5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54143-2E28-43B0-9330-95842D36779E}" type="datetime3">
              <a:rPr lang="en-US" smtClean="0"/>
              <a:t>26 July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6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6BE2-86C7-4F21-804E-F2A80D624A25}" type="datetime3">
              <a:rPr lang="en-US" smtClean="0"/>
              <a:t>26 July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37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6400-9B20-4596-8D7A-3F87F2143649}" type="datetime3">
              <a:rPr lang="en-US" smtClean="0"/>
              <a:t>26 July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3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01E09-19C0-4DF9-9EB4-ACAE3EB60D4A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45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5C8A7-E8AD-42BD-8B7B-CF37C3FE1803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63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88D70-BEBD-477D-A22F-2FED04654CDC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9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82CDD353-4388-4583-8A4C-D6F0369A9E02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18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E0707A5D-1DC5-4F5A-9429-D2BA08D0AAE4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1083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D6E70707-C07C-498A-9565-BD51F64BA5FE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1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200A0-B022-4673-B32D-2415F0DEFD69}" type="datetime3">
              <a:rPr lang="en-US" smtClean="0"/>
              <a:t>26 July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158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9D66-9E53-4604-8F67-89254C8BD440}" type="datetime3">
              <a:rPr lang="en-US" smtClean="0"/>
              <a:t>26 July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434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9A3A5-26A4-4F0D-835F-F4FF1010119C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84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B2E5ECDD-8C36-4610-ADF2-38CA847C8BB6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838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7705" y="1637070"/>
            <a:ext cx="3764756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19840" y="1769491"/>
            <a:ext cx="3694748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25">
              <a:lnSpc>
                <a:spcPts val="2040"/>
              </a:lnSpc>
            </a:pPr>
            <a:r>
              <a:rPr lang="en-US" spc="-8"/>
              <a:t>MEHEDI HASAN, LECTURER,DEPT. OF CSE</a:t>
            </a:r>
            <a:endParaRPr lang="en-US" spc="-8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B0B19-97CE-49B6-AE07-58273DBB3186}" type="datetime3">
              <a:rPr lang="en-US" smtClean="0"/>
              <a:t>26 July 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25">
              <a:lnSpc>
                <a:spcPts val="2040"/>
              </a:lnSpc>
              <a:tabLst>
                <a:tab pos="1124903" algn="l"/>
              </a:tabLst>
            </a:pPr>
            <a:r>
              <a:rPr lang="en-US"/>
              <a:t>Lecture</a:t>
            </a:r>
            <a:r>
              <a:rPr lang="en-US" spc="-19"/>
              <a:t> </a:t>
            </a:r>
            <a:r>
              <a:rPr lang="en-US"/>
              <a:t>1</a:t>
            </a:r>
            <a:r>
              <a:rPr lang="en-US" spc="4"/>
              <a:t> </a:t>
            </a:r>
            <a:r>
              <a:rPr lang="en-US" spc="-38"/>
              <a:t>-</a:t>
            </a:r>
            <a:r>
              <a:rPr lang="en-US"/>
              <a:t>	</a:t>
            </a:r>
            <a:fld id="{81D60167-4931-47E6-BA6A-407CBD079E47}" type="slidenum">
              <a:rPr spc="-19" smtClean="0"/>
              <a:pPr marL="9525">
                <a:lnSpc>
                  <a:spcPts val="2040"/>
                </a:lnSpc>
                <a:tabLst>
                  <a:tab pos="1124903" algn="l"/>
                </a:tabLst>
              </a:pPr>
              <a:t>‹#›</a:t>
            </a:fld>
            <a:endParaRPr spc="-19" dirty="0"/>
          </a:p>
        </p:txBody>
      </p:sp>
    </p:spTree>
    <p:extLst>
      <p:ext uri="{BB962C8B-B14F-4D97-AF65-F5344CB8AC3E}">
        <p14:creationId xmlns:p14="http://schemas.microsoft.com/office/powerpoint/2010/main" val="157038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EF414-6C08-41DA-8D8F-18802B9D278D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MEHEDI HASAN, LECTURER,DEPT. OF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9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</p:sldLayoutIdLst>
  <p:hf hd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1642" y="2604416"/>
            <a:ext cx="8492358" cy="1385636"/>
          </a:xfrm>
          <a:prstGeom prst="rect">
            <a:avLst/>
          </a:prstGeom>
        </p:spPr>
        <p:txBody>
          <a:bodyPr vert="horz" wrap="square" lIns="0" tIns="158115" rIns="0" bIns="0" rtlCol="0" anchor="ctr">
            <a:spAutoFit/>
          </a:bodyPr>
          <a:lstStyle/>
          <a:p>
            <a:pPr marL="4763" algn="ctr">
              <a:lnSpc>
                <a:spcPct val="100000"/>
              </a:lnSpc>
              <a:spcBef>
                <a:spcPts val="1245"/>
              </a:spcBef>
            </a:pPr>
            <a:r>
              <a:rPr sz="4500" spc="-8" dirty="0"/>
              <a:t>CSE-</a:t>
            </a:r>
            <a:r>
              <a:rPr lang="en-US" sz="4500" spc="-15" dirty="0"/>
              <a:t>2103</a:t>
            </a:r>
            <a:endParaRPr sz="4500" dirty="0"/>
          </a:p>
          <a:p>
            <a:pPr algn="ctr">
              <a:lnSpc>
                <a:spcPct val="100000"/>
              </a:lnSpc>
              <a:spcBef>
                <a:spcPts val="776"/>
              </a:spcBef>
            </a:pPr>
            <a:r>
              <a:rPr lang="en-US" sz="2800" dirty="0"/>
              <a:t>Object-Oriented</a:t>
            </a:r>
            <a:r>
              <a:rPr sz="2800" spc="-116" dirty="0"/>
              <a:t> </a:t>
            </a:r>
            <a:r>
              <a:rPr sz="2800" dirty="0"/>
              <a:t>Programming</a:t>
            </a:r>
            <a:endParaRPr sz="2800" spc="-8" dirty="0"/>
          </a:p>
        </p:txBody>
      </p:sp>
      <p:sp>
        <p:nvSpPr>
          <p:cNvPr id="4" name="object 4"/>
          <p:cNvSpPr txBox="1"/>
          <p:nvPr/>
        </p:nvSpPr>
        <p:spPr>
          <a:xfrm>
            <a:off x="4073937" y="5633440"/>
            <a:ext cx="127777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  <a:tabLst>
                <a:tab pos="1124903" algn="l"/>
              </a:tabLst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pc="-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pc="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fld id="{81D60167-4931-47E6-BA6A-407CBD079E47}" type="slidenum"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pPr marL="9525">
                <a:lnSpc>
                  <a:spcPts val="2040"/>
                </a:lnSpc>
                <a:tabLst>
                  <a:tab pos="1124903" algn="l"/>
                </a:tabLst>
              </a:pPr>
              <a:t>1</a:t>
            </a:fld>
            <a:endParaRPr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45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291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2A241-E500-CCF1-3BD7-80A14B34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3284E-75D4-4110-A1DD-FBECBCBC147B}" type="datetime3">
              <a:rPr lang="en-US" smtClean="0"/>
              <a:t>26 July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20B70F-A472-02ED-3E00-458EFCC3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91CB9F-602C-A834-B93E-34D334D3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807" y="802299"/>
            <a:ext cx="8324193" cy="2541431"/>
          </a:xfrm>
        </p:spPr>
        <p:txBody>
          <a:bodyPr>
            <a:normAutofit fontScale="90000"/>
          </a:bodyPr>
          <a:lstStyle/>
          <a:p>
            <a:r>
              <a:rPr dirty="0"/>
              <a:t>Basic Concept of Object-Oriented Programming (OOP)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1328682"/>
          </a:xfrm>
        </p:spPr>
        <p:txBody>
          <a:bodyPr>
            <a:normAutofit/>
          </a:bodyPr>
          <a:lstStyle/>
          <a:p>
            <a:r>
              <a:rPr lang="en-US" dirty="0">
                <a:latin typeface="Snap ITC" panose="04040A07060A02020202" pitchFamily="82" charset="0"/>
                <a:cs typeface="Times New Roman"/>
              </a:rPr>
              <a:t>Conducted</a:t>
            </a:r>
            <a:r>
              <a:rPr lang="en-US" spc="-35" dirty="0">
                <a:latin typeface="Snap ITC" panose="04040A07060A02020202" pitchFamily="82" charset="0"/>
                <a:cs typeface="Times New Roman"/>
              </a:rPr>
              <a:t> </a:t>
            </a:r>
            <a:r>
              <a:rPr lang="en-US" dirty="0">
                <a:latin typeface="Snap ITC" panose="04040A07060A02020202" pitchFamily="82" charset="0"/>
                <a:cs typeface="Times New Roman"/>
              </a:rPr>
              <a:t>by</a:t>
            </a:r>
          </a:p>
          <a:p>
            <a:r>
              <a:rPr lang="en-US" sz="2800" b="1" dirty="0">
                <a:latin typeface="Times New Roman"/>
                <a:cs typeface="Times New Roman"/>
              </a:rPr>
              <a:t>Mehedi Hasan </a:t>
            </a:r>
          </a:p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  <a:endParaRPr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What is Object-Oriented Programming (OOP)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2800" dirty="0"/>
              <a:t>OOP is a programming paradigm based on the concept of 'objects'.</a:t>
            </a:r>
          </a:p>
          <a:p>
            <a:pPr algn="just"/>
            <a:r>
              <a:rPr sz="2800" dirty="0"/>
              <a:t>Objects contain data in the form of attributes and code in the form of methods.</a:t>
            </a:r>
          </a:p>
          <a:p>
            <a:pPr algn="just"/>
            <a:r>
              <a:rPr sz="2800" dirty="0"/>
              <a:t>It helps model real-world systems using classes and objects, improving modularity, reusability, and maintainability.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98F4-9A56-0992-953E-E6E60C03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23B03-C0D1-4561-A1EB-0A71682FFCDD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1A1B1-E785-36ED-8B02-89C5669F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9425D-D61E-638A-ED0D-A1EB8C2D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8549640" cy="4069080"/>
          </a:xfrm>
        </p:spPr>
        <p:txBody>
          <a:bodyPr/>
          <a:lstStyle/>
          <a:p>
            <a:r>
              <a:rPr dirty="0"/>
              <a:t>1. Class: Blueprint for creating objects.</a:t>
            </a:r>
          </a:p>
          <a:p>
            <a:r>
              <a:rPr dirty="0"/>
              <a:t>2. Object: Instance of a class.</a:t>
            </a:r>
          </a:p>
          <a:p>
            <a:r>
              <a:rPr dirty="0"/>
              <a:t>3. Encapsulation: Binding data and methods.</a:t>
            </a:r>
          </a:p>
          <a:p>
            <a:r>
              <a:rPr dirty="0"/>
              <a:t>4. Inheritance: Reuse properties of existing classes.</a:t>
            </a:r>
          </a:p>
          <a:p>
            <a:r>
              <a:rPr dirty="0"/>
              <a:t>5. Polymorphism: One interface, many implementations.</a:t>
            </a:r>
          </a:p>
          <a:p>
            <a:r>
              <a:rPr dirty="0"/>
              <a:t>6. Abstraction: Hiding complex details from the user.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F5CAC-8E99-73CE-2B99-E956A7A2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AE1BA-54C1-4346-BA7C-12DCD146D014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CFD5D-547B-7C2B-D25D-A8E4345A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F4620-A624-B547-4326-1F823DD6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814" y="764373"/>
            <a:ext cx="7214826" cy="1293028"/>
          </a:xfrm>
        </p:spPr>
        <p:txBody>
          <a:bodyPr>
            <a:normAutofit fontScale="90000"/>
          </a:bodyPr>
          <a:lstStyle/>
          <a:p>
            <a:r>
              <a:rPr dirty="0"/>
              <a:t>What is Structure-Oriented Programming (SOP)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SOP focuses on procedures or routines (functions).</a:t>
            </a:r>
          </a:p>
          <a:p>
            <a:r>
              <a:t>It separates data and functions.</a:t>
            </a:r>
          </a:p>
          <a:p>
            <a:endParaRPr/>
          </a:p>
          <a:p>
            <a:r>
              <a:t>Programs are organized as a set of functions and global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3B0F-7D30-9E54-48A8-E418C6FC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CD4D3-DCD7-4E5B-9452-BF97221568ED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BDEBA-61EC-4333-35B5-4C7E1A755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77495-F2EA-A85F-70AC-65967CB3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249877"/>
          </a:xfrm>
        </p:spPr>
        <p:txBody>
          <a:bodyPr>
            <a:normAutofit fontScale="90000"/>
          </a:bodyPr>
          <a:lstStyle/>
          <a:p>
            <a:r>
              <a:rPr dirty="0"/>
              <a:t>Comparison: OOP vs SOP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34002"/>
              </p:ext>
            </p:extLst>
          </p:nvPr>
        </p:nvGraphicFramePr>
        <p:xfrm>
          <a:off x="457200" y="1371600"/>
          <a:ext cx="8229600" cy="4472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669">
                <a:tc>
                  <a:txBody>
                    <a:bodyPr/>
                    <a:lstStyle/>
                    <a:p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669">
                <a:tc>
                  <a:txBody>
                    <a:bodyPr/>
                    <a:lstStyle/>
                    <a:p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Object-based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Function-based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737">
                <a:tc>
                  <a:txBody>
                    <a:bodyPr/>
                    <a:lstStyle/>
                    <a:p>
                      <a:r>
                        <a:t>Modularity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High (Classes &amp; Objects)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(Functions only)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737">
                <a:tc>
                  <a:txBody>
                    <a:bodyPr/>
                    <a:lstStyle/>
                    <a:p>
                      <a:r>
                        <a:t>Data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Supports encapsulation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encapsulation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669">
                <a:tc>
                  <a:txBody>
                    <a:bodyPr/>
                    <a:lstStyle/>
                    <a:p>
                      <a:r>
                        <a:t>Code Reusability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Via inheritance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reuse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669">
                <a:tc>
                  <a:txBody>
                    <a:bodyPr/>
                    <a:lstStyle/>
                    <a:p>
                      <a:r>
                        <a:t>Real-world 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Difficult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62A8B-C20C-2DC6-127B-8E827613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21A74-DE71-4F47-976A-2285A0C22317}" type="datetime3">
              <a:rPr lang="en-US" smtClean="0"/>
              <a:t>26 July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53CB2-D673-CD7C-6B0C-07B14631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FDE6720-A8D3-DEA2-3F9D-3FA48C92A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315309" y="1205722"/>
            <a:ext cx="9246046" cy="1419386"/>
          </a:xfrm>
          <a:prstGeom prst="rect">
            <a:avLst/>
          </a:prstGeom>
        </p:spPr>
        <p:txBody>
          <a:bodyPr vert="horz" wrap="square" lIns="0" tIns="18645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Object</a:t>
            </a:r>
            <a:r>
              <a:rPr spc="-120" dirty="0"/>
              <a:t> </a:t>
            </a:r>
            <a:r>
              <a:rPr dirty="0"/>
              <a:t>Oriented</a:t>
            </a:r>
            <a:r>
              <a:rPr spc="-116" dirty="0"/>
              <a:t> </a:t>
            </a:r>
            <a:r>
              <a:rPr dirty="0"/>
              <a:t>Programming</a:t>
            </a:r>
            <a:r>
              <a:rPr spc="-109" dirty="0"/>
              <a:t> </a:t>
            </a:r>
            <a:r>
              <a:rPr spc="-15" dirty="0"/>
              <a:t>(OOP)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22754"/>
            <a:ext cx="4083844" cy="309251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8" dirty="0">
                <a:latin typeface="Times New Roman"/>
                <a:cs typeface="Times New Roman"/>
              </a:rPr>
              <a:t>Real-World</a:t>
            </a:r>
            <a:r>
              <a:rPr b="1" spc="-49" dirty="0">
                <a:latin typeface="Times New Roman"/>
                <a:cs typeface="Times New Roman"/>
              </a:rPr>
              <a:t> </a:t>
            </a:r>
            <a:r>
              <a:rPr b="1" spc="-8" dirty="0">
                <a:latin typeface="Times New Roman"/>
                <a:cs typeface="Times New Roman"/>
              </a:rPr>
              <a:t>Entity:</a:t>
            </a:r>
            <a:endParaRPr dirty="0">
              <a:latin typeface="Times New Roman"/>
              <a:cs typeface="Times New Roman"/>
            </a:endParaRPr>
          </a:p>
          <a:p>
            <a:pPr marL="266700" indent="-257175">
              <a:spcBef>
                <a:spcPts val="4"/>
              </a:spcBef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In</a:t>
            </a:r>
            <a:r>
              <a:rPr sz="1650" spc="139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Real-</a:t>
            </a:r>
            <a:r>
              <a:rPr sz="1650" dirty="0">
                <a:latin typeface="Times New Roman"/>
                <a:cs typeface="Times New Roman"/>
              </a:rPr>
              <a:t>World</a:t>
            </a:r>
            <a:r>
              <a:rPr sz="1650" spc="14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every</a:t>
            </a:r>
            <a:r>
              <a:rPr sz="1650" spc="1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single</a:t>
            </a:r>
            <a:r>
              <a:rPr sz="1650" spc="13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entity</a:t>
            </a:r>
            <a:r>
              <a:rPr sz="1650" spc="15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135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unique,</a:t>
            </a:r>
            <a:endParaRPr sz="1650" dirty="0">
              <a:latin typeface="Times New Roman"/>
              <a:cs typeface="Times New Roman"/>
            </a:endParaRPr>
          </a:p>
          <a:p>
            <a:pPr marL="266700"/>
            <a:r>
              <a:rPr sz="1650" spc="-8" dirty="0">
                <a:latin typeface="Times New Roman"/>
                <a:cs typeface="Times New Roman"/>
              </a:rPr>
              <a:t>like…….</a:t>
            </a:r>
            <a:endParaRPr sz="1650" dirty="0">
              <a:latin typeface="Times New Roman"/>
              <a:cs typeface="Times New Roman"/>
            </a:endParaRPr>
          </a:p>
          <a:p>
            <a:pPr marL="266700" indent="-257175">
              <a:spcBef>
                <a:spcPts val="4"/>
              </a:spcBef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Every</a:t>
            </a:r>
            <a:r>
              <a:rPr sz="1650" spc="-3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object</a:t>
            </a:r>
            <a:r>
              <a:rPr sz="1650" spc="-3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have</a:t>
            </a:r>
            <a:r>
              <a:rPr sz="1650" spc="-3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some</a:t>
            </a:r>
            <a:r>
              <a:rPr sz="1650" spc="-3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attributes.</a:t>
            </a:r>
            <a:r>
              <a:rPr sz="1650" spc="-34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(Data)</a:t>
            </a:r>
            <a:endParaRPr sz="165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Also,</a:t>
            </a:r>
            <a:r>
              <a:rPr sz="1650" spc="-5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performs</a:t>
            </a:r>
            <a:r>
              <a:rPr sz="1650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some</a:t>
            </a:r>
            <a:r>
              <a:rPr sz="1650" spc="-3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actions.</a:t>
            </a:r>
            <a:r>
              <a:rPr sz="1650" spc="-41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(Functions)</a:t>
            </a:r>
            <a:endParaRPr sz="1650" dirty="0">
              <a:latin typeface="Times New Roman"/>
              <a:cs typeface="Times New Roman"/>
            </a:endParaRPr>
          </a:p>
          <a:p>
            <a:pPr>
              <a:spcBef>
                <a:spcPts val="83"/>
              </a:spcBef>
              <a:buFont typeface="Wingdings"/>
              <a:buChar char=""/>
            </a:pPr>
            <a:endParaRPr sz="1650" dirty="0">
              <a:latin typeface="Times New Roman"/>
              <a:cs typeface="Times New Roman"/>
            </a:endParaRPr>
          </a:p>
          <a:p>
            <a:pPr marL="9525"/>
            <a:r>
              <a:rPr sz="1650" b="1" spc="-8" dirty="0">
                <a:latin typeface="Times New Roman"/>
                <a:cs typeface="Times New Roman"/>
              </a:rPr>
              <a:t>Object:</a:t>
            </a:r>
            <a:endParaRPr sz="1650" dirty="0">
              <a:latin typeface="Times New Roman"/>
              <a:cs typeface="Times New Roman"/>
            </a:endParaRPr>
          </a:p>
          <a:p>
            <a:pPr marL="266700" marR="6191" indent="-257651"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8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fundamental</a:t>
            </a:r>
            <a:r>
              <a:rPr sz="1650" spc="9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idea</a:t>
            </a:r>
            <a:r>
              <a:rPr sz="1650" spc="8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10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OOP</a:t>
            </a:r>
            <a:r>
              <a:rPr sz="1650" spc="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8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to</a:t>
            </a:r>
            <a:r>
              <a:rPr sz="1650" spc="90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combine </a:t>
            </a:r>
            <a:r>
              <a:rPr sz="1650" dirty="0">
                <a:latin typeface="Times New Roman"/>
                <a:cs typeface="Times New Roman"/>
              </a:rPr>
              <a:t>both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data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functions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into</a:t>
            </a:r>
            <a:r>
              <a:rPr sz="1650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single</a:t>
            </a:r>
            <a:r>
              <a:rPr sz="1650" spc="-34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unit.</a:t>
            </a:r>
            <a:endParaRPr sz="165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Such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unit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3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called</a:t>
            </a:r>
            <a:r>
              <a:rPr sz="1650" spc="-1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object.</a:t>
            </a:r>
            <a:endParaRPr sz="1650" dirty="0">
              <a:latin typeface="Times New Roman"/>
              <a:cs typeface="Times New Roman"/>
            </a:endParaRPr>
          </a:p>
          <a:p>
            <a:pPr marL="266224" indent="-256699">
              <a:buFont typeface="Wingdings"/>
              <a:buChar char=""/>
              <a:tabLst>
                <a:tab pos="266224" algn="l"/>
              </a:tabLst>
            </a:pP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9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functions</a:t>
            </a:r>
            <a:r>
              <a:rPr sz="1650" spc="9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9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object</a:t>
            </a:r>
            <a:r>
              <a:rPr sz="1650" spc="10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operates</a:t>
            </a:r>
            <a:r>
              <a:rPr sz="1650" spc="9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on</a:t>
            </a:r>
            <a:r>
              <a:rPr sz="1650" spc="90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these</a:t>
            </a:r>
            <a:endParaRPr sz="1650" dirty="0">
              <a:latin typeface="Times New Roman"/>
              <a:cs typeface="Times New Roman"/>
            </a:endParaRPr>
          </a:p>
          <a:p>
            <a:pPr marL="266700">
              <a:spcBef>
                <a:spcPts val="4"/>
              </a:spcBef>
            </a:pPr>
            <a:r>
              <a:rPr sz="1650" spc="-8" dirty="0">
                <a:latin typeface="Times New Roman"/>
                <a:cs typeface="Times New Roman"/>
              </a:rPr>
              <a:t>data.</a:t>
            </a:r>
            <a:endParaRPr sz="165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71491" y="3429000"/>
            <a:ext cx="3933063" cy="245173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188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34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4EB40C-C4C9-4D0E-0F92-B4E0B1068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C06D-235C-445B-BC43-BD401A9BB079}" type="datetime3">
              <a:rPr lang="en-US" smtClean="0"/>
              <a:t>26 July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5A15BA-AA68-9FF6-5D4B-69E9EA5A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B3834F8-E820-7594-C1F5-9C42CD85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775" y="897946"/>
            <a:ext cx="4783455" cy="2034939"/>
          </a:xfrm>
          <a:prstGeom prst="rect">
            <a:avLst/>
          </a:prstGeom>
        </p:spPr>
        <p:txBody>
          <a:bodyPr vert="horz" wrap="square" lIns="0" tIns="18645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Object</a:t>
            </a:r>
            <a:r>
              <a:rPr spc="-120" dirty="0"/>
              <a:t> </a:t>
            </a:r>
            <a:r>
              <a:rPr dirty="0"/>
              <a:t>Oriented</a:t>
            </a:r>
            <a:r>
              <a:rPr spc="-116" dirty="0"/>
              <a:t> </a:t>
            </a:r>
            <a:r>
              <a:rPr dirty="0"/>
              <a:t>Programming</a:t>
            </a:r>
            <a:r>
              <a:rPr spc="-109" dirty="0"/>
              <a:t> </a:t>
            </a:r>
            <a:r>
              <a:rPr spc="-15" dirty="0"/>
              <a:t>(OOP)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2222753"/>
            <a:ext cx="4096226" cy="282577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8" dirty="0">
                <a:latin typeface="Times New Roman"/>
                <a:cs typeface="Times New Roman"/>
              </a:rPr>
              <a:t>Class:</a:t>
            </a:r>
            <a:endParaRPr>
              <a:latin typeface="Times New Roman"/>
              <a:cs typeface="Times New Roman"/>
            </a:endParaRPr>
          </a:p>
          <a:p>
            <a:pPr marL="266700" indent="-257175" algn="just">
              <a:spcBef>
                <a:spcPts val="4"/>
              </a:spcBef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Class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3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the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building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block</a:t>
            </a:r>
            <a:r>
              <a:rPr sz="1650" spc="-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spc="-15" dirty="0">
                <a:latin typeface="Times New Roman"/>
                <a:cs typeface="Times New Roman"/>
              </a:rPr>
              <a:t>OOP.</a:t>
            </a:r>
            <a:endParaRPr sz="1650">
              <a:latin typeface="Times New Roman"/>
              <a:cs typeface="Times New Roman"/>
            </a:endParaRPr>
          </a:p>
          <a:p>
            <a:pPr marL="265748" marR="6191" indent="-256699" algn="just"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It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53" dirty="0">
                <a:latin typeface="Times New Roman"/>
                <a:cs typeface="Times New Roman"/>
              </a:rPr>
              <a:t> </a:t>
            </a:r>
            <a:r>
              <a:rPr sz="1650" spc="-15" dirty="0">
                <a:latin typeface="Times New Roman"/>
                <a:cs typeface="Times New Roman"/>
              </a:rPr>
              <a:t>user-</a:t>
            </a:r>
            <a:r>
              <a:rPr sz="1650" dirty="0">
                <a:latin typeface="Times New Roman"/>
                <a:cs typeface="Times New Roman"/>
              </a:rPr>
              <a:t>defined</a:t>
            </a:r>
            <a:r>
              <a:rPr sz="1650" spc="5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data</a:t>
            </a:r>
            <a:r>
              <a:rPr sz="1650" spc="4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type,</a:t>
            </a:r>
            <a:r>
              <a:rPr sz="1650" spc="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which</a:t>
            </a:r>
            <a:r>
              <a:rPr sz="1650" spc="4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holds</a:t>
            </a:r>
            <a:r>
              <a:rPr sz="1650" spc="53" dirty="0">
                <a:latin typeface="Times New Roman"/>
                <a:cs typeface="Times New Roman"/>
              </a:rPr>
              <a:t> </a:t>
            </a:r>
            <a:r>
              <a:rPr sz="1650" spc="-19" dirty="0">
                <a:latin typeface="Times New Roman"/>
                <a:cs typeface="Times New Roman"/>
              </a:rPr>
              <a:t>its 	</a:t>
            </a:r>
            <a:r>
              <a:rPr sz="1650" dirty="0">
                <a:latin typeface="Times New Roman"/>
                <a:cs typeface="Times New Roman"/>
              </a:rPr>
              <a:t>own</a:t>
            </a:r>
            <a:r>
              <a:rPr sz="1650" spc="-11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data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members</a:t>
            </a:r>
            <a:r>
              <a:rPr sz="1650" b="1" spc="-23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and</a:t>
            </a:r>
            <a:r>
              <a:rPr sz="1650" b="1" spc="-15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member</a:t>
            </a:r>
            <a:r>
              <a:rPr sz="1650" b="1" spc="-45" dirty="0">
                <a:latin typeface="Times New Roman"/>
                <a:cs typeface="Times New Roman"/>
              </a:rPr>
              <a:t> </a:t>
            </a:r>
            <a:r>
              <a:rPr sz="1650" b="1" spc="-8" dirty="0">
                <a:latin typeface="Times New Roman"/>
                <a:cs typeface="Times New Roman"/>
              </a:rPr>
              <a:t>functions</a:t>
            </a:r>
            <a:r>
              <a:rPr sz="1650" spc="-8" dirty="0">
                <a:latin typeface="Times New Roman"/>
                <a:cs typeface="Times New Roman"/>
              </a:rPr>
              <a:t>, 	</a:t>
            </a:r>
            <a:r>
              <a:rPr sz="1650" dirty="0">
                <a:latin typeface="Times New Roman"/>
                <a:cs typeface="Times New Roman"/>
              </a:rPr>
              <a:t>which</a:t>
            </a:r>
            <a:r>
              <a:rPr sz="1650" spc="15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can</a:t>
            </a:r>
            <a:r>
              <a:rPr sz="1650" spc="15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be</a:t>
            </a:r>
            <a:r>
              <a:rPr sz="1650" spc="13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accessed</a:t>
            </a:r>
            <a:r>
              <a:rPr sz="1650" spc="15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and</a:t>
            </a:r>
            <a:r>
              <a:rPr sz="1650" spc="15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used</a:t>
            </a:r>
            <a:r>
              <a:rPr sz="1650" spc="14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by</a:t>
            </a:r>
            <a:r>
              <a:rPr sz="1650" spc="153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creating 	</a:t>
            </a: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instance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that</a:t>
            </a:r>
            <a:r>
              <a:rPr sz="1650" spc="-34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class.</a:t>
            </a:r>
            <a:endParaRPr sz="1650">
              <a:latin typeface="Times New Roman"/>
              <a:cs typeface="Times New Roman"/>
            </a:endParaRPr>
          </a:p>
          <a:p>
            <a:pPr marL="266224" indent="-256699" algn="just">
              <a:spcBef>
                <a:spcPts val="4"/>
              </a:spcBef>
              <a:buFont typeface="Wingdings"/>
              <a:buChar char=""/>
              <a:tabLst>
                <a:tab pos="266224" algn="l"/>
              </a:tabLst>
            </a:pP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10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class</a:t>
            </a:r>
            <a:r>
              <a:rPr sz="1650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like</a:t>
            </a:r>
            <a:r>
              <a:rPr sz="1650" spc="-1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blueprint</a:t>
            </a:r>
            <a:r>
              <a:rPr sz="1650" b="1" spc="-4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for</a:t>
            </a:r>
            <a:r>
              <a:rPr sz="1650" spc="-1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-11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object.</a:t>
            </a:r>
            <a:endParaRPr sz="1650">
              <a:latin typeface="Times New Roman"/>
              <a:cs typeface="Times New Roman"/>
            </a:endParaRPr>
          </a:p>
          <a:p>
            <a:pPr marL="266700" indent="-257175" algn="just"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Object</a:t>
            </a:r>
            <a:r>
              <a:rPr sz="1650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an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b="1" dirty="0">
                <a:latin typeface="Times New Roman"/>
                <a:cs typeface="Times New Roman"/>
              </a:rPr>
              <a:t>instance</a:t>
            </a:r>
            <a:r>
              <a:rPr sz="1650" b="1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of</a:t>
            </a:r>
            <a:r>
              <a:rPr sz="1650" spc="-23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-26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Class.</a:t>
            </a:r>
            <a:endParaRPr sz="1650">
              <a:latin typeface="Times New Roman"/>
              <a:cs typeface="Times New Roman"/>
            </a:endParaRPr>
          </a:p>
          <a:p>
            <a:pPr marL="266700" marR="3810" indent="-257651" algn="just">
              <a:buFont typeface="Wingdings"/>
              <a:buChar char=""/>
              <a:tabLst>
                <a:tab pos="266700" algn="l"/>
              </a:tabLst>
            </a:pPr>
            <a:r>
              <a:rPr sz="1650" dirty="0">
                <a:latin typeface="Times New Roman"/>
                <a:cs typeface="Times New Roman"/>
              </a:rPr>
              <a:t>When</a:t>
            </a:r>
            <a:r>
              <a:rPr sz="1650" spc="109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Times New Roman"/>
                <a:cs typeface="Times New Roman"/>
              </a:rPr>
              <a:t>a</a:t>
            </a:r>
            <a:r>
              <a:rPr sz="1650" spc="109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Times New Roman"/>
                <a:cs typeface="Times New Roman"/>
              </a:rPr>
              <a:t>class</a:t>
            </a:r>
            <a:r>
              <a:rPr sz="1650" spc="109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109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Times New Roman"/>
                <a:cs typeface="Times New Roman"/>
              </a:rPr>
              <a:t>defined,</a:t>
            </a:r>
            <a:r>
              <a:rPr sz="1650" spc="113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Times New Roman"/>
                <a:cs typeface="Times New Roman"/>
              </a:rPr>
              <a:t>no</a:t>
            </a:r>
            <a:r>
              <a:rPr sz="1650" spc="109" dirty="0">
                <a:latin typeface="Times New Roman"/>
                <a:cs typeface="Times New Roman"/>
              </a:rPr>
              <a:t>  </a:t>
            </a:r>
            <a:r>
              <a:rPr sz="1650" dirty="0">
                <a:latin typeface="Times New Roman"/>
                <a:cs typeface="Times New Roman"/>
              </a:rPr>
              <a:t>memory</a:t>
            </a:r>
            <a:r>
              <a:rPr sz="1650" spc="120" dirty="0">
                <a:latin typeface="Times New Roman"/>
                <a:cs typeface="Times New Roman"/>
              </a:rPr>
              <a:t>  </a:t>
            </a:r>
            <a:r>
              <a:rPr sz="1650" spc="-19" dirty="0">
                <a:latin typeface="Times New Roman"/>
                <a:cs typeface="Times New Roman"/>
              </a:rPr>
              <a:t>is </a:t>
            </a:r>
            <a:r>
              <a:rPr sz="1650" dirty="0">
                <a:latin typeface="Times New Roman"/>
                <a:cs typeface="Times New Roman"/>
              </a:rPr>
              <a:t>allocated</a:t>
            </a:r>
            <a:r>
              <a:rPr sz="1650" spc="22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but</a:t>
            </a:r>
            <a:r>
              <a:rPr sz="1650" spc="22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when</a:t>
            </a:r>
            <a:r>
              <a:rPr sz="1650" spc="22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it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221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instantiated</a:t>
            </a:r>
            <a:r>
              <a:rPr sz="1650" spc="22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(i.e.</a:t>
            </a:r>
            <a:r>
              <a:rPr sz="1650" spc="225" dirty="0">
                <a:latin typeface="Times New Roman"/>
                <a:cs typeface="Times New Roman"/>
              </a:rPr>
              <a:t> </a:t>
            </a:r>
            <a:r>
              <a:rPr sz="1650" spc="-19" dirty="0">
                <a:latin typeface="Times New Roman"/>
                <a:cs typeface="Times New Roman"/>
              </a:rPr>
              <a:t>an </a:t>
            </a:r>
            <a:r>
              <a:rPr sz="1650" dirty="0">
                <a:latin typeface="Times New Roman"/>
                <a:cs typeface="Times New Roman"/>
              </a:rPr>
              <a:t>object</a:t>
            </a:r>
            <a:r>
              <a:rPr sz="1650" spc="-3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4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created)</a:t>
            </a:r>
            <a:r>
              <a:rPr sz="1650" spc="-19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memory</a:t>
            </a:r>
            <a:r>
              <a:rPr sz="1650" spc="-8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is</a:t>
            </a:r>
            <a:r>
              <a:rPr sz="1650" spc="-41" dirty="0">
                <a:latin typeface="Times New Roman"/>
                <a:cs typeface="Times New Roman"/>
              </a:rPr>
              <a:t> </a:t>
            </a:r>
            <a:r>
              <a:rPr sz="1650" spc="-8" dirty="0">
                <a:latin typeface="Times New Roman"/>
                <a:cs typeface="Times New Roman"/>
              </a:rPr>
              <a:t>allocated.</a:t>
            </a:r>
            <a:endParaRPr sz="16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7157" y="2310003"/>
            <a:ext cx="4009250" cy="264373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188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34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1466995-342D-F744-EDFD-903793C6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1D865-A2A3-42BF-AF1D-EF28A282FD69}" type="datetime3">
              <a:rPr lang="en-US" smtClean="0"/>
              <a:t>26 July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4FAE5E-E686-B130-5946-C6E162E0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F0F006-43CB-3CB0-887A-705528DD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775" y="1328832"/>
            <a:ext cx="7433786" cy="1173165"/>
          </a:xfrm>
          <a:prstGeom prst="rect">
            <a:avLst/>
          </a:prstGeom>
        </p:spPr>
        <p:txBody>
          <a:bodyPr vert="horz" wrap="square" lIns="0" tIns="18645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sz="3200" dirty="0"/>
              <a:t>Object</a:t>
            </a:r>
            <a:r>
              <a:rPr sz="3200" spc="-120" dirty="0"/>
              <a:t> </a:t>
            </a:r>
            <a:r>
              <a:rPr sz="3200" dirty="0"/>
              <a:t>Oriented</a:t>
            </a:r>
            <a:r>
              <a:rPr sz="3200" spc="-116" dirty="0"/>
              <a:t> </a:t>
            </a:r>
            <a:r>
              <a:rPr sz="3200" dirty="0"/>
              <a:t>Programming</a:t>
            </a:r>
            <a:r>
              <a:rPr sz="3200" spc="-109" dirty="0"/>
              <a:t> </a:t>
            </a:r>
            <a:r>
              <a:rPr sz="3200" spc="-15" dirty="0"/>
              <a:t>(OOP)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188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34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7704" y="2222754"/>
            <a:ext cx="8374857" cy="213327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dirty="0">
                <a:latin typeface="Times New Roman"/>
                <a:cs typeface="Times New Roman"/>
              </a:rPr>
              <a:t>Data</a:t>
            </a:r>
            <a:r>
              <a:rPr b="1" spc="-38" dirty="0">
                <a:latin typeface="Times New Roman"/>
                <a:cs typeface="Times New Roman"/>
              </a:rPr>
              <a:t> </a:t>
            </a:r>
            <a:r>
              <a:rPr b="1" spc="-8" dirty="0">
                <a:latin typeface="Times New Roman"/>
                <a:cs typeface="Times New Roman"/>
              </a:rPr>
              <a:t>Encapsulation:</a:t>
            </a:r>
            <a:endParaRPr dirty="0">
              <a:latin typeface="Times New Roman"/>
              <a:cs typeface="Times New Roman"/>
            </a:endParaRPr>
          </a:p>
          <a:p>
            <a:pPr marL="266700" indent="-257175">
              <a:spcBef>
                <a:spcPts val="4"/>
              </a:spcBef>
              <a:buFont typeface="Wingdings"/>
              <a:buChar char=""/>
              <a:tabLst>
                <a:tab pos="266700" algn="l"/>
                <a:tab pos="1058704" algn="l"/>
                <a:tab pos="1419701" algn="l"/>
                <a:tab pos="2398395" algn="l"/>
                <a:tab pos="2910840" algn="l"/>
                <a:tab pos="3328988" algn="l"/>
                <a:tab pos="3794284" algn="l"/>
                <a:tab pos="4597718" algn="l"/>
                <a:tab pos="5041582" algn="l"/>
                <a:tab pos="5250656" algn="l"/>
                <a:tab pos="5866924" algn="l"/>
                <a:tab pos="6310313" algn="l"/>
                <a:tab pos="6565106" algn="l"/>
                <a:tab pos="7252335" algn="l"/>
              </a:tabLst>
            </a:pPr>
            <a:r>
              <a:rPr sz="2000" spc="-8" dirty="0">
                <a:latin typeface="Times New Roman"/>
                <a:cs typeface="Times New Roman"/>
              </a:rPr>
              <a:t>Binding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9" dirty="0">
                <a:latin typeface="Times New Roman"/>
                <a:cs typeface="Times New Roman"/>
              </a:rPr>
              <a:t>(or</a:t>
            </a:r>
            <a:r>
              <a:rPr lang="en-US" sz="2000" spc="-19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wrapping)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5" dirty="0">
                <a:latin typeface="Times New Roman"/>
                <a:cs typeface="Times New Roman"/>
              </a:rPr>
              <a:t>code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sz="2000" spc="-19" dirty="0">
                <a:latin typeface="Times New Roman"/>
                <a:cs typeface="Times New Roman"/>
              </a:rPr>
              <a:t>and</a:t>
            </a:r>
            <a:r>
              <a:rPr lang="en-US" sz="2000" spc="-19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data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together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5" dirty="0">
                <a:latin typeface="Times New Roman"/>
                <a:cs typeface="Times New Roman"/>
              </a:rPr>
              <a:t>into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sz="2000" spc="-38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8" dirty="0">
                <a:latin typeface="Times New Roman"/>
                <a:cs typeface="Times New Roman"/>
              </a:rPr>
              <a:t>single</a:t>
            </a:r>
            <a:r>
              <a:rPr lang="en-US" sz="2000" spc="-8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unit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sz="2000" spc="-19" dirty="0">
                <a:latin typeface="Times New Roman"/>
                <a:cs typeface="Times New Roman"/>
              </a:rPr>
              <a:t>is</a:t>
            </a:r>
            <a:r>
              <a:rPr lang="en-US" sz="2000" spc="-19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known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spc="-19" dirty="0">
                <a:latin typeface="Times New Roman"/>
                <a:cs typeface="Times New Roman"/>
              </a:rPr>
              <a:t>as</a:t>
            </a:r>
            <a:r>
              <a:rPr lang="en-US" sz="2000" spc="-19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encapsulation.</a:t>
            </a:r>
            <a:endParaRPr sz="2000" dirty="0">
              <a:latin typeface="Times New Roman"/>
              <a:cs typeface="Times New Roman"/>
            </a:endParaRPr>
          </a:p>
          <a:p>
            <a:pPr marL="266700" indent="-257175">
              <a:spcBef>
                <a:spcPts val="4"/>
              </a:spcBef>
              <a:buFont typeface="Wingdings"/>
              <a:buChar char=""/>
              <a:tabLst>
                <a:tab pos="2667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encapsulation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Times New Roman"/>
                <a:cs typeface="Times New Roman"/>
              </a:rPr>
              <a:t>OOP.</a:t>
            </a:r>
            <a:endParaRPr sz="200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2000" dirty="0">
                <a:latin typeface="Times New Roman"/>
                <a:cs typeface="Times New Roman"/>
              </a:rPr>
              <a:t>Outside</a:t>
            </a:r>
            <a:r>
              <a:rPr sz="2000" spc="-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world</a:t>
            </a:r>
            <a:r>
              <a:rPr sz="2000" spc="-23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can’t</a:t>
            </a:r>
            <a:r>
              <a:rPr sz="2000" spc="-3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directly.</a:t>
            </a:r>
            <a:endParaRPr sz="200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Object</a:t>
            </a:r>
            <a:r>
              <a:rPr sz="2000" spc="-1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3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3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accessed</a:t>
            </a:r>
            <a:r>
              <a:rPr sz="2000" spc="-1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3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its</a:t>
            </a:r>
            <a:r>
              <a:rPr sz="2000" spc="-38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member</a:t>
            </a:r>
            <a:r>
              <a:rPr sz="2000" spc="11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function.</a:t>
            </a:r>
            <a:endParaRPr sz="2000" dirty="0">
              <a:latin typeface="Times New Roman"/>
              <a:cs typeface="Times New Roman"/>
            </a:endParaRPr>
          </a:p>
          <a:p>
            <a:pPr marL="266224" indent="-256699">
              <a:buFont typeface="Wingdings"/>
              <a:buChar char=""/>
              <a:tabLst>
                <a:tab pos="266224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hidden,</a:t>
            </a:r>
            <a:r>
              <a:rPr sz="2000" spc="-1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</a:t>
            </a:r>
            <a:r>
              <a:rPr sz="2000" spc="-2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1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safe</a:t>
            </a:r>
            <a:r>
              <a:rPr sz="2000" spc="-1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from</a:t>
            </a:r>
            <a:r>
              <a:rPr sz="2000" spc="-11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accidental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1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3" dirty="0">
                <a:latin typeface="Times New Roman"/>
                <a:cs typeface="Times New Roman"/>
              </a:rPr>
              <a:t> </a:t>
            </a:r>
            <a:r>
              <a:rPr sz="2000" spc="-8" dirty="0">
                <a:latin typeface="Times New Roman"/>
                <a:cs typeface="Times New Roman"/>
              </a:rPr>
              <a:t>alteration.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C0BF82D-42B3-AB82-E986-93EE770F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3F12A-01F0-4430-BF2D-0F15737E3D63}" type="datetime3">
              <a:rPr lang="en-US" smtClean="0"/>
              <a:t>26 July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3F273-C56C-16FE-F081-A3F353EA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A088087-179B-8A2B-052E-B3415236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4" y="821450"/>
            <a:ext cx="8319661" cy="1240244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Object</a:t>
            </a:r>
            <a:r>
              <a:rPr spc="-120" dirty="0"/>
              <a:t> </a:t>
            </a:r>
            <a:r>
              <a:rPr dirty="0"/>
              <a:t>Oriented</a:t>
            </a:r>
            <a:r>
              <a:rPr spc="-116" dirty="0"/>
              <a:t> </a:t>
            </a:r>
            <a:r>
              <a:rPr dirty="0"/>
              <a:t>Programming</a:t>
            </a:r>
            <a:r>
              <a:rPr spc="-109" dirty="0"/>
              <a:t> </a:t>
            </a:r>
            <a:r>
              <a:rPr spc="-15" dirty="0"/>
              <a:t>(OOP)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1899952"/>
            <a:ext cx="7769066" cy="157927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8" dirty="0">
                <a:latin typeface="Times New Roman"/>
                <a:cs typeface="Times New Roman"/>
              </a:rPr>
              <a:t>Inheritance:</a:t>
            </a:r>
            <a:endParaRPr dirty="0">
              <a:latin typeface="Times New Roman"/>
              <a:cs typeface="Times New Roman"/>
            </a:endParaRPr>
          </a:p>
          <a:p>
            <a:pPr marL="266700" indent="-257175">
              <a:spcBef>
                <a:spcPts val="11"/>
              </a:spcBef>
              <a:buFont typeface="Wingdings"/>
              <a:buChar char=""/>
              <a:tabLst>
                <a:tab pos="266700" algn="l"/>
              </a:tabLst>
            </a:pPr>
            <a:r>
              <a:rPr sz="1400" dirty="0">
                <a:latin typeface="Times New Roman"/>
                <a:cs typeface="Times New Roman"/>
              </a:rPr>
              <a:t>Inheritance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one</a:t>
            </a:r>
            <a:r>
              <a:rPr sz="1400" spc="-2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8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most</a:t>
            </a:r>
            <a:r>
              <a:rPr sz="1400" spc="-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important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feature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of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</a:t>
            </a:r>
            <a:r>
              <a:rPr sz="1400" spc="-2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Oriented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spc="-8" dirty="0">
                <a:latin typeface="Times New Roman"/>
                <a:cs typeface="Times New Roman"/>
              </a:rPr>
              <a:t>Programming.</a:t>
            </a:r>
            <a:endParaRPr sz="140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1400" dirty="0">
                <a:latin typeface="Times New Roman"/>
                <a:cs typeface="Times New Roman"/>
              </a:rPr>
              <a:t>It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allows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to</a:t>
            </a:r>
            <a:r>
              <a:rPr sz="1400" spc="-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create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 </a:t>
            </a:r>
            <a:r>
              <a:rPr sz="1400" b="1" dirty="0">
                <a:latin typeface="Times New Roman"/>
                <a:cs typeface="Times New Roman"/>
              </a:rPr>
              <a:t>new</a:t>
            </a:r>
            <a:r>
              <a:rPr sz="1400" b="1" spc="-8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class</a:t>
            </a:r>
            <a:r>
              <a:rPr sz="1400" b="1" spc="-1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(derived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class)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8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existing</a:t>
            </a:r>
            <a:r>
              <a:rPr sz="1400" b="1" spc="-1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class</a:t>
            </a:r>
            <a:r>
              <a:rPr sz="1400" b="1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(base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8" dirty="0">
                <a:latin typeface="Times New Roman"/>
                <a:cs typeface="Times New Roman"/>
              </a:rPr>
              <a:t>class).</a:t>
            </a:r>
            <a:endParaRPr sz="140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derived</a:t>
            </a:r>
            <a:r>
              <a:rPr sz="1400" spc="-2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gets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all</a:t>
            </a:r>
            <a:r>
              <a:rPr sz="1400" b="1" spc="-1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the</a:t>
            </a:r>
            <a:r>
              <a:rPr sz="1400" b="1" spc="-11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features</a:t>
            </a:r>
            <a:r>
              <a:rPr sz="1400" b="1" spc="-3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from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base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class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can</a:t>
            </a:r>
            <a:r>
              <a:rPr sz="1400" spc="-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have</a:t>
            </a:r>
            <a:r>
              <a:rPr sz="1400" spc="-1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additional</a:t>
            </a:r>
            <a:r>
              <a:rPr sz="1400" b="1" spc="-26" dirty="0">
                <a:latin typeface="Times New Roman"/>
                <a:cs typeface="Times New Roman"/>
              </a:rPr>
              <a:t> </a:t>
            </a:r>
            <a:r>
              <a:rPr sz="1400" b="1" spc="-8" dirty="0">
                <a:latin typeface="Times New Roman"/>
                <a:cs typeface="Times New Roman"/>
              </a:rPr>
              <a:t>features.</a:t>
            </a:r>
            <a:endParaRPr sz="1400" dirty="0">
              <a:latin typeface="Times New Roman"/>
              <a:cs typeface="Times New Roman"/>
            </a:endParaRPr>
          </a:p>
          <a:p>
            <a:pPr marL="266700" indent="-257175">
              <a:buFont typeface="Wingdings"/>
              <a:buChar char=""/>
              <a:tabLst>
                <a:tab pos="266700" algn="l"/>
              </a:tabLst>
            </a:pPr>
            <a:r>
              <a:rPr sz="1400" dirty="0">
                <a:latin typeface="Times New Roman"/>
                <a:cs typeface="Times New Roman"/>
              </a:rPr>
              <a:t>Inheritance</a:t>
            </a:r>
            <a:r>
              <a:rPr sz="1400" spc="278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6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b="1" spc="-8" dirty="0">
                <a:latin typeface="Times New Roman"/>
                <a:cs typeface="Times New Roman"/>
              </a:rPr>
              <a:t>is-</a:t>
            </a:r>
            <a:r>
              <a:rPr sz="1400" b="1" dirty="0">
                <a:latin typeface="Times New Roman"/>
                <a:cs typeface="Times New Roman"/>
              </a:rPr>
              <a:t>a</a:t>
            </a:r>
            <a:r>
              <a:rPr sz="1400" b="1" spc="289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relationship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27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We</a:t>
            </a:r>
            <a:r>
              <a:rPr sz="1400" spc="27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use</a:t>
            </a:r>
            <a:r>
              <a:rPr sz="1400" spc="27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inheritance</a:t>
            </a:r>
            <a:r>
              <a:rPr sz="1400" spc="27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only</a:t>
            </a:r>
            <a:r>
              <a:rPr sz="1400" spc="28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if</a:t>
            </a:r>
            <a:r>
              <a:rPr sz="1400" spc="28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289" dirty="0">
                <a:latin typeface="Times New Roman"/>
                <a:cs typeface="Times New Roman"/>
              </a:rPr>
              <a:t> </a:t>
            </a:r>
            <a:r>
              <a:rPr sz="1400" spc="-8" dirty="0">
                <a:latin typeface="Times New Roman"/>
                <a:cs typeface="Times New Roman"/>
              </a:rPr>
              <a:t>is-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27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relationship</a:t>
            </a:r>
            <a:r>
              <a:rPr sz="1400" spc="28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274" dirty="0">
                <a:latin typeface="Times New Roman"/>
                <a:cs typeface="Times New Roman"/>
              </a:rPr>
              <a:t> </a:t>
            </a:r>
            <a:r>
              <a:rPr sz="1400" spc="-8" dirty="0">
                <a:latin typeface="Times New Roman"/>
                <a:cs typeface="Times New Roman"/>
              </a:rPr>
              <a:t>present</a:t>
            </a:r>
            <a:endParaRPr sz="1400" dirty="0">
              <a:latin typeface="Times New Roman"/>
              <a:cs typeface="Times New Roman"/>
            </a:endParaRPr>
          </a:p>
          <a:p>
            <a:pPr marL="266700"/>
            <a:r>
              <a:rPr sz="1400" dirty="0">
                <a:latin typeface="Times New Roman"/>
                <a:cs typeface="Times New Roman"/>
              </a:rPr>
              <a:t>between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the</a:t>
            </a:r>
            <a:r>
              <a:rPr sz="1400" spc="-8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two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spc="-8" dirty="0">
                <a:latin typeface="Times New Roman"/>
                <a:cs typeface="Times New Roman"/>
              </a:rPr>
              <a:t>classes.</a:t>
            </a:r>
            <a:endParaRPr sz="1400" dirty="0">
              <a:latin typeface="Times New Roman"/>
              <a:cs typeface="Times New Roman"/>
            </a:endParaRPr>
          </a:p>
          <a:p>
            <a:pPr marL="9525"/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9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94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car</a:t>
            </a:r>
            <a:r>
              <a:rPr sz="1400" spc="-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E79"/>
                </a:solidFill>
                <a:latin typeface="Times New Roman"/>
                <a:cs typeface="Times New Roman"/>
              </a:rPr>
              <a:t>vehicle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-23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8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Orange</a:t>
            </a:r>
            <a:r>
              <a:rPr sz="1400" spc="-26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E79"/>
                </a:solidFill>
                <a:latin typeface="Times New Roman"/>
                <a:cs typeface="Times New Roman"/>
              </a:rPr>
              <a:t>fruit</a:t>
            </a:r>
            <a:r>
              <a:rPr sz="1400" dirty="0">
                <a:latin typeface="Times New Roman"/>
                <a:cs typeface="Times New Roman"/>
              </a:rPr>
              <a:t>.</a:t>
            </a:r>
            <a:r>
              <a:rPr sz="1400" spc="-26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94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79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surgeon</a:t>
            </a:r>
            <a:r>
              <a:rPr sz="1400" spc="-3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</a:t>
            </a:r>
            <a:r>
              <a:rPr sz="1400" spc="-4" dirty="0">
                <a:latin typeface="Times New Roman"/>
                <a:cs typeface="Times New Roman"/>
              </a:rPr>
              <a:t> </a:t>
            </a:r>
            <a:r>
              <a:rPr sz="1400" spc="-8" dirty="0">
                <a:solidFill>
                  <a:srgbClr val="1F4E79"/>
                </a:solidFill>
                <a:latin typeface="Times New Roman"/>
                <a:cs typeface="Times New Roman"/>
              </a:rPr>
              <a:t>doctor</a:t>
            </a:r>
            <a:r>
              <a:rPr sz="1400" spc="-8" dirty="0">
                <a:latin typeface="Times New Roman"/>
                <a:cs typeface="Times New Roman"/>
              </a:rPr>
              <a:t>.</a:t>
            </a:r>
            <a:r>
              <a:rPr sz="1400" spc="-38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-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A</a:t>
            </a:r>
            <a:r>
              <a:rPr sz="1400" spc="-86" dirty="0"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FF0000"/>
                </a:solidFill>
                <a:latin typeface="Times New Roman"/>
                <a:cs typeface="Times New Roman"/>
              </a:rPr>
              <a:t>dog</a:t>
            </a:r>
            <a:r>
              <a:rPr sz="1400" spc="-1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is</a:t>
            </a:r>
            <a:r>
              <a:rPr sz="1400" spc="-11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</a:t>
            </a:r>
            <a:r>
              <a:rPr sz="1400" spc="-8" dirty="0">
                <a:latin typeface="Times New Roman"/>
                <a:cs typeface="Times New Roman"/>
              </a:rPr>
              <a:t> </a:t>
            </a:r>
            <a:r>
              <a:rPr sz="1400" spc="-8" dirty="0">
                <a:solidFill>
                  <a:srgbClr val="1F4E79"/>
                </a:solidFill>
                <a:latin typeface="Times New Roman"/>
                <a:cs typeface="Times New Roman"/>
              </a:rPr>
              <a:t>animal</a:t>
            </a:r>
            <a:r>
              <a:rPr sz="1400" spc="-8" dirty="0">
                <a:latin typeface="Times New Roman"/>
                <a:cs typeface="Times New Roman"/>
              </a:rPr>
              <a:t>.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5733" y="3736004"/>
            <a:ext cx="4165911" cy="17462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188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34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C83154C-E900-D85F-0F74-E87E8500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47CA9-EC65-4529-93F7-E333B39D5021}" type="datetime3">
              <a:rPr lang="en-US" smtClean="0"/>
              <a:t>26 July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FEEFA7D-F9AA-A920-FDC7-8378C6801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6FFA392-E41C-A286-1E81-75F4A62E1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7705" y="821450"/>
            <a:ext cx="5765006" cy="1240244"/>
          </a:xfrm>
          <a:prstGeom prst="rect">
            <a:avLst/>
          </a:prstGeom>
        </p:spPr>
        <p:txBody>
          <a:bodyPr vert="horz" wrap="square" lIns="0" tIns="904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Object</a:t>
            </a:r>
            <a:r>
              <a:rPr spc="-120" dirty="0"/>
              <a:t> </a:t>
            </a:r>
            <a:r>
              <a:rPr dirty="0"/>
              <a:t>Oriented</a:t>
            </a:r>
            <a:r>
              <a:rPr spc="-116" dirty="0"/>
              <a:t> </a:t>
            </a:r>
            <a:r>
              <a:rPr dirty="0"/>
              <a:t>Programming</a:t>
            </a:r>
            <a:r>
              <a:rPr spc="-109" dirty="0"/>
              <a:t> </a:t>
            </a:r>
            <a:r>
              <a:rPr spc="-15" dirty="0"/>
              <a:t>(OOP)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7705" y="1899952"/>
            <a:ext cx="7770019" cy="9791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dirty="0">
                <a:latin typeface="Times New Roman"/>
                <a:cs typeface="Times New Roman"/>
              </a:rPr>
              <a:t>Polymorphism</a:t>
            </a:r>
            <a:r>
              <a:rPr b="1" spc="-49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34" dirty="0">
                <a:latin typeface="Times New Roman"/>
                <a:cs typeface="Times New Roman"/>
              </a:rPr>
              <a:t> </a:t>
            </a:r>
            <a:r>
              <a:rPr b="1" spc="-8" dirty="0">
                <a:latin typeface="Times New Roman"/>
                <a:cs typeface="Times New Roman"/>
              </a:rPr>
              <a:t>Overloading:</a:t>
            </a:r>
            <a:endParaRPr>
              <a:latin typeface="Times New Roman"/>
              <a:cs typeface="Times New Roman"/>
            </a:endParaRPr>
          </a:p>
          <a:p>
            <a:pPr marL="266700" indent="-257175">
              <a:spcBef>
                <a:spcPts val="11"/>
              </a:spcBef>
              <a:buFont typeface="Wingdings"/>
              <a:buChar char=""/>
              <a:tabLst>
                <a:tab pos="266700" algn="l"/>
              </a:tabLst>
            </a:pPr>
            <a:r>
              <a:rPr sz="1500" dirty="0">
                <a:latin typeface="Times New Roman"/>
                <a:cs typeface="Times New Roman"/>
              </a:rPr>
              <a:t>Polymorphism</a:t>
            </a:r>
            <a:r>
              <a:rPr sz="1500" spc="-4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means</a:t>
            </a:r>
            <a:r>
              <a:rPr sz="1500" spc="-11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8" dirty="0">
                <a:latin typeface="Times New Roman"/>
                <a:cs typeface="Times New Roman"/>
              </a:rPr>
              <a:t>forms.</a:t>
            </a:r>
            <a:endParaRPr sz="1500">
              <a:latin typeface="Times New Roman"/>
              <a:cs typeface="Times New Roman"/>
            </a:endParaRPr>
          </a:p>
          <a:p>
            <a:pPr marL="266700" marR="3810" indent="-257651">
              <a:buFont typeface="Wingdings"/>
              <a:buChar char=""/>
              <a:tabLst>
                <a:tab pos="266700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11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C++,</a:t>
            </a:r>
            <a:r>
              <a:rPr sz="1500" spc="113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polymorphism</a:t>
            </a:r>
            <a:r>
              <a:rPr sz="1500" spc="1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causes</a:t>
            </a:r>
            <a:r>
              <a:rPr sz="1500" spc="12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member</a:t>
            </a:r>
            <a:r>
              <a:rPr sz="1500" spc="127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function</a:t>
            </a:r>
            <a:r>
              <a:rPr sz="1500" spc="12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1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behave</a:t>
            </a:r>
            <a:r>
              <a:rPr sz="1500" spc="11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differently</a:t>
            </a:r>
            <a:r>
              <a:rPr sz="1500" spc="10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based</a:t>
            </a:r>
            <a:r>
              <a:rPr sz="1500" spc="116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1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13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</a:t>
            </a:r>
            <a:r>
              <a:rPr sz="1500" spc="116" dirty="0">
                <a:latin typeface="Times New Roman"/>
                <a:cs typeface="Times New Roman"/>
              </a:rPr>
              <a:t> </a:t>
            </a:r>
            <a:r>
              <a:rPr sz="1500" spc="-15" dirty="0">
                <a:latin typeface="Times New Roman"/>
                <a:cs typeface="Times New Roman"/>
              </a:rPr>
              <a:t>that </a:t>
            </a:r>
            <a:r>
              <a:rPr sz="1500" dirty="0">
                <a:latin typeface="Times New Roman"/>
                <a:cs typeface="Times New Roman"/>
              </a:rPr>
              <a:t>calls/invokes</a:t>
            </a:r>
            <a:r>
              <a:rPr sz="1500" spc="-49" dirty="0">
                <a:latin typeface="Times New Roman"/>
                <a:cs typeface="Times New Roman"/>
              </a:rPr>
              <a:t> </a:t>
            </a:r>
            <a:r>
              <a:rPr sz="1500" spc="-19" dirty="0">
                <a:latin typeface="Times New Roman"/>
                <a:cs typeface="Times New Roman"/>
              </a:rPr>
              <a:t>it.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5071" y="3433828"/>
            <a:ext cx="2550087" cy="19414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4188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434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C55DF1-24FD-5FCE-EBBB-6D366771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B53D8-5536-4E19-9FD9-139727172E26}" type="datetime3">
              <a:rPr lang="en-US" smtClean="0"/>
              <a:t>26 July 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8B30AF0-82D2-F839-B585-0CD9DBB0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5D9FCF-B17B-10E6-E6DF-FFD17723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" y="1513498"/>
            <a:ext cx="8930736" cy="803833"/>
          </a:xfrm>
          <a:prstGeom prst="rect">
            <a:avLst/>
          </a:prstGeom>
        </p:spPr>
        <p:txBody>
          <a:bodyPr vert="horz" wrap="square" lIns="0" tIns="18645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C++</a:t>
            </a:r>
            <a:r>
              <a:rPr spc="-49" dirty="0"/>
              <a:t> </a:t>
            </a:r>
            <a:r>
              <a:rPr dirty="0"/>
              <a:t>History:</a:t>
            </a:r>
            <a:r>
              <a:rPr spc="-38" dirty="0"/>
              <a:t> </a:t>
            </a:r>
            <a:r>
              <a:rPr dirty="0"/>
              <a:t>Evolution</a:t>
            </a:r>
            <a:r>
              <a:rPr spc="-49" dirty="0"/>
              <a:t> </a:t>
            </a:r>
            <a:r>
              <a:rPr dirty="0"/>
              <a:t>of</a:t>
            </a:r>
            <a:r>
              <a:rPr spc="-38" dirty="0"/>
              <a:t> </a:t>
            </a:r>
            <a:r>
              <a:rPr spc="-19" dirty="0"/>
              <a:t>C++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673" y="2448687"/>
            <a:ext cx="8022800" cy="21851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18832" y="5633102"/>
            <a:ext cx="286703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nd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43445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0C0BE79-7287-224F-33E4-D59D8852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EC1FF-116C-4C07-9585-FEE2A2C4D6A5}" type="datetime3">
              <a:rPr lang="en-US" smtClean="0"/>
              <a:t>26 July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7E313-8E7B-0930-31EE-C7C3D8EC4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FC1130F-12D0-7883-0CEB-98BEFAF1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Syntax of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#include &lt;iostream&gt;         // Preprocessor directive</a:t>
            </a:r>
          </a:p>
          <a:p>
            <a:r>
              <a:rPr dirty="0"/>
              <a:t>using namespace std;        // Use standard namespace</a:t>
            </a:r>
          </a:p>
          <a:p>
            <a:endParaRPr dirty="0"/>
          </a:p>
          <a:p>
            <a:r>
              <a:rPr dirty="0"/>
              <a:t>int main() {                </a:t>
            </a:r>
            <a:r>
              <a:rPr lang="en-US" dirty="0"/>
              <a:t>           </a:t>
            </a:r>
            <a:r>
              <a:rPr dirty="0"/>
              <a:t>// Main function</a:t>
            </a:r>
          </a:p>
          <a:p>
            <a:r>
              <a:rPr dirty="0"/>
              <a:t>    </a:t>
            </a:r>
            <a:r>
              <a:rPr dirty="0" err="1"/>
              <a:t>cout</a:t>
            </a:r>
            <a:r>
              <a:rPr dirty="0"/>
              <a:t> &lt;&lt; "Hello, World!"; // Output statement</a:t>
            </a:r>
          </a:p>
          <a:p>
            <a:r>
              <a:rPr dirty="0"/>
              <a:t>    return 0;               </a:t>
            </a:r>
            <a:r>
              <a:rPr lang="en-US" dirty="0"/>
              <a:t>             </a:t>
            </a:r>
            <a:r>
              <a:rPr dirty="0"/>
              <a:t>// End of program</a:t>
            </a:r>
          </a:p>
          <a:p>
            <a:r>
              <a:rPr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89C39-435B-FBE4-9F70-7C215F0CB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2FA4-42EE-4AFF-9FFE-F27EB9A0E4FB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D00C1-BBE3-1D4C-BE24-DAAFDAF2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044ED-F943-7D9C-1890-D0707686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775" y="1513499"/>
            <a:ext cx="4783455" cy="803833"/>
          </a:xfrm>
          <a:prstGeom prst="rect">
            <a:avLst/>
          </a:prstGeom>
        </p:spPr>
        <p:txBody>
          <a:bodyPr vert="horz" wrap="square" lIns="0" tIns="18645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Program</a:t>
            </a:r>
            <a:r>
              <a:rPr spc="-98" dirty="0"/>
              <a:t> </a:t>
            </a:r>
            <a:r>
              <a:rPr spc="-8" dirty="0"/>
              <a:t>Syntax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396" y="2419382"/>
            <a:ext cx="3923568" cy="19468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7932" y="2704389"/>
            <a:ext cx="3260861" cy="14672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8633" y="2436059"/>
            <a:ext cx="1622878" cy="1714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73937" y="5633440"/>
            <a:ext cx="127777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  <a:tabLst>
                <a:tab pos="1124903" algn="l"/>
              </a:tabLst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pc="-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pc="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04533" y="5633102"/>
            <a:ext cx="251936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95997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558F1E7-120C-AA64-1D18-8F63C630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5F8D0-1FF2-4B52-9AC3-4558AE005152}" type="datetime3">
              <a:rPr lang="en-US" smtClean="0"/>
              <a:t>26 July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206D32-F44B-4E1A-347C-047AB929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2280D-56C9-76E5-8F27-8284D82F7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8775" y="1590443"/>
            <a:ext cx="4783455" cy="649945"/>
          </a:xfrm>
          <a:prstGeom prst="rect">
            <a:avLst/>
          </a:prstGeom>
        </p:spPr>
        <p:txBody>
          <a:bodyPr vert="horz" wrap="square" lIns="0" tIns="186459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1"/>
              </a:spcBef>
            </a:pPr>
            <a:r>
              <a:rPr dirty="0"/>
              <a:t>Console</a:t>
            </a:r>
            <a:r>
              <a:rPr spc="-101" dirty="0"/>
              <a:t> </a:t>
            </a:r>
            <a:r>
              <a:rPr spc="-19" dirty="0"/>
              <a:t>I/O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10" y="2430268"/>
            <a:ext cx="1343508" cy="16752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58633" y="2436059"/>
            <a:ext cx="1622878" cy="1714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7705" y="3061240"/>
            <a:ext cx="2343626" cy="8534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pc="-8" dirty="0">
                <a:latin typeface="Times New Roman"/>
                <a:cs typeface="Times New Roman"/>
              </a:rPr>
              <a:t>printf(“Text</a:t>
            </a:r>
            <a:r>
              <a:rPr spc="-38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23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display.”);</a:t>
            </a:r>
            <a:endParaRPr>
              <a:latin typeface="Times New Roman"/>
              <a:cs typeface="Times New Roman"/>
            </a:endParaRPr>
          </a:p>
          <a:p>
            <a:pPr>
              <a:spcBef>
                <a:spcPts val="90"/>
              </a:spcBef>
            </a:pPr>
            <a:endParaRPr>
              <a:latin typeface="Times New Roman"/>
              <a:cs typeface="Times New Roman"/>
            </a:endParaRPr>
          </a:p>
          <a:p>
            <a:pPr marL="9525"/>
            <a:r>
              <a:rPr dirty="0">
                <a:latin typeface="Times New Roman"/>
                <a:cs typeface="Times New Roman"/>
              </a:rPr>
              <a:t>scanf(“%d”,</a:t>
            </a:r>
            <a:r>
              <a:rPr spc="-15" dirty="0">
                <a:latin typeface="Times New Roman"/>
                <a:cs typeface="Times New Roman"/>
              </a:rPr>
              <a:t> &amp;a);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73937" y="5633440"/>
            <a:ext cx="127777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  <a:tabLst>
                <a:tab pos="1124903" algn="l"/>
              </a:tabLst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Lecture</a:t>
            </a:r>
            <a:r>
              <a:rPr spc="-19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pc="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pc="-38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4533" y="5633102"/>
            <a:ext cx="251936" cy="198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500"/>
              </a:lnSpc>
            </a:pPr>
            <a:r>
              <a:rPr sz="2700" spc="-28" baseline="-16203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1200" spc="-19" dirty="0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95997" y="5633440"/>
            <a:ext cx="1187291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2040"/>
              </a:lnSpc>
            </a:pPr>
            <a:r>
              <a:rPr dirty="0">
                <a:solidFill>
                  <a:srgbClr val="FFFFFF"/>
                </a:solidFill>
                <a:latin typeface="Times New Roman"/>
                <a:cs typeface="Times New Roman"/>
              </a:rPr>
              <a:t>March,</a:t>
            </a:r>
            <a:r>
              <a:rPr spc="-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pc="-15" dirty="0">
                <a:solidFill>
                  <a:srgbClr val="FFFFFF"/>
                </a:solidFill>
                <a:latin typeface="Times New Roman"/>
                <a:cs typeface="Times New Roman"/>
              </a:rPr>
              <a:t>2021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2749" y="3061240"/>
            <a:ext cx="244744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latin typeface="Times New Roman"/>
                <a:cs typeface="Times New Roman"/>
              </a:rPr>
              <a:t>cout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&lt;&lt;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“Text</a:t>
            </a:r>
            <a:r>
              <a:rPr spc="-3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8" dirty="0">
                <a:latin typeface="Times New Roman"/>
                <a:cs typeface="Times New Roman"/>
              </a:rPr>
              <a:t>display.”;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2749" y="3609880"/>
            <a:ext cx="834390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latin typeface="Times New Roman"/>
                <a:cs typeface="Times New Roman"/>
              </a:rPr>
              <a:t>cin</a:t>
            </a:r>
            <a:r>
              <a:rPr spc="-4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&gt;&gt;</a:t>
            </a:r>
            <a:r>
              <a:rPr spc="-8" dirty="0">
                <a:latin typeface="Times New Roman"/>
                <a:cs typeface="Times New Roman"/>
              </a:rPr>
              <a:t> </a:t>
            </a:r>
            <a:r>
              <a:rPr spc="-19" dirty="0">
                <a:latin typeface="Times New Roman"/>
                <a:cs typeface="Times New Roman"/>
              </a:rPr>
              <a:t>a;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29346DF-D016-02E0-9B70-F8BB06BD1BE3}"/>
              </a:ext>
            </a:extLst>
          </p:cNvPr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10CF48DE-D981-4221-951D-B805AED44519}" type="datetime3">
              <a:rPr lang="en-US" smtClean="0"/>
              <a:t>26 July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DD775DB-A711-C233-814B-D8270520D4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9525">
              <a:lnSpc>
                <a:spcPts val="2040"/>
              </a:lnSpc>
              <a:tabLst>
                <a:tab pos="1124903" algn="l"/>
              </a:tabLst>
            </a:pPr>
            <a:r>
              <a:rPr lang="en-US"/>
              <a:t>Lecture</a:t>
            </a:r>
            <a:r>
              <a:rPr lang="en-US" spc="-19"/>
              <a:t> </a:t>
            </a:r>
            <a:r>
              <a:rPr lang="en-US"/>
              <a:t>1</a:t>
            </a:r>
            <a:r>
              <a:rPr lang="en-US" spc="4"/>
              <a:t> </a:t>
            </a:r>
            <a:r>
              <a:rPr lang="en-US" spc="-38"/>
              <a:t>-</a:t>
            </a:r>
            <a:r>
              <a:rPr lang="en-US"/>
              <a:t>	</a:t>
            </a:r>
            <a:fld id="{81D60167-4931-47E6-BA6A-407CBD079E47}" type="slidenum">
              <a:rPr spc="-19" smtClean="0"/>
              <a:pPr marL="9525">
                <a:lnSpc>
                  <a:spcPts val="2040"/>
                </a:lnSpc>
                <a:tabLst>
                  <a:tab pos="1124903" algn="l"/>
                </a:tabLst>
              </a:pPr>
              <a:t>15</a:t>
            </a:fld>
            <a:endParaRPr spc="-19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A506B60-1CE5-550F-0AB6-74EC25DF8A9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9525">
              <a:lnSpc>
                <a:spcPts val="2040"/>
              </a:lnSpc>
            </a:pPr>
            <a:r>
              <a:rPr lang="en-US" spc="-8"/>
              <a:t>MEHEDI HASAN, LECTURER,DEPT. OF CSE</a:t>
            </a:r>
            <a:endParaRPr lang="en-US" spc="-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Explanation of C++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 #include &lt;iostream&gt;: Includes the standard input-output stream library.</a:t>
            </a:r>
          </a:p>
          <a:p>
            <a:pPr algn="just"/>
            <a:r>
              <a:rPr dirty="0"/>
              <a:t> using namespace std;: Avoids writing 'std::' before standard functions.</a:t>
            </a:r>
          </a:p>
          <a:p>
            <a:pPr algn="just"/>
            <a:r>
              <a:rPr dirty="0"/>
              <a:t> int main(): Entry point of every C++ program.</a:t>
            </a:r>
          </a:p>
          <a:p>
            <a:pPr algn="just"/>
            <a:r>
              <a:rPr dirty="0"/>
              <a:t> </a:t>
            </a:r>
            <a:r>
              <a:rPr dirty="0" err="1"/>
              <a:t>cout</a:t>
            </a:r>
            <a:r>
              <a:rPr dirty="0"/>
              <a:t>: Used to print output to the console.</a:t>
            </a:r>
          </a:p>
          <a:p>
            <a:pPr algn="just"/>
            <a:r>
              <a:rPr dirty="0"/>
              <a:t> return 0;: Indicates that the program ended successfully.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3D401-E7D3-8150-937C-1A46DC55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1845-84E4-422A-B570-7B067021883B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8EE09-64A6-B560-1B14-74E3EC42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9EF92-2E66-E612-5143-7E0EE0E8D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/>
              <a:t> OOP helps in building scalable and maintainable applications.</a:t>
            </a:r>
          </a:p>
          <a:p>
            <a:pPr algn="just"/>
            <a:r>
              <a:rPr dirty="0"/>
              <a:t> It reflects real-world behavior more naturally than SOP.</a:t>
            </a:r>
          </a:p>
          <a:p>
            <a:pPr algn="just"/>
            <a:r>
              <a:rPr dirty="0"/>
              <a:t> Encapsulation, inheritance, and polymorphism make OOP more powerful.</a:t>
            </a:r>
          </a:p>
          <a:p>
            <a:pPr algn="just"/>
            <a:r>
              <a:rPr dirty="0"/>
              <a:t>SOP is simple but less suitable for complex systems.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E0DFA-F71A-8386-F041-A7AC2A86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55EDD-7470-41AB-AC20-57AA34414CD1}" type="datetime3">
              <a:rPr lang="en-US" smtClean="0"/>
              <a:t>26 July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DDD84-75B8-B280-C84A-E0B486E7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7A721-09B7-D937-2E98-EBAC9313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MEHEDI HASAN, LECTURER,DEPT. OF CSE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29</TotalTime>
  <Words>1026</Words>
  <Application>Microsoft Office PowerPoint</Application>
  <PresentationFormat>On-screen Show (4:3)</PresentationFormat>
  <Paragraphs>175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Century Gothic</vt:lpstr>
      <vt:lpstr>Snap ITC</vt:lpstr>
      <vt:lpstr>Tahoma</vt:lpstr>
      <vt:lpstr>Times New Roman</vt:lpstr>
      <vt:lpstr>Wingdings</vt:lpstr>
      <vt:lpstr>Vapor Trail</vt:lpstr>
      <vt:lpstr>CSE-2103 Object-Oriented Programming</vt:lpstr>
      <vt:lpstr>Basic Concept of Object-Oriented Programming (OOP)</vt:lpstr>
      <vt:lpstr>What is Object-Oriented Programming (OOP)</vt:lpstr>
      <vt:lpstr>Key Features of OOP</vt:lpstr>
      <vt:lpstr>What is Structure-Oriented Programming (SOP)</vt:lpstr>
      <vt:lpstr>Comparison: OOP vs SOP</vt:lpstr>
      <vt:lpstr>Object Oriented Programming (OOP)</vt:lpstr>
      <vt:lpstr>Object Oriented Programming (OOP)</vt:lpstr>
      <vt:lpstr>Object Oriented Programming (OOP)</vt:lpstr>
      <vt:lpstr>Object Oriented Programming (OOP)</vt:lpstr>
      <vt:lpstr>Object Oriented Programming (OOP)</vt:lpstr>
      <vt:lpstr>C++ History: Evolution of C++</vt:lpstr>
      <vt:lpstr>Basic Syntax of C++</vt:lpstr>
      <vt:lpstr>Program Syntax</vt:lpstr>
      <vt:lpstr>Console I/O</vt:lpstr>
      <vt:lpstr>Explanation of C++ Syntax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Mehedi Hasan Shagor</dc:creator>
  <cp:keywords/>
  <dc:description>generated using python-pptx</dc:description>
  <cp:lastModifiedBy>Mehedi Hasan</cp:lastModifiedBy>
  <cp:revision>7</cp:revision>
  <dcterms:created xsi:type="dcterms:W3CDTF">2013-01-27T09:14:16Z</dcterms:created>
  <dcterms:modified xsi:type="dcterms:W3CDTF">2025-07-26T08:39:13Z</dcterms:modified>
  <cp:category/>
</cp:coreProperties>
</file>