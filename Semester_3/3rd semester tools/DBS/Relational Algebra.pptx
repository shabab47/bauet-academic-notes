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47.xml" ContentType="application/vnd.openxmlformats-officedocument.presentationml.slide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slideLayouts/slideLayout46.xml" ContentType="application/vnd.openxmlformats-officedocument.presentationml.slideLayout+xml"/>
  <Override PartName="/ppt/slideLayouts/slideLayout93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8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113.xml" ContentType="application/vnd.openxmlformats-officedocument.presentationml.slideLayout+xml"/>
  <Override PartName="/ppt/notesSlides/notesSlide16.xml" ContentType="application/vnd.openxmlformats-officedocument.presentationml.notesSlide+xml"/>
  <Override PartName="/ppt/tableStyles.xml" ContentType="application/vnd.openxmlformats-officedocument.presentationml.tableStyles+xml"/>
  <Override PartName="/ppt/slideLayouts/slideLayout102.xml" ContentType="application/vnd.openxmlformats-officedocument.presentationml.slideLayout+xml"/>
  <Override PartName="/ppt/notesSlides/notesSlide41.xml" ContentType="application/vnd.openxmlformats-officedocument.presentationml.notesSlide+xml"/>
  <Override PartName="/ppt/slideMasters/slideMaster8.xml" ContentType="application/vnd.openxmlformats-officedocument.presentationml.slideMaster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8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10.xml" ContentType="application/vnd.openxmlformats-officedocument.them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118.xml" ContentType="application/vnd.openxmlformats-officedocument.presentationml.slideLayout+xml"/>
  <Default Extension="png" ContentType="image/png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14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03.xml" ContentType="application/vnd.openxmlformats-officedocument.presentationml.slideLayout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10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Masters/slideMaster9.xml" ContentType="application/vnd.openxmlformats-officedocument.presentationml.slideMaster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Layouts/slideLayout99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Layouts/slideLayout59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theme/theme11.xml" ContentType="application/vnd.openxmlformats-officedocument.them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108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Default Extension="wmf" ContentType="image/x-wmf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15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04.xml" ContentType="application/vnd.openxmlformats-officedocument.presentationml.slideLayout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slideLayouts/slideLayout100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slideMasters/slideMaster6.xml" ContentType="application/vnd.openxmlformats-officedocument.presentationml.slideMaster+xml"/>
  <Override PartName="/ppt/slideLayouts/slideLayout89.xml" ContentType="application/vnd.openxmlformats-officedocument.presentationml.slideLayout+xml"/>
  <Override PartName="/ppt/theme/theme8.xml" ContentType="application/vnd.openxmlformats-officedocument.theme+xml"/>
  <Override PartName="/ppt/theme/theme12.xml" ContentType="application/vnd.openxmlformats-officedocument.them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78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3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109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116.xml" ContentType="application/vnd.openxmlformats-officedocument.presentationml.slideLayout+xml"/>
  <Override PartName="/ppt/notesSlides/notesSlide19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105.xml" ContentType="application/vnd.openxmlformats-officedocument.presentationml.slideLayout+xml"/>
  <Default Extension="jpeg" ContentType="image/jpeg"/>
  <Override PartName="/ppt/notesSlides/notesSlide37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12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theme/theme9.xml" ContentType="application/vnd.openxmlformats-officedocument.them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s/slide29.xml" ContentType="application/vnd.openxmlformats-officedocument.presentationml.slide+xml"/>
  <Override PartName="/ppt/slideLayouts/slideLayout39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s/slide32.xml" ContentType="application/vnd.openxmlformats-officedocument.presentationml.slide+xml"/>
  <Override PartName="/ppt/slideLayouts/slideLayout42.xml" ContentType="application/vnd.openxmlformats-officedocument.presentationml.slideLayout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12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slides/slide48.xml" ContentType="application/vnd.openxmlformats-officedocument.presentationml.slide+xml"/>
  <Default Extension="bin" ContentType="application/vnd.openxmlformats-officedocument.oleObject"/>
  <Override PartName="/ppt/slideLayouts/slideLayout58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3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4.xml" ContentType="application/vnd.openxmlformats-officedocument.presentationml.slideLayout+xml"/>
  <Override PartName="/ppt/notesSlides/notesSlide3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2" r:id="rId1"/>
    <p:sldMasterId id="2147483709" r:id="rId2"/>
    <p:sldMasterId id="2147483735" r:id="rId3"/>
    <p:sldMasterId id="2147483748" r:id="rId4"/>
    <p:sldMasterId id="2147483759" r:id="rId5"/>
    <p:sldMasterId id="2147483772" r:id="rId6"/>
    <p:sldMasterId id="2147483783" r:id="rId7"/>
    <p:sldMasterId id="2147483794" r:id="rId8"/>
    <p:sldMasterId id="2147483807" r:id="rId9"/>
    <p:sldMasterId id="2147483820" r:id="rId10"/>
  </p:sldMasterIdLst>
  <p:notesMasterIdLst>
    <p:notesMasterId r:id="rId62"/>
  </p:notesMasterIdLst>
  <p:handoutMasterIdLst>
    <p:handoutMasterId r:id="rId63"/>
  </p:handoutMasterIdLst>
  <p:sldIdLst>
    <p:sldId id="363" r:id="rId11"/>
    <p:sldId id="362" r:id="rId12"/>
    <p:sldId id="259" r:id="rId13"/>
    <p:sldId id="340" r:id="rId14"/>
    <p:sldId id="364" r:id="rId15"/>
    <p:sldId id="365" r:id="rId16"/>
    <p:sldId id="366" r:id="rId17"/>
    <p:sldId id="367" r:id="rId18"/>
    <p:sldId id="368" r:id="rId19"/>
    <p:sldId id="369" r:id="rId20"/>
    <p:sldId id="370" r:id="rId21"/>
    <p:sldId id="372" r:id="rId22"/>
    <p:sldId id="374" r:id="rId23"/>
    <p:sldId id="375" r:id="rId24"/>
    <p:sldId id="376" r:id="rId25"/>
    <p:sldId id="377" r:id="rId26"/>
    <p:sldId id="382" r:id="rId27"/>
    <p:sldId id="383" r:id="rId28"/>
    <p:sldId id="393" r:id="rId29"/>
    <p:sldId id="394" r:id="rId30"/>
    <p:sldId id="395" r:id="rId31"/>
    <p:sldId id="396" r:id="rId32"/>
    <p:sldId id="384" r:id="rId33"/>
    <p:sldId id="385" r:id="rId34"/>
    <p:sldId id="386" r:id="rId35"/>
    <p:sldId id="387" r:id="rId36"/>
    <p:sldId id="388" r:id="rId37"/>
    <p:sldId id="389" r:id="rId38"/>
    <p:sldId id="390" r:id="rId39"/>
    <p:sldId id="391" r:id="rId40"/>
    <p:sldId id="392" r:id="rId41"/>
    <p:sldId id="342" r:id="rId42"/>
    <p:sldId id="343" r:id="rId43"/>
    <p:sldId id="344" r:id="rId44"/>
    <p:sldId id="345" r:id="rId45"/>
    <p:sldId id="346" r:id="rId46"/>
    <p:sldId id="347" r:id="rId47"/>
    <p:sldId id="348" r:id="rId48"/>
    <p:sldId id="349" r:id="rId49"/>
    <p:sldId id="350" r:id="rId50"/>
    <p:sldId id="351" r:id="rId51"/>
    <p:sldId id="352" r:id="rId52"/>
    <p:sldId id="353" r:id="rId53"/>
    <p:sldId id="354" r:id="rId54"/>
    <p:sldId id="355" r:id="rId55"/>
    <p:sldId id="356" r:id="rId56"/>
    <p:sldId id="357" r:id="rId57"/>
    <p:sldId id="358" r:id="rId58"/>
    <p:sldId id="359" r:id="rId59"/>
    <p:sldId id="360" r:id="rId60"/>
    <p:sldId id="361" r:id="rId61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kern="1200">
        <a:solidFill>
          <a:srgbClr val="CF0E30"/>
        </a:solidFill>
        <a:latin typeface="Book Antiqua" pitchFamily="-32" charset="0"/>
        <a:ea typeface="Osaka" pitchFamily="48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kern="1200">
        <a:solidFill>
          <a:srgbClr val="CF0E30"/>
        </a:solidFill>
        <a:latin typeface="Book Antiqua" pitchFamily="-32" charset="0"/>
        <a:ea typeface="Osaka" pitchFamily="48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kern="1200">
        <a:solidFill>
          <a:srgbClr val="CF0E30"/>
        </a:solidFill>
        <a:latin typeface="Book Antiqua" pitchFamily="-32" charset="0"/>
        <a:ea typeface="Osaka" pitchFamily="48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kern="1200">
        <a:solidFill>
          <a:srgbClr val="CF0E30"/>
        </a:solidFill>
        <a:latin typeface="Book Antiqua" pitchFamily="-32" charset="0"/>
        <a:ea typeface="Osaka" pitchFamily="48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kern="1200">
        <a:solidFill>
          <a:srgbClr val="CF0E30"/>
        </a:solidFill>
        <a:latin typeface="Book Antiqua" pitchFamily="-32" charset="0"/>
        <a:ea typeface="Osaka" pitchFamily="48" charset="-128"/>
        <a:cs typeface="+mn-cs"/>
      </a:defRPr>
    </a:lvl5pPr>
    <a:lvl6pPr marL="2286000" algn="l" defTabSz="914400" rtl="0" eaLnBrk="1" latinLnBrk="0" hangingPunct="1">
      <a:defRPr sz="1000" kern="1200">
        <a:solidFill>
          <a:srgbClr val="CF0E30"/>
        </a:solidFill>
        <a:latin typeface="Book Antiqua" pitchFamily="-32" charset="0"/>
        <a:ea typeface="Osaka" pitchFamily="48" charset="-128"/>
        <a:cs typeface="+mn-cs"/>
      </a:defRPr>
    </a:lvl6pPr>
    <a:lvl7pPr marL="2743200" algn="l" defTabSz="914400" rtl="0" eaLnBrk="1" latinLnBrk="0" hangingPunct="1">
      <a:defRPr sz="1000" kern="1200">
        <a:solidFill>
          <a:srgbClr val="CF0E30"/>
        </a:solidFill>
        <a:latin typeface="Book Antiqua" pitchFamily="-32" charset="0"/>
        <a:ea typeface="Osaka" pitchFamily="48" charset="-128"/>
        <a:cs typeface="+mn-cs"/>
      </a:defRPr>
    </a:lvl7pPr>
    <a:lvl8pPr marL="3200400" algn="l" defTabSz="914400" rtl="0" eaLnBrk="1" latinLnBrk="0" hangingPunct="1">
      <a:defRPr sz="1000" kern="1200">
        <a:solidFill>
          <a:srgbClr val="CF0E30"/>
        </a:solidFill>
        <a:latin typeface="Book Antiqua" pitchFamily="-32" charset="0"/>
        <a:ea typeface="Osaka" pitchFamily="48" charset="-128"/>
        <a:cs typeface="+mn-cs"/>
      </a:defRPr>
    </a:lvl8pPr>
    <a:lvl9pPr marL="3657600" algn="l" defTabSz="914400" rtl="0" eaLnBrk="1" latinLnBrk="0" hangingPunct="1">
      <a:defRPr sz="1000" kern="1200">
        <a:solidFill>
          <a:srgbClr val="CF0E30"/>
        </a:solidFill>
        <a:latin typeface="Book Antiqua" pitchFamily="-32" charset="0"/>
        <a:ea typeface="Osaka" pitchFamily="48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80A"/>
    <a:srgbClr val="CF0E3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498" autoAdjust="0"/>
    <p:restoredTop sz="90996" autoAdjust="0"/>
  </p:normalViewPr>
  <p:slideViewPr>
    <p:cSldViewPr>
      <p:cViewPr>
        <p:scale>
          <a:sx n="70" d="100"/>
          <a:sy n="70" d="100"/>
        </p:scale>
        <p:origin x="-1224" y="-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8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slide" Target="slides/slide29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50" Type="http://schemas.openxmlformats.org/officeDocument/2006/relationships/slide" Target="slides/slide40.xml"/><Relationship Id="rId55" Type="http://schemas.openxmlformats.org/officeDocument/2006/relationships/slide" Target="slides/slide45.xml"/><Relationship Id="rId63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53" Type="http://schemas.openxmlformats.org/officeDocument/2006/relationships/slide" Target="slides/slide43.xml"/><Relationship Id="rId58" Type="http://schemas.openxmlformats.org/officeDocument/2006/relationships/slide" Target="slides/slide48.xml"/><Relationship Id="rId66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Relationship Id="rId57" Type="http://schemas.openxmlformats.org/officeDocument/2006/relationships/slide" Target="slides/slide47.xml"/><Relationship Id="rId61" Type="http://schemas.openxmlformats.org/officeDocument/2006/relationships/slide" Target="slides/slide5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slide" Target="slides/slide42.xml"/><Relationship Id="rId60" Type="http://schemas.openxmlformats.org/officeDocument/2006/relationships/slide" Target="slides/slide50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56" Type="http://schemas.openxmlformats.org/officeDocument/2006/relationships/slide" Target="slides/slide46.xml"/><Relationship Id="rId64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59" Type="http://schemas.openxmlformats.org/officeDocument/2006/relationships/slide" Target="slides/slide49.xml"/><Relationship Id="rId67" Type="http://schemas.openxmlformats.org/officeDocument/2006/relationships/tableStyles" Target="tableStyles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54" Type="http://schemas.openxmlformats.org/officeDocument/2006/relationships/slide" Target="slides/slide44.xml"/><Relationship Id="rId6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9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6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7" tIns="0" rIns="20137" bIns="0" numCol="1" anchor="t" anchorCtr="0" compatLnSpc="1">
            <a:prstTxWarp prst="textNoShape">
              <a:avLst/>
            </a:prstTxWarp>
          </a:bodyPr>
          <a:lstStyle>
            <a:lvl1pPr defTabSz="966788">
              <a:defRPr sz="1100" i="1">
                <a:latin typeface="Book Antiqua" pitchFamily="1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7" tIns="0" rIns="20137" bIns="0" numCol="1" anchor="t" anchorCtr="0" compatLnSpc="1">
            <a:prstTxWarp prst="textNoShape">
              <a:avLst/>
            </a:prstTxWarp>
          </a:bodyPr>
          <a:lstStyle>
            <a:lvl1pPr algn="r" defTabSz="966788">
              <a:defRPr sz="1100" i="1">
                <a:latin typeface="Book Antiqua" pitchFamily="1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7" tIns="0" rIns="20137" bIns="0" numCol="1" anchor="b" anchorCtr="0" compatLnSpc="1">
            <a:prstTxWarp prst="textNoShape">
              <a:avLst/>
            </a:prstTxWarp>
          </a:bodyPr>
          <a:lstStyle>
            <a:lvl1pPr defTabSz="966788">
              <a:defRPr sz="1100" i="1">
                <a:latin typeface="Book Antiqua" pitchFamily="1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7" tIns="0" rIns="20137" bIns="0" numCol="1" anchor="b" anchorCtr="0" compatLnSpc="1">
            <a:prstTxWarp prst="textNoShape">
              <a:avLst/>
            </a:prstTxWarp>
          </a:bodyPr>
          <a:lstStyle>
            <a:lvl1pPr algn="r" defTabSz="966788">
              <a:defRPr sz="1100" i="1">
                <a:latin typeface="Book Antiqua" pitchFamily="1" charset="0"/>
                <a:ea typeface="+mn-ea"/>
              </a:defRPr>
            </a:lvl1pPr>
          </a:lstStyle>
          <a:p>
            <a:pPr>
              <a:defRPr/>
            </a:pPr>
            <a:fld id="{E566D347-3526-40F0-A71B-B1B03E36FD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256304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6660" tIns="48329" rIns="96660" bIns="48329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Book Antiqua" pitchFamily="1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6660" tIns="48329" rIns="96660" bIns="48329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Book Antiqua" pitchFamily="1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5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6660" tIns="48329" rIns="96660" bIns="483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5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6660" tIns="48329" rIns="96660" bIns="48329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Book Antiqua" pitchFamily="1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6660" tIns="48329" rIns="96660" bIns="48329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Book Antiqua" pitchFamily="1" charset="0"/>
                <a:ea typeface="+mn-ea"/>
              </a:defRPr>
            </a:lvl1pPr>
          </a:lstStyle>
          <a:p>
            <a:pPr>
              <a:defRPr/>
            </a:pPr>
            <a:fld id="{43BF8A04-5365-4B17-8A8C-30D363AFCC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353844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10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defTabSz="966788">
              <a:defRPr sz="10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defTabSz="966788">
              <a:defRPr sz="10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defTabSz="966788">
              <a:defRPr sz="10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defTabSz="966788">
              <a:defRPr sz="10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fld id="{377F04F4-A2E2-4926-B280-8C09D6115B3E}" type="slidenum">
              <a:rPr lang="en-US" sz="1300"/>
              <a:pPr/>
              <a:t>2</a:t>
            </a:fld>
            <a:endParaRPr lang="en-US" sz="13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smtClean="0">
              <a:latin typeface="Book Antiqua" pitchFamily="-32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10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defTabSz="966788">
              <a:defRPr sz="10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defTabSz="966788">
              <a:defRPr sz="10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defTabSz="966788">
              <a:defRPr sz="10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defTabSz="966788">
              <a:defRPr sz="10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fld id="{D5D3C87B-4219-413B-8FB9-82715609C53C}" type="slidenum">
              <a:rPr lang="en-US" sz="1300" smtClean="0"/>
              <a:pPr/>
              <a:t>3</a:t>
            </a:fld>
            <a:endParaRPr lang="en-US" sz="1300" smtClean="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smtClean="0">
              <a:latin typeface="Book Antiqua" pitchFamily="-32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85372" indent="-302066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208265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91571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174878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/>
            <a:fld id="{E2862648-22CA-4326-B0A3-EC45183109F5}" type="slidenum">
              <a:rPr lang="en-US"/>
              <a:pPr eaLnBrk="1" hangingPunct="1"/>
              <a:t>4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Book Antiqua" pitchFamily="-32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55BAA3-31AC-467A-A638-C4983B94AC6C}" type="slidenum">
              <a:rPr lang="en-US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B45E39-2147-4F6B-ABA6-23A58E9FB831}" type="slidenum">
              <a:rPr lang="en-US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4341FC-C1B4-4509-8CF8-152EA35C3305}" type="slidenum">
              <a:rPr lang="en-US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9C468A-131C-460E-87B1-7D595CE4AA67}" type="slidenum">
              <a:rPr lang="en-US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7A0D68-8856-4AF7-AF6C-0B86832B3812}" type="slidenum">
              <a:rPr lang="en-US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4AD01E-9EF2-4E82-973E-AA2251CE8869}" type="slidenum">
              <a:rPr lang="en-US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EB3B0E-835A-4B97-8067-246921827C99}" type="slidenum">
              <a:rPr lang="en-US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6D8FD3-37F3-4B00-8756-0C90FCDB09E0}" type="slidenum">
              <a:rPr lang="en-US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806882-EBC2-44D2-A0CD-677FE5BC0718}" type="slidenum">
              <a:rPr lang="en-US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B3BB2D-26FC-4199-A71F-0CB8036C48E5}" type="slidenum">
              <a:rPr lang="en-US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0011E0-A28F-4BAD-8FEA-5923A81E3E8A}" type="slidenum">
              <a:rPr lang="en-US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A1F4A7-09C3-41DF-AA98-89222C42384E}" type="slidenum">
              <a:rPr lang="en-US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D962D6-4CAA-49BF-8B3D-BD5824495DF2}" type="slidenum">
              <a:rPr lang="en-US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22AAA9-E8CD-4D1E-AD38-A52306442D73}" type="slidenum">
              <a:rPr lang="en-US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B8FCEA-11E9-48FF-8B5D-78122CF4C7C8}" type="slidenum">
              <a:rPr lang="en-US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1118088-0721-419B-9034-31DFE14A3C98}" type="slidenum">
              <a:rPr lang="en-US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5E050C-CBAD-420E-A13A-05C04ABBFB8B}" type="slidenum">
              <a:rPr lang="en-US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696DCE-E2C1-453D-A6C6-195BE314D8A9}" type="slidenum">
              <a:rPr lang="en-US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815FC1-7C98-4CAE-A1E5-DCD71625B383}" type="slidenum">
              <a:rPr lang="en-US"/>
              <a:pPr/>
              <a:t>27</a:t>
            </a:fld>
            <a:endParaRPr lang="en-US"/>
          </a:p>
        </p:txBody>
      </p:sp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20DC97-D240-409E-90C7-226157ED28F0}" type="slidenum">
              <a:rPr lang="en-US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A0E3AE-A5EB-4FAE-96A2-98CAA847664D}" type="slidenum">
              <a:rPr lang="en-US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85372" indent="-302066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208265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91571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174878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/>
            <a:fld id="{CE737B3B-EB1B-4848-9298-62D0497761C7}" type="slidenum">
              <a:rPr lang="en-US"/>
              <a:pPr eaLnBrk="1" hangingPunct="1"/>
              <a:t>32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Book Antiqua" pitchFamily="-32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85372" indent="-302066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208265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91571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174878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/>
            <a:fld id="{7817C8D9-B7D4-411C-A1CB-7A95509D21E7}" type="slidenum">
              <a:rPr lang="en-US"/>
              <a:pPr eaLnBrk="1" hangingPunct="1"/>
              <a:t>33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Book Antiqua" pitchFamily="-32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85372" indent="-302066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208265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91571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174878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/>
            <a:fld id="{754E55FD-7E95-4176-850C-F72B348FE828}" type="slidenum">
              <a:rPr lang="en-US"/>
              <a:pPr eaLnBrk="1" hangingPunct="1"/>
              <a:t>34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Book Antiqua" pitchFamily="-32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85372" indent="-302066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208265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91571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174878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/>
            <a:fld id="{B31C0035-74D4-4FF2-BD6A-1D25CCD60A92}" type="slidenum">
              <a:rPr lang="en-US"/>
              <a:pPr eaLnBrk="1" hangingPunct="1"/>
              <a:t>35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Book Antiqua" pitchFamily="-32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85372" indent="-302066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208265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91571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174878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/>
            <a:fld id="{85FB642C-C55F-47FE-A14F-BAD25C57194E}" type="slidenum">
              <a:rPr lang="en-US"/>
              <a:pPr eaLnBrk="1" hangingPunct="1"/>
              <a:t>36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Book Antiqua" pitchFamily="-32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85372" indent="-302066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208265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91571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174878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/>
            <a:fld id="{7BB64FEF-169D-4BFC-AB72-4FC389D935D9}" type="slidenum">
              <a:rPr lang="en-US"/>
              <a:pPr eaLnBrk="1" hangingPunct="1"/>
              <a:t>37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Book Antiqua" pitchFamily="-32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85372" indent="-302066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208265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91571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174878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/>
            <a:fld id="{8F99DDA2-C973-4621-A284-7898285021FA}" type="slidenum">
              <a:rPr lang="en-US"/>
              <a:pPr eaLnBrk="1" hangingPunct="1"/>
              <a:t>38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Book Antiqua" pitchFamily="-32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85372" indent="-302066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208265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91571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174878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/>
            <a:fld id="{3576EF8F-1CF1-4921-8F95-CC1C30DAB239}" type="slidenum">
              <a:rPr lang="en-US"/>
              <a:pPr eaLnBrk="1" hangingPunct="1"/>
              <a:t>39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Book Antiqua" pitchFamily="-32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85372" indent="-302066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208265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91571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174878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/>
            <a:fld id="{0F1F6B92-D42A-4906-93C2-D1C88A01C6AC}" type="slidenum">
              <a:rPr lang="en-US"/>
              <a:pPr eaLnBrk="1" hangingPunct="1"/>
              <a:t>40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Book Antiqua" pitchFamily="-32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85372" indent="-302066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208265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91571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174878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/>
            <a:fld id="{736A6847-DC46-4350-99A1-ED685E79FD73}" type="slidenum">
              <a:rPr lang="en-US"/>
              <a:pPr eaLnBrk="1" hangingPunct="1"/>
              <a:t>41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Book Antiqua" pitchFamily="-32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85372" indent="-302066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208265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91571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174878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/>
            <a:fld id="{B533659C-9ACD-4669-8F43-4DD3A92D0227}" type="slidenum">
              <a:rPr lang="en-US"/>
              <a:pPr eaLnBrk="1" hangingPunct="1"/>
              <a:t>42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Book Antiqua" pitchFamily="-32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85372" indent="-302066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208265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91571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174878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/>
            <a:fld id="{A4EEB7F3-8824-452B-BDC4-8F5F25E8858A}" type="slidenum">
              <a:rPr lang="en-US"/>
              <a:pPr eaLnBrk="1" hangingPunct="1"/>
              <a:t>43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Book Antiqua" pitchFamily="-32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85372" indent="-302066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208265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91571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174878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/>
            <a:fld id="{AF3E6186-5453-43FA-87A5-F52A14423B12}" type="slidenum">
              <a:rPr lang="en-US"/>
              <a:pPr eaLnBrk="1" hangingPunct="1"/>
              <a:t>44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Book Antiqua" pitchFamily="-32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85372" indent="-302066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208265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91571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174878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/>
            <a:fld id="{F70EC0E9-AF42-432C-8C5B-A40335A1D9C2}" type="slidenum">
              <a:rPr lang="en-US"/>
              <a:pPr eaLnBrk="1" hangingPunct="1"/>
              <a:t>45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Book Antiqua" pitchFamily="-32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85372" indent="-302066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208265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91571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174878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/>
            <a:fld id="{8B86D65B-8FBE-4884-A1FC-0F7CA868845C}" type="slidenum">
              <a:rPr lang="en-US"/>
              <a:pPr eaLnBrk="1" hangingPunct="1"/>
              <a:t>46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Book Antiqua" pitchFamily="-32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85372" indent="-302066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208265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91571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174878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/>
            <a:fld id="{27DFF2E7-9C42-4E86-B0AA-DFC9736582BF}" type="slidenum">
              <a:rPr lang="en-US"/>
              <a:pPr eaLnBrk="1" hangingPunct="1"/>
              <a:t>47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Book Antiqua" pitchFamily="-32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85372" indent="-302066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208265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91571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174878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/>
            <a:fld id="{C23824E3-33A8-4721-9D99-F91CD8DA8399}" type="slidenum">
              <a:rPr lang="en-US"/>
              <a:pPr eaLnBrk="1" hangingPunct="1"/>
              <a:t>48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Book Antiqua" pitchFamily="-32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85372" indent="-302066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208265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91571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174878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/>
            <a:fld id="{5E1189F9-1645-4385-9BF3-EFB467C004E5}" type="slidenum">
              <a:rPr lang="en-US"/>
              <a:pPr eaLnBrk="1" hangingPunct="1"/>
              <a:t>49</a:t>
            </a:fld>
            <a:endParaRPr 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Book Antiqua" pitchFamily="-32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85372" indent="-302066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208265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91571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174878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/>
            <a:fld id="{E6B5573E-6D85-41E1-94B6-91BA2F0EC61E}" type="slidenum">
              <a:rPr lang="en-US"/>
              <a:pPr eaLnBrk="1" hangingPunct="1"/>
              <a:t>50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smtClean="0">
              <a:latin typeface="Book Antiqua" pitchFamily="-32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85372" indent="-302066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208265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91571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174878" indent="-241653" eaLnBrk="0" hangingPunct="0"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/>
            <a:fld id="{A16EBC11-12E7-49AC-8732-7A7C929114F0}" type="slidenum">
              <a:rPr lang="en-US"/>
              <a:pPr eaLnBrk="1" hangingPunct="1"/>
              <a:t>51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Book Antiqua" pitchFamily="-32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2.v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3.xml"/><Relationship Id="rId1" Type="http://schemas.openxmlformats.org/officeDocument/2006/relationships/vmlDrawing" Target="../drawings/vmlDrawing4.v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5.xml"/><Relationship Id="rId1" Type="http://schemas.openxmlformats.org/officeDocument/2006/relationships/vmlDrawing" Target="../drawings/vmlDrawing6.v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8.xml"/><Relationship Id="rId1" Type="http://schemas.openxmlformats.org/officeDocument/2006/relationships/vmlDrawing" Target="../drawings/vmlDrawing8.v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9.xml"/><Relationship Id="rId1" Type="http://schemas.openxmlformats.org/officeDocument/2006/relationships/vmlDrawing" Target="../drawings/vmlDrawing10.v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6022975" y="4114800"/>
            <a:ext cx="3121025" cy="2708275"/>
            <a:chOff x="3794" y="2614"/>
            <a:chExt cx="1966" cy="1706"/>
          </a:xfrm>
        </p:grpSpPr>
        <p:sp>
          <p:nvSpPr>
            <p:cNvPr id="5" name="Oval 8"/>
            <p:cNvSpPr>
              <a:spLocks noChangeArrowheads="1"/>
            </p:cNvSpPr>
            <p:nvPr/>
          </p:nvSpPr>
          <p:spPr bwMode="auto">
            <a:xfrm>
              <a:off x="3794" y="3840"/>
              <a:ext cx="1966" cy="480"/>
            </a:xfrm>
            <a:prstGeom prst="ellipse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Book Antiqua" pitchFamily="1" charset="0"/>
                <a:ea typeface="+mn-ea"/>
              </a:endParaRPr>
            </a:p>
          </p:txBody>
        </p:sp>
        <p:sp>
          <p:nvSpPr>
            <p:cNvPr id="6" name="Rectangle 9"/>
            <p:cNvSpPr>
              <a:spLocks noChangeArrowheads="1"/>
            </p:cNvSpPr>
            <p:nvPr/>
          </p:nvSpPr>
          <p:spPr bwMode="auto">
            <a:xfrm>
              <a:off x="3794" y="2879"/>
              <a:ext cx="1966" cy="1200"/>
            </a:xfrm>
            <a:prstGeom prst="rect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Book Antiqua" pitchFamily="1" charset="0"/>
                <a:ea typeface="+mn-ea"/>
              </a:endParaRPr>
            </a:p>
          </p:txBody>
        </p:sp>
        <p:pic>
          <p:nvPicPr>
            <p:cNvPr id="7" name="Picture 1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4" y="2614"/>
              <a:ext cx="1966" cy="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9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5257800" cy="11430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4572000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1"/>
                </a:solidFill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3F5FC1-9BB7-4D91-A5D9-946808F3E0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98137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A1EBAF-12DC-4754-A5B1-9C8939FF65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20602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25CD4A-E459-48E4-8BDE-0338DFB9C2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38624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74935D-7201-4D93-9DC1-CD73E65B63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93122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FE8B84-65B5-45F3-8346-B6FB98E19E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87868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570928-C257-4513-8C0E-CEF75A225E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2125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A1DD56-3CA1-4BAC-92C3-F72AA26109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02037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7E873D-5765-43BF-B0E7-C383206615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62161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AAE064-7C78-4AE7-BDD5-1D9DFE0A7C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17748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277FE5-5A2B-4A76-8E46-5AFE7EA5DB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01642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553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553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DE6CDA-4A06-4C8B-82E5-C7A98AA4A6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98236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0"/>
            <a:ext cx="716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447800"/>
            <a:ext cx="3810000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447800"/>
            <a:ext cx="3810000" cy="51054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676D36-4556-49E4-A692-EC55BB2C02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04787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0"/>
            <a:ext cx="716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447800"/>
            <a:ext cx="7772400" cy="51054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5C7279-BF6F-442E-A4E3-A642CD0B0D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168162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239000" y="64008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C0A890-B99F-4B28-974F-96049FD2F1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164541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7"/>
          <p:cNvSpPr>
            <a:spLocks noChangeShapeType="1"/>
          </p:cNvSpPr>
          <p:nvPr/>
        </p:nvSpPr>
        <p:spPr bwMode="auto">
          <a:xfrm>
            <a:off x="873125" y="6000750"/>
            <a:ext cx="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 sz="1200" dirty="0">
              <a:latin typeface="Book Antiqua" pitchFamily="1" charset="0"/>
            </a:endParaRPr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6022975" y="4114800"/>
            <a:ext cx="3121025" cy="2708275"/>
            <a:chOff x="3794" y="2614"/>
            <a:chExt cx="1966" cy="1706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3794" y="3840"/>
              <a:ext cx="1966" cy="480"/>
            </a:xfrm>
            <a:prstGeom prst="ellipse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200" dirty="0">
                <a:latin typeface="Book Antiqua" pitchFamily="1" charset="0"/>
              </a:endParaRPr>
            </a:p>
          </p:txBody>
        </p:sp>
        <p:sp>
          <p:nvSpPr>
            <p:cNvPr id="7" name="Rectangle 10"/>
            <p:cNvSpPr>
              <a:spLocks noChangeArrowheads="1"/>
            </p:cNvSpPr>
            <p:nvPr/>
          </p:nvSpPr>
          <p:spPr bwMode="auto">
            <a:xfrm>
              <a:off x="3794" y="2879"/>
              <a:ext cx="1966" cy="1200"/>
            </a:xfrm>
            <a:prstGeom prst="rect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200" dirty="0">
                <a:latin typeface="Book Antiqua" pitchFamily="1" charset="0"/>
              </a:endParaRPr>
            </a:p>
          </p:txBody>
        </p:sp>
        <p:graphicFrame>
          <p:nvGraphicFramePr>
            <p:cNvPr id="8" name="Object 11"/>
            <p:cNvGraphicFramePr>
              <a:graphicFrameLocks noChangeAspect="1"/>
            </p:cNvGraphicFramePr>
            <p:nvPr/>
          </p:nvGraphicFramePr>
          <p:xfrm>
            <a:off x="3794" y="2614"/>
            <a:ext cx="1966" cy="481"/>
          </p:xfrm>
          <a:graphic>
            <a:graphicData uri="http://schemas.openxmlformats.org/presentationml/2006/ole">
              <p:oleObj spid="_x0000_s117775" name="Clip" r:id="rId3" imgW="1664208" imgH="1666951" progId="">
                <p:embed/>
              </p:oleObj>
            </a:graphicData>
          </a:graphic>
        </p:graphicFrame>
      </p:grpSp>
      <p:sp>
        <p:nvSpPr>
          <p:cNvPr id="3686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5181600" cy="1143000"/>
          </a:xfrm>
        </p:spPr>
        <p:txBody>
          <a:bodyPr/>
          <a:lstStyle>
            <a:lvl1pPr algn="r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990600" y="3581400"/>
            <a:ext cx="4876800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1722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400" dirty="0">
                <a:solidFill>
                  <a:schemeClr val="tx1"/>
                </a:solidFill>
                <a:latin typeface="Times New Roman" pitchFamily="1" charset="0"/>
                <a:ea typeface="+mn-ea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</p:spPr>
        <p:txBody>
          <a:bodyPr/>
          <a:lstStyle>
            <a:lvl1pPr algn="ctr">
              <a:defRPr sz="1400" dirty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136044-64DD-440A-A659-08F31E21797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090788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2B63F4-9F8E-4A34-8ACB-B7D5C119DD5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64290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0EFC34-DE91-42DE-B929-A0D683A80EB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758238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80C1B0-89F1-4232-9C55-5435C58A420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098187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EEAF6A-75E8-40EC-8A79-77D8FDDC34F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433925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DD2A95-912E-47EC-A58C-7F5A20357E2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35165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D66169-2DF5-4CD2-A90A-791D2F08AF0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853138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E1C319-DBFE-4F6D-A6B9-521055FF891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783408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8C7F28-7B25-423C-AE71-C6F294AB4D6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863507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3E6CB1-8CEB-4D68-82A8-D657E314749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021782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F83531-0A0A-4A08-AF7D-49BE49F9E18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9325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86ABF4-C38A-46BB-8E15-919461A22CC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66405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990600"/>
            <a:ext cx="7010400" cy="76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752600" y="1828800"/>
            <a:ext cx="7010400" cy="47244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477282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7"/>
          <p:cNvSpPr>
            <a:spLocks noChangeShapeType="1"/>
          </p:cNvSpPr>
          <p:nvPr/>
        </p:nvSpPr>
        <p:spPr bwMode="auto">
          <a:xfrm>
            <a:off x="873125" y="6000750"/>
            <a:ext cx="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 sz="1200" dirty="0">
              <a:latin typeface="Book Antiqua" pitchFamily="1" charset="0"/>
              <a:ea typeface="+mn-ea"/>
            </a:endParaRPr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6022975" y="4114800"/>
            <a:ext cx="3121025" cy="2708275"/>
            <a:chOff x="3794" y="2614"/>
            <a:chExt cx="1966" cy="1706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3794" y="3840"/>
              <a:ext cx="1966" cy="480"/>
            </a:xfrm>
            <a:prstGeom prst="ellipse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200" dirty="0">
                <a:latin typeface="Book Antiqua" pitchFamily="1" charset="0"/>
                <a:ea typeface="+mn-ea"/>
              </a:endParaRPr>
            </a:p>
          </p:txBody>
        </p:sp>
        <p:sp>
          <p:nvSpPr>
            <p:cNvPr id="7" name="Rectangle 10"/>
            <p:cNvSpPr>
              <a:spLocks noChangeArrowheads="1"/>
            </p:cNvSpPr>
            <p:nvPr/>
          </p:nvSpPr>
          <p:spPr bwMode="auto">
            <a:xfrm>
              <a:off x="3794" y="2879"/>
              <a:ext cx="1966" cy="1200"/>
            </a:xfrm>
            <a:prstGeom prst="rect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200" dirty="0">
                <a:latin typeface="Book Antiqua" pitchFamily="1" charset="0"/>
                <a:ea typeface="+mn-ea"/>
              </a:endParaRPr>
            </a:p>
          </p:txBody>
        </p:sp>
        <p:graphicFrame>
          <p:nvGraphicFramePr>
            <p:cNvPr id="8" name="Object 11"/>
            <p:cNvGraphicFramePr>
              <a:graphicFrameLocks noChangeAspect="1"/>
            </p:cNvGraphicFramePr>
            <p:nvPr/>
          </p:nvGraphicFramePr>
          <p:xfrm>
            <a:off x="3794" y="2614"/>
            <a:ext cx="1966" cy="481"/>
          </p:xfrm>
          <a:graphic>
            <a:graphicData uri="http://schemas.openxmlformats.org/presentationml/2006/ole">
              <p:oleObj spid="_x0000_s121871" name="Clip" r:id="rId3" imgW="1664208" imgH="1666951" progId="">
                <p:embed/>
              </p:oleObj>
            </a:graphicData>
          </a:graphic>
        </p:graphicFrame>
      </p:grpSp>
      <p:sp>
        <p:nvSpPr>
          <p:cNvPr id="3686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5181600" cy="1143000"/>
          </a:xfrm>
        </p:spPr>
        <p:txBody>
          <a:bodyPr/>
          <a:lstStyle>
            <a:lvl1pPr algn="r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990600" y="3581400"/>
            <a:ext cx="4876800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1722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400" dirty="0">
                <a:solidFill>
                  <a:schemeClr val="tx1"/>
                </a:solidFill>
                <a:latin typeface="Times New Roman" pitchFamily="1" charset="0"/>
                <a:ea typeface="+mn-ea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</p:spPr>
        <p:txBody>
          <a:bodyPr/>
          <a:lstStyle>
            <a:lvl1pPr algn="ctr">
              <a:defRPr sz="1400" dirty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136044-64DD-440A-A659-08F31E21797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357272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2B63F4-9F8E-4A34-8ACB-B7D5C119DD5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213059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0EFC34-DE91-42DE-B929-A0D683A80EB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52564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80C1B0-89F1-4232-9C55-5435C58A420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8455106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EEAF6A-75E8-40EC-8A79-77D8FDDC34F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145308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DD2A95-912E-47EC-A58C-7F5A20357E2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5481942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D66169-2DF5-4CD2-A90A-791D2F08AF0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097219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E1C319-DBFE-4F6D-A6B9-521055FF891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039684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8C7F28-7B25-423C-AE71-C6F294AB4D6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021988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3E6CB1-8CEB-4D68-82A8-D657E314749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314550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F83531-0A0A-4A08-AF7D-49BE49F9E18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504795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86ABF4-C38A-46BB-8E15-919461A22CC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173914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0DA3A9-0B07-4A7F-90CE-F183AEB48A0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4851037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2B391E-A9FA-4CBA-AEA8-FA99766E8EB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7823500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AA6F8B-D751-4DAB-8C0D-77D0193E49C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39427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ED9F52-1DC4-480D-90CC-92590E09544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8513092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ED0AD3-FD07-4E88-8123-4ABEE53A0BB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3897810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7604C0-5701-4992-8CA3-6A96AD3D1B9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0059918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97D491-B699-4B62-BF32-A337D3D983B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387408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F70B14-0E6C-4BD9-80B4-DB0E329245E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1649575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DECAE-BBD5-4022-A8A4-536BC0F4887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8301827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553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553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DA47C6-7A67-4255-9B53-065212DA841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8176826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7"/>
          <p:cNvSpPr>
            <a:spLocks noChangeShapeType="1"/>
          </p:cNvSpPr>
          <p:nvPr/>
        </p:nvSpPr>
        <p:spPr bwMode="auto">
          <a:xfrm>
            <a:off x="873125" y="6000750"/>
            <a:ext cx="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 sz="1200" dirty="0">
              <a:latin typeface="Book Antiqua" pitchFamily="1" charset="0"/>
            </a:endParaRPr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6022975" y="4114800"/>
            <a:ext cx="3121025" cy="2708275"/>
            <a:chOff x="3794" y="2614"/>
            <a:chExt cx="1966" cy="1706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3794" y="3840"/>
              <a:ext cx="1966" cy="480"/>
            </a:xfrm>
            <a:prstGeom prst="ellipse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200" dirty="0">
                <a:latin typeface="Book Antiqua" pitchFamily="1" charset="0"/>
              </a:endParaRPr>
            </a:p>
          </p:txBody>
        </p:sp>
        <p:sp>
          <p:nvSpPr>
            <p:cNvPr id="7" name="Rectangle 10"/>
            <p:cNvSpPr>
              <a:spLocks noChangeArrowheads="1"/>
            </p:cNvSpPr>
            <p:nvPr/>
          </p:nvSpPr>
          <p:spPr bwMode="auto">
            <a:xfrm>
              <a:off x="3794" y="2879"/>
              <a:ext cx="1966" cy="1200"/>
            </a:xfrm>
            <a:prstGeom prst="rect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200" dirty="0">
                <a:latin typeface="Book Antiqua" pitchFamily="1" charset="0"/>
              </a:endParaRPr>
            </a:p>
          </p:txBody>
        </p:sp>
        <p:graphicFrame>
          <p:nvGraphicFramePr>
            <p:cNvPr id="8" name="Object 11"/>
            <p:cNvGraphicFramePr>
              <a:graphicFrameLocks noChangeAspect="1"/>
            </p:cNvGraphicFramePr>
            <p:nvPr/>
          </p:nvGraphicFramePr>
          <p:xfrm>
            <a:off x="3794" y="2614"/>
            <a:ext cx="1966" cy="481"/>
          </p:xfrm>
          <a:graphic>
            <a:graphicData uri="http://schemas.openxmlformats.org/presentationml/2006/ole">
              <p:oleObj spid="_x0000_s123919" name="Clip" r:id="rId3" imgW="1664208" imgH="1666951" progId="">
                <p:embed/>
              </p:oleObj>
            </a:graphicData>
          </a:graphic>
        </p:graphicFrame>
      </p:grpSp>
      <p:sp>
        <p:nvSpPr>
          <p:cNvPr id="3686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5181600" cy="1143000"/>
          </a:xfrm>
        </p:spPr>
        <p:txBody>
          <a:bodyPr/>
          <a:lstStyle>
            <a:lvl1pPr algn="r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990600" y="3581400"/>
            <a:ext cx="4876800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1722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400" dirty="0">
                <a:solidFill>
                  <a:schemeClr val="tx1"/>
                </a:solidFill>
                <a:latin typeface="Times New Roman" pitchFamily="1" charset="0"/>
                <a:ea typeface="+mn-ea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</p:spPr>
        <p:txBody>
          <a:bodyPr/>
          <a:lstStyle>
            <a:lvl1pPr algn="ctr">
              <a:defRPr sz="1400" dirty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136044-64DD-440A-A659-08F31E21797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219596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2B63F4-9F8E-4A34-8ACB-B7D5C119DD5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2236491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0EFC34-DE91-42DE-B929-A0D683A80EB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6754896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80C1B0-89F1-4232-9C55-5435C58A420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342344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EEAF6A-75E8-40EC-8A79-77D8FDDC34F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4484613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DD2A95-912E-47EC-A58C-7F5A20357E2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5113543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D66169-2DF5-4CD2-A90A-791D2F08AF0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7448323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E1C319-DBFE-4F6D-A6B9-521055FF891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0307451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8C7F28-7B25-423C-AE71-C6F294AB4D6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3784684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3E6CB1-8CEB-4D68-82A8-D657E314749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64774313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F83531-0A0A-4A08-AF7D-49BE49F9E18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392828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86ABF4-C38A-46BB-8E15-919461A22CC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1018228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0DA3A9-0B07-4A7F-90CE-F183AEB48A0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6798905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2B391E-A9FA-4CBA-AEA8-FA99766E8EB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3835425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AA6F8B-D751-4DAB-8C0D-77D0193E49C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4919638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ED9F52-1DC4-480D-90CC-92590E09544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0618432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ED0AD3-FD07-4E88-8123-4ABEE53A0BB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7956920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7604C0-5701-4992-8CA3-6A96AD3D1B9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5861857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97D491-B699-4B62-BF32-A337D3D983B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1734135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F70B14-0E6C-4BD9-80B4-DB0E329245E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6909586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DECAE-BBD5-4022-A8A4-536BC0F4887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2091527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553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553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DA47C6-7A67-4255-9B53-065212DA841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8438140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0DA3A9-0B07-4A7F-90CE-F183AEB48A0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3393486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2B391E-A9FA-4CBA-AEA8-FA99766E8EB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6678330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AA6F8B-D751-4DAB-8C0D-77D0193E49C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1823628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ED9F52-1DC4-480D-90CC-92590E09544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4227519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ED0AD3-FD07-4E88-8123-4ABEE53A0BB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3824246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7604C0-5701-4992-8CA3-6A96AD3D1B9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4549094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97D491-B699-4B62-BF32-A337D3D983B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2237678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F70B14-0E6C-4BD9-80B4-DB0E329245E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885951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DECAE-BBD5-4022-A8A4-536BC0F4887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0086153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553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553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DA47C6-7A67-4255-9B53-065212DA841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3710046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7"/>
          <p:cNvSpPr>
            <a:spLocks noChangeShapeType="1"/>
          </p:cNvSpPr>
          <p:nvPr/>
        </p:nvSpPr>
        <p:spPr bwMode="auto">
          <a:xfrm>
            <a:off x="873125" y="6000750"/>
            <a:ext cx="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 sz="1200" dirty="0">
              <a:latin typeface="Book Antiqua" pitchFamily="1" charset="0"/>
              <a:ea typeface="+mn-ea"/>
            </a:endParaRPr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6022975" y="4114800"/>
            <a:ext cx="3121025" cy="2708275"/>
            <a:chOff x="3794" y="2614"/>
            <a:chExt cx="1966" cy="1706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3794" y="3840"/>
              <a:ext cx="1966" cy="480"/>
            </a:xfrm>
            <a:prstGeom prst="ellipse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200" dirty="0">
                <a:latin typeface="Book Antiqua" pitchFamily="1" charset="0"/>
                <a:ea typeface="+mn-ea"/>
              </a:endParaRPr>
            </a:p>
          </p:txBody>
        </p:sp>
        <p:sp>
          <p:nvSpPr>
            <p:cNvPr id="7" name="Rectangle 10"/>
            <p:cNvSpPr>
              <a:spLocks noChangeArrowheads="1"/>
            </p:cNvSpPr>
            <p:nvPr/>
          </p:nvSpPr>
          <p:spPr bwMode="auto">
            <a:xfrm>
              <a:off x="3794" y="2879"/>
              <a:ext cx="1966" cy="1200"/>
            </a:xfrm>
            <a:prstGeom prst="rect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200" dirty="0">
                <a:latin typeface="Book Antiqua" pitchFamily="1" charset="0"/>
                <a:ea typeface="+mn-ea"/>
              </a:endParaRPr>
            </a:p>
          </p:txBody>
        </p:sp>
        <p:graphicFrame>
          <p:nvGraphicFramePr>
            <p:cNvPr id="8" name="Object 11"/>
            <p:cNvGraphicFramePr>
              <a:graphicFrameLocks noChangeAspect="1"/>
            </p:cNvGraphicFramePr>
            <p:nvPr/>
          </p:nvGraphicFramePr>
          <p:xfrm>
            <a:off x="3794" y="2614"/>
            <a:ext cx="1966" cy="481"/>
          </p:xfrm>
          <a:graphic>
            <a:graphicData uri="http://schemas.openxmlformats.org/presentationml/2006/ole">
              <p:oleObj spid="_x0000_s125967" name="Clip" r:id="rId3" imgW="1664208" imgH="1666951" progId="">
                <p:embed/>
              </p:oleObj>
            </a:graphicData>
          </a:graphic>
        </p:graphicFrame>
      </p:grpSp>
      <p:sp>
        <p:nvSpPr>
          <p:cNvPr id="3686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5181600" cy="1143000"/>
          </a:xfrm>
        </p:spPr>
        <p:txBody>
          <a:bodyPr/>
          <a:lstStyle>
            <a:lvl1pPr algn="r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990600" y="3581400"/>
            <a:ext cx="4876800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1722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400" dirty="0">
                <a:solidFill>
                  <a:schemeClr val="tx1"/>
                </a:solidFill>
                <a:latin typeface="Times New Roman" pitchFamily="1" charset="0"/>
                <a:ea typeface="+mn-ea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</p:spPr>
        <p:txBody>
          <a:bodyPr/>
          <a:lstStyle>
            <a:lvl1pPr algn="ctr">
              <a:defRPr sz="1400" dirty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136044-64DD-440A-A659-08F31E21797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5515567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2B63F4-9F8E-4A34-8ACB-B7D5C119DD5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5432110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0EFC34-DE91-42DE-B929-A0D683A80EB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0130955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80C1B0-89F1-4232-9C55-5435C58A420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710836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EEAF6A-75E8-40EC-8A79-77D8FDDC34F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4717655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DD2A95-912E-47EC-A58C-7F5A20357E2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3863634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D66169-2DF5-4CD2-A90A-791D2F08AF0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3808429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E1C319-DBFE-4F6D-A6B9-521055FF891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9853635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8C7F28-7B25-423C-AE71-C6F294AB4D6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0964714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3E6CB1-8CEB-4D68-82A8-D657E314749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7690876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F83531-0A0A-4A08-AF7D-49BE49F9E18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7165546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86ABF4-C38A-46BB-8E15-919461A22CC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238824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7"/>
          <p:cNvSpPr>
            <a:spLocks noChangeShapeType="1"/>
          </p:cNvSpPr>
          <p:nvPr/>
        </p:nvSpPr>
        <p:spPr bwMode="auto">
          <a:xfrm>
            <a:off x="873125" y="6000750"/>
            <a:ext cx="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 sz="1200" dirty="0">
              <a:latin typeface="Book Antiqua" pitchFamily="1" charset="0"/>
            </a:endParaRPr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6022975" y="4114800"/>
            <a:ext cx="3121025" cy="2708275"/>
            <a:chOff x="3794" y="2614"/>
            <a:chExt cx="1966" cy="1706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3794" y="3840"/>
              <a:ext cx="1966" cy="480"/>
            </a:xfrm>
            <a:prstGeom prst="ellipse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200" dirty="0">
                <a:latin typeface="Book Antiqua" pitchFamily="1" charset="0"/>
              </a:endParaRPr>
            </a:p>
          </p:txBody>
        </p:sp>
        <p:sp>
          <p:nvSpPr>
            <p:cNvPr id="7" name="Rectangle 10"/>
            <p:cNvSpPr>
              <a:spLocks noChangeArrowheads="1"/>
            </p:cNvSpPr>
            <p:nvPr/>
          </p:nvSpPr>
          <p:spPr bwMode="auto">
            <a:xfrm>
              <a:off x="3794" y="2879"/>
              <a:ext cx="1966" cy="1200"/>
            </a:xfrm>
            <a:prstGeom prst="rect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200" dirty="0">
                <a:latin typeface="Book Antiqua" pitchFamily="1" charset="0"/>
              </a:endParaRPr>
            </a:p>
          </p:txBody>
        </p:sp>
        <p:graphicFrame>
          <p:nvGraphicFramePr>
            <p:cNvPr id="8" name="Object 11"/>
            <p:cNvGraphicFramePr>
              <a:graphicFrameLocks noChangeAspect="1"/>
            </p:cNvGraphicFramePr>
            <p:nvPr/>
          </p:nvGraphicFramePr>
          <p:xfrm>
            <a:off x="3794" y="2614"/>
            <a:ext cx="1966" cy="481"/>
          </p:xfrm>
          <a:graphic>
            <a:graphicData uri="http://schemas.openxmlformats.org/presentationml/2006/ole">
              <p:oleObj spid="_x0000_s138254" name="Clip" r:id="rId3" imgW="1664208" imgH="1666951" progId="">
                <p:embed/>
              </p:oleObj>
            </a:graphicData>
          </a:graphic>
        </p:graphicFrame>
      </p:grpSp>
      <p:sp>
        <p:nvSpPr>
          <p:cNvPr id="3686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5181600" cy="1143000"/>
          </a:xfrm>
        </p:spPr>
        <p:txBody>
          <a:bodyPr/>
          <a:lstStyle>
            <a:lvl1pPr algn="r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990600" y="3581400"/>
            <a:ext cx="4876800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1722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400" dirty="0">
                <a:solidFill>
                  <a:schemeClr val="tx1"/>
                </a:solidFill>
                <a:latin typeface="Times New Roman" pitchFamily="1" charset="0"/>
                <a:ea typeface="+mn-ea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</p:spPr>
        <p:txBody>
          <a:bodyPr/>
          <a:lstStyle>
            <a:lvl1pPr algn="ctr">
              <a:defRPr sz="1400" dirty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136044-64DD-440A-A659-08F31E21797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6269769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2B63F4-9F8E-4A34-8ACB-B7D5C119DD5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2083789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0EFC34-DE91-42DE-B929-A0D683A80EB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2820522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80C1B0-89F1-4232-9C55-5435C58A420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4195101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EEAF6A-75E8-40EC-8A79-77D8FDDC34F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1965243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DD2A95-912E-47EC-A58C-7F5A20357E2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3717392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D66169-2DF5-4CD2-A90A-791D2F08AF0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3652902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E1C319-DBFE-4F6D-A6B9-521055FF891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51386764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8C7F28-7B25-423C-AE71-C6F294AB4D6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3616281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3E6CB1-8CEB-4D68-82A8-D657E314749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6733659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F83531-0A0A-4A08-AF7D-49BE49F9E18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4697176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86ABF4-C38A-46BB-8E15-919461A22CC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82724421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11998573 h 1000"/>
              <a:gd name="T6" fmla="*/ 0 w 1000"/>
              <a:gd name="T7" fmla="*/ 11998573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0000"/>
              </a:solidFill>
              <a:latin typeface="Verdana"/>
              <a:ea typeface="+mn-ea"/>
            </a:endParaRPr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430CFF-7B68-42E6-8B85-5757A363FB5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0646229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F1C431-F376-4022-8747-C78ADB418EF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5785761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1E91DA-64D8-4A32-92CD-338BD0FFE3B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5679386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A6ABC0-9CDD-4014-A33B-AACCE322561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1365261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406BB7-6843-4AF1-9FEE-61A18CE9B51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37167321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76B530-A9CF-4BDB-8521-0AF0A69226B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6350271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2E9063-C48C-4DD8-972F-4805C038AC4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7854934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73DA2D-686D-45EE-9B61-66E2E3E6513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6592683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45B03C-9C91-4E13-A93C-BBD7DB4E5F4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07163307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A34C62-090D-4DF9-B53E-E7C1B3E90B3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31314558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7488" y="304800"/>
            <a:ext cx="2000250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4835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A759BC-3095-4C2B-8D9D-0DE1595F826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999164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6789738" cy="1216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66738" y="1752600"/>
            <a:ext cx="8001000" cy="4267200"/>
          </a:xfrm>
        </p:spPr>
        <p:txBody>
          <a:bodyPr/>
          <a:lstStyle/>
          <a:p>
            <a:pPr lvl="0"/>
            <a:r>
              <a:rPr lang="en-US" noProof="0" smtClean="0"/>
              <a:t>Click icon to add table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16EE06-25E1-4BED-9B89-3926740767F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29966408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6789738" cy="1216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A61EB9-AD0F-4D4B-BDB3-764CE177B5B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67161909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219200"/>
            <a:ext cx="4038600" cy="24209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572000" y="1219200"/>
            <a:ext cx="4038600" cy="2420938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Lecture 1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7E070C-4CCB-42D0-84D0-A24AB3316EB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23061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w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vmlDrawing" Target="../drawings/vmlDrawing1.v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oleObject" Target="../embeddings/oleObject3.bin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vmlDrawing" Target="../drawings/vmlDrawing3.v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image" Target="../media/image1.wmf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5" Type="http://schemas.openxmlformats.org/officeDocument/2006/relationships/oleObject" Target="../embeddings/oleObject5.bin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vmlDrawing" Target="../drawings/vmlDrawing5.v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image" Target="../media/image1.wmf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3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8.xml"/><Relationship Id="rId12" Type="http://schemas.openxmlformats.org/officeDocument/2006/relationships/image" Target="../media/image1.wmf"/><Relationship Id="rId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81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slideLayout" Target="../slideLayouts/slideLayout93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5" Type="http://schemas.openxmlformats.org/officeDocument/2006/relationships/oleObject" Target="../embeddings/oleObject7.bin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Relationship Id="rId14" Type="http://schemas.openxmlformats.org/officeDocument/2006/relationships/vmlDrawing" Target="../drawings/vmlDrawing7.v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1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96.xml"/><Relationship Id="rId7" Type="http://schemas.openxmlformats.org/officeDocument/2006/relationships/slideLayout" Target="../slideLayouts/slideLayout100.xml"/><Relationship Id="rId12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95.xml"/><Relationship Id="rId1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9.xml"/><Relationship Id="rId11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98.xml"/><Relationship Id="rId15" Type="http://schemas.openxmlformats.org/officeDocument/2006/relationships/oleObject" Target="../embeddings/oleObject9.bin"/><Relationship Id="rId10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97.xml"/><Relationship Id="rId9" Type="http://schemas.openxmlformats.org/officeDocument/2006/relationships/slideLayout" Target="../slideLayouts/slideLayout102.xml"/><Relationship Id="rId14" Type="http://schemas.openxmlformats.org/officeDocument/2006/relationships/vmlDrawing" Target="../drawings/vmlDrawing9.v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7.xml"/><Relationship Id="rId2" Type="http://schemas.openxmlformats.org/officeDocument/2006/relationships/slideLayout" Target="../slideLayouts/slideLayout107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0.xml"/><Relationship Id="rId15" Type="http://schemas.openxmlformats.org/officeDocument/2006/relationships/theme" Target="../theme/theme10.xml"/><Relationship Id="rId10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4.xml"/><Relationship Id="rId14" Type="http://schemas.openxmlformats.org/officeDocument/2006/relationships/slideLayout" Target="../slideLayouts/slideLayout1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Horz">
          <a:fgClr>
            <a:schemeClr val="bg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95400" y="0"/>
            <a:ext cx="716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28004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34B1344B-F79A-4611-B2EB-13D960C915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3077" name="Group 5"/>
          <p:cNvGrpSpPr>
            <a:grpSpLocks/>
          </p:cNvGrpSpPr>
          <p:nvPr/>
        </p:nvGrpSpPr>
        <p:grpSpPr bwMode="auto">
          <a:xfrm>
            <a:off x="152400" y="304800"/>
            <a:ext cx="762000" cy="660400"/>
            <a:chOff x="3794" y="2614"/>
            <a:chExt cx="1966" cy="1706"/>
          </a:xfrm>
        </p:grpSpPr>
        <p:sp>
          <p:nvSpPr>
            <p:cNvPr id="128006" name="Oval 6"/>
            <p:cNvSpPr>
              <a:spLocks noChangeArrowheads="1"/>
            </p:cNvSpPr>
            <p:nvPr/>
          </p:nvSpPr>
          <p:spPr bwMode="auto">
            <a:xfrm>
              <a:off x="3794" y="3840"/>
              <a:ext cx="1966" cy="480"/>
            </a:xfrm>
            <a:prstGeom prst="ellipse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Book Antiqua" pitchFamily="1" charset="0"/>
                <a:ea typeface="+mn-ea"/>
              </a:endParaRPr>
            </a:p>
          </p:txBody>
        </p:sp>
        <p:sp>
          <p:nvSpPr>
            <p:cNvPr id="128007" name="Rectangle 7"/>
            <p:cNvSpPr>
              <a:spLocks noChangeArrowheads="1"/>
            </p:cNvSpPr>
            <p:nvPr/>
          </p:nvSpPr>
          <p:spPr bwMode="auto">
            <a:xfrm>
              <a:off x="3794" y="2881"/>
              <a:ext cx="1966" cy="1197"/>
            </a:xfrm>
            <a:prstGeom prst="rect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Book Antiqua" pitchFamily="1" charset="0"/>
                <a:ea typeface="+mn-ea"/>
              </a:endParaRPr>
            </a:p>
          </p:txBody>
        </p:sp>
        <p:pic>
          <p:nvPicPr>
            <p:cNvPr id="3080" name="Picture 8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4" y="2614"/>
              <a:ext cx="1966" cy="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Horz">
          <a:fgClr>
            <a:schemeClr val="bg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33413" y="6453188"/>
            <a:ext cx="2895600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dirty="0">
                <a:solidFill>
                  <a:schemeClr val="tx1"/>
                </a:solidFill>
                <a:latin typeface="Times New Roman" pitchFamily="1" charset="0"/>
                <a:ea typeface="+mn-ea"/>
              </a:defRPr>
            </a:lvl1pPr>
          </a:lstStyle>
          <a:p>
            <a:pPr>
              <a:defRPr/>
            </a:pPr>
            <a:endParaRPr lang="en-US" sz="1200">
              <a:solidFill>
                <a:srgbClr val="000000"/>
              </a:solidFill>
            </a:endParaRPr>
          </a:p>
          <a:p>
            <a:pPr>
              <a:defRPr/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solidFill>
                  <a:schemeClr val="tx1"/>
                </a:solidFill>
                <a:latin typeface="Times New Roman" pitchFamily="1" charset="0"/>
                <a:ea typeface="+mn-ea"/>
              </a:defRPr>
            </a:lvl1pPr>
          </a:lstStyle>
          <a:p>
            <a:pPr>
              <a:defRPr/>
            </a:pPr>
            <a:fld id="{74E52402-4936-4C97-8CA4-2A32C72BA42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1032" name="Group 6"/>
          <p:cNvGrpSpPr>
            <a:grpSpLocks/>
          </p:cNvGrpSpPr>
          <p:nvPr/>
        </p:nvGrpSpPr>
        <p:grpSpPr bwMode="auto">
          <a:xfrm>
            <a:off x="152400" y="152400"/>
            <a:ext cx="838200" cy="762000"/>
            <a:chOff x="3794" y="2614"/>
            <a:chExt cx="1966" cy="1706"/>
          </a:xfrm>
        </p:grpSpPr>
        <p:sp>
          <p:nvSpPr>
            <p:cNvPr id="1031" name="Oval 7"/>
            <p:cNvSpPr>
              <a:spLocks noChangeArrowheads="1"/>
            </p:cNvSpPr>
            <p:nvPr/>
          </p:nvSpPr>
          <p:spPr bwMode="auto">
            <a:xfrm>
              <a:off x="3794" y="3840"/>
              <a:ext cx="1966" cy="480"/>
            </a:xfrm>
            <a:prstGeom prst="ellipse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200" dirty="0">
                <a:latin typeface="Book Antiqua" pitchFamily="1" charset="0"/>
              </a:endParaRPr>
            </a:p>
          </p:txBody>
        </p:sp>
        <p:sp>
          <p:nvSpPr>
            <p:cNvPr id="4" name="Rectangle 8"/>
            <p:cNvSpPr>
              <a:spLocks noChangeArrowheads="1"/>
            </p:cNvSpPr>
            <p:nvPr/>
          </p:nvSpPr>
          <p:spPr bwMode="auto">
            <a:xfrm>
              <a:off x="3794" y="2881"/>
              <a:ext cx="1966" cy="1198"/>
            </a:xfrm>
            <a:prstGeom prst="rect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200" dirty="0">
                <a:latin typeface="Book Antiqua" pitchFamily="1" charset="0"/>
              </a:endParaRPr>
            </a:p>
          </p:txBody>
        </p:sp>
        <p:graphicFrame>
          <p:nvGraphicFramePr>
            <p:cNvPr id="1026" name="Object 9"/>
            <p:cNvGraphicFramePr>
              <a:graphicFrameLocks noChangeAspect="1"/>
            </p:cNvGraphicFramePr>
            <p:nvPr/>
          </p:nvGraphicFramePr>
          <p:xfrm>
            <a:off x="3794" y="2614"/>
            <a:ext cx="1966" cy="481"/>
          </p:xfrm>
          <a:graphic>
            <a:graphicData uri="http://schemas.openxmlformats.org/presentationml/2006/ole">
              <p:oleObj spid="_x0000_s116751" name="Clip" r:id="rId16" imgW="1664208" imgH="1666951" progId="">
                <p:embed/>
              </p:oleObj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xmlns="" val="340507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835" r:id="rId13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Horz">
          <a:fgClr>
            <a:schemeClr val="bg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33413" y="6453188"/>
            <a:ext cx="2895600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dirty="0">
                <a:solidFill>
                  <a:schemeClr val="tx1"/>
                </a:solidFill>
                <a:latin typeface="Times New Roman" pitchFamily="1" charset="0"/>
                <a:ea typeface="+mn-ea"/>
              </a:defRPr>
            </a:lvl1pPr>
          </a:lstStyle>
          <a:p>
            <a:pPr>
              <a:defRPr/>
            </a:pPr>
            <a:endParaRPr lang="en-US" sz="1200">
              <a:solidFill>
                <a:srgbClr val="000000"/>
              </a:solidFill>
            </a:endParaRPr>
          </a:p>
          <a:p>
            <a:pPr>
              <a:defRPr/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solidFill>
                  <a:schemeClr val="tx1"/>
                </a:solidFill>
                <a:latin typeface="Times New Roman" pitchFamily="1" charset="0"/>
                <a:ea typeface="+mn-ea"/>
              </a:defRPr>
            </a:lvl1pPr>
          </a:lstStyle>
          <a:p>
            <a:pPr>
              <a:defRPr/>
            </a:pPr>
            <a:fld id="{74E52402-4936-4C97-8CA4-2A32C72BA42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1032" name="Group 6"/>
          <p:cNvGrpSpPr>
            <a:grpSpLocks/>
          </p:cNvGrpSpPr>
          <p:nvPr/>
        </p:nvGrpSpPr>
        <p:grpSpPr bwMode="auto">
          <a:xfrm>
            <a:off x="152400" y="152400"/>
            <a:ext cx="838200" cy="762000"/>
            <a:chOff x="3794" y="2614"/>
            <a:chExt cx="1966" cy="1706"/>
          </a:xfrm>
        </p:grpSpPr>
        <p:sp>
          <p:nvSpPr>
            <p:cNvPr id="1031" name="Oval 7"/>
            <p:cNvSpPr>
              <a:spLocks noChangeArrowheads="1"/>
            </p:cNvSpPr>
            <p:nvPr/>
          </p:nvSpPr>
          <p:spPr bwMode="auto">
            <a:xfrm>
              <a:off x="3794" y="3840"/>
              <a:ext cx="1966" cy="480"/>
            </a:xfrm>
            <a:prstGeom prst="ellipse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200" dirty="0">
                <a:latin typeface="Book Antiqua" pitchFamily="1" charset="0"/>
                <a:ea typeface="+mn-ea"/>
              </a:endParaRPr>
            </a:p>
          </p:txBody>
        </p:sp>
        <p:sp>
          <p:nvSpPr>
            <p:cNvPr id="4" name="Rectangle 8"/>
            <p:cNvSpPr>
              <a:spLocks noChangeArrowheads="1"/>
            </p:cNvSpPr>
            <p:nvPr/>
          </p:nvSpPr>
          <p:spPr bwMode="auto">
            <a:xfrm>
              <a:off x="3794" y="2881"/>
              <a:ext cx="1966" cy="1198"/>
            </a:xfrm>
            <a:prstGeom prst="rect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200" dirty="0">
                <a:latin typeface="Book Antiqua" pitchFamily="1" charset="0"/>
                <a:ea typeface="+mn-ea"/>
              </a:endParaRPr>
            </a:p>
          </p:txBody>
        </p:sp>
        <p:graphicFrame>
          <p:nvGraphicFramePr>
            <p:cNvPr id="1026" name="Object 9"/>
            <p:cNvGraphicFramePr>
              <a:graphicFrameLocks noChangeAspect="1"/>
            </p:cNvGraphicFramePr>
            <p:nvPr/>
          </p:nvGraphicFramePr>
          <p:xfrm>
            <a:off x="3794" y="2614"/>
            <a:ext cx="1966" cy="481"/>
          </p:xfrm>
          <a:graphic>
            <a:graphicData uri="http://schemas.openxmlformats.org/presentationml/2006/ole">
              <p:oleObj spid="_x0000_s120847" name="Clip" r:id="rId15" imgW="1664208" imgH="1666951" progId="">
                <p:embed/>
              </p:oleObj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xmlns="" val="3341255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Horz">
          <a:fgClr>
            <a:schemeClr val="bg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95400" y="0"/>
            <a:ext cx="716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solidFill>
                  <a:schemeClr val="tx1"/>
                </a:solidFill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5E9DAD8E-A982-45D4-B551-6FD7B756D8E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17413" name="Group 5"/>
          <p:cNvGrpSpPr>
            <a:grpSpLocks/>
          </p:cNvGrpSpPr>
          <p:nvPr/>
        </p:nvGrpSpPr>
        <p:grpSpPr bwMode="auto">
          <a:xfrm>
            <a:off x="381000" y="304800"/>
            <a:ext cx="762000" cy="660400"/>
            <a:chOff x="3794" y="2614"/>
            <a:chExt cx="1966" cy="1706"/>
          </a:xfrm>
        </p:grpSpPr>
        <p:sp>
          <p:nvSpPr>
            <p:cNvPr id="33798" name="Oval 6"/>
            <p:cNvSpPr>
              <a:spLocks noChangeArrowheads="1"/>
            </p:cNvSpPr>
            <p:nvPr/>
          </p:nvSpPr>
          <p:spPr bwMode="auto">
            <a:xfrm>
              <a:off x="3794" y="3840"/>
              <a:ext cx="1966" cy="480"/>
            </a:xfrm>
            <a:prstGeom prst="ellipse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200" dirty="0">
                <a:latin typeface="Book Antiqua" pitchFamily="1" charset="0"/>
                <a:ea typeface="Osaka"/>
              </a:endParaRPr>
            </a:p>
          </p:txBody>
        </p:sp>
        <p:sp>
          <p:nvSpPr>
            <p:cNvPr id="33799" name="Rectangle 7"/>
            <p:cNvSpPr>
              <a:spLocks noChangeArrowheads="1"/>
            </p:cNvSpPr>
            <p:nvPr/>
          </p:nvSpPr>
          <p:spPr bwMode="auto">
            <a:xfrm>
              <a:off x="3794" y="2881"/>
              <a:ext cx="1966" cy="1197"/>
            </a:xfrm>
            <a:prstGeom prst="rect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200" dirty="0">
                <a:latin typeface="Book Antiqua" pitchFamily="1" charset="0"/>
                <a:ea typeface="Osaka"/>
              </a:endParaRPr>
            </a:p>
          </p:txBody>
        </p:sp>
        <p:pic>
          <p:nvPicPr>
            <p:cNvPr id="17416" name="Picture 8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4" y="2614"/>
              <a:ext cx="1966" cy="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26377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Horz">
          <a:fgClr>
            <a:schemeClr val="bg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33413" y="6453188"/>
            <a:ext cx="2895600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dirty="0">
                <a:solidFill>
                  <a:schemeClr val="tx1"/>
                </a:solidFill>
                <a:latin typeface="Times New Roman" pitchFamily="1" charset="0"/>
                <a:ea typeface="+mn-ea"/>
              </a:defRPr>
            </a:lvl1pPr>
          </a:lstStyle>
          <a:p>
            <a:pPr>
              <a:defRPr/>
            </a:pPr>
            <a:endParaRPr lang="en-US" sz="1200">
              <a:solidFill>
                <a:srgbClr val="000000"/>
              </a:solidFill>
            </a:endParaRPr>
          </a:p>
          <a:p>
            <a:pPr>
              <a:defRPr/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solidFill>
                  <a:schemeClr val="tx1"/>
                </a:solidFill>
                <a:latin typeface="Times New Roman" pitchFamily="1" charset="0"/>
                <a:ea typeface="+mn-ea"/>
              </a:defRPr>
            </a:lvl1pPr>
          </a:lstStyle>
          <a:p>
            <a:pPr>
              <a:defRPr/>
            </a:pPr>
            <a:fld id="{74E52402-4936-4C97-8CA4-2A32C72BA42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1032" name="Group 6"/>
          <p:cNvGrpSpPr>
            <a:grpSpLocks/>
          </p:cNvGrpSpPr>
          <p:nvPr/>
        </p:nvGrpSpPr>
        <p:grpSpPr bwMode="auto">
          <a:xfrm>
            <a:off x="152400" y="152400"/>
            <a:ext cx="838200" cy="762000"/>
            <a:chOff x="3794" y="2614"/>
            <a:chExt cx="1966" cy="1706"/>
          </a:xfrm>
        </p:grpSpPr>
        <p:sp>
          <p:nvSpPr>
            <p:cNvPr id="1031" name="Oval 7"/>
            <p:cNvSpPr>
              <a:spLocks noChangeArrowheads="1"/>
            </p:cNvSpPr>
            <p:nvPr/>
          </p:nvSpPr>
          <p:spPr bwMode="auto">
            <a:xfrm>
              <a:off x="3794" y="3840"/>
              <a:ext cx="1966" cy="480"/>
            </a:xfrm>
            <a:prstGeom prst="ellipse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200" dirty="0">
                <a:latin typeface="Book Antiqua" pitchFamily="1" charset="0"/>
              </a:endParaRPr>
            </a:p>
          </p:txBody>
        </p:sp>
        <p:sp>
          <p:nvSpPr>
            <p:cNvPr id="4" name="Rectangle 8"/>
            <p:cNvSpPr>
              <a:spLocks noChangeArrowheads="1"/>
            </p:cNvSpPr>
            <p:nvPr/>
          </p:nvSpPr>
          <p:spPr bwMode="auto">
            <a:xfrm>
              <a:off x="3794" y="2881"/>
              <a:ext cx="1966" cy="1198"/>
            </a:xfrm>
            <a:prstGeom prst="rect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200" dirty="0">
                <a:latin typeface="Book Antiqua" pitchFamily="1" charset="0"/>
              </a:endParaRPr>
            </a:p>
          </p:txBody>
        </p:sp>
        <p:graphicFrame>
          <p:nvGraphicFramePr>
            <p:cNvPr id="1026" name="Object 9"/>
            <p:cNvGraphicFramePr>
              <a:graphicFrameLocks noChangeAspect="1"/>
            </p:cNvGraphicFramePr>
            <p:nvPr/>
          </p:nvGraphicFramePr>
          <p:xfrm>
            <a:off x="3794" y="2614"/>
            <a:ext cx="1966" cy="481"/>
          </p:xfrm>
          <a:graphic>
            <a:graphicData uri="http://schemas.openxmlformats.org/presentationml/2006/ole">
              <p:oleObj spid="_x0000_s122895" name="Clip" r:id="rId15" imgW="1664208" imgH="1666951" progId="">
                <p:embed/>
              </p:oleObj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xmlns="" val="244397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Horz">
          <a:fgClr>
            <a:schemeClr val="bg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95400" y="0"/>
            <a:ext cx="716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solidFill>
                  <a:schemeClr val="tx1"/>
                </a:solidFill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5E9DAD8E-A982-45D4-B551-6FD7B756D8E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17413" name="Group 5"/>
          <p:cNvGrpSpPr>
            <a:grpSpLocks/>
          </p:cNvGrpSpPr>
          <p:nvPr/>
        </p:nvGrpSpPr>
        <p:grpSpPr bwMode="auto">
          <a:xfrm>
            <a:off x="381000" y="304800"/>
            <a:ext cx="762000" cy="660400"/>
            <a:chOff x="3794" y="2614"/>
            <a:chExt cx="1966" cy="1706"/>
          </a:xfrm>
        </p:grpSpPr>
        <p:sp>
          <p:nvSpPr>
            <p:cNvPr id="33798" name="Oval 6"/>
            <p:cNvSpPr>
              <a:spLocks noChangeArrowheads="1"/>
            </p:cNvSpPr>
            <p:nvPr/>
          </p:nvSpPr>
          <p:spPr bwMode="auto">
            <a:xfrm>
              <a:off x="3794" y="3840"/>
              <a:ext cx="1966" cy="480"/>
            </a:xfrm>
            <a:prstGeom prst="ellipse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200" dirty="0">
                <a:latin typeface="Book Antiqua" pitchFamily="1" charset="0"/>
                <a:ea typeface="+mn-ea"/>
              </a:endParaRPr>
            </a:p>
          </p:txBody>
        </p:sp>
        <p:sp>
          <p:nvSpPr>
            <p:cNvPr id="33799" name="Rectangle 7"/>
            <p:cNvSpPr>
              <a:spLocks noChangeArrowheads="1"/>
            </p:cNvSpPr>
            <p:nvPr/>
          </p:nvSpPr>
          <p:spPr bwMode="auto">
            <a:xfrm>
              <a:off x="3794" y="2881"/>
              <a:ext cx="1966" cy="1197"/>
            </a:xfrm>
            <a:prstGeom prst="rect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200" dirty="0">
                <a:latin typeface="Book Antiqua" pitchFamily="1" charset="0"/>
                <a:ea typeface="+mn-ea"/>
              </a:endParaRPr>
            </a:p>
          </p:txBody>
        </p:sp>
        <p:pic>
          <p:nvPicPr>
            <p:cNvPr id="17416" name="Picture 8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4" y="2614"/>
              <a:ext cx="1966" cy="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2130874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Horz">
          <a:fgClr>
            <a:schemeClr val="bg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95400" y="0"/>
            <a:ext cx="716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solidFill>
                  <a:schemeClr val="tx1"/>
                </a:solidFill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5E9DAD8E-A982-45D4-B551-6FD7B756D8E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17413" name="Group 5"/>
          <p:cNvGrpSpPr>
            <a:grpSpLocks/>
          </p:cNvGrpSpPr>
          <p:nvPr/>
        </p:nvGrpSpPr>
        <p:grpSpPr bwMode="auto">
          <a:xfrm>
            <a:off x="381000" y="304800"/>
            <a:ext cx="762000" cy="660400"/>
            <a:chOff x="3794" y="2614"/>
            <a:chExt cx="1966" cy="1706"/>
          </a:xfrm>
        </p:grpSpPr>
        <p:sp>
          <p:nvSpPr>
            <p:cNvPr id="33798" name="Oval 6"/>
            <p:cNvSpPr>
              <a:spLocks noChangeArrowheads="1"/>
            </p:cNvSpPr>
            <p:nvPr/>
          </p:nvSpPr>
          <p:spPr bwMode="auto">
            <a:xfrm>
              <a:off x="3794" y="3840"/>
              <a:ext cx="1966" cy="480"/>
            </a:xfrm>
            <a:prstGeom prst="ellipse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200" dirty="0">
                <a:latin typeface="Book Antiqua" pitchFamily="1" charset="0"/>
                <a:ea typeface="Osaka"/>
              </a:endParaRPr>
            </a:p>
          </p:txBody>
        </p:sp>
        <p:sp>
          <p:nvSpPr>
            <p:cNvPr id="33799" name="Rectangle 7"/>
            <p:cNvSpPr>
              <a:spLocks noChangeArrowheads="1"/>
            </p:cNvSpPr>
            <p:nvPr/>
          </p:nvSpPr>
          <p:spPr bwMode="auto">
            <a:xfrm>
              <a:off x="3794" y="2881"/>
              <a:ext cx="1966" cy="1197"/>
            </a:xfrm>
            <a:prstGeom prst="rect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200" dirty="0">
                <a:latin typeface="Book Antiqua" pitchFamily="1" charset="0"/>
                <a:ea typeface="Osaka"/>
              </a:endParaRPr>
            </a:p>
          </p:txBody>
        </p:sp>
        <p:pic>
          <p:nvPicPr>
            <p:cNvPr id="17416" name="Picture 8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4" y="2614"/>
              <a:ext cx="1966" cy="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836880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Tahoma" pitchFamily="1" charset="0"/>
          <a:ea typeface="Osaka" pitchFamily="1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Horz">
          <a:fgClr>
            <a:schemeClr val="bg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33413" y="6453188"/>
            <a:ext cx="2895600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dirty="0">
                <a:solidFill>
                  <a:schemeClr val="tx1"/>
                </a:solidFill>
                <a:latin typeface="Times New Roman" pitchFamily="1" charset="0"/>
                <a:ea typeface="+mn-ea"/>
              </a:defRPr>
            </a:lvl1pPr>
          </a:lstStyle>
          <a:p>
            <a:pPr>
              <a:defRPr/>
            </a:pPr>
            <a:endParaRPr lang="en-US" sz="1200">
              <a:solidFill>
                <a:srgbClr val="000000"/>
              </a:solidFill>
            </a:endParaRPr>
          </a:p>
          <a:p>
            <a:pPr>
              <a:defRPr/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solidFill>
                  <a:schemeClr val="tx1"/>
                </a:solidFill>
                <a:latin typeface="Times New Roman" pitchFamily="1" charset="0"/>
                <a:ea typeface="+mn-ea"/>
              </a:defRPr>
            </a:lvl1pPr>
          </a:lstStyle>
          <a:p>
            <a:pPr>
              <a:defRPr/>
            </a:pPr>
            <a:fld id="{74E52402-4936-4C97-8CA4-2A32C72BA42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1032" name="Group 6"/>
          <p:cNvGrpSpPr>
            <a:grpSpLocks/>
          </p:cNvGrpSpPr>
          <p:nvPr/>
        </p:nvGrpSpPr>
        <p:grpSpPr bwMode="auto">
          <a:xfrm>
            <a:off x="152400" y="152400"/>
            <a:ext cx="838200" cy="762000"/>
            <a:chOff x="3794" y="2614"/>
            <a:chExt cx="1966" cy="1706"/>
          </a:xfrm>
        </p:grpSpPr>
        <p:sp>
          <p:nvSpPr>
            <p:cNvPr id="1031" name="Oval 7"/>
            <p:cNvSpPr>
              <a:spLocks noChangeArrowheads="1"/>
            </p:cNvSpPr>
            <p:nvPr/>
          </p:nvSpPr>
          <p:spPr bwMode="auto">
            <a:xfrm>
              <a:off x="3794" y="3840"/>
              <a:ext cx="1966" cy="480"/>
            </a:xfrm>
            <a:prstGeom prst="ellipse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200" dirty="0">
                <a:latin typeface="Book Antiqua" pitchFamily="1" charset="0"/>
                <a:ea typeface="+mn-ea"/>
              </a:endParaRPr>
            </a:p>
          </p:txBody>
        </p:sp>
        <p:sp>
          <p:nvSpPr>
            <p:cNvPr id="4" name="Rectangle 8"/>
            <p:cNvSpPr>
              <a:spLocks noChangeArrowheads="1"/>
            </p:cNvSpPr>
            <p:nvPr/>
          </p:nvSpPr>
          <p:spPr bwMode="auto">
            <a:xfrm>
              <a:off x="3794" y="2881"/>
              <a:ext cx="1966" cy="1198"/>
            </a:xfrm>
            <a:prstGeom prst="rect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200" dirty="0">
                <a:latin typeface="Book Antiqua" pitchFamily="1" charset="0"/>
                <a:ea typeface="+mn-ea"/>
              </a:endParaRPr>
            </a:p>
          </p:txBody>
        </p:sp>
        <p:graphicFrame>
          <p:nvGraphicFramePr>
            <p:cNvPr id="1026" name="Object 9"/>
            <p:cNvGraphicFramePr>
              <a:graphicFrameLocks noChangeAspect="1"/>
            </p:cNvGraphicFramePr>
            <p:nvPr/>
          </p:nvGraphicFramePr>
          <p:xfrm>
            <a:off x="3794" y="2614"/>
            <a:ext cx="1966" cy="481"/>
          </p:xfrm>
          <a:graphic>
            <a:graphicData uri="http://schemas.openxmlformats.org/presentationml/2006/ole">
              <p:oleObj spid="_x0000_s124943" name="Clip" r:id="rId15" imgW="1664208" imgH="1666951" progId="">
                <p:embed/>
              </p:oleObj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xmlns="" val="3043792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  <p:sldLayoutId id="2147483806" r:id="rId12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Horz">
          <a:fgClr>
            <a:schemeClr val="bg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33413" y="6453188"/>
            <a:ext cx="2895600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dirty="0">
                <a:solidFill>
                  <a:schemeClr val="tx1"/>
                </a:solidFill>
                <a:latin typeface="Times New Roman" pitchFamily="1" charset="0"/>
                <a:ea typeface="+mn-ea"/>
              </a:defRPr>
            </a:lvl1pPr>
          </a:lstStyle>
          <a:p>
            <a:pPr>
              <a:defRPr/>
            </a:pPr>
            <a:endParaRPr lang="en-US" sz="1200">
              <a:solidFill>
                <a:srgbClr val="000000"/>
              </a:solidFill>
            </a:endParaRPr>
          </a:p>
          <a:p>
            <a:pPr>
              <a:defRPr/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solidFill>
                  <a:schemeClr val="tx1"/>
                </a:solidFill>
                <a:latin typeface="Times New Roman" pitchFamily="1" charset="0"/>
                <a:ea typeface="+mn-ea"/>
              </a:defRPr>
            </a:lvl1pPr>
          </a:lstStyle>
          <a:p>
            <a:pPr>
              <a:defRPr/>
            </a:pPr>
            <a:fld id="{74E52402-4936-4C97-8CA4-2A32C72BA42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1032" name="Group 6"/>
          <p:cNvGrpSpPr>
            <a:grpSpLocks/>
          </p:cNvGrpSpPr>
          <p:nvPr/>
        </p:nvGrpSpPr>
        <p:grpSpPr bwMode="auto">
          <a:xfrm>
            <a:off x="152400" y="152400"/>
            <a:ext cx="838200" cy="762000"/>
            <a:chOff x="3794" y="2614"/>
            <a:chExt cx="1966" cy="1706"/>
          </a:xfrm>
        </p:grpSpPr>
        <p:sp>
          <p:nvSpPr>
            <p:cNvPr id="1031" name="Oval 7"/>
            <p:cNvSpPr>
              <a:spLocks noChangeArrowheads="1"/>
            </p:cNvSpPr>
            <p:nvPr/>
          </p:nvSpPr>
          <p:spPr bwMode="auto">
            <a:xfrm>
              <a:off x="3794" y="3840"/>
              <a:ext cx="1966" cy="480"/>
            </a:xfrm>
            <a:prstGeom prst="ellipse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200" dirty="0">
                <a:latin typeface="Book Antiqua" pitchFamily="1" charset="0"/>
              </a:endParaRPr>
            </a:p>
          </p:txBody>
        </p:sp>
        <p:sp>
          <p:nvSpPr>
            <p:cNvPr id="4" name="Rectangle 8"/>
            <p:cNvSpPr>
              <a:spLocks noChangeArrowheads="1"/>
            </p:cNvSpPr>
            <p:nvPr/>
          </p:nvSpPr>
          <p:spPr bwMode="auto">
            <a:xfrm>
              <a:off x="3794" y="2881"/>
              <a:ext cx="1966" cy="1198"/>
            </a:xfrm>
            <a:prstGeom prst="rect">
              <a:avLst/>
            </a:prstGeom>
            <a:gradFill rotWithShape="0">
              <a:gsLst>
                <a:gs pos="0">
                  <a:srgbClr val="666633">
                    <a:gamma/>
                    <a:shade val="46275"/>
                    <a:invGamma/>
                  </a:srgbClr>
                </a:gs>
                <a:gs pos="50000">
                  <a:srgbClr val="666633"/>
                </a:gs>
                <a:gs pos="100000">
                  <a:srgbClr val="6666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200" dirty="0">
                <a:latin typeface="Book Antiqua" pitchFamily="1" charset="0"/>
              </a:endParaRPr>
            </a:p>
          </p:txBody>
        </p:sp>
        <p:graphicFrame>
          <p:nvGraphicFramePr>
            <p:cNvPr id="1026" name="Object 9"/>
            <p:cNvGraphicFramePr>
              <a:graphicFrameLocks noChangeAspect="1"/>
            </p:cNvGraphicFramePr>
            <p:nvPr/>
          </p:nvGraphicFramePr>
          <p:xfrm>
            <a:off x="3794" y="2614"/>
            <a:ext cx="1966" cy="481"/>
          </p:xfrm>
          <a:graphic>
            <a:graphicData uri="http://schemas.openxmlformats.org/presentationml/2006/ole">
              <p:oleObj spid="_x0000_s137230" name="Clip" r:id="rId15" imgW="1664208" imgH="1666951" progId="">
                <p:embed/>
              </p:oleObj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xmlns="" val="2200399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  <p:sldLayoutId id="2147483819" r:id="rId12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CC"/>
          </a:solidFill>
          <a:latin typeface="Tahoma" pitchFamily="1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Horz">
          <a:fgClr>
            <a:schemeClr val="bg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6789738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11998354 h 1000"/>
              <a:gd name="T6" fmla="*/ 0 w 1000"/>
              <a:gd name="T7" fmla="*/ 11998354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0000"/>
              </a:solidFill>
              <a:latin typeface="Verdana"/>
              <a:ea typeface="+mn-ea"/>
            </a:endParaRPr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>
              <a:solidFill>
                <a:srgbClr val="000000"/>
              </a:solidFill>
              <a:latin typeface="Verdana"/>
              <a:ea typeface="+mn-ea"/>
            </a:endParaRP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Verdana"/>
              <a:ea typeface="+mn-ea"/>
            </a:endParaRPr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Verdana"/>
              <a:ea typeface="+mn-ea"/>
            </a:endParaRPr>
          </a:p>
        </p:txBody>
      </p:sp>
      <p:sp>
        <p:nvSpPr>
          <p:cNvPr id="4301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281B7C3-FA9F-4EEE-8AE5-04518205752D}" type="slidenum">
              <a:rPr lang="en-US">
                <a:solidFill>
                  <a:srgbClr val="000000"/>
                </a:solidFill>
                <a:latin typeface="Verdana"/>
                <a:ea typeface="+mn-ea"/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  <a:latin typeface="Verdana"/>
              <a:ea typeface="+mn-ea"/>
            </a:endParaRPr>
          </a:p>
        </p:txBody>
      </p:sp>
      <p:pic>
        <p:nvPicPr>
          <p:cNvPr id="1033" name="Picture 10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418388" y="288925"/>
            <a:ext cx="1135062" cy="12779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110408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  <p:sldLayoutId id="2147483833" r:id="rId13"/>
    <p:sldLayoutId id="2147483834" r:id="rId14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61.xml"/><Relationship Id="rId1" Type="http://schemas.openxmlformats.org/officeDocument/2006/relationships/vmlDrawing" Target="../drawings/vmlDrawing11.vml"/><Relationship Id="rId5" Type="http://schemas.openxmlformats.org/officeDocument/2006/relationships/oleObject" Target="../embeddings/oleObject12.bin"/><Relationship Id="rId4" Type="http://schemas.openxmlformats.org/officeDocument/2006/relationships/oleObject" Target="../embeddings/oleObject11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32.wmf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4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14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61.xml"/><Relationship Id="rId1" Type="http://schemas.openxmlformats.org/officeDocument/2006/relationships/vmlDrawing" Target="../drawings/vmlDrawing13.vml"/><Relationship Id="rId5" Type="http://schemas.openxmlformats.org/officeDocument/2006/relationships/oleObject" Target="../embeddings/oleObject16.bin"/><Relationship Id="rId4" Type="http://schemas.openxmlformats.org/officeDocument/2006/relationships/oleObject" Target="../embeddings/oleObject15.bin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24.wmf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3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40.wmf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9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18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51.xml"/><Relationship Id="rId1" Type="http://schemas.openxmlformats.org/officeDocument/2006/relationships/vmlDrawing" Target="../drawings/vmlDrawing16.vml"/><Relationship Id="rId4" Type="http://schemas.openxmlformats.org/officeDocument/2006/relationships/oleObject" Target="../embeddings/oleObject19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2.xml"/><Relationship Id="rId5" Type="http://schemas.openxmlformats.org/officeDocument/2006/relationships/image" Target="../media/image45.wmf"/><Relationship Id="rId4" Type="http://schemas.openxmlformats.org/officeDocument/2006/relationships/image" Target="../media/image44.w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2.xml"/><Relationship Id="rId5" Type="http://schemas.openxmlformats.org/officeDocument/2006/relationships/image" Target="../media/image46.wmf"/><Relationship Id="rId4" Type="http://schemas.openxmlformats.org/officeDocument/2006/relationships/image" Target="../media/image45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83.xml"/><Relationship Id="rId1" Type="http://schemas.openxmlformats.org/officeDocument/2006/relationships/vmlDrawing" Target="../drawings/vmlDrawing17.vml"/><Relationship Id="rId5" Type="http://schemas.openxmlformats.org/officeDocument/2006/relationships/oleObject" Target="../embeddings/oleObject21.bin"/><Relationship Id="rId4" Type="http://schemas.openxmlformats.org/officeDocument/2006/relationships/oleObject" Target="../embeddings/oleObject20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2.xml"/><Relationship Id="rId5" Type="http://schemas.openxmlformats.org/officeDocument/2006/relationships/image" Target="../media/image45.wmf"/><Relationship Id="rId4" Type="http://schemas.openxmlformats.org/officeDocument/2006/relationships/image" Target="../media/image49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83.xml"/><Relationship Id="rId1" Type="http://schemas.openxmlformats.org/officeDocument/2006/relationships/vmlDrawing" Target="../drawings/vmlDrawing18.vml"/><Relationship Id="rId5" Type="http://schemas.openxmlformats.org/officeDocument/2006/relationships/oleObject" Target="../embeddings/oleObject23.bin"/><Relationship Id="rId4" Type="http://schemas.openxmlformats.org/officeDocument/2006/relationships/oleObject" Target="../embeddings/oleObject22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83.xml"/><Relationship Id="rId1" Type="http://schemas.openxmlformats.org/officeDocument/2006/relationships/vmlDrawing" Target="../drawings/vmlDrawing19.vml"/><Relationship Id="rId5" Type="http://schemas.openxmlformats.org/officeDocument/2006/relationships/oleObject" Target="../embeddings/oleObject25.bin"/><Relationship Id="rId4" Type="http://schemas.openxmlformats.org/officeDocument/2006/relationships/oleObject" Target="../embeddings/oleObject24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83.xml"/><Relationship Id="rId1" Type="http://schemas.openxmlformats.org/officeDocument/2006/relationships/vmlDrawing" Target="../drawings/vmlDrawing20.vml"/><Relationship Id="rId5" Type="http://schemas.openxmlformats.org/officeDocument/2006/relationships/oleObject" Target="../embeddings/oleObject27.bin"/><Relationship Id="rId4" Type="http://schemas.openxmlformats.org/officeDocument/2006/relationships/oleObject" Target="../embeddings/oleObject26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95.xml"/><Relationship Id="rId1" Type="http://schemas.openxmlformats.org/officeDocument/2006/relationships/vmlDrawing" Target="../drawings/vmlDrawing21.vml"/><Relationship Id="rId5" Type="http://schemas.openxmlformats.org/officeDocument/2006/relationships/oleObject" Target="../embeddings/oleObject29.bin"/><Relationship Id="rId4" Type="http://schemas.openxmlformats.org/officeDocument/2006/relationships/oleObject" Target="../embeddings/oleObject28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95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32.bin"/><Relationship Id="rId5" Type="http://schemas.openxmlformats.org/officeDocument/2006/relationships/oleObject" Target="../embeddings/oleObject31.bin"/><Relationship Id="rId4" Type="http://schemas.openxmlformats.org/officeDocument/2006/relationships/oleObject" Target="../embeddings/oleObject30.bin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3752"/>
            <a:ext cx="9144000" cy="712517"/>
          </a:xfrm>
          <a:solidFill>
            <a:schemeClr val="accent5">
              <a:lumMod val="25000"/>
            </a:schemeClr>
          </a:solidFill>
        </p:spPr>
        <p:txBody>
          <a:bodyPr/>
          <a:lstStyle/>
          <a:p>
            <a:pPr algn="ctr" eaLnBrk="1" hangingPunct="1"/>
            <a:r>
              <a:rPr lang="en-US" b="1" dirty="0" smtClean="0">
                <a:solidFill>
                  <a:srgbClr val="FFFF00"/>
                </a:solidFill>
              </a:rPr>
              <a:t> Lecture </a:t>
            </a:r>
            <a:r>
              <a:rPr lang="en-US" b="1" dirty="0" smtClean="0">
                <a:solidFill>
                  <a:srgbClr val="FFFF00"/>
                </a:solidFill>
              </a:rPr>
              <a:t>00</a:t>
            </a:r>
            <a:endParaRPr lang="en-US" b="1" dirty="0" smtClean="0">
              <a:solidFill>
                <a:srgbClr val="FFFF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1219200"/>
            <a:ext cx="5479385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rgbClr val="000000"/>
                </a:solidFill>
                <a:latin typeface="Verdana"/>
                <a:ea typeface="+mn-ea"/>
              </a:rPr>
              <a:t>CSE-</a:t>
            </a:r>
            <a:r>
              <a:rPr lang="en-US" sz="5400" b="1" dirty="0" smtClean="0">
                <a:solidFill>
                  <a:srgbClr val="000000"/>
                </a:solidFill>
                <a:latin typeface="Verdana"/>
                <a:ea typeface="+mn-ea"/>
              </a:rPr>
              <a:t>2</a:t>
            </a:r>
            <a:r>
              <a:rPr lang="en-US" sz="5400" b="1" dirty="0" smtClean="0">
                <a:solidFill>
                  <a:srgbClr val="000000"/>
                </a:solidFill>
                <a:latin typeface="Verdana"/>
                <a:ea typeface="+mn-ea"/>
              </a:rPr>
              <a:t>105 </a:t>
            </a:r>
            <a:endParaRPr lang="en-US" sz="5400" dirty="0" smtClean="0">
              <a:solidFill>
                <a:srgbClr val="000000"/>
              </a:solidFill>
              <a:latin typeface="Verdana"/>
              <a:ea typeface="+mn-ea"/>
            </a:endParaRPr>
          </a:p>
          <a:p>
            <a:pPr algn="ctr"/>
            <a:r>
              <a:rPr lang="en-US" sz="4000" b="1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Verdana"/>
                <a:ea typeface="+mn-ea"/>
              </a:rPr>
              <a:t>Database </a:t>
            </a:r>
            <a:r>
              <a:rPr lang="en-US" sz="4000" b="1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Verdana"/>
                <a:ea typeface="+mn-ea"/>
              </a:rPr>
              <a:t>Systems</a:t>
            </a:r>
            <a:endParaRPr lang="en-US" sz="4000" dirty="0" smtClean="0">
              <a:solidFill>
                <a:srgbClr val="000000"/>
              </a:solidFill>
              <a:latin typeface="Verdana"/>
              <a:ea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76400" y="3886200"/>
            <a:ext cx="54938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solidFill>
                  <a:srgbClr val="000000"/>
                </a:solidFill>
                <a:latin typeface="Verdana"/>
                <a:ea typeface="+mn-ea"/>
              </a:rPr>
              <a:t>Relational </a:t>
            </a:r>
            <a:r>
              <a:rPr lang="en-US" sz="4000" b="1" dirty="0" smtClean="0">
                <a:solidFill>
                  <a:srgbClr val="000000"/>
                </a:solidFill>
                <a:latin typeface="Verdana"/>
                <a:ea typeface="+mn-ea"/>
              </a:rPr>
              <a:t>Algebra</a:t>
            </a:r>
            <a:endParaRPr lang="en-US" sz="4000" dirty="0" smtClean="0">
              <a:solidFill>
                <a:srgbClr val="DDDDDD">
                  <a:lumMod val="50000"/>
                </a:srgbClr>
              </a:solidFill>
              <a:latin typeface="Verdana"/>
              <a:ea typeface="+mn-ea"/>
            </a:endParaRP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0" y="3016333"/>
            <a:ext cx="914400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xmlns="" val="2648174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6" name="Rectangle 8"/>
          <p:cNvSpPr>
            <a:spLocks noGrp="1" noChangeArrowheads="1"/>
          </p:cNvSpPr>
          <p:nvPr>
            <p:ph type="title"/>
          </p:nvPr>
        </p:nvSpPr>
        <p:spPr>
          <a:xfrm>
            <a:off x="685800" y="30480"/>
            <a:ext cx="7162800" cy="1143000"/>
          </a:xfrm>
        </p:spPr>
        <p:txBody>
          <a:bodyPr/>
          <a:lstStyle/>
          <a:p>
            <a:pPr eaLnBrk="1" hangingPunct="1"/>
            <a:r>
              <a:rPr lang="en-US" b="1" dirty="0" smtClean="0"/>
              <a:t>Relational Database: Definitions</a:t>
            </a:r>
          </a:p>
        </p:txBody>
      </p:sp>
      <p:sp>
        <p:nvSpPr>
          <p:cNvPr id="8201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Relational database: a set of relations. </a:t>
            </a:r>
          </a:p>
          <a:p>
            <a:pPr eaLnBrk="1" hangingPunct="1"/>
            <a:r>
              <a:rPr lang="en-US" sz="2800" smtClean="0"/>
              <a:t>Relation: made up of 2 parts:</a:t>
            </a:r>
          </a:p>
          <a:p>
            <a:pPr lvl="1" eaLnBrk="1" hangingPunct="1"/>
            <a:r>
              <a:rPr lang="en-US" sz="2400" smtClean="0"/>
              <a:t>Schema : specifies name of relation, plus name and type of each column. </a:t>
            </a:r>
          </a:p>
          <a:p>
            <a:pPr lvl="2" eaLnBrk="1" hangingPunct="1"/>
            <a:r>
              <a:rPr lang="en-US" sz="2000" smtClean="0"/>
              <a:t>E.g. Students(sid: string, name: string, login: string, age: integer, gpa: real) </a:t>
            </a:r>
          </a:p>
          <a:p>
            <a:pPr lvl="1" eaLnBrk="1" hangingPunct="1"/>
            <a:r>
              <a:rPr lang="en-US" sz="2400" smtClean="0"/>
              <a:t>Instance : a table, with rows and columns. </a:t>
            </a:r>
          </a:p>
          <a:p>
            <a:pPr lvl="2" eaLnBrk="1" hangingPunct="1"/>
            <a:r>
              <a:rPr lang="en-US" sz="2000" smtClean="0"/>
              <a:t>#rows = cardinality</a:t>
            </a:r>
          </a:p>
          <a:p>
            <a:pPr lvl="2" eaLnBrk="1" hangingPunct="1"/>
            <a:r>
              <a:rPr lang="en-US" sz="2000" smtClean="0"/>
              <a:t>#fields = degree / arity</a:t>
            </a:r>
          </a:p>
          <a:p>
            <a:pPr eaLnBrk="1" hangingPunct="1"/>
            <a:r>
              <a:rPr lang="en-US" sz="2800" smtClean="0"/>
              <a:t>Can think of a relation as a set of rows or tuples. </a:t>
            </a:r>
          </a:p>
          <a:p>
            <a:pPr lvl="1" eaLnBrk="1" hangingPunct="1"/>
            <a:r>
              <a:rPr lang="en-US" sz="2400" smtClean="0"/>
              <a:t>i.e., all rows are distinct</a:t>
            </a:r>
          </a:p>
        </p:txBody>
      </p:sp>
    </p:spTree>
    <p:extLst>
      <p:ext uri="{BB962C8B-B14F-4D97-AF65-F5344CB8AC3E}">
        <p14:creationId xmlns:p14="http://schemas.microsoft.com/office/powerpoint/2010/main" xmlns="" val="36833065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1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title"/>
          </p:nvPr>
        </p:nvSpPr>
        <p:spPr>
          <a:xfrm>
            <a:off x="877094" y="152400"/>
            <a:ext cx="7924800" cy="1143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b="1" dirty="0" smtClean="0"/>
              <a:t>Ex: Instance of </a:t>
            </a:r>
            <a:br>
              <a:rPr lang="en-US" b="1" dirty="0" smtClean="0"/>
            </a:br>
            <a:r>
              <a:rPr lang="en-US" b="1" dirty="0" smtClean="0"/>
              <a:t>Students Relation</a:t>
            </a:r>
          </a:p>
        </p:txBody>
      </p:sp>
      <p:sp>
        <p:nvSpPr>
          <p:cNvPr id="24581" name="Rectangle 8"/>
          <p:cNvSpPr>
            <a:spLocks noChangeArrowheads="1"/>
          </p:cNvSpPr>
          <p:nvPr/>
        </p:nvSpPr>
        <p:spPr bwMode="auto">
          <a:xfrm>
            <a:off x="1481138" y="2100263"/>
            <a:ext cx="1131887" cy="500062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2" name="Rectangle 9"/>
          <p:cNvSpPr>
            <a:spLocks noChangeArrowheads="1"/>
          </p:cNvSpPr>
          <p:nvPr/>
        </p:nvSpPr>
        <p:spPr bwMode="auto">
          <a:xfrm>
            <a:off x="1536700" y="2100263"/>
            <a:ext cx="1016000" cy="417512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3" name="Rectangle 10"/>
          <p:cNvSpPr>
            <a:spLocks noChangeArrowheads="1"/>
          </p:cNvSpPr>
          <p:nvPr/>
        </p:nvSpPr>
        <p:spPr bwMode="auto">
          <a:xfrm>
            <a:off x="1784350" y="2100263"/>
            <a:ext cx="4540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sid</a:t>
            </a:r>
            <a:endParaRPr lang="en-US" sz="1200"/>
          </a:p>
        </p:txBody>
      </p:sp>
      <p:sp>
        <p:nvSpPr>
          <p:cNvPr id="24584" name="Rectangle 11"/>
          <p:cNvSpPr>
            <a:spLocks noChangeArrowheads="1"/>
          </p:cNvSpPr>
          <p:nvPr/>
        </p:nvSpPr>
        <p:spPr bwMode="auto">
          <a:xfrm>
            <a:off x="2239963" y="2100263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 </a:t>
            </a:r>
            <a:endParaRPr lang="en-US" sz="1200"/>
          </a:p>
        </p:txBody>
      </p:sp>
      <p:sp>
        <p:nvSpPr>
          <p:cNvPr id="24585" name="Rectangle 12"/>
          <p:cNvSpPr>
            <a:spLocks noChangeArrowheads="1"/>
          </p:cNvSpPr>
          <p:nvPr/>
        </p:nvSpPr>
        <p:spPr bwMode="auto">
          <a:xfrm>
            <a:off x="2620963" y="2100263"/>
            <a:ext cx="1165225" cy="500062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6" name="Rectangle 13"/>
          <p:cNvSpPr>
            <a:spLocks noChangeArrowheads="1"/>
          </p:cNvSpPr>
          <p:nvPr/>
        </p:nvSpPr>
        <p:spPr bwMode="auto">
          <a:xfrm>
            <a:off x="2686050" y="2100263"/>
            <a:ext cx="1039813" cy="417512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7" name="Rectangle 14"/>
          <p:cNvSpPr>
            <a:spLocks noChangeArrowheads="1"/>
          </p:cNvSpPr>
          <p:nvPr/>
        </p:nvSpPr>
        <p:spPr bwMode="auto">
          <a:xfrm>
            <a:off x="2732088" y="2100263"/>
            <a:ext cx="83820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name</a:t>
            </a:r>
            <a:endParaRPr lang="en-US" sz="1200"/>
          </a:p>
        </p:txBody>
      </p:sp>
      <p:sp>
        <p:nvSpPr>
          <p:cNvPr id="24588" name="Rectangle 15"/>
          <p:cNvSpPr>
            <a:spLocks noChangeArrowheads="1"/>
          </p:cNvSpPr>
          <p:nvPr/>
        </p:nvSpPr>
        <p:spPr bwMode="auto">
          <a:xfrm>
            <a:off x="3573463" y="2100263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 </a:t>
            </a:r>
            <a:endParaRPr lang="en-US" sz="1200"/>
          </a:p>
        </p:txBody>
      </p:sp>
      <p:sp>
        <p:nvSpPr>
          <p:cNvPr id="24589" name="Rectangle 16"/>
          <p:cNvSpPr>
            <a:spLocks noChangeArrowheads="1"/>
          </p:cNvSpPr>
          <p:nvPr/>
        </p:nvSpPr>
        <p:spPr bwMode="auto">
          <a:xfrm>
            <a:off x="3794125" y="2100263"/>
            <a:ext cx="2219325" cy="500062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0" name="Rectangle 17"/>
          <p:cNvSpPr>
            <a:spLocks noChangeArrowheads="1"/>
          </p:cNvSpPr>
          <p:nvPr/>
        </p:nvSpPr>
        <p:spPr bwMode="auto">
          <a:xfrm>
            <a:off x="3856038" y="2100263"/>
            <a:ext cx="2093912" cy="417512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1" name="Rectangle 18"/>
          <p:cNvSpPr>
            <a:spLocks noChangeArrowheads="1"/>
          </p:cNvSpPr>
          <p:nvPr/>
        </p:nvSpPr>
        <p:spPr bwMode="auto">
          <a:xfrm>
            <a:off x="4491038" y="2100263"/>
            <a:ext cx="7762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login</a:t>
            </a:r>
            <a:endParaRPr lang="en-US" sz="1200"/>
          </a:p>
        </p:txBody>
      </p:sp>
      <p:sp>
        <p:nvSpPr>
          <p:cNvPr id="24592" name="Rectangle 19"/>
          <p:cNvSpPr>
            <a:spLocks noChangeArrowheads="1"/>
          </p:cNvSpPr>
          <p:nvPr/>
        </p:nvSpPr>
        <p:spPr bwMode="auto">
          <a:xfrm>
            <a:off x="5273675" y="2100263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 </a:t>
            </a:r>
            <a:endParaRPr lang="en-US" sz="1200"/>
          </a:p>
        </p:txBody>
      </p:sp>
      <p:sp>
        <p:nvSpPr>
          <p:cNvPr id="24593" name="Rectangle 20"/>
          <p:cNvSpPr>
            <a:spLocks noChangeArrowheads="1"/>
          </p:cNvSpPr>
          <p:nvPr/>
        </p:nvSpPr>
        <p:spPr bwMode="auto">
          <a:xfrm>
            <a:off x="6021388" y="2100263"/>
            <a:ext cx="927100" cy="500062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4" name="Rectangle 21"/>
          <p:cNvSpPr>
            <a:spLocks noChangeArrowheads="1"/>
          </p:cNvSpPr>
          <p:nvPr/>
        </p:nvSpPr>
        <p:spPr bwMode="auto">
          <a:xfrm>
            <a:off x="6083300" y="2100263"/>
            <a:ext cx="806450" cy="417512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5" name="Rectangle 22"/>
          <p:cNvSpPr>
            <a:spLocks noChangeArrowheads="1"/>
          </p:cNvSpPr>
          <p:nvPr/>
        </p:nvSpPr>
        <p:spPr bwMode="auto">
          <a:xfrm>
            <a:off x="6184900" y="2100263"/>
            <a:ext cx="52705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age</a:t>
            </a:r>
            <a:endParaRPr lang="en-US" sz="1200"/>
          </a:p>
        </p:txBody>
      </p:sp>
      <p:sp>
        <p:nvSpPr>
          <p:cNvPr id="24596" name="Rectangle 23"/>
          <p:cNvSpPr>
            <a:spLocks noChangeArrowheads="1"/>
          </p:cNvSpPr>
          <p:nvPr/>
        </p:nvSpPr>
        <p:spPr bwMode="auto">
          <a:xfrm>
            <a:off x="6715125" y="2100263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 </a:t>
            </a:r>
            <a:endParaRPr lang="en-US" sz="1200"/>
          </a:p>
        </p:txBody>
      </p:sp>
      <p:sp>
        <p:nvSpPr>
          <p:cNvPr id="24597" name="Rectangle 24"/>
          <p:cNvSpPr>
            <a:spLocks noChangeArrowheads="1"/>
          </p:cNvSpPr>
          <p:nvPr/>
        </p:nvSpPr>
        <p:spPr bwMode="auto">
          <a:xfrm>
            <a:off x="6958013" y="2100263"/>
            <a:ext cx="866775" cy="500062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8" name="Rectangle 25"/>
          <p:cNvSpPr>
            <a:spLocks noChangeArrowheads="1"/>
          </p:cNvSpPr>
          <p:nvPr/>
        </p:nvSpPr>
        <p:spPr bwMode="auto">
          <a:xfrm>
            <a:off x="7023100" y="2100263"/>
            <a:ext cx="746125" cy="417512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9" name="Rectangle 26"/>
          <p:cNvSpPr>
            <a:spLocks noChangeArrowheads="1"/>
          </p:cNvSpPr>
          <p:nvPr/>
        </p:nvSpPr>
        <p:spPr bwMode="auto">
          <a:xfrm>
            <a:off x="7088188" y="2100263"/>
            <a:ext cx="5683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gpa</a:t>
            </a:r>
            <a:endParaRPr lang="en-US" sz="1200"/>
          </a:p>
        </p:txBody>
      </p:sp>
      <p:sp>
        <p:nvSpPr>
          <p:cNvPr id="24600" name="Rectangle 27"/>
          <p:cNvSpPr>
            <a:spLocks noChangeArrowheads="1"/>
          </p:cNvSpPr>
          <p:nvPr/>
        </p:nvSpPr>
        <p:spPr bwMode="auto">
          <a:xfrm>
            <a:off x="7659688" y="2100263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 </a:t>
            </a:r>
            <a:endParaRPr lang="en-US" sz="1200"/>
          </a:p>
        </p:txBody>
      </p:sp>
      <p:sp>
        <p:nvSpPr>
          <p:cNvPr id="24601" name="Rectangle 28"/>
          <p:cNvSpPr>
            <a:spLocks noChangeArrowheads="1"/>
          </p:cNvSpPr>
          <p:nvPr/>
        </p:nvSpPr>
        <p:spPr bwMode="auto">
          <a:xfrm>
            <a:off x="1463675" y="2090738"/>
            <a:ext cx="114935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2" name="Line 29"/>
          <p:cNvSpPr>
            <a:spLocks noChangeShapeType="1"/>
          </p:cNvSpPr>
          <p:nvPr/>
        </p:nvSpPr>
        <p:spPr bwMode="auto">
          <a:xfrm>
            <a:off x="1463675" y="2090738"/>
            <a:ext cx="1149350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3" name="Rectangle 30"/>
          <p:cNvSpPr>
            <a:spLocks noChangeArrowheads="1"/>
          </p:cNvSpPr>
          <p:nvPr/>
        </p:nvSpPr>
        <p:spPr bwMode="auto">
          <a:xfrm>
            <a:off x="2613025" y="2090738"/>
            <a:ext cx="7938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4" name="Line 31"/>
          <p:cNvSpPr>
            <a:spLocks noChangeShapeType="1"/>
          </p:cNvSpPr>
          <p:nvPr/>
        </p:nvSpPr>
        <p:spPr bwMode="auto">
          <a:xfrm>
            <a:off x="2613025" y="2090738"/>
            <a:ext cx="7938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5" name="Line 32"/>
          <p:cNvSpPr>
            <a:spLocks noChangeShapeType="1"/>
          </p:cNvSpPr>
          <p:nvPr/>
        </p:nvSpPr>
        <p:spPr bwMode="auto">
          <a:xfrm>
            <a:off x="2613025" y="2090738"/>
            <a:ext cx="1588" cy="95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6" name="Rectangle 33"/>
          <p:cNvSpPr>
            <a:spLocks noChangeArrowheads="1"/>
          </p:cNvSpPr>
          <p:nvPr/>
        </p:nvSpPr>
        <p:spPr bwMode="auto">
          <a:xfrm>
            <a:off x="2620963" y="2090738"/>
            <a:ext cx="11652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7" name="Line 34"/>
          <p:cNvSpPr>
            <a:spLocks noChangeShapeType="1"/>
          </p:cNvSpPr>
          <p:nvPr/>
        </p:nvSpPr>
        <p:spPr bwMode="auto">
          <a:xfrm>
            <a:off x="2620963" y="2090738"/>
            <a:ext cx="1165225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8" name="Rectangle 35"/>
          <p:cNvSpPr>
            <a:spLocks noChangeArrowheads="1"/>
          </p:cNvSpPr>
          <p:nvPr/>
        </p:nvSpPr>
        <p:spPr bwMode="auto">
          <a:xfrm>
            <a:off x="3786188" y="2090738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9" name="Line 36"/>
          <p:cNvSpPr>
            <a:spLocks noChangeShapeType="1"/>
          </p:cNvSpPr>
          <p:nvPr/>
        </p:nvSpPr>
        <p:spPr bwMode="auto">
          <a:xfrm>
            <a:off x="3786188" y="2090738"/>
            <a:ext cx="7937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10" name="Line 37"/>
          <p:cNvSpPr>
            <a:spLocks noChangeShapeType="1"/>
          </p:cNvSpPr>
          <p:nvPr/>
        </p:nvSpPr>
        <p:spPr bwMode="auto">
          <a:xfrm>
            <a:off x="3786188" y="2090738"/>
            <a:ext cx="1587" cy="95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11" name="Rectangle 38"/>
          <p:cNvSpPr>
            <a:spLocks noChangeArrowheads="1"/>
          </p:cNvSpPr>
          <p:nvPr/>
        </p:nvSpPr>
        <p:spPr bwMode="auto">
          <a:xfrm>
            <a:off x="3794125" y="2090738"/>
            <a:ext cx="22193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12" name="Line 39"/>
          <p:cNvSpPr>
            <a:spLocks noChangeShapeType="1"/>
          </p:cNvSpPr>
          <p:nvPr/>
        </p:nvSpPr>
        <p:spPr bwMode="auto">
          <a:xfrm>
            <a:off x="3794125" y="2090738"/>
            <a:ext cx="2219325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13" name="Rectangle 40"/>
          <p:cNvSpPr>
            <a:spLocks noChangeArrowheads="1"/>
          </p:cNvSpPr>
          <p:nvPr/>
        </p:nvSpPr>
        <p:spPr bwMode="auto">
          <a:xfrm>
            <a:off x="6013450" y="2090738"/>
            <a:ext cx="7938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14" name="Line 41"/>
          <p:cNvSpPr>
            <a:spLocks noChangeShapeType="1"/>
          </p:cNvSpPr>
          <p:nvPr/>
        </p:nvSpPr>
        <p:spPr bwMode="auto">
          <a:xfrm>
            <a:off x="6013450" y="2090738"/>
            <a:ext cx="7938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15" name="Line 42"/>
          <p:cNvSpPr>
            <a:spLocks noChangeShapeType="1"/>
          </p:cNvSpPr>
          <p:nvPr/>
        </p:nvSpPr>
        <p:spPr bwMode="auto">
          <a:xfrm>
            <a:off x="6013450" y="2090738"/>
            <a:ext cx="1588" cy="95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16" name="Rectangle 43"/>
          <p:cNvSpPr>
            <a:spLocks noChangeArrowheads="1"/>
          </p:cNvSpPr>
          <p:nvPr/>
        </p:nvSpPr>
        <p:spPr bwMode="auto">
          <a:xfrm>
            <a:off x="6021388" y="2090738"/>
            <a:ext cx="9271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17" name="Line 44"/>
          <p:cNvSpPr>
            <a:spLocks noChangeShapeType="1"/>
          </p:cNvSpPr>
          <p:nvPr/>
        </p:nvSpPr>
        <p:spPr bwMode="auto">
          <a:xfrm>
            <a:off x="6021388" y="2090738"/>
            <a:ext cx="927100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18" name="Rectangle 45"/>
          <p:cNvSpPr>
            <a:spLocks noChangeArrowheads="1"/>
          </p:cNvSpPr>
          <p:nvPr/>
        </p:nvSpPr>
        <p:spPr bwMode="auto">
          <a:xfrm>
            <a:off x="6948488" y="2090738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19" name="Line 46"/>
          <p:cNvSpPr>
            <a:spLocks noChangeShapeType="1"/>
          </p:cNvSpPr>
          <p:nvPr/>
        </p:nvSpPr>
        <p:spPr bwMode="auto">
          <a:xfrm>
            <a:off x="6948488" y="2090738"/>
            <a:ext cx="9525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20" name="Line 47"/>
          <p:cNvSpPr>
            <a:spLocks noChangeShapeType="1"/>
          </p:cNvSpPr>
          <p:nvPr/>
        </p:nvSpPr>
        <p:spPr bwMode="auto">
          <a:xfrm>
            <a:off x="6948488" y="2090738"/>
            <a:ext cx="1587" cy="95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21" name="Rectangle 48"/>
          <p:cNvSpPr>
            <a:spLocks noChangeArrowheads="1"/>
          </p:cNvSpPr>
          <p:nvPr/>
        </p:nvSpPr>
        <p:spPr bwMode="auto">
          <a:xfrm>
            <a:off x="6958013" y="2090738"/>
            <a:ext cx="86677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22" name="Line 49"/>
          <p:cNvSpPr>
            <a:spLocks noChangeShapeType="1"/>
          </p:cNvSpPr>
          <p:nvPr/>
        </p:nvSpPr>
        <p:spPr bwMode="auto">
          <a:xfrm>
            <a:off x="6958013" y="2090738"/>
            <a:ext cx="866775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23" name="Rectangle 50"/>
          <p:cNvSpPr>
            <a:spLocks noChangeArrowheads="1"/>
          </p:cNvSpPr>
          <p:nvPr/>
        </p:nvSpPr>
        <p:spPr bwMode="auto">
          <a:xfrm>
            <a:off x="7824788" y="2090738"/>
            <a:ext cx="17462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24" name="Line 51"/>
          <p:cNvSpPr>
            <a:spLocks noChangeShapeType="1"/>
          </p:cNvSpPr>
          <p:nvPr/>
        </p:nvSpPr>
        <p:spPr bwMode="auto">
          <a:xfrm>
            <a:off x="7824788" y="2090738"/>
            <a:ext cx="17462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25" name="Rectangle 52"/>
          <p:cNvSpPr>
            <a:spLocks noChangeArrowheads="1"/>
          </p:cNvSpPr>
          <p:nvPr/>
        </p:nvSpPr>
        <p:spPr bwMode="auto">
          <a:xfrm>
            <a:off x="1463675" y="2100263"/>
            <a:ext cx="17463" cy="5000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26" name="Line 53"/>
          <p:cNvSpPr>
            <a:spLocks noChangeShapeType="1"/>
          </p:cNvSpPr>
          <p:nvPr/>
        </p:nvSpPr>
        <p:spPr bwMode="auto">
          <a:xfrm>
            <a:off x="1463675" y="2100263"/>
            <a:ext cx="1588" cy="5000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27" name="Rectangle 54"/>
          <p:cNvSpPr>
            <a:spLocks noChangeArrowheads="1"/>
          </p:cNvSpPr>
          <p:nvPr/>
        </p:nvSpPr>
        <p:spPr bwMode="auto">
          <a:xfrm>
            <a:off x="2613025" y="2100263"/>
            <a:ext cx="7938" cy="5000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28" name="Line 55"/>
          <p:cNvSpPr>
            <a:spLocks noChangeShapeType="1"/>
          </p:cNvSpPr>
          <p:nvPr/>
        </p:nvSpPr>
        <p:spPr bwMode="auto">
          <a:xfrm>
            <a:off x="2613025" y="2100263"/>
            <a:ext cx="1588" cy="5000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29" name="Rectangle 56"/>
          <p:cNvSpPr>
            <a:spLocks noChangeArrowheads="1"/>
          </p:cNvSpPr>
          <p:nvPr/>
        </p:nvSpPr>
        <p:spPr bwMode="auto">
          <a:xfrm>
            <a:off x="3786188" y="2100263"/>
            <a:ext cx="7937" cy="5000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30" name="Line 57"/>
          <p:cNvSpPr>
            <a:spLocks noChangeShapeType="1"/>
          </p:cNvSpPr>
          <p:nvPr/>
        </p:nvSpPr>
        <p:spPr bwMode="auto">
          <a:xfrm>
            <a:off x="3786188" y="2100263"/>
            <a:ext cx="1587" cy="5000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31" name="Rectangle 58"/>
          <p:cNvSpPr>
            <a:spLocks noChangeArrowheads="1"/>
          </p:cNvSpPr>
          <p:nvPr/>
        </p:nvSpPr>
        <p:spPr bwMode="auto">
          <a:xfrm>
            <a:off x="6013450" y="2100263"/>
            <a:ext cx="7938" cy="5000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32" name="Line 59"/>
          <p:cNvSpPr>
            <a:spLocks noChangeShapeType="1"/>
          </p:cNvSpPr>
          <p:nvPr/>
        </p:nvSpPr>
        <p:spPr bwMode="auto">
          <a:xfrm>
            <a:off x="6013450" y="2100263"/>
            <a:ext cx="1588" cy="5000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33" name="Rectangle 60"/>
          <p:cNvSpPr>
            <a:spLocks noChangeArrowheads="1"/>
          </p:cNvSpPr>
          <p:nvPr/>
        </p:nvSpPr>
        <p:spPr bwMode="auto">
          <a:xfrm>
            <a:off x="6948488" y="2100263"/>
            <a:ext cx="9525" cy="5000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34" name="Line 61"/>
          <p:cNvSpPr>
            <a:spLocks noChangeShapeType="1"/>
          </p:cNvSpPr>
          <p:nvPr/>
        </p:nvSpPr>
        <p:spPr bwMode="auto">
          <a:xfrm>
            <a:off x="6948488" y="2100263"/>
            <a:ext cx="1587" cy="5000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35" name="Rectangle 62"/>
          <p:cNvSpPr>
            <a:spLocks noChangeArrowheads="1"/>
          </p:cNvSpPr>
          <p:nvPr/>
        </p:nvSpPr>
        <p:spPr bwMode="auto">
          <a:xfrm>
            <a:off x="7824788" y="2100263"/>
            <a:ext cx="17462" cy="5000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36" name="Line 63"/>
          <p:cNvSpPr>
            <a:spLocks noChangeShapeType="1"/>
          </p:cNvSpPr>
          <p:nvPr/>
        </p:nvSpPr>
        <p:spPr bwMode="auto">
          <a:xfrm>
            <a:off x="7824788" y="2100263"/>
            <a:ext cx="1587" cy="5000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37" name="Rectangle 64"/>
          <p:cNvSpPr>
            <a:spLocks noChangeArrowheads="1"/>
          </p:cNvSpPr>
          <p:nvPr/>
        </p:nvSpPr>
        <p:spPr bwMode="auto">
          <a:xfrm>
            <a:off x="1538288" y="2608263"/>
            <a:ext cx="51435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536</a:t>
            </a:r>
            <a:endParaRPr lang="en-US" sz="1200"/>
          </a:p>
        </p:txBody>
      </p:sp>
      <p:sp>
        <p:nvSpPr>
          <p:cNvPr id="24638" name="Rectangle 65"/>
          <p:cNvSpPr>
            <a:spLocks noChangeArrowheads="1"/>
          </p:cNvSpPr>
          <p:nvPr/>
        </p:nvSpPr>
        <p:spPr bwMode="auto">
          <a:xfrm>
            <a:off x="2054225" y="2608263"/>
            <a:ext cx="17145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6</a:t>
            </a:r>
            <a:endParaRPr lang="en-US" sz="1200"/>
          </a:p>
        </p:txBody>
      </p:sp>
      <p:sp>
        <p:nvSpPr>
          <p:cNvPr id="24639" name="Rectangle 66"/>
          <p:cNvSpPr>
            <a:spLocks noChangeArrowheads="1"/>
          </p:cNvSpPr>
          <p:nvPr/>
        </p:nvSpPr>
        <p:spPr bwMode="auto">
          <a:xfrm>
            <a:off x="2228850" y="2608263"/>
            <a:ext cx="17145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6</a:t>
            </a:r>
            <a:endParaRPr lang="en-US" sz="1200"/>
          </a:p>
        </p:txBody>
      </p:sp>
      <p:sp>
        <p:nvSpPr>
          <p:cNvPr id="24640" name="Rectangle 67"/>
          <p:cNvSpPr>
            <a:spLocks noChangeArrowheads="1"/>
          </p:cNvSpPr>
          <p:nvPr/>
        </p:nvSpPr>
        <p:spPr bwMode="auto">
          <a:xfrm>
            <a:off x="2400300" y="2608263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 </a:t>
            </a:r>
            <a:endParaRPr lang="en-US" sz="1200"/>
          </a:p>
        </p:txBody>
      </p:sp>
      <p:sp>
        <p:nvSpPr>
          <p:cNvPr id="24641" name="Rectangle 68"/>
          <p:cNvSpPr>
            <a:spLocks noChangeArrowheads="1"/>
          </p:cNvSpPr>
          <p:nvPr/>
        </p:nvSpPr>
        <p:spPr bwMode="auto">
          <a:xfrm>
            <a:off x="2687638" y="2608263"/>
            <a:ext cx="811212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Jones</a:t>
            </a:r>
            <a:endParaRPr lang="en-US" sz="1200"/>
          </a:p>
        </p:txBody>
      </p:sp>
      <p:sp>
        <p:nvSpPr>
          <p:cNvPr id="24642" name="Rectangle 69"/>
          <p:cNvSpPr>
            <a:spLocks noChangeArrowheads="1"/>
          </p:cNvSpPr>
          <p:nvPr/>
        </p:nvSpPr>
        <p:spPr bwMode="auto">
          <a:xfrm>
            <a:off x="3502025" y="2608263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 </a:t>
            </a:r>
            <a:endParaRPr lang="en-US" sz="1200"/>
          </a:p>
        </p:txBody>
      </p:sp>
      <p:sp>
        <p:nvSpPr>
          <p:cNvPr id="24643" name="Rectangle 70"/>
          <p:cNvSpPr>
            <a:spLocks noChangeArrowheads="1"/>
          </p:cNvSpPr>
          <p:nvPr/>
        </p:nvSpPr>
        <p:spPr bwMode="auto">
          <a:xfrm>
            <a:off x="3857625" y="2608263"/>
            <a:ext cx="776288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jones</a:t>
            </a:r>
            <a:endParaRPr lang="en-US" sz="1200"/>
          </a:p>
        </p:txBody>
      </p:sp>
      <p:sp>
        <p:nvSpPr>
          <p:cNvPr id="24644" name="Rectangle 71"/>
          <p:cNvSpPr>
            <a:spLocks noChangeArrowheads="1"/>
          </p:cNvSpPr>
          <p:nvPr/>
        </p:nvSpPr>
        <p:spPr bwMode="auto">
          <a:xfrm>
            <a:off x="4635500" y="2608263"/>
            <a:ext cx="407988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@c</a:t>
            </a:r>
            <a:endParaRPr lang="en-US" sz="1200"/>
          </a:p>
        </p:txBody>
      </p:sp>
      <p:sp>
        <p:nvSpPr>
          <p:cNvPr id="24645" name="Rectangle 72"/>
          <p:cNvSpPr>
            <a:spLocks noChangeArrowheads="1"/>
          </p:cNvSpPr>
          <p:nvPr/>
        </p:nvSpPr>
        <p:spPr bwMode="auto">
          <a:xfrm>
            <a:off x="5051425" y="2608263"/>
            <a:ext cx="14605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s</a:t>
            </a:r>
            <a:endParaRPr lang="en-US" sz="1200"/>
          </a:p>
        </p:txBody>
      </p:sp>
      <p:sp>
        <p:nvSpPr>
          <p:cNvPr id="24646" name="Rectangle 73"/>
          <p:cNvSpPr>
            <a:spLocks noChangeArrowheads="1"/>
          </p:cNvSpPr>
          <p:nvPr/>
        </p:nvSpPr>
        <p:spPr bwMode="auto">
          <a:xfrm>
            <a:off x="5195888" y="2608263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 </a:t>
            </a:r>
            <a:endParaRPr lang="en-US" sz="1200"/>
          </a:p>
        </p:txBody>
      </p:sp>
      <p:sp>
        <p:nvSpPr>
          <p:cNvPr id="24647" name="Rectangle 74"/>
          <p:cNvSpPr>
            <a:spLocks noChangeArrowheads="1"/>
          </p:cNvSpPr>
          <p:nvPr/>
        </p:nvSpPr>
        <p:spPr bwMode="auto">
          <a:xfrm>
            <a:off x="6242050" y="2608263"/>
            <a:ext cx="34290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18</a:t>
            </a:r>
            <a:endParaRPr lang="en-US" sz="1200"/>
          </a:p>
        </p:txBody>
      </p:sp>
      <p:sp>
        <p:nvSpPr>
          <p:cNvPr id="24648" name="Rectangle 75"/>
          <p:cNvSpPr>
            <a:spLocks noChangeArrowheads="1"/>
          </p:cNvSpPr>
          <p:nvPr/>
        </p:nvSpPr>
        <p:spPr bwMode="auto">
          <a:xfrm>
            <a:off x="6584950" y="2608263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 </a:t>
            </a:r>
            <a:endParaRPr lang="en-US" sz="1200"/>
          </a:p>
        </p:txBody>
      </p:sp>
      <p:sp>
        <p:nvSpPr>
          <p:cNvPr id="24649" name="Rectangle 76"/>
          <p:cNvSpPr>
            <a:spLocks noChangeArrowheads="1"/>
          </p:cNvSpPr>
          <p:nvPr/>
        </p:nvSpPr>
        <p:spPr bwMode="auto">
          <a:xfrm>
            <a:off x="7145338" y="2608263"/>
            <a:ext cx="4286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3.4</a:t>
            </a:r>
            <a:endParaRPr lang="en-US" sz="1200"/>
          </a:p>
        </p:txBody>
      </p:sp>
      <p:sp>
        <p:nvSpPr>
          <p:cNvPr id="24650" name="Rectangle 77"/>
          <p:cNvSpPr>
            <a:spLocks noChangeArrowheads="1"/>
          </p:cNvSpPr>
          <p:nvPr/>
        </p:nvSpPr>
        <p:spPr bwMode="auto">
          <a:xfrm>
            <a:off x="7573963" y="2608263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 </a:t>
            </a:r>
            <a:endParaRPr lang="en-US" sz="1200"/>
          </a:p>
        </p:txBody>
      </p:sp>
      <p:sp>
        <p:nvSpPr>
          <p:cNvPr id="24651" name="Rectangle 78"/>
          <p:cNvSpPr>
            <a:spLocks noChangeArrowheads="1"/>
          </p:cNvSpPr>
          <p:nvPr/>
        </p:nvSpPr>
        <p:spPr bwMode="auto">
          <a:xfrm>
            <a:off x="1463675" y="2600325"/>
            <a:ext cx="17463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52" name="Line 79"/>
          <p:cNvSpPr>
            <a:spLocks noChangeShapeType="1"/>
          </p:cNvSpPr>
          <p:nvPr/>
        </p:nvSpPr>
        <p:spPr bwMode="auto">
          <a:xfrm>
            <a:off x="1463675" y="2600325"/>
            <a:ext cx="17463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53" name="Rectangle 80"/>
          <p:cNvSpPr>
            <a:spLocks noChangeArrowheads="1"/>
          </p:cNvSpPr>
          <p:nvPr/>
        </p:nvSpPr>
        <p:spPr bwMode="auto">
          <a:xfrm>
            <a:off x="1481138" y="2600325"/>
            <a:ext cx="1131887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54" name="Line 81"/>
          <p:cNvSpPr>
            <a:spLocks noChangeShapeType="1"/>
          </p:cNvSpPr>
          <p:nvPr/>
        </p:nvSpPr>
        <p:spPr bwMode="auto">
          <a:xfrm>
            <a:off x="1481138" y="2600325"/>
            <a:ext cx="1131887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55" name="Rectangle 82"/>
          <p:cNvSpPr>
            <a:spLocks noChangeArrowheads="1"/>
          </p:cNvSpPr>
          <p:nvPr/>
        </p:nvSpPr>
        <p:spPr bwMode="auto">
          <a:xfrm>
            <a:off x="2613025" y="2600325"/>
            <a:ext cx="7938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56" name="Line 83"/>
          <p:cNvSpPr>
            <a:spLocks noChangeShapeType="1"/>
          </p:cNvSpPr>
          <p:nvPr/>
        </p:nvSpPr>
        <p:spPr bwMode="auto">
          <a:xfrm>
            <a:off x="2613025" y="2600325"/>
            <a:ext cx="7938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57" name="Line 84"/>
          <p:cNvSpPr>
            <a:spLocks noChangeShapeType="1"/>
          </p:cNvSpPr>
          <p:nvPr/>
        </p:nvSpPr>
        <p:spPr bwMode="auto">
          <a:xfrm>
            <a:off x="2613025" y="2600325"/>
            <a:ext cx="1588" cy="79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58" name="Rectangle 85"/>
          <p:cNvSpPr>
            <a:spLocks noChangeArrowheads="1"/>
          </p:cNvSpPr>
          <p:nvPr/>
        </p:nvSpPr>
        <p:spPr bwMode="auto">
          <a:xfrm>
            <a:off x="2620963" y="2600325"/>
            <a:ext cx="1165225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59" name="Line 86"/>
          <p:cNvSpPr>
            <a:spLocks noChangeShapeType="1"/>
          </p:cNvSpPr>
          <p:nvPr/>
        </p:nvSpPr>
        <p:spPr bwMode="auto">
          <a:xfrm>
            <a:off x="2620963" y="2600325"/>
            <a:ext cx="1165225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60" name="Rectangle 87"/>
          <p:cNvSpPr>
            <a:spLocks noChangeArrowheads="1"/>
          </p:cNvSpPr>
          <p:nvPr/>
        </p:nvSpPr>
        <p:spPr bwMode="auto">
          <a:xfrm>
            <a:off x="3786188" y="2600325"/>
            <a:ext cx="7937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61" name="Line 88"/>
          <p:cNvSpPr>
            <a:spLocks noChangeShapeType="1"/>
          </p:cNvSpPr>
          <p:nvPr/>
        </p:nvSpPr>
        <p:spPr bwMode="auto">
          <a:xfrm>
            <a:off x="3786188" y="2600325"/>
            <a:ext cx="7937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62" name="Line 89"/>
          <p:cNvSpPr>
            <a:spLocks noChangeShapeType="1"/>
          </p:cNvSpPr>
          <p:nvPr/>
        </p:nvSpPr>
        <p:spPr bwMode="auto">
          <a:xfrm>
            <a:off x="3786188" y="2600325"/>
            <a:ext cx="1587" cy="79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63" name="Rectangle 90"/>
          <p:cNvSpPr>
            <a:spLocks noChangeArrowheads="1"/>
          </p:cNvSpPr>
          <p:nvPr/>
        </p:nvSpPr>
        <p:spPr bwMode="auto">
          <a:xfrm>
            <a:off x="3794125" y="2600325"/>
            <a:ext cx="2219325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64" name="Line 91"/>
          <p:cNvSpPr>
            <a:spLocks noChangeShapeType="1"/>
          </p:cNvSpPr>
          <p:nvPr/>
        </p:nvSpPr>
        <p:spPr bwMode="auto">
          <a:xfrm>
            <a:off x="3794125" y="2600325"/>
            <a:ext cx="2219325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65" name="Rectangle 92"/>
          <p:cNvSpPr>
            <a:spLocks noChangeArrowheads="1"/>
          </p:cNvSpPr>
          <p:nvPr/>
        </p:nvSpPr>
        <p:spPr bwMode="auto">
          <a:xfrm>
            <a:off x="6013450" y="2600325"/>
            <a:ext cx="7938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66" name="Line 93"/>
          <p:cNvSpPr>
            <a:spLocks noChangeShapeType="1"/>
          </p:cNvSpPr>
          <p:nvPr/>
        </p:nvSpPr>
        <p:spPr bwMode="auto">
          <a:xfrm>
            <a:off x="6013450" y="2600325"/>
            <a:ext cx="7938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67" name="Line 94"/>
          <p:cNvSpPr>
            <a:spLocks noChangeShapeType="1"/>
          </p:cNvSpPr>
          <p:nvPr/>
        </p:nvSpPr>
        <p:spPr bwMode="auto">
          <a:xfrm>
            <a:off x="6013450" y="2600325"/>
            <a:ext cx="1588" cy="79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68" name="Rectangle 95"/>
          <p:cNvSpPr>
            <a:spLocks noChangeArrowheads="1"/>
          </p:cNvSpPr>
          <p:nvPr/>
        </p:nvSpPr>
        <p:spPr bwMode="auto">
          <a:xfrm>
            <a:off x="6021388" y="2600325"/>
            <a:ext cx="927100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69" name="Line 96"/>
          <p:cNvSpPr>
            <a:spLocks noChangeShapeType="1"/>
          </p:cNvSpPr>
          <p:nvPr/>
        </p:nvSpPr>
        <p:spPr bwMode="auto">
          <a:xfrm>
            <a:off x="6021388" y="2600325"/>
            <a:ext cx="92710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70" name="Rectangle 97"/>
          <p:cNvSpPr>
            <a:spLocks noChangeArrowheads="1"/>
          </p:cNvSpPr>
          <p:nvPr/>
        </p:nvSpPr>
        <p:spPr bwMode="auto">
          <a:xfrm>
            <a:off x="6948488" y="2600325"/>
            <a:ext cx="9525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71" name="Line 98"/>
          <p:cNvSpPr>
            <a:spLocks noChangeShapeType="1"/>
          </p:cNvSpPr>
          <p:nvPr/>
        </p:nvSpPr>
        <p:spPr bwMode="auto">
          <a:xfrm>
            <a:off x="6948488" y="2600325"/>
            <a:ext cx="9525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72" name="Line 99"/>
          <p:cNvSpPr>
            <a:spLocks noChangeShapeType="1"/>
          </p:cNvSpPr>
          <p:nvPr/>
        </p:nvSpPr>
        <p:spPr bwMode="auto">
          <a:xfrm>
            <a:off x="6948488" y="2600325"/>
            <a:ext cx="1587" cy="79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73" name="Rectangle 100"/>
          <p:cNvSpPr>
            <a:spLocks noChangeArrowheads="1"/>
          </p:cNvSpPr>
          <p:nvPr/>
        </p:nvSpPr>
        <p:spPr bwMode="auto">
          <a:xfrm>
            <a:off x="6958013" y="2600325"/>
            <a:ext cx="866775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74" name="Line 101"/>
          <p:cNvSpPr>
            <a:spLocks noChangeShapeType="1"/>
          </p:cNvSpPr>
          <p:nvPr/>
        </p:nvSpPr>
        <p:spPr bwMode="auto">
          <a:xfrm>
            <a:off x="6958013" y="2600325"/>
            <a:ext cx="866775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75" name="Rectangle 102"/>
          <p:cNvSpPr>
            <a:spLocks noChangeArrowheads="1"/>
          </p:cNvSpPr>
          <p:nvPr/>
        </p:nvSpPr>
        <p:spPr bwMode="auto">
          <a:xfrm>
            <a:off x="7824788" y="2600325"/>
            <a:ext cx="17462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76" name="Line 103"/>
          <p:cNvSpPr>
            <a:spLocks noChangeShapeType="1"/>
          </p:cNvSpPr>
          <p:nvPr/>
        </p:nvSpPr>
        <p:spPr bwMode="auto">
          <a:xfrm>
            <a:off x="7824788" y="2600325"/>
            <a:ext cx="17462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77" name="Rectangle 104"/>
          <p:cNvSpPr>
            <a:spLocks noChangeArrowheads="1"/>
          </p:cNvSpPr>
          <p:nvPr/>
        </p:nvSpPr>
        <p:spPr bwMode="auto">
          <a:xfrm>
            <a:off x="1463675" y="2608263"/>
            <a:ext cx="17463" cy="4953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78" name="Line 105"/>
          <p:cNvSpPr>
            <a:spLocks noChangeShapeType="1"/>
          </p:cNvSpPr>
          <p:nvPr/>
        </p:nvSpPr>
        <p:spPr bwMode="auto">
          <a:xfrm>
            <a:off x="1463675" y="2608263"/>
            <a:ext cx="1588" cy="4953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79" name="Rectangle 106"/>
          <p:cNvSpPr>
            <a:spLocks noChangeArrowheads="1"/>
          </p:cNvSpPr>
          <p:nvPr/>
        </p:nvSpPr>
        <p:spPr bwMode="auto">
          <a:xfrm>
            <a:off x="2613025" y="2608263"/>
            <a:ext cx="7938" cy="4953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80" name="Line 107"/>
          <p:cNvSpPr>
            <a:spLocks noChangeShapeType="1"/>
          </p:cNvSpPr>
          <p:nvPr/>
        </p:nvSpPr>
        <p:spPr bwMode="auto">
          <a:xfrm>
            <a:off x="2613025" y="2608263"/>
            <a:ext cx="1588" cy="4953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81" name="Rectangle 108"/>
          <p:cNvSpPr>
            <a:spLocks noChangeArrowheads="1"/>
          </p:cNvSpPr>
          <p:nvPr/>
        </p:nvSpPr>
        <p:spPr bwMode="auto">
          <a:xfrm>
            <a:off x="3786188" y="2608263"/>
            <a:ext cx="7937" cy="4953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82" name="Line 109"/>
          <p:cNvSpPr>
            <a:spLocks noChangeShapeType="1"/>
          </p:cNvSpPr>
          <p:nvPr/>
        </p:nvSpPr>
        <p:spPr bwMode="auto">
          <a:xfrm>
            <a:off x="3786188" y="2608263"/>
            <a:ext cx="1587" cy="4953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83" name="Rectangle 110"/>
          <p:cNvSpPr>
            <a:spLocks noChangeArrowheads="1"/>
          </p:cNvSpPr>
          <p:nvPr/>
        </p:nvSpPr>
        <p:spPr bwMode="auto">
          <a:xfrm>
            <a:off x="6013450" y="2608263"/>
            <a:ext cx="7938" cy="4953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84" name="Line 111"/>
          <p:cNvSpPr>
            <a:spLocks noChangeShapeType="1"/>
          </p:cNvSpPr>
          <p:nvPr/>
        </p:nvSpPr>
        <p:spPr bwMode="auto">
          <a:xfrm>
            <a:off x="6013450" y="2608263"/>
            <a:ext cx="1588" cy="4953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85" name="Rectangle 112"/>
          <p:cNvSpPr>
            <a:spLocks noChangeArrowheads="1"/>
          </p:cNvSpPr>
          <p:nvPr/>
        </p:nvSpPr>
        <p:spPr bwMode="auto">
          <a:xfrm>
            <a:off x="6948488" y="2608263"/>
            <a:ext cx="9525" cy="4953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86" name="Line 113"/>
          <p:cNvSpPr>
            <a:spLocks noChangeShapeType="1"/>
          </p:cNvSpPr>
          <p:nvPr/>
        </p:nvSpPr>
        <p:spPr bwMode="auto">
          <a:xfrm>
            <a:off x="6948488" y="2608263"/>
            <a:ext cx="1587" cy="4953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87" name="Rectangle 114"/>
          <p:cNvSpPr>
            <a:spLocks noChangeArrowheads="1"/>
          </p:cNvSpPr>
          <p:nvPr/>
        </p:nvSpPr>
        <p:spPr bwMode="auto">
          <a:xfrm>
            <a:off x="7824788" y="2608263"/>
            <a:ext cx="17462" cy="4953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88" name="Line 115"/>
          <p:cNvSpPr>
            <a:spLocks noChangeShapeType="1"/>
          </p:cNvSpPr>
          <p:nvPr/>
        </p:nvSpPr>
        <p:spPr bwMode="auto">
          <a:xfrm>
            <a:off x="7824788" y="2608263"/>
            <a:ext cx="1587" cy="4953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89" name="Rectangle 116"/>
          <p:cNvSpPr>
            <a:spLocks noChangeArrowheads="1"/>
          </p:cNvSpPr>
          <p:nvPr/>
        </p:nvSpPr>
        <p:spPr bwMode="auto">
          <a:xfrm>
            <a:off x="1538288" y="3103563"/>
            <a:ext cx="51435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536</a:t>
            </a:r>
            <a:endParaRPr lang="en-US" sz="1200"/>
          </a:p>
        </p:txBody>
      </p:sp>
      <p:sp>
        <p:nvSpPr>
          <p:cNvPr id="24690" name="Rectangle 117"/>
          <p:cNvSpPr>
            <a:spLocks noChangeArrowheads="1"/>
          </p:cNvSpPr>
          <p:nvPr/>
        </p:nvSpPr>
        <p:spPr bwMode="auto">
          <a:xfrm>
            <a:off x="2054225" y="3103563"/>
            <a:ext cx="17145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8</a:t>
            </a:r>
            <a:endParaRPr lang="en-US" sz="1200"/>
          </a:p>
        </p:txBody>
      </p:sp>
      <p:sp>
        <p:nvSpPr>
          <p:cNvPr id="24691" name="Rectangle 118"/>
          <p:cNvSpPr>
            <a:spLocks noChangeArrowheads="1"/>
          </p:cNvSpPr>
          <p:nvPr/>
        </p:nvSpPr>
        <p:spPr bwMode="auto">
          <a:xfrm>
            <a:off x="2228850" y="3103563"/>
            <a:ext cx="17145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8</a:t>
            </a:r>
            <a:endParaRPr lang="en-US" sz="1200"/>
          </a:p>
        </p:txBody>
      </p:sp>
      <p:sp>
        <p:nvSpPr>
          <p:cNvPr id="24692" name="Rectangle 119"/>
          <p:cNvSpPr>
            <a:spLocks noChangeArrowheads="1"/>
          </p:cNvSpPr>
          <p:nvPr/>
        </p:nvSpPr>
        <p:spPr bwMode="auto">
          <a:xfrm>
            <a:off x="2400300" y="3103563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 </a:t>
            </a:r>
            <a:endParaRPr lang="en-US" sz="1200"/>
          </a:p>
        </p:txBody>
      </p:sp>
      <p:sp>
        <p:nvSpPr>
          <p:cNvPr id="24693" name="Rectangle 120"/>
          <p:cNvSpPr>
            <a:spLocks noChangeArrowheads="1"/>
          </p:cNvSpPr>
          <p:nvPr/>
        </p:nvSpPr>
        <p:spPr bwMode="auto">
          <a:xfrm>
            <a:off x="2687638" y="3103563"/>
            <a:ext cx="893762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Smith</a:t>
            </a:r>
            <a:endParaRPr lang="en-US" sz="1200"/>
          </a:p>
        </p:txBody>
      </p:sp>
      <p:sp>
        <p:nvSpPr>
          <p:cNvPr id="24694" name="Rectangle 121"/>
          <p:cNvSpPr>
            <a:spLocks noChangeArrowheads="1"/>
          </p:cNvSpPr>
          <p:nvPr/>
        </p:nvSpPr>
        <p:spPr bwMode="auto">
          <a:xfrm>
            <a:off x="3584575" y="3103563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 </a:t>
            </a:r>
            <a:endParaRPr lang="en-US" sz="1200"/>
          </a:p>
        </p:txBody>
      </p:sp>
      <p:sp>
        <p:nvSpPr>
          <p:cNvPr id="24695" name="Rectangle 122"/>
          <p:cNvSpPr>
            <a:spLocks noChangeArrowheads="1"/>
          </p:cNvSpPr>
          <p:nvPr/>
        </p:nvSpPr>
        <p:spPr bwMode="auto">
          <a:xfrm>
            <a:off x="3857625" y="3103563"/>
            <a:ext cx="12795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smith@e</a:t>
            </a:r>
            <a:endParaRPr lang="en-US" sz="1200"/>
          </a:p>
        </p:txBody>
      </p:sp>
      <p:sp>
        <p:nvSpPr>
          <p:cNvPr id="24696" name="Rectangle 123"/>
          <p:cNvSpPr>
            <a:spLocks noChangeArrowheads="1"/>
          </p:cNvSpPr>
          <p:nvPr/>
        </p:nvSpPr>
        <p:spPr bwMode="auto">
          <a:xfrm>
            <a:off x="5141913" y="3103563"/>
            <a:ext cx="163512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e</a:t>
            </a:r>
            <a:endParaRPr lang="en-US" sz="1200"/>
          </a:p>
        </p:txBody>
      </p:sp>
      <p:sp>
        <p:nvSpPr>
          <p:cNvPr id="24697" name="Rectangle 124"/>
          <p:cNvSpPr>
            <a:spLocks noChangeArrowheads="1"/>
          </p:cNvSpPr>
          <p:nvPr/>
        </p:nvSpPr>
        <p:spPr bwMode="auto">
          <a:xfrm>
            <a:off x="5311775" y="3103563"/>
            <a:ext cx="296863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cs</a:t>
            </a:r>
            <a:endParaRPr lang="en-US" sz="1200"/>
          </a:p>
        </p:txBody>
      </p:sp>
      <p:sp>
        <p:nvSpPr>
          <p:cNvPr id="24698" name="Rectangle 125"/>
          <p:cNvSpPr>
            <a:spLocks noChangeArrowheads="1"/>
          </p:cNvSpPr>
          <p:nvPr/>
        </p:nvSpPr>
        <p:spPr bwMode="auto">
          <a:xfrm>
            <a:off x="5607050" y="3103563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 </a:t>
            </a:r>
            <a:endParaRPr lang="en-US" sz="1200"/>
          </a:p>
        </p:txBody>
      </p:sp>
      <p:sp>
        <p:nvSpPr>
          <p:cNvPr id="24699" name="Rectangle 126"/>
          <p:cNvSpPr>
            <a:spLocks noChangeArrowheads="1"/>
          </p:cNvSpPr>
          <p:nvPr/>
        </p:nvSpPr>
        <p:spPr bwMode="auto">
          <a:xfrm>
            <a:off x="6242050" y="3103563"/>
            <a:ext cx="34290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18</a:t>
            </a:r>
            <a:endParaRPr lang="en-US" sz="1200"/>
          </a:p>
        </p:txBody>
      </p:sp>
      <p:sp>
        <p:nvSpPr>
          <p:cNvPr id="24700" name="Rectangle 127"/>
          <p:cNvSpPr>
            <a:spLocks noChangeArrowheads="1"/>
          </p:cNvSpPr>
          <p:nvPr/>
        </p:nvSpPr>
        <p:spPr bwMode="auto">
          <a:xfrm>
            <a:off x="6584950" y="3103563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 </a:t>
            </a:r>
            <a:endParaRPr lang="en-US" sz="1200"/>
          </a:p>
        </p:txBody>
      </p:sp>
      <p:sp>
        <p:nvSpPr>
          <p:cNvPr id="24701" name="Rectangle 128"/>
          <p:cNvSpPr>
            <a:spLocks noChangeArrowheads="1"/>
          </p:cNvSpPr>
          <p:nvPr/>
        </p:nvSpPr>
        <p:spPr bwMode="auto">
          <a:xfrm>
            <a:off x="7145338" y="3103563"/>
            <a:ext cx="4286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3.2</a:t>
            </a:r>
            <a:endParaRPr lang="en-US" sz="1200"/>
          </a:p>
        </p:txBody>
      </p:sp>
      <p:sp>
        <p:nvSpPr>
          <p:cNvPr id="24702" name="Rectangle 129"/>
          <p:cNvSpPr>
            <a:spLocks noChangeArrowheads="1"/>
          </p:cNvSpPr>
          <p:nvPr/>
        </p:nvSpPr>
        <p:spPr bwMode="auto">
          <a:xfrm>
            <a:off x="7573963" y="3103563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 </a:t>
            </a:r>
            <a:endParaRPr lang="en-US" sz="1200"/>
          </a:p>
        </p:txBody>
      </p:sp>
      <p:sp>
        <p:nvSpPr>
          <p:cNvPr id="24703" name="Rectangle 130"/>
          <p:cNvSpPr>
            <a:spLocks noChangeArrowheads="1"/>
          </p:cNvSpPr>
          <p:nvPr/>
        </p:nvSpPr>
        <p:spPr bwMode="auto">
          <a:xfrm>
            <a:off x="1463675" y="3103563"/>
            <a:ext cx="17463" cy="4921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04" name="Line 131"/>
          <p:cNvSpPr>
            <a:spLocks noChangeShapeType="1"/>
          </p:cNvSpPr>
          <p:nvPr/>
        </p:nvSpPr>
        <p:spPr bwMode="auto">
          <a:xfrm>
            <a:off x="1463675" y="3103563"/>
            <a:ext cx="1588" cy="4921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05" name="Rectangle 132"/>
          <p:cNvSpPr>
            <a:spLocks noChangeArrowheads="1"/>
          </p:cNvSpPr>
          <p:nvPr/>
        </p:nvSpPr>
        <p:spPr bwMode="auto">
          <a:xfrm>
            <a:off x="2613025" y="3103563"/>
            <a:ext cx="7938" cy="4921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06" name="Line 133"/>
          <p:cNvSpPr>
            <a:spLocks noChangeShapeType="1"/>
          </p:cNvSpPr>
          <p:nvPr/>
        </p:nvSpPr>
        <p:spPr bwMode="auto">
          <a:xfrm>
            <a:off x="2613025" y="3103563"/>
            <a:ext cx="1588" cy="4921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07" name="Rectangle 134"/>
          <p:cNvSpPr>
            <a:spLocks noChangeArrowheads="1"/>
          </p:cNvSpPr>
          <p:nvPr/>
        </p:nvSpPr>
        <p:spPr bwMode="auto">
          <a:xfrm>
            <a:off x="3786188" y="3103563"/>
            <a:ext cx="7937" cy="4921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08" name="Line 135"/>
          <p:cNvSpPr>
            <a:spLocks noChangeShapeType="1"/>
          </p:cNvSpPr>
          <p:nvPr/>
        </p:nvSpPr>
        <p:spPr bwMode="auto">
          <a:xfrm>
            <a:off x="3786188" y="3103563"/>
            <a:ext cx="1587" cy="4921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09" name="Rectangle 136"/>
          <p:cNvSpPr>
            <a:spLocks noChangeArrowheads="1"/>
          </p:cNvSpPr>
          <p:nvPr/>
        </p:nvSpPr>
        <p:spPr bwMode="auto">
          <a:xfrm>
            <a:off x="6013450" y="3103563"/>
            <a:ext cx="7938" cy="4921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10" name="Line 137"/>
          <p:cNvSpPr>
            <a:spLocks noChangeShapeType="1"/>
          </p:cNvSpPr>
          <p:nvPr/>
        </p:nvSpPr>
        <p:spPr bwMode="auto">
          <a:xfrm>
            <a:off x="6013450" y="3103563"/>
            <a:ext cx="1588" cy="4921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11" name="Rectangle 138"/>
          <p:cNvSpPr>
            <a:spLocks noChangeArrowheads="1"/>
          </p:cNvSpPr>
          <p:nvPr/>
        </p:nvSpPr>
        <p:spPr bwMode="auto">
          <a:xfrm>
            <a:off x="6948488" y="3103563"/>
            <a:ext cx="9525" cy="4921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12" name="Line 139"/>
          <p:cNvSpPr>
            <a:spLocks noChangeShapeType="1"/>
          </p:cNvSpPr>
          <p:nvPr/>
        </p:nvSpPr>
        <p:spPr bwMode="auto">
          <a:xfrm>
            <a:off x="6948488" y="3103563"/>
            <a:ext cx="1587" cy="4921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13" name="Rectangle 140"/>
          <p:cNvSpPr>
            <a:spLocks noChangeArrowheads="1"/>
          </p:cNvSpPr>
          <p:nvPr/>
        </p:nvSpPr>
        <p:spPr bwMode="auto">
          <a:xfrm>
            <a:off x="7824788" y="3103563"/>
            <a:ext cx="17462" cy="4921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14" name="Line 141"/>
          <p:cNvSpPr>
            <a:spLocks noChangeShapeType="1"/>
          </p:cNvSpPr>
          <p:nvPr/>
        </p:nvSpPr>
        <p:spPr bwMode="auto">
          <a:xfrm>
            <a:off x="7824788" y="3103563"/>
            <a:ext cx="1587" cy="4921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15" name="Rectangle 142"/>
          <p:cNvSpPr>
            <a:spLocks noChangeArrowheads="1"/>
          </p:cNvSpPr>
          <p:nvPr/>
        </p:nvSpPr>
        <p:spPr bwMode="auto">
          <a:xfrm>
            <a:off x="1538288" y="3595688"/>
            <a:ext cx="51435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536</a:t>
            </a:r>
            <a:endParaRPr lang="en-US" sz="1200"/>
          </a:p>
        </p:txBody>
      </p:sp>
      <p:sp>
        <p:nvSpPr>
          <p:cNvPr id="24716" name="Rectangle 143"/>
          <p:cNvSpPr>
            <a:spLocks noChangeArrowheads="1"/>
          </p:cNvSpPr>
          <p:nvPr/>
        </p:nvSpPr>
        <p:spPr bwMode="auto">
          <a:xfrm>
            <a:off x="2054225" y="3595688"/>
            <a:ext cx="17145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5</a:t>
            </a:r>
            <a:endParaRPr lang="en-US" sz="1200"/>
          </a:p>
        </p:txBody>
      </p:sp>
      <p:sp>
        <p:nvSpPr>
          <p:cNvPr id="24717" name="Rectangle 144"/>
          <p:cNvSpPr>
            <a:spLocks noChangeArrowheads="1"/>
          </p:cNvSpPr>
          <p:nvPr/>
        </p:nvSpPr>
        <p:spPr bwMode="auto">
          <a:xfrm>
            <a:off x="2228850" y="3595688"/>
            <a:ext cx="17145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0</a:t>
            </a:r>
            <a:endParaRPr lang="en-US" sz="1200"/>
          </a:p>
        </p:txBody>
      </p:sp>
      <p:sp>
        <p:nvSpPr>
          <p:cNvPr id="24718" name="Rectangle 145"/>
          <p:cNvSpPr>
            <a:spLocks noChangeArrowheads="1"/>
          </p:cNvSpPr>
          <p:nvPr/>
        </p:nvSpPr>
        <p:spPr bwMode="auto">
          <a:xfrm>
            <a:off x="2400300" y="3595688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 </a:t>
            </a:r>
            <a:endParaRPr lang="en-US" sz="1200"/>
          </a:p>
        </p:txBody>
      </p:sp>
      <p:sp>
        <p:nvSpPr>
          <p:cNvPr id="24719" name="Rectangle 146"/>
          <p:cNvSpPr>
            <a:spLocks noChangeArrowheads="1"/>
          </p:cNvSpPr>
          <p:nvPr/>
        </p:nvSpPr>
        <p:spPr bwMode="auto">
          <a:xfrm>
            <a:off x="2687638" y="3595688"/>
            <a:ext cx="893762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Smith</a:t>
            </a:r>
            <a:endParaRPr lang="en-US" sz="1200"/>
          </a:p>
        </p:txBody>
      </p:sp>
      <p:sp>
        <p:nvSpPr>
          <p:cNvPr id="24720" name="Rectangle 147"/>
          <p:cNvSpPr>
            <a:spLocks noChangeArrowheads="1"/>
          </p:cNvSpPr>
          <p:nvPr/>
        </p:nvSpPr>
        <p:spPr bwMode="auto">
          <a:xfrm>
            <a:off x="3584575" y="3595688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 </a:t>
            </a:r>
            <a:endParaRPr lang="en-US" sz="1200"/>
          </a:p>
        </p:txBody>
      </p:sp>
      <p:sp>
        <p:nvSpPr>
          <p:cNvPr id="24721" name="Rectangle 148"/>
          <p:cNvSpPr>
            <a:spLocks noChangeArrowheads="1"/>
          </p:cNvSpPr>
          <p:nvPr/>
        </p:nvSpPr>
        <p:spPr bwMode="auto">
          <a:xfrm>
            <a:off x="3857625" y="3595688"/>
            <a:ext cx="858838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smith</a:t>
            </a:r>
            <a:endParaRPr lang="en-US" sz="1200"/>
          </a:p>
        </p:txBody>
      </p:sp>
      <p:sp>
        <p:nvSpPr>
          <p:cNvPr id="24722" name="Rectangle 149"/>
          <p:cNvSpPr>
            <a:spLocks noChangeArrowheads="1"/>
          </p:cNvSpPr>
          <p:nvPr/>
        </p:nvSpPr>
        <p:spPr bwMode="auto">
          <a:xfrm>
            <a:off x="4719638" y="3595688"/>
            <a:ext cx="55880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@m</a:t>
            </a:r>
            <a:endParaRPr lang="en-US" sz="1200"/>
          </a:p>
        </p:txBody>
      </p:sp>
      <p:sp>
        <p:nvSpPr>
          <p:cNvPr id="24723" name="Rectangle 150"/>
          <p:cNvSpPr>
            <a:spLocks noChangeArrowheads="1"/>
          </p:cNvSpPr>
          <p:nvPr/>
        </p:nvSpPr>
        <p:spPr bwMode="auto">
          <a:xfrm>
            <a:off x="5284788" y="3595688"/>
            <a:ext cx="48260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ath</a:t>
            </a:r>
            <a:endParaRPr lang="en-US" sz="1200"/>
          </a:p>
        </p:txBody>
      </p:sp>
      <p:sp>
        <p:nvSpPr>
          <p:cNvPr id="24724" name="Rectangle 151"/>
          <p:cNvSpPr>
            <a:spLocks noChangeArrowheads="1"/>
          </p:cNvSpPr>
          <p:nvPr/>
        </p:nvSpPr>
        <p:spPr bwMode="auto">
          <a:xfrm>
            <a:off x="5770563" y="3595688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 </a:t>
            </a:r>
            <a:endParaRPr lang="en-US" sz="1200"/>
          </a:p>
        </p:txBody>
      </p:sp>
      <p:sp>
        <p:nvSpPr>
          <p:cNvPr id="24725" name="Rectangle 152"/>
          <p:cNvSpPr>
            <a:spLocks noChangeArrowheads="1"/>
          </p:cNvSpPr>
          <p:nvPr/>
        </p:nvSpPr>
        <p:spPr bwMode="auto">
          <a:xfrm>
            <a:off x="6242050" y="3595688"/>
            <a:ext cx="34290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19</a:t>
            </a:r>
            <a:endParaRPr lang="en-US" sz="1200"/>
          </a:p>
        </p:txBody>
      </p:sp>
      <p:sp>
        <p:nvSpPr>
          <p:cNvPr id="24726" name="Rectangle 153"/>
          <p:cNvSpPr>
            <a:spLocks noChangeArrowheads="1"/>
          </p:cNvSpPr>
          <p:nvPr/>
        </p:nvSpPr>
        <p:spPr bwMode="auto">
          <a:xfrm>
            <a:off x="6584950" y="3595688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 </a:t>
            </a:r>
            <a:endParaRPr lang="en-US" sz="1200"/>
          </a:p>
        </p:txBody>
      </p:sp>
      <p:sp>
        <p:nvSpPr>
          <p:cNvPr id="24727" name="Rectangle 154"/>
          <p:cNvSpPr>
            <a:spLocks noChangeArrowheads="1"/>
          </p:cNvSpPr>
          <p:nvPr/>
        </p:nvSpPr>
        <p:spPr bwMode="auto">
          <a:xfrm>
            <a:off x="7145338" y="3595688"/>
            <a:ext cx="4286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3.8</a:t>
            </a:r>
            <a:endParaRPr lang="en-US" sz="1200"/>
          </a:p>
        </p:txBody>
      </p:sp>
      <p:sp>
        <p:nvSpPr>
          <p:cNvPr id="24728" name="Rectangle 155"/>
          <p:cNvSpPr>
            <a:spLocks noChangeArrowheads="1"/>
          </p:cNvSpPr>
          <p:nvPr/>
        </p:nvSpPr>
        <p:spPr bwMode="auto">
          <a:xfrm>
            <a:off x="7573963" y="3595688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 </a:t>
            </a:r>
            <a:endParaRPr lang="en-US" sz="1200"/>
          </a:p>
        </p:txBody>
      </p:sp>
      <p:sp>
        <p:nvSpPr>
          <p:cNvPr id="24729" name="Rectangle 156"/>
          <p:cNvSpPr>
            <a:spLocks noChangeArrowheads="1"/>
          </p:cNvSpPr>
          <p:nvPr/>
        </p:nvSpPr>
        <p:spPr bwMode="auto">
          <a:xfrm>
            <a:off x="1463675" y="3595688"/>
            <a:ext cx="17463" cy="4937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30" name="Line 157"/>
          <p:cNvSpPr>
            <a:spLocks noChangeShapeType="1"/>
          </p:cNvSpPr>
          <p:nvPr/>
        </p:nvSpPr>
        <p:spPr bwMode="auto">
          <a:xfrm>
            <a:off x="1463675" y="3595688"/>
            <a:ext cx="1588" cy="4937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31" name="Rectangle 158"/>
          <p:cNvSpPr>
            <a:spLocks noChangeArrowheads="1"/>
          </p:cNvSpPr>
          <p:nvPr/>
        </p:nvSpPr>
        <p:spPr bwMode="auto">
          <a:xfrm>
            <a:off x="1463675" y="4089400"/>
            <a:ext cx="114935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32" name="Line 159"/>
          <p:cNvSpPr>
            <a:spLocks noChangeShapeType="1"/>
          </p:cNvSpPr>
          <p:nvPr/>
        </p:nvSpPr>
        <p:spPr bwMode="auto">
          <a:xfrm>
            <a:off x="1463675" y="4089400"/>
            <a:ext cx="114935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33" name="Rectangle 160"/>
          <p:cNvSpPr>
            <a:spLocks noChangeArrowheads="1"/>
          </p:cNvSpPr>
          <p:nvPr/>
        </p:nvSpPr>
        <p:spPr bwMode="auto">
          <a:xfrm>
            <a:off x="2613025" y="3595688"/>
            <a:ext cx="7938" cy="4937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34" name="Line 161"/>
          <p:cNvSpPr>
            <a:spLocks noChangeShapeType="1"/>
          </p:cNvSpPr>
          <p:nvPr/>
        </p:nvSpPr>
        <p:spPr bwMode="auto">
          <a:xfrm>
            <a:off x="2613025" y="3595688"/>
            <a:ext cx="1588" cy="4937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35" name="Rectangle 162"/>
          <p:cNvSpPr>
            <a:spLocks noChangeArrowheads="1"/>
          </p:cNvSpPr>
          <p:nvPr/>
        </p:nvSpPr>
        <p:spPr bwMode="auto">
          <a:xfrm>
            <a:off x="2613025" y="4089400"/>
            <a:ext cx="7938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36" name="Line 163"/>
          <p:cNvSpPr>
            <a:spLocks noChangeShapeType="1"/>
          </p:cNvSpPr>
          <p:nvPr/>
        </p:nvSpPr>
        <p:spPr bwMode="auto">
          <a:xfrm>
            <a:off x="2613025" y="4089400"/>
            <a:ext cx="7938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37" name="Line 164"/>
          <p:cNvSpPr>
            <a:spLocks noChangeShapeType="1"/>
          </p:cNvSpPr>
          <p:nvPr/>
        </p:nvSpPr>
        <p:spPr bwMode="auto">
          <a:xfrm>
            <a:off x="2613025" y="4089400"/>
            <a:ext cx="1588" cy="95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38" name="Rectangle 165"/>
          <p:cNvSpPr>
            <a:spLocks noChangeArrowheads="1"/>
          </p:cNvSpPr>
          <p:nvPr/>
        </p:nvSpPr>
        <p:spPr bwMode="auto">
          <a:xfrm>
            <a:off x="2620963" y="4089400"/>
            <a:ext cx="11652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39" name="Line 166"/>
          <p:cNvSpPr>
            <a:spLocks noChangeShapeType="1"/>
          </p:cNvSpPr>
          <p:nvPr/>
        </p:nvSpPr>
        <p:spPr bwMode="auto">
          <a:xfrm>
            <a:off x="2620963" y="4089400"/>
            <a:ext cx="1165225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40" name="Rectangle 167"/>
          <p:cNvSpPr>
            <a:spLocks noChangeArrowheads="1"/>
          </p:cNvSpPr>
          <p:nvPr/>
        </p:nvSpPr>
        <p:spPr bwMode="auto">
          <a:xfrm>
            <a:off x="3786188" y="3595688"/>
            <a:ext cx="7937" cy="4937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41" name="Line 168"/>
          <p:cNvSpPr>
            <a:spLocks noChangeShapeType="1"/>
          </p:cNvSpPr>
          <p:nvPr/>
        </p:nvSpPr>
        <p:spPr bwMode="auto">
          <a:xfrm>
            <a:off x="3786188" y="3595688"/>
            <a:ext cx="1587" cy="4937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42" name="Rectangle 169"/>
          <p:cNvSpPr>
            <a:spLocks noChangeArrowheads="1"/>
          </p:cNvSpPr>
          <p:nvPr/>
        </p:nvSpPr>
        <p:spPr bwMode="auto">
          <a:xfrm>
            <a:off x="3786188" y="4089400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43" name="Line 170"/>
          <p:cNvSpPr>
            <a:spLocks noChangeShapeType="1"/>
          </p:cNvSpPr>
          <p:nvPr/>
        </p:nvSpPr>
        <p:spPr bwMode="auto">
          <a:xfrm>
            <a:off x="3786188" y="4089400"/>
            <a:ext cx="7937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44" name="Line 171"/>
          <p:cNvSpPr>
            <a:spLocks noChangeShapeType="1"/>
          </p:cNvSpPr>
          <p:nvPr/>
        </p:nvSpPr>
        <p:spPr bwMode="auto">
          <a:xfrm>
            <a:off x="3786188" y="4089400"/>
            <a:ext cx="1587" cy="95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45" name="Rectangle 172"/>
          <p:cNvSpPr>
            <a:spLocks noChangeArrowheads="1"/>
          </p:cNvSpPr>
          <p:nvPr/>
        </p:nvSpPr>
        <p:spPr bwMode="auto">
          <a:xfrm>
            <a:off x="3794125" y="4089400"/>
            <a:ext cx="22193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46" name="Line 173"/>
          <p:cNvSpPr>
            <a:spLocks noChangeShapeType="1"/>
          </p:cNvSpPr>
          <p:nvPr/>
        </p:nvSpPr>
        <p:spPr bwMode="auto">
          <a:xfrm>
            <a:off x="3794125" y="4089400"/>
            <a:ext cx="2219325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47" name="Rectangle 174"/>
          <p:cNvSpPr>
            <a:spLocks noChangeArrowheads="1"/>
          </p:cNvSpPr>
          <p:nvPr/>
        </p:nvSpPr>
        <p:spPr bwMode="auto">
          <a:xfrm>
            <a:off x="6013450" y="3595688"/>
            <a:ext cx="7938" cy="4937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48" name="Line 175"/>
          <p:cNvSpPr>
            <a:spLocks noChangeShapeType="1"/>
          </p:cNvSpPr>
          <p:nvPr/>
        </p:nvSpPr>
        <p:spPr bwMode="auto">
          <a:xfrm>
            <a:off x="6013450" y="3595688"/>
            <a:ext cx="1588" cy="4937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49" name="Rectangle 176"/>
          <p:cNvSpPr>
            <a:spLocks noChangeArrowheads="1"/>
          </p:cNvSpPr>
          <p:nvPr/>
        </p:nvSpPr>
        <p:spPr bwMode="auto">
          <a:xfrm>
            <a:off x="6013450" y="4089400"/>
            <a:ext cx="7938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50" name="Line 177"/>
          <p:cNvSpPr>
            <a:spLocks noChangeShapeType="1"/>
          </p:cNvSpPr>
          <p:nvPr/>
        </p:nvSpPr>
        <p:spPr bwMode="auto">
          <a:xfrm>
            <a:off x="6013450" y="4089400"/>
            <a:ext cx="7938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51" name="Line 178"/>
          <p:cNvSpPr>
            <a:spLocks noChangeShapeType="1"/>
          </p:cNvSpPr>
          <p:nvPr/>
        </p:nvSpPr>
        <p:spPr bwMode="auto">
          <a:xfrm>
            <a:off x="6013450" y="4089400"/>
            <a:ext cx="1588" cy="95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52" name="Rectangle 179"/>
          <p:cNvSpPr>
            <a:spLocks noChangeArrowheads="1"/>
          </p:cNvSpPr>
          <p:nvPr/>
        </p:nvSpPr>
        <p:spPr bwMode="auto">
          <a:xfrm>
            <a:off x="6021388" y="4089400"/>
            <a:ext cx="9271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53" name="Line 180"/>
          <p:cNvSpPr>
            <a:spLocks noChangeShapeType="1"/>
          </p:cNvSpPr>
          <p:nvPr/>
        </p:nvSpPr>
        <p:spPr bwMode="auto">
          <a:xfrm>
            <a:off x="6021388" y="4089400"/>
            <a:ext cx="92710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54" name="Rectangle 181"/>
          <p:cNvSpPr>
            <a:spLocks noChangeArrowheads="1"/>
          </p:cNvSpPr>
          <p:nvPr/>
        </p:nvSpPr>
        <p:spPr bwMode="auto">
          <a:xfrm>
            <a:off x="6948488" y="3595688"/>
            <a:ext cx="9525" cy="4937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55" name="Line 182"/>
          <p:cNvSpPr>
            <a:spLocks noChangeShapeType="1"/>
          </p:cNvSpPr>
          <p:nvPr/>
        </p:nvSpPr>
        <p:spPr bwMode="auto">
          <a:xfrm>
            <a:off x="6948488" y="3595688"/>
            <a:ext cx="1587" cy="4937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56" name="Rectangle 183"/>
          <p:cNvSpPr>
            <a:spLocks noChangeArrowheads="1"/>
          </p:cNvSpPr>
          <p:nvPr/>
        </p:nvSpPr>
        <p:spPr bwMode="auto">
          <a:xfrm>
            <a:off x="6948488" y="4089400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57" name="Line 184"/>
          <p:cNvSpPr>
            <a:spLocks noChangeShapeType="1"/>
          </p:cNvSpPr>
          <p:nvPr/>
        </p:nvSpPr>
        <p:spPr bwMode="auto">
          <a:xfrm>
            <a:off x="6948488" y="4089400"/>
            <a:ext cx="9525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58" name="Line 185"/>
          <p:cNvSpPr>
            <a:spLocks noChangeShapeType="1"/>
          </p:cNvSpPr>
          <p:nvPr/>
        </p:nvSpPr>
        <p:spPr bwMode="auto">
          <a:xfrm>
            <a:off x="6948488" y="4089400"/>
            <a:ext cx="1587" cy="95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59" name="Rectangle 186"/>
          <p:cNvSpPr>
            <a:spLocks noChangeArrowheads="1"/>
          </p:cNvSpPr>
          <p:nvPr/>
        </p:nvSpPr>
        <p:spPr bwMode="auto">
          <a:xfrm>
            <a:off x="6958013" y="4089400"/>
            <a:ext cx="86677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60" name="Line 187"/>
          <p:cNvSpPr>
            <a:spLocks noChangeShapeType="1"/>
          </p:cNvSpPr>
          <p:nvPr/>
        </p:nvSpPr>
        <p:spPr bwMode="auto">
          <a:xfrm>
            <a:off x="6958013" y="4089400"/>
            <a:ext cx="866775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61" name="Rectangle 188"/>
          <p:cNvSpPr>
            <a:spLocks noChangeArrowheads="1"/>
          </p:cNvSpPr>
          <p:nvPr/>
        </p:nvSpPr>
        <p:spPr bwMode="auto">
          <a:xfrm>
            <a:off x="7824788" y="3595688"/>
            <a:ext cx="17462" cy="4937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62" name="Line 189"/>
          <p:cNvSpPr>
            <a:spLocks noChangeShapeType="1"/>
          </p:cNvSpPr>
          <p:nvPr/>
        </p:nvSpPr>
        <p:spPr bwMode="auto">
          <a:xfrm>
            <a:off x="7824788" y="3595688"/>
            <a:ext cx="1587" cy="4937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63" name="Rectangle 190"/>
          <p:cNvSpPr>
            <a:spLocks noChangeArrowheads="1"/>
          </p:cNvSpPr>
          <p:nvPr/>
        </p:nvSpPr>
        <p:spPr bwMode="auto">
          <a:xfrm>
            <a:off x="7824788" y="4089400"/>
            <a:ext cx="17462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64" name="Line 191"/>
          <p:cNvSpPr>
            <a:spLocks noChangeShapeType="1"/>
          </p:cNvSpPr>
          <p:nvPr/>
        </p:nvSpPr>
        <p:spPr bwMode="auto">
          <a:xfrm>
            <a:off x="7824788" y="4089400"/>
            <a:ext cx="17462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65" name="Rectangle 192"/>
          <p:cNvSpPr>
            <a:spLocks noChangeArrowheads="1"/>
          </p:cNvSpPr>
          <p:nvPr/>
        </p:nvSpPr>
        <p:spPr bwMode="auto">
          <a:xfrm>
            <a:off x="1449388" y="4100513"/>
            <a:ext cx="3175" cy="1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00">
                <a:solidFill>
                  <a:srgbClr val="000000"/>
                </a:solidFill>
              </a:rPr>
              <a:t> </a:t>
            </a:r>
            <a:endParaRPr lang="en-US" sz="1200"/>
          </a:p>
        </p:txBody>
      </p:sp>
      <p:sp>
        <p:nvSpPr>
          <p:cNvPr id="24766" name="Rectangle 193"/>
          <p:cNvSpPr>
            <a:spLocks noChangeArrowheads="1"/>
          </p:cNvSpPr>
          <p:nvPr/>
        </p:nvSpPr>
        <p:spPr bwMode="auto">
          <a:xfrm>
            <a:off x="1449388" y="4132263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 </a:t>
            </a:r>
            <a:endParaRPr lang="en-US" sz="1200"/>
          </a:p>
        </p:txBody>
      </p:sp>
      <p:sp>
        <p:nvSpPr>
          <p:cNvPr id="24767" name="Rectangle 6"/>
          <p:cNvSpPr>
            <a:spLocks noChangeArrowheads="1"/>
          </p:cNvSpPr>
          <p:nvPr/>
        </p:nvSpPr>
        <p:spPr bwMode="auto">
          <a:xfrm>
            <a:off x="671513" y="4495800"/>
            <a:ext cx="7635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buFontTx/>
              <a:buChar char="•"/>
            </a:pPr>
            <a:r>
              <a:rPr lang="en-US" sz="2800">
                <a:solidFill>
                  <a:schemeClr val="tx1"/>
                </a:solidFill>
              </a:rPr>
              <a:t> </a:t>
            </a:r>
            <a:r>
              <a:rPr lang="en-US" sz="2400">
                <a:solidFill>
                  <a:schemeClr val="tx1"/>
                </a:solidFill>
                <a:latin typeface="Tahoma" pitchFamily="-32" charset="0"/>
              </a:rPr>
              <a:t>Cardinality = 3, arity = 5 , all rows distinct</a:t>
            </a:r>
          </a:p>
        </p:txBody>
      </p:sp>
      <p:sp>
        <p:nvSpPr>
          <p:cNvPr id="24768" name="Rectangle 7"/>
          <p:cNvSpPr>
            <a:spLocks noChangeArrowheads="1"/>
          </p:cNvSpPr>
          <p:nvPr/>
        </p:nvSpPr>
        <p:spPr bwMode="auto">
          <a:xfrm>
            <a:off x="671513" y="5121275"/>
            <a:ext cx="7340600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buFontTx/>
              <a:buChar char="•"/>
            </a:pPr>
            <a:r>
              <a:rPr lang="en-US" sz="2800">
                <a:solidFill>
                  <a:schemeClr val="tx1"/>
                </a:solidFill>
              </a:rPr>
              <a:t> </a:t>
            </a:r>
            <a:r>
              <a:rPr lang="en-US" sz="2400">
                <a:solidFill>
                  <a:schemeClr val="tx1"/>
                </a:solidFill>
                <a:latin typeface="Tahoma" pitchFamily="-32" charset="0"/>
              </a:rPr>
              <a:t>Do all values in each column of a relation instance </a:t>
            </a:r>
            <a:br>
              <a:rPr lang="en-US" sz="2400">
                <a:solidFill>
                  <a:schemeClr val="tx1"/>
                </a:solidFill>
                <a:latin typeface="Tahoma" pitchFamily="-32" charset="0"/>
              </a:rPr>
            </a:br>
            <a:r>
              <a:rPr lang="en-US" sz="2400">
                <a:solidFill>
                  <a:schemeClr val="tx1"/>
                </a:solidFill>
                <a:latin typeface="Tahoma" pitchFamily="-32" charset="0"/>
              </a:rPr>
              <a:t>    have to be distinct?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endParaRPr lang="en-US" smtClean="0">
              <a:solidFill>
                <a:srgbClr val="000000"/>
              </a:solidFill>
              <a:latin typeface="Times New Roman" pitchFamily="-32" charset="0"/>
            </a:endParaRPr>
          </a:p>
          <a:p>
            <a:endParaRPr lang="en-US" smtClean="0">
              <a:solidFill>
                <a:srgbClr val="000000"/>
              </a:solidFill>
              <a:latin typeface="Times New Roman" pitchFamily="-32" charset="0"/>
            </a:endParaRPr>
          </a:p>
        </p:txBody>
      </p:sp>
      <p:sp>
        <p:nvSpPr>
          <p:cNvPr id="20483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200"/>
          </a:p>
        </p:txBody>
      </p:sp>
      <p:sp>
        <p:nvSpPr>
          <p:cNvPr id="20484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200"/>
          </a:p>
        </p:txBody>
      </p:sp>
      <p:sp>
        <p:nvSpPr>
          <p:cNvPr id="20485" name="Rectangle 4"/>
          <p:cNvSpPr>
            <a:spLocks noGrp="1" noChangeArrowheads="1"/>
          </p:cNvSpPr>
          <p:nvPr>
            <p:ph type="title"/>
          </p:nvPr>
        </p:nvSpPr>
        <p:spPr>
          <a:xfrm>
            <a:off x="670560" y="381000"/>
            <a:ext cx="7772400" cy="1143000"/>
          </a:xfrm>
          <a:noFill/>
        </p:spPr>
        <p:txBody>
          <a:bodyPr/>
          <a:lstStyle/>
          <a:p>
            <a:r>
              <a:rPr lang="en-US" b="1" dirty="0" smtClean="0"/>
              <a:t>Relational Query Languages</a:t>
            </a:r>
          </a:p>
        </p:txBody>
      </p:sp>
      <p:sp>
        <p:nvSpPr>
          <p:cNvPr id="2048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76200" y="1676400"/>
            <a:ext cx="8839200" cy="4648200"/>
          </a:xfrm>
          <a:noFill/>
        </p:spPr>
        <p:txBody>
          <a:bodyPr/>
          <a:lstStyle/>
          <a:p>
            <a:r>
              <a:rPr lang="en-US" i="1" u="sng" dirty="0" smtClean="0"/>
              <a:t>Query languages</a:t>
            </a:r>
            <a:r>
              <a:rPr lang="en-US" i="1" dirty="0" smtClean="0"/>
              <a:t>: </a:t>
            </a:r>
            <a:r>
              <a:rPr lang="en-US" dirty="0" smtClean="0"/>
              <a:t> Allow manipulation and </a:t>
            </a:r>
            <a:r>
              <a:rPr lang="en-US" dirty="0" smtClean="0">
                <a:solidFill>
                  <a:schemeClr val="accent2"/>
                </a:solidFill>
              </a:rPr>
              <a:t>retrieval of data </a:t>
            </a:r>
            <a:r>
              <a:rPr lang="en-US" dirty="0" smtClean="0"/>
              <a:t>from a database.</a:t>
            </a:r>
          </a:p>
          <a:p>
            <a:r>
              <a:rPr lang="en-US" dirty="0" smtClean="0"/>
              <a:t>Relational model supports simple, powerful QLs:</a:t>
            </a:r>
          </a:p>
          <a:p>
            <a:pPr lvl="1"/>
            <a:r>
              <a:rPr lang="en-US" dirty="0" smtClean="0"/>
              <a:t>Strong formal foundation based on logic.</a:t>
            </a:r>
          </a:p>
          <a:p>
            <a:pPr lvl="1"/>
            <a:r>
              <a:rPr lang="en-US" dirty="0" smtClean="0"/>
              <a:t>Allows for much optimization.</a:t>
            </a:r>
          </a:p>
          <a:p>
            <a:r>
              <a:rPr lang="en-US" dirty="0" smtClean="0"/>
              <a:t>Query Languages </a:t>
            </a:r>
            <a:r>
              <a:rPr lang="en-US" b="0" dirty="0" smtClean="0">
                <a:solidFill>
                  <a:schemeClr val="accent2"/>
                </a:solidFill>
              </a:rPr>
              <a:t>!=</a:t>
            </a:r>
            <a:r>
              <a:rPr lang="en-US" dirty="0" smtClean="0"/>
              <a:t> programming languages!</a:t>
            </a:r>
          </a:p>
          <a:p>
            <a:pPr lvl="1"/>
            <a:r>
              <a:rPr lang="en-US" dirty="0" smtClean="0"/>
              <a:t>QLs not intended to be used for complex calculations.</a:t>
            </a:r>
          </a:p>
          <a:p>
            <a:pPr lvl="1"/>
            <a:r>
              <a:rPr lang="en-US" dirty="0" smtClean="0"/>
              <a:t>QLs support easy, efficient access to large data sets.</a:t>
            </a:r>
          </a:p>
        </p:txBody>
      </p:sp>
      <p:sp>
        <p:nvSpPr>
          <p:cNvPr id="7" name="Rectangle 5"/>
          <p:cNvSpPr txBox="1">
            <a:spLocks noChangeArrowheads="1"/>
          </p:cNvSpPr>
          <p:nvPr/>
        </p:nvSpPr>
        <p:spPr bwMode="auto">
          <a:xfrm>
            <a:off x="381000" y="5525453"/>
            <a:ext cx="8229600" cy="96678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x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smtClean="0"/>
              <a:t>A query is applied to </a:t>
            </a:r>
            <a:r>
              <a:rPr lang="en-US" i="1" smtClean="0">
                <a:solidFill>
                  <a:schemeClr val="accent2"/>
                </a:solidFill>
              </a:rPr>
              <a:t>relation instances</a:t>
            </a:r>
            <a:r>
              <a:rPr lang="en-US" smtClean="0"/>
              <a:t>, and the result of a query is also a relation instance.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41806573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A Logical View of Data</a:t>
            </a: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/>
              <a:t>Entities and Attributes</a:t>
            </a:r>
            <a:endParaRPr lang="en-US"/>
          </a:p>
          <a:p>
            <a:pPr lvl="1"/>
            <a:r>
              <a:rPr lang="en-US" sz="2000" b="1"/>
              <a:t>An </a:t>
            </a:r>
            <a:r>
              <a:rPr lang="en-US" sz="2000" b="1">
                <a:solidFill>
                  <a:srgbClr val="D60093"/>
                </a:solidFill>
              </a:rPr>
              <a:t>entity</a:t>
            </a:r>
            <a:r>
              <a:rPr lang="en-US" sz="2000" b="1"/>
              <a:t> is a person, place, event, or thing for which we intend to collect data.</a:t>
            </a:r>
          </a:p>
          <a:p>
            <a:pPr lvl="2"/>
            <a:r>
              <a:rPr lang="en-US" sz="1800" b="1"/>
              <a:t>University</a:t>
            </a:r>
            <a:r>
              <a:rPr lang="en-US" sz="1800"/>
              <a:t> -- Students, Faculty Members, Courses</a:t>
            </a:r>
          </a:p>
          <a:p>
            <a:pPr lvl="2"/>
            <a:r>
              <a:rPr lang="en-US" sz="1800" b="1"/>
              <a:t>Airlines</a:t>
            </a:r>
            <a:r>
              <a:rPr lang="en-US" sz="1800"/>
              <a:t> -- Pilots, Aircraft, Routes, Suppliers</a:t>
            </a:r>
            <a:r>
              <a:rPr lang="en-US"/>
              <a:t/>
            </a:r>
            <a:br>
              <a:rPr lang="en-US"/>
            </a:br>
            <a:endParaRPr lang="en-US"/>
          </a:p>
          <a:p>
            <a:pPr lvl="1"/>
            <a:r>
              <a:rPr lang="en-US" sz="2000" b="1"/>
              <a:t>Each entity has certain characteristics known as </a:t>
            </a:r>
            <a:r>
              <a:rPr lang="en-US" sz="2000" b="1">
                <a:solidFill>
                  <a:srgbClr val="D60093"/>
                </a:solidFill>
              </a:rPr>
              <a:t>attributes</a:t>
            </a:r>
            <a:r>
              <a:rPr lang="en-US" sz="2000" b="1"/>
              <a:t>.</a:t>
            </a:r>
            <a:endParaRPr lang="en-US"/>
          </a:p>
          <a:p>
            <a:pPr lvl="2"/>
            <a:r>
              <a:rPr lang="en-US" sz="1800" b="1"/>
              <a:t>Student</a:t>
            </a:r>
            <a:r>
              <a:rPr lang="en-US" sz="1800"/>
              <a:t> -- Student Number, Name, GPA, Date of Enrollment, Data of Birth, Home Address, Phone Number, Major</a:t>
            </a:r>
          </a:p>
          <a:p>
            <a:pPr lvl="2"/>
            <a:r>
              <a:rPr lang="en-US" sz="1800" b="1"/>
              <a:t>Aircraft</a:t>
            </a:r>
            <a:r>
              <a:rPr lang="en-US" sz="1800"/>
              <a:t> -- Aircraft Number, Date of Last Maintenance, Total Hours Flown, Hours Flown since Last Maintenance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2638148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A Logical View of Data</a:t>
            </a:r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/>
              <a:t>Entities and Attributes</a:t>
            </a:r>
          </a:p>
          <a:p>
            <a:pPr lvl="1">
              <a:spcBef>
                <a:spcPct val="60000"/>
              </a:spcBef>
            </a:pPr>
            <a:r>
              <a:rPr lang="en-US" sz="2000" b="1"/>
              <a:t>A grouping of related entities becomes an </a:t>
            </a:r>
            <a:r>
              <a:rPr lang="en-US" sz="2000" b="1">
                <a:solidFill>
                  <a:srgbClr val="D60093"/>
                </a:solidFill>
              </a:rPr>
              <a:t>entity set</a:t>
            </a:r>
            <a:r>
              <a:rPr lang="en-US" sz="2000" b="1"/>
              <a:t>.</a:t>
            </a:r>
          </a:p>
          <a:p>
            <a:pPr lvl="2">
              <a:spcBef>
                <a:spcPct val="60000"/>
              </a:spcBef>
            </a:pPr>
            <a:r>
              <a:rPr lang="en-US" sz="1800"/>
              <a:t>The STUDENT entity set contains all student entities.</a:t>
            </a:r>
          </a:p>
          <a:p>
            <a:pPr lvl="2">
              <a:spcBef>
                <a:spcPct val="60000"/>
              </a:spcBef>
            </a:pPr>
            <a:r>
              <a:rPr lang="en-US" sz="1800"/>
              <a:t>The FACULTY entity set contains all faculty entities.</a:t>
            </a:r>
          </a:p>
          <a:p>
            <a:pPr lvl="2">
              <a:spcBef>
                <a:spcPct val="60000"/>
              </a:spcBef>
            </a:pPr>
            <a:r>
              <a:rPr lang="en-US" sz="1800"/>
              <a:t>The AIRCRAFT entity set contains all aircraft entities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387733585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>
            <a:outerShdw dist="17961" dir="2700000" algn="ctr" rotWithShape="0">
              <a:srgbClr val="5F5F5F"/>
            </a:outerShdw>
          </a:effectLst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sz="3600"/>
              <a:t>A Logical View of Data</a:t>
            </a:r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sz="2400"/>
              <a:t>Tables and Their Characteristics</a:t>
            </a:r>
            <a:endParaRPr lang="en-US"/>
          </a:p>
          <a:p>
            <a:pPr lvl="1">
              <a:spcBef>
                <a:spcPct val="60000"/>
              </a:spcBef>
            </a:pPr>
            <a:r>
              <a:rPr lang="en-US" sz="2000" b="1"/>
              <a:t>A </a:t>
            </a:r>
            <a:r>
              <a:rPr lang="en-US" sz="2000" b="1">
                <a:solidFill>
                  <a:srgbClr val="D60093"/>
                </a:solidFill>
              </a:rPr>
              <a:t>table</a:t>
            </a:r>
            <a:r>
              <a:rPr lang="en-US" sz="2000" b="1"/>
              <a:t> contains a group of related entities -- i.e. an </a:t>
            </a:r>
            <a:r>
              <a:rPr lang="en-US" sz="2000" b="1">
                <a:solidFill>
                  <a:schemeClr val="accent2"/>
                </a:solidFill>
              </a:rPr>
              <a:t>entity set</a:t>
            </a:r>
            <a:r>
              <a:rPr lang="en-US" sz="2000" b="1"/>
              <a:t>.</a:t>
            </a:r>
          </a:p>
          <a:p>
            <a:pPr lvl="1">
              <a:spcBef>
                <a:spcPct val="60000"/>
              </a:spcBef>
            </a:pPr>
            <a:r>
              <a:rPr lang="en-US" sz="2000" b="1"/>
              <a:t>The terms </a:t>
            </a:r>
            <a:r>
              <a:rPr lang="en-US" sz="2000" b="1">
                <a:solidFill>
                  <a:srgbClr val="D60093"/>
                </a:solidFill>
              </a:rPr>
              <a:t>entity set</a:t>
            </a:r>
            <a:r>
              <a:rPr lang="en-US" sz="2000" b="1"/>
              <a:t> and </a:t>
            </a:r>
            <a:r>
              <a:rPr lang="en-US" sz="2000" b="1">
                <a:solidFill>
                  <a:srgbClr val="D60093"/>
                </a:solidFill>
              </a:rPr>
              <a:t>table</a:t>
            </a:r>
            <a:r>
              <a:rPr lang="en-US" sz="2000" b="1"/>
              <a:t> are often used interchangeably.</a:t>
            </a:r>
          </a:p>
          <a:p>
            <a:pPr lvl="1">
              <a:spcBef>
                <a:spcPct val="60000"/>
              </a:spcBef>
            </a:pPr>
            <a:r>
              <a:rPr lang="en-US" sz="2000" b="1"/>
              <a:t>A table is also called a </a:t>
            </a:r>
            <a:r>
              <a:rPr lang="en-US" sz="2000" b="1">
                <a:solidFill>
                  <a:srgbClr val="D60093"/>
                </a:solidFill>
              </a:rPr>
              <a:t>relation</a:t>
            </a:r>
            <a:r>
              <a:rPr lang="en-US" sz="2000" b="1"/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0466203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2" name="Picture 4" descr="D:\My Documents\Course Tech\Artwork\JPG\FINAL BMPS CH 02\Tbl2-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47166"/>
            <a:ext cx="8512718" cy="3931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1071040" y="941388"/>
            <a:ext cx="75985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1" dirty="0"/>
              <a:t>Summary of the Characteristics of a Relational Table</a:t>
            </a:r>
            <a:endParaRPr lang="en-US" sz="2000" b="1" dirty="0"/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1746250" y="5378450"/>
            <a:ext cx="1987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/>
              <a:t>Table 2.1</a:t>
            </a:r>
          </a:p>
        </p:txBody>
      </p:sp>
    </p:spTree>
    <p:extLst>
      <p:ext uri="{BB962C8B-B14F-4D97-AF65-F5344CB8AC3E}">
        <p14:creationId xmlns:p14="http://schemas.microsoft.com/office/powerpoint/2010/main" xmlns="" val="625852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3" descr="D:\My Documents\Course Tech\Artwork\JPG\FINAL BMPS CH 02\FIG2-0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524000"/>
            <a:ext cx="6864350" cy="4100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1600200" y="979488"/>
            <a:ext cx="6799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A Listing of the STUDENT Table Attribute Values</a:t>
            </a:r>
            <a:endParaRPr lang="en-US" sz="2000"/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1736725" y="5759450"/>
            <a:ext cx="2165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/>
              <a:t>Figure 2.1</a:t>
            </a:r>
          </a:p>
        </p:txBody>
      </p:sp>
    </p:spTree>
    <p:extLst>
      <p:ext uri="{BB962C8B-B14F-4D97-AF65-F5344CB8AC3E}">
        <p14:creationId xmlns:p14="http://schemas.microsoft.com/office/powerpoint/2010/main" xmlns="" val="231124982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>
            <a:outerShdw dist="17961" dir="2700000" algn="ctr" rotWithShape="0">
              <a:srgbClr val="5F5F5F"/>
            </a:outerShdw>
          </a:effectLst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sz="3600"/>
              <a:t>Keys</a:t>
            </a:r>
            <a:endParaRPr 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Aft>
                <a:spcPct val="40000"/>
              </a:spcAft>
            </a:pPr>
            <a:r>
              <a:rPr lang="en-US" sz="2400">
                <a:solidFill>
                  <a:schemeClr val="accent2"/>
                </a:solidFill>
              </a:rPr>
              <a:t>Controlled redundancy</a:t>
            </a:r>
            <a:r>
              <a:rPr lang="en-US" sz="2400"/>
              <a:t> (shared common attributes) makes the relational database work.</a:t>
            </a:r>
          </a:p>
          <a:p>
            <a:pPr>
              <a:spcBef>
                <a:spcPct val="80000"/>
              </a:spcBef>
              <a:spcAft>
                <a:spcPct val="40000"/>
              </a:spcAft>
            </a:pPr>
            <a:r>
              <a:rPr lang="en-US" sz="2400"/>
              <a:t>The </a:t>
            </a:r>
            <a:r>
              <a:rPr lang="en-US" sz="2400">
                <a:solidFill>
                  <a:srgbClr val="D60093"/>
                </a:solidFill>
              </a:rPr>
              <a:t>primary key</a:t>
            </a:r>
            <a:r>
              <a:rPr lang="en-US" sz="2400"/>
              <a:t> of one table appears again as the link (</a:t>
            </a:r>
            <a:r>
              <a:rPr lang="en-US" sz="2400">
                <a:solidFill>
                  <a:srgbClr val="D60093"/>
                </a:solidFill>
              </a:rPr>
              <a:t>foreign key</a:t>
            </a:r>
            <a:r>
              <a:rPr lang="en-US" sz="2400"/>
              <a:t>) in another table.</a:t>
            </a:r>
          </a:p>
          <a:p>
            <a:pPr>
              <a:spcBef>
                <a:spcPct val="80000"/>
              </a:spcBef>
              <a:spcAft>
                <a:spcPct val="40000"/>
              </a:spcAft>
            </a:pPr>
            <a:r>
              <a:rPr lang="en-US" sz="2400"/>
              <a:t>If the foreign key contains either matching values or nulls, the table(s) that make use of such a foreign key are said to exhibit </a:t>
            </a:r>
            <a:r>
              <a:rPr lang="en-US" sz="2400">
                <a:solidFill>
                  <a:srgbClr val="D60093"/>
                </a:solidFill>
              </a:rPr>
              <a:t>referential integrity</a:t>
            </a:r>
            <a:r>
              <a:rPr lang="en-US" b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397756142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1" name="Picture 3" descr="D:\My Documents\Course Tech\Artwork\JPG\FINAL BMPS CH 02\fig2-0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371600"/>
            <a:ext cx="6535738" cy="5154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1547813" y="990600"/>
            <a:ext cx="64658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/>
              <a:t>Figure 2.2     An Example of a Simple Relational Database</a:t>
            </a:r>
          </a:p>
        </p:txBody>
      </p:sp>
    </p:spTree>
    <p:extLst>
      <p:ext uri="{BB962C8B-B14F-4D97-AF65-F5344CB8AC3E}">
        <p14:creationId xmlns:p14="http://schemas.microsoft.com/office/powerpoint/2010/main" xmlns="" val="336967690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Keys</a:t>
            </a:r>
            <a:endParaRPr 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sz="2000" b="1"/>
              <a:t>A </a:t>
            </a:r>
            <a:r>
              <a:rPr lang="en-US" sz="2000" b="1">
                <a:solidFill>
                  <a:srgbClr val="D60093"/>
                </a:solidFill>
              </a:rPr>
              <a:t>key</a:t>
            </a:r>
            <a:r>
              <a:rPr lang="en-US" sz="2000" b="1"/>
              <a:t> helps define entity relationships. </a:t>
            </a:r>
          </a:p>
          <a:p>
            <a:pPr lvl="1">
              <a:spcBef>
                <a:spcPct val="60000"/>
              </a:spcBef>
            </a:pPr>
            <a:r>
              <a:rPr lang="en-US" sz="2000" b="1"/>
              <a:t>The key’s role is based on a concept known as </a:t>
            </a:r>
            <a:r>
              <a:rPr lang="en-US" sz="2000" b="1">
                <a:solidFill>
                  <a:srgbClr val="D60093"/>
                </a:solidFill>
              </a:rPr>
              <a:t>determination</a:t>
            </a:r>
            <a:r>
              <a:rPr lang="en-US" sz="2000" b="1"/>
              <a:t>, which is used in the definition of </a:t>
            </a:r>
            <a:r>
              <a:rPr lang="en-US" sz="2000" b="1">
                <a:solidFill>
                  <a:srgbClr val="D60093"/>
                </a:solidFill>
              </a:rPr>
              <a:t>functional dependence</a:t>
            </a:r>
            <a:r>
              <a:rPr lang="en-US" sz="2000" b="1"/>
              <a:t>.</a:t>
            </a:r>
          </a:p>
          <a:p>
            <a:pPr lvl="2">
              <a:spcBef>
                <a:spcPct val="60000"/>
              </a:spcBef>
            </a:pPr>
            <a:r>
              <a:rPr lang="en-US" sz="1800"/>
              <a:t>The attribute B is </a:t>
            </a:r>
            <a:r>
              <a:rPr lang="en-US" sz="1800">
                <a:solidFill>
                  <a:srgbClr val="D60093"/>
                </a:solidFill>
              </a:rPr>
              <a:t>functionally dependent</a:t>
            </a:r>
            <a:r>
              <a:rPr lang="en-US" sz="1800"/>
              <a:t> on A if A determines B.</a:t>
            </a:r>
          </a:p>
          <a:p>
            <a:pPr lvl="2">
              <a:spcBef>
                <a:spcPct val="60000"/>
              </a:spcBef>
            </a:pPr>
            <a:r>
              <a:rPr lang="en-US" sz="1800"/>
              <a:t>An attribute that is part of a key is known as a </a:t>
            </a:r>
            <a:r>
              <a:rPr lang="en-US" sz="1800">
                <a:solidFill>
                  <a:srgbClr val="D60093"/>
                </a:solidFill>
              </a:rPr>
              <a:t>key attribute</a:t>
            </a:r>
            <a:r>
              <a:rPr lang="en-US" sz="1800"/>
              <a:t>.</a:t>
            </a:r>
          </a:p>
          <a:p>
            <a:pPr lvl="2">
              <a:spcBef>
                <a:spcPct val="60000"/>
              </a:spcBef>
            </a:pPr>
            <a:r>
              <a:rPr lang="en-US" sz="1800"/>
              <a:t>A multi-attribute key is known as a </a:t>
            </a:r>
            <a:r>
              <a:rPr lang="en-US" sz="1800">
                <a:solidFill>
                  <a:srgbClr val="D60093"/>
                </a:solidFill>
              </a:rPr>
              <a:t>composite key</a:t>
            </a:r>
            <a:r>
              <a:rPr lang="en-US" sz="1800"/>
              <a:t>.</a:t>
            </a:r>
          </a:p>
          <a:p>
            <a:pPr lvl="2">
              <a:spcBef>
                <a:spcPct val="60000"/>
              </a:spcBef>
            </a:pPr>
            <a:r>
              <a:rPr lang="en-US" sz="1800"/>
              <a:t>If the attribute (B) is functionally dependent on a composite key (A) but not on any subset of that composite key, the attribute (B) is </a:t>
            </a:r>
            <a:r>
              <a:rPr lang="en-US" sz="1800">
                <a:solidFill>
                  <a:srgbClr val="D60093"/>
                </a:solidFill>
              </a:rPr>
              <a:t>fully functionally dependent</a:t>
            </a:r>
            <a:r>
              <a:rPr lang="en-US" sz="1800"/>
              <a:t> on (A).</a:t>
            </a:r>
          </a:p>
        </p:txBody>
      </p:sp>
    </p:spTree>
    <p:extLst>
      <p:ext uri="{BB962C8B-B14F-4D97-AF65-F5344CB8AC3E}">
        <p14:creationId xmlns:p14="http://schemas.microsoft.com/office/powerpoint/2010/main" xmlns="" val="169661374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6" name="Picture 4" descr="D:\My Documents\Course Tech\Artwork\JPG\FINAL BMPS CH 02\tbl2-0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5672" y="1752600"/>
            <a:ext cx="8173492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1616075" y="944563"/>
            <a:ext cx="479490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Relational Database Keys</a:t>
            </a:r>
            <a:endParaRPr lang="en-US" sz="6600" dirty="0">
              <a:solidFill>
                <a:srgbClr val="FF0000"/>
              </a:solidFill>
            </a:endParaRPr>
          </a:p>
        </p:txBody>
      </p:sp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3200400" y="5530850"/>
            <a:ext cx="1987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/>
              <a:t>Table 2.3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xmlns="" val="187251328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4" name="Picture 4" descr="D:\My Documents\Course Tech\Artwork\JPG\FINAL BMPS CH 02\tbl2-0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5800" y="1117438"/>
            <a:ext cx="7920038" cy="4126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1066800" y="538000"/>
            <a:ext cx="487665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200" b="1"/>
              <a:t>Integrity Rules Revisited</a:t>
            </a:r>
            <a:endParaRPr lang="en-US" sz="13800" b="1"/>
          </a:p>
        </p:txBody>
      </p:sp>
      <p:sp>
        <p:nvSpPr>
          <p:cNvPr id="35846" name="Text Box 6"/>
          <p:cNvSpPr txBox="1">
            <a:spLocks noChangeArrowheads="1"/>
          </p:cNvSpPr>
          <p:nvPr/>
        </p:nvSpPr>
        <p:spPr bwMode="auto">
          <a:xfrm>
            <a:off x="1828800" y="5607050"/>
            <a:ext cx="1987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/>
              <a:t>Table 2.4</a:t>
            </a:r>
          </a:p>
        </p:txBody>
      </p:sp>
    </p:spTree>
    <p:extLst>
      <p:ext uri="{BB962C8B-B14F-4D97-AF65-F5344CB8AC3E}">
        <p14:creationId xmlns:p14="http://schemas.microsoft.com/office/powerpoint/2010/main" xmlns="" val="358422115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1" name="Picture 3" descr="D:\My Documents\Course Tech\Artwork\JPG\FINAL BMPS CH 02\fig2-0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95400"/>
            <a:ext cx="6746875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1647825" y="1050925"/>
            <a:ext cx="52435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/>
              <a:t>Figure 2.4      An Illustration of Integrity Rules</a:t>
            </a:r>
          </a:p>
        </p:txBody>
      </p:sp>
    </p:spTree>
    <p:extLst>
      <p:ext uri="{BB962C8B-B14F-4D97-AF65-F5344CB8AC3E}">
        <p14:creationId xmlns:p14="http://schemas.microsoft.com/office/powerpoint/2010/main" xmlns="" val="156640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>
            <a:outerShdw dist="17961" dir="2700000" algn="ctr" rotWithShape="0">
              <a:srgbClr val="5F5F5F"/>
            </a:outerShdw>
          </a:effectLst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sz="3600"/>
              <a:t>Relational Database Operators</a:t>
            </a:r>
            <a:endParaRPr 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905000"/>
            <a:ext cx="7010400" cy="4724400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sz="2400"/>
              <a:t>The degree of relational completeness can be defined by the extent to which </a:t>
            </a:r>
            <a:r>
              <a:rPr lang="en-US" sz="2400">
                <a:solidFill>
                  <a:schemeClr val="accent2"/>
                </a:solidFill>
              </a:rPr>
              <a:t>relational algebra</a:t>
            </a:r>
            <a:r>
              <a:rPr lang="en-US" sz="2400"/>
              <a:t> is supported.</a:t>
            </a:r>
            <a:br>
              <a:rPr lang="en-US" sz="2400"/>
            </a:br>
            <a:endParaRPr lang="en-US" sz="2400"/>
          </a:p>
          <a:p>
            <a:r>
              <a:rPr lang="en-US" sz="2400">
                <a:solidFill>
                  <a:srgbClr val="D60093"/>
                </a:solidFill>
              </a:rPr>
              <a:t>Relational algebra</a:t>
            </a:r>
            <a:r>
              <a:rPr lang="en-US" sz="2400"/>
              <a:t> defines the theoretical way of manipulating table contents using the eight relational functions: </a:t>
            </a:r>
            <a:r>
              <a:rPr lang="en-US" sz="2400">
                <a:solidFill>
                  <a:srgbClr val="D60093"/>
                </a:solidFill>
              </a:rPr>
              <a:t>SELECT</a:t>
            </a:r>
            <a:r>
              <a:rPr lang="en-US" sz="2400"/>
              <a:t>, </a:t>
            </a:r>
            <a:r>
              <a:rPr lang="en-US" sz="2400">
                <a:solidFill>
                  <a:srgbClr val="D60093"/>
                </a:solidFill>
              </a:rPr>
              <a:t>PROJECT</a:t>
            </a:r>
            <a:r>
              <a:rPr lang="en-US" sz="2400"/>
              <a:t>, </a:t>
            </a:r>
            <a:r>
              <a:rPr lang="en-US" sz="2400">
                <a:solidFill>
                  <a:srgbClr val="D60093"/>
                </a:solidFill>
              </a:rPr>
              <a:t>JOIN</a:t>
            </a:r>
            <a:r>
              <a:rPr lang="en-US" sz="2400"/>
              <a:t>, </a:t>
            </a:r>
            <a:r>
              <a:rPr lang="en-US" sz="2400">
                <a:solidFill>
                  <a:srgbClr val="D60093"/>
                </a:solidFill>
              </a:rPr>
              <a:t>INTERSECT</a:t>
            </a:r>
            <a:r>
              <a:rPr lang="en-US" sz="2400"/>
              <a:t>, </a:t>
            </a:r>
            <a:r>
              <a:rPr lang="en-US" sz="2400">
                <a:solidFill>
                  <a:srgbClr val="D60093"/>
                </a:solidFill>
              </a:rPr>
              <a:t>UNION</a:t>
            </a:r>
            <a:r>
              <a:rPr lang="en-US" sz="2400"/>
              <a:t>, </a:t>
            </a:r>
            <a:r>
              <a:rPr lang="en-US" sz="2400">
                <a:solidFill>
                  <a:srgbClr val="D60093"/>
                </a:solidFill>
              </a:rPr>
              <a:t>DIFFERENCE</a:t>
            </a:r>
            <a:r>
              <a:rPr lang="en-US" sz="2400"/>
              <a:t>, </a:t>
            </a:r>
            <a:r>
              <a:rPr lang="en-US" sz="2400">
                <a:solidFill>
                  <a:srgbClr val="D60093"/>
                </a:solidFill>
              </a:rPr>
              <a:t>PRODUCT</a:t>
            </a:r>
            <a:r>
              <a:rPr lang="en-US" sz="2400"/>
              <a:t>, and </a:t>
            </a:r>
            <a:r>
              <a:rPr lang="en-US" sz="2400">
                <a:solidFill>
                  <a:srgbClr val="D60093"/>
                </a:solidFill>
              </a:rPr>
              <a:t>DIVIDE</a:t>
            </a:r>
            <a:r>
              <a:rPr lang="en-US" sz="2400"/>
              <a:t>.</a:t>
            </a:r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xmlns="" val="422219844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>
            <a:outerShdw dist="17961" dir="2700000" algn="ctr" rotWithShape="0">
              <a:srgbClr val="5F5F5F"/>
            </a:outerShdw>
          </a:effectLst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sz="3600"/>
              <a:t>Relational Database Operators</a:t>
            </a:r>
            <a:endParaRPr lang="en-US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600200"/>
            <a:ext cx="7010400" cy="858838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sz="2400" dirty="0">
                <a:solidFill>
                  <a:srgbClr val="D60093"/>
                </a:solidFill>
              </a:rPr>
              <a:t>SELECT </a:t>
            </a:r>
            <a:r>
              <a:rPr lang="en-US" sz="2400" dirty="0"/>
              <a:t>yields values for </a:t>
            </a:r>
            <a:r>
              <a:rPr lang="en-US" sz="2400" dirty="0">
                <a:solidFill>
                  <a:schemeClr val="accent2"/>
                </a:solidFill>
              </a:rPr>
              <a:t>all attributes</a:t>
            </a:r>
            <a:r>
              <a:rPr lang="en-US" sz="2400" dirty="0"/>
              <a:t> found in a table. It yields a </a:t>
            </a:r>
            <a:r>
              <a:rPr lang="en-US" sz="2400" dirty="0">
                <a:solidFill>
                  <a:schemeClr val="accent2"/>
                </a:solidFill>
              </a:rPr>
              <a:t>horizontal subset</a:t>
            </a:r>
            <a:r>
              <a:rPr lang="en-US" sz="2400" dirty="0"/>
              <a:t> of a table.</a:t>
            </a:r>
          </a:p>
        </p:txBody>
      </p:sp>
      <p:pic>
        <p:nvPicPr>
          <p:cNvPr id="50181" name="Picture 5" descr="D:\My Documents\Course Tech\Artwork\JPG\FINAL BMPS CH 02\fig2-0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47553" y="2895600"/>
            <a:ext cx="5832475" cy="389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719771" y="3505200"/>
            <a:ext cx="2078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ym typeface="Symbol"/>
              </a:rPr>
              <a:t> (S)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6719771" y="4580265"/>
            <a:ext cx="2078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ym typeface="Symbol"/>
              </a:rPr>
              <a:t></a:t>
            </a:r>
            <a:r>
              <a:rPr lang="en-US" sz="2800" baseline="-25000" dirty="0" smtClean="0">
                <a:sym typeface="Symbol"/>
              </a:rPr>
              <a:t>price&lt;2.00 </a:t>
            </a:r>
            <a:r>
              <a:rPr lang="en-US" sz="2800" dirty="0" smtClean="0">
                <a:sym typeface="Symbol"/>
              </a:rPr>
              <a:t>(S)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6710907" y="5410195"/>
            <a:ext cx="2590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ym typeface="Symbol"/>
              </a:rPr>
              <a:t></a:t>
            </a:r>
            <a:r>
              <a:rPr lang="en-US" sz="2800" baseline="-25000" dirty="0" err="1" smtClean="0">
                <a:sym typeface="Symbol"/>
              </a:rPr>
              <a:t>p_code</a:t>
            </a:r>
            <a:r>
              <a:rPr lang="en-US" sz="2800" baseline="-25000" dirty="0" smtClean="0">
                <a:sym typeface="Symbol"/>
              </a:rPr>
              <a:t>=311652 </a:t>
            </a:r>
            <a:r>
              <a:rPr lang="en-US" sz="2800" dirty="0" smtClean="0">
                <a:sym typeface="Symbol"/>
              </a:rPr>
              <a:t>(S)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3191893" y="318764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ym typeface="Symbol"/>
              </a:rPr>
              <a:t>(S)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xmlns="" val="97140107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1143000"/>
          </a:xfrm>
          <a:noFill/>
          <a:ln/>
          <a:effectLst>
            <a:outerShdw dist="17961" dir="2700000" algn="ctr" rotWithShape="0">
              <a:srgbClr val="5F5F5F"/>
            </a:outerShdw>
          </a:effectLst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sz="3600" dirty="0"/>
              <a:t>Relational Database Operators</a:t>
            </a:r>
            <a:endParaRPr lang="en-US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7800" y="1447800"/>
            <a:ext cx="7010400" cy="930275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dirty="0" smtClean="0">
                <a:solidFill>
                  <a:srgbClr val="D60093"/>
                </a:solidFill>
              </a:rPr>
              <a:t>PROJECT (</a:t>
            </a:r>
            <a:r>
              <a:rPr lang="en-US" dirty="0" smtClean="0">
                <a:sym typeface="Symbol"/>
              </a:rPr>
              <a:t>)</a:t>
            </a:r>
            <a:r>
              <a:rPr lang="en-US" dirty="0" smtClean="0">
                <a:solidFill>
                  <a:srgbClr val="D60093"/>
                </a:solidFill>
              </a:rPr>
              <a:t> </a:t>
            </a:r>
            <a:r>
              <a:rPr lang="en-US" dirty="0"/>
              <a:t>produces a list of all values for selected attributes. It yields a </a:t>
            </a:r>
            <a:r>
              <a:rPr lang="en-US" dirty="0">
                <a:solidFill>
                  <a:schemeClr val="accent2"/>
                </a:solidFill>
              </a:rPr>
              <a:t>vertical subset</a:t>
            </a:r>
            <a:r>
              <a:rPr lang="en-US" dirty="0"/>
              <a:t> of a table.</a:t>
            </a:r>
          </a:p>
        </p:txBody>
      </p:sp>
      <p:pic>
        <p:nvPicPr>
          <p:cNvPr id="52229" name="Picture 5" descr="D:\My Documents\Course Tech\Artwork\JPG\FINAL BMPS CH 02\fig2-1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7480" b="4987"/>
          <a:stretch>
            <a:fillRect/>
          </a:stretch>
        </p:blipFill>
        <p:spPr bwMode="auto">
          <a:xfrm>
            <a:off x="914400" y="2752408"/>
            <a:ext cx="5786438" cy="384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700838" y="3108960"/>
            <a:ext cx="175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ym typeface="Symbol"/>
              </a:rPr>
              <a:t></a:t>
            </a:r>
            <a:r>
              <a:rPr lang="en-US" sz="2000" baseline="-25000" dirty="0" smtClean="0">
                <a:sym typeface="Symbol"/>
              </a:rPr>
              <a:t>price</a:t>
            </a:r>
            <a:r>
              <a:rPr lang="en-US" sz="2800" dirty="0" smtClean="0">
                <a:sym typeface="Symbol"/>
              </a:rPr>
              <a:t> (S)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2926080" y="273962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ym typeface="Symbol"/>
              </a:rPr>
              <a:t>(S)</a:t>
            </a:r>
            <a:endParaRPr lang="en-US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6700838" y="4267200"/>
            <a:ext cx="23669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ym typeface="Symbol"/>
              </a:rPr>
              <a:t></a:t>
            </a:r>
            <a:r>
              <a:rPr lang="en-US" sz="2000" baseline="-25000" dirty="0" err="1" smtClean="0">
                <a:sym typeface="Symbol"/>
              </a:rPr>
              <a:t>p_descript</a:t>
            </a:r>
            <a:r>
              <a:rPr lang="en-US" sz="2000" baseline="-25000" dirty="0" smtClean="0">
                <a:sym typeface="Symbol"/>
              </a:rPr>
              <a:t>,</a:t>
            </a:r>
            <a:r>
              <a:rPr lang="en-US" sz="2000" dirty="0" smtClean="0">
                <a:sym typeface="Symbol"/>
              </a:rPr>
              <a:t> </a:t>
            </a:r>
            <a:r>
              <a:rPr lang="en-US" sz="2000" baseline="-25000" dirty="0" smtClean="0">
                <a:sym typeface="Symbol"/>
              </a:rPr>
              <a:t>price</a:t>
            </a:r>
            <a:r>
              <a:rPr lang="en-US" sz="2800" dirty="0" smtClean="0">
                <a:sym typeface="Symbol"/>
              </a:rPr>
              <a:t> (S)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5410200" y="5863368"/>
            <a:ext cx="3588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ym typeface="Symbol"/>
              </a:rPr>
              <a:t></a:t>
            </a:r>
            <a:r>
              <a:rPr lang="en-US" sz="2800" baseline="-25000" dirty="0" smtClean="0">
                <a:sym typeface="Symbol"/>
              </a:rPr>
              <a:t>price(</a:t>
            </a:r>
            <a:r>
              <a:rPr lang="en-US" sz="2800" dirty="0" smtClean="0">
                <a:sym typeface="Symbol"/>
              </a:rPr>
              <a:t></a:t>
            </a:r>
            <a:r>
              <a:rPr lang="en-US" sz="2800" baseline="-25000" dirty="0" err="1" smtClean="0">
                <a:sym typeface="Symbol"/>
              </a:rPr>
              <a:t>p_code</a:t>
            </a:r>
            <a:r>
              <a:rPr lang="en-US" sz="2800" baseline="-25000" dirty="0" smtClean="0">
                <a:sym typeface="Symbol"/>
              </a:rPr>
              <a:t>=213345</a:t>
            </a:r>
            <a:r>
              <a:rPr lang="en-US" sz="3600" dirty="0" smtClean="0">
                <a:sym typeface="Symbol"/>
              </a:rPr>
              <a:t> </a:t>
            </a:r>
            <a:r>
              <a:rPr lang="en-US" sz="2800" dirty="0" smtClean="0">
                <a:sym typeface="Symbol"/>
              </a:rPr>
              <a:t>(S))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268208393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>
            <a:outerShdw dist="17961" dir="2700000" algn="ctr" rotWithShape="0">
              <a:srgbClr val="5F5F5F"/>
            </a:outerShdw>
          </a:effectLst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sz="3600"/>
              <a:t>Relational Database Operators</a:t>
            </a:r>
            <a:endParaRPr 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828800"/>
            <a:ext cx="7010400" cy="1001713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sz="2400">
                <a:solidFill>
                  <a:srgbClr val="D60093"/>
                </a:solidFill>
              </a:rPr>
              <a:t>UNION </a:t>
            </a:r>
            <a:r>
              <a:rPr lang="en-US" sz="2400"/>
              <a:t>combines all rows from two tables. The two tables must be </a:t>
            </a:r>
            <a:r>
              <a:rPr lang="en-US" sz="2400">
                <a:solidFill>
                  <a:schemeClr val="accent2"/>
                </a:solidFill>
              </a:rPr>
              <a:t>union compatible</a:t>
            </a:r>
            <a:r>
              <a:rPr lang="en-US" sz="2400"/>
              <a:t>.</a:t>
            </a:r>
          </a:p>
        </p:txBody>
      </p:sp>
      <p:pic>
        <p:nvPicPr>
          <p:cNvPr id="41989" name="Picture 5" descr="D:\My Documents\Course Tech\Artwork\JPG\FINAL BMPS CH 02\fig2-0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333574"/>
            <a:ext cx="6389688" cy="2297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2209800" y="5486400"/>
            <a:ext cx="37068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Figure 2.5    UNION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8400" y="4648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ym typeface="Symbol"/>
              </a:rPr>
              <a:t>(S)</a:t>
            </a:r>
            <a:endParaRPr lang="en-US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4718844" y="448213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ym typeface="Symbol"/>
              </a:rPr>
              <a:t>(R)</a:t>
            </a:r>
            <a:endParaRPr lang="en-US" sz="1800" dirty="0"/>
          </a:p>
        </p:txBody>
      </p:sp>
      <p:sp>
        <p:nvSpPr>
          <p:cNvPr id="8" name="TextBox 7"/>
          <p:cNvSpPr txBox="1"/>
          <p:nvPr/>
        </p:nvSpPr>
        <p:spPr>
          <a:xfrm>
            <a:off x="7010400" y="485146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ym typeface="Symbol"/>
              </a:rPr>
              <a:t>S </a:t>
            </a:r>
            <a:r>
              <a:rPr lang="en-US" sz="1800" dirty="0" smtClean="0">
                <a:solidFill>
                  <a:schemeClr val="tx1"/>
                </a:solidFill>
                <a:sym typeface="Symbol"/>
              </a:rPr>
              <a:t>U</a:t>
            </a:r>
            <a:r>
              <a:rPr lang="en-US" sz="1800" dirty="0" smtClean="0">
                <a:sym typeface="Symbol"/>
              </a:rPr>
              <a:t> 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xmlns="" val="258990367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>
            <a:outerShdw dist="17961" dir="2700000" algn="ctr" rotWithShape="0">
              <a:srgbClr val="5F5F5F"/>
            </a:outerShdw>
          </a:effectLst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sz="3600"/>
              <a:t>Relational Database Operators</a:t>
            </a:r>
            <a:endParaRPr 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0013" y="1600200"/>
            <a:ext cx="7010400" cy="1360488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sz="2400" dirty="0">
                <a:solidFill>
                  <a:srgbClr val="D60093"/>
                </a:solidFill>
              </a:rPr>
              <a:t>INTERSECT </a:t>
            </a:r>
            <a:r>
              <a:rPr lang="en-US" sz="2400" dirty="0"/>
              <a:t>produces a listing that contains only the rows that appear in both tables. The two tables must be </a:t>
            </a:r>
            <a:r>
              <a:rPr lang="en-US" sz="2400" dirty="0">
                <a:solidFill>
                  <a:schemeClr val="accent2"/>
                </a:solidFill>
              </a:rPr>
              <a:t>union compatible.</a:t>
            </a:r>
            <a:endParaRPr lang="en-US" sz="2400" dirty="0"/>
          </a:p>
        </p:txBody>
      </p:sp>
      <p:pic>
        <p:nvPicPr>
          <p:cNvPr id="44037" name="Picture 5" descr="D:\My Documents\Course Tech\Artwork\JPG\FINAL BMPS CH 02\fig2-0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009775" y="3198813"/>
            <a:ext cx="6370638" cy="215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4038" name="Text Box 6"/>
          <p:cNvSpPr txBox="1">
            <a:spLocks noChangeArrowheads="1"/>
          </p:cNvSpPr>
          <p:nvPr/>
        </p:nvSpPr>
        <p:spPr bwMode="auto">
          <a:xfrm>
            <a:off x="1905000" y="5516563"/>
            <a:ext cx="46005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Figure 2.6   INTERSECT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43965" y="4626934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ym typeface="Symbol"/>
              </a:rPr>
              <a:t>(S)</a:t>
            </a:r>
            <a:endParaRPr lang="en-US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4890294" y="44422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ym typeface="Symbol"/>
              </a:rPr>
              <a:t>(R)</a:t>
            </a:r>
            <a:endParaRPr lang="en-US" sz="1800" dirty="0"/>
          </a:p>
        </p:txBody>
      </p:sp>
      <p:sp>
        <p:nvSpPr>
          <p:cNvPr id="8" name="TextBox 7"/>
          <p:cNvSpPr txBox="1"/>
          <p:nvPr/>
        </p:nvSpPr>
        <p:spPr>
          <a:xfrm>
            <a:off x="7086600" y="425760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ym typeface="Symbol"/>
              </a:rPr>
              <a:t>S </a:t>
            </a:r>
            <a:r>
              <a:rPr lang="en-US" sz="1800" dirty="0">
                <a:solidFill>
                  <a:schemeClr val="tx1"/>
                </a:solidFill>
                <a:sym typeface="Symbol"/>
              </a:rPr>
              <a:t></a:t>
            </a:r>
            <a:r>
              <a:rPr lang="en-US" sz="1800" dirty="0" smtClean="0">
                <a:sym typeface="Symbol"/>
              </a:rPr>
              <a:t> 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xmlns="" val="241921403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>
            <a:outerShdw dist="17961" dir="2700000" algn="ctr" rotWithShape="0">
              <a:srgbClr val="5F5F5F"/>
            </a:outerShdw>
          </a:effectLst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sz="3600"/>
              <a:t>Relational Database Operators</a:t>
            </a: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828800"/>
            <a:ext cx="7010400" cy="1646238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sz="2400">
                <a:solidFill>
                  <a:srgbClr val="D60093"/>
                </a:solidFill>
              </a:rPr>
              <a:t>DIFFERENCE </a:t>
            </a:r>
            <a:r>
              <a:rPr lang="en-US" sz="2400"/>
              <a:t>yields all rows in one table that are not found in the other table; i.e., it subtracts one table from the other. The tables must be </a:t>
            </a:r>
            <a:r>
              <a:rPr lang="en-US" sz="2400">
                <a:solidFill>
                  <a:schemeClr val="accent2"/>
                </a:solidFill>
              </a:rPr>
              <a:t>union compatible</a:t>
            </a:r>
            <a:r>
              <a:rPr lang="en-US" sz="2400"/>
              <a:t>.</a:t>
            </a:r>
            <a:endParaRPr lang="en-US"/>
          </a:p>
        </p:txBody>
      </p:sp>
      <p:pic>
        <p:nvPicPr>
          <p:cNvPr id="46085" name="Picture 5" descr="D:\My Documents\Course Tech\Artwork\JPG\FINAL BMPS CH 02\fig2-0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444875"/>
            <a:ext cx="6353175" cy="211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1889125" y="5505450"/>
            <a:ext cx="49942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Figure 2.7    DIFFERENCE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43965" y="484416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ym typeface="Symbol"/>
              </a:rPr>
              <a:t>(S)</a:t>
            </a:r>
            <a:endParaRPr lang="en-US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4890294" y="44422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ym typeface="Symbol"/>
              </a:rPr>
              <a:t>(R)</a:t>
            </a:r>
            <a:endParaRPr lang="en-US" sz="1800" dirty="0"/>
          </a:p>
        </p:txBody>
      </p:sp>
      <p:sp>
        <p:nvSpPr>
          <p:cNvPr id="8" name="TextBox 7"/>
          <p:cNvSpPr txBox="1"/>
          <p:nvPr/>
        </p:nvSpPr>
        <p:spPr>
          <a:xfrm>
            <a:off x="7086600" y="457659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ym typeface="Symbol"/>
              </a:rPr>
              <a:t>S </a:t>
            </a:r>
            <a:r>
              <a:rPr lang="en-US" sz="1800" dirty="0" smtClean="0">
                <a:solidFill>
                  <a:schemeClr val="tx1"/>
                </a:solidFill>
                <a:sym typeface="Symbol"/>
              </a:rPr>
              <a:t>-</a:t>
            </a:r>
            <a:r>
              <a:rPr lang="en-US" sz="1800" dirty="0" smtClean="0">
                <a:sym typeface="Symbol"/>
              </a:rPr>
              <a:t> 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xmlns="" val="303606619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>
            <a:outerShdw dist="17961" dir="2700000" algn="ctr" rotWithShape="0">
              <a:srgbClr val="5F5F5F"/>
            </a:outerShdw>
          </a:effectLst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sz="3600"/>
              <a:t>Relational Database Operators</a:t>
            </a:r>
            <a:endParaRPr 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828800"/>
            <a:ext cx="7010400" cy="1001713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sz="2400">
                <a:solidFill>
                  <a:srgbClr val="D60093"/>
                </a:solidFill>
              </a:rPr>
              <a:t>PRODUCT</a:t>
            </a:r>
            <a:r>
              <a:rPr lang="en-US" sz="2400"/>
              <a:t> produces a list of all possible pairs of rows from two tables.</a:t>
            </a:r>
            <a:endParaRPr lang="en-US" b="0"/>
          </a:p>
        </p:txBody>
      </p:sp>
      <p:pic>
        <p:nvPicPr>
          <p:cNvPr id="48133" name="Picture 5" descr="D:\My Documents\Course Tech\Artwork\JPG\FINAL BMPS CH 02\fig2-0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971800"/>
            <a:ext cx="6353175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8134" name="Text Box 6"/>
          <p:cNvSpPr txBox="1">
            <a:spLocks noChangeArrowheads="1"/>
          </p:cNvSpPr>
          <p:nvPr/>
        </p:nvSpPr>
        <p:spPr bwMode="auto">
          <a:xfrm>
            <a:off x="1965325" y="5200650"/>
            <a:ext cx="43608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Figure 2.8   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8400" y="408534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ym typeface="Symbol"/>
              </a:rPr>
              <a:t>(S)</a:t>
            </a:r>
            <a:endParaRPr lang="en-US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4311905" y="40431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ym typeface="Symbol"/>
              </a:rPr>
              <a:t>(R)</a:t>
            </a:r>
            <a:endParaRPr lang="en-US" sz="1800" dirty="0"/>
          </a:p>
        </p:txBody>
      </p:sp>
      <p:sp>
        <p:nvSpPr>
          <p:cNvPr id="8" name="TextBox 7"/>
          <p:cNvSpPr txBox="1"/>
          <p:nvPr/>
        </p:nvSpPr>
        <p:spPr>
          <a:xfrm>
            <a:off x="6450416" y="440714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ym typeface="Symbol"/>
              </a:rPr>
              <a:t>S </a:t>
            </a:r>
            <a:r>
              <a:rPr lang="en-US" sz="1800" dirty="0" smtClean="0">
                <a:solidFill>
                  <a:schemeClr val="tx1"/>
                </a:solidFill>
                <a:sym typeface="Symbol"/>
              </a:rPr>
              <a:t></a:t>
            </a:r>
            <a:r>
              <a:rPr lang="en-US" sz="1800" dirty="0" smtClean="0">
                <a:sym typeface="Symbol"/>
              </a:rPr>
              <a:t> 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xmlns="" val="36769051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>
            <a:outerShdw dist="17961" dir="2700000" algn="ctr" rotWithShape="0">
              <a:srgbClr val="5F5F5F"/>
            </a:outerShdw>
          </a:effectLst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sz="3600"/>
              <a:t>Relational Database Operators</a:t>
            </a:r>
            <a:endParaRPr lang="en-US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798638"/>
            <a:ext cx="7772400" cy="4114800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sz="2400" dirty="0">
                <a:solidFill>
                  <a:srgbClr val="D60093"/>
                </a:solidFill>
              </a:rPr>
              <a:t>JOIN </a:t>
            </a:r>
            <a:r>
              <a:rPr lang="en-US" sz="2400" dirty="0"/>
              <a:t>allows us to </a:t>
            </a:r>
            <a:r>
              <a:rPr lang="en-US" sz="2400" dirty="0">
                <a:solidFill>
                  <a:schemeClr val="accent2"/>
                </a:solidFill>
              </a:rPr>
              <a:t>combine</a:t>
            </a:r>
            <a:r>
              <a:rPr lang="en-US" sz="2400" dirty="0"/>
              <a:t> information from two or more tables. </a:t>
            </a:r>
            <a:r>
              <a:rPr lang="en-US" sz="2400" dirty="0">
                <a:solidFill>
                  <a:schemeClr val="accent2"/>
                </a:solidFill>
              </a:rPr>
              <a:t>JOIN is the real power behind the relational database, allowing the use of independent tables linked by common attributes.</a:t>
            </a:r>
          </a:p>
        </p:txBody>
      </p:sp>
      <p:pic>
        <p:nvPicPr>
          <p:cNvPr id="54277" name="Picture 5" descr="D:\My Documents\Course Tech\Artwork\JPG\FINAL BMPS CH 02\fig2-1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16666" y="3740895"/>
            <a:ext cx="6445250" cy="2620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177715" y="411303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ym typeface="Symbol"/>
              </a:rPr>
              <a:t>(S)</a:t>
            </a:r>
            <a:endParaRPr lang="en-US" sz="1800" dirty="0"/>
          </a:p>
        </p:txBody>
      </p:sp>
      <p:sp>
        <p:nvSpPr>
          <p:cNvPr id="10" name="TextBox 9"/>
          <p:cNvSpPr txBox="1"/>
          <p:nvPr/>
        </p:nvSpPr>
        <p:spPr>
          <a:xfrm>
            <a:off x="6836734" y="411303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ym typeface="Symbol"/>
              </a:rPr>
              <a:t>(R)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xmlns="" val="375870517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Relational Database Operators</a:t>
            </a:r>
            <a:endParaRPr lang="en-US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sz="2400" b="1">
                <a:solidFill>
                  <a:srgbClr val="D60093"/>
                </a:solidFill>
              </a:rPr>
              <a:t>Natural JOIN</a:t>
            </a:r>
            <a:r>
              <a:rPr lang="en-US" sz="2400" b="1"/>
              <a:t> links tables by selecting only the rows with common values in their common attribute(s). It is the result of a three-stage process:</a:t>
            </a:r>
          </a:p>
          <a:p>
            <a:pPr lvl="2">
              <a:spcBef>
                <a:spcPct val="60000"/>
              </a:spcBef>
            </a:pPr>
            <a:r>
              <a:rPr lang="en-US" sz="2000" b="1"/>
              <a:t>A PRODUCT of the tables is created. (Figure 2.12) </a:t>
            </a:r>
          </a:p>
          <a:p>
            <a:pPr lvl="2">
              <a:spcBef>
                <a:spcPct val="60000"/>
              </a:spcBef>
            </a:pPr>
            <a:r>
              <a:rPr lang="en-US" sz="2000" b="1"/>
              <a:t>A SELECT is performed on the output of the first step to yield only the rows for which the common attribute values match. (Figure 2.13)</a:t>
            </a:r>
          </a:p>
          <a:p>
            <a:pPr lvl="2">
              <a:spcBef>
                <a:spcPct val="60000"/>
              </a:spcBef>
            </a:pPr>
            <a:r>
              <a:rPr lang="en-US" sz="2000" b="1"/>
              <a:t>A PROJECT is performed to yield a single copy of each attribute, thereby eliminating the duplicate column. (Figure 2.14)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3020473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1" name="Picture 3" descr="D:\My Documents\Course Tech\Artwork\JPG\FINAL BMPS CH 02\fig2-1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609437"/>
            <a:ext cx="6638925" cy="4248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8372" name="Text Box 4"/>
          <p:cNvSpPr txBox="1">
            <a:spLocks noChangeArrowheads="1"/>
          </p:cNvSpPr>
          <p:nvPr/>
        </p:nvSpPr>
        <p:spPr bwMode="auto">
          <a:xfrm>
            <a:off x="533400" y="152400"/>
            <a:ext cx="4554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Natural Join, Step 1:  PRODUCT</a:t>
            </a:r>
            <a:endParaRPr lang="en-US" sz="2000" dirty="0"/>
          </a:p>
        </p:txBody>
      </p:sp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7705725" y="6324600"/>
            <a:ext cx="13115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/>
              <a:t>Figure 2.12</a:t>
            </a:r>
          </a:p>
        </p:txBody>
      </p:sp>
      <p:pic>
        <p:nvPicPr>
          <p:cNvPr id="5" name="Picture 5" descr="D:\My Documents\Course Tech\Artwork\JPG\FINAL BMPS CH 02\fig2-1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96284" y="579438"/>
            <a:ext cx="6445250" cy="2239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557333" y="8665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ym typeface="Symbol"/>
              </a:rPr>
              <a:t>(S)</a:t>
            </a:r>
            <a:endParaRPr lang="en-US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6216352" y="87714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ym typeface="Symbol"/>
              </a:rPr>
              <a:t>(R)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xmlns="" val="228170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6" name="Picture 4" descr="D:\My Documents\Course Tech\Artwork\JPG\FINAL BMPS CH 02\fig2-1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370013"/>
            <a:ext cx="6462713" cy="2058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9397" name="Picture 5" descr="D:\My Documents\Course Tech\Artwork\JPG\FINAL BMPS CH 02\fig2-1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187825"/>
            <a:ext cx="5392738" cy="206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9398" name="Text Box 6"/>
          <p:cNvSpPr txBox="1">
            <a:spLocks noChangeArrowheads="1"/>
          </p:cNvSpPr>
          <p:nvPr/>
        </p:nvSpPr>
        <p:spPr bwMode="auto">
          <a:xfrm>
            <a:off x="1600200" y="865188"/>
            <a:ext cx="587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Figure 2.13  Natural Join, Step 2:  SELECT</a:t>
            </a:r>
          </a:p>
        </p:txBody>
      </p:sp>
      <p:sp>
        <p:nvSpPr>
          <p:cNvPr id="59399" name="Text Box 7"/>
          <p:cNvSpPr txBox="1">
            <a:spLocks noChangeArrowheads="1"/>
          </p:cNvSpPr>
          <p:nvPr/>
        </p:nvSpPr>
        <p:spPr bwMode="auto">
          <a:xfrm>
            <a:off x="1614488" y="3516313"/>
            <a:ext cx="6092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Figure 2.14  Natural Join, Step 3:  PROJECT</a:t>
            </a:r>
            <a:endParaRPr lang="en-US" sz="2000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8026090" y="4785646"/>
            <a:ext cx="1107676" cy="436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>
              <a:lnSpc>
                <a:spcPts val="3400"/>
              </a:lnSpc>
            </a:pPr>
            <a:r>
              <a:rPr lang="en-US" sz="2800" b="1" dirty="0" smtClean="0">
                <a:solidFill>
                  <a:srgbClr val="FF0000"/>
                </a:solidFill>
              </a:rPr>
              <a:t>S</a:t>
            </a:r>
            <a:r>
              <a:rPr lang="en-US" sz="2800" b="1" dirty="0" smtClean="0">
                <a:solidFill>
                  <a:srgbClr val="000000"/>
                </a:solidFill>
              </a:rPr>
              <a:t>      </a:t>
            </a:r>
            <a:r>
              <a:rPr lang="en-US" sz="2800" b="1" dirty="0" smtClean="0">
                <a:solidFill>
                  <a:srgbClr val="FF0000"/>
                </a:solidFill>
              </a:rPr>
              <a:t>R</a:t>
            </a:r>
            <a:r>
              <a:rPr lang="en-US" sz="2800" b="1" dirty="0" smtClean="0">
                <a:solidFill>
                  <a:srgbClr val="000000"/>
                </a:solidFill>
              </a:rPr>
              <a:t> </a:t>
            </a:r>
            <a:endParaRPr lang="en-US" sz="2800" b="1" dirty="0">
              <a:solidFill>
                <a:srgbClr val="000000"/>
              </a:solidFill>
            </a:endParaRP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8345178" y="4913166"/>
            <a:ext cx="284163" cy="180975"/>
            <a:chOff x="2226" y="2065"/>
            <a:chExt cx="1148" cy="671"/>
          </a:xfrm>
        </p:grpSpPr>
        <p:sp>
          <p:nvSpPr>
            <p:cNvPr id="8" name="AutoShape 5"/>
            <p:cNvSpPr>
              <a:spLocks noChangeArrowheads="1"/>
            </p:cNvSpPr>
            <p:nvPr/>
          </p:nvSpPr>
          <p:spPr bwMode="auto">
            <a:xfrm rot="-5400000">
              <a:off x="2753" y="2110"/>
              <a:ext cx="666" cy="576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1" hangingPunct="1"/>
              <a:endParaRPr lang="en-US" sz="1200"/>
            </a:p>
          </p:txBody>
        </p:sp>
        <p:sp>
          <p:nvSpPr>
            <p:cNvPr id="9" name="AutoShape 6"/>
            <p:cNvSpPr>
              <a:spLocks noChangeArrowheads="1"/>
            </p:cNvSpPr>
            <p:nvPr/>
          </p:nvSpPr>
          <p:spPr bwMode="auto">
            <a:xfrm rot="5400000" flipH="1">
              <a:off x="2181" y="2115"/>
              <a:ext cx="666" cy="576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1" hangingPunct="1"/>
              <a:endParaRPr 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xmlns="" val="2601831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>
            <a:outerShdw dist="17961" dir="2700000" algn="ctr" rotWithShape="0">
              <a:srgbClr val="5F5F5F"/>
            </a:outerShdw>
          </a:effectLst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sz="3600"/>
              <a:t>Relational Database Operators</a:t>
            </a:r>
            <a:endParaRPr lang="en-US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lvl="1"/>
            <a:r>
              <a:rPr lang="en-US" sz="2000" b="1">
                <a:solidFill>
                  <a:srgbClr val="D60093"/>
                </a:solidFill>
              </a:rPr>
              <a:t>EquiJOIN</a:t>
            </a:r>
            <a:r>
              <a:rPr lang="en-US" sz="2000" b="1"/>
              <a:t> links tables based on an </a:t>
            </a:r>
            <a:r>
              <a:rPr lang="en-US" sz="2000" b="1">
                <a:solidFill>
                  <a:schemeClr val="accent2"/>
                </a:solidFill>
              </a:rPr>
              <a:t>equality condition</a:t>
            </a:r>
            <a:r>
              <a:rPr lang="en-US" sz="2000" b="1"/>
              <a:t> that compares </a:t>
            </a:r>
            <a:r>
              <a:rPr lang="en-US" sz="2000" b="1">
                <a:solidFill>
                  <a:schemeClr val="accent2"/>
                </a:solidFill>
              </a:rPr>
              <a:t>specified columns</a:t>
            </a:r>
            <a:r>
              <a:rPr lang="en-US" sz="2000" b="1"/>
              <a:t> of each table. The outcome of the EquiJOIN does not eliminate duplicate columns and the condition or criteria to join the tables must be explicitly defined.</a:t>
            </a:r>
          </a:p>
          <a:p>
            <a:pPr lvl="1">
              <a:spcBef>
                <a:spcPct val="80000"/>
              </a:spcBef>
            </a:pPr>
            <a:r>
              <a:rPr lang="en-US" sz="2000" b="1">
                <a:solidFill>
                  <a:srgbClr val="D60093"/>
                </a:solidFill>
              </a:rPr>
              <a:t>Theta JOIN</a:t>
            </a:r>
            <a:r>
              <a:rPr lang="en-US" sz="2000" b="1"/>
              <a:t> is an </a:t>
            </a:r>
            <a:r>
              <a:rPr lang="en-US" sz="2000" b="1">
                <a:solidFill>
                  <a:schemeClr val="accent2"/>
                </a:solidFill>
              </a:rPr>
              <a:t>equiJOIN</a:t>
            </a:r>
            <a:r>
              <a:rPr lang="en-US" sz="2000" b="1"/>
              <a:t> that compares specified columns of each table using a comparison operator other than the equality comparison operator.</a:t>
            </a:r>
          </a:p>
          <a:p>
            <a:pPr lvl="1">
              <a:spcBef>
                <a:spcPct val="80000"/>
              </a:spcBef>
            </a:pPr>
            <a:r>
              <a:rPr lang="en-US" sz="2000" b="1"/>
              <a:t>In an </a:t>
            </a:r>
            <a:r>
              <a:rPr lang="en-US" sz="2000" b="1">
                <a:solidFill>
                  <a:srgbClr val="D60093"/>
                </a:solidFill>
              </a:rPr>
              <a:t>Outer JOIN,</a:t>
            </a:r>
            <a:r>
              <a:rPr lang="en-US" sz="2000" b="1"/>
              <a:t> the unmatched pairs would be retained and the values for the unmatched other tables would be left blank or null. </a:t>
            </a:r>
          </a:p>
        </p:txBody>
      </p:sp>
    </p:spTree>
    <p:extLst>
      <p:ext uri="{BB962C8B-B14F-4D97-AF65-F5344CB8AC3E}">
        <p14:creationId xmlns:p14="http://schemas.microsoft.com/office/powerpoint/2010/main" xmlns="" val="382833103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7" name="Picture 3" descr="D:\My Documents\Course Tech\Artwork\JPG\FINAL BMPS CH 02\fig2-1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438400"/>
            <a:ext cx="5905500" cy="2509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1736725" y="1085850"/>
            <a:ext cx="22955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Outer JOIN</a:t>
            </a:r>
          </a:p>
        </p:txBody>
      </p:sp>
      <p:sp>
        <p:nvSpPr>
          <p:cNvPr id="62469" name="Text Box 5"/>
          <p:cNvSpPr txBox="1">
            <a:spLocks noChangeArrowheads="1"/>
          </p:cNvSpPr>
          <p:nvPr/>
        </p:nvSpPr>
        <p:spPr bwMode="auto">
          <a:xfrm>
            <a:off x="1889125" y="5378450"/>
            <a:ext cx="2393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/>
              <a:t>Figure 2.15</a:t>
            </a:r>
          </a:p>
        </p:txBody>
      </p:sp>
    </p:spTree>
    <p:extLst>
      <p:ext uri="{BB962C8B-B14F-4D97-AF65-F5344CB8AC3E}">
        <p14:creationId xmlns:p14="http://schemas.microsoft.com/office/powerpoint/2010/main" xmlns="" val="3889622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>
            <a:outerShdw dist="17961" dir="2700000" algn="ctr" rotWithShape="0">
              <a:srgbClr val="5F5F5F"/>
            </a:outerShdw>
          </a:effectLst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sz="3600"/>
              <a:t>Relational Database Operators</a:t>
            </a:r>
            <a:endParaRPr lang="en-US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828800"/>
            <a:ext cx="7010400" cy="1001713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sz="2400">
                <a:solidFill>
                  <a:srgbClr val="D60093"/>
                </a:solidFill>
              </a:rPr>
              <a:t>DIVIDE </a:t>
            </a:r>
            <a:r>
              <a:rPr lang="en-US" sz="2400"/>
              <a:t>requires the use of one single-column table and one two-column table.</a:t>
            </a:r>
          </a:p>
        </p:txBody>
      </p:sp>
      <p:pic>
        <p:nvPicPr>
          <p:cNvPr id="63493" name="Picture 5" descr="D:\My Documents\Course Tech\Artwork\JPG\FINAL BMPS CH 02\fig2-1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895600"/>
            <a:ext cx="4918075" cy="334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3494" name="Text Box 6"/>
          <p:cNvSpPr txBox="1">
            <a:spLocks noChangeArrowheads="1"/>
          </p:cNvSpPr>
          <p:nvPr/>
        </p:nvSpPr>
        <p:spPr bwMode="auto">
          <a:xfrm>
            <a:off x="1752600" y="5943600"/>
            <a:ext cx="40243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Figure 2.16    DIVIDE</a:t>
            </a:r>
          </a:p>
        </p:txBody>
      </p:sp>
    </p:spTree>
    <p:extLst>
      <p:ext uri="{BB962C8B-B14F-4D97-AF65-F5344CB8AC3E}">
        <p14:creationId xmlns:p14="http://schemas.microsoft.com/office/powerpoint/2010/main" xmlns="" val="214135842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990600"/>
            <a:ext cx="6705600" cy="914400"/>
          </a:xfrm>
        </p:spPr>
        <p:txBody>
          <a:bodyPr/>
          <a:lstStyle/>
          <a:p>
            <a:r>
              <a:rPr lang="en-US" sz="3600"/>
              <a:t>The Data Dictionary and the System Catalog</a:t>
            </a:r>
            <a:endParaRPr lang="en-US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2209800"/>
            <a:ext cx="7010400" cy="4343400"/>
          </a:xfrm>
        </p:spPr>
        <p:txBody>
          <a:bodyPr/>
          <a:lstStyle/>
          <a:p>
            <a:r>
              <a:rPr lang="en-US" sz="1800" dirty="0">
                <a:solidFill>
                  <a:srgbClr val="D60093"/>
                </a:solidFill>
              </a:rPr>
              <a:t>Data dictionary</a:t>
            </a:r>
            <a:r>
              <a:rPr lang="en-US" sz="1800" dirty="0"/>
              <a:t> contains metadata to provide detailed accounting of all tables within the database.</a:t>
            </a:r>
          </a:p>
          <a:p>
            <a:pPr>
              <a:spcBef>
                <a:spcPct val="80000"/>
              </a:spcBef>
            </a:pPr>
            <a:r>
              <a:rPr lang="en-US" sz="1800" dirty="0">
                <a:solidFill>
                  <a:srgbClr val="D60093"/>
                </a:solidFill>
              </a:rPr>
              <a:t>System catalog</a:t>
            </a:r>
            <a:r>
              <a:rPr lang="en-US" sz="1800" dirty="0"/>
              <a:t> is a very detailed system data dictionary that describes all objects within the database. </a:t>
            </a:r>
          </a:p>
          <a:p>
            <a:pPr lvl="1">
              <a:spcBef>
                <a:spcPct val="60000"/>
              </a:spcBef>
            </a:pPr>
            <a:r>
              <a:rPr lang="en-US" sz="1800" b="1" dirty="0"/>
              <a:t>System catalog is a system-created database whose tables store the database characteristics and contents.</a:t>
            </a:r>
          </a:p>
          <a:p>
            <a:pPr lvl="1">
              <a:spcBef>
                <a:spcPct val="60000"/>
              </a:spcBef>
            </a:pPr>
            <a:r>
              <a:rPr lang="en-US" sz="1800" b="1" dirty="0"/>
              <a:t>System catalog tables can be queried just like any other tables.</a:t>
            </a:r>
          </a:p>
          <a:p>
            <a:pPr lvl="1">
              <a:spcBef>
                <a:spcPct val="60000"/>
              </a:spcBef>
            </a:pPr>
            <a:r>
              <a:rPr lang="en-US" sz="1800" b="1" dirty="0"/>
              <a:t>System catalog automatically produces database documentation.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xmlns="" val="177657879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8" name="Picture 4" descr="D:\My Documents\Course Tech\Artwork\JPG\FINAL BMPS CH 02\tbl2-0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40027"/>
            <a:ext cx="8129588" cy="4222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7589" name="Text Box 5"/>
          <p:cNvSpPr txBox="1">
            <a:spLocks noChangeArrowheads="1"/>
          </p:cNvSpPr>
          <p:nvPr/>
        </p:nvSpPr>
        <p:spPr bwMode="auto">
          <a:xfrm>
            <a:off x="1219200" y="487362"/>
            <a:ext cx="45079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b="1" dirty="0"/>
              <a:t>A Sample Data Dictionary</a:t>
            </a:r>
          </a:p>
        </p:txBody>
      </p:sp>
      <p:sp>
        <p:nvSpPr>
          <p:cNvPr id="67590" name="Text Box 6"/>
          <p:cNvSpPr txBox="1">
            <a:spLocks noChangeArrowheads="1"/>
          </p:cNvSpPr>
          <p:nvPr/>
        </p:nvSpPr>
        <p:spPr bwMode="auto">
          <a:xfrm>
            <a:off x="3352800" y="5780088"/>
            <a:ext cx="17875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Table 2.6</a:t>
            </a:r>
          </a:p>
        </p:txBody>
      </p:sp>
    </p:spTree>
    <p:extLst>
      <p:ext uri="{BB962C8B-B14F-4D97-AF65-F5344CB8AC3E}">
        <p14:creationId xmlns:p14="http://schemas.microsoft.com/office/powerpoint/2010/main" xmlns="" val="3632692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200"/>
          </a:p>
        </p:txBody>
      </p:sp>
      <p:sp>
        <p:nvSpPr>
          <p:cNvPr id="23556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200"/>
          </a:p>
        </p:txBody>
      </p:sp>
      <p:sp>
        <p:nvSpPr>
          <p:cNvPr id="23557" name="Rectangle 4"/>
          <p:cNvSpPr>
            <a:spLocks noGrp="1" noChangeArrowheads="1"/>
          </p:cNvSpPr>
          <p:nvPr>
            <p:ph type="title"/>
          </p:nvPr>
        </p:nvSpPr>
        <p:spPr>
          <a:xfrm>
            <a:off x="535781" y="152400"/>
            <a:ext cx="8072437" cy="800100"/>
          </a:xfrm>
          <a:noFill/>
        </p:spPr>
        <p:txBody>
          <a:bodyPr/>
          <a:lstStyle/>
          <a:p>
            <a:r>
              <a:rPr lang="en-US" b="1" dirty="0" smtClean="0"/>
              <a:t>Relational Algebra: 5 Basic Operations</a:t>
            </a:r>
          </a:p>
        </p:txBody>
      </p:sp>
      <p:sp>
        <p:nvSpPr>
          <p:cNvPr id="23558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2400" y="1676400"/>
            <a:ext cx="8839200" cy="3614737"/>
          </a:xfrm>
          <a:noFill/>
        </p:spPr>
        <p:txBody>
          <a:bodyPr/>
          <a:lstStyle/>
          <a:p>
            <a:r>
              <a:rPr lang="en-US" b="0" i="1" u="sng" dirty="0" smtClean="0">
                <a:solidFill>
                  <a:schemeClr val="accent2"/>
                </a:solidFill>
              </a:rPr>
              <a:t>Selection</a:t>
            </a:r>
            <a:r>
              <a:rPr lang="en-US" b="0" dirty="0" smtClean="0"/>
              <a:t>  ( </a:t>
            </a:r>
            <a:r>
              <a:rPr lang="en-US" b="0" dirty="0" smtClean="0">
                <a:latin typeface="Symbol" pitchFamily="-32" charset="2"/>
              </a:rPr>
              <a:t>s</a:t>
            </a:r>
            <a:r>
              <a:rPr lang="en-US" b="0" dirty="0" smtClean="0"/>
              <a:t> )    Selects a subset of </a:t>
            </a:r>
            <a:r>
              <a:rPr lang="en-US" i="1" dirty="0" smtClean="0">
                <a:solidFill>
                  <a:srgbClr val="FF0000"/>
                </a:solidFill>
              </a:rPr>
              <a:t>rows</a:t>
            </a:r>
            <a:r>
              <a:rPr lang="en-US" b="0" dirty="0" smtClean="0"/>
              <a:t> from relation </a:t>
            </a:r>
          </a:p>
          <a:p>
            <a:pPr marL="0" indent="0">
              <a:buNone/>
            </a:pPr>
            <a:r>
              <a:rPr lang="en-US" b="0" dirty="0"/>
              <a:t>	</a:t>
            </a:r>
            <a:r>
              <a:rPr lang="en-US" b="0" dirty="0" smtClean="0"/>
              <a:t>		(horizontal).</a:t>
            </a:r>
          </a:p>
          <a:p>
            <a:r>
              <a:rPr lang="en-US" b="0" i="1" u="sng" dirty="0" smtClean="0">
                <a:solidFill>
                  <a:schemeClr val="accent2"/>
                </a:solidFill>
              </a:rPr>
              <a:t>Projection</a:t>
            </a:r>
            <a:r>
              <a:rPr lang="en-US" b="0" dirty="0" smtClean="0">
                <a:solidFill>
                  <a:schemeClr val="accent2"/>
                </a:solidFill>
              </a:rPr>
              <a:t> </a:t>
            </a:r>
            <a:r>
              <a:rPr lang="en-US" b="0" dirty="0" smtClean="0"/>
              <a:t> ( </a:t>
            </a:r>
            <a:r>
              <a:rPr lang="en-US" b="0" dirty="0" smtClean="0">
                <a:latin typeface="Symbol" pitchFamily="-32" charset="2"/>
              </a:rPr>
              <a:t>p</a:t>
            </a:r>
            <a:r>
              <a:rPr lang="en-US" b="0" dirty="0" smtClean="0"/>
              <a:t> )  Retains only wanted </a:t>
            </a:r>
            <a:r>
              <a:rPr lang="en-US" i="1" dirty="0" smtClean="0">
                <a:solidFill>
                  <a:srgbClr val="FF0000"/>
                </a:solidFill>
              </a:rPr>
              <a:t>columns</a:t>
            </a:r>
            <a:r>
              <a:rPr lang="en-US" b="0" dirty="0" smtClean="0"/>
              <a:t> from relation			(vertical).</a:t>
            </a:r>
          </a:p>
          <a:p>
            <a:r>
              <a:rPr lang="en-US" b="0" i="1" u="sng" dirty="0" smtClean="0">
                <a:solidFill>
                  <a:schemeClr val="accent2"/>
                </a:solidFill>
              </a:rPr>
              <a:t>Cross-product</a:t>
            </a:r>
            <a:r>
              <a:rPr lang="en-US" b="0" dirty="0" smtClean="0">
                <a:solidFill>
                  <a:schemeClr val="accent2"/>
                </a:solidFill>
              </a:rPr>
              <a:t>  </a:t>
            </a:r>
            <a:r>
              <a:rPr lang="en-US" b="0" dirty="0" smtClean="0"/>
              <a:t>( </a:t>
            </a:r>
            <a:r>
              <a:rPr lang="en-US" sz="2800" b="0" dirty="0" smtClean="0">
                <a:sym typeface="Symbol" pitchFamily="-32" charset="2"/>
              </a:rPr>
              <a:t> </a:t>
            </a:r>
            <a:r>
              <a:rPr lang="en-US" b="0" dirty="0" smtClean="0"/>
              <a:t>)  Allows us to combine two relations.</a:t>
            </a:r>
          </a:p>
          <a:p>
            <a:r>
              <a:rPr lang="en-US" b="0" i="1" u="sng" dirty="0" smtClean="0">
                <a:solidFill>
                  <a:schemeClr val="accent2"/>
                </a:solidFill>
              </a:rPr>
              <a:t>Set-difference</a:t>
            </a:r>
            <a:r>
              <a:rPr lang="en-US" b="0" dirty="0" smtClean="0"/>
              <a:t>  ( </a:t>
            </a:r>
            <a:r>
              <a:rPr lang="en-US" b="0" dirty="0" smtClean="0">
                <a:cs typeface="Tahoma" pitchFamily="-32" charset="0"/>
              </a:rPr>
              <a:t>— </a:t>
            </a:r>
            <a:r>
              <a:rPr lang="en-US" b="0" dirty="0" smtClean="0"/>
              <a:t>)  Tuples in r1, but not in r2.</a:t>
            </a:r>
          </a:p>
          <a:p>
            <a:r>
              <a:rPr lang="en-US" b="0" i="1" u="sng" dirty="0" smtClean="0">
                <a:solidFill>
                  <a:schemeClr val="accent2"/>
                </a:solidFill>
              </a:rPr>
              <a:t>Union</a:t>
            </a:r>
            <a:r>
              <a:rPr lang="en-US" b="0" dirty="0" smtClean="0">
                <a:solidFill>
                  <a:schemeClr val="accent2"/>
                </a:solidFill>
              </a:rPr>
              <a:t>  </a:t>
            </a:r>
            <a:r>
              <a:rPr lang="en-US" b="0" dirty="0" smtClean="0"/>
              <a:t>( </a:t>
            </a:r>
            <a:r>
              <a:rPr lang="en-US" b="0" dirty="0" smtClean="0">
                <a:sym typeface="Symbol" pitchFamily="-32" charset="2"/>
              </a:rPr>
              <a:t> </a:t>
            </a:r>
            <a:r>
              <a:rPr lang="en-US" b="0" dirty="0" smtClean="0"/>
              <a:t>)  Tuples in r1 or in r2.</a:t>
            </a:r>
          </a:p>
          <a:p>
            <a:pPr>
              <a:buFontTx/>
              <a:buNone/>
            </a:pPr>
            <a:endParaRPr lang="en-US" b="0" dirty="0" smtClean="0"/>
          </a:p>
        </p:txBody>
      </p:sp>
    </p:spTree>
    <p:extLst>
      <p:ext uri="{BB962C8B-B14F-4D97-AF65-F5344CB8AC3E}">
        <p14:creationId xmlns:p14="http://schemas.microsoft.com/office/powerpoint/2010/main" xmlns="" val="26823667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reeform 1"/>
          <p:cNvSpPr>
            <a:spLocks/>
          </p:cNvSpPr>
          <p:nvPr/>
        </p:nvSpPr>
        <p:spPr bwMode="auto">
          <a:xfrm>
            <a:off x="685800" y="6248400"/>
            <a:ext cx="1905000" cy="457200"/>
          </a:xfrm>
          <a:custGeom>
            <a:avLst/>
            <a:gdLst>
              <a:gd name="T0" fmla="*/ 0 w 10000"/>
              <a:gd name="T1" fmla="*/ 0 h 10000"/>
              <a:gd name="T2" fmla="*/ 1905000 w 10000"/>
              <a:gd name="T3" fmla="*/ 0 h 10000"/>
              <a:gd name="T4" fmla="*/ 1905000 w 10000"/>
              <a:gd name="T5" fmla="*/ 457200 h 10000"/>
              <a:gd name="T6" fmla="*/ 0 w 10000"/>
              <a:gd name="T7" fmla="*/ 457200 h 10000"/>
              <a:gd name="T8" fmla="*/ 0 w 10000"/>
              <a:gd name="T9" fmla="*/ 0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000"/>
              <a:gd name="T16" fmla="*/ 0 h 10000"/>
              <a:gd name="T17" fmla="*/ 10000 w 10000"/>
              <a:gd name="T18" fmla="*/ 10000 h 1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24579" name="Freeform 2"/>
          <p:cNvSpPr>
            <a:spLocks/>
          </p:cNvSpPr>
          <p:nvPr/>
        </p:nvSpPr>
        <p:spPr bwMode="auto">
          <a:xfrm>
            <a:off x="3124200" y="6248400"/>
            <a:ext cx="2895600" cy="457200"/>
          </a:xfrm>
          <a:custGeom>
            <a:avLst/>
            <a:gdLst>
              <a:gd name="T0" fmla="*/ 0 w 10000"/>
              <a:gd name="T1" fmla="*/ 0 h 10000"/>
              <a:gd name="T2" fmla="*/ 2895600 w 10000"/>
              <a:gd name="T3" fmla="*/ 0 h 10000"/>
              <a:gd name="T4" fmla="*/ 2895600 w 10000"/>
              <a:gd name="T5" fmla="*/ 457200 h 10000"/>
              <a:gd name="T6" fmla="*/ 0 w 10000"/>
              <a:gd name="T7" fmla="*/ 457200 h 10000"/>
              <a:gd name="T8" fmla="*/ 0 w 10000"/>
              <a:gd name="T9" fmla="*/ 0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000"/>
              <a:gd name="T16" fmla="*/ 0 h 10000"/>
              <a:gd name="T17" fmla="*/ 10000 w 10000"/>
              <a:gd name="T18" fmla="*/ 10000 h 1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grpSp>
        <p:nvGrpSpPr>
          <p:cNvPr id="24580" name="Group 4"/>
          <p:cNvGrpSpPr>
            <a:grpSpLocks/>
          </p:cNvGrpSpPr>
          <p:nvPr/>
        </p:nvGrpSpPr>
        <p:grpSpPr bwMode="auto">
          <a:xfrm>
            <a:off x="4822825" y="336550"/>
            <a:ext cx="4322763" cy="6127750"/>
            <a:chOff x="2658" y="185"/>
            <a:chExt cx="2723" cy="3860"/>
          </a:xfrm>
        </p:grpSpPr>
        <p:grpSp>
          <p:nvGrpSpPr>
            <p:cNvPr id="24587" name="Group 5"/>
            <p:cNvGrpSpPr>
              <a:grpSpLocks/>
            </p:cNvGrpSpPr>
            <p:nvPr/>
          </p:nvGrpSpPr>
          <p:grpSpPr bwMode="auto">
            <a:xfrm>
              <a:off x="2658" y="1227"/>
              <a:ext cx="2723" cy="2818"/>
              <a:chOff x="2658" y="1097"/>
              <a:chExt cx="2723" cy="2818"/>
            </a:xfrm>
          </p:grpSpPr>
          <p:pic>
            <p:nvPicPr>
              <p:cNvPr id="24589" name="Picture 6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59" y="1097"/>
                <a:ext cx="2617" cy="1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590" name="Picture 7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58" y="2523"/>
                <a:ext cx="2723" cy="1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24588" name="Picture 8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1" y="185"/>
              <a:ext cx="2099" cy="10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4581" name="Text Box 9"/>
          <p:cNvSpPr txBox="1">
            <a:spLocks noChangeArrowheads="1"/>
          </p:cNvSpPr>
          <p:nvPr/>
        </p:nvSpPr>
        <p:spPr bwMode="auto">
          <a:xfrm>
            <a:off x="5040313" y="412750"/>
            <a:ext cx="3730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>
              <a:lnSpc>
                <a:spcPts val="2900"/>
              </a:lnSpc>
            </a:pPr>
            <a:r>
              <a:rPr lang="en-US" sz="2400" b="1" i="1">
                <a:solidFill>
                  <a:srgbClr val="000000"/>
                </a:solidFill>
              </a:rPr>
              <a:t>R1</a:t>
            </a:r>
          </a:p>
        </p:txBody>
      </p:sp>
      <p:sp>
        <p:nvSpPr>
          <p:cNvPr id="24582" name="Text Box 10"/>
          <p:cNvSpPr txBox="1">
            <a:spLocks noChangeArrowheads="1"/>
          </p:cNvSpPr>
          <p:nvPr/>
        </p:nvSpPr>
        <p:spPr bwMode="auto">
          <a:xfrm>
            <a:off x="4279900" y="2166938"/>
            <a:ext cx="3222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>
              <a:lnSpc>
                <a:spcPts val="2900"/>
              </a:lnSpc>
            </a:pPr>
            <a:r>
              <a:rPr lang="en-US" sz="2400" b="1" i="1">
                <a:solidFill>
                  <a:srgbClr val="000000"/>
                </a:solidFill>
              </a:rPr>
              <a:t>S1</a:t>
            </a:r>
          </a:p>
        </p:txBody>
      </p:sp>
      <p:sp>
        <p:nvSpPr>
          <p:cNvPr id="24583" name="Text Box 11"/>
          <p:cNvSpPr txBox="1">
            <a:spLocks noChangeArrowheads="1"/>
          </p:cNvSpPr>
          <p:nvPr/>
        </p:nvSpPr>
        <p:spPr bwMode="auto">
          <a:xfrm>
            <a:off x="4281488" y="4298950"/>
            <a:ext cx="3222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>
              <a:lnSpc>
                <a:spcPts val="2900"/>
              </a:lnSpc>
            </a:pPr>
            <a:r>
              <a:rPr lang="en-US" sz="2400" b="1" i="1">
                <a:solidFill>
                  <a:srgbClr val="000000"/>
                </a:solidFill>
              </a:rPr>
              <a:t>S2</a:t>
            </a:r>
          </a:p>
        </p:txBody>
      </p:sp>
      <p:pic>
        <p:nvPicPr>
          <p:cNvPr id="24584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4325" y="2784475"/>
            <a:ext cx="4665663" cy="222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5" name="Text Box 13"/>
          <p:cNvSpPr txBox="1">
            <a:spLocks noChangeArrowheads="1"/>
          </p:cNvSpPr>
          <p:nvPr/>
        </p:nvSpPr>
        <p:spPr bwMode="auto">
          <a:xfrm>
            <a:off x="381000" y="2362200"/>
            <a:ext cx="796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>
              <a:lnSpc>
                <a:spcPts val="2900"/>
              </a:lnSpc>
            </a:pPr>
            <a:r>
              <a:rPr lang="en-US" sz="2400" b="1" i="1">
                <a:solidFill>
                  <a:srgbClr val="000000"/>
                </a:solidFill>
              </a:rPr>
              <a:t>Boats</a:t>
            </a:r>
          </a:p>
        </p:txBody>
      </p:sp>
      <p:sp>
        <p:nvSpPr>
          <p:cNvPr id="24586" name="Rectangle 15"/>
          <p:cNvSpPr>
            <a:spLocks noGrp="1" noChangeArrowheads="1"/>
          </p:cNvSpPr>
          <p:nvPr>
            <p:ph type="title"/>
          </p:nvPr>
        </p:nvSpPr>
        <p:spPr>
          <a:xfrm>
            <a:off x="314325" y="209550"/>
            <a:ext cx="7162800" cy="1143000"/>
          </a:xfrm>
        </p:spPr>
        <p:txBody>
          <a:bodyPr/>
          <a:lstStyle/>
          <a:p>
            <a:pPr eaLnBrk="1" hangingPunct="1"/>
            <a:r>
              <a:rPr lang="en-US" sz="3200" b="1" dirty="0" smtClean="0"/>
              <a:t>Example Instances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xmlns="" val="60202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endParaRPr lang="en-US" smtClean="0">
              <a:solidFill>
                <a:srgbClr val="000000"/>
              </a:solidFill>
              <a:latin typeface="Times New Roman" pitchFamily="-32" charset="0"/>
            </a:endParaRPr>
          </a:p>
          <a:p>
            <a:endParaRPr lang="en-US" smtClean="0">
              <a:solidFill>
                <a:srgbClr val="000000"/>
              </a:solidFill>
              <a:latin typeface="Times New Roman" pitchFamily="-32" charset="0"/>
            </a:endParaRPr>
          </a:p>
        </p:txBody>
      </p:sp>
      <p:sp>
        <p:nvSpPr>
          <p:cNvPr id="3077" name="Rectangle 1026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200"/>
          </a:p>
        </p:txBody>
      </p:sp>
      <p:sp>
        <p:nvSpPr>
          <p:cNvPr id="3078" name="Rectangle 1027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200"/>
          </a:p>
        </p:txBody>
      </p:sp>
      <p:sp>
        <p:nvSpPr>
          <p:cNvPr id="3079" name="Rectangle 1028"/>
          <p:cNvSpPr>
            <a:spLocks noGrp="1" noChangeArrowheads="1"/>
          </p:cNvSpPr>
          <p:nvPr>
            <p:ph type="title"/>
          </p:nvPr>
        </p:nvSpPr>
        <p:spPr>
          <a:xfrm>
            <a:off x="457200" y="-15240"/>
            <a:ext cx="7772400" cy="1143001"/>
          </a:xfrm>
          <a:noFill/>
        </p:spPr>
        <p:txBody>
          <a:bodyPr/>
          <a:lstStyle/>
          <a:p>
            <a:r>
              <a:rPr lang="en-US" b="1" dirty="0" smtClean="0"/>
              <a:t>Projection (</a:t>
            </a:r>
            <a:r>
              <a:rPr lang="en-US" sz="4400" b="1" dirty="0" smtClean="0">
                <a:latin typeface="Symbol" pitchFamily="-32" charset="2"/>
                <a:sym typeface="Symbol" pitchFamily="-32" charset="2"/>
              </a:rPr>
              <a:t></a:t>
            </a:r>
            <a:r>
              <a:rPr lang="en-US" b="1" dirty="0" smtClean="0"/>
              <a:t>)</a:t>
            </a:r>
          </a:p>
        </p:txBody>
      </p:sp>
      <p:graphicFrame>
        <p:nvGraphicFramePr>
          <p:cNvPr id="3074" name="Object 1029"/>
          <p:cNvGraphicFramePr>
            <a:graphicFrameLocks/>
          </p:cNvGraphicFramePr>
          <p:nvPr/>
        </p:nvGraphicFramePr>
        <p:xfrm>
          <a:off x="2357438" y="1073150"/>
          <a:ext cx="2087562" cy="736600"/>
        </p:xfrm>
        <a:graphic>
          <a:graphicData uri="http://schemas.openxmlformats.org/presentationml/2006/ole">
            <p:oleObj spid="_x0000_s127004" name="Equation" r:id="rId4" imgW="2123691" imgH="757838" progId="Equation.3">
              <p:embed/>
            </p:oleObj>
          </a:graphicData>
        </a:graphic>
      </p:graphicFrame>
      <p:sp>
        <p:nvSpPr>
          <p:cNvPr id="3080" name="Rectangle 1030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100138"/>
            <a:ext cx="8991600" cy="5224462"/>
          </a:xfrm>
          <a:noFill/>
        </p:spPr>
        <p:txBody>
          <a:bodyPr/>
          <a:lstStyle/>
          <a:p>
            <a:r>
              <a:rPr lang="en-US" b="0" smtClean="0"/>
              <a:t>Examples:                       ; </a:t>
            </a:r>
          </a:p>
          <a:p>
            <a:endParaRPr lang="en-US" b="0" smtClean="0"/>
          </a:p>
          <a:p>
            <a:r>
              <a:rPr lang="en-US" b="0" smtClean="0"/>
              <a:t>Retains only attributes that are in the “</a:t>
            </a:r>
            <a:r>
              <a:rPr lang="en-US" b="0" i="1" smtClean="0"/>
              <a:t>projection list”</a:t>
            </a:r>
            <a:r>
              <a:rPr lang="en-US" b="0" smtClean="0"/>
              <a:t>.</a:t>
            </a:r>
          </a:p>
          <a:p>
            <a:r>
              <a:rPr lang="en-US" b="0" i="1" smtClean="0">
                <a:solidFill>
                  <a:schemeClr val="accent2"/>
                </a:solidFill>
              </a:rPr>
              <a:t>Schema</a:t>
            </a:r>
            <a:r>
              <a:rPr lang="en-US" b="0" smtClean="0"/>
              <a:t> of result:</a:t>
            </a:r>
          </a:p>
          <a:p>
            <a:pPr lvl="1"/>
            <a:r>
              <a:rPr lang="en-US" sz="2000" smtClean="0"/>
              <a:t>exactly the fields in the projection list, with the same names that they had in the input relation.</a:t>
            </a:r>
          </a:p>
          <a:p>
            <a:r>
              <a:rPr lang="en-US" b="0" smtClean="0"/>
              <a:t>Projection operator has to </a:t>
            </a:r>
            <a:r>
              <a:rPr lang="en-US" b="0" i="1" smtClean="0">
                <a:solidFill>
                  <a:schemeClr val="accent2"/>
                </a:solidFill>
              </a:rPr>
              <a:t>eliminate duplicates</a:t>
            </a:r>
            <a:r>
              <a:rPr lang="en-US" b="0" smtClean="0"/>
              <a:t>    (How do they arise? Why remove them?)</a:t>
            </a:r>
          </a:p>
          <a:p>
            <a:pPr lvl="1"/>
            <a:r>
              <a:rPr lang="en-US" sz="2000" smtClean="0"/>
              <a:t>Note: real systems typically don’t do duplicate elimination unless the user explicitly asks for it.  (Why not?)</a:t>
            </a:r>
          </a:p>
        </p:txBody>
      </p:sp>
      <p:graphicFrame>
        <p:nvGraphicFramePr>
          <p:cNvPr id="3075" name="Object 1031"/>
          <p:cNvGraphicFramePr>
            <a:graphicFrameLocks/>
          </p:cNvGraphicFramePr>
          <p:nvPr/>
        </p:nvGraphicFramePr>
        <p:xfrm>
          <a:off x="4359275" y="1079500"/>
          <a:ext cx="3455988" cy="898525"/>
        </p:xfrm>
        <a:graphic>
          <a:graphicData uri="http://schemas.openxmlformats.org/presentationml/2006/ole">
            <p:oleObj spid="_x0000_s127005" name="Equation" r:id="rId5" imgW="3470041" imgH="913607" progId="Equation.3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37413922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reeform 1"/>
          <p:cNvSpPr>
            <a:spLocks/>
          </p:cNvSpPr>
          <p:nvPr/>
        </p:nvSpPr>
        <p:spPr bwMode="auto">
          <a:xfrm>
            <a:off x="685800" y="6248400"/>
            <a:ext cx="1905000" cy="457200"/>
          </a:xfrm>
          <a:custGeom>
            <a:avLst/>
            <a:gdLst>
              <a:gd name="T0" fmla="*/ 0 w 10000"/>
              <a:gd name="T1" fmla="*/ 0 h 10000"/>
              <a:gd name="T2" fmla="*/ 1905000 w 10000"/>
              <a:gd name="T3" fmla="*/ 0 h 10000"/>
              <a:gd name="T4" fmla="*/ 1905000 w 10000"/>
              <a:gd name="T5" fmla="*/ 457200 h 10000"/>
              <a:gd name="T6" fmla="*/ 0 w 10000"/>
              <a:gd name="T7" fmla="*/ 457200 h 10000"/>
              <a:gd name="T8" fmla="*/ 0 w 10000"/>
              <a:gd name="T9" fmla="*/ 0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000"/>
              <a:gd name="T16" fmla="*/ 0 h 10000"/>
              <a:gd name="T17" fmla="*/ 10000 w 10000"/>
              <a:gd name="T18" fmla="*/ 10000 h 1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4101" name="Freeform 2"/>
          <p:cNvSpPr>
            <a:spLocks/>
          </p:cNvSpPr>
          <p:nvPr/>
        </p:nvSpPr>
        <p:spPr bwMode="auto">
          <a:xfrm>
            <a:off x="3124200" y="6248400"/>
            <a:ext cx="2895600" cy="457200"/>
          </a:xfrm>
          <a:custGeom>
            <a:avLst/>
            <a:gdLst>
              <a:gd name="T0" fmla="*/ 0 w 10000"/>
              <a:gd name="T1" fmla="*/ 0 h 10000"/>
              <a:gd name="T2" fmla="*/ 2895600 w 10000"/>
              <a:gd name="T3" fmla="*/ 0 h 10000"/>
              <a:gd name="T4" fmla="*/ 2895600 w 10000"/>
              <a:gd name="T5" fmla="*/ 457200 h 10000"/>
              <a:gd name="T6" fmla="*/ 0 w 10000"/>
              <a:gd name="T7" fmla="*/ 457200 h 10000"/>
              <a:gd name="T8" fmla="*/ 0 w 10000"/>
              <a:gd name="T9" fmla="*/ 0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000"/>
              <a:gd name="T16" fmla="*/ 0 h 10000"/>
              <a:gd name="T17" fmla="*/ 10000 w 10000"/>
              <a:gd name="T18" fmla="*/ 10000 h 1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title"/>
          </p:nvPr>
        </p:nvSpPr>
        <p:spPr>
          <a:xfrm>
            <a:off x="461169" y="10477"/>
            <a:ext cx="7162800" cy="1143000"/>
          </a:xfrm>
          <a:noFill/>
        </p:spPr>
        <p:txBody>
          <a:bodyPr/>
          <a:lstStyle/>
          <a:p>
            <a:pPr eaLnBrk="1" hangingPunct="1">
              <a:spcAft>
                <a:spcPts val="13"/>
              </a:spcAft>
            </a:pPr>
            <a:r>
              <a:rPr lang="en-US" b="1" dirty="0" smtClean="0"/>
              <a:t>Projection (</a:t>
            </a:r>
            <a:r>
              <a:rPr lang="en-US" sz="4400" b="1" dirty="0" smtClean="0">
                <a:latin typeface="Symbol" pitchFamily="-32" charset="2"/>
                <a:sym typeface="Symbol" pitchFamily="-32" charset="2"/>
              </a:rPr>
              <a:t></a:t>
            </a:r>
            <a:r>
              <a:rPr lang="en-US" b="1" dirty="0" smtClean="0"/>
              <a:t>)</a:t>
            </a:r>
          </a:p>
        </p:txBody>
      </p:sp>
      <p:pic>
        <p:nvPicPr>
          <p:cNvPr id="410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27700" y="2870200"/>
            <a:ext cx="0" cy="2077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46850" y="4146550"/>
            <a:ext cx="1174750" cy="159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5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09575" y="1404938"/>
            <a:ext cx="5035550" cy="5453062"/>
          </a:xfrm>
          <a:noFill/>
        </p:spPr>
        <p:txBody>
          <a:bodyPr/>
          <a:lstStyle/>
          <a:p>
            <a:pPr eaLnBrk="1" hangingPunct="1">
              <a:spcAft>
                <a:spcPts val="13"/>
              </a:spcAft>
              <a:buFontTx/>
              <a:buNone/>
              <a:tabLst>
                <a:tab pos="34290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</a:pPr>
            <a:r>
              <a:rPr lang="en-US" smtClean="0"/>
              <a:t> </a:t>
            </a:r>
          </a:p>
        </p:txBody>
      </p:sp>
      <p:pic>
        <p:nvPicPr>
          <p:cNvPr id="4106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3250" y="2755900"/>
            <a:ext cx="4322763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7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53200" y="5969000"/>
            <a:ext cx="0" cy="2360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8" name="Text Box 9"/>
          <p:cNvSpPr txBox="1">
            <a:spLocks noChangeArrowheads="1"/>
          </p:cNvSpPr>
          <p:nvPr/>
        </p:nvSpPr>
        <p:spPr bwMode="auto">
          <a:xfrm>
            <a:off x="2249488" y="4929188"/>
            <a:ext cx="9191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>
              <a:lnSpc>
                <a:spcPts val="2900"/>
              </a:lnSpc>
            </a:pPr>
            <a:r>
              <a:rPr lang="en-US" sz="2400" b="1">
                <a:solidFill>
                  <a:srgbClr val="000000"/>
                </a:solidFill>
              </a:rPr>
              <a:t>S2</a:t>
            </a:r>
          </a:p>
        </p:txBody>
      </p:sp>
      <p:grpSp>
        <p:nvGrpSpPr>
          <p:cNvPr id="2" name="Group 87"/>
          <p:cNvGrpSpPr>
            <a:grpSpLocks/>
          </p:cNvGrpSpPr>
          <p:nvPr/>
        </p:nvGrpSpPr>
        <p:grpSpPr bwMode="auto">
          <a:xfrm>
            <a:off x="5792788" y="417513"/>
            <a:ext cx="2493962" cy="2147887"/>
            <a:chOff x="3649" y="263"/>
            <a:chExt cx="1571" cy="1353"/>
          </a:xfrm>
        </p:grpSpPr>
        <p:sp>
          <p:nvSpPr>
            <p:cNvPr id="4110" name="Rectangle 12"/>
            <p:cNvSpPr>
              <a:spLocks noChangeArrowheads="1"/>
            </p:cNvSpPr>
            <p:nvPr/>
          </p:nvSpPr>
          <p:spPr bwMode="auto">
            <a:xfrm>
              <a:off x="3664" y="270"/>
              <a:ext cx="810" cy="311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11" name="Rectangle 13"/>
            <p:cNvSpPr>
              <a:spLocks noChangeArrowheads="1"/>
            </p:cNvSpPr>
            <p:nvPr/>
          </p:nvSpPr>
          <p:spPr bwMode="auto">
            <a:xfrm>
              <a:off x="3692" y="270"/>
              <a:ext cx="753" cy="246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12" name="Rectangle 14"/>
            <p:cNvSpPr>
              <a:spLocks noChangeArrowheads="1"/>
            </p:cNvSpPr>
            <p:nvPr/>
          </p:nvSpPr>
          <p:spPr bwMode="auto">
            <a:xfrm>
              <a:off x="3695" y="273"/>
              <a:ext cx="5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sz="2600">
                  <a:solidFill>
                    <a:srgbClr val="000000"/>
                  </a:solidFill>
                </a:rPr>
                <a:t>sname</a:t>
              </a:r>
              <a:endParaRPr lang="en-US" sz="1200"/>
            </a:p>
          </p:txBody>
        </p:sp>
        <p:sp>
          <p:nvSpPr>
            <p:cNvPr id="4113" name="Rectangle 15"/>
            <p:cNvSpPr>
              <a:spLocks noChangeArrowheads="1"/>
            </p:cNvSpPr>
            <p:nvPr/>
          </p:nvSpPr>
          <p:spPr bwMode="auto">
            <a:xfrm>
              <a:off x="4488" y="270"/>
              <a:ext cx="718" cy="311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14" name="Rectangle 16"/>
            <p:cNvSpPr>
              <a:spLocks noChangeArrowheads="1"/>
            </p:cNvSpPr>
            <p:nvPr/>
          </p:nvSpPr>
          <p:spPr bwMode="auto">
            <a:xfrm>
              <a:off x="4524" y="270"/>
              <a:ext cx="646" cy="246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15" name="Rectangle 17"/>
            <p:cNvSpPr>
              <a:spLocks noChangeArrowheads="1"/>
            </p:cNvSpPr>
            <p:nvPr/>
          </p:nvSpPr>
          <p:spPr bwMode="auto">
            <a:xfrm>
              <a:off x="4527" y="273"/>
              <a:ext cx="55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sz="2600">
                  <a:solidFill>
                    <a:srgbClr val="000000"/>
                  </a:solidFill>
                </a:rPr>
                <a:t>rating</a:t>
              </a:r>
              <a:endParaRPr lang="en-US" sz="1200"/>
            </a:p>
          </p:txBody>
        </p:sp>
        <p:sp>
          <p:nvSpPr>
            <p:cNvPr id="4116" name="Rectangle 18"/>
            <p:cNvSpPr>
              <a:spLocks noChangeArrowheads="1"/>
            </p:cNvSpPr>
            <p:nvPr/>
          </p:nvSpPr>
          <p:spPr bwMode="auto">
            <a:xfrm>
              <a:off x="3649" y="263"/>
              <a:ext cx="825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17" name="Line 19"/>
            <p:cNvSpPr>
              <a:spLocks noChangeShapeType="1"/>
            </p:cNvSpPr>
            <p:nvPr/>
          </p:nvSpPr>
          <p:spPr bwMode="auto">
            <a:xfrm>
              <a:off x="3649" y="263"/>
              <a:ext cx="825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18" name="Rectangle 20"/>
            <p:cNvSpPr>
              <a:spLocks noChangeArrowheads="1"/>
            </p:cNvSpPr>
            <p:nvPr/>
          </p:nvSpPr>
          <p:spPr bwMode="auto">
            <a:xfrm>
              <a:off x="4474" y="263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19" name="Line 21"/>
            <p:cNvSpPr>
              <a:spLocks noChangeShapeType="1"/>
            </p:cNvSpPr>
            <p:nvPr/>
          </p:nvSpPr>
          <p:spPr bwMode="auto">
            <a:xfrm>
              <a:off x="4474" y="263"/>
              <a:ext cx="7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20" name="Line 22"/>
            <p:cNvSpPr>
              <a:spLocks noChangeShapeType="1"/>
            </p:cNvSpPr>
            <p:nvPr/>
          </p:nvSpPr>
          <p:spPr bwMode="auto">
            <a:xfrm>
              <a:off x="4474" y="263"/>
              <a:ext cx="1" cy="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21" name="Rectangle 23"/>
            <p:cNvSpPr>
              <a:spLocks noChangeArrowheads="1"/>
            </p:cNvSpPr>
            <p:nvPr/>
          </p:nvSpPr>
          <p:spPr bwMode="auto">
            <a:xfrm>
              <a:off x="4481" y="263"/>
              <a:ext cx="725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22" name="Line 24"/>
            <p:cNvSpPr>
              <a:spLocks noChangeShapeType="1"/>
            </p:cNvSpPr>
            <p:nvPr/>
          </p:nvSpPr>
          <p:spPr bwMode="auto">
            <a:xfrm>
              <a:off x="4481" y="263"/>
              <a:ext cx="725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23" name="Rectangle 25"/>
            <p:cNvSpPr>
              <a:spLocks noChangeArrowheads="1"/>
            </p:cNvSpPr>
            <p:nvPr/>
          </p:nvSpPr>
          <p:spPr bwMode="auto">
            <a:xfrm>
              <a:off x="5206" y="263"/>
              <a:ext cx="14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24" name="Line 26"/>
            <p:cNvSpPr>
              <a:spLocks noChangeShapeType="1"/>
            </p:cNvSpPr>
            <p:nvPr/>
          </p:nvSpPr>
          <p:spPr bwMode="auto">
            <a:xfrm>
              <a:off x="5206" y="263"/>
              <a:ext cx="14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25" name="Rectangle 27"/>
            <p:cNvSpPr>
              <a:spLocks noChangeArrowheads="1"/>
            </p:cNvSpPr>
            <p:nvPr/>
          </p:nvSpPr>
          <p:spPr bwMode="auto">
            <a:xfrm>
              <a:off x="3649" y="270"/>
              <a:ext cx="15" cy="3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26" name="Line 28"/>
            <p:cNvSpPr>
              <a:spLocks noChangeShapeType="1"/>
            </p:cNvSpPr>
            <p:nvPr/>
          </p:nvSpPr>
          <p:spPr bwMode="auto">
            <a:xfrm>
              <a:off x="3649" y="270"/>
              <a:ext cx="1" cy="31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27" name="Rectangle 29"/>
            <p:cNvSpPr>
              <a:spLocks noChangeArrowheads="1"/>
            </p:cNvSpPr>
            <p:nvPr/>
          </p:nvSpPr>
          <p:spPr bwMode="auto">
            <a:xfrm>
              <a:off x="4474" y="270"/>
              <a:ext cx="7" cy="3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28" name="Line 30"/>
            <p:cNvSpPr>
              <a:spLocks noChangeShapeType="1"/>
            </p:cNvSpPr>
            <p:nvPr/>
          </p:nvSpPr>
          <p:spPr bwMode="auto">
            <a:xfrm>
              <a:off x="4474" y="270"/>
              <a:ext cx="1" cy="31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29" name="Rectangle 31"/>
            <p:cNvSpPr>
              <a:spLocks noChangeArrowheads="1"/>
            </p:cNvSpPr>
            <p:nvPr/>
          </p:nvSpPr>
          <p:spPr bwMode="auto">
            <a:xfrm>
              <a:off x="5206" y="270"/>
              <a:ext cx="14" cy="3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30" name="Line 32"/>
            <p:cNvSpPr>
              <a:spLocks noChangeShapeType="1"/>
            </p:cNvSpPr>
            <p:nvPr/>
          </p:nvSpPr>
          <p:spPr bwMode="auto">
            <a:xfrm>
              <a:off x="5206" y="270"/>
              <a:ext cx="1" cy="31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31" name="Rectangle 33"/>
            <p:cNvSpPr>
              <a:spLocks noChangeArrowheads="1"/>
            </p:cNvSpPr>
            <p:nvPr/>
          </p:nvSpPr>
          <p:spPr bwMode="auto">
            <a:xfrm>
              <a:off x="3695" y="592"/>
              <a:ext cx="60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sz="2600">
                  <a:solidFill>
                    <a:srgbClr val="000000"/>
                  </a:solidFill>
                </a:rPr>
                <a:t>yuppy</a:t>
              </a:r>
              <a:endParaRPr lang="en-US" sz="1200"/>
            </a:p>
          </p:txBody>
        </p:sp>
        <p:sp>
          <p:nvSpPr>
            <p:cNvPr id="4132" name="Rectangle 34"/>
            <p:cNvSpPr>
              <a:spLocks noChangeArrowheads="1"/>
            </p:cNvSpPr>
            <p:nvPr/>
          </p:nvSpPr>
          <p:spPr bwMode="auto">
            <a:xfrm>
              <a:off x="4527" y="592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sz="2600">
                  <a:solidFill>
                    <a:srgbClr val="000000"/>
                  </a:solidFill>
                </a:rPr>
                <a:t>9</a:t>
              </a:r>
              <a:endParaRPr lang="en-US" sz="1200"/>
            </a:p>
          </p:txBody>
        </p:sp>
        <p:sp>
          <p:nvSpPr>
            <p:cNvPr id="4133" name="Rectangle 35"/>
            <p:cNvSpPr>
              <a:spLocks noChangeArrowheads="1"/>
            </p:cNvSpPr>
            <p:nvPr/>
          </p:nvSpPr>
          <p:spPr bwMode="auto">
            <a:xfrm>
              <a:off x="3649" y="581"/>
              <a:ext cx="15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34" name="Line 36"/>
            <p:cNvSpPr>
              <a:spLocks noChangeShapeType="1"/>
            </p:cNvSpPr>
            <p:nvPr/>
          </p:nvSpPr>
          <p:spPr bwMode="auto">
            <a:xfrm>
              <a:off x="3649" y="581"/>
              <a:ext cx="15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35" name="Rectangle 37"/>
            <p:cNvSpPr>
              <a:spLocks noChangeArrowheads="1"/>
            </p:cNvSpPr>
            <p:nvPr/>
          </p:nvSpPr>
          <p:spPr bwMode="auto">
            <a:xfrm>
              <a:off x="3664" y="581"/>
              <a:ext cx="810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36" name="Line 38"/>
            <p:cNvSpPr>
              <a:spLocks noChangeShapeType="1"/>
            </p:cNvSpPr>
            <p:nvPr/>
          </p:nvSpPr>
          <p:spPr bwMode="auto">
            <a:xfrm>
              <a:off x="3664" y="581"/>
              <a:ext cx="810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37" name="Rectangle 39"/>
            <p:cNvSpPr>
              <a:spLocks noChangeArrowheads="1"/>
            </p:cNvSpPr>
            <p:nvPr/>
          </p:nvSpPr>
          <p:spPr bwMode="auto">
            <a:xfrm>
              <a:off x="4474" y="581"/>
              <a:ext cx="7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38" name="Line 40"/>
            <p:cNvSpPr>
              <a:spLocks noChangeShapeType="1"/>
            </p:cNvSpPr>
            <p:nvPr/>
          </p:nvSpPr>
          <p:spPr bwMode="auto">
            <a:xfrm>
              <a:off x="4474" y="581"/>
              <a:ext cx="7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39" name="Line 41"/>
            <p:cNvSpPr>
              <a:spLocks noChangeShapeType="1"/>
            </p:cNvSpPr>
            <p:nvPr/>
          </p:nvSpPr>
          <p:spPr bwMode="auto">
            <a:xfrm>
              <a:off x="4474" y="581"/>
              <a:ext cx="1" cy="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40" name="Rectangle 42"/>
            <p:cNvSpPr>
              <a:spLocks noChangeArrowheads="1"/>
            </p:cNvSpPr>
            <p:nvPr/>
          </p:nvSpPr>
          <p:spPr bwMode="auto">
            <a:xfrm>
              <a:off x="4481" y="581"/>
              <a:ext cx="725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41" name="Line 43"/>
            <p:cNvSpPr>
              <a:spLocks noChangeShapeType="1"/>
            </p:cNvSpPr>
            <p:nvPr/>
          </p:nvSpPr>
          <p:spPr bwMode="auto">
            <a:xfrm>
              <a:off x="4481" y="581"/>
              <a:ext cx="725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42" name="Rectangle 44"/>
            <p:cNvSpPr>
              <a:spLocks noChangeArrowheads="1"/>
            </p:cNvSpPr>
            <p:nvPr/>
          </p:nvSpPr>
          <p:spPr bwMode="auto">
            <a:xfrm>
              <a:off x="5206" y="581"/>
              <a:ext cx="14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43" name="Line 45"/>
            <p:cNvSpPr>
              <a:spLocks noChangeShapeType="1"/>
            </p:cNvSpPr>
            <p:nvPr/>
          </p:nvSpPr>
          <p:spPr bwMode="auto">
            <a:xfrm>
              <a:off x="5206" y="581"/>
              <a:ext cx="14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44" name="Rectangle 46"/>
            <p:cNvSpPr>
              <a:spLocks noChangeArrowheads="1"/>
            </p:cNvSpPr>
            <p:nvPr/>
          </p:nvSpPr>
          <p:spPr bwMode="auto">
            <a:xfrm>
              <a:off x="3649" y="589"/>
              <a:ext cx="15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45" name="Line 47"/>
            <p:cNvSpPr>
              <a:spLocks noChangeShapeType="1"/>
            </p:cNvSpPr>
            <p:nvPr/>
          </p:nvSpPr>
          <p:spPr bwMode="auto">
            <a:xfrm>
              <a:off x="3649" y="589"/>
              <a:ext cx="1" cy="27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46" name="Rectangle 48"/>
            <p:cNvSpPr>
              <a:spLocks noChangeArrowheads="1"/>
            </p:cNvSpPr>
            <p:nvPr/>
          </p:nvSpPr>
          <p:spPr bwMode="auto">
            <a:xfrm>
              <a:off x="4474" y="589"/>
              <a:ext cx="7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47" name="Line 49"/>
            <p:cNvSpPr>
              <a:spLocks noChangeShapeType="1"/>
            </p:cNvSpPr>
            <p:nvPr/>
          </p:nvSpPr>
          <p:spPr bwMode="auto">
            <a:xfrm>
              <a:off x="4474" y="589"/>
              <a:ext cx="1" cy="27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48" name="Rectangle 50"/>
            <p:cNvSpPr>
              <a:spLocks noChangeArrowheads="1"/>
            </p:cNvSpPr>
            <p:nvPr/>
          </p:nvSpPr>
          <p:spPr bwMode="auto">
            <a:xfrm>
              <a:off x="5206" y="589"/>
              <a:ext cx="14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49" name="Line 51"/>
            <p:cNvSpPr>
              <a:spLocks noChangeShapeType="1"/>
            </p:cNvSpPr>
            <p:nvPr/>
          </p:nvSpPr>
          <p:spPr bwMode="auto">
            <a:xfrm>
              <a:off x="5206" y="589"/>
              <a:ext cx="1" cy="27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50" name="Rectangle 52"/>
            <p:cNvSpPr>
              <a:spLocks noChangeArrowheads="1"/>
            </p:cNvSpPr>
            <p:nvPr/>
          </p:nvSpPr>
          <p:spPr bwMode="auto">
            <a:xfrm>
              <a:off x="3695" y="867"/>
              <a:ext cx="59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sz="2600">
                  <a:solidFill>
                    <a:srgbClr val="000000"/>
                  </a:solidFill>
                </a:rPr>
                <a:t>lubber</a:t>
              </a:r>
              <a:endParaRPr lang="en-US" sz="1200"/>
            </a:p>
          </p:txBody>
        </p:sp>
        <p:sp>
          <p:nvSpPr>
            <p:cNvPr id="4151" name="Rectangle 53"/>
            <p:cNvSpPr>
              <a:spLocks noChangeArrowheads="1"/>
            </p:cNvSpPr>
            <p:nvPr/>
          </p:nvSpPr>
          <p:spPr bwMode="auto">
            <a:xfrm>
              <a:off x="4527" y="867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sz="2600">
                  <a:solidFill>
                    <a:srgbClr val="000000"/>
                  </a:solidFill>
                </a:rPr>
                <a:t>8</a:t>
              </a:r>
              <a:endParaRPr lang="en-US" sz="1200"/>
            </a:p>
          </p:txBody>
        </p:sp>
        <p:sp>
          <p:nvSpPr>
            <p:cNvPr id="4152" name="Rectangle 54"/>
            <p:cNvSpPr>
              <a:spLocks noChangeArrowheads="1"/>
            </p:cNvSpPr>
            <p:nvPr/>
          </p:nvSpPr>
          <p:spPr bwMode="auto">
            <a:xfrm>
              <a:off x="3649" y="864"/>
              <a:ext cx="15" cy="25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53" name="Line 55"/>
            <p:cNvSpPr>
              <a:spLocks noChangeShapeType="1"/>
            </p:cNvSpPr>
            <p:nvPr/>
          </p:nvSpPr>
          <p:spPr bwMode="auto">
            <a:xfrm>
              <a:off x="3649" y="864"/>
              <a:ext cx="1" cy="25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54" name="Rectangle 56"/>
            <p:cNvSpPr>
              <a:spLocks noChangeArrowheads="1"/>
            </p:cNvSpPr>
            <p:nvPr/>
          </p:nvSpPr>
          <p:spPr bwMode="auto">
            <a:xfrm>
              <a:off x="4474" y="864"/>
              <a:ext cx="7" cy="25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55" name="Line 57"/>
            <p:cNvSpPr>
              <a:spLocks noChangeShapeType="1"/>
            </p:cNvSpPr>
            <p:nvPr/>
          </p:nvSpPr>
          <p:spPr bwMode="auto">
            <a:xfrm>
              <a:off x="4474" y="864"/>
              <a:ext cx="1" cy="25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56" name="Rectangle 58"/>
            <p:cNvSpPr>
              <a:spLocks noChangeArrowheads="1"/>
            </p:cNvSpPr>
            <p:nvPr/>
          </p:nvSpPr>
          <p:spPr bwMode="auto">
            <a:xfrm>
              <a:off x="5206" y="864"/>
              <a:ext cx="14" cy="25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57" name="Line 59"/>
            <p:cNvSpPr>
              <a:spLocks noChangeShapeType="1"/>
            </p:cNvSpPr>
            <p:nvPr/>
          </p:nvSpPr>
          <p:spPr bwMode="auto">
            <a:xfrm>
              <a:off x="5206" y="864"/>
              <a:ext cx="1" cy="25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58" name="Rectangle 60"/>
            <p:cNvSpPr>
              <a:spLocks noChangeArrowheads="1"/>
            </p:cNvSpPr>
            <p:nvPr/>
          </p:nvSpPr>
          <p:spPr bwMode="auto">
            <a:xfrm>
              <a:off x="3695" y="1120"/>
              <a:ext cx="60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sz="2600">
                  <a:solidFill>
                    <a:srgbClr val="000000"/>
                  </a:solidFill>
                </a:rPr>
                <a:t>guppy</a:t>
              </a:r>
              <a:endParaRPr lang="en-US" sz="1200"/>
            </a:p>
          </p:txBody>
        </p:sp>
        <p:sp>
          <p:nvSpPr>
            <p:cNvPr id="4159" name="Rectangle 61"/>
            <p:cNvSpPr>
              <a:spLocks noChangeArrowheads="1"/>
            </p:cNvSpPr>
            <p:nvPr/>
          </p:nvSpPr>
          <p:spPr bwMode="auto">
            <a:xfrm>
              <a:off x="4527" y="1120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sz="2600">
                  <a:solidFill>
                    <a:srgbClr val="000000"/>
                  </a:solidFill>
                </a:rPr>
                <a:t>5</a:t>
              </a:r>
              <a:endParaRPr lang="en-US" sz="1200"/>
            </a:p>
          </p:txBody>
        </p:sp>
        <p:sp>
          <p:nvSpPr>
            <p:cNvPr id="4160" name="Rectangle 62"/>
            <p:cNvSpPr>
              <a:spLocks noChangeArrowheads="1"/>
            </p:cNvSpPr>
            <p:nvPr/>
          </p:nvSpPr>
          <p:spPr bwMode="auto">
            <a:xfrm>
              <a:off x="3649" y="1117"/>
              <a:ext cx="15" cy="24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61" name="Line 63"/>
            <p:cNvSpPr>
              <a:spLocks noChangeShapeType="1"/>
            </p:cNvSpPr>
            <p:nvPr/>
          </p:nvSpPr>
          <p:spPr bwMode="auto">
            <a:xfrm>
              <a:off x="3649" y="1117"/>
              <a:ext cx="1" cy="246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62" name="Rectangle 64"/>
            <p:cNvSpPr>
              <a:spLocks noChangeArrowheads="1"/>
            </p:cNvSpPr>
            <p:nvPr/>
          </p:nvSpPr>
          <p:spPr bwMode="auto">
            <a:xfrm>
              <a:off x="4474" y="1117"/>
              <a:ext cx="7" cy="24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63" name="Line 65"/>
            <p:cNvSpPr>
              <a:spLocks noChangeShapeType="1"/>
            </p:cNvSpPr>
            <p:nvPr/>
          </p:nvSpPr>
          <p:spPr bwMode="auto">
            <a:xfrm>
              <a:off x="4474" y="1117"/>
              <a:ext cx="1" cy="246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64" name="Rectangle 66"/>
            <p:cNvSpPr>
              <a:spLocks noChangeArrowheads="1"/>
            </p:cNvSpPr>
            <p:nvPr/>
          </p:nvSpPr>
          <p:spPr bwMode="auto">
            <a:xfrm>
              <a:off x="5206" y="1117"/>
              <a:ext cx="14" cy="24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65" name="Line 67"/>
            <p:cNvSpPr>
              <a:spLocks noChangeShapeType="1"/>
            </p:cNvSpPr>
            <p:nvPr/>
          </p:nvSpPr>
          <p:spPr bwMode="auto">
            <a:xfrm>
              <a:off x="5206" y="1117"/>
              <a:ext cx="1" cy="246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66" name="Rectangle 68"/>
            <p:cNvSpPr>
              <a:spLocks noChangeArrowheads="1"/>
            </p:cNvSpPr>
            <p:nvPr/>
          </p:nvSpPr>
          <p:spPr bwMode="auto">
            <a:xfrm>
              <a:off x="3695" y="1366"/>
              <a:ext cx="4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sz="2600">
                  <a:solidFill>
                    <a:srgbClr val="000000"/>
                  </a:solidFill>
                </a:rPr>
                <a:t>rusty</a:t>
              </a:r>
              <a:endParaRPr lang="en-US" sz="1200"/>
            </a:p>
          </p:txBody>
        </p:sp>
        <p:sp>
          <p:nvSpPr>
            <p:cNvPr id="4167" name="Rectangle 69"/>
            <p:cNvSpPr>
              <a:spLocks noChangeArrowheads="1"/>
            </p:cNvSpPr>
            <p:nvPr/>
          </p:nvSpPr>
          <p:spPr bwMode="auto">
            <a:xfrm>
              <a:off x="4527" y="1366"/>
              <a:ext cx="20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sz="2600">
                  <a:solidFill>
                    <a:srgbClr val="000000"/>
                  </a:solidFill>
                </a:rPr>
                <a:t>10</a:t>
              </a:r>
              <a:endParaRPr lang="en-US" sz="1200"/>
            </a:p>
          </p:txBody>
        </p:sp>
        <p:sp>
          <p:nvSpPr>
            <p:cNvPr id="4168" name="Rectangle 70"/>
            <p:cNvSpPr>
              <a:spLocks noChangeArrowheads="1"/>
            </p:cNvSpPr>
            <p:nvPr/>
          </p:nvSpPr>
          <p:spPr bwMode="auto">
            <a:xfrm>
              <a:off x="3649" y="1363"/>
              <a:ext cx="15" cy="24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69" name="Line 71"/>
            <p:cNvSpPr>
              <a:spLocks noChangeShapeType="1"/>
            </p:cNvSpPr>
            <p:nvPr/>
          </p:nvSpPr>
          <p:spPr bwMode="auto">
            <a:xfrm>
              <a:off x="3649" y="1363"/>
              <a:ext cx="1" cy="246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70" name="Rectangle 72"/>
            <p:cNvSpPr>
              <a:spLocks noChangeArrowheads="1"/>
            </p:cNvSpPr>
            <p:nvPr/>
          </p:nvSpPr>
          <p:spPr bwMode="auto">
            <a:xfrm>
              <a:off x="3649" y="1609"/>
              <a:ext cx="825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71" name="Line 73"/>
            <p:cNvSpPr>
              <a:spLocks noChangeShapeType="1"/>
            </p:cNvSpPr>
            <p:nvPr/>
          </p:nvSpPr>
          <p:spPr bwMode="auto">
            <a:xfrm>
              <a:off x="3649" y="1609"/>
              <a:ext cx="825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72" name="Rectangle 74"/>
            <p:cNvSpPr>
              <a:spLocks noChangeArrowheads="1"/>
            </p:cNvSpPr>
            <p:nvPr/>
          </p:nvSpPr>
          <p:spPr bwMode="auto">
            <a:xfrm>
              <a:off x="4474" y="1363"/>
              <a:ext cx="7" cy="24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73" name="Line 75"/>
            <p:cNvSpPr>
              <a:spLocks noChangeShapeType="1"/>
            </p:cNvSpPr>
            <p:nvPr/>
          </p:nvSpPr>
          <p:spPr bwMode="auto">
            <a:xfrm>
              <a:off x="4474" y="1363"/>
              <a:ext cx="1" cy="246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74" name="Rectangle 76"/>
            <p:cNvSpPr>
              <a:spLocks noChangeArrowheads="1"/>
            </p:cNvSpPr>
            <p:nvPr/>
          </p:nvSpPr>
          <p:spPr bwMode="auto">
            <a:xfrm>
              <a:off x="4474" y="1609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75" name="Line 77"/>
            <p:cNvSpPr>
              <a:spLocks noChangeShapeType="1"/>
            </p:cNvSpPr>
            <p:nvPr/>
          </p:nvSpPr>
          <p:spPr bwMode="auto">
            <a:xfrm>
              <a:off x="4474" y="1609"/>
              <a:ext cx="7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76" name="Line 78"/>
            <p:cNvSpPr>
              <a:spLocks noChangeShapeType="1"/>
            </p:cNvSpPr>
            <p:nvPr/>
          </p:nvSpPr>
          <p:spPr bwMode="auto">
            <a:xfrm>
              <a:off x="4474" y="1609"/>
              <a:ext cx="1" cy="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77" name="Rectangle 79"/>
            <p:cNvSpPr>
              <a:spLocks noChangeArrowheads="1"/>
            </p:cNvSpPr>
            <p:nvPr/>
          </p:nvSpPr>
          <p:spPr bwMode="auto">
            <a:xfrm>
              <a:off x="4481" y="1609"/>
              <a:ext cx="725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78" name="Line 80"/>
            <p:cNvSpPr>
              <a:spLocks noChangeShapeType="1"/>
            </p:cNvSpPr>
            <p:nvPr/>
          </p:nvSpPr>
          <p:spPr bwMode="auto">
            <a:xfrm>
              <a:off x="4481" y="1609"/>
              <a:ext cx="725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79" name="Rectangle 81"/>
            <p:cNvSpPr>
              <a:spLocks noChangeArrowheads="1"/>
            </p:cNvSpPr>
            <p:nvPr/>
          </p:nvSpPr>
          <p:spPr bwMode="auto">
            <a:xfrm>
              <a:off x="5206" y="1363"/>
              <a:ext cx="14" cy="24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80" name="Line 82"/>
            <p:cNvSpPr>
              <a:spLocks noChangeShapeType="1"/>
            </p:cNvSpPr>
            <p:nvPr/>
          </p:nvSpPr>
          <p:spPr bwMode="auto">
            <a:xfrm>
              <a:off x="5206" y="1363"/>
              <a:ext cx="1" cy="246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81" name="Rectangle 83"/>
            <p:cNvSpPr>
              <a:spLocks noChangeArrowheads="1"/>
            </p:cNvSpPr>
            <p:nvPr/>
          </p:nvSpPr>
          <p:spPr bwMode="auto">
            <a:xfrm>
              <a:off x="5206" y="1609"/>
              <a:ext cx="14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4182" name="Line 84"/>
            <p:cNvSpPr>
              <a:spLocks noChangeShapeType="1"/>
            </p:cNvSpPr>
            <p:nvPr/>
          </p:nvSpPr>
          <p:spPr bwMode="auto">
            <a:xfrm>
              <a:off x="5206" y="1609"/>
              <a:ext cx="14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</p:grpSp>
      <p:graphicFrame>
        <p:nvGraphicFramePr>
          <p:cNvPr id="10325" name="Object 85"/>
          <p:cNvGraphicFramePr>
            <a:graphicFrameLocks/>
          </p:cNvGraphicFramePr>
          <p:nvPr/>
        </p:nvGraphicFramePr>
        <p:xfrm>
          <a:off x="5715000" y="2819400"/>
          <a:ext cx="3124200" cy="649288"/>
        </p:xfrm>
        <a:graphic>
          <a:graphicData uri="http://schemas.openxmlformats.org/presentationml/2006/ole">
            <p:oleObj spid="_x0000_s128028" name="Equation" r:id="rId8" imgW="3136900" imgH="660400" progId="Equation.3">
              <p:embed/>
            </p:oleObj>
          </a:graphicData>
        </a:graphic>
      </p:graphicFrame>
      <p:graphicFrame>
        <p:nvGraphicFramePr>
          <p:cNvPr id="10326" name="Object 86"/>
          <p:cNvGraphicFramePr>
            <a:graphicFrameLocks/>
          </p:cNvGraphicFramePr>
          <p:nvPr/>
        </p:nvGraphicFramePr>
        <p:xfrm>
          <a:off x="6553200" y="5969000"/>
          <a:ext cx="2087563" cy="736600"/>
        </p:xfrm>
        <a:graphic>
          <a:graphicData uri="http://schemas.openxmlformats.org/presentationml/2006/ole">
            <p:oleObj spid="_x0000_s128029" name="Equation" r:id="rId9" imgW="2123691" imgH="757838" progId="Equation.3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6170759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endParaRPr lang="en-US" smtClean="0">
              <a:solidFill>
                <a:srgbClr val="000000"/>
              </a:solidFill>
              <a:latin typeface="Times New Roman" pitchFamily="-32" charset="0"/>
            </a:endParaRPr>
          </a:p>
          <a:p>
            <a:endParaRPr lang="en-US" smtClean="0">
              <a:solidFill>
                <a:srgbClr val="000000"/>
              </a:solidFill>
              <a:latin typeface="Times New Roman" pitchFamily="-32" charset="0"/>
            </a:endParaRPr>
          </a:p>
        </p:txBody>
      </p:sp>
      <p:sp>
        <p:nvSpPr>
          <p:cNvPr id="5125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200"/>
          </a:p>
        </p:txBody>
      </p:sp>
      <p:sp>
        <p:nvSpPr>
          <p:cNvPr id="5126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200"/>
          </a:p>
        </p:txBody>
      </p:sp>
      <p:sp>
        <p:nvSpPr>
          <p:cNvPr id="5127" name="Rectangle 4"/>
          <p:cNvSpPr>
            <a:spLocks noGrp="1" noChangeArrowheads="1"/>
          </p:cNvSpPr>
          <p:nvPr>
            <p:ph type="title"/>
          </p:nvPr>
        </p:nvSpPr>
        <p:spPr>
          <a:xfrm>
            <a:off x="400526" y="-30480"/>
            <a:ext cx="7772400" cy="1143000"/>
          </a:xfrm>
          <a:noFill/>
        </p:spPr>
        <p:txBody>
          <a:bodyPr/>
          <a:lstStyle/>
          <a:p>
            <a:r>
              <a:rPr lang="en-US" b="1" dirty="0" smtClean="0"/>
              <a:t>Selection (</a:t>
            </a:r>
            <a:r>
              <a:rPr lang="en-US" sz="4800" b="1" dirty="0" smtClean="0">
                <a:sym typeface="Symbol" pitchFamily="-32" charset="2"/>
              </a:rPr>
              <a:t></a:t>
            </a:r>
            <a:r>
              <a:rPr lang="en-US" b="1" dirty="0" smtClean="0">
                <a:sym typeface="Symbol" pitchFamily="-32" charset="2"/>
              </a:rPr>
              <a:t>)</a:t>
            </a:r>
            <a:endParaRPr lang="en-US" b="1" dirty="0" smtClean="0"/>
          </a:p>
        </p:txBody>
      </p:sp>
      <p:graphicFrame>
        <p:nvGraphicFramePr>
          <p:cNvPr id="46085" name="Object 5"/>
          <p:cNvGraphicFramePr>
            <a:graphicFrameLocks/>
          </p:cNvGraphicFramePr>
          <p:nvPr/>
        </p:nvGraphicFramePr>
        <p:xfrm>
          <a:off x="1042988" y="6175375"/>
          <a:ext cx="3009900" cy="811213"/>
        </p:xfrm>
        <a:graphic>
          <a:graphicData uri="http://schemas.openxmlformats.org/presentationml/2006/ole">
            <p:oleObj spid="_x0000_s129052" name="Equation" r:id="rId4" imgW="3017480" imgH="824030" progId="Equation.3">
              <p:embed/>
            </p:oleObj>
          </a:graphicData>
        </a:graphic>
      </p:graphicFrame>
      <p:grpSp>
        <p:nvGrpSpPr>
          <p:cNvPr id="5354" name="Group 1258"/>
          <p:cNvGrpSpPr>
            <a:grpSpLocks/>
          </p:cNvGrpSpPr>
          <p:nvPr/>
        </p:nvGrpSpPr>
        <p:grpSpPr bwMode="auto">
          <a:xfrm>
            <a:off x="5284788" y="4594225"/>
            <a:ext cx="2682875" cy="1447800"/>
            <a:chOff x="3329" y="2894"/>
            <a:chExt cx="1690" cy="912"/>
          </a:xfrm>
        </p:grpSpPr>
        <p:sp>
          <p:nvSpPr>
            <p:cNvPr id="5128" name="Rectangle 178"/>
            <p:cNvSpPr>
              <a:spLocks noChangeArrowheads="1"/>
            </p:cNvSpPr>
            <p:nvPr/>
          </p:nvSpPr>
          <p:spPr bwMode="auto">
            <a:xfrm>
              <a:off x="3345" y="2902"/>
              <a:ext cx="853" cy="285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29" name="Rectangle 179"/>
            <p:cNvSpPr>
              <a:spLocks noChangeArrowheads="1"/>
            </p:cNvSpPr>
            <p:nvPr/>
          </p:nvSpPr>
          <p:spPr bwMode="auto">
            <a:xfrm>
              <a:off x="3377" y="2902"/>
              <a:ext cx="781" cy="270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30" name="Rectangle 180"/>
            <p:cNvSpPr>
              <a:spLocks noChangeArrowheads="1"/>
            </p:cNvSpPr>
            <p:nvPr/>
          </p:nvSpPr>
          <p:spPr bwMode="auto">
            <a:xfrm>
              <a:off x="3380" y="2906"/>
              <a:ext cx="64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sz="2800">
                  <a:solidFill>
                    <a:srgbClr val="000000"/>
                  </a:solidFill>
                </a:rPr>
                <a:t>sname</a:t>
              </a:r>
              <a:endParaRPr lang="en-US" sz="1200"/>
            </a:p>
          </p:txBody>
        </p:sp>
        <p:sp>
          <p:nvSpPr>
            <p:cNvPr id="5131" name="Rectangle 181"/>
            <p:cNvSpPr>
              <a:spLocks noChangeArrowheads="1"/>
            </p:cNvSpPr>
            <p:nvPr/>
          </p:nvSpPr>
          <p:spPr bwMode="auto">
            <a:xfrm>
              <a:off x="4214" y="2902"/>
              <a:ext cx="789" cy="285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32" name="Rectangle 182"/>
            <p:cNvSpPr>
              <a:spLocks noChangeArrowheads="1"/>
            </p:cNvSpPr>
            <p:nvPr/>
          </p:nvSpPr>
          <p:spPr bwMode="auto">
            <a:xfrm>
              <a:off x="4253" y="2902"/>
              <a:ext cx="718" cy="270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33" name="Rectangle 183"/>
            <p:cNvSpPr>
              <a:spLocks noChangeArrowheads="1"/>
            </p:cNvSpPr>
            <p:nvPr/>
          </p:nvSpPr>
          <p:spPr bwMode="auto">
            <a:xfrm>
              <a:off x="4257" y="2906"/>
              <a:ext cx="59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sz="2800">
                  <a:solidFill>
                    <a:srgbClr val="000000"/>
                  </a:solidFill>
                </a:rPr>
                <a:t>rating</a:t>
              </a:r>
              <a:endParaRPr lang="en-US" sz="1200"/>
            </a:p>
          </p:txBody>
        </p:sp>
        <p:sp>
          <p:nvSpPr>
            <p:cNvPr id="5134" name="Rectangle 184"/>
            <p:cNvSpPr>
              <a:spLocks noChangeArrowheads="1"/>
            </p:cNvSpPr>
            <p:nvPr/>
          </p:nvSpPr>
          <p:spPr bwMode="auto">
            <a:xfrm>
              <a:off x="3329" y="2894"/>
              <a:ext cx="869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35" name="Line 185"/>
            <p:cNvSpPr>
              <a:spLocks noChangeShapeType="1"/>
            </p:cNvSpPr>
            <p:nvPr/>
          </p:nvSpPr>
          <p:spPr bwMode="auto">
            <a:xfrm>
              <a:off x="3329" y="2894"/>
              <a:ext cx="86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36" name="Rectangle 186"/>
            <p:cNvSpPr>
              <a:spLocks noChangeArrowheads="1"/>
            </p:cNvSpPr>
            <p:nvPr/>
          </p:nvSpPr>
          <p:spPr bwMode="auto">
            <a:xfrm>
              <a:off x="4198" y="2894"/>
              <a:ext cx="8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37" name="Line 187"/>
            <p:cNvSpPr>
              <a:spLocks noChangeShapeType="1"/>
            </p:cNvSpPr>
            <p:nvPr/>
          </p:nvSpPr>
          <p:spPr bwMode="auto">
            <a:xfrm>
              <a:off x="4198" y="2894"/>
              <a:ext cx="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38" name="Line 188"/>
            <p:cNvSpPr>
              <a:spLocks noChangeShapeType="1"/>
            </p:cNvSpPr>
            <p:nvPr/>
          </p:nvSpPr>
          <p:spPr bwMode="auto">
            <a:xfrm>
              <a:off x="4198" y="2894"/>
              <a:ext cx="1" cy="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39" name="Rectangle 189"/>
            <p:cNvSpPr>
              <a:spLocks noChangeArrowheads="1"/>
            </p:cNvSpPr>
            <p:nvPr/>
          </p:nvSpPr>
          <p:spPr bwMode="auto">
            <a:xfrm>
              <a:off x="4206" y="2894"/>
              <a:ext cx="797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40" name="Line 190"/>
            <p:cNvSpPr>
              <a:spLocks noChangeShapeType="1"/>
            </p:cNvSpPr>
            <p:nvPr/>
          </p:nvSpPr>
          <p:spPr bwMode="auto">
            <a:xfrm>
              <a:off x="4206" y="2894"/>
              <a:ext cx="79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41" name="Rectangle 191"/>
            <p:cNvSpPr>
              <a:spLocks noChangeArrowheads="1"/>
            </p:cNvSpPr>
            <p:nvPr/>
          </p:nvSpPr>
          <p:spPr bwMode="auto">
            <a:xfrm>
              <a:off x="5003" y="2894"/>
              <a:ext cx="16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42" name="Line 192"/>
            <p:cNvSpPr>
              <a:spLocks noChangeShapeType="1"/>
            </p:cNvSpPr>
            <p:nvPr/>
          </p:nvSpPr>
          <p:spPr bwMode="auto">
            <a:xfrm>
              <a:off x="5003" y="2894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43" name="Rectangle 193"/>
            <p:cNvSpPr>
              <a:spLocks noChangeArrowheads="1"/>
            </p:cNvSpPr>
            <p:nvPr/>
          </p:nvSpPr>
          <p:spPr bwMode="auto">
            <a:xfrm>
              <a:off x="3329" y="2902"/>
              <a:ext cx="16" cy="28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44" name="Line 194"/>
            <p:cNvSpPr>
              <a:spLocks noChangeShapeType="1"/>
            </p:cNvSpPr>
            <p:nvPr/>
          </p:nvSpPr>
          <p:spPr bwMode="auto">
            <a:xfrm>
              <a:off x="3329" y="2902"/>
              <a:ext cx="1" cy="2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45" name="Rectangle 195"/>
            <p:cNvSpPr>
              <a:spLocks noChangeArrowheads="1"/>
            </p:cNvSpPr>
            <p:nvPr/>
          </p:nvSpPr>
          <p:spPr bwMode="auto">
            <a:xfrm>
              <a:off x="4198" y="2902"/>
              <a:ext cx="8" cy="28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46" name="Line 196"/>
            <p:cNvSpPr>
              <a:spLocks noChangeShapeType="1"/>
            </p:cNvSpPr>
            <p:nvPr/>
          </p:nvSpPr>
          <p:spPr bwMode="auto">
            <a:xfrm>
              <a:off x="4198" y="2902"/>
              <a:ext cx="1" cy="2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47" name="Rectangle 197"/>
            <p:cNvSpPr>
              <a:spLocks noChangeArrowheads="1"/>
            </p:cNvSpPr>
            <p:nvPr/>
          </p:nvSpPr>
          <p:spPr bwMode="auto">
            <a:xfrm>
              <a:off x="5003" y="2902"/>
              <a:ext cx="16" cy="28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48" name="Line 198"/>
            <p:cNvSpPr>
              <a:spLocks noChangeShapeType="1"/>
            </p:cNvSpPr>
            <p:nvPr/>
          </p:nvSpPr>
          <p:spPr bwMode="auto">
            <a:xfrm>
              <a:off x="5003" y="2902"/>
              <a:ext cx="1" cy="2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49" name="Rectangle 199"/>
            <p:cNvSpPr>
              <a:spLocks noChangeArrowheads="1"/>
            </p:cNvSpPr>
            <p:nvPr/>
          </p:nvSpPr>
          <p:spPr bwMode="auto">
            <a:xfrm>
              <a:off x="3380" y="3199"/>
              <a:ext cx="65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sz="2800">
                  <a:solidFill>
                    <a:srgbClr val="000000"/>
                  </a:solidFill>
                </a:rPr>
                <a:t>yuppy</a:t>
              </a:r>
              <a:endParaRPr lang="en-US" sz="1200"/>
            </a:p>
          </p:txBody>
        </p:sp>
        <p:sp>
          <p:nvSpPr>
            <p:cNvPr id="5150" name="Rectangle 200"/>
            <p:cNvSpPr>
              <a:spLocks noChangeArrowheads="1"/>
            </p:cNvSpPr>
            <p:nvPr/>
          </p:nvSpPr>
          <p:spPr bwMode="auto">
            <a:xfrm>
              <a:off x="4257" y="3199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sz="2800">
                  <a:solidFill>
                    <a:srgbClr val="000000"/>
                  </a:solidFill>
                </a:rPr>
                <a:t>9</a:t>
              </a:r>
              <a:endParaRPr lang="en-US" sz="1200"/>
            </a:p>
          </p:txBody>
        </p:sp>
        <p:sp>
          <p:nvSpPr>
            <p:cNvPr id="5151" name="Rectangle 201"/>
            <p:cNvSpPr>
              <a:spLocks noChangeArrowheads="1"/>
            </p:cNvSpPr>
            <p:nvPr/>
          </p:nvSpPr>
          <p:spPr bwMode="auto">
            <a:xfrm>
              <a:off x="3329" y="3187"/>
              <a:ext cx="16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52" name="Line 202"/>
            <p:cNvSpPr>
              <a:spLocks noChangeShapeType="1"/>
            </p:cNvSpPr>
            <p:nvPr/>
          </p:nvSpPr>
          <p:spPr bwMode="auto">
            <a:xfrm>
              <a:off x="3329" y="31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53" name="Rectangle 203"/>
            <p:cNvSpPr>
              <a:spLocks noChangeArrowheads="1"/>
            </p:cNvSpPr>
            <p:nvPr/>
          </p:nvSpPr>
          <p:spPr bwMode="auto">
            <a:xfrm>
              <a:off x="3345" y="3187"/>
              <a:ext cx="853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54" name="Line 204"/>
            <p:cNvSpPr>
              <a:spLocks noChangeShapeType="1"/>
            </p:cNvSpPr>
            <p:nvPr/>
          </p:nvSpPr>
          <p:spPr bwMode="auto">
            <a:xfrm>
              <a:off x="3345" y="3187"/>
              <a:ext cx="85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55" name="Rectangle 205"/>
            <p:cNvSpPr>
              <a:spLocks noChangeArrowheads="1"/>
            </p:cNvSpPr>
            <p:nvPr/>
          </p:nvSpPr>
          <p:spPr bwMode="auto">
            <a:xfrm>
              <a:off x="4198" y="3187"/>
              <a:ext cx="8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56" name="Line 206"/>
            <p:cNvSpPr>
              <a:spLocks noChangeShapeType="1"/>
            </p:cNvSpPr>
            <p:nvPr/>
          </p:nvSpPr>
          <p:spPr bwMode="auto">
            <a:xfrm>
              <a:off x="4198" y="3187"/>
              <a:ext cx="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57" name="Line 207"/>
            <p:cNvSpPr>
              <a:spLocks noChangeShapeType="1"/>
            </p:cNvSpPr>
            <p:nvPr/>
          </p:nvSpPr>
          <p:spPr bwMode="auto">
            <a:xfrm>
              <a:off x="4198" y="3187"/>
              <a:ext cx="1" cy="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58" name="Rectangle 208"/>
            <p:cNvSpPr>
              <a:spLocks noChangeArrowheads="1"/>
            </p:cNvSpPr>
            <p:nvPr/>
          </p:nvSpPr>
          <p:spPr bwMode="auto">
            <a:xfrm>
              <a:off x="4206" y="3187"/>
              <a:ext cx="797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59" name="Line 209"/>
            <p:cNvSpPr>
              <a:spLocks noChangeShapeType="1"/>
            </p:cNvSpPr>
            <p:nvPr/>
          </p:nvSpPr>
          <p:spPr bwMode="auto">
            <a:xfrm>
              <a:off x="4206" y="3187"/>
              <a:ext cx="79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60" name="Rectangle 210"/>
            <p:cNvSpPr>
              <a:spLocks noChangeArrowheads="1"/>
            </p:cNvSpPr>
            <p:nvPr/>
          </p:nvSpPr>
          <p:spPr bwMode="auto">
            <a:xfrm>
              <a:off x="5003" y="3187"/>
              <a:ext cx="16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61" name="Line 211"/>
            <p:cNvSpPr>
              <a:spLocks noChangeShapeType="1"/>
            </p:cNvSpPr>
            <p:nvPr/>
          </p:nvSpPr>
          <p:spPr bwMode="auto">
            <a:xfrm>
              <a:off x="5003" y="3187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62" name="Rectangle 212"/>
            <p:cNvSpPr>
              <a:spLocks noChangeArrowheads="1"/>
            </p:cNvSpPr>
            <p:nvPr/>
          </p:nvSpPr>
          <p:spPr bwMode="auto">
            <a:xfrm>
              <a:off x="3329" y="3195"/>
              <a:ext cx="16" cy="3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63" name="Line 213"/>
            <p:cNvSpPr>
              <a:spLocks noChangeShapeType="1"/>
            </p:cNvSpPr>
            <p:nvPr/>
          </p:nvSpPr>
          <p:spPr bwMode="auto">
            <a:xfrm>
              <a:off x="3329" y="3195"/>
              <a:ext cx="1" cy="3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64" name="Rectangle 214"/>
            <p:cNvSpPr>
              <a:spLocks noChangeArrowheads="1"/>
            </p:cNvSpPr>
            <p:nvPr/>
          </p:nvSpPr>
          <p:spPr bwMode="auto">
            <a:xfrm>
              <a:off x="4198" y="3195"/>
              <a:ext cx="8" cy="3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65" name="Line 215"/>
            <p:cNvSpPr>
              <a:spLocks noChangeShapeType="1"/>
            </p:cNvSpPr>
            <p:nvPr/>
          </p:nvSpPr>
          <p:spPr bwMode="auto">
            <a:xfrm>
              <a:off x="4198" y="3195"/>
              <a:ext cx="1" cy="3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66" name="Rectangle 216"/>
            <p:cNvSpPr>
              <a:spLocks noChangeArrowheads="1"/>
            </p:cNvSpPr>
            <p:nvPr/>
          </p:nvSpPr>
          <p:spPr bwMode="auto">
            <a:xfrm>
              <a:off x="5003" y="3195"/>
              <a:ext cx="16" cy="3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67" name="Line 217"/>
            <p:cNvSpPr>
              <a:spLocks noChangeShapeType="1"/>
            </p:cNvSpPr>
            <p:nvPr/>
          </p:nvSpPr>
          <p:spPr bwMode="auto">
            <a:xfrm>
              <a:off x="5003" y="3195"/>
              <a:ext cx="1" cy="3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68" name="Rectangle 218"/>
            <p:cNvSpPr>
              <a:spLocks noChangeArrowheads="1"/>
            </p:cNvSpPr>
            <p:nvPr/>
          </p:nvSpPr>
          <p:spPr bwMode="auto">
            <a:xfrm>
              <a:off x="3380" y="3516"/>
              <a:ext cx="51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sz="2800">
                  <a:solidFill>
                    <a:srgbClr val="000000"/>
                  </a:solidFill>
                </a:rPr>
                <a:t>rusty</a:t>
              </a:r>
              <a:endParaRPr lang="en-US" sz="1200"/>
            </a:p>
          </p:txBody>
        </p:sp>
        <p:sp>
          <p:nvSpPr>
            <p:cNvPr id="5169" name="Rectangle 219"/>
            <p:cNvSpPr>
              <a:spLocks noChangeArrowheads="1"/>
            </p:cNvSpPr>
            <p:nvPr/>
          </p:nvSpPr>
          <p:spPr bwMode="auto">
            <a:xfrm>
              <a:off x="4257" y="3516"/>
              <a:ext cx="2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sz="2800">
                  <a:solidFill>
                    <a:srgbClr val="000000"/>
                  </a:solidFill>
                </a:rPr>
                <a:t>10</a:t>
              </a:r>
              <a:endParaRPr lang="en-US" sz="1200"/>
            </a:p>
          </p:txBody>
        </p:sp>
        <p:sp>
          <p:nvSpPr>
            <p:cNvPr id="5170" name="Rectangle 220"/>
            <p:cNvSpPr>
              <a:spLocks noChangeArrowheads="1"/>
            </p:cNvSpPr>
            <p:nvPr/>
          </p:nvSpPr>
          <p:spPr bwMode="auto">
            <a:xfrm>
              <a:off x="3329" y="3512"/>
              <a:ext cx="16" cy="28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71" name="Line 221"/>
            <p:cNvSpPr>
              <a:spLocks noChangeShapeType="1"/>
            </p:cNvSpPr>
            <p:nvPr/>
          </p:nvSpPr>
          <p:spPr bwMode="auto">
            <a:xfrm>
              <a:off x="3329" y="3512"/>
              <a:ext cx="1" cy="2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72" name="Rectangle 222"/>
            <p:cNvSpPr>
              <a:spLocks noChangeArrowheads="1"/>
            </p:cNvSpPr>
            <p:nvPr/>
          </p:nvSpPr>
          <p:spPr bwMode="auto">
            <a:xfrm>
              <a:off x="3329" y="3798"/>
              <a:ext cx="869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73" name="Line 223"/>
            <p:cNvSpPr>
              <a:spLocks noChangeShapeType="1"/>
            </p:cNvSpPr>
            <p:nvPr/>
          </p:nvSpPr>
          <p:spPr bwMode="auto">
            <a:xfrm>
              <a:off x="3329" y="3798"/>
              <a:ext cx="86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74" name="Rectangle 224"/>
            <p:cNvSpPr>
              <a:spLocks noChangeArrowheads="1"/>
            </p:cNvSpPr>
            <p:nvPr/>
          </p:nvSpPr>
          <p:spPr bwMode="auto">
            <a:xfrm>
              <a:off x="4198" y="3512"/>
              <a:ext cx="8" cy="28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75" name="Line 225"/>
            <p:cNvSpPr>
              <a:spLocks noChangeShapeType="1"/>
            </p:cNvSpPr>
            <p:nvPr/>
          </p:nvSpPr>
          <p:spPr bwMode="auto">
            <a:xfrm>
              <a:off x="4198" y="3512"/>
              <a:ext cx="1" cy="2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76" name="Rectangle 226"/>
            <p:cNvSpPr>
              <a:spLocks noChangeArrowheads="1"/>
            </p:cNvSpPr>
            <p:nvPr/>
          </p:nvSpPr>
          <p:spPr bwMode="auto">
            <a:xfrm>
              <a:off x="4198" y="3798"/>
              <a:ext cx="8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77" name="Line 227"/>
            <p:cNvSpPr>
              <a:spLocks noChangeShapeType="1"/>
            </p:cNvSpPr>
            <p:nvPr/>
          </p:nvSpPr>
          <p:spPr bwMode="auto">
            <a:xfrm>
              <a:off x="4198" y="3798"/>
              <a:ext cx="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78" name="Line 228"/>
            <p:cNvSpPr>
              <a:spLocks noChangeShapeType="1"/>
            </p:cNvSpPr>
            <p:nvPr/>
          </p:nvSpPr>
          <p:spPr bwMode="auto">
            <a:xfrm>
              <a:off x="4198" y="3798"/>
              <a:ext cx="1" cy="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79" name="Rectangle 229"/>
            <p:cNvSpPr>
              <a:spLocks noChangeArrowheads="1"/>
            </p:cNvSpPr>
            <p:nvPr/>
          </p:nvSpPr>
          <p:spPr bwMode="auto">
            <a:xfrm>
              <a:off x="4206" y="3798"/>
              <a:ext cx="797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80" name="Line 230"/>
            <p:cNvSpPr>
              <a:spLocks noChangeShapeType="1"/>
            </p:cNvSpPr>
            <p:nvPr/>
          </p:nvSpPr>
          <p:spPr bwMode="auto">
            <a:xfrm>
              <a:off x="4206" y="3798"/>
              <a:ext cx="79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81" name="Rectangle 231"/>
            <p:cNvSpPr>
              <a:spLocks noChangeArrowheads="1"/>
            </p:cNvSpPr>
            <p:nvPr/>
          </p:nvSpPr>
          <p:spPr bwMode="auto">
            <a:xfrm>
              <a:off x="5003" y="3512"/>
              <a:ext cx="16" cy="28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82" name="Line 232"/>
            <p:cNvSpPr>
              <a:spLocks noChangeShapeType="1"/>
            </p:cNvSpPr>
            <p:nvPr/>
          </p:nvSpPr>
          <p:spPr bwMode="auto">
            <a:xfrm>
              <a:off x="5003" y="3512"/>
              <a:ext cx="1" cy="2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83" name="Rectangle 233"/>
            <p:cNvSpPr>
              <a:spLocks noChangeArrowheads="1"/>
            </p:cNvSpPr>
            <p:nvPr/>
          </p:nvSpPr>
          <p:spPr bwMode="auto">
            <a:xfrm>
              <a:off x="5003" y="3798"/>
              <a:ext cx="16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5184" name="Line 234"/>
            <p:cNvSpPr>
              <a:spLocks noChangeShapeType="1"/>
            </p:cNvSpPr>
            <p:nvPr/>
          </p:nvSpPr>
          <p:spPr bwMode="auto">
            <a:xfrm>
              <a:off x="5003" y="3798"/>
              <a:ext cx="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</p:grpSp>
      <p:graphicFrame>
        <p:nvGraphicFramePr>
          <p:cNvPr id="46087" name="Object 7"/>
          <p:cNvGraphicFramePr>
            <a:graphicFrameLocks/>
          </p:cNvGraphicFramePr>
          <p:nvPr/>
        </p:nvGraphicFramePr>
        <p:xfrm>
          <a:off x="4510088" y="6143625"/>
          <a:ext cx="4805362" cy="777875"/>
        </p:xfrm>
        <a:graphic>
          <a:graphicData uri="http://schemas.openxmlformats.org/presentationml/2006/ole">
            <p:oleObj spid="_x0000_s129053" name="Equation" r:id="rId5" imgW="5723525" imgH="948105" progId="Equation.3">
              <p:embed/>
            </p:oleObj>
          </a:graphicData>
        </a:graphic>
      </p:graphicFrame>
      <p:sp>
        <p:nvSpPr>
          <p:cNvPr id="5185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338263"/>
            <a:ext cx="8991600" cy="1728787"/>
          </a:xfrm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b="0" smtClean="0"/>
              <a:t>Selects rows that satisfy </a:t>
            </a:r>
            <a:r>
              <a:rPr lang="en-US" b="0" i="1" smtClean="0">
                <a:solidFill>
                  <a:schemeClr val="accent2"/>
                </a:solidFill>
              </a:rPr>
              <a:t>selection condition</a:t>
            </a:r>
            <a:r>
              <a:rPr lang="en-US" b="0" smtClean="0"/>
              <a:t>.</a:t>
            </a:r>
          </a:p>
          <a:p>
            <a:pPr>
              <a:lnSpc>
                <a:spcPct val="90000"/>
              </a:lnSpc>
            </a:pPr>
            <a:r>
              <a:rPr lang="en-US" b="0" smtClean="0"/>
              <a:t>Result is a relation.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 b="1" i="1" smtClean="0">
                <a:solidFill>
                  <a:schemeClr val="accent2"/>
                </a:solidFill>
              </a:rPr>
              <a:t>Schema</a:t>
            </a:r>
            <a:r>
              <a:rPr lang="en-US" sz="2000" b="1" smtClean="0"/>
              <a:t> </a:t>
            </a:r>
            <a:r>
              <a:rPr lang="en-US" sz="2000" smtClean="0"/>
              <a:t>of result is same as that of the input relation.</a:t>
            </a:r>
          </a:p>
          <a:p>
            <a:pPr>
              <a:lnSpc>
                <a:spcPct val="90000"/>
              </a:lnSpc>
            </a:pPr>
            <a:r>
              <a:rPr lang="en-US" b="0" smtClean="0"/>
              <a:t>Do we need to do duplicate elimination?  </a:t>
            </a:r>
          </a:p>
        </p:txBody>
      </p:sp>
      <p:sp>
        <p:nvSpPr>
          <p:cNvPr id="5186" name="Rectangle 14"/>
          <p:cNvSpPr>
            <a:spLocks noChangeArrowheads="1"/>
          </p:cNvSpPr>
          <p:nvPr/>
        </p:nvSpPr>
        <p:spPr bwMode="auto">
          <a:xfrm>
            <a:off x="434975" y="4030663"/>
            <a:ext cx="595313" cy="404812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187" name="Rectangle 15"/>
          <p:cNvSpPr>
            <a:spLocks noChangeArrowheads="1"/>
          </p:cNvSpPr>
          <p:nvPr/>
        </p:nvSpPr>
        <p:spPr bwMode="auto">
          <a:xfrm>
            <a:off x="436563" y="4044950"/>
            <a:ext cx="40005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sid</a:t>
            </a:r>
            <a:endParaRPr lang="en-US" sz="1200"/>
          </a:p>
        </p:txBody>
      </p:sp>
      <p:sp>
        <p:nvSpPr>
          <p:cNvPr id="5188" name="Rectangle 16"/>
          <p:cNvSpPr>
            <a:spLocks noChangeArrowheads="1"/>
          </p:cNvSpPr>
          <p:nvPr/>
        </p:nvSpPr>
        <p:spPr bwMode="auto">
          <a:xfrm>
            <a:off x="434975" y="4398963"/>
            <a:ext cx="412750" cy="1905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189" name="Rectangle 17"/>
          <p:cNvSpPr>
            <a:spLocks noChangeArrowheads="1"/>
          </p:cNvSpPr>
          <p:nvPr/>
        </p:nvSpPr>
        <p:spPr bwMode="auto">
          <a:xfrm>
            <a:off x="849313" y="4044950"/>
            <a:ext cx="8572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 </a:t>
            </a:r>
            <a:endParaRPr lang="en-US" sz="1200"/>
          </a:p>
        </p:txBody>
      </p:sp>
      <p:sp>
        <p:nvSpPr>
          <p:cNvPr id="5190" name="Rectangle 18"/>
          <p:cNvSpPr>
            <a:spLocks noChangeArrowheads="1"/>
          </p:cNvSpPr>
          <p:nvPr/>
        </p:nvSpPr>
        <p:spPr bwMode="auto">
          <a:xfrm>
            <a:off x="376238" y="4030663"/>
            <a:ext cx="58737" cy="404812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191" name="Rectangle 19"/>
          <p:cNvSpPr>
            <a:spLocks noChangeArrowheads="1"/>
          </p:cNvSpPr>
          <p:nvPr/>
        </p:nvSpPr>
        <p:spPr bwMode="auto">
          <a:xfrm>
            <a:off x="1030288" y="4030663"/>
            <a:ext cx="63500" cy="404812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192" name="Rectangle 20"/>
          <p:cNvSpPr>
            <a:spLocks noChangeArrowheads="1"/>
          </p:cNvSpPr>
          <p:nvPr/>
        </p:nvSpPr>
        <p:spPr bwMode="auto">
          <a:xfrm>
            <a:off x="1168400" y="4030663"/>
            <a:ext cx="1090613" cy="404812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193" name="Rectangle 21"/>
          <p:cNvSpPr>
            <a:spLocks noChangeArrowheads="1"/>
          </p:cNvSpPr>
          <p:nvPr/>
        </p:nvSpPr>
        <p:spPr bwMode="auto">
          <a:xfrm>
            <a:off x="1169988" y="4044950"/>
            <a:ext cx="87630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sname</a:t>
            </a:r>
            <a:endParaRPr lang="en-US" sz="1200"/>
          </a:p>
        </p:txBody>
      </p:sp>
      <p:sp>
        <p:nvSpPr>
          <p:cNvPr id="5194" name="Rectangle 22"/>
          <p:cNvSpPr>
            <a:spLocks noChangeArrowheads="1"/>
          </p:cNvSpPr>
          <p:nvPr/>
        </p:nvSpPr>
        <p:spPr bwMode="auto">
          <a:xfrm>
            <a:off x="2068513" y="4044950"/>
            <a:ext cx="8572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 </a:t>
            </a:r>
            <a:endParaRPr lang="en-US" sz="1200"/>
          </a:p>
        </p:txBody>
      </p:sp>
      <p:sp>
        <p:nvSpPr>
          <p:cNvPr id="5195" name="Rectangle 23"/>
          <p:cNvSpPr>
            <a:spLocks noChangeArrowheads="1"/>
          </p:cNvSpPr>
          <p:nvPr/>
        </p:nvSpPr>
        <p:spPr bwMode="auto">
          <a:xfrm>
            <a:off x="1101725" y="4030663"/>
            <a:ext cx="66675" cy="404812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196" name="Rectangle 24"/>
          <p:cNvSpPr>
            <a:spLocks noChangeArrowheads="1"/>
          </p:cNvSpPr>
          <p:nvPr/>
        </p:nvSpPr>
        <p:spPr bwMode="auto">
          <a:xfrm>
            <a:off x="2259013" y="4030663"/>
            <a:ext cx="61912" cy="404812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197" name="Rectangle 25"/>
          <p:cNvSpPr>
            <a:spLocks noChangeArrowheads="1"/>
          </p:cNvSpPr>
          <p:nvPr/>
        </p:nvSpPr>
        <p:spPr bwMode="auto">
          <a:xfrm>
            <a:off x="2392363" y="4030663"/>
            <a:ext cx="1011237" cy="404812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198" name="Rectangle 26"/>
          <p:cNvSpPr>
            <a:spLocks noChangeArrowheads="1"/>
          </p:cNvSpPr>
          <p:nvPr/>
        </p:nvSpPr>
        <p:spPr bwMode="auto">
          <a:xfrm>
            <a:off x="2393950" y="4044950"/>
            <a:ext cx="80010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rating</a:t>
            </a:r>
            <a:endParaRPr lang="en-US" sz="1200"/>
          </a:p>
        </p:txBody>
      </p:sp>
      <p:sp>
        <p:nvSpPr>
          <p:cNvPr id="5199" name="Rectangle 27"/>
          <p:cNvSpPr>
            <a:spLocks noChangeArrowheads="1"/>
          </p:cNvSpPr>
          <p:nvPr/>
        </p:nvSpPr>
        <p:spPr bwMode="auto">
          <a:xfrm>
            <a:off x="3213100" y="4044950"/>
            <a:ext cx="8572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 </a:t>
            </a:r>
            <a:endParaRPr lang="en-US" sz="1200"/>
          </a:p>
        </p:txBody>
      </p:sp>
      <p:sp>
        <p:nvSpPr>
          <p:cNvPr id="5200" name="Rectangle 28"/>
          <p:cNvSpPr>
            <a:spLocks noChangeArrowheads="1"/>
          </p:cNvSpPr>
          <p:nvPr/>
        </p:nvSpPr>
        <p:spPr bwMode="auto">
          <a:xfrm>
            <a:off x="2330450" y="4030663"/>
            <a:ext cx="61913" cy="404812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01" name="Rectangle 29"/>
          <p:cNvSpPr>
            <a:spLocks noChangeArrowheads="1"/>
          </p:cNvSpPr>
          <p:nvPr/>
        </p:nvSpPr>
        <p:spPr bwMode="auto">
          <a:xfrm>
            <a:off x="3403600" y="4030663"/>
            <a:ext cx="61913" cy="404812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02" name="Rectangle 30"/>
          <p:cNvSpPr>
            <a:spLocks noChangeArrowheads="1"/>
          </p:cNvSpPr>
          <p:nvPr/>
        </p:nvSpPr>
        <p:spPr bwMode="auto">
          <a:xfrm>
            <a:off x="3536950" y="4030663"/>
            <a:ext cx="817563" cy="404812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03" name="Rectangle 31"/>
          <p:cNvSpPr>
            <a:spLocks noChangeArrowheads="1"/>
          </p:cNvSpPr>
          <p:nvPr/>
        </p:nvSpPr>
        <p:spPr bwMode="auto">
          <a:xfrm>
            <a:off x="3538538" y="4044950"/>
            <a:ext cx="47625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age</a:t>
            </a:r>
            <a:endParaRPr lang="en-US" sz="1200"/>
          </a:p>
        </p:txBody>
      </p:sp>
      <p:sp>
        <p:nvSpPr>
          <p:cNvPr id="5204" name="Rectangle 32"/>
          <p:cNvSpPr>
            <a:spLocks noChangeArrowheads="1"/>
          </p:cNvSpPr>
          <p:nvPr/>
        </p:nvSpPr>
        <p:spPr bwMode="auto">
          <a:xfrm>
            <a:off x="4022725" y="4044950"/>
            <a:ext cx="8572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 </a:t>
            </a:r>
            <a:endParaRPr lang="en-US" sz="1200"/>
          </a:p>
        </p:txBody>
      </p:sp>
      <p:sp>
        <p:nvSpPr>
          <p:cNvPr id="5205" name="Rectangle 33"/>
          <p:cNvSpPr>
            <a:spLocks noChangeArrowheads="1"/>
          </p:cNvSpPr>
          <p:nvPr/>
        </p:nvSpPr>
        <p:spPr bwMode="auto">
          <a:xfrm>
            <a:off x="3473450" y="4030663"/>
            <a:ext cx="63500" cy="404812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06" name="Rectangle 34"/>
          <p:cNvSpPr>
            <a:spLocks noChangeArrowheads="1"/>
          </p:cNvSpPr>
          <p:nvPr/>
        </p:nvSpPr>
        <p:spPr bwMode="auto">
          <a:xfrm>
            <a:off x="4354513" y="4030663"/>
            <a:ext cx="58737" cy="404812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07" name="Rectangle 35"/>
          <p:cNvSpPr>
            <a:spLocks noChangeArrowheads="1"/>
          </p:cNvSpPr>
          <p:nvPr/>
        </p:nvSpPr>
        <p:spPr bwMode="auto">
          <a:xfrm>
            <a:off x="358775" y="4021138"/>
            <a:ext cx="735013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08" name="Line 36"/>
          <p:cNvSpPr>
            <a:spLocks noChangeShapeType="1"/>
          </p:cNvSpPr>
          <p:nvPr/>
        </p:nvSpPr>
        <p:spPr bwMode="auto">
          <a:xfrm>
            <a:off x="358775" y="4021138"/>
            <a:ext cx="735013" cy="1587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09" name="Rectangle 37"/>
          <p:cNvSpPr>
            <a:spLocks noChangeArrowheads="1"/>
          </p:cNvSpPr>
          <p:nvPr/>
        </p:nvSpPr>
        <p:spPr bwMode="auto">
          <a:xfrm>
            <a:off x="1093788" y="4021138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10" name="Line 38"/>
          <p:cNvSpPr>
            <a:spLocks noChangeShapeType="1"/>
          </p:cNvSpPr>
          <p:nvPr/>
        </p:nvSpPr>
        <p:spPr bwMode="auto">
          <a:xfrm>
            <a:off x="1093788" y="4021138"/>
            <a:ext cx="7937" cy="1587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11" name="Line 39"/>
          <p:cNvSpPr>
            <a:spLocks noChangeShapeType="1"/>
          </p:cNvSpPr>
          <p:nvPr/>
        </p:nvSpPr>
        <p:spPr bwMode="auto">
          <a:xfrm>
            <a:off x="1093788" y="4021138"/>
            <a:ext cx="1587" cy="9525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12" name="Rectangle 40"/>
          <p:cNvSpPr>
            <a:spLocks noChangeArrowheads="1"/>
          </p:cNvSpPr>
          <p:nvPr/>
        </p:nvSpPr>
        <p:spPr bwMode="auto">
          <a:xfrm>
            <a:off x="1101725" y="4021138"/>
            <a:ext cx="12192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13" name="Line 41"/>
          <p:cNvSpPr>
            <a:spLocks noChangeShapeType="1"/>
          </p:cNvSpPr>
          <p:nvPr/>
        </p:nvSpPr>
        <p:spPr bwMode="auto">
          <a:xfrm>
            <a:off x="1101725" y="4021138"/>
            <a:ext cx="1219200" cy="1587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14" name="Rectangle 42"/>
          <p:cNvSpPr>
            <a:spLocks noChangeArrowheads="1"/>
          </p:cNvSpPr>
          <p:nvPr/>
        </p:nvSpPr>
        <p:spPr bwMode="auto">
          <a:xfrm>
            <a:off x="2320925" y="4021138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15" name="Line 43"/>
          <p:cNvSpPr>
            <a:spLocks noChangeShapeType="1"/>
          </p:cNvSpPr>
          <p:nvPr/>
        </p:nvSpPr>
        <p:spPr bwMode="auto">
          <a:xfrm>
            <a:off x="2320925" y="4021138"/>
            <a:ext cx="9525" cy="1587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16" name="Line 44"/>
          <p:cNvSpPr>
            <a:spLocks noChangeShapeType="1"/>
          </p:cNvSpPr>
          <p:nvPr/>
        </p:nvSpPr>
        <p:spPr bwMode="auto">
          <a:xfrm>
            <a:off x="2320925" y="4021138"/>
            <a:ext cx="1588" cy="9525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17" name="Rectangle 45"/>
          <p:cNvSpPr>
            <a:spLocks noChangeArrowheads="1"/>
          </p:cNvSpPr>
          <p:nvPr/>
        </p:nvSpPr>
        <p:spPr bwMode="auto">
          <a:xfrm>
            <a:off x="2330450" y="4021138"/>
            <a:ext cx="1135063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18" name="Line 46"/>
          <p:cNvSpPr>
            <a:spLocks noChangeShapeType="1"/>
          </p:cNvSpPr>
          <p:nvPr/>
        </p:nvSpPr>
        <p:spPr bwMode="auto">
          <a:xfrm>
            <a:off x="2330450" y="4021138"/>
            <a:ext cx="1135063" cy="1587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19" name="Rectangle 47"/>
          <p:cNvSpPr>
            <a:spLocks noChangeArrowheads="1"/>
          </p:cNvSpPr>
          <p:nvPr/>
        </p:nvSpPr>
        <p:spPr bwMode="auto">
          <a:xfrm>
            <a:off x="3465513" y="4021138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20" name="Line 48"/>
          <p:cNvSpPr>
            <a:spLocks noChangeShapeType="1"/>
          </p:cNvSpPr>
          <p:nvPr/>
        </p:nvSpPr>
        <p:spPr bwMode="auto">
          <a:xfrm>
            <a:off x="3465513" y="4021138"/>
            <a:ext cx="7937" cy="1587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21" name="Line 49"/>
          <p:cNvSpPr>
            <a:spLocks noChangeShapeType="1"/>
          </p:cNvSpPr>
          <p:nvPr/>
        </p:nvSpPr>
        <p:spPr bwMode="auto">
          <a:xfrm>
            <a:off x="3465513" y="4021138"/>
            <a:ext cx="1587" cy="9525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22" name="Rectangle 50"/>
          <p:cNvSpPr>
            <a:spLocks noChangeArrowheads="1"/>
          </p:cNvSpPr>
          <p:nvPr/>
        </p:nvSpPr>
        <p:spPr bwMode="auto">
          <a:xfrm>
            <a:off x="3473450" y="4021138"/>
            <a:ext cx="9398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23" name="Line 51"/>
          <p:cNvSpPr>
            <a:spLocks noChangeShapeType="1"/>
          </p:cNvSpPr>
          <p:nvPr/>
        </p:nvSpPr>
        <p:spPr bwMode="auto">
          <a:xfrm>
            <a:off x="3473450" y="4021138"/>
            <a:ext cx="939800" cy="1587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24" name="Rectangle 52"/>
          <p:cNvSpPr>
            <a:spLocks noChangeArrowheads="1"/>
          </p:cNvSpPr>
          <p:nvPr/>
        </p:nvSpPr>
        <p:spPr bwMode="auto">
          <a:xfrm>
            <a:off x="4413250" y="4021138"/>
            <a:ext cx="17463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25" name="Line 53"/>
          <p:cNvSpPr>
            <a:spLocks noChangeShapeType="1"/>
          </p:cNvSpPr>
          <p:nvPr/>
        </p:nvSpPr>
        <p:spPr bwMode="auto">
          <a:xfrm>
            <a:off x="4413250" y="4021138"/>
            <a:ext cx="17463" cy="1587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26" name="Rectangle 54"/>
          <p:cNvSpPr>
            <a:spLocks noChangeArrowheads="1"/>
          </p:cNvSpPr>
          <p:nvPr/>
        </p:nvSpPr>
        <p:spPr bwMode="auto">
          <a:xfrm>
            <a:off x="358775" y="4030663"/>
            <a:ext cx="17463" cy="4048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27" name="Line 55"/>
          <p:cNvSpPr>
            <a:spLocks noChangeShapeType="1"/>
          </p:cNvSpPr>
          <p:nvPr/>
        </p:nvSpPr>
        <p:spPr bwMode="auto">
          <a:xfrm>
            <a:off x="358775" y="4030663"/>
            <a:ext cx="1588" cy="404812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28" name="Rectangle 56"/>
          <p:cNvSpPr>
            <a:spLocks noChangeArrowheads="1"/>
          </p:cNvSpPr>
          <p:nvPr/>
        </p:nvSpPr>
        <p:spPr bwMode="auto">
          <a:xfrm>
            <a:off x="1093788" y="4030663"/>
            <a:ext cx="7937" cy="4048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29" name="Line 57"/>
          <p:cNvSpPr>
            <a:spLocks noChangeShapeType="1"/>
          </p:cNvSpPr>
          <p:nvPr/>
        </p:nvSpPr>
        <p:spPr bwMode="auto">
          <a:xfrm>
            <a:off x="1093788" y="4030663"/>
            <a:ext cx="1587" cy="404812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30" name="Rectangle 58"/>
          <p:cNvSpPr>
            <a:spLocks noChangeArrowheads="1"/>
          </p:cNvSpPr>
          <p:nvPr/>
        </p:nvSpPr>
        <p:spPr bwMode="auto">
          <a:xfrm>
            <a:off x="2320925" y="4030663"/>
            <a:ext cx="9525" cy="4048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31" name="Line 59"/>
          <p:cNvSpPr>
            <a:spLocks noChangeShapeType="1"/>
          </p:cNvSpPr>
          <p:nvPr/>
        </p:nvSpPr>
        <p:spPr bwMode="auto">
          <a:xfrm>
            <a:off x="2320925" y="4030663"/>
            <a:ext cx="1588" cy="404812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32" name="Rectangle 60"/>
          <p:cNvSpPr>
            <a:spLocks noChangeArrowheads="1"/>
          </p:cNvSpPr>
          <p:nvPr/>
        </p:nvSpPr>
        <p:spPr bwMode="auto">
          <a:xfrm>
            <a:off x="3465513" y="4030663"/>
            <a:ext cx="7937" cy="4048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33" name="Line 61"/>
          <p:cNvSpPr>
            <a:spLocks noChangeShapeType="1"/>
          </p:cNvSpPr>
          <p:nvPr/>
        </p:nvSpPr>
        <p:spPr bwMode="auto">
          <a:xfrm>
            <a:off x="3465513" y="4030663"/>
            <a:ext cx="1587" cy="404812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34" name="Rectangle 62"/>
          <p:cNvSpPr>
            <a:spLocks noChangeArrowheads="1"/>
          </p:cNvSpPr>
          <p:nvPr/>
        </p:nvSpPr>
        <p:spPr bwMode="auto">
          <a:xfrm>
            <a:off x="4413250" y="4030663"/>
            <a:ext cx="17463" cy="4048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35" name="Line 63"/>
          <p:cNvSpPr>
            <a:spLocks noChangeShapeType="1"/>
          </p:cNvSpPr>
          <p:nvPr/>
        </p:nvSpPr>
        <p:spPr bwMode="auto">
          <a:xfrm>
            <a:off x="4413250" y="4030663"/>
            <a:ext cx="1588" cy="404812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36" name="Rectangle 64"/>
          <p:cNvSpPr>
            <a:spLocks noChangeArrowheads="1"/>
          </p:cNvSpPr>
          <p:nvPr/>
        </p:nvSpPr>
        <p:spPr bwMode="auto">
          <a:xfrm>
            <a:off x="436563" y="4460875"/>
            <a:ext cx="34290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28</a:t>
            </a:r>
            <a:endParaRPr lang="en-US" sz="1200"/>
          </a:p>
        </p:txBody>
      </p:sp>
      <p:sp>
        <p:nvSpPr>
          <p:cNvPr id="5237" name="Rectangle 65"/>
          <p:cNvSpPr>
            <a:spLocks noChangeArrowheads="1"/>
          </p:cNvSpPr>
          <p:nvPr/>
        </p:nvSpPr>
        <p:spPr bwMode="auto">
          <a:xfrm>
            <a:off x="792163" y="4460875"/>
            <a:ext cx="8572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 </a:t>
            </a:r>
            <a:endParaRPr lang="en-US" sz="1200"/>
          </a:p>
        </p:txBody>
      </p:sp>
      <p:sp>
        <p:nvSpPr>
          <p:cNvPr id="5238" name="Rectangle 66"/>
          <p:cNvSpPr>
            <a:spLocks noChangeArrowheads="1"/>
          </p:cNvSpPr>
          <p:nvPr/>
        </p:nvSpPr>
        <p:spPr bwMode="auto">
          <a:xfrm>
            <a:off x="1169988" y="4460875"/>
            <a:ext cx="85725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yuppy</a:t>
            </a:r>
            <a:endParaRPr lang="en-US" sz="1200"/>
          </a:p>
        </p:txBody>
      </p:sp>
      <p:sp>
        <p:nvSpPr>
          <p:cNvPr id="5239" name="Rectangle 67"/>
          <p:cNvSpPr>
            <a:spLocks noChangeArrowheads="1"/>
          </p:cNvSpPr>
          <p:nvPr/>
        </p:nvSpPr>
        <p:spPr bwMode="auto">
          <a:xfrm>
            <a:off x="2033588" y="4460875"/>
            <a:ext cx="8572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 </a:t>
            </a:r>
            <a:endParaRPr lang="en-US" sz="1200"/>
          </a:p>
        </p:txBody>
      </p:sp>
      <p:sp>
        <p:nvSpPr>
          <p:cNvPr id="5240" name="Rectangle 68"/>
          <p:cNvSpPr>
            <a:spLocks noChangeArrowheads="1"/>
          </p:cNvSpPr>
          <p:nvPr/>
        </p:nvSpPr>
        <p:spPr bwMode="auto">
          <a:xfrm>
            <a:off x="2674938" y="4460875"/>
            <a:ext cx="17145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9</a:t>
            </a:r>
            <a:endParaRPr lang="en-US" sz="1200"/>
          </a:p>
        </p:txBody>
      </p:sp>
      <p:sp>
        <p:nvSpPr>
          <p:cNvPr id="5241" name="Rectangle 69"/>
          <p:cNvSpPr>
            <a:spLocks noChangeArrowheads="1"/>
          </p:cNvSpPr>
          <p:nvPr/>
        </p:nvSpPr>
        <p:spPr bwMode="auto">
          <a:xfrm>
            <a:off x="2852738" y="4460875"/>
            <a:ext cx="8572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 </a:t>
            </a:r>
            <a:endParaRPr lang="en-US" sz="1200"/>
          </a:p>
        </p:txBody>
      </p:sp>
      <p:sp>
        <p:nvSpPr>
          <p:cNvPr id="5242" name="Rectangle 70"/>
          <p:cNvSpPr>
            <a:spLocks noChangeArrowheads="1"/>
          </p:cNvSpPr>
          <p:nvPr/>
        </p:nvSpPr>
        <p:spPr bwMode="auto">
          <a:xfrm>
            <a:off x="3538538" y="4460875"/>
            <a:ext cx="60007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35.0</a:t>
            </a:r>
            <a:endParaRPr lang="en-US" sz="1200"/>
          </a:p>
        </p:txBody>
      </p:sp>
      <p:sp>
        <p:nvSpPr>
          <p:cNvPr id="5243" name="Rectangle 71"/>
          <p:cNvSpPr>
            <a:spLocks noChangeArrowheads="1"/>
          </p:cNvSpPr>
          <p:nvPr/>
        </p:nvSpPr>
        <p:spPr bwMode="auto">
          <a:xfrm>
            <a:off x="4160838" y="4460875"/>
            <a:ext cx="8572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 </a:t>
            </a:r>
            <a:endParaRPr lang="en-US" sz="1200"/>
          </a:p>
        </p:txBody>
      </p:sp>
      <p:sp>
        <p:nvSpPr>
          <p:cNvPr id="5244" name="Rectangle 72"/>
          <p:cNvSpPr>
            <a:spLocks noChangeArrowheads="1"/>
          </p:cNvSpPr>
          <p:nvPr/>
        </p:nvSpPr>
        <p:spPr bwMode="auto">
          <a:xfrm>
            <a:off x="358775" y="4435475"/>
            <a:ext cx="17463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45" name="Line 73"/>
          <p:cNvSpPr>
            <a:spLocks noChangeShapeType="1"/>
          </p:cNvSpPr>
          <p:nvPr/>
        </p:nvSpPr>
        <p:spPr bwMode="auto">
          <a:xfrm>
            <a:off x="358775" y="4435475"/>
            <a:ext cx="17463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46" name="Rectangle 74"/>
          <p:cNvSpPr>
            <a:spLocks noChangeArrowheads="1"/>
          </p:cNvSpPr>
          <p:nvPr/>
        </p:nvSpPr>
        <p:spPr bwMode="auto">
          <a:xfrm>
            <a:off x="376238" y="4435475"/>
            <a:ext cx="71755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47" name="Line 75"/>
          <p:cNvSpPr>
            <a:spLocks noChangeShapeType="1"/>
          </p:cNvSpPr>
          <p:nvPr/>
        </p:nvSpPr>
        <p:spPr bwMode="auto">
          <a:xfrm>
            <a:off x="376238" y="4435475"/>
            <a:ext cx="717550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48" name="Rectangle 76"/>
          <p:cNvSpPr>
            <a:spLocks noChangeArrowheads="1"/>
          </p:cNvSpPr>
          <p:nvPr/>
        </p:nvSpPr>
        <p:spPr bwMode="auto">
          <a:xfrm>
            <a:off x="1093788" y="4435475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49" name="Line 77"/>
          <p:cNvSpPr>
            <a:spLocks noChangeShapeType="1"/>
          </p:cNvSpPr>
          <p:nvPr/>
        </p:nvSpPr>
        <p:spPr bwMode="auto">
          <a:xfrm>
            <a:off x="1093788" y="4435475"/>
            <a:ext cx="7937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50" name="Line 78"/>
          <p:cNvSpPr>
            <a:spLocks noChangeShapeType="1"/>
          </p:cNvSpPr>
          <p:nvPr/>
        </p:nvSpPr>
        <p:spPr bwMode="auto">
          <a:xfrm>
            <a:off x="1093788" y="4435475"/>
            <a:ext cx="1587" cy="9525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51" name="Rectangle 79"/>
          <p:cNvSpPr>
            <a:spLocks noChangeArrowheads="1"/>
          </p:cNvSpPr>
          <p:nvPr/>
        </p:nvSpPr>
        <p:spPr bwMode="auto">
          <a:xfrm>
            <a:off x="1101725" y="4435475"/>
            <a:ext cx="12192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52" name="Line 80"/>
          <p:cNvSpPr>
            <a:spLocks noChangeShapeType="1"/>
          </p:cNvSpPr>
          <p:nvPr/>
        </p:nvSpPr>
        <p:spPr bwMode="auto">
          <a:xfrm>
            <a:off x="1101725" y="4435475"/>
            <a:ext cx="1219200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53" name="Rectangle 81"/>
          <p:cNvSpPr>
            <a:spLocks noChangeArrowheads="1"/>
          </p:cNvSpPr>
          <p:nvPr/>
        </p:nvSpPr>
        <p:spPr bwMode="auto">
          <a:xfrm>
            <a:off x="2320925" y="4435475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54" name="Line 82"/>
          <p:cNvSpPr>
            <a:spLocks noChangeShapeType="1"/>
          </p:cNvSpPr>
          <p:nvPr/>
        </p:nvSpPr>
        <p:spPr bwMode="auto">
          <a:xfrm>
            <a:off x="2320925" y="4435475"/>
            <a:ext cx="9525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55" name="Line 83"/>
          <p:cNvSpPr>
            <a:spLocks noChangeShapeType="1"/>
          </p:cNvSpPr>
          <p:nvPr/>
        </p:nvSpPr>
        <p:spPr bwMode="auto">
          <a:xfrm>
            <a:off x="2320925" y="4435475"/>
            <a:ext cx="1588" cy="9525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56" name="Rectangle 84"/>
          <p:cNvSpPr>
            <a:spLocks noChangeArrowheads="1"/>
          </p:cNvSpPr>
          <p:nvPr/>
        </p:nvSpPr>
        <p:spPr bwMode="auto">
          <a:xfrm>
            <a:off x="2330450" y="4435475"/>
            <a:ext cx="1135063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57" name="Line 85"/>
          <p:cNvSpPr>
            <a:spLocks noChangeShapeType="1"/>
          </p:cNvSpPr>
          <p:nvPr/>
        </p:nvSpPr>
        <p:spPr bwMode="auto">
          <a:xfrm>
            <a:off x="2330450" y="4435475"/>
            <a:ext cx="1135063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58" name="Rectangle 86"/>
          <p:cNvSpPr>
            <a:spLocks noChangeArrowheads="1"/>
          </p:cNvSpPr>
          <p:nvPr/>
        </p:nvSpPr>
        <p:spPr bwMode="auto">
          <a:xfrm>
            <a:off x="3465513" y="4435475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59" name="Line 87"/>
          <p:cNvSpPr>
            <a:spLocks noChangeShapeType="1"/>
          </p:cNvSpPr>
          <p:nvPr/>
        </p:nvSpPr>
        <p:spPr bwMode="auto">
          <a:xfrm>
            <a:off x="3465513" y="4435475"/>
            <a:ext cx="7937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60" name="Line 88"/>
          <p:cNvSpPr>
            <a:spLocks noChangeShapeType="1"/>
          </p:cNvSpPr>
          <p:nvPr/>
        </p:nvSpPr>
        <p:spPr bwMode="auto">
          <a:xfrm>
            <a:off x="3465513" y="4435475"/>
            <a:ext cx="1587" cy="9525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61" name="Rectangle 89"/>
          <p:cNvSpPr>
            <a:spLocks noChangeArrowheads="1"/>
          </p:cNvSpPr>
          <p:nvPr/>
        </p:nvSpPr>
        <p:spPr bwMode="auto">
          <a:xfrm>
            <a:off x="3473450" y="4435475"/>
            <a:ext cx="9398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62" name="Line 90"/>
          <p:cNvSpPr>
            <a:spLocks noChangeShapeType="1"/>
          </p:cNvSpPr>
          <p:nvPr/>
        </p:nvSpPr>
        <p:spPr bwMode="auto">
          <a:xfrm>
            <a:off x="3473450" y="4435475"/>
            <a:ext cx="939800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63" name="Rectangle 91"/>
          <p:cNvSpPr>
            <a:spLocks noChangeArrowheads="1"/>
          </p:cNvSpPr>
          <p:nvPr/>
        </p:nvSpPr>
        <p:spPr bwMode="auto">
          <a:xfrm>
            <a:off x="4413250" y="4435475"/>
            <a:ext cx="17463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64" name="Line 92"/>
          <p:cNvSpPr>
            <a:spLocks noChangeShapeType="1"/>
          </p:cNvSpPr>
          <p:nvPr/>
        </p:nvSpPr>
        <p:spPr bwMode="auto">
          <a:xfrm>
            <a:off x="4413250" y="4435475"/>
            <a:ext cx="17463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65" name="Rectangle 93"/>
          <p:cNvSpPr>
            <a:spLocks noChangeArrowheads="1"/>
          </p:cNvSpPr>
          <p:nvPr/>
        </p:nvSpPr>
        <p:spPr bwMode="auto">
          <a:xfrm>
            <a:off x="358775" y="4445000"/>
            <a:ext cx="17463" cy="4064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66" name="Line 94"/>
          <p:cNvSpPr>
            <a:spLocks noChangeShapeType="1"/>
          </p:cNvSpPr>
          <p:nvPr/>
        </p:nvSpPr>
        <p:spPr bwMode="auto">
          <a:xfrm>
            <a:off x="358775" y="4445000"/>
            <a:ext cx="1588" cy="406400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67" name="Rectangle 95"/>
          <p:cNvSpPr>
            <a:spLocks noChangeArrowheads="1"/>
          </p:cNvSpPr>
          <p:nvPr/>
        </p:nvSpPr>
        <p:spPr bwMode="auto">
          <a:xfrm>
            <a:off x="1093788" y="4445000"/>
            <a:ext cx="7937" cy="4064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68" name="Line 96"/>
          <p:cNvSpPr>
            <a:spLocks noChangeShapeType="1"/>
          </p:cNvSpPr>
          <p:nvPr/>
        </p:nvSpPr>
        <p:spPr bwMode="auto">
          <a:xfrm>
            <a:off x="1093788" y="4445000"/>
            <a:ext cx="1587" cy="406400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69" name="Rectangle 97"/>
          <p:cNvSpPr>
            <a:spLocks noChangeArrowheads="1"/>
          </p:cNvSpPr>
          <p:nvPr/>
        </p:nvSpPr>
        <p:spPr bwMode="auto">
          <a:xfrm>
            <a:off x="2320925" y="4445000"/>
            <a:ext cx="9525" cy="4064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70" name="Line 98"/>
          <p:cNvSpPr>
            <a:spLocks noChangeShapeType="1"/>
          </p:cNvSpPr>
          <p:nvPr/>
        </p:nvSpPr>
        <p:spPr bwMode="auto">
          <a:xfrm>
            <a:off x="2320925" y="4445000"/>
            <a:ext cx="1588" cy="406400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71" name="Rectangle 99"/>
          <p:cNvSpPr>
            <a:spLocks noChangeArrowheads="1"/>
          </p:cNvSpPr>
          <p:nvPr/>
        </p:nvSpPr>
        <p:spPr bwMode="auto">
          <a:xfrm>
            <a:off x="3465513" y="4445000"/>
            <a:ext cx="7937" cy="4064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72" name="Line 100"/>
          <p:cNvSpPr>
            <a:spLocks noChangeShapeType="1"/>
          </p:cNvSpPr>
          <p:nvPr/>
        </p:nvSpPr>
        <p:spPr bwMode="auto">
          <a:xfrm>
            <a:off x="3465513" y="4445000"/>
            <a:ext cx="1587" cy="406400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73" name="Rectangle 101"/>
          <p:cNvSpPr>
            <a:spLocks noChangeArrowheads="1"/>
          </p:cNvSpPr>
          <p:nvPr/>
        </p:nvSpPr>
        <p:spPr bwMode="auto">
          <a:xfrm>
            <a:off x="4413250" y="4445000"/>
            <a:ext cx="17463" cy="4064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74" name="Line 102"/>
          <p:cNvSpPr>
            <a:spLocks noChangeShapeType="1"/>
          </p:cNvSpPr>
          <p:nvPr/>
        </p:nvSpPr>
        <p:spPr bwMode="auto">
          <a:xfrm>
            <a:off x="4413250" y="4445000"/>
            <a:ext cx="1588" cy="406400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75" name="Rectangle 103"/>
          <p:cNvSpPr>
            <a:spLocks noChangeArrowheads="1"/>
          </p:cNvSpPr>
          <p:nvPr/>
        </p:nvSpPr>
        <p:spPr bwMode="auto">
          <a:xfrm>
            <a:off x="436563" y="4865688"/>
            <a:ext cx="34290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31</a:t>
            </a:r>
            <a:endParaRPr lang="en-US" sz="1200"/>
          </a:p>
        </p:txBody>
      </p:sp>
      <p:sp>
        <p:nvSpPr>
          <p:cNvPr id="5276" name="Rectangle 104"/>
          <p:cNvSpPr>
            <a:spLocks noChangeArrowheads="1"/>
          </p:cNvSpPr>
          <p:nvPr/>
        </p:nvSpPr>
        <p:spPr bwMode="auto">
          <a:xfrm>
            <a:off x="792163" y="4865688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 </a:t>
            </a:r>
            <a:endParaRPr lang="en-US" sz="1200"/>
          </a:p>
        </p:txBody>
      </p:sp>
      <p:sp>
        <p:nvSpPr>
          <p:cNvPr id="5277" name="Rectangle 105"/>
          <p:cNvSpPr>
            <a:spLocks noChangeArrowheads="1"/>
          </p:cNvSpPr>
          <p:nvPr/>
        </p:nvSpPr>
        <p:spPr bwMode="auto">
          <a:xfrm>
            <a:off x="1169988" y="4865688"/>
            <a:ext cx="87630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lubber</a:t>
            </a:r>
            <a:endParaRPr lang="en-US" sz="1200"/>
          </a:p>
        </p:txBody>
      </p:sp>
      <p:sp>
        <p:nvSpPr>
          <p:cNvPr id="5278" name="Rectangle 106"/>
          <p:cNvSpPr>
            <a:spLocks noChangeArrowheads="1"/>
          </p:cNvSpPr>
          <p:nvPr/>
        </p:nvSpPr>
        <p:spPr bwMode="auto">
          <a:xfrm>
            <a:off x="2073275" y="4865688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 </a:t>
            </a:r>
            <a:endParaRPr lang="en-US" sz="1200"/>
          </a:p>
        </p:txBody>
      </p:sp>
      <p:sp>
        <p:nvSpPr>
          <p:cNvPr id="5279" name="Rectangle 107"/>
          <p:cNvSpPr>
            <a:spLocks noChangeArrowheads="1"/>
          </p:cNvSpPr>
          <p:nvPr/>
        </p:nvSpPr>
        <p:spPr bwMode="auto">
          <a:xfrm>
            <a:off x="2674938" y="4865688"/>
            <a:ext cx="17145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8</a:t>
            </a:r>
            <a:endParaRPr lang="en-US" sz="1200"/>
          </a:p>
        </p:txBody>
      </p:sp>
      <p:sp>
        <p:nvSpPr>
          <p:cNvPr id="5280" name="Rectangle 108"/>
          <p:cNvSpPr>
            <a:spLocks noChangeArrowheads="1"/>
          </p:cNvSpPr>
          <p:nvPr/>
        </p:nvSpPr>
        <p:spPr bwMode="auto">
          <a:xfrm>
            <a:off x="2852738" y="4865688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 </a:t>
            </a:r>
            <a:endParaRPr lang="en-US" sz="1200"/>
          </a:p>
        </p:txBody>
      </p:sp>
      <p:sp>
        <p:nvSpPr>
          <p:cNvPr id="5281" name="Rectangle 109"/>
          <p:cNvSpPr>
            <a:spLocks noChangeArrowheads="1"/>
          </p:cNvSpPr>
          <p:nvPr/>
        </p:nvSpPr>
        <p:spPr bwMode="auto">
          <a:xfrm>
            <a:off x="3538538" y="4865688"/>
            <a:ext cx="60007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55.5</a:t>
            </a:r>
            <a:endParaRPr lang="en-US" sz="1200"/>
          </a:p>
        </p:txBody>
      </p:sp>
      <p:sp>
        <p:nvSpPr>
          <p:cNvPr id="5282" name="Rectangle 110"/>
          <p:cNvSpPr>
            <a:spLocks noChangeArrowheads="1"/>
          </p:cNvSpPr>
          <p:nvPr/>
        </p:nvSpPr>
        <p:spPr bwMode="auto">
          <a:xfrm>
            <a:off x="4160838" y="4865688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 </a:t>
            </a:r>
            <a:endParaRPr lang="en-US" sz="1200"/>
          </a:p>
        </p:txBody>
      </p:sp>
      <p:sp>
        <p:nvSpPr>
          <p:cNvPr id="5283" name="Rectangle 111"/>
          <p:cNvSpPr>
            <a:spLocks noChangeArrowheads="1"/>
          </p:cNvSpPr>
          <p:nvPr/>
        </p:nvSpPr>
        <p:spPr bwMode="auto">
          <a:xfrm>
            <a:off x="358775" y="4851400"/>
            <a:ext cx="17463" cy="4048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84" name="Line 112"/>
          <p:cNvSpPr>
            <a:spLocks noChangeShapeType="1"/>
          </p:cNvSpPr>
          <p:nvPr/>
        </p:nvSpPr>
        <p:spPr bwMode="auto">
          <a:xfrm>
            <a:off x="358775" y="4851400"/>
            <a:ext cx="1588" cy="404813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85" name="Rectangle 113"/>
          <p:cNvSpPr>
            <a:spLocks noChangeArrowheads="1"/>
          </p:cNvSpPr>
          <p:nvPr/>
        </p:nvSpPr>
        <p:spPr bwMode="auto">
          <a:xfrm>
            <a:off x="1093788" y="4851400"/>
            <a:ext cx="7937" cy="4048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86" name="Line 114"/>
          <p:cNvSpPr>
            <a:spLocks noChangeShapeType="1"/>
          </p:cNvSpPr>
          <p:nvPr/>
        </p:nvSpPr>
        <p:spPr bwMode="auto">
          <a:xfrm>
            <a:off x="1093788" y="4851400"/>
            <a:ext cx="1587" cy="404813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87" name="Rectangle 115"/>
          <p:cNvSpPr>
            <a:spLocks noChangeArrowheads="1"/>
          </p:cNvSpPr>
          <p:nvPr/>
        </p:nvSpPr>
        <p:spPr bwMode="auto">
          <a:xfrm>
            <a:off x="2320925" y="4851400"/>
            <a:ext cx="9525" cy="4048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88" name="Line 116"/>
          <p:cNvSpPr>
            <a:spLocks noChangeShapeType="1"/>
          </p:cNvSpPr>
          <p:nvPr/>
        </p:nvSpPr>
        <p:spPr bwMode="auto">
          <a:xfrm>
            <a:off x="2320925" y="4851400"/>
            <a:ext cx="1588" cy="404813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89" name="Rectangle 117"/>
          <p:cNvSpPr>
            <a:spLocks noChangeArrowheads="1"/>
          </p:cNvSpPr>
          <p:nvPr/>
        </p:nvSpPr>
        <p:spPr bwMode="auto">
          <a:xfrm>
            <a:off x="3465513" y="4851400"/>
            <a:ext cx="7937" cy="4048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90" name="Line 118"/>
          <p:cNvSpPr>
            <a:spLocks noChangeShapeType="1"/>
          </p:cNvSpPr>
          <p:nvPr/>
        </p:nvSpPr>
        <p:spPr bwMode="auto">
          <a:xfrm>
            <a:off x="3465513" y="4851400"/>
            <a:ext cx="1587" cy="404813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91" name="Rectangle 119"/>
          <p:cNvSpPr>
            <a:spLocks noChangeArrowheads="1"/>
          </p:cNvSpPr>
          <p:nvPr/>
        </p:nvSpPr>
        <p:spPr bwMode="auto">
          <a:xfrm>
            <a:off x="4413250" y="4851400"/>
            <a:ext cx="17463" cy="4048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92" name="Line 120"/>
          <p:cNvSpPr>
            <a:spLocks noChangeShapeType="1"/>
          </p:cNvSpPr>
          <p:nvPr/>
        </p:nvSpPr>
        <p:spPr bwMode="auto">
          <a:xfrm>
            <a:off x="4413250" y="4851400"/>
            <a:ext cx="1588" cy="404813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293" name="Rectangle 121"/>
          <p:cNvSpPr>
            <a:spLocks noChangeArrowheads="1"/>
          </p:cNvSpPr>
          <p:nvPr/>
        </p:nvSpPr>
        <p:spPr bwMode="auto">
          <a:xfrm>
            <a:off x="436563" y="5272088"/>
            <a:ext cx="34290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44</a:t>
            </a:r>
            <a:endParaRPr lang="en-US" sz="1200"/>
          </a:p>
        </p:txBody>
      </p:sp>
      <p:sp>
        <p:nvSpPr>
          <p:cNvPr id="5294" name="Rectangle 122"/>
          <p:cNvSpPr>
            <a:spLocks noChangeArrowheads="1"/>
          </p:cNvSpPr>
          <p:nvPr/>
        </p:nvSpPr>
        <p:spPr bwMode="auto">
          <a:xfrm>
            <a:off x="792163" y="5272088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 </a:t>
            </a:r>
            <a:endParaRPr lang="en-US" sz="1200"/>
          </a:p>
        </p:txBody>
      </p:sp>
      <p:sp>
        <p:nvSpPr>
          <p:cNvPr id="5295" name="Rectangle 123"/>
          <p:cNvSpPr>
            <a:spLocks noChangeArrowheads="1"/>
          </p:cNvSpPr>
          <p:nvPr/>
        </p:nvSpPr>
        <p:spPr bwMode="auto">
          <a:xfrm>
            <a:off x="1169988" y="5272088"/>
            <a:ext cx="85725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guppy</a:t>
            </a:r>
            <a:endParaRPr lang="en-US" sz="1200"/>
          </a:p>
        </p:txBody>
      </p:sp>
      <p:sp>
        <p:nvSpPr>
          <p:cNvPr id="5296" name="Rectangle 124"/>
          <p:cNvSpPr>
            <a:spLocks noChangeArrowheads="1"/>
          </p:cNvSpPr>
          <p:nvPr/>
        </p:nvSpPr>
        <p:spPr bwMode="auto">
          <a:xfrm>
            <a:off x="2043113" y="5272088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 </a:t>
            </a:r>
            <a:endParaRPr lang="en-US" sz="1200"/>
          </a:p>
        </p:txBody>
      </p:sp>
      <p:sp>
        <p:nvSpPr>
          <p:cNvPr id="5297" name="Rectangle 125"/>
          <p:cNvSpPr>
            <a:spLocks noChangeArrowheads="1"/>
          </p:cNvSpPr>
          <p:nvPr/>
        </p:nvSpPr>
        <p:spPr bwMode="auto">
          <a:xfrm>
            <a:off x="2674938" y="5272088"/>
            <a:ext cx="17145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5</a:t>
            </a:r>
            <a:endParaRPr lang="en-US" sz="1200"/>
          </a:p>
        </p:txBody>
      </p:sp>
      <p:sp>
        <p:nvSpPr>
          <p:cNvPr id="5298" name="Rectangle 126"/>
          <p:cNvSpPr>
            <a:spLocks noChangeArrowheads="1"/>
          </p:cNvSpPr>
          <p:nvPr/>
        </p:nvSpPr>
        <p:spPr bwMode="auto">
          <a:xfrm>
            <a:off x="2852738" y="5272088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 </a:t>
            </a:r>
            <a:endParaRPr lang="en-US" sz="1200"/>
          </a:p>
        </p:txBody>
      </p:sp>
      <p:sp>
        <p:nvSpPr>
          <p:cNvPr id="5299" name="Rectangle 127"/>
          <p:cNvSpPr>
            <a:spLocks noChangeArrowheads="1"/>
          </p:cNvSpPr>
          <p:nvPr/>
        </p:nvSpPr>
        <p:spPr bwMode="auto">
          <a:xfrm>
            <a:off x="3538538" y="5272088"/>
            <a:ext cx="60007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35.0</a:t>
            </a:r>
            <a:endParaRPr lang="en-US" sz="1200"/>
          </a:p>
        </p:txBody>
      </p:sp>
      <p:sp>
        <p:nvSpPr>
          <p:cNvPr id="5300" name="Rectangle 128"/>
          <p:cNvSpPr>
            <a:spLocks noChangeArrowheads="1"/>
          </p:cNvSpPr>
          <p:nvPr/>
        </p:nvSpPr>
        <p:spPr bwMode="auto">
          <a:xfrm>
            <a:off x="4160838" y="5272088"/>
            <a:ext cx="857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 </a:t>
            </a:r>
            <a:endParaRPr lang="en-US" sz="1200"/>
          </a:p>
        </p:txBody>
      </p:sp>
      <p:sp>
        <p:nvSpPr>
          <p:cNvPr id="5301" name="Rectangle 129"/>
          <p:cNvSpPr>
            <a:spLocks noChangeArrowheads="1"/>
          </p:cNvSpPr>
          <p:nvPr/>
        </p:nvSpPr>
        <p:spPr bwMode="auto">
          <a:xfrm>
            <a:off x="358775" y="5256213"/>
            <a:ext cx="17463" cy="4064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02" name="Line 130"/>
          <p:cNvSpPr>
            <a:spLocks noChangeShapeType="1"/>
          </p:cNvSpPr>
          <p:nvPr/>
        </p:nvSpPr>
        <p:spPr bwMode="auto">
          <a:xfrm>
            <a:off x="358775" y="5256213"/>
            <a:ext cx="1588" cy="406400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03" name="Rectangle 131"/>
          <p:cNvSpPr>
            <a:spLocks noChangeArrowheads="1"/>
          </p:cNvSpPr>
          <p:nvPr/>
        </p:nvSpPr>
        <p:spPr bwMode="auto">
          <a:xfrm>
            <a:off x="1093788" y="5256213"/>
            <a:ext cx="7937" cy="4064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04" name="Line 132"/>
          <p:cNvSpPr>
            <a:spLocks noChangeShapeType="1"/>
          </p:cNvSpPr>
          <p:nvPr/>
        </p:nvSpPr>
        <p:spPr bwMode="auto">
          <a:xfrm>
            <a:off x="1093788" y="5256213"/>
            <a:ext cx="1587" cy="406400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05" name="Rectangle 133"/>
          <p:cNvSpPr>
            <a:spLocks noChangeArrowheads="1"/>
          </p:cNvSpPr>
          <p:nvPr/>
        </p:nvSpPr>
        <p:spPr bwMode="auto">
          <a:xfrm>
            <a:off x="2320925" y="5256213"/>
            <a:ext cx="9525" cy="4064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06" name="Line 134"/>
          <p:cNvSpPr>
            <a:spLocks noChangeShapeType="1"/>
          </p:cNvSpPr>
          <p:nvPr/>
        </p:nvSpPr>
        <p:spPr bwMode="auto">
          <a:xfrm>
            <a:off x="2320925" y="5256213"/>
            <a:ext cx="1588" cy="406400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07" name="Rectangle 135"/>
          <p:cNvSpPr>
            <a:spLocks noChangeArrowheads="1"/>
          </p:cNvSpPr>
          <p:nvPr/>
        </p:nvSpPr>
        <p:spPr bwMode="auto">
          <a:xfrm>
            <a:off x="3465513" y="5256213"/>
            <a:ext cx="7937" cy="4064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08" name="Line 136"/>
          <p:cNvSpPr>
            <a:spLocks noChangeShapeType="1"/>
          </p:cNvSpPr>
          <p:nvPr/>
        </p:nvSpPr>
        <p:spPr bwMode="auto">
          <a:xfrm>
            <a:off x="3465513" y="5256213"/>
            <a:ext cx="1587" cy="406400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09" name="Rectangle 137"/>
          <p:cNvSpPr>
            <a:spLocks noChangeArrowheads="1"/>
          </p:cNvSpPr>
          <p:nvPr/>
        </p:nvSpPr>
        <p:spPr bwMode="auto">
          <a:xfrm>
            <a:off x="4413250" y="5256213"/>
            <a:ext cx="17463" cy="4064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10" name="Line 138"/>
          <p:cNvSpPr>
            <a:spLocks noChangeShapeType="1"/>
          </p:cNvSpPr>
          <p:nvPr/>
        </p:nvSpPr>
        <p:spPr bwMode="auto">
          <a:xfrm>
            <a:off x="4413250" y="5256213"/>
            <a:ext cx="1588" cy="406400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11" name="Rectangle 139"/>
          <p:cNvSpPr>
            <a:spLocks noChangeArrowheads="1"/>
          </p:cNvSpPr>
          <p:nvPr/>
        </p:nvSpPr>
        <p:spPr bwMode="auto">
          <a:xfrm>
            <a:off x="436563" y="5676900"/>
            <a:ext cx="34290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58</a:t>
            </a:r>
            <a:endParaRPr lang="en-US" sz="1200"/>
          </a:p>
        </p:txBody>
      </p:sp>
      <p:sp>
        <p:nvSpPr>
          <p:cNvPr id="5312" name="Rectangle 140"/>
          <p:cNvSpPr>
            <a:spLocks noChangeArrowheads="1"/>
          </p:cNvSpPr>
          <p:nvPr/>
        </p:nvSpPr>
        <p:spPr bwMode="auto">
          <a:xfrm>
            <a:off x="792163" y="5676900"/>
            <a:ext cx="8572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 </a:t>
            </a:r>
            <a:endParaRPr lang="en-US" sz="1200"/>
          </a:p>
        </p:txBody>
      </p:sp>
      <p:sp>
        <p:nvSpPr>
          <p:cNvPr id="5313" name="Rectangle 141"/>
          <p:cNvSpPr>
            <a:spLocks noChangeArrowheads="1"/>
          </p:cNvSpPr>
          <p:nvPr/>
        </p:nvSpPr>
        <p:spPr bwMode="auto">
          <a:xfrm>
            <a:off x="1169988" y="5676900"/>
            <a:ext cx="68580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rusty</a:t>
            </a:r>
            <a:endParaRPr lang="en-US" sz="1200"/>
          </a:p>
        </p:txBody>
      </p:sp>
      <p:sp>
        <p:nvSpPr>
          <p:cNvPr id="5314" name="Rectangle 142"/>
          <p:cNvSpPr>
            <a:spLocks noChangeArrowheads="1"/>
          </p:cNvSpPr>
          <p:nvPr/>
        </p:nvSpPr>
        <p:spPr bwMode="auto">
          <a:xfrm>
            <a:off x="1863725" y="5676900"/>
            <a:ext cx="8572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 </a:t>
            </a:r>
            <a:endParaRPr lang="en-US" sz="1200"/>
          </a:p>
        </p:txBody>
      </p:sp>
      <p:sp>
        <p:nvSpPr>
          <p:cNvPr id="5315" name="Rectangle 143"/>
          <p:cNvSpPr>
            <a:spLocks noChangeArrowheads="1"/>
          </p:cNvSpPr>
          <p:nvPr/>
        </p:nvSpPr>
        <p:spPr bwMode="auto">
          <a:xfrm>
            <a:off x="2674938" y="5676900"/>
            <a:ext cx="34290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10</a:t>
            </a:r>
            <a:endParaRPr lang="en-US" sz="1200"/>
          </a:p>
        </p:txBody>
      </p:sp>
      <p:sp>
        <p:nvSpPr>
          <p:cNvPr id="5316" name="Rectangle 144"/>
          <p:cNvSpPr>
            <a:spLocks noChangeArrowheads="1"/>
          </p:cNvSpPr>
          <p:nvPr/>
        </p:nvSpPr>
        <p:spPr bwMode="auto">
          <a:xfrm>
            <a:off x="3030538" y="5676900"/>
            <a:ext cx="8572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 </a:t>
            </a:r>
            <a:endParaRPr lang="en-US" sz="1200"/>
          </a:p>
        </p:txBody>
      </p:sp>
      <p:sp>
        <p:nvSpPr>
          <p:cNvPr id="5317" name="Rectangle 145"/>
          <p:cNvSpPr>
            <a:spLocks noChangeArrowheads="1"/>
          </p:cNvSpPr>
          <p:nvPr/>
        </p:nvSpPr>
        <p:spPr bwMode="auto">
          <a:xfrm>
            <a:off x="3538538" y="5676900"/>
            <a:ext cx="60007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35.0</a:t>
            </a:r>
            <a:endParaRPr lang="en-US" sz="1200"/>
          </a:p>
        </p:txBody>
      </p:sp>
      <p:sp>
        <p:nvSpPr>
          <p:cNvPr id="5318" name="Rectangle 146"/>
          <p:cNvSpPr>
            <a:spLocks noChangeArrowheads="1"/>
          </p:cNvSpPr>
          <p:nvPr/>
        </p:nvSpPr>
        <p:spPr bwMode="auto">
          <a:xfrm>
            <a:off x="4160838" y="5676900"/>
            <a:ext cx="8572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  <a:latin typeface="Times New Roman" pitchFamily="-32" charset="0"/>
              </a:rPr>
              <a:t> </a:t>
            </a:r>
            <a:endParaRPr lang="en-US" sz="1200"/>
          </a:p>
        </p:txBody>
      </p:sp>
      <p:sp>
        <p:nvSpPr>
          <p:cNvPr id="5319" name="Rectangle 147"/>
          <p:cNvSpPr>
            <a:spLocks noChangeArrowheads="1"/>
          </p:cNvSpPr>
          <p:nvPr/>
        </p:nvSpPr>
        <p:spPr bwMode="auto">
          <a:xfrm>
            <a:off x="358775" y="5662613"/>
            <a:ext cx="17463" cy="4048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20" name="Line 148"/>
          <p:cNvSpPr>
            <a:spLocks noChangeShapeType="1"/>
          </p:cNvSpPr>
          <p:nvPr/>
        </p:nvSpPr>
        <p:spPr bwMode="auto">
          <a:xfrm>
            <a:off x="358775" y="5662613"/>
            <a:ext cx="1588" cy="404812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21" name="Rectangle 149"/>
          <p:cNvSpPr>
            <a:spLocks noChangeArrowheads="1"/>
          </p:cNvSpPr>
          <p:nvPr/>
        </p:nvSpPr>
        <p:spPr bwMode="auto">
          <a:xfrm>
            <a:off x="358775" y="6067425"/>
            <a:ext cx="735013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22" name="Line 150"/>
          <p:cNvSpPr>
            <a:spLocks noChangeShapeType="1"/>
          </p:cNvSpPr>
          <p:nvPr/>
        </p:nvSpPr>
        <p:spPr bwMode="auto">
          <a:xfrm>
            <a:off x="358775" y="6067425"/>
            <a:ext cx="735013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23" name="Rectangle 151"/>
          <p:cNvSpPr>
            <a:spLocks noChangeArrowheads="1"/>
          </p:cNvSpPr>
          <p:nvPr/>
        </p:nvSpPr>
        <p:spPr bwMode="auto">
          <a:xfrm>
            <a:off x="1093788" y="5662613"/>
            <a:ext cx="7937" cy="4048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24" name="Line 152"/>
          <p:cNvSpPr>
            <a:spLocks noChangeShapeType="1"/>
          </p:cNvSpPr>
          <p:nvPr/>
        </p:nvSpPr>
        <p:spPr bwMode="auto">
          <a:xfrm>
            <a:off x="1093788" y="5662613"/>
            <a:ext cx="1587" cy="404812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25" name="Rectangle 153"/>
          <p:cNvSpPr>
            <a:spLocks noChangeArrowheads="1"/>
          </p:cNvSpPr>
          <p:nvPr/>
        </p:nvSpPr>
        <p:spPr bwMode="auto">
          <a:xfrm>
            <a:off x="1093788" y="6067425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26" name="Line 154"/>
          <p:cNvSpPr>
            <a:spLocks noChangeShapeType="1"/>
          </p:cNvSpPr>
          <p:nvPr/>
        </p:nvSpPr>
        <p:spPr bwMode="auto">
          <a:xfrm>
            <a:off x="1093788" y="6067425"/>
            <a:ext cx="7937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27" name="Line 155"/>
          <p:cNvSpPr>
            <a:spLocks noChangeShapeType="1"/>
          </p:cNvSpPr>
          <p:nvPr/>
        </p:nvSpPr>
        <p:spPr bwMode="auto">
          <a:xfrm>
            <a:off x="1093788" y="6067425"/>
            <a:ext cx="1587" cy="9525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28" name="Rectangle 156"/>
          <p:cNvSpPr>
            <a:spLocks noChangeArrowheads="1"/>
          </p:cNvSpPr>
          <p:nvPr/>
        </p:nvSpPr>
        <p:spPr bwMode="auto">
          <a:xfrm>
            <a:off x="1101725" y="6067425"/>
            <a:ext cx="12192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29" name="Line 157"/>
          <p:cNvSpPr>
            <a:spLocks noChangeShapeType="1"/>
          </p:cNvSpPr>
          <p:nvPr/>
        </p:nvSpPr>
        <p:spPr bwMode="auto">
          <a:xfrm>
            <a:off x="1101725" y="6067425"/>
            <a:ext cx="1219200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30" name="Rectangle 158"/>
          <p:cNvSpPr>
            <a:spLocks noChangeArrowheads="1"/>
          </p:cNvSpPr>
          <p:nvPr/>
        </p:nvSpPr>
        <p:spPr bwMode="auto">
          <a:xfrm>
            <a:off x="2320925" y="5662613"/>
            <a:ext cx="9525" cy="4048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31" name="Line 159"/>
          <p:cNvSpPr>
            <a:spLocks noChangeShapeType="1"/>
          </p:cNvSpPr>
          <p:nvPr/>
        </p:nvSpPr>
        <p:spPr bwMode="auto">
          <a:xfrm>
            <a:off x="2320925" y="5662613"/>
            <a:ext cx="1588" cy="404812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32" name="Rectangle 160"/>
          <p:cNvSpPr>
            <a:spLocks noChangeArrowheads="1"/>
          </p:cNvSpPr>
          <p:nvPr/>
        </p:nvSpPr>
        <p:spPr bwMode="auto">
          <a:xfrm>
            <a:off x="2320925" y="6067425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33" name="Line 161"/>
          <p:cNvSpPr>
            <a:spLocks noChangeShapeType="1"/>
          </p:cNvSpPr>
          <p:nvPr/>
        </p:nvSpPr>
        <p:spPr bwMode="auto">
          <a:xfrm>
            <a:off x="2320925" y="6067425"/>
            <a:ext cx="9525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34" name="Line 162"/>
          <p:cNvSpPr>
            <a:spLocks noChangeShapeType="1"/>
          </p:cNvSpPr>
          <p:nvPr/>
        </p:nvSpPr>
        <p:spPr bwMode="auto">
          <a:xfrm>
            <a:off x="2320925" y="6067425"/>
            <a:ext cx="1588" cy="9525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35" name="Rectangle 163"/>
          <p:cNvSpPr>
            <a:spLocks noChangeArrowheads="1"/>
          </p:cNvSpPr>
          <p:nvPr/>
        </p:nvSpPr>
        <p:spPr bwMode="auto">
          <a:xfrm>
            <a:off x="2330450" y="6067425"/>
            <a:ext cx="1135063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36" name="Line 164"/>
          <p:cNvSpPr>
            <a:spLocks noChangeShapeType="1"/>
          </p:cNvSpPr>
          <p:nvPr/>
        </p:nvSpPr>
        <p:spPr bwMode="auto">
          <a:xfrm>
            <a:off x="2330450" y="6067425"/>
            <a:ext cx="1135063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37" name="Rectangle 165"/>
          <p:cNvSpPr>
            <a:spLocks noChangeArrowheads="1"/>
          </p:cNvSpPr>
          <p:nvPr/>
        </p:nvSpPr>
        <p:spPr bwMode="auto">
          <a:xfrm>
            <a:off x="3465513" y="5662613"/>
            <a:ext cx="7937" cy="4048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38" name="Line 166"/>
          <p:cNvSpPr>
            <a:spLocks noChangeShapeType="1"/>
          </p:cNvSpPr>
          <p:nvPr/>
        </p:nvSpPr>
        <p:spPr bwMode="auto">
          <a:xfrm>
            <a:off x="3465513" y="5662613"/>
            <a:ext cx="1587" cy="404812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39" name="Rectangle 167"/>
          <p:cNvSpPr>
            <a:spLocks noChangeArrowheads="1"/>
          </p:cNvSpPr>
          <p:nvPr/>
        </p:nvSpPr>
        <p:spPr bwMode="auto">
          <a:xfrm>
            <a:off x="3465513" y="6067425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40" name="Line 168"/>
          <p:cNvSpPr>
            <a:spLocks noChangeShapeType="1"/>
          </p:cNvSpPr>
          <p:nvPr/>
        </p:nvSpPr>
        <p:spPr bwMode="auto">
          <a:xfrm>
            <a:off x="3465513" y="6067425"/>
            <a:ext cx="7937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41" name="Line 169"/>
          <p:cNvSpPr>
            <a:spLocks noChangeShapeType="1"/>
          </p:cNvSpPr>
          <p:nvPr/>
        </p:nvSpPr>
        <p:spPr bwMode="auto">
          <a:xfrm>
            <a:off x="3465513" y="6067425"/>
            <a:ext cx="1587" cy="9525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42" name="Rectangle 170"/>
          <p:cNvSpPr>
            <a:spLocks noChangeArrowheads="1"/>
          </p:cNvSpPr>
          <p:nvPr/>
        </p:nvSpPr>
        <p:spPr bwMode="auto">
          <a:xfrm>
            <a:off x="3473450" y="6067425"/>
            <a:ext cx="9398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43" name="Line 171"/>
          <p:cNvSpPr>
            <a:spLocks noChangeShapeType="1"/>
          </p:cNvSpPr>
          <p:nvPr/>
        </p:nvSpPr>
        <p:spPr bwMode="auto">
          <a:xfrm>
            <a:off x="3473450" y="6067425"/>
            <a:ext cx="939800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44" name="Rectangle 172"/>
          <p:cNvSpPr>
            <a:spLocks noChangeArrowheads="1"/>
          </p:cNvSpPr>
          <p:nvPr/>
        </p:nvSpPr>
        <p:spPr bwMode="auto">
          <a:xfrm>
            <a:off x="4413250" y="5662613"/>
            <a:ext cx="17463" cy="4048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45" name="Line 173"/>
          <p:cNvSpPr>
            <a:spLocks noChangeShapeType="1"/>
          </p:cNvSpPr>
          <p:nvPr/>
        </p:nvSpPr>
        <p:spPr bwMode="auto">
          <a:xfrm>
            <a:off x="4413250" y="5662613"/>
            <a:ext cx="1588" cy="404812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46" name="Rectangle 174"/>
          <p:cNvSpPr>
            <a:spLocks noChangeArrowheads="1"/>
          </p:cNvSpPr>
          <p:nvPr/>
        </p:nvSpPr>
        <p:spPr bwMode="auto">
          <a:xfrm>
            <a:off x="4413250" y="6067425"/>
            <a:ext cx="17463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47" name="Line 175"/>
          <p:cNvSpPr>
            <a:spLocks noChangeShapeType="1"/>
          </p:cNvSpPr>
          <p:nvPr/>
        </p:nvSpPr>
        <p:spPr bwMode="auto">
          <a:xfrm>
            <a:off x="4413250" y="6067425"/>
            <a:ext cx="17463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5348" name="Rectangle 176"/>
          <p:cNvSpPr>
            <a:spLocks noChangeArrowheads="1"/>
          </p:cNvSpPr>
          <p:nvPr/>
        </p:nvSpPr>
        <p:spPr bwMode="auto">
          <a:xfrm>
            <a:off x="347663" y="6078538"/>
            <a:ext cx="3175" cy="1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100">
                <a:solidFill>
                  <a:srgbClr val="000000"/>
                </a:solidFill>
                <a:latin typeface="Times New Roman" pitchFamily="-32" charset="0"/>
              </a:rPr>
              <a:t> </a:t>
            </a:r>
            <a:endParaRPr lang="en-US" sz="1200"/>
          </a:p>
        </p:txBody>
      </p:sp>
      <p:sp>
        <p:nvSpPr>
          <p:cNvPr id="5349" name="Rectangle 177"/>
          <p:cNvSpPr>
            <a:spLocks noChangeArrowheads="1"/>
          </p:cNvSpPr>
          <p:nvPr/>
        </p:nvSpPr>
        <p:spPr bwMode="auto">
          <a:xfrm>
            <a:off x="347663" y="6102350"/>
            <a:ext cx="3175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>
                <a:solidFill>
                  <a:srgbClr val="000000"/>
                </a:solidFill>
                <a:latin typeface="Times New Roman" pitchFamily="-32" charset="0"/>
              </a:rPr>
              <a:t> </a:t>
            </a:r>
            <a:endParaRPr lang="en-US" sz="1200"/>
          </a:p>
        </p:txBody>
      </p:sp>
      <p:sp>
        <p:nvSpPr>
          <p:cNvPr id="46090" name="Line 10"/>
          <p:cNvSpPr>
            <a:spLocks noChangeShapeType="1"/>
          </p:cNvSpPr>
          <p:nvPr/>
        </p:nvSpPr>
        <p:spPr bwMode="auto">
          <a:xfrm flipV="1">
            <a:off x="485775" y="5057775"/>
            <a:ext cx="3700463" cy="142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46091" name="Line 11"/>
          <p:cNvSpPr>
            <a:spLocks noChangeShapeType="1"/>
          </p:cNvSpPr>
          <p:nvPr/>
        </p:nvSpPr>
        <p:spPr bwMode="auto">
          <a:xfrm flipV="1">
            <a:off x="542925" y="5457825"/>
            <a:ext cx="3786188" cy="428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46092" name="Line 12"/>
          <p:cNvSpPr>
            <a:spLocks noChangeShapeType="1"/>
          </p:cNvSpPr>
          <p:nvPr/>
        </p:nvSpPr>
        <p:spPr bwMode="auto">
          <a:xfrm flipH="1">
            <a:off x="671513" y="3943350"/>
            <a:ext cx="57150" cy="23717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46093" name="Line 13"/>
          <p:cNvSpPr>
            <a:spLocks noChangeShapeType="1"/>
          </p:cNvSpPr>
          <p:nvPr/>
        </p:nvSpPr>
        <p:spPr bwMode="auto">
          <a:xfrm flipH="1">
            <a:off x="3781425" y="3824288"/>
            <a:ext cx="57150" cy="23717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xmlns="" val="39359493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6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6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6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90" grpId="0" animBg="1"/>
      <p:bldP spid="46091" grpId="0" animBg="1"/>
      <p:bldP spid="46092" grpId="0" animBg="1"/>
      <p:bldP spid="4609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smtClean="0"/>
              <a:t>Union and Set-Difference</a:t>
            </a:r>
          </a:p>
        </p:txBody>
      </p:sp>
      <p:sp>
        <p:nvSpPr>
          <p:cNvPr id="25603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0" smtClean="0"/>
              <a:t>Both of these operations take two input relations, which must be</a:t>
            </a:r>
            <a:r>
              <a:rPr lang="en-US" smtClean="0"/>
              <a:t> </a:t>
            </a:r>
            <a:r>
              <a:rPr lang="en-US" i="1" u="sng" smtClean="0">
                <a:solidFill>
                  <a:schemeClr val="accent2"/>
                </a:solidFill>
              </a:rPr>
              <a:t>union-compatible</a:t>
            </a:r>
            <a:r>
              <a:rPr lang="en-US" smtClean="0">
                <a:solidFill>
                  <a:schemeClr val="accent2"/>
                </a:solidFill>
              </a:rPr>
              <a:t>:</a:t>
            </a:r>
            <a:endParaRPr lang="en-US" smtClean="0"/>
          </a:p>
          <a:p>
            <a:pPr lvl="1"/>
            <a:r>
              <a:rPr lang="en-US" sz="2000" smtClean="0"/>
              <a:t>Same number of fields.</a:t>
            </a:r>
          </a:p>
          <a:p>
            <a:pPr lvl="1"/>
            <a:r>
              <a:rPr lang="en-US" sz="2000" smtClean="0"/>
              <a:t>`Corresponding’ fields have the same type.</a:t>
            </a:r>
          </a:p>
          <a:p>
            <a:pPr lvl="1"/>
            <a:endParaRPr lang="en-US" sz="2800" smtClean="0"/>
          </a:p>
          <a:p>
            <a:r>
              <a:rPr lang="en-US" b="0" smtClean="0"/>
              <a:t>For which, if any, is duplicate elimination required?</a:t>
            </a:r>
            <a:endParaRPr lang="en-US" sz="2000" b="0" smtClean="0"/>
          </a:p>
        </p:txBody>
      </p:sp>
      <p:sp>
        <p:nvSpPr>
          <p:cNvPr id="25604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endParaRPr lang="en-US" smtClean="0">
              <a:solidFill>
                <a:srgbClr val="000000"/>
              </a:solidFill>
              <a:latin typeface="Times New Roman" pitchFamily="-32" charset="0"/>
            </a:endParaRPr>
          </a:p>
          <a:p>
            <a:endParaRPr lang="en-US" smtClean="0">
              <a:solidFill>
                <a:srgbClr val="000000"/>
              </a:solidFill>
              <a:latin typeface="Times New Roman" pitchFamily="-32" charset="0"/>
            </a:endParaRPr>
          </a:p>
        </p:txBody>
      </p:sp>
      <p:sp>
        <p:nvSpPr>
          <p:cNvPr id="25605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200"/>
          </a:p>
        </p:txBody>
      </p:sp>
      <p:sp>
        <p:nvSpPr>
          <p:cNvPr id="25606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xmlns="" val="22028239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Freeform 1"/>
          <p:cNvSpPr>
            <a:spLocks/>
          </p:cNvSpPr>
          <p:nvPr/>
        </p:nvSpPr>
        <p:spPr bwMode="auto">
          <a:xfrm>
            <a:off x="685800" y="6248400"/>
            <a:ext cx="1905000" cy="457200"/>
          </a:xfrm>
          <a:custGeom>
            <a:avLst/>
            <a:gdLst>
              <a:gd name="T0" fmla="*/ 0 w 10000"/>
              <a:gd name="T1" fmla="*/ 0 h 10000"/>
              <a:gd name="T2" fmla="*/ 1905000 w 10000"/>
              <a:gd name="T3" fmla="*/ 0 h 10000"/>
              <a:gd name="T4" fmla="*/ 1905000 w 10000"/>
              <a:gd name="T5" fmla="*/ 457200 h 10000"/>
              <a:gd name="T6" fmla="*/ 0 w 10000"/>
              <a:gd name="T7" fmla="*/ 457200 h 10000"/>
              <a:gd name="T8" fmla="*/ 0 w 10000"/>
              <a:gd name="T9" fmla="*/ 0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000"/>
              <a:gd name="T16" fmla="*/ 0 h 10000"/>
              <a:gd name="T17" fmla="*/ 10000 w 10000"/>
              <a:gd name="T18" fmla="*/ 10000 h 1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6148" name="Freeform 2"/>
          <p:cNvSpPr>
            <a:spLocks/>
          </p:cNvSpPr>
          <p:nvPr/>
        </p:nvSpPr>
        <p:spPr bwMode="auto">
          <a:xfrm>
            <a:off x="3124200" y="6248400"/>
            <a:ext cx="2895600" cy="457200"/>
          </a:xfrm>
          <a:custGeom>
            <a:avLst/>
            <a:gdLst>
              <a:gd name="T0" fmla="*/ 0 w 10000"/>
              <a:gd name="T1" fmla="*/ 0 h 10000"/>
              <a:gd name="T2" fmla="*/ 2895600 w 10000"/>
              <a:gd name="T3" fmla="*/ 0 h 10000"/>
              <a:gd name="T4" fmla="*/ 2895600 w 10000"/>
              <a:gd name="T5" fmla="*/ 457200 h 10000"/>
              <a:gd name="T6" fmla="*/ 0 w 10000"/>
              <a:gd name="T7" fmla="*/ 457200 h 10000"/>
              <a:gd name="T8" fmla="*/ 0 w 10000"/>
              <a:gd name="T9" fmla="*/ 0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000"/>
              <a:gd name="T16" fmla="*/ 0 h 10000"/>
              <a:gd name="T17" fmla="*/ 10000 w 10000"/>
              <a:gd name="T18" fmla="*/ 10000 h 1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title"/>
          </p:nvPr>
        </p:nvSpPr>
        <p:spPr>
          <a:xfrm>
            <a:off x="1193800" y="-304800"/>
            <a:ext cx="3987800" cy="1822450"/>
          </a:xfrm>
          <a:noFill/>
        </p:spPr>
        <p:txBody>
          <a:bodyPr/>
          <a:lstStyle/>
          <a:p>
            <a:pPr eaLnBrk="1" hangingPunct="1">
              <a:spcAft>
                <a:spcPts val="13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r>
              <a:rPr lang="en-US" smtClean="0"/>
              <a:t>Union</a:t>
            </a:r>
          </a:p>
        </p:txBody>
      </p:sp>
      <p:sp>
        <p:nvSpPr>
          <p:cNvPr id="615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80975" y="1785938"/>
            <a:ext cx="4273550" cy="5072062"/>
          </a:xfrm>
          <a:noFill/>
        </p:spPr>
        <p:txBody>
          <a:bodyPr/>
          <a:lstStyle/>
          <a:p>
            <a:pPr eaLnBrk="1" hangingPunct="1">
              <a:lnSpc>
                <a:spcPts val="2400"/>
              </a:lnSpc>
              <a:spcAft>
                <a:spcPts val="13"/>
              </a:spcAft>
              <a:buFontTx/>
              <a:buNone/>
              <a:tabLst>
                <a:tab pos="342900" algn="l"/>
                <a:tab pos="914400" algn="l"/>
                <a:tab pos="1828800" algn="l"/>
                <a:tab pos="2743200" algn="l"/>
                <a:tab pos="3657600" algn="l"/>
              </a:tabLst>
            </a:pPr>
            <a:r>
              <a:rPr lang="en-US" sz="2800" smtClean="0"/>
              <a:t> </a:t>
            </a:r>
          </a:p>
        </p:txBody>
      </p:sp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45025" y="1260475"/>
            <a:ext cx="4402138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00738" y="4051300"/>
            <a:ext cx="0" cy="1625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7013" y="1354138"/>
            <a:ext cx="4154487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4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4000" y="3971925"/>
            <a:ext cx="4322763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5" name="Text Box 9"/>
          <p:cNvSpPr txBox="1">
            <a:spLocks noChangeArrowheads="1"/>
          </p:cNvSpPr>
          <p:nvPr/>
        </p:nvSpPr>
        <p:spPr bwMode="auto">
          <a:xfrm>
            <a:off x="1752600" y="3438525"/>
            <a:ext cx="11049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>
              <a:lnSpc>
                <a:spcPts val="2900"/>
              </a:lnSpc>
            </a:pPr>
            <a:r>
              <a:rPr lang="en-US" sz="2400" b="1">
                <a:solidFill>
                  <a:srgbClr val="000000"/>
                </a:solidFill>
              </a:rPr>
              <a:t>S1</a:t>
            </a:r>
          </a:p>
        </p:txBody>
      </p:sp>
      <p:sp>
        <p:nvSpPr>
          <p:cNvPr id="6156" name="Text Box 10"/>
          <p:cNvSpPr txBox="1">
            <a:spLocks noChangeArrowheads="1"/>
          </p:cNvSpPr>
          <p:nvPr/>
        </p:nvSpPr>
        <p:spPr bwMode="auto">
          <a:xfrm>
            <a:off x="1905000" y="6202363"/>
            <a:ext cx="11049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>
              <a:lnSpc>
                <a:spcPts val="2900"/>
              </a:lnSpc>
            </a:pPr>
            <a:r>
              <a:rPr lang="en-US" sz="2400" b="1">
                <a:solidFill>
                  <a:srgbClr val="000000"/>
                </a:solidFill>
              </a:rPr>
              <a:t>S2</a:t>
            </a:r>
          </a:p>
        </p:txBody>
      </p:sp>
      <p:graphicFrame>
        <p:nvGraphicFramePr>
          <p:cNvPr id="13324" name="Object 12"/>
          <p:cNvGraphicFramePr>
            <a:graphicFrameLocks/>
          </p:cNvGraphicFramePr>
          <p:nvPr/>
        </p:nvGraphicFramePr>
        <p:xfrm>
          <a:off x="5900738" y="4051300"/>
          <a:ext cx="1817687" cy="506413"/>
        </p:xfrm>
        <a:graphic>
          <a:graphicData uri="http://schemas.openxmlformats.org/presentationml/2006/ole">
            <p:oleObj spid="_x0000_s130062" name="Equation" r:id="rId8" imgW="1316404" imgH="455419" progId="Equation.3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2426667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reeform 1"/>
          <p:cNvSpPr>
            <a:spLocks/>
          </p:cNvSpPr>
          <p:nvPr/>
        </p:nvSpPr>
        <p:spPr bwMode="auto">
          <a:xfrm>
            <a:off x="685800" y="6248400"/>
            <a:ext cx="1905000" cy="457200"/>
          </a:xfrm>
          <a:custGeom>
            <a:avLst/>
            <a:gdLst>
              <a:gd name="T0" fmla="*/ 0 w 10000"/>
              <a:gd name="T1" fmla="*/ 0 h 10000"/>
              <a:gd name="T2" fmla="*/ 1905000 w 10000"/>
              <a:gd name="T3" fmla="*/ 0 h 10000"/>
              <a:gd name="T4" fmla="*/ 1905000 w 10000"/>
              <a:gd name="T5" fmla="*/ 457200 h 10000"/>
              <a:gd name="T6" fmla="*/ 0 w 10000"/>
              <a:gd name="T7" fmla="*/ 457200 h 10000"/>
              <a:gd name="T8" fmla="*/ 0 w 10000"/>
              <a:gd name="T9" fmla="*/ 0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000"/>
              <a:gd name="T16" fmla="*/ 0 h 10000"/>
              <a:gd name="T17" fmla="*/ 10000 w 10000"/>
              <a:gd name="T18" fmla="*/ 10000 h 1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7172" name="Freeform 2"/>
          <p:cNvSpPr>
            <a:spLocks/>
          </p:cNvSpPr>
          <p:nvPr/>
        </p:nvSpPr>
        <p:spPr bwMode="auto">
          <a:xfrm>
            <a:off x="3124200" y="6248400"/>
            <a:ext cx="2895600" cy="457200"/>
          </a:xfrm>
          <a:custGeom>
            <a:avLst/>
            <a:gdLst>
              <a:gd name="T0" fmla="*/ 0 w 10000"/>
              <a:gd name="T1" fmla="*/ 0 h 10000"/>
              <a:gd name="T2" fmla="*/ 2895600 w 10000"/>
              <a:gd name="T3" fmla="*/ 0 h 10000"/>
              <a:gd name="T4" fmla="*/ 2895600 w 10000"/>
              <a:gd name="T5" fmla="*/ 457200 h 10000"/>
              <a:gd name="T6" fmla="*/ 0 w 10000"/>
              <a:gd name="T7" fmla="*/ 457200 h 10000"/>
              <a:gd name="T8" fmla="*/ 0 w 10000"/>
              <a:gd name="T9" fmla="*/ 0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000"/>
              <a:gd name="T16" fmla="*/ 0 h 10000"/>
              <a:gd name="T17" fmla="*/ 10000 w 10000"/>
              <a:gd name="T18" fmla="*/ 10000 h 1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title"/>
          </p:nvPr>
        </p:nvSpPr>
        <p:spPr>
          <a:xfrm>
            <a:off x="1146175" y="222250"/>
            <a:ext cx="3987800" cy="835025"/>
          </a:xfrm>
          <a:noFill/>
        </p:spPr>
        <p:txBody>
          <a:bodyPr/>
          <a:lstStyle/>
          <a:p>
            <a:pPr eaLnBrk="1" hangingPunct="1">
              <a:spcAft>
                <a:spcPts val="13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r>
              <a:rPr lang="en-US" smtClean="0"/>
              <a:t>Set Difference</a:t>
            </a:r>
          </a:p>
        </p:txBody>
      </p:sp>
      <p:sp>
        <p:nvSpPr>
          <p:cNvPr id="717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80975" y="1785938"/>
            <a:ext cx="4273550" cy="5072062"/>
          </a:xfrm>
          <a:noFill/>
        </p:spPr>
        <p:txBody>
          <a:bodyPr/>
          <a:lstStyle/>
          <a:p>
            <a:pPr eaLnBrk="1" hangingPunct="1">
              <a:lnSpc>
                <a:spcPts val="2400"/>
              </a:lnSpc>
              <a:spcAft>
                <a:spcPts val="13"/>
              </a:spcAft>
              <a:buFontTx/>
              <a:buNone/>
              <a:tabLst>
                <a:tab pos="342900" algn="l"/>
                <a:tab pos="914400" algn="l"/>
                <a:tab pos="1828800" algn="l"/>
                <a:tab pos="2743200" algn="l"/>
                <a:tab pos="3657600" algn="l"/>
              </a:tabLst>
            </a:pPr>
            <a:r>
              <a:rPr lang="en-US" sz="2800" smtClean="0"/>
              <a:t> </a:t>
            </a:r>
          </a:p>
        </p:txBody>
      </p:sp>
      <p:pic>
        <p:nvPicPr>
          <p:cNvPr id="717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5600" y="1354138"/>
            <a:ext cx="4154488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2588" y="3971925"/>
            <a:ext cx="4322762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7" name="Text Box 7"/>
          <p:cNvSpPr txBox="1">
            <a:spLocks noChangeArrowheads="1"/>
          </p:cNvSpPr>
          <p:nvPr/>
        </p:nvSpPr>
        <p:spPr bwMode="auto">
          <a:xfrm>
            <a:off x="1752600" y="3438525"/>
            <a:ext cx="11049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>
              <a:lnSpc>
                <a:spcPts val="2900"/>
              </a:lnSpc>
            </a:pPr>
            <a:r>
              <a:rPr lang="en-US" sz="2400" b="1">
                <a:solidFill>
                  <a:srgbClr val="000000"/>
                </a:solidFill>
              </a:rPr>
              <a:t>S1</a:t>
            </a:r>
          </a:p>
        </p:txBody>
      </p:sp>
      <p:sp>
        <p:nvSpPr>
          <p:cNvPr id="7178" name="Text Box 8"/>
          <p:cNvSpPr txBox="1">
            <a:spLocks noChangeArrowheads="1"/>
          </p:cNvSpPr>
          <p:nvPr/>
        </p:nvSpPr>
        <p:spPr bwMode="auto">
          <a:xfrm>
            <a:off x="1905000" y="6202363"/>
            <a:ext cx="11049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>
              <a:lnSpc>
                <a:spcPts val="2900"/>
              </a:lnSpc>
            </a:pPr>
            <a:r>
              <a:rPr lang="en-US" sz="2400" b="1">
                <a:solidFill>
                  <a:srgbClr val="000000"/>
                </a:solidFill>
              </a:rPr>
              <a:t>S2</a:t>
            </a:r>
          </a:p>
        </p:txBody>
      </p:sp>
      <p:pic>
        <p:nvPicPr>
          <p:cNvPr id="14345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02175" y="1355725"/>
            <a:ext cx="4259263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0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335713" y="2544763"/>
            <a:ext cx="0" cy="12472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6249988" y="5392738"/>
            <a:ext cx="12192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>
              <a:lnSpc>
                <a:spcPts val="3800"/>
              </a:lnSpc>
            </a:pPr>
            <a:r>
              <a:rPr lang="en-US" sz="3200" i="1">
                <a:solidFill>
                  <a:srgbClr val="000000"/>
                </a:solidFill>
                <a:latin typeface="Times New Roman" pitchFamily="-32" charset="0"/>
              </a:rPr>
              <a:t>S2 – S1</a:t>
            </a:r>
          </a:p>
        </p:txBody>
      </p:sp>
      <p:pic>
        <p:nvPicPr>
          <p:cNvPr id="14348" name="Picture 1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75200" y="4105275"/>
            <a:ext cx="4338638" cy="144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4350" name="Object 14"/>
          <p:cNvGraphicFramePr>
            <a:graphicFrameLocks/>
          </p:cNvGraphicFramePr>
          <p:nvPr/>
        </p:nvGraphicFramePr>
        <p:xfrm>
          <a:off x="6337300" y="2544763"/>
          <a:ext cx="1566863" cy="388937"/>
        </p:xfrm>
        <a:graphic>
          <a:graphicData uri="http://schemas.openxmlformats.org/presentationml/2006/ole">
            <p:oleObj spid="_x0000_s131086" name="Equation" r:id="rId9" imgW="1579310" imgH="405124" progId="Equation.3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9499111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7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endParaRPr lang="en-US" smtClean="0">
              <a:solidFill>
                <a:srgbClr val="000000"/>
              </a:solidFill>
              <a:latin typeface="Times New Roman" pitchFamily="-32" charset="0"/>
            </a:endParaRPr>
          </a:p>
          <a:p>
            <a:endParaRPr lang="en-US" smtClean="0">
              <a:solidFill>
                <a:srgbClr val="000000"/>
              </a:solidFill>
              <a:latin typeface="Times New Roman" pitchFamily="-32" charset="0"/>
            </a:endParaRPr>
          </a:p>
        </p:txBody>
      </p:sp>
      <p:sp>
        <p:nvSpPr>
          <p:cNvPr id="819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200"/>
          </a:p>
        </p:txBody>
      </p:sp>
      <p:sp>
        <p:nvSpPr>
          <p:cNvPr id="819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200"/>
          </a:p>
        </p:txBody>
      </p:sp>
      <p:sp>
        <p:nvSpPr>
          <p:cNvPr id="8198" name="Rectangle 4"/>
          <p:cNvSpPr>
            <a:spLocks noGrp="1" noChangeArrowheads="1"/>
          </p:cNvSpPr>
          <p:nvPr>
            <p:ph type="title"/>
          </p:nvPr>
        </p:nvSpPr>
        <p:spPr>
          <a:xfrm>
            <a:off x="1095375" y="80963"/>
            <a:ext cx="7772400" cy="1104900"/>
          </a:xfrm>
          <a:noFill/>
        </p:spPr>
        <p:txBody>
          <a:bodyPr/>
          <a:lstStyle/>
          <a:p>
            <a:r>
              <a:rPr lang="en-US" smtClean="0"/>
              <a:t>Cross-Product</a:t>
            </a:r>
          </a:p>
        </p:txBody>
      </p:sp>
      <p:sp>
        <p:nvSpPr>
          <p:cNvPr id="819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144000" cy="4076700"/>
          </a:xfrm>
          <a:noFill/>
        </p:spPr>
        <p:txBody>
          <a:bodyPr/>
          <a:lstStyle/>
          <a:p>
            <a:r>
              <a:rPr lang="en-US" sz="2800" b="0" smtClean="0"/>
              <a:t>S1 </a:t>
            </a:r>
            <a:r>
              <a:rPr lang="en-US" sz="2800" b="0" smtClean="0">
                <a:sym typeface="Symbol" pitchFamily="-32" charset="2"/>
              </a:rPr>
              <a:t></a:t>
            </a:r>
            <a:r>
              <a:rPr lang="en-US" sz="2800" b="0" smtClean="0"/>
              <a:t> R1: Each row of S1 paired with each row of R1.</a:t>
            </a:r>
          </a:p>
          <a:p>
            <a:r>
              <a:rPr lang="en-US" sz="2800" b="0" smtClean="0"/>
              <a:t>Q: How many rows in the result?</a:t>
            </a:r>
          </a:p>
          <a:p>
            <a:r>
              <a:rPr lang="en-US" sz="2800" b="0" i="1" smtClean="0">
                <a:solidFill>
                  <a:schemeClr val="accent2"/>
                </a:solidFill>
              </a:rPr>
              <a:t>Result schema </a:t>
            </a:r>
            <a:r>
              <a:rPr lang="en-US" sz="2800" b="0" smtClean="0"/>
              <a:t>has one field per field of S1 and R1, with field names `inherited’ if possible.</a:t>
            </a:r>
          </a:p>
          <a:p>
            <a:pPr lvl="1"/>
            <a:r>
              <a:rPr lang="en-US" i="1" smtClean="0"/>
              <a:t>May have a naming conflict</a:t>
            </a:r>
            <a:r>
              <a:rPr lang="en-US" smtClean="0"/>
              <a:t>:  Both S1 and R1 have a field with the same name.</a:t>
            </a:r>
          </a:p>
          <a:p>
            <a:pPr lvl="1"/>
            <a:r>
              <a:rPr lang="en-US" smtClean="0"/>
              <a:t>In this case, can use the </a:t>
            </a:r>
            <a:r>
              <a:rPr lang="en-US" i="1" smtClean="0"/>
              <a:t>renaming operator</a:t>
            </a:r>
            <a:r>
              <a:rPr lang="en-US" smtClean="0"/>
              <a:t>:</a:t>
            </a:r>
          </a:p>
        </p:txBody>
      </p:sp>
      <p:graphicFrame>
        <p:nvGraphicFramePr>
          <p:cNvPr id="8194" name="Object 6"/>
          <p:cNvGraphicFramePr>
            <a:graphicFrameLocks/>
          </p:cNvGraphicFramePr>
          <p:nvPr/>
        </p:nvGraphicFramePr>
        <p:xfrm>
          <a:off x="1914525" y="4645025"/>
          <a:ext cx="5402263" cy="508000"/>
        </p:xfrm>
        <a:graphic>
          <a:graphicData uri="http://schemas.openxmlformats.org/presentationml/2006/ole">
            <p:oleObj spid="_x0000_s132110" name="Equation" r:id="rId4" imgW="5886896" imgH="568229" progId="Equation.3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7309699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/>
          <p:cNvSpPr>
            <a:spLocks noGrp="1" noChangeArrowheads="1"/>
          </p:cNvSpPr>
          <p:nvPr>
            <p:ph type="title"/>
          </p:nvPr>
        </p:nvSpPr>
        <p:spPr>
          <a:xfrm>
            <a:off x="1257300" y="0"/>
            <a:ext cx="6440488" cy="1333500"/>
          </a:xfrm>
          <a:noFill/>
        </p:spPr>
        <p:txBody>
          <a:bodyPr/>
          <a:lstStyle/>
          <a:p>
            <a:pPr eaLnBrk="1" hangingPunct="1">
              <a:spcAft>
                <a:spcPts val="13"/>
              </a:spcAft>
            </a:pPr>
            <a:r>
              <a:rPr lang="en-US" smtClean="0"/>
              <a:t>Cross Product Example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27250" y="3781425"/>
            <a:ext cx="6910388" cy="284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59325" y="1047750"/>
            <a:ext cx="4154488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6238" y="1193800"/>
            <a:ext cx="3319462" cy="159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0" name="Text Box 5"/>
          <p:cNvSpPr txBox="1">
            <a:spLocks noChangeArrowheads="1"/>
          </p:cNvSpPr>
          <p:nvPr/>
        </p:nvSpPr>
        <p:spPr bwMode="auto">
          <a:xfrm>
            <a:off x="1687513" y="2932113"/>
            <a:ext cx="8207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>
              <a:lnSpc>
                <a:spcPts val="2900"/>
              </a:lnSpc>
            </a:pPr>
            <a:r>
              <a:rPr lang="en-US" sz="2400" b="1">
                <a:solidFill>
                  <a:srgbClr val="000000"/>
                </a:solidFill>
              </a:rPr>
              <a:t>R1</a:t>
            </a:r>
          </a:p>
        </p:txBody>
      </p:sp>
      <p:sp>
        <p:nvSpPr>
          <p:cNvPr id="26631" name="Text Box 6"/>
          <p:cNvSpPr txBox="1">
            <a:spLocks noChangeArrowheads="1"/>
          </p:cNvSpPr>
          <p:nvPr/>
        </p:nvSpPr>
        <p:spPr bwMode="auto">
          <a:xfrm>
            <a:off x="6488113" y="3100388"/>
            <a:ext cx="3381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>
              <a:lnSpc>
                <a:spcPts val="2900"/>
              </a:lnSpc>
            </a:pPr>
            <a:r>
              <a:rPr lang="en-US" sz="2400" b="1">
                <a:solidFill>
                  <a:srgbClr val="000000"/>
                </a:solidFill>
              </a:rPr>
              <a:t>S1</a:t>
            </a:r>
          </a:p>
        </p:txBody>
      </p:sp>
      <p:sp>
        <p:nvSpPr>
          <p:cNvPr id="26632" name="Text Box 7"/>
          <p:cNvSpPr txBox="1">
            <a:spLocks noChangeArrowheads="1"/>
          </p:cNvSpPr>
          <p:nvPr/>
        </p:nvSpPr>
        <p:spPr bwMode="auto">
          <a:xfrm>
            <a:off x="392113" y="4581525"/>
            <a:ext cx="14890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>
              <a:lnSpc>
                <a:spcPts val="3400"/>
              </a:lnSpc>
            </a:pPr>
            <a:r>
              <a:rPr lang="en-US" sz="2800" b="1">
                <a:solidFill>
                  <a:srgbClr val="000000"/>
                </a:solidFill>
              </a:rPr>
              <a:t>S1 x R1 =</a:t>
            </a:r>
          </a:p>
        </p:txBody>
      </p:sp>
    </p:spTree>
    <p:extLst>
      <p:ext uri="{BB962C8B-B14F-4D97-AF65-F5344CB8AC3E}">
        <p14:creationId xmlns:p14="http://schemas.microsoft.com/office/powerpoint/2010/main" xmlns="" val="26982852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endParaRPr lang="en-US" smtClean="0">
              <a:solidFill>
                <a:srgbClr val="000000"/>
              </a:solidFill>
              <a:latin typeface="Times New Roman" pitchFamily="-32" charset="0"/>
            </a:endParaRPr>
          </a:p>
          <a:p>
            <a:endParaRPr lang="en-US" smtClean="0">
              <a:solidFill>
                <a:srgbClr val="000000"/>
              </a:solidFill>
              <a:latin typeface="Times New Roman" pitchFamily="-32" charset="0"/>
            </a:endParaRPr>
          </a:p>
        </p:txBody>
      </p:sp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200"/>
          </a:p>
        </p:txBody>
      </p:sp>
      <p:sp>
        <p:nvSpPr>
          <p:cNvPr id="27652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200"/>
          </a:p>
        </p:txBody>
      </p:sp>
      <p:sp>
        <p:nvSpPr>
          <p:cNvPr id="27653" name="Rectangle 4"/>
          <p:cNvSpPr>
            <a:spLocks noGrp="1" noChangeArrowheads="1"/>
          </p:cNvSpPr>
          <p:nvPr>
            <p:ph type="title"/>
          </p:nvPr>
        </p:nvSpPr>
        <p:spPr>
          <a:xfrm>
            <a:off x="1219200" y="-180975"/>
            <a:ext cx="7924800" cy="1638300"/>
          </a:xfrm>
          <a:noFill/>
        </p:spPr>
        <p:txBody>
          <a:bodyPr/>
          <a:lstStyle/>
          <a:p>
            <a:r>
              <a:rPr lang="en-US" smtClean="0"/>
              <a:t>Compound Operator: Intersection</a:t>
            </a:r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338138" y="1362075"/>
            <a:ext cx="8362950" cy="5178425"/>
          </a:xfrm>
          <a:noFill/>
        </p:spPr>
        <p:txBody>
          <a:bodyPr/>
          <a:lstStyle/>
          <a:p>
            <a:r>
              <a:rPr lang="en-US" b="0" smtClean="0"/>
              <a:t>In addition to the 5 basic operators, there are several additional “Compound Operators”</a:t>
            </a:r>
          </a:p>
          <a:p>
            <a:pPr lvl="1"/>
            <a:r>
              <a:rPr lang="en-US" sz="2000" smtClean="0"/>
              <a:t>These add no computational power to the language, but are useful shorthands.</a:t>
            </a:r>
          </a:p>
          <a:p>
            <a:pPr lvl="1"/>
            <a:r>
              <a:rPr lang="en-US" sz="2000" smtClean="0"/>
              <a:t>Can be expressed solely with the basic ops.</a:t>
            </a:r>
          </a:p>
          <a:p>
            <a:pPr lvl="1"/>
            <a:endParaRPr lang="en-US" sz="2800" smtClean="0"/>
          </a:p>
          <a:p>
            <a:r>
              <a:rPr lang="en-US" b="0" smtClean="0"/>
              <a:t>Intersection takes two input relations, which must be</a:t>
            </a:r>
            <a:r>
              <a:rPr lang="en-US" smtClean="0"/>
              <a:t> </a:t>
            </a:r>
            <a:r>
              <a:rPr lang="en-US" i="1" u="sng" smtClean="0">
                <a:solidFill>
                  <a:schemeClr val="accent2"/>
                </a:solidFill>
              </a:rPr>
              <a:t>union-compatible</a:t>
            </a:r>
            <a:r>
              <a:rPr lang="en-US" smtClean="0">
                <a:solidFill>
                  <a:schemeClr val="accent2"/>
                </a:solidFill>
              </a:rPr>
              <a:t>.</a:t>
            </a:r>
          </a:p>
          <a:p>
            <a:r>
              <a:rPr lang="en-US" b="0" smtClean="0"/>
              <a:t>Q: How to express it using basic operators?</a:t>
            </a:r>
          </a:p>
          <a:p>
            <a:pPr>
              <a:buFontTx/>
              <a:buNone/>
            </a:pPr>
            <a:r>
              <a:rPr lang="en-US" sz="2000" b="0" smtClean="0"/>
              <a:t>			</a:t>
            </a:r>
            <a:r>
              <a:rPr lang="en-US" sz="3200" b="0" smtClean="0"/>
              <a:t>R </a:t>
            </a:r>
            <a:r>
              <a:rPr lang="en-US" sz="3200" b="0" smtClean="0">
                <a:sym typeface="Symbol" pitchFamily="-32" charset="2"/>
              </a:rPr>
              <a:t> S = R   (R  S)</a:t>
            </a:r>
          </a:p>
        </p:txBody>
      </p:sp>
    </p:spTree>
    <p:extLst>
      <p:ext uri="{BB962C8B-B14F-4D97-AF65-F5344CB8AC3E}">
        <p14:creationId xmlns:p14="http://schemas.microsoft.com/office/powerpoint/2010/main" xmlns="" val="37992101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1" grpId="0" build="p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"/>
          <p:cNvSpPr>
            <a:spLocks noGrp="1" noChangeArrowheads="1"/>
          </p:cNvSpPr>
          <p:nvPr>
            <p:ph type="title"/>
          </p:nvPr>
        </p:nvSpPr>
        <p:spPr>
          <a:xfrm>
            <a:off x="1196975" y="0"/>
            <a:ext cx="7950200" cy="1333500"/>
          </a:xfrm>
          <a:noFill/>
        </p:spPr>
        <p:txBody>
          <a:bodyPr/>
          <a:lstStyle/>
          <a:p>
            <a:pPr eaLnBrk="1" hangingPunct="1">
              <a:spcAft>
                <a:spcPts val="13"/>
              </a:spcAft>
            </a:pPr>
            <a:r>
              <a:rPr lang="en-US" smtClean="0"/>
              <a:t>Natural Join Example</a:t>
            </a:r>
          </a:p>
        </p:txBody>
      </p:sp>
      <p:pic>
        <p:nvPicPr>
          <p:cNvPr id="2969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59325" y="1047750"/>
            <a:ext cx="4154488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6238" y="1193800"/>
            <a:ext cx="3319462" cy="159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Text Box 4"/>
          <p:cNvSpPr txBox="1">
            <a:spLocks noChangeArrowheads="1"/>
          </p:cNvSpPr>
          <p:nvPr/>
        </p:nvSpPr>
        <p:spPr bwMode="auto">
          <a:xfrm>
            <a:off x="1687513" y="2932113"/>
            <a:ext cx="8207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>
              <a:lnSpc>
                <a:spcPts val="2900"/>
              </a:lnSpc>
            </a:pPr>
            <a:r>
              <a:rPr lang="en-US" sz="2400" b="1">
                <a:solidFill>
                  <a:srgbClr val="000000"/>
                </a:solidFill>
              </a:rPr>
              <a:t>R1</a:t>
            </a:r>
          </a:p>
        </p:txBody>
      </p:sp>
      <p:sp>
        <p:nvSpPr>
          <p:cNvPr id="29702" name="Text Box 5"/>
          <p:cNvSpPr txBox="1">
            <a:spLocks noChangeArrowheads="1"/>
          </p:cNvSpPr>
          <p:nvPr/>
        </p:nvSpPr>
        <p:spPr bwMode="auto">
          <a:xfrm>
            <a:off x="6488113" y="3100388"/>
            <a:ext cx="3381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>
              <a:lnSpc>
                <a:spcPts val="2900"/>
              </a:lnSpc>
            </a:pPr>
            <a:r>
              <a:rPr lang="en-US" sz="2400" b="1">
                <a:solidFill>
                  <a:srgbClr val="000000"/>
                </a:solidFill>
              </a:rPr>
              <a:t>S1</a:t>
            </a:r>
          </a:p>
        </p:txBody>
      </p:sp>
      <p:sp>
        <p:nvSpPr>
          <p:cNvPr id="29703" name="Text Box 6"/>
          <p:cNvSpPr txBox="1">
            <a:spLocks noChangeArrowheads="1"/>
          </p:cNvSpPr>
          <p:nvPr/>
        </p:nvSpPr>
        <p:spPr bwMode="auto">
          <a:xfrm>
            <a:off x="315913" y="3806825"/>
            <a:ext cx="17557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>
              <a:lnSpc>
                <a:spcPts val="3400"/>
              </a:lnSpc>
            </a:pPr>
            <a:r>
              <a:rPr lang="en-US" sz="2800" b="1" dirty="0">
                <a:solidFill>
                  <a:srgbClr val="000000"/>
                </a:solidFill>
              </a:rPr>
              <a:t>S1       R1 =</a:t>
            </a:r>
          </a:p>
        </p:txBody>
      </p:sp>
      <p:grpSp>
        <p:nvGrpSpPr>
          <p:cNvPr id="29704" name="Group 7"/>
          <p:cNvGrpSpPr>
            <a:grpSpLocks/>
          </p:cNvGrpSpPr>
          <p:nvPr/>
        </p:nvGrpSpPr>
        <p:grpSpPr bwMode="auto">
          <a:xfrm>
            <a:off x="781050" y="3910013"/>
            <a:ext cx="488950" cy="214312"/>
            <a:chOff x="483" y="2169"/>
            <a:chExt cx="308" cy="135"/>
          </a:xfrm>
        </p:grpSpPr>
        <p:sp>
          <p:nvSpPr>
            <p:cNvPr id="29706" name="Freeform 8"/>
            <p:cNvSpPr>
              <a:spLocks/>
            </p:cNvSpPr>
            <p:nvPr/>
          </p:nvSpPr>
          <p:spPr bwMode="auto">
            <a:xfrm rot="-5400000">
              <a:off x="647" y="2158"/>
              <a:ext cx="134" cy="155"/>
            </a:xfrm>
            <a:custGeom>
              <a:avLst/>
              <a:gdLst>
                <a:gd name="T0" fmla="*/ 67 w 10000"/>
                <a:gd name="T1" fmla="*/ 0 h 10000"/>
                <a:gd name="T2" fmla="*/ 0 w 10000"/>
                <a:gd name="T3" fmla="*/ 155 h 10000"/>
                <a:gd name="T4" fmla="*/ 134 w 10000"/>
                <a:gd name="T5" fmla="*/ 155 h 10000"/>
                <a:gd name="T6" fmla="*/ 67 w 10000"/>
                <a:gd name="T7" fmla="*/ 0 h 1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00"/>
                <a:gd name="T13" fmla="*/ 0 h 10000"/>
                <a:gd name="T14" fmla="*/ 10000 w 10000"/>
                <a:gd name="T15" fmla="*/ 10000 h 1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00" h="10000">
                  <a:moveTo>
                    <a:pt x="5000" y="0"/>
                  </a:moveTo>
                  <a:lnTo>
                    <a:pt x="0" y="10000"/>
                  </a:lnTo>
                  <a:lnTo>
                    <a:pt x="10000" y="10000"/>
                  </a:lnTo>
                  <a:close/>
                  <a:moveTo>
                    <a:pt x="5000" y="0"/>
                  </a:moveTo>
                </a:path>
              </a:pathLst>
            </a:cu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  <p:sp>
          <p:nvSpPr>
            <p:cNvPr id="29707" name="Freeform 9"/>
            <p:cNvSpPr>
              <a:spLocks/>
            </p:cNvSpPr>
            <p:nvPr/>
          </p:nvSpPr>
          <p:spPr bwMode="auto">
            <a:xfrm rot="5400000">
              <a:off x="494" y="2159"/>
              <a:ext cx="134" cy="155"/>
            </a:xfrm>
            <a:custGeom>
              <a:avLst/>
              <a:gdLst>
                <a:gd name="T0" fmla="*/ 67 w 10000"/>
                <a:gd name="T1" fmla="*/ 0 h 10000"/>
                <a:gd name="T2" fmla="*/ 0 w 10000"/>
                <a:gd name="T3" fmla="*/ 155 h 10000"/>
                <a:gd name="T4" fmla="*/ 134 w 10000"/>
                <a:gd name="T5" fmla="*/ 155 h 10000"/>
                <a:gd name="T6" fmla="*/ 67 w 10000"/>
                <a:gd name="T7" fmla="*/ 0 h 1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00"/>
                <a:gd name="T13" fmla="*/ 0 h 10000"/>
                <a:gd name="T14" fmla="*/ 10000 w 10000"/>
                <a:gd name="T15" fmla="*/ 10000 h 1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00" h="10000">
                  <a:moveTo>
                    <a:pt x="5000" y="0"/>
                  </a:moveTo>
                  <a:lnTo>
                    <a:pt x="0" y="10000"/>
                  </a:lnTo>
                  <a:lnTo>
                    <a:pt x="10000" y="10000"/>
                  </a:lnTo>
                  <a:close/>
                  <a:moveTo>
                    <a:pt x="5000" y="0"/>
                  </a:moveTo>
                </a:path>
              </a:pathLst>
            </a:cu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1" hangingPunct="1"/>
              <a:endParaRPr lang="en-US" sz="1200"/>
            </a:p>
          </p:txBody>
        </p:sp>
      </p:grpSp>
      <p:pic>
        <p:nvPicPr>
          <p:cNvPr id="20490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71525" y="4784725"/>
            <a:ext cx="7445375" cy="153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9710" name="Group 14"/>
          <p:cNvGrpSpPr>
            <a:grpSpLocks/>
          </p:cNvGrpSpPr>
          <p:nvPr/>
        </p:nvGrpSpPr>
        <p:grpSpPr bwMode="auto">
          <a:xfrm>
            <a:off x="336550" y="1025525"/>
            <a:ext cx="5232400" cy="615950"/>
            <a:chOff x="212" y="646"/>
            <a:chExt cx="3296" cy="388"/>
          </a:xfrm>
        </p:grpSpPr>
        <p:sp>
          <p:nvSpPr>
            <p:cNvPr id="29708" name="Oval 12"/>
            <p:cNvSpPr>
              <a:spLocks/>
            </p:cNvSpPr>
            <p:nvPr/>
          </p:nvSpPr>
          <p:spPr bwMode="auto">
            <a:xfrm>
              <a:off x="2977" y="646"/>
              <a:ext cx="531" cy="300"/>
            </a:xfrm>
            <a:prstGeom prst="ellipse">
              <a:avLst/>
            </a:prstGeom>
            <a:noFill/>
            <a:ln w="762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3366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en-US" sz="1200"/>
            </a:p>
          </p:txBody>
        </p:sp>
        <p:sp>
          <p:nvSpPr>
            <p:cNvPr id="29709" name="Oval 13"/>
            <p:cNvSpPr>
              <a:spLocks/>
            </p:cNvSpPr>
            <p:nvPr/>
          </p:nvSpPr>
          <p:spPr bwMode="auto">
            <a:xfrm>
              <a:off x="212" y="734"/>
              <a:ext cx="531" cy="300"/>
            </a:xfrm>
            <a:prstGeom prst="ellipse">
              <a:avLst/>
            </a:prstGeom>
            <a:noFill/>
            <a:ln w="762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3366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xmlns="" val="16646389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endParaRPr lang="en-US" smtClean="0">
              <a:solidFill>
                <a:srgbClr val="000000"/>
              </a:solidFill>
              <a:latin typeface="Times New Roman" pitchFamily="-32" charset="0"/>
            </a:endParaRPr>
          </a:p>
          <a:p>
            <a:endParaRPr lang="en-US" smtClean="0">
              <a:solidFill>
                <a:srgbClr val="000000"/>
              </a:solidFill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200"/>
          </a:p>
        </p:txBody>
      </p:sp>
      <p:sp>
        <p:nvSpPr>
          <p:cNvPr id="10246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200"/>
          </a:p>
        </p:txBody>
      </p:sp>
      <p:sp>
        <p:nvSpPr>
          <p:cNvPr id="10247" name="Rectangle 4"/>
          <p:cNvSpPr>
            <a:spLocks noGrp="1" noChangeArrowheads="1"/>
          </p:cNvSpPr>
          <p:nvPr>
            <p:ph type="title"/>
          </p:nvPr>
        </p:nvSpPr>
        <p:spPr>
          <a:xfrm>
            <a:off x="1071563" y="0"/>
            <a:ext cx="7772400" cy="1143000"/>
          </a:xfrm>
          <a:noFill/>
        </p:spPr>
        <p:txBody>
          <a:bodyPr/>
          <a:lstStyle/>
          <a:p>
            <a:r>
              <a:rPr lang="en-US" smtClean="0"/>
              <a:t>Other Types of Joins</a:t>
            </a:r>
          </a:p>
        </p:txBody>
      </p:sp>
      <p:sp>
        <p:nvSpPr>
          <p:cNvPr id="10248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762000" y="1328738"/>
            <a:ext cx="7772400" cy="4076700"/>
          </a:xfrm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 i="1" u="sng" smtClean="0">
                <a:solidFill>
                  <a:schemeClr val="accent2"/>
                </a:solidFill>
              </a:rPr>
              <a:t>Condition Join (or “theta-join”)</a:t>
            </a:r>
            <a:r>
              <a:rPr lang="en-US" sz="2000" smtClean="0"/>
              <a:t>: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000" smtClean="0"/>
          </a:p>
          <a:p>
            <a:pPr>
              <a:lnSpc>
                <a:spcPct val="90000"/>
              </a:lnSpc>
              <a:buFontTx/>
              <a:buNone/>
            </a:pPr>
            <a:endParaRPr lang="en-US" sz="2000" smtClean="0"/>
          </a:p>
          <a:p>
            <a:pPr>
              <a:lnSpc>
                <a:spcPct val="90000"/>
              </a:lnSpc>
              <a:buFontTx/>
              <a:buNone/>
            </a:pPr>
            <a:endParaRPr lang="en-US" sz="2000" smtClean="0"/>
          </a:p>
          <a:p>
            <a:pPr>
              <a:lnSpc>
                <a:spcPct val="90000"/>
              </a:lnSpc>
              <a:buFontTx/>
              <a:buNone/>
            </a:pPr>
            <a:endParaRPr lang="en-US" sz="2000" i="1" smtClean="0"/>
          </a:p>
          <a:p>
            <a:pPr>
              <a:lnSpc>
                <a:spcPct val="90000"/>
              </a:lnSpc>
            </a:pPr>
            <a:endParaRPr lang="en-US" sz="2000" i="1" smtClean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</a:pPr>
            <a:endParaRPr lang="en-US" sz="2000" i="1" smtClean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</a:pPr>
            <a:endParaRPr lang="en-US" sz="2000" i="1" smtClean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</a:pPr>
            <a:endParaRPr lang="en-US" b="0" i="1" smtClean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</a:pPr>
            <a:endParaRPr lang="en-US" b="0" i="1" smtClean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</a:pPr>
            <a:endParaRPr lang="en-US" b="0" i="1" smtClean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</a:pPr>
            <a:r>
              <a:rPr lang="en-US" b="0" i="1" smtClean="0">
                <a:solidFill>
                  <a:schemeClr val="accent2"/>
                </a:solidFill>
              </a:rPr>
              <a:t>Result schema </a:t>
            </a:r>
            <a:r>
              <a:rPr lang="en-US" b="0" smtClean="0"/>
              <a:t>same as that of cross-product.</a:t>
            </a:r>
          </a:p>
          <a:p>
            <a:pPr>
              <a:lnSpc>
                <a:spcPct val="90000"/>
              </a:lnSpc>
            </a:pPr>
            <a:r>
              <a:rPr lang="en-US" b="0" smtClean="0"/>
              <a:t>May have fewer tuples than cross-product.</a:t>
            </a:r>
          </a:p>
          <a:p>
            <a:pPr>
              <a:lnSpc>
                <a:spcPct val="90000"/>
              </a:lnSpc>
            </a:pPr>
            <a:r>
              <a:rPr lang="en-US" sz="2000" i="1" u="sng" smtClean="0">
                <a:solidFill>
                  <a:schemeClr val="accent2"/>
                </a:solidFill>
              </a:rPr>
              <a:t>Equi-Join</a:t>
            </a:r>
            <a:r>
              <a:rPr lang="en-US" sz="2000" smtClean="0">
                <a:solidFill>
                  <a:schemeClr val="accent2"/>
                </a:solidFill>
              </a:rPr>
              <a:t>:  </a:t>
            </a:r>
            <a:r>
              <a:rPr lang="en-US" sz="2000" smtClean="0"/>
              <a:t>Special case: condition </a:t>
            </a:r>
            <a:r>
              <a:rPr lang="en-US" sz="2000" i="1" smtClean="0"/>
              <a:t>c</a:t>
            </a:r>
            <a:r>
              <a:rPr lang="en-US" sz="2000" smtClean="0"/>
              <a:t>  contains only conjunction of </a:t>
            </a:r>
            <a:r>
              <a:rPr lang="en-US" sz="2000" b="0" i="1" smtClean="0"/>
              <a:t>equalities</a:t>
            </a:r>
            <a:r>
              <a:rPr lang="en-US" sz="2000" b="0" smtClean="0"/>
              <a:t>.</a:t>
            </a:r>
          </a:p>
        </p:txBody>
      </p:sp>
      <p:graphicFrame>
        <p:nvGraphicFramePr>
          <p:cNvPr id="10242" name="Object 6"/>
          <p:cNvGraphicFramePr>
            <a:graphicFrameLocks/>
          </p:cNvGraphicFramePr>
          <p:nvPr/>
        </p:nvGraphicFramePr>
        <p:xfrm>
          <a:off x="2552700" y="1706563"/>
          <a:ext cx="4102100" cy="625475"/>
        </p:xfrm>
        <a:graphic>
          <a:graphicData uri="http://schemas.openxmlformats.org/presentationml/2006/ole">
            <p:oleObj spid="_x0000_s133146" name="Equation" r:id="rId4" imgW="4114403" imgH="641190" progId="Equation.3">
              <p:embed/>
            </p:oleObj>
          </a:graphicData>
        </a:graphic>
      </p:graphicFrame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376238" y="2536825"/>
            <a:ext cx="985837" cy="493713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425450" y="2536825"/>
            <a:ext cx="887413" cy="409575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51" name="Rectangle 11"/>
          <p:cNvSpPr>
            <a:spLocks noChangeArrowheads="1"/>
          </p:cNvSpPr>
          <p:nvPr/>
        </p:nvSpPr>
        <p:spPr bwMode="auto">
          <a:xfrm>
            <a:off x="430213" y="2541588"/>
            <a:ext cx="11430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</a:rPr>
              <a:t>(</a:t>
            </a:r>
            <a:endParaRPr lang="en-US" sz="1200"/>
          </a:p>
        </p:txBody>
      </p:sp>
      <p:sp>
        <p:nvSpPr>
          <p:cNvPr id="10252" name="Rectangle 12"/>
          <p:cNvSpPr>
            <a:spLocks noChangeArrowheads="1"/>
          </p:cNvSpPr>
          <p:nvPr/>
        </p:nvSpPr>
        <p:spPr bwMode="auto">
          <a:xfrm>
            <a:off x="539750" y="2541588"/>
            <a:ext cx="5683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</a:rPr>
              <a:t>sid)</a:t>
            </a:r>
            <a:endParaRPr lang="en-US" sz="1200"/>
          </a:p>
        </p:txBody>
      </p:sp>
      <p:sp>
        <p:nvSpPr>
          <p:cNvPr id="10253" name="Rectangle 13"/>
          <p:cNvSpPr>
            <a:spLocks noChangeArrowheads="1"/>
          </p:cNvSpPr>
          <p:nvPr/>
        </p:nvSpPr>
        <p:spPr bwMode="auto">
          <a:xfrm>
            <a:off x="1385888" y="2536825"/>
            <a:ext cx="1303337" cy="493713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1447800" y="2536825"/>
            <a:ext cx="1192213" cy="409575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55" name="Rectangle 15"/>
          <p:cNvSpPr>
            <a:spLocks noChangeArrowheads="1"/>
          </p:cNvSpPr>
          <p:nvPr/>
        </p:nvSpPr>
        <p:spPr bwMode="auto">
          <a:xfrm>
            <a:off x="1452563" y="2541588"/>
            <a:ext cx="982662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</a:rPr>
              <a:t>sname</a:t>
            </a:r>
            <a:endParaRPr lang="en-US" sz="1200"/>
          </a:p>
        </p:txBody>
      </p:sp>
      <p:sp>
        <p:nvSpPr>
          <p:cNvPr id="10256" name="Rectangle 16"/>
          <p:cNvSpPr>
            <a:spLocks noChangeArrowheads="1"/>
          </p:cNvSpPr>
          <p:nvPr/>
        </p:nvSpPr>
        <p:spPr bwMode="auto">
          <a:xfrm>
            <a:off x="2700338" y="2536825"/>
            <a:ext cx="1217612" cy="493713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57" name="Rectangle 17"/>
          <p:cNvSpPr>
            <a:spLocks noChangeArrowheads="1"/>
          </p:cNvSpPr>
          <p:nvPr/>
        </p:nvSpPr>
        <p:spPr bwMode="auto">
          <a:xfrm>
            <a:off x="2762250" y="2536825"/>
            <a:ext cx="1095375" cy="409575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58" name="Rectangle 18"/>
          <p:cNvSpPr>
            <a:spLocks noChangeArrowheads="1"/>
          </p:cNvSpPr>
          <p:nvPr/>
        </p:nvSpPr>
        <p:spPr bwMode="auto">
          <a:xfrm>
            <a:off x="2767013" y="2541588"/>
            <a:ext cx="90805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</a:rPr>
              <a:t>rating</a:t>
            </a:r>
            <a:endParaRPr lang="en-US" sz="1200"/>
          </a:p>
        </p:txBody>
      </p:sp>
      <p:sp>
        <p:nvSpPr>
          <p:cNvPr id="10259" name="Rectangle 19"/>
          <p:cNvSpPr>
            <a:spLocks noChangeArrowheads="1"/>
          </p:cNvSpPr>
          <p:nvPr/>
        </p:nvSpPr>
        <p:spPr bwMode="auto">
          <a:xfrm>
            <a:off x="3930650" y="2536825"/>
            <a:ext cx="936625" cy="493713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60" name="Rectangle 20"/>
          <p:cNvSpPr>
            <a:spLocks noChangeArrowheads="1"/>
          </p:cNvSpPr>
          <p:nvPr/>
        </p:nvSpPr>
        <p:spPr bwMode="auto">
          <a:xfrm>
            <a:off x="3990975" y="2536825"/>
            <a:ext cx="814388" cy="409575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61" name="Rectangle 21"/>
          <p:cNvSpPr>
            <a:spLocks noChangeArrowheads="1"/>
          </p:cNvSpPr>
          <p:nvPr/>
        </p:nvSpPr>
        <p:spPr bwMode="auto">
          <a:xfrm>
            <a:off x="3995738" y="2541588"/>
            <a:ext cx="52705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</a:rPr>
              <a:t>age</a:t>
            </a:r>
            <a:endParaRPr lang="en-US" sz="1200"/>
          </a:p>
        </p:txBody>
      </p:sp>
      <p:sp>
        <p:nvSpPr>
          <p:cNvPr id="10262" name="Rectangle 22"/>
          <p:cNvSpPr>
            <a:spLocks noChangeArrowheads="1"/>
          </p:cNvSpPr>
          <p:nvPr/>
        </p:nvSpPr>
        <p:spPr bwMode="auto">
          <a:xfrm>
            <a:off x="4878388" y="2536825"/>
            <a:ext cx="1011237" cy="493713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63" name="Rectangle 23"/>
          <p:cNvSpPr>
            <a:spLocks noChangeArrowheads="1"/>
          </p:cNvSpPr>
          <p:nvPr/>
        </p:nvSpPr>
        <p:spPr bwMode="auto">
          <a:xfrm>
            <a:off x="4940300" y="2536825"/>
            <a:ext cx="887413" cy="409575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64" name="Rectangle 24"/>
          <p:cNvSpPr>
            <a:spLocks noChangeArrowheads="1"/>
          </p:cNvSpPr>
          <p:nvPr/>
        </p:nvSpPr>
        <p:spPr bwMode="auto">
          <a:xfrm>
            <a:off x="4945063" y="2541588"/>
            <a:ext cx="11430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</a:rPr>
              <a:t>(</a:t>
            </a:r>
            <a:endParaRPr lang="en-US" sz="1200"/>
          </a:p>
        </p:txBody>
      </p:sp>
      <p:sp>
        <p:nvSpPr>
          <p:cNvPr id="10265" name="Rectangle 25"/>
          <p:cNvSpPr>
            <a:spLocks noChangeArrowheads="1"/>
          </p:cNvSpPr>
          <p:nvPr/>
        </p:nvSpPr>
        <p:spPr bwMode="auto">
          <a:xfrm>
            <a:off x="5054600" y="2541588"/>
            <a:ext cx="5683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</a:rPr>
              <a:t>sid)</a:t>
            </a:r>
            <a:endParaRPr lang="en-US" sz="1200"/>
          </a:p>
        </p:txBody>
      </p:sp>
      <p:sp>
        <p:nvSpPr>
          <p:cNvPr id="10266" name="Rectangle 26"/>
          <p:cNvSpPr>
            <a:spLocks noChangeArrowheads="1"/>
          </p:cNvSpPr>
          <p:nvPr/>
        </p:nvSpPr>
        <p:spPr bwMode="auto">
          <a:xfrm>
            <a:off x="5900738" y="2536825"/>
            <a:ext cx="839787" cy="493713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67" name="Rectangle 27"/>
          <p:cNvSpPr>
            <a:spLocks noChangeArrowheads="1"/>
          </p:cNvSpPr>
          <p:nvPr/>
        </p:nvSpPr>
        <p:spPr bwMode="auto">
          <a:xfrm>
            <a:off x="5962650" y="2536825"/>
            <a:ext cx="730250" cy="409575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68" name="Rectangle 28"/>
          <p:cNvSpPr>
            <a:spLocks noChangeArrowheads="1"/>
          </p:cNvSpPr>
          <p:nvPr/>
        </p:nvSpPr>
        <p:spPr bwMode="auto">
          <a:xfrm>
            <a:off x="5967413" y="2541588"/>
            <a:ext cx="49847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</a:rPr>
              <a:t>bid</a:t>
            </a:r>
            <a:endParaRPr lang="en-US" sz="1200"/>
          </a:p>
        </p:txBody>
      </p:sp>
      <p:sp>
        <p:nvSpPr>
          <p:cNvPr id="10269" name="Rectangle 29"/>
          <p:cNvSpPr>
            <a:spLocks noChangeArrowheads="1"/>
          </p:cNvSpPr>
          <p:nvPr/>
        </p:nvSpPr>
        <p:spPr bwMode="auto">
          <a:xfrm>
            <a:off x="6765925" y="2536825"/>
            <a:ext cx="1617663" cy="493713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70" name="Rectangle 30"/>
          <p:cNvSpPr>
            <a:spLocks noChangeArrowheads="1"/>
          </p:cNvSpPr>
          <p:nvPr/>
        </p:nvSpPr>
        <p:spPr bwMode="auto">
          <a:xfrm>
            <a:off x="6826250" y="2536825"/>
            <a:ext cx="1497013" cy="409575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71" name="Rectangle 31"/>
          <p:cNvSpPr>
            <a:spLocks noChangeArrowheads="1"/>
          </p:cNvSpPr>
          <p:nvPr/>
        </p:nvSpPr>
        <p:spPr bwMode="auto">
          <a:xfrm>
            <a:off x="6831013" y="2541588"/>
            <a:ext cx="57150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</a:rPr>
              <a:t>day</a:t>
            </a:r>
            <a:endParaRPr lang="en-US" sz="1200"/>
          </a:p>
        </p:txBody>
      </p:sp>
      <p:sp>
        <p:nvSpPr>
          <p:cNvPr id="10272" name="Rectangle 32"/>
          <p:cNvSpPr>
            <a:spLocks noChangeArrowheads="1"/>
          </p:cNvSpPr>
          <p:nvPr/>
        </p:nvSpPr>
        <p:spPr bwMode="auto">
          <a:xfrm>
            <a:off x="352425" y="2524125"/>
            <a:ext cx="1009650" cy="127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73" name="Line 33"/>
          <p:cNvSpPr>
            <a:spLocks noChangeShapeType="1"/>
          </p:cNvSpPr>
          <p:nvPr/>
        </p:nvSpPr>
        <p:spPr bwMode="auto">
          <a:xfrm>
            <a:off x="352425" y="2524125"/>
            <a:ext cx="100965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74" name="Rectangle 34"/>
          <p:cNvSpPr>
            <a:spLocks noChangeArrowheads="1"/>
          </p:cNvSpPr>
          <p:nvPr/>
        </p:nvSpPr>
        <p:spPr bwMode="auto">
          <a:xfrm>
            <a:off x="1362075" y="2524125"/>
            <a:ext cx="12700" cy="127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75" name="Line 35"/>
          <p:cNvSpPr>
            <a:spLocks noChangeShapeType="1"/>
          </p:cNvSpPr>
          <p:nvPr/>
        </p:nvSpPr>
        <p:spPr bwMode="auto">
          <a:xfrm>
            <a:off x="1362075" y="2524125"/>
            <a:ext cx="1270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76" name="Line 36"/>
          <p:cNvSpPr>
            <a:spLocks noChangeShapeType="1"/>
          </p:cNvSpPr>
          <p:nvPr/>
        </p:nvSpPr>
        <p:spPr bwMode="auto">
          <a:xfrm>
            <a:off x="1362075" y="2524125"/>
            <a:ext cx="1588" cy="12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77" name="Rectangle 37"/>
          <p:cNvSpPr>
            <a:spLocks noChangeArrowheads="1"/>
          </p:cNvSpPr>
          <p:nvPr/>
        </p:nvSpPr>
        <p:spPr bwMode="auto">
          <a:xfrm>
            <a:off x="1374775" y="2524125"/>
            <a:ext cx="1314450" cy="127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78" name="Line 38"/>
          <p:cNvSpPr>
            <a:spLocks noChangeShapeType="1"/>
          </p:cNvSpPr>
          <p:nvPr/>
        </p:nvSpPr>
        <p:spPr bwMode="auto">
          <a:xfrm>
            <a:off x="1374775" y="2524125"/>
            <a:ext cx="131445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79" name="Rectangle 39"/>
          <p:cNvSpPr>
            <a:spLocks noChangeArrowheads="1"/>
          </p:cNvSpPr>
          <p:nvPr/>
        </p:nvSpPr>
        <p:spPr bwMode="auto">
          <a:xfrm>
            <a:off x="2689225" y="2524125"/>
            <a:ext cx="11113" cy="127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80" name="Line 40"/>
          <p:cNvSpPr>
            <a:spLocks noChangeShapeType="1"/>
          </p:cNvSpPr>
          <p:nvPr/>
        </p:nvSpPr>
        <p:spPr bwMode="auto">
          <a:xfrm>
            <a:off x="2689225" y="2524125"/>
            <a:ext cx="11113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81" name="Line 41"/>
          <p:cNvSpPr>
            <a:spLocks noChangeShapeType="1"/>
          </p:cNvSpPr>
          <p:nvPr/>
        </p:nvSpPr>
        <p:spPr bwMode="auto">
          <a:xfrm>
            <a:off x="2689225" y="2524125"/>
            <a:ext cx="1588" cy="12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82" name="Rectangle 42"/>
          <p:cNvSpPr>
            <a:spLocks noChangeArrowheads="1"/>
          </p:cNvSpPr>
          <p:nvPr/>
        </p:nvSpPr>
        <p:spPr bwMode="auto">
          <a:xfrm>
            <a:off x="2700338" y="2524125"/>
            <a:ext cx="1217612" cy="127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83" name="Line 43"/>
          <p:cNvSpPr>
            <a:spLocks noChangeShapeType="1"/>
          </p:cNvSpPr>
          <p:nvPr/>
        </p:nvSpPr>
        <p:spPr bwMode="auto">
          <a:xfrm>
            <a:off x="2700338" y="2524125"/>
            <a:ext cx="1217612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84" name="Rectangle 44"/>
          <p:cNvSpPr>
            <a:spLocks noChangeArrowheads="1"/>
          </p:cNvSpPr>
          <p:nvPr/>
        </p:nvSpPr>
        <p:spPr bwMode="auto">
          <a:xfrm>
            <a:off x="3917950" y="2524125"/>
            <a:ext cx="12700" cy="127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85" name="Line 45"/>
          <p:cNvSpPr>
            <a:spLocks noChangeShapeType="1"/>
          </p:cNvSpPr>
          <p:nvPr/>
        </p:nvSpPr>
        <p:spPr bwMode="auto">
          <a:xfrm>
            <a:off x="3917950" y="2524125"/>
            <a:ext cx="1270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86" name="Line 46"/>
          <p:cNvSpPr>
            <a:spLocks noChangeShapeType="1"/>
          </p:cNvSpPr>
          <p:nvPr/>
        </p:nvSpPr>
        <p:spPr bwMode="auto">
          <a:xfrm>
            <a:off x="3917950" y="2524125"/>
            <a:ext cx="1588" cy="12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87" name="Rectangle 47"/>
          <p:cNvSpPr>
            <a:spLocks noChangeArrowheads="1"/>
          </p:cNvSpPr>
          <p:nvPr/>
        </p:nvSpPr>
        <p:spPr bwMode="auto">
          <a:xfrm>
            <a:off x="3930650" y="2524125"/>
            <a:ext cx="936625" cy="127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88" name="Line 48"/>
          <p:cNvSpPr>
            <a:spLocks noChangeShapeType="1"/>
          </p:cNvSpPr>
          <p:nvPr/>
        </p:nvSpPr>
        <p:spPr bwMode="auto">
          <a:xfrm>
            <a:off x="3930650" y="2524125"/>
            <a:ext cx="936625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89" name="Rectangle 49"/>
          <p:cNvSpPr>
            <a:spLocks noChangeArrowheads="1"/>
          </p:cNvSpPr>
          <p:nvPr/>
        </p:nvSpPr>
        <p:spPr bwMode="auto">
          <a:xfrm>
            <a:off x="4867275" y="2524125"/>
            <a:ext cx="11113" cy="127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90" name="Line 50"/>
          <p:cNvSpPr>
            <a:spLocks noChangeShapeType="1"/>
          </p:cNvSpPr>
          <p:nvPr/>
        </p:nvSpPr>
        <p:spPr bwMode="auto">
          <a:xfrm>
            <a:off x="4867275" y="2524125"/>
            <a:ext cx="11113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91" name="Line 51"/>
          <p:cNvSpPr>
            <a:spLocks noChangeShapeType="1"/>
          </p:cNvSpPr>
          <p:nvPr/>
        </p:nvSpPr>
        <p:spPr bwMode="auto">
          <a:xfrm>
            <a:off x="4867275" y="2524125"/>
            <a:ext cx="1588" cy="12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92" name="Rectangle 52"/>
          <p:cNvSpPr>
            <a:spLocks noChangeArrowheads="1"/>
          </p:cNvSpPr>
          <p:nvPr/>
        </p:nvSpPr>
        <p:spPr bwMode="auto">
          <a:xfrm>
            <a:off x="4878388" y="2524125"/>
            <a:ext cx="1011237" cy="127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93" name="Line 53"/>
          <p:cNvSpPr>
            <a:spLocks noChangeShapeType="1"/>
          </p:cNvSpPr>
          <p:nvPr/>
        </p:nvSpPr>
        <p:spPr bwMode="auto">
          <a:xfrm>
            <a:off x="4878388" y="2524125"/>
            <a:ext cx="1011237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94" name="Rectangle 54"/>
          <p:cNvSpPr>
            <a:spLocks noChangeArrowheads="1"/>
          </p:cNvSpPr>
          <p:nvPr/>
        </p:nvSpPr>
        <p:spPr bwMode="auto">
          <a:xfrm>
            <a:off x="5889625" y="2524125"/>
            <a:ext cx="11113" cy="127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95" name="Line 55"/>
          <p:cNvSpPr>
            <a:spLocks noChangeShapeType="1"/>
          </p:cNvSpPr>
          <p:nvPr/>
        </p:nvSpPr>
        <p:spPr bwMode="auto">
          <a:xfrm>
            <a:off x="5889625" y="2524125"/>
            <a:ext cx="11113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96" name="Line 56"/>
          <p:cNvSpPr>
            <a:spLocks noChangeShapeType="1"/>
          </p:cNvSpPr>
          <p:nvPr/>
        </p:nvSpPr>
        <p:spPr bwMode="auto">
          <a:xfrm>
            <a:off x="5889625" y="2524125"/>
            <a:ext cx="1588" cy="12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97" name="Rectangle 57"/>
          <p:cNvSpPr>
            <a:spLocks noChangeArrowheads="1"/>
          </p:cNvSpPr>
          <p:nvPr/>
        </p:nvSpPr>
        <p:spPr bwMode="auto">
          <a:xfrm>
            <a:off x="5900738" y="2524125"/>
            <a:ext cx="839787" cy="127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98" name="Line 58"/>
          <p:cNvSpPr>
            <a:spLocks noChangeShapeType="1"/>
          </p:cNvSpPr>
          <p:nvPr/>
        </p:nvSpPr>
        <p:spPr bwMode="auto">
          <a:xfrm>
            <a:off x="5900738" y="2524125"/>
            <a:ext cx="839787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299" name="Rectangle 59"/>
          <p:cNvSpPr>
            <a:spLocks noChangeArrowheads="1"/>
          </p:cNvSpPr>
          <p:nvPr/>
        </p:nvSpPr>
        <p:spPr bwMode="auto">
          <a:xfrm>
            <a:off x="6740525" y="2524125"/>
            <a:ext cx="12700" cy="127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00" name="Line 60"/>
          <p:cNvSpPr>
            <a:spLocks noChangeShapeType="1"/>
          </p:cNvSpPr>
          <p:nvPr/>
        </p:nvSpPr>
        <p:spPr bwMode="auto">
          <a:xfrm>
            <a:off x="6740525" y="2524125"/>
            <a:ext cx="1270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01" name="Line 61"/>
          <p:cNvSpPr>
            <a:spLocks noChangeShapeType="1"/>
          </p:cNvSpPr>
          <p:nvPr/>
        </p:nvSpPr>
        <p:spPr bwMode="auto">
          <a:xfrm>
            <a:off x="6740525" y="2524125"/>
            <a:ext cx="1588" cy="12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02" name="Rectangle 62"/>
          <p:cNvSpPr>
            <a:spLocks noChangeArrowheads="1"/>
          </p:cNvSpPr>
          <p:nvPr/>
        </p:nvSpPr>
        <p:spPr bwMode="auto">
          <a:xfrm>
            <a:off x="6753225" y="2524125"/>
            <a:ext cx="1630363" cy="127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03" name="Line 63"/>
          <p:cNvSpPr>
            <a:spLocks noChangeShapeType="1"/>
          </p:cNvSpPr>
          <p:nvPr/>
        </p:nvSpPr>
        <p:spPr bwMode="auto">
          <a:xfrm>
            <a:off x="6753225" y="2524125"/>
            <a:ext cx="1630363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04" name="Rectangle 64"/>
          <p:cNvSpPr>
            <a:spLocks noChangeArrowheads="1"/>
          </p:cNvSpPr>
          <p:nvPr/>
        </p:nvSpPr>
        <p:spPr bwMode="auto">
          <a:xfrm>
            <a:off x="8383588" y="2524125"/>
            <a:ext cx="25400" cy="127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05" name="Line 65"/>
          <p:cNvSpPr>
            <a:spLocks noChangeShapeType="1"/>
          </p:cNvSpPr>
          <p:nvPr/>
        </p:nvSpPr>
        <p:spPr bwMode="auto">
          <a:xfrm>
            <a:off x="8383588" y="2524125"/>
            <a:ext cx="2540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06" name="Rectangle 66"/>
          <p:cNvSpPr>
            <a:spLocks noChangeArrowheads="1"/>
          </p:cNvSpPr>
          <p:nvPr/>
        </p:nvSpPr>
        <p:spPr bwMode="auto">
          <a:xfrm>
            <a:off x="352425" y="2536825"/>
            <a:ext cx="23813" cy="4937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07" name="Line 67"/>
          <p:cNvSpPr>
            <a:spLocks noChangeShapeType="1"/>
          </p:cNvSpPr>
          <p:nvPr/>
        </p:nvSpPr>
        <p:spPr bwMode="auto">
          <a:xfrm>
            <a:off x="352425" y="2536825"/>
            <a:ext cx="1588" cy="4937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08" name="Rectangle 68"/>
          <p:cNvSpPr>
            <a:spLocks noChangeArrowheads="1"/>
          </p:cNvSpPr>
          <p:nvPr/>
        </p:nvSpPr>
        <p:spPr bwMode="auto">
          <a:xfrm>
            <a:off x="1362075" y="2536825"/>
            <a:ext cx="12700" cy="4937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09" name="Line 69"/>
          <p:cNvSpPr>
            <a:spLocks noChangeShapeType="1"/>
          </p:cNvSpPr>
          <p:nvPr/>
        </p:nvSpPr>
        <p:spPr bwMode="auto">
          <a:xfrm>
            <a:off x="1362075" y="2536825"/>
            <a:ext cx="1588" cy="4937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10" name="Rectangle 70"/>
          <p:cNvSpPr>
            <a:spLocks noChangeArrowheads="1"/>
          </p:cNvSpPr>
          <p:nvPr/>
        </p:nvSpPr>
        <p:spPr bwMode="auto">
          <a:xfrm>
            <a:off x="2689225" y="2536825"/>
            <a:ext cx="11113" cy="4937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11" name="Line 71"/>
          <p:cNvSpPr>
            <a:spLocks noChangeShapeType="1"/>
          </p:cNvSpPr>
          <p:nvPr/>
        </p:nvSpPr>
        <p:spPr bwMode="auto">
          <a:xfrm>
            <a:off x="2689225" y="2536825"/>
            <a:ext cx="1588" cy="4937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12" name="Rectangle 72"/>
          <p:cNvSpPr>
            <a:spLocks noChangeArrowheads="1"/>
          </p:cNvSpPr>
          <p:nvPr/>
        </p:nvSpPr>
        <p:spPr bwMode="auto">
          <a:xfrm>
            <a:off x="3917950" y="2536825"/>
            <a:ext cx="12700" cy="4937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13" name="Line 73"/>
          <p:cNvSpPr>
            <a:spLocks noChangeShapeType="1"/>
          </p:cNvSpPr>
          <p:nvPr/>
        </p:nvSpPr>
        <p:spPr bwMode="auto">
          <a:xfrm>
            <a:off x="3917950" y="2536825"/>
            <a:ext cx="1588" cy="4937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14" name="Rectangle 74"/>
          <p:cNvSpPr>
            <a:spLocks noChangeArrowheads="1"/>
          </p:cNvSpPr>
          <p:nvPr/>
        </p:nvSpPr>
        <p:spPr bwMode="auto">
          <a:xfrm>
            <a:off x="4867275" y="2536825"/>
            <a:ext cx="11113" cy="4937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15" name="Line 75"/>
          <p:cNvSpPr>
            <a:spLocks noChangeShapeType="1"/>
          </p:cNvSpPr>
          <p:nvPr/>
        </p:nvSpPr>
        <p:spPr bwMode="auto">
          <a:xfrm>
            <a:off x="4867275" y="2536825"/>
            <a:ext cx="1588" cy="4937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16" name="Rectangle 76"/>
          <p:cNvSpPr>
            <a:spLocks noChangeArrowheads="1"/>
          </p:cNvSpPr>
          <p:nvPr/>
        </p:nvSpPr>
        <p:spPr bwMode="auto">
          <a:xfrm>
            <a:off x="5889625" y="2536825"/>
            <a:ext cx="11113" cy="4937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17" name="Line 77"/>
          <p:cNvSpPr>
            <a:spLocks noChangeShapeType="1"/>
          </p:cNvSpPr>
          <p:nvPr/>
        </p:nvSpPr>
        <p:spPr bwMode="auto">
          <a:xfrm>
            <a:off x="5889625" y="2536825"/>
            <a:ext cx="1588" cy="4937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18" name="Rectangle 78"/>
          <p:cNvSpPr>
            <a:spLocks noChangeArrowheads="1"/>
          </p:cNvSpPr>
          <p:nvPr/>
        </p:nvSpPr>
        <p:spPr bwMode="auto">
          <a:xfrm>
            <a:off x="6740525" y="2536825"/>
            <a:ext cx="12700" cy="4937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19" name="Line 79"/>
          <p:cNvSpPr>
            <a:spLocks noChangeShapeType="1"/>
          </p:cNvSpPr>
          <p:nvPr/>
        </p:nvSpPr>
        <p:spPr bwMode="auto">
          <a:xfrm>
            <a:off x="6740525" y="2536825"/>
            <a:ext cx="1588" cy="4937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20" name="Rectangle 80"/>
          <p:cNvSpPr>
            <a:spLocks noChangeArrowheads="1"/>
          </p:cNvSpPr>
          <p:nvPr/>
        </p:nvSpPr>
        <p:spPr bwMode="auto">
          <a:xfrm>
            <a:off x="8383588" y="2536825"/>
            <a:ext cx="25400" cy="4937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21" name="Line 81"/>
          <p:cNvSpPr>
            <a:spLocks noChangeShapeType="1"/>
          </p:cNvSpPr>
          <p:nvPr/>
        </p:nvSpPr>
        <p:spPr bwMode="auto">
          <a:xfrm>
            <a:off x="8383588" y="2536825"/>
            <a:ext cx="1587" cy="4937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22" name="Rectangle 82"/>
          <p:cNvSpPr>
            <a:spLocks noChangeArrowheads="1"/>
          </p:cNvSpPr>
          <p:nvPr/>
        </p:nvSpPr>
        <p:spPr bwMode="auto">
          <a:xfrm>
            <a:off x="430213" y="3048000"/>
            <a:ext cx="34290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</a:rPr>
              <a:t>22</a:t>
            </a:r>
            <a:endParaRPr lang="en-US" sz="1200"/>
          </a:p>
        </p:txBody>
      </p:sp>
      <p:sp>
        <p:nvSpPr>
          <p:cNvPr id="10323" name="Rectangle 83"/>
          <p:cNvSpPr>
            <a:spLocks noChangeArrowheads="1"/>
          </p:cNvSpPr>
          <p:nvPr/>
        </p:nvSpPr>
        <p:spPr bwMode="auto">
          <a:xfrm>
            <a:off x="1452563" y="3048000"/>
            <a:ext cx="973137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</a:rPr>
              <a:t>dustin</a:t>
            </a:r>
            <a:endParaRPr lang="en-US" sz="1200"/>
          </a:p>
        </p:txBody>
      </p:sp>
      <p:sp>
        <p:nvSpPr>
          <p:cNvPr id="10324" name="Rectangle 84"/>
          <p:cNvSpPr>
            <a:spLocks noChangeArrowheads="1"/>
          </p:cNvSpPr>
          <p:nvPr/>
        </p:nvSpPr>
        <p:spPr bwMode="auto">
          <a:xfrm>
            <a:off x="2767013" y="3048000"/>
            <a:ext cx="17145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</a:rPr>
              <a:t>7</a:t>
            </a:r>
            <a:endParaRPr lang="en-US" sz="1200"/>
          </a:p>
        </p:txBody>
      </p:sp>
      <p:sp>
        <p:nvSpPr>
          <p:cNvPr id="10325" name="Rectangle 85"/>
          <p:cNvSpPr>
            <a:spLocks noChangeArrowheads="1"/>
          </p:cNvSpPr>
          <p:nvPr/>
        </p:nvSpPr>
        <p:spPr bwMode="auto">
          <a:xfrm>
            <a:off x="3995738" y="3048000"/>
            <a:ext cx="60007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</a:rPr>
              <a:t>45.0</a:t>
            </a:r>
            <a:endParaRPr lang="en-US" sz="1200"/>
          </a:p>
        </p:txBody>
      </p:sp>
      <p:sp>
        <p:nvSpPr>
          <p:cNvPr id="10326" name="Rectangle 86"/>
          <p:cNvSpPr>
            <a:spLocks noChangeArrowheads="1"/>
          </p:cNvSpPr>
          <p:nvPr/>
        </p:nvSpPr>
        <p:spPr bwMode="auto">
          <a:xfrm>
            <a:off x="4945063" y="3048000"/>
            <a:ext cx="34290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</a:rPr>
              <a:t>58</a:t>
            </a:r>
            <a:endParaRPr lang="en-US" sz="1200"/>
          </a:p>
        </p:txBody>
      </p:sp>
      <p:sp>
        <p:nvSpPr>
          <p:cNvPr id="10327" name="Rectangle 87"/>
          <p:cNvSpPr>
            <a:spLocks noChangeArrowheads="1"/>
          </p:cNvSpPr>
          <p:nvPr/>
        </p:nvSpPr>
        <p:spPr bwMode="auto">
          <a:xfrm>
            <a:off x="5967413" y="3048000"/>
            <a:ext cx="51435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</a:rPr>
              <a:t>103</a:t>
            </a:r>
            <a:endParaRPr lang="en-US" sz="1200"/>
          </a:p>
        </p:txBody>
      </p:sp>
      <p:sp>
        <p:nvSpPr>
          <p:cNvPr id="10328" name="Rectangle 88"/>
          <p:cNvSpPr>
            <a:spLocks noChangeArrowheads="1"/>
          </p:cNvSpPr>
          <p:nvPr/>
        </p:nvSpPr>
        <p:spPr bwMode="auto">
          <a:xfrm>
            <a:off x="6831013" y="3048000"/>
            <a:ext cx="144462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</a:rPr>
              <a:t>11/12/96</a:t>
            </a:r>
            <a:endParaRPr lang="en-US" sz="1200"/>
          </a:p>
        </p:txBody>
      </p:sp>
      <p:sp>
        <p:nvSpPr>
          <p:cNvPr id="10329" name="Rectangle 89"/>
          <p:cNvSpPr>
            <a:spLocks noChangeArrowheads="1"/>
          </p:cNvSpPr>
          <p:nvPr/>
        </p:nvSpPr>
        <p:spPr bwMode="auto">
          <a:xfrm>
            <a:off x="352425" y="3030538"/>
            <a:ext cx="23813" cy="11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30" name="Line 90"/>
          <p:cNvSpPr>
            <a:spLocks noChangeShapeType="1"/>
          </p:cNvSpPr>
          <p:nvPr/>
        </p:nvSpPr>
        <p:spPr bwMode="auto">
          <a:xfrm>
            <a:off x="352425" y="3030538"/>
            <a:ext cx="23813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31" name="Rectangle 91"/>
          <p:cNvSpPr>
            <a:spLocks noChangeArrowheads="1"/>
          </p:cNvSpPr>
          <p:nvPr/>
        </p:nvSpPr>
        <p:spPr bwMode="auto">
          <a:xfrm>
            <a:off x="376238" y="3030538"/>
            <a:ext cx="985837" cy="11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32" name="Line 92"/>
          <p:cNvSpPr>
            <a:spLocks noChangeShapeType="1"/>
          </p:cNvSpPr>
          <p:nvPr/>
        </p:nvSpPr>
        <p:spPr bwMode="auto">
          <a:xfrm>
            <a:off x="376238" y="3030538"/>
            <a:ext cx="985837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33" name="Rectangle 93"/>
          <p:cNvSpPr>
            <a:spLocks noChangeArrowheads="1"/>
          </p:cNvSpPr>
          <p:nvPr/>
        </p:nvSpPr>
        <p:spPr bwMode="auto">
          <a:xfrm>
            <a:off x="1362075" y="3030538"/>
            <a:ext cx="12700" cy="11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34" name="Line 94"/>
          <p:cNvSpPr>
            <a:spLocks noChangeShapeType="1"/>
          </p:cNvSpPr>
          <p:nvPr/>
        </p:nvSpPr>
        <p:spPr bwMode="auto">
          <a:xfrm>
            <a:off x="1362075" y="3030538"/>
            <a:ext cx="12700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35" name="Line 95"/>
          <p:cNvSpPr>
            <a:spLocks noChangeShapeType="1"/>
          </p:cNvSpPr>
          <p:nvPr/>
        </p:nvSpPr>
        <p:spPr bwMode="auto">
          <a:xfrm>
            <a:off x="1362075" y="3030538"/>
            <a:ext cx="1588" cy="11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36" name="Rectangle 96"/>
          <p:cNvSpPr>
            <a:spLocks noChangeArrowheads="1"/>
          </p:cNvSpPr>
          <p:nvPr/>
        </p:nvSpPr>
        <p:spPr bwMode="auto">
          <a:xfrm>
            <a:off x="1374775" y="3030538"/>
            <a:ext cx="1314450" cy="11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37" name="Line 97"/>
          <p:cNvSpPr>
            <a:spLocks noChangeShapeType="1"/>
          </p:cNvSpPr>
          <p:nvPr/>
        </p:nvSpPr>
        <p:spPr bwMode="auto">
          <a:xfrm>
            <a:off x="1374775" y="3030538"/>
            <a:ext cx="1314450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38" name="Rectangle 98"/>
          <p:cNvSpPr>
            <a:spLocks noChangeArrowheads="1"/>
          </p:cNvSpPr>
          <p:nvPr/>
        </p:nvSpPr>
        <p:spPr bwMode="auto">
          <a:xfrm>
            <a:off x="2689225" y="3030538"/>
            <a:ext cx="11113" cy="11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39" name="Line 99"/>
          <p:cNvSpPr>
            <a:spLocks noChangeShapeType="1"/>
          </p:cNvSpPr>
          <p:nvPr/>
        </p:nvSpPr>
        <p:spPr bwMode="auto">
          <a:xfrm>
            <a:off x="2689225" y="3030538"/>
            <a:ext cx="11113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40" name="Line 100"/>
          <p:cNvSpPr>
            <a:spLocks noChangeShapeType="1"/>
          </p:cNvSpPr>
          <p:nvPr/>
        </p:nvSpPr>
        <p:spPr bwMode="auto">
          <a:xfrm>
            <a:off x="2689225" y="3030538"/>
            <a:ext cx="1588" cy="11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41" name="Rectangle 101"/>
          <p:cNvSpPr>
            <a:spLocks noChangeArrowheads="1"/>
          </p:cNvSpPr>
          <p:nvPr/>
        </p:nvSpPr>
        <p:spPr bwMode="auto">
          <a:xfrm>
            <a:off x="2700338" y="3030538"/>
            <a:ext cx="1217612" cy="11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42" name="Line 102"/>
          <p:cNvSpPr>
            <a:spLocks noChangeShapeType="1"/>
          </p:cNvSpPr>
          <p:nvPr/>
        </p:nvSpPr>
        <p:spPr bwMode="auto">
          <a:xfrm>
            <a:off x="2700338" y="3030538"/>
            <a:ext cx="1217612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43" name="Rectangle 103"/>
          <p:cNvSpPr>
            <a:spLocks noChangeArrowheads="1"/>
          </p:cNvSpPr>
          <p:nvPr/>
        </p:nvSpPr>
        <p:spPr bwMode="auto">
          <a:xfrm>
            <a:off x="3917950" y="3030538"/>
            <a:ext cx="12700" cy="11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44" name="Line 104"/>
          <p:cNvSpPr>
            <a:spLocks noChangeShapeType="1"/>
          </p:cNvSpPr>
          <p:nvPr/>
        </p:nvSpPr>
        <p:spPr bwMode="auto">
          <a:xfrm>
            <a:off x="3917950" y="3030538"/>
            <a:ext cx="12700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45" name="Line 105"/>
          <p:cNvSpPr>
            <a:spLocks noChangeShapeType="1"/>
          </p:cNvSpPr>
          <p:nvPr/>
        </p:nvSpPr>
        <p:spPr bwMode="auto">
          <a:xfrm>
            <a:off x="3917950" y="3030538"/>
            <a:ext cx="1588" cy="11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46" name="Rectangle 106"/>
          <p:cNvSpPr>
            <a:spLocks noChangeArrowheads="1"/>
          </p:cNvSpPr>
          <p:nvPr/>
        </p:nvSpPr>
        <p:spPr bwMode="auto">
          <a:xfrm>
            <a:off x="3930650" y="3030538"/>
            <a:ext cx="936625" cy="11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47" name="Line 107"/>
          <p:cNvSpPr>
            <a:spLocks noChangeShapeType="1"/>
          </p:cNvSpPr>
          <p:nvPr/>
        </p:nvSpPr>
        <p:spPr bwMode="auto">
          <a:xfrm>
            <a:off x="3930650" y="3030538"/>
            <a:ext cx="936625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48" name="Rectangle 108"/>
          <p:cNvSpPr>
            <a:spLocks noChangeArrowheads="1"/>
          </p:cNvSpPr>
          <p:nvPr/>
        </p:nvSpPr>
        <p:spPr bwMode="auto">
          <a:xfrm>
            <a:off x="4867275" y="3030538"/>
            <a:ext cx="11113" cy="11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49" name="Line 109"/>
          <p:cNvSpPr>
            <a:spLocks noChangeShapeType="1"/>
          </p:cNvSpPr>
          <p:nvPr/>
        </p:nvSpPr>
        <p:spPr bwMode="auto">
          <a:xfrm>
            <a:off x="4867275" y="3030538"/>
            <a:ext cx="11113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50" name="Line 110"/>
          <p:cNvSpPr>
            <a:spLocks noChangeShapeType="1"/>
          </p:cNvSpPr>
          <p:nvPr/>
        </p:nvSpPr>
        <p:spPr bwMode="auto">
          <a:xfrm>
            <a:off x="4867275" y="3030538"/>
            <a:ext cx="1588" cy="11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51" name="Rectangle 111"/>
          <p:cNvSpPr>
            <a:spLocks noChangeArrowheads="1"/>
          </p:cNvSpPr>
          <p:nvPr/>
        </p:nvSpPr>
        <p:spPr bwMode="auto">
          <a:xfrm>
            <a:off x="4878388" y="3030538"/>
            <a:ext cx="1011237" cy="11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52" name="Line 112"/>
          <p:cNvSpPr>
            <a:spLocks noChangeShapeType="1"/>
          </p:cNvSpPr>
          <p:nvPr/>
        </p:nvSpPr>
        <p:spPr bwMode="auto">
          <a:xfrm>
            <a:off x="4878388" y="3030538"/>
            <a:ext cx="1011237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53" name="Rectangle 113"/>
          <p:cNvSpPr>
            <a:spLocks noChangeArrowheads="1"/>
          </p:cNvSpPr>
          <p:nvPr/>
        </p:nvSpPr>
        <p:spPr bwMode="auto">
          <a:xfrm>
            <a:off x="5889625" y="3030538"/>
            <a:ext cx="11113" cy="11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54" name="Line 114"/>
          <p:cNvSpPr>
            <a:spLocks noChangeShapeType="1"/>
          </p:cNvSpPr>
          <p:nvPr/>
        </p:nvSpPr>
        <p:spPr bwMode="auto">
          <a:xfrm>
            <a:off x="5889625" y="3030538"/>
            <a:ext cx="11113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55" name="Line 115"/>
          <p:cNvSpPr>
            <a:spLocks noChangeShapeType="1"/>
          </p:cNvSpPr>
          <p:nvPr/>
        </p:nvSpPr>
        <p:spPr bwMode="auto">
          <a:xfrm>
            <a:off x="5889625" y="3030538"/>
            <a:ext cx="1588" cy="11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56" name="Rectangle 116"/>
          <p:cNvSpPr>
            <a:spLocks noChangeArrowheads="1"/>
          </p:cNvSpPr>
          <p:nvPr/>
        </p:nvSpPr>
        <p:spPr bwMode="auto">
          <a:xfrm>
            <a:off x="5900738" y="3030538"/>
            <a:ext cx="839787" cy="11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57" name="Line 117"/>
          <p:cNvSpPr>
            <a:spLocks noChangeShapeType="1"/>
          </p:cNvSpPr>
          <p:nvPr/>
        </p:nvSpPr>
        <p:spPr bwMode="auto">
          <a:xfrm>
            <a:off x="5900738" y="3030538"/>
            <a:ext cx="839787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58" name="Rectangle 118"/>
          <p:cNvSpPr>
            <a:spLocks noChangeArrowheads="1"/>
          </p:cNvSpPr>
          <p:nvPr/>
        </p:nvSpPr>
        <p:spPr bwMode="auto">
          <a:xfrm>
            <a:off x="6740525" y="3030538"/>
            <a:ext cx="12700" cy="11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59" name="Line 119"/>
          <p:cNvSpPr>
            <a:spLocks noChangeShapeType="1"/>
          </p:cNvSpPr>
          <p:nvPr/>
        </p:nvSpPr>
        <p:spPr bwMode="auto">
          <a:xfrm>
            <a:off x="6740525" y="3030538"/>
            <a:ext cx="12700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60" name="Line 120"/>
          <p:cNvSpPr>
            <a:spLocks noChangeShapeType="1"/>
          </p:cNvSpPr>
          <p:nvPr/>
        </p:nvSpPr>
        <p:spPr bwMode="auto">
          <a:xfrm>
            <a:off x="6740525" y="3030538"/>
            <a:ext cx="1588" cy="11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61" name="Rectangle 121"/>
          <p:cNvSpPr>
            <a:spLocks noChangeArrowheads="1"/>
          </p:cNvSpPr>
          <p:nvPr/>
        </p:nvSpPr>
        <p:spPr bwMode="auto">
          <a:xfrm>
            <a:off x="6753225" y="3030538"/>
            <a:ext cx="1630363" cy="11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62" name="Line 122"/>
          <p:cNvSpPr>
            <a:spLocks noChangeShapeType="1"/>
          </p:cNvSpPr>
          <p:nvPr/>
        </p:nvSpPr>
        <p:spPr bwMode="auto">
          <a:xfrm>
            <a:off x="6753225" y="3030538"/>
            <a:ext cx="1630363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63" name="Rectangle 123"/>
          <p:cNvSpPr>
            <a:spLocks noChangeArrowheads="1"/>
          </p:cNvSpPr>
          <p:nvPr/>
        </p:nvSpPr>
        <p:spPr bwMode="auto">
          <a:xfrm>
            <a:off x="8383588" y="3030538"/>
            <a:ext cx="25400" cy="11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64" name="Line 124"/>
          <p:cNvSpPr>
            <a:spLocks noChangeShapeType="1"/>
          </p:cNvSpPr>
          <p:nvPr/>
        </p:nvSpPr>
        <p:spPr bwMode="auto">
          <a:xfrm>
            <a:off x="8383588" y="3030538"/>
            <a:ext cx="25400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65" name="Rectangle 125"/>
          <p:cNvSpPr>
            <a:spLocks noChangeArrowheads="1"/>
          </p:cNvSpPr>
          <p:nvPr/>
        </p:nvSpPr>
        <p:spPr bwMode="auto">
          <a:xfrm>
            <a:off x="352425" y="3041650"/>
            <a:ext cx="23813" cy="4222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66" name="Line 126"/>
          <p:cNvSpPr>
            <a:spLocks noChangeShapeType="1"/>
          </p:cNvSpPr>
          <p:nvPr/>
        </p:nvSpPr>
        <p:spPr bwMode="auto">
          <a:xfrm>
            <a:off x="352425" y="3041650"/>
            <a:ext cx="1588" cy="4222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67" name="Rectangle 127"/>
          <p:cNvSpPr>
            <a:spLocks noChangeArrowheads="1"/>
          </p:cNvSpPr>
          <p:nvPr/>
        </p:nvSpPr>
        <p:spPr bwMode="auto">
          <a:xfrm>
            <a:off x="1362075" y="3041650"/>
            <a:ext cx="12700" cy="4222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68" name="Line 128"/>
          <p:cNvSpPr>
            <a:spLocks noChangeShapeType="1"/>
          </p:cNvSpPr>
          <p:nvPr/>
        </p:nvSpPr>
        <p:spPr bwMode="auto">
          <a:xfrm>
            <a:off x="1362075" y="3041650"/>
            <a:ext cx="1588" cy="4222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69" name="Rectangle 129"/>
          <p:cNvSpPr>
            <a:spLocks noChangeArrowheads="1"/>
          </p:cNvSpPr>
          <p:nvPr/>
        </p:nvSpPr>
        <p:spPr bwMode="auto">
          <a:xfrm>
            <a:off x="2689225" y="3041650"/>
            <a:ext cx="11113" cy="4222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70" name="Line 130"/>
          <p:cNvSpPr>
            <a:spLocks noChangeShapeType="1"/>
          </p:cNvSpPr>
          <p:nvPr/>
        </p:nvSpPr>
        <p:spPr bwMode="auto">
          <a:xfrm>
            <a:off x="2689225" y="3041650"/>
            <a:ext cx="1588" cy="4222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71" name="Rectangle 131"/>
          <p:cNvSpPr>
            <a:spLocks noChangeArrowheads="1"/>
          </p:cNvSpPr>
          <p:nvPr/>
        </p:nvSpPr>
        <p:spPr bwMode="auto">
          <a:xfrm>
            <a:off x="3917950" y="3041650"/>
            <a:ext cx="12700" cy="4222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72" name="Line 132"/>
          <p:cNvSpPr>
            <a:spLocks noChangeShapeType="1"/>
          </p:cNvSpPr>
          <p:nvPr/>
        </p:nvSpPr>
        <p:spPr bwMode="auto">
          <a:xfrm>
            <a:off x="3917950" y="3041650"/>
            <a:ext cx="1588" cy="4222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73" name="Rectangle 133"/>
          <p:cNvSpPr>
            <a:spLocks noChangeArrowheads="1"/>
          </p:cNvSpPr>
          <p:nvPr/>
        </p:nvSpPr>
        <p:spPr bwMode="auto">
          <a:xfrm>
            <a:off x="4867275" y="3041650"/>
            <a:ext cx="11113" cy="4222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74" name="Line 134"/>
          <p:cNvSpPr>
            <a:spLocks noChangeShapeType="1"/>
          </p:cNvSpPr>
          <p:nvPr/>
        </p:nvSpPr>
        <p:spPr bwMode="auto">
          <a:xfrm>
            <a:off x="4867275" y="3041650"/>
            <a:ext cx="1588" cy="4222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75" name="Rectangle 135"/>
          <p:cNvSpPr>
            <a:spLocks noChangeArrowheads="1"/>
          </p:cNvSpPr>
          <p:nvPr/>
        </p:nvSpPr>
        <p:spPr bwMode="auto">
          <a:xfrm>
            <a:off x="5889625" y="3041650"/>
            <a:ext cx="11113" cy="4222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76" name="Line 136"/>
          <p:cNvSpPr>
            <a:spLocks noChangeShapeType="1"/>
          </p:cNvSpPr>
          <p:nvPr/>
        </p:nvSpPr>
        <p:spPr bwMode="auto">
          <a:xfrm>
            <a:off x="5889625" y="3041650"/>
            <a:ext cx="1588" cy="4222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77" name="Rectangle 137"/>
          <p:cNvSpPr>
            <a:spLocks noChangeArrowheads="1"/>
          </p:cNvSpPr>
          <p:nvPr/>
        </p:nvSpPr>
        <p:spPr bwMode="auto">
          <a:xfrm>
            <a:off x="6740525" y="3041650"/>
            <a:ext cx="12700" cy="4222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78" name="Line 138"/>
          <p:cNvSpPr>
            <a:spLocks noChangeShapeType="1"/>
          </p:cNvSpPr>
          <p:nvPr/>
        </p:nvSpPr>
        <p:spPr bwMode="auto">
          <a:xfrm>
            <a:off x="6740525" y="3041650"/>
            <a:ext cx="1588" cy="4222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79" name="Rectangle 139"/>
          <p:cNvSpPr>
            <a:spLocks noChangeArrowheads="1"/>
          </p:cNvSpPr>
          <p:nvPr/>
        </p:nvSpPr>
        <p:spPr bwMode="auto">
          <a:xfrm>
            <a:off x="8383588" y="3041650"/>
            <a:ext cx="25400" cy="4222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80" name="Line 140"/>
          <p:cNvSpPr>
            <a:spLocks noChangeShapeType="1"/>
          </p:cNvSpPr>
          <p:nvPr/>
        </p:nvSpPr>
        <p:spPr bwMode="auto">
          <a:xfrm>
            <a:off x="8383588" y="3041650"/>
            <a:ext cx="1587" cy="4222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81" name="Rectangle 141"/>
          <p:cNvSpPr>
            <a:spLocks noChangeArrowheads="1"/>
          </p:cNvSpPr>
          <p:nvPr/>
        </p:nvSpPr>
        <p:spPr bwMode="auto">
          <a:xfrm>
            <a:off x="430213" y="3470275"/>
            <a:ext cx="34290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</a:rPr>
              <a:t>31</a:t>
            </a:r>
            <a:endParaRPr lang="en-US" sz="1200"/>
          </a:p>
        </p:txBody>
      </p:sp>
      <p:sp>
        <p:nvSpPr>
          <p:cNvPr id="10382" name="Rectangle 142"/>
          <p:cNvSpPr>
            <a:spLocks noChangeArrowheads="1"/>
          </p:cNvSpPr>
          <p:nvPr/>
        </p:nvSpPr>
        <p:spPr bwMode="auto">
          <a:xfrm>
            <a:off x="1452563" y="3470275"/>
            <a:ext cx="985837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</a:rPr>
              <a:t>lubber</a:t>
            </a:r>
            <a:endParaRPr lang="en-US" sz="1200"/>
          </a:p>
        </p:txBody>
      </p:sp>
      <p:sp>
        <p:nvSpPr>
          <p:cNvPr id="10383" name="Rectangle 143"/>
          <p:cNvSpPr>
            <a:spLocks noChangeArrowheads="1"/>
          </p:cNvSpPr>
          <p:nvPr/>
        </p:nvSpPr>
        <p:spPr bwMode="auto">
          <a:xfrm>
            <a:off x="2767013" y="3470275"/>
            <a:ext cx="17145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</a:rPr>
              <a:t>8</a:t>
            </a:r>
            <a:endParaRPr lang="en-US" sz="1200"/>
          </a:p>
        </p:txBody>
      </p:sp>
      <p:sp>
        <p:nvSpPr>
          <p:cNvPr id="10384" name="Rectangle 144"/>
          <p:cNvSpPr>
            <a:spLocks noChangeArrowheads="1"/>
          </p:cNvSpPr>
          <p:nvPr/>
        </p:nvSpPr>
        <p:spPr bwMode="auto">
          <a:xfrm>
            <a:off x="3995738" y="3470275"/>
            <a:ext cx="60007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</a:rPr>
              <a:t>55.5</a:t>
            </a:r>
            <a:endParaRPr lang="en-US" sz="1200"/>
          </a:p>
        </p:txBody>
      </p:sp>
      <p:sp>
        <p:nvSpPr>
          <p:cNvPr id="10385" name="Rectangle 145"/>
          <p:cNvSpPr>
            <a:spLocks noChangeArrowheads="1"/>
          </p:cNvSpPr>
          <p:nvPr/>
        </p:nvSpPr>
        <p:spPr bwMode="auto">
          <a:xfrm>
            <a:off x="4945063" y="3470275"/>
            <a:ext cx="34290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</a:rPr>
              <a:t>58</a:t>
            </a:r>
            <a:endParaRPr lang="en-US" sz="1200"/>
          </a:p>
        </p:txBody>
      </p:sp>
      <p:sp>
        <p:nvSpPr>
          <p:cNvPr id="10386" name="Rectangle 146"/>
          <p:cNvSpPr>
            <a:spLocks noChangeArrowheads="1"/>
          </p:cNvSpPr>
          <p:nvPr/>
        </p:nvSpPr>
        <p:spPr bwMode="auto">
          <a:xfrm>
            <a:off x="5967413" y="3470275"/>
            <a:ext cx="51435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</a:rPr>
              <a:t>103</a:t>
            </a:r>
            <a:endParaRPr lang="en-US" sz="1200"/>
          </a:p>
        </p:txBody>
      </p:sp>
      <p:sp>
        <p:nvSpPr>
          <p:cNvPr id="10387" name="Rectangle 147"/>
          <p:cNvSpPr>
            <a:spLocks noChangeArrowheads="1"/>
          </p:cNvSpPr>
          <p:nvPr/>
        </p:nvSpPr>
        <p:spPr bwMode="auto">
          <a:xfrm>
            <a:off x="6831013" y="3470275"/>
            <a:ext cx="144462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sz="2700">
                <a:solidFill>
                  <a:srgbClr val="000000"/>
                </a:solidFill>
              </a:rPr>
              <a:t>11/12/96</a:t>
            </a:r>
            <a:endParaRPr lang="en-US" sz="1200"/>
          </a:p>
        </p:txBody>
      </p:sp>
      <p:sp>
        <p:nvSpPr>
          <p:cNvPr id="10388" name="Rectangle 148"/>
          <p:cNvSpPr>
            <a:spLocks noChangeArrowheads="1"/>
          </p:cNvSpPr>
          <p:nvPr/>
        </p:nvSpPr>
        <p:spPr bwMode="auto">
          <a:xfrm>
            <a:off x="352425" y="3463925"/>
            <a:ext cx="23813" cy="4333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89" name="Line 149"/>
          <p:cNvSpPr>
            <a:spLocks noChangeShapeType="1"/>
          </p:cNvSpPr>
          <p:nvPr/>
        </p:nvSpPr>
        <p:spPr bwMode="auto">
          <a:xfrm>
            <a:off x="352425" y="3463925"/>
            <a:ext cx="1588" cy="4333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90" name="Rectangle 150"/>
          <p:cNvSpPr>
            <a:spLocks noChangeArrowheads="1"/>
          </p:cNvSpPr>
          <p:nvPr/>
        </p:nvSpPr>
        <p:spPr bwMode="auto">
          <a:xfrm>
            <a:off x="352425" y="3897313"/>
            <a:ext cx="1009650" cy="127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91" name="Line 151"/>
          <p:cNvSpPr>
            <a:spLocks noChangeShapeType="1"/>
          </p:cNvSpPr>
          <p:nvPr/>
        </p:nvSpPr>
        <p:spPr bwMode="auto">
          <a:xfrm>
            <a:off x="352425" y="3897313"/>
            <a:ext cx="1009650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92" name="Rectangle 152"/>
          <p:cNvSpPr>
            <a:spLocks noChangeArrowheads="1"/>
          </p:cNvSpPr>
          <p:nvPr/>
        </p:nvSpPr>
        <p:spPr bwMode="auto">
          <a:xfrm>
            <a:off x="1362075" y="3463925"/>
            <a:ext cx="12700" cy="4333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93" name="Line 153"/>
          <p:cNvSpPr>
            <a:spLocks noChangeShapeType="1"/>
          </p:cNvSpPr>
          <p:nvPr/>
        </p:nvSpPr>
        <p:spPr bwMode="auto">
          <a:xfrm>
            <a:off x="1362075" y="3463925"/>
            <a:ext cx="1588" cy="4333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94" name="Rectangle 154"/>
          <p:cNvSpPr>
            <a:spLocks noChangeArrowheads="1"/>
          </p:cNvSpPr>
          <p:nvPr/>
        </p:nvSpPr>
        <p:spPr bwMode="auto">
          <a:xfrm>
            <a:off x="1362075" y="3897313"/>
            <a:ext cx="12700" cy="127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95" name="Line 155"/>
          <p:cNvSpPr>
            <a:spLocks noChangeShapeType="1"/>
          </p:cNvSpPr>
          <p:nvPr/>
        </p:nvSpPr>
        <p:spPr bwMode="auto">
          <a:xfrm>
            <a:off x="1362075" y="3897313"/>
            <a:ext cx="12700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96" name="Line 156"/>
          <p:cNvSpPr>
            <a:spLocks noChangeShapeType="1"/>
          </p:cNvSpPr>
          <p:nvPr/>
        </p:nvSpPr>
        <p:spPr bwMode="auto">
          <a:xfrm>
            <a:off x="1362075" y="3897313"/>
            <a:ext cx="1588" cy="12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97" name="Rectangle 157"/>
          <p:cNvSpPr>
            <a:spLocks noChangeArrowheads="1"/>
          </p:cNvSpPr>
          <p:nvPr/>
        </p:nvSpPr>
        <p:spPr bwMode="auto">
          <a:xfrm>
            <a:off x="1374775" y="3897313"/>
            <a:ext cx="1314450" cy="127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98" name="Line 158"/>
          <p:cNvSpPr>
            <a:spLocks noChangeShapeType="1"/>
          </p:cNvSpPr>
          <p:nvPr/>
        </p:nvSpPr>
        <p:spPr bwMode="auto">
          <a:xfrm>
            <a:off x="1374775" y="3897313"/>
            <a:ext cx="1314450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399" name="Rectangle 159"/>
          <p:cNvSpPr>
            <a:spLocks noChangeArrowheads="1"/>
          </p:cNvSpPr>
          <p:nvPr/>
        </p:nvSpPr>
        <p:spPr bwMode="auto">
          <a:xfrm>
            <a:off x="2689225" y="3463925"/>
            <a:ext cx="11113" cy="4333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00" name="Line 160"/>
          <p:cNvSpPr>
            <a:spLocks noChangeShapeType="1"/>
          </p:cNvSpPr>
          <p:nvPr/>
        </p:nvSpPr>
        <p:spPr bwMode="auto">
          <a:xfrm>
            <a:off x="2689225" y="3463925"/>
            <a:ext cx="1588" cy="4333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01" name="Rectangle 161"/>
          <p:cNvSpPr>
            <a:spLocks noChangeArrowheads="1"/>
          </p:cNvSpPr>
          <p:nvPr/>
        </p:nvSpPr>
        <p:spPr bwMode="auto">
          <a:xfrm>
            <a:off x="2689225" y="3897313"/>
            <a:ext cx="11113" cy="127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02" name="Line 162"/>
          <p:cNvSpPr>
            <a:spLocks noChangeShapeType="1"/>
          </p:cNvSpPr>
          <p:nvPr/>
        </p:nvSpPr>
        <p:spPr bwMode="auto">
          <a:xfrm>
            <a:off x="2689225" y="3897313"/>
            <a:ext cx="11113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03" name="Line 163"/>
          <p:cNvSpPr>
            <a:spLocks noChangeShapeType="1"/>
          </p:cNvSpPr>
          <p:nvPr/>
        </p:nvSpPr>
        <p:spPr bwMode="auto">
          <a:xfrm>
            <a:off x="2689225" y="3897313"/>
            <a:ext cx="1588" cy="12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04" name="Rectangle 164"/>
          <p:cNvSpPr>
            <a:spLocks noChangeArrowheads="1"/>
          </p:cNvSpPr>
          <p:nvPr/>
        </p:nvSpPr>
        <p:spPr bwMode="auto">
          <a:xfrm>
            <a:off x="2700338" y="3897313"/>
            <a:ext cx="1217612" cy="127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05" name="Line 165"/>
          <p:cNvSpPr>
            <a:spLocks noChangeShapeType="1"/>
          </p:cNvSpPr>
          <p:nvPr/>
        </p:nvSpPr>
        <p:spPr bwMode="auto">
          <a:xfrm>
            <a:off x="2700338" y="3897313"/>
            <a:ext cx="1217612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06" name="Rectangle 166"/>
          <p:cNvSpPr>
            <a:spLocks noChangeArrowheads="1"/>
          </p:cNvSpPr>
          <p:nvPr/>
        </p:nvSpPr>
        <p:spPr bwMode="auto">
          <a:xfrm>
            <a:off x="3917950" y="3463925"/>
            <a:ext cx="12700" cy="4333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07" name="Line 167"/>
          <p:cNvSpPr>
            <a:spLocks noChangeShapeType="1"/>
          </p:cNvSpPr>
          <p:nvPr/>
        </p:nvSpPr>
        <p:spPr bwMode="auto">
          <a:xfrm>
            <a:off x="3917950" y="3463925"/>
            <a:ext cx="1588" cy="4333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08" name="Rectangle 168"/>
          <p:cNvSpPr>
            <a:spLocks noChangeArrowheads="1"/>
          </p:cNvSpPr>
          <p:nvPr/>
        </p:nvSpPr>
        <p:spPr bwMode="auto">
          <a:xfrm>
            <a:off x="3917950" y="3897313"/>
            <a:ext cx="12700" cy="127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09" name="Line 169"/>
          <p:cNvSpPr>
            <a:spLocks noChangeShapeType="1"/>
          </p:cNvSpPr>
          <p:nvPr/>
        </p:nvSpPr>
        <p:spPr bwMode="auto">
          <a:xfrm>
            <a:off x="3917950" y="3897313"/>
            <a:ext cx="12700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10" name="Line 170"/>
          <p:cNvSpPr>
            <a:spLocks noChangeShapeType="1"/>
          </p:cNvSpPr>
          <p:nvPr/>
        </p:nvSpPr>
        <p:spPr bwMode="auto">
          <a:xfrm>
            <a:off x="3917950" y="3897313"/>
            <a:ext cx="1588" cy="12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11" name="Rectangle 171"/>
          <p:cNvSpPr>
            <a:spLocks noChangeArrowheads="1"/>
          </p:cNvSpPr>
          <p:nvPr/>
        </p:nvSpPr>
        <p:spPr bwMode="auto">
          <a:xfrm>
            <a:off x="3930650" y="3897313"/>
            <a:ext cx="936625" cy="127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12" name="Line 172"/>
          <p:cNvSpPr>
            <a:spLocks noChangeShapeType="1"/>
          </p:cNvSpPr>
          <p:nvPr/>
        </p:nvSpPr>
        <p:spPr bwMode="auto">
          <a:xfrm>
            <a:off x="3930650" y="3897313"/>
            <a:ext cx="936625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13" name="Rectangle 173"/>
          <p:cNvSpPr>
            <a:spLocks noChangeArrowheads="1"/>
          </p:cNvSpPr>
          <p:nvPr/>
        </p:nvSpPr>
        <p:spPr bwMode="auto">
          <a:xfrm>
            <a:off x="4867275" y="3463925"/>
            <a:ext cx="11113" cy="4333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14" name="Line 174"/>
          <p:cNvSpPr>
            <a:spLocks noChangeShapeType="1"/>
          </p:cNvSpPr>
          <p:nvPr/>
        </p:nvSpPr>
        <p:spPr bwMode="auto">
          <a:xfrm>
            <a:off x="4867275" y="3463925"/>
            <a:ext cx="1588" cy="4333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15" name="Rectangle 175"/>
          <p:cNvSpPr>
            <a:spLocks noChangeArrowheads="1"/>
          </p:cNvSpPr>
          <p:nvPr/>
        </p:nvSpPr>
        <p:spPr bwMode="auto">
          <a:xfrm>
            <a:off x="4867275" y="3897313"/>
            <a:ext cx="11113" cy="127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16" name="Line 176"/>
          <p:cNvSpPr>
            <a:spLocks noChangeShapeType="1"/>
          </p:cNvSpPr>
          <p:nvPr/>
        </p:nvSpPr>
        <p:spPr bwMode="auto">
          <a:xfrm>
            <a:off x="4867275" y="3897313"/>
            <a:ext cx="11113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17" name="Line 177"/>
          <p:cNvSpPr>
            <a:spLocks noChangeShapeType="1"/>
          </p:cNvSpPr>
          <p:nvPr/>
        </p:nvSpPr>
        <p:spPr bwMode="auto">
          <a:xfrm>
            <a:off x="4867275" y="3897313"/>
            <a:ext cx="1588" cy="12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18" name="Rectangle 178"/>
          <p:cNvSpPr>
            <a:spLocks noChangeArrowheads="1"/>
          </p:cNvSpPr>
          <p:nvPr/>
        </p:nvSpPr>
        <p:spPr bwMode="auto">
          <a:xfrm>
            <a:off x="4878388" y="3897313"/>
            <a:ext cx="1011237" cy="127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19" name="Line 179"/>
          <p:cNvSpPr>
            <a:spLocks noChangeShapeType="1"/>
          </p:cNvSpPr>
          <p:nvPr/>
        </p:nvSpPr>
        <p:spPr bwMode="auto">
          <a:xfrm>
            <a:off x="4878388" y="3897313"/>
            <a:ext cx="1011237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20" name="Rectangle 180"/>
          <p:cNvSpPr>
            <a:spLocks noChangeArrowheads="1"/>
          </p:cNvSpPr>
          <p:nvPr/>
        </p:nvSpPr>
        <p:spPr bwMode="auto">
          <a:xfrm>
            <a:off x="5889625" y="3463925"/>
            <a:ext cx="11113" cy="4333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21" name="Line 181"/>
          <p:cNvSpPr>
            <a:spLocks noChangeShapeType="1"/>
          </p:cNvSpPr>
          <p:nvPr/>
        </p:nvSpPr>
        <p:spPr bwMode="auto">
          <a:xfrm>
            <a:off x="5889625" y="3463925"/>
            <a:ext cx="1588" cy="4333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22" name="Rectangle 182"/>
          <p:cNvSpPr>
            <a:spLocks noChangeArrowheads="1"/>
          </p:cNvSpPr>
          <p:nvPr/>
        </p:nvSpPr>
        <p:spPr bwMode="auto">
          <a:xfrm>
            <a:off x="5889625" y="3897313"/>
            <a:ext cx="11113" cy="127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23" name="Line 183"/>
          <p:cNvSpPr>
            <a:spLocks noChangeShapeType="1"/>
          </p:cNvSpPr>
          <p:nvPr/>
        </p:nvSpPr>
        <p:spPr bwMode="auto">
          <a:xfrm>
            <a:off x="5889625" y="3897313"/>
            <a:ext cx="11113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24" name="Line 184"/>
          <p:cNvSpPr>
            <a:spLocks noChangeShapeType="1"/>
          </p:cNvSpPr>
          <p:nvPr/>
        </p:nvSpPr>
        <p:spPr bwMode="auto">
          <a:xfrm>
            <a:off x="5889625" y="3897313"/>
            <a:ext cx="1588" cy="12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25" name="Rectangle 185"/>
          <p:cNvSpPr>
            <a:spLocks noChangeArrowheads="1"/>
          </p:cNvSpPr>
          <p:nvPr/>
        </p:nvSpPr>
        <p:spPr bwMode="auto">
          <a:xfrm>
            <a:off x="5900738" y="3897313"/>
            <a:ext cx="839787" cy="127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26" name="Line 186"/>
          <p:cNvSpPr>
            <a:spLocks noChangeShapeType="1"/>
          </p:cNvSpPr>
          <p:nvPr/>
        </p:nvSpPr>
        <p:spPr bwMode="auto">
          <a:xfrm>
            <a:off x="5900738" y="3897313"/>
            <a:ext cx="839787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27" name="Rectangle 187"/>
          <p:cNvSpPr>
            <a:spLocks noChangeArrowheads="1"/>
          </p:cNvSpPr>
          <p:nvPr/>
        </p:nvSpPr>
        <p:spPr bwMode="auto">
          <a:xfrm>
            <a:off x="6740525" y="3463925"/>
            <a:ext cx="12700" cy="4333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28" name="Line 188"/>
          <p:cNvSpPr>
            <a:spLocks noChangeShapeType="1"/>
          </p:cNvSpPr>
          <p:nvPr/>
        </p:nvSpPr>
        <p:spPr bwMode="auto">
          <a:xfrm>
            <a:off x="6740525" y="3463925"/>
            <a:ext cx="1588" cy="4333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29" name="Rectangle 189"/>
          <p:cNvSpPr>
            <a:spLocks noChangeArrowheads="1"/>
          </p:cNvSpPr>
          <p:nvPr/>
        </p:nvSpPr>
        <p:spPr bwMode="auto">
          <a:xfrm>
            <a:off x="6740525" y="3897313"/>
            <a:ext cx="12700" cy="127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30" name="Line 190"/>
          <p:cNvSpPr>
            <a:spLocks noChangeShapeType="1"/>
          </p:cNvSpPr>
          <p:nvPr/>
        </p:nvSpPr>
        <p:spPr bwMode="auto">
          <a:xfrm>
            <a:off x="6740525" y="3897313"/>
            <a:ext cx="12700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31" name="Line 191"/>
          <p:cNvSpPr>
            <a:spLocks noChangeShapeType="1"/>
          </p:cNvSpPr>
          <p:nvPr/>
        </p:nvSpPr>
        <p:spPr bwMode="auto">
          <a:xfrm>
            <a:off x="6740525" y="3897313"/>
            <a:ext cx="1588" cy="12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32" name="Rectangle 192"/>
          <p:cNvSpPr>
            <a:spLocks noChangeArrowheads="1"/>
          </p:cNvSpPr>
          <p:nvPr/>
        </p:nvSpPr>
        <p:spPr bwMode="auto">
          <a:xfrm>
            <a:off x="6753225" y="3897313"/>
            <a:ext cx="1630363" cy="127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33" name="Line 193"/>
          <p:cNvSpPr>
            <a:spLocks noChangeShapeType="1"/>
          </p:cNvSpPr>
          <p:nvPr/>
        </p:nvSpPr>
        <p:spPr bwMode="auto">
          <a:xfrm>
            <a:off x="6753225" y="3897313"/>
            <a:ext cx="1630363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34" name="Rectangle 194"/>
          <p:cNvSpPr>
            <a:spLocks noChangeArrowheads="1"/>
          </p:cNvSpPr>
          <p:nvPr/>
        </p:nvSpPr>
        <p:spPr bwMode="auto">
          <a:xfrm>
            <a:off x="8383588" y="3463925"/>
            <a:ext cx="25400" cy="4333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35" name="Line 195"/>
          <p:cNvSpPr>
            <a:spLocks noChangeShapeType="1"/>
          </p:cNvSpPr>
          <p:nvPr/>
        </p:nvSpPr>
        <p:spPr bwMode="auto">
          <a:xfrm>
            <a:off x="8383588" y="3463925"/>
            <a:ext cx="1587" cy="4333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36" name="Rectangle 196"/>
          <p:cNvSpPr>
            <a:spLocks noChangeArrowheads="1"/>
          </p:cNvSpPr>
          <p:nvPr/>
        </p:nvSpPr>
        <p:spPr bwMode="auto">
          <a:xfrm>
            <a:off x="8383588" y="3897313"/>
            <a:ext cx="25400" cy="127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10437" name="Line 197"/>
          <p:cNvSpPr>
            <a:spLocks noChangeShapeType="1"/>
          </p:cNvSpPr>
          <p:nvPr/>
        </p:nvSpPr>
        <p:spPr bwMode="auto">
          <a:xfrm>
            <a:off x="8383588" y="3897313"/>
            <a:ext cx="25400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graphicFrame>
        <p:nvGraphicFramePr>
          <p:cNvPr id="10243" name="Object 8"/>
          <p:cNvGraphicFramePr>
            <a:graphicFrameLocks/>
          </p:cNvGraphicFramePr>
          <p:nvPr/>
        </p:nvGraphicFramePr>
        <p:xfrm>
          <a:off x="2916238" y="4041775"/>
          <a:ext cx="3290887" cy="549275"/>
        </p:xfrm>
        <a:graphic>
          <a:graphicData uri="http://schemas.openxmlformats.org/presentationml/2006/ole">
            <p:oleObj spid="_x0000_s133147" name="Equation" r:id="rId5" imgW="3302000" imgH="558800" progId="Equation.3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2467267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reeform 1"/>
          <p:cNvSpPr>
            <a:spLocks/>
          </p:cNvSpPr>
          <p:nvPr/>
        </p:nvSpPr>
        <p:spPr bwMode="auto">
          <a:xfrm>
            <a:off x="685800" y="6248400"/>
            <a:ext cx="1905000" cy="457200"/>
          </a:xfrm>
          <a:custGeom>
            <a:avLst/>
            <a:gdLst>
              <a:gd name="T0" fmla="*/ 0 w 10000"/>
              <a:gd name="T1" fmla="*/ 0 h 10000"/>
              <a:gd name="T2" fmla="*/ 1905000 w 10000"/>
              <a:gd name="T3" fmla="*/ 0 h 10000"/>
              <a:gd name="T4" fmla="*/ 1905000 w 10000"/>
              <a:gd name="T5" fmla="*/ 457200 h 10000"/>
              <a:gd name="T6" fmla="*/ 0 w 10000"/>
              <a:gd name="T7" fmla="*/ 457200 h 10000"/>
              <a:gd name="T8" fmla="*/ 0 w 10000"/>
              <a:gd name="T9" fmla="*/ 0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000"/>
              <a:gd name="T16" fmla="*/ 0 h 10000"/>
              <a:gd name="T17" fmla="*/ 10000 w 10000"/>
              <a:gd name="T18" fmla="*/ 10000 h 1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30723" name="Freeform 2"/>
          <p:cNvSpPr>
            <a:spLocks/>
          </p:cNvSpPr>
          <p:nvPr/>
        </p:nvSpPr>
        <p:spPr bwMode="auto">
          <a:xfrm>
            <a:off x="3124200" y="6248400"/>
            <a:ext cx="2895600" cy="457200"/>
          </a:xfrm>
          <a:custGeom>
            <a:avLst/>
            <a:gdLst>
              <a:gd name="T0" fmla="*/ 0 w 10000"/>
              <a:gd name="T1" fmla="*/ 0 h 10000"/>
              <a:gd name="T2" fmla="*/ 2895600 w 10000"/>
              <a:gd name="T3" fmla="*/ 0 h 10000"/>
              <a:gd name="T4" fmla="*/ 2895600 w 10000"/>
              <a:gd name="T5" fmla="*/ 457200 h 10000"/>
              <a:gd name="T6" fmla="*/ 0 w 10000"/>
              <a:gd name="T7" fmla="*/ 457200 h 10000"/>
              <a:gd name="T8" fmla="*/ 0 w 10000"/>
              <a:gd name="T9" fmla="*/ 0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000"/>
              <a:gd name="T16" fmla="*/ 0 h 10000"/>
              <a:gd name="T17" fmla="*/ 10000 w 10000"/>
              <a:gd name="T18" fmla="*/ 10000 h 1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200"/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>
              <a:spcAft>
                <a:spcPts val="13"/>
              </a:spcAft>
            </a:pPr>
            <a:r>
              <a:rPr lang="en-US" smtClean="0"/>
              <a:t>Examples</a:t>
            </a:r>
          </a:p>
        </p:txBody>
      </p:sp>
      <p:pic>
        <p:nvPicPr>
          <p:cNvPr id="3072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24413" y="1990725"/>
            <a:ext cx="4154487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6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822575" y="4306888"/>
            <a:ext cx="4229100" cy="221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7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41975" y="336550"/>
            <a:ext cx="3319463" cy="159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8" name="Text Box 7"/>
          <p:cNvSpPr txBox="1">
            <a:spLocks noChangeArrowheads="1"/>
          </p:cNvSpPr>
          <p:nvPr/>
        </p:nvSpPr>
        <p:spPr bwMode="auto">
          <a:xfrm>
            <a:off x="4051300" y="625475"/>
            <a:ext cx="11842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>
              <a:lnSpc>
                <a:spcPts val="2900"/>
              </a:lnSpc>
            </a:pPr>
            <a:r>
              <a:rPr lang="en-US" sz="2400" b="1" i="1">
                <a:solidFill>
                  <a:srgbClr val="000000"/>
                </a:solidFill>
              </a:rPr>
              <a:t>Reserves</a:t>
            </a:r>
          </a:p>
        </p:txBody>
      </p:sp>
      <p:sp>
        <p:nvSpPr>
          <p:cNvPr id="30729" name="Text Box 8"/>
          <p:cNvSpPr txBox="1">
            <a:spLocks noChangeArrowheads="1"/>
          </p:cNvSpPr>
          <p:nvPr/>
        </p:nvSpPr>
        <p:spPr bwMode="auto">
          <a:xfrm>
            <a:off x="3644900" y="2643188"/>
            <a:ext cx="965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>
              <a:lnSpc>
                <a:spcPts val="2900"/>
              </a:lnSpc>
            </a:pPr>
            <a:r>
              <a:rPr lang="en-US" sz="2400" b="1" i="1">
                <a:solidFill>
                  <a:srgbClr val="000000"/>
                </a:solidFill>
              </a:rPr>
              <a:t>Sailors</a:t>
            </a:r>
          </a:p>
        </p:txBody>
      </p:sp>
      <p:sp>
        <p:nvSpPr>
          <p:cNvPr id="30730" name="Text Box 9"/>
          <p:cNvSpPr txBox="1">
            <a:spLocks noChangeArrowheads="1"/>
          </p:cNvSpPr>
          <p:nvPr/>
        </p:nvSpPr>
        <p:spPr bwMode="auto">
          <a:xfrm>
            <a:off x="1300163" y="4370388"/>
            <a:ext cx="796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pPr eaLnBrk="1" hangingPunct="1">
              <a:lnSpc>
                <a:spcPts val="2900"/>
              </a:lnSpc>
            </a:pPr>
            <a:r>
              <a:rPr lang="en-US" sz="2400" b="1" i="1">
                <a:solidFill>
                  <a:srgbClr val="000000"/>
                </a:solidFill>
              </a:rPr>
              <a:t>Boats</a:t>
            </a:r>
          </a:p>
        </p:txBody>
      </p:sp>
    </p:spTree>
    <p:extLst>
      <p:ext uri="{BB962C8B-B14F-4D97-AF65-F5344CB8AC3E}">
        <p14:creationId xmlns:p14="http://schemas.microsoft.com/office/powerpoint/2010/main" xmlns="" val="8975426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endParaRPr lang="en-US" smtClean="0">
              <a:solidFill>
                <a:srgbClr val="000000"/>
              </a:solidFill>
              <a:latin typeface="Times New Roman" pitchFamily="-32" charset="0"/>
            </a:endParaRPr>
          </a:p>
          <a:p>
            <a:endParaRPr lang="en-US" smtClean="0">
              <a:solidFill>
                <a:srgbClr val="000000"/>
              </a:solidFill>
              <a:latin typeface="Times New Roman" pitchFamily="-32" charset="0"/>
            </a:endParaRPr>
          </a:p>
        </p:txBody>
      </p:sp>
      <p:sp>
        <p:nvSpPr>
          <p:cNvPr id="11269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200"/>
          </a:p>
        </p:txBody>
      </p:sp>
      <p:sp>
        <p:nvSpPr>
          <p:cNvPr id="11270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200"/>
          </a:p>
        </p:txBody>
      </p:sp>
      <p:sp>
        <p:nvSpPr>
          <p:cNvPr id="11271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647700"/>
            <a:ext cx="8229600" cy="1104900"/>
          </a:xfrm>
          <a:noFill/>
        </p:spPr>
        <p:txBody>
          <a:bodyPr/>
          <a:lstStyle/>
          <a:p>
            <a:r>
              <a:rPr lang="en-US" sz="2800" smtClean="0"/>
              <a:t>Find names of sailors who’ve reserved boat #103</a:t>
            </a:r>
          </a:p>
        </p:txBody>
      </p:sp>
      <p:sp>
        <p:nvSpPr>
          <p:cNvPr id="5632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2400" y="1828800"/>
            <a:ext cx="8839200" cy="4648200"/>
          </a:xfrm>
          <a:noFill/>
        </p:spPr>
        <p:txBody>
          <a:bodyPr/>
          <a:lstStyle/>
          <a:p>
            <a:r>
              <a:rPr lang="en-US" smtClean="0"/>
              <a:t>Solution 1:   </a:t>
            </a:r>
          </a:p>
        </p:txBody>
      </p:sp>
      <p:graphicFrame>
        <p:nvGraphicFramePr>
          <p:cNvPr id="95232" name="Object 0"/>
          <p:cNvGraphicFramePr>
            <a:graphicFrameLocks/>
          </p:cNvGraphicFramePr>
          <p:nvPr/>
        </p:nvGraphicFramePr>
        <p:xfrm>
          <a:off x="2743200" y="1925638"/>
          <a:ext cx="6264275" cy="698500"/>
        </p:xfrm>
        <a:graphic>
          <a:graphicData uri="http://schemas.openxmlformats.org/presentationml/2006/ole">
            <p:oleObj spid="_x0000_s134170" name="Equation" r:id="rId4" imgW="7505617" imgH="769603" progId="Equation.3">
              <p:embed/>
            </p:oleObj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38113" y="2784475"/>
            <a:ext cx="8929687" cy="814388"/>
            <a:chOff x="87" y="3562"/>
            <a:chExt cx="5625" cy="513"/>
          </a:xfrm>
        </p:grpSpPr>
        <p:sp>
          <p:nvSpPr>
            <p:cNvPr id="11274" name="Rectangle 8"/>
            <p:cNvSpPr>
              <a:spLocks noChangeArrowheads="1"/>
            </p:cNvSpPr>
            <p:nvPr/>
          </p:nvSpPr>
          <p:spPr bwMode="auto">
            <a:xfrm>
              <a:off x="87" y="3562"/>
              <a:ext cx="132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buSzPct val="75000"/>
                <a:buFontTx/>
                <a:buChar char="•"/>
              </a:pPr>
              <a:r>
                <a:rPr lang="en-US" sz="2800">
                  <a:solidFill>
                    <a:srgbClr val="000000"/>
                  </a:solidFill>
                </a:rPr>
                <a:t> </a:t>
              </a:r>
              <a:r>
                <a:rPr lang="en-US" sz="2400" b="1">
                  <a:solidFill>
                    <a:srgbClr val="000000"/>
                  </a:solidFill>
                  <a:latin typeface="Tahoma" pitchFamily="-32" charset="0"/>
                </a:rPr>
                <a:t>Solution 2:</a:t>
              </a:r>
            </a:p>
          </p:txBody>
        </p:sp>
        <p:graphicFrame>
          <p:nvGraphicFramePr>
            <p:cNvPr id="11267" name="Object 1"/>
            <p:cNvGraphicFramePr>
              <a:graphicFrameLocks/>
            </p:cNvGraphicFramePr>
            <p:nvPr/>
          </p:nvGraphicFramePr>
          <p:xfrm>
            <a:off x="1632" y="3600"/>
            <a:ext cx="4080" cy="475"/>
          </p:xfrm>
          <a:graphic>
            <a:graphicData uri="http://schemas.openxmlformats.org/presentationml/2006/ole">
              <p:oleObj spid="_x0000_s134171" name="Equation" r:id="rId5" imgW="7328682" imgH="841835" progId="Equation.3">
                <p:embed/>
              </p:oleObj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xmlns="" val="28234093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5" grpId="0" build="p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endParaRPr lang="en-US" smtClean="0">
              <a:solidFill>
                <a:srgbClr val="000000"/>
              </a:solidFill>
              <a:latin typeface="Times New Roman" pitchFamily="-32" charset="0"/>
            </a:endParaRPr>
          </a:p>
          <a:p>
            <a:endParaRPr lang="en-US" smtClean="0">
              <a:solidFill>
                <a:srgbClr val="000000"/>
              </a:solidFill>
              <a:latin typeface="Times New Roman" pitchFamily="-32" charset="0"/>
            </a:endParaRPr>
          </a:p>
        </p:txBody>
      </p:sp>
      <p:sp>
        <p:nvSpPr>
          <p:cNvPr id="12293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200"/>
          </a:p>
        </p:txBody>
      </p:sp>
      <p:sp>
        <p:nvSpPr>
          <p:cNvPr id="12294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200"/>
          </a:p>
        </p:txBody>
      </p:sp>
      <p:sp>
        <p:nvSpPr>
          <p:cNvPr id="12295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647700"/>
            <a:ext cx="8229600" cy="1104900"/>
          </a:xfrm>
          <a:noFill/>
        </p:spPr>
        <p:txBody>
          <a:bodyPr/>
          <a:lstStyle/>
          <a:p>
            <a:r>
              <a:rPr lang="en-US" sz="2800" smtClean="0"/>
              <a:t>Find names of sailors who’ve reserved a red boat</a:t>
            </a:r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smtClean="0"/>
              <a:t>Information about boat color only available in Boats; so need an extra join:</a:t>
            </a:r>
          </a:p>
        </p:txBody>
      </p:sp>
      <p:graphicFrame>
        <p:nvGraphicFramePr>
          <p:cNvPr id="57350" name="Object 6"/>
          <p:cNvGraphicFramePr>
            <a:graphicFrameLocks/>
          </p:cNvGraphicFramePr>
          <p:nvPr/>
        </p:nvGraphicFramePr>
        <p:xfrm>
          <a:off x="1066800" y="3068638"/>
          <a:ext cx="7827963" cy="650875"/>
        </p:xfrm>
        <a:graphic>
          <a:graphicData uri="http://schemas.openxmlformats.org/presentationml/2006/ole">
            <p:oleObj spid="_x0000_s135194" name="Equation" r:id="rId4" imgW="9252697" imgH="821175" progId="Equation.3">
              <p:embed/>
            </p:oleObj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900113" y="4054475"/>
            <a:ext cx="8188325" cy="1387475"/>
            <a:chOff x="567" y="2554"/>
            <a:chExt cx="5158" cy="874"/>
          </a:xfrm>
        </p:grpSpPr>
        <p:sp>
          <p:nvSpPr>
            <p:cNvPr id="12299" name="Rectangle 8"/>
            <p:cNvSpPr>
              <a:spLocks noChangeArrowheads="1"/>
            </p:cNvSpPr>
            <p:nvPr/>
          </p:nvSpPr>
          <p:spPr bwMode="auto">
            <a:xfrm>
              <a:off x="567" y="2554"/>
              <a:ext cx="282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buSzPct val="75000"/>
                <a:buFont typeface="Monotype Sorts" pitchFamily="2" charset="2"/>
                <a:buChar char="v"/>
              </a:pPr>
              <a:r>
                <a:rPr lang="en-US" sz="2800">
                  <a:solidFill>
                    <a:srgbClr val="000000"/>
                  </a:solidFill>
                </a:rPr>
                <a:t> A more efficient solution:</a:t>
              </a:r>
            </a:p>
          </p:txBody>
        </p:sp>
        <p:graphicFrame>
          <p:nvGraphicFramePr>
            <p:cNvPr id="12291" name="Object 9"/>
            <p:cNvGraphicFramePr>
              <a:graphicFrameLocks/>
            </p:cNvGraphicFramePr>
            <p:nvPr/>
          </p:nvGraphicFramePr>
          <p:xfrm>
            <a:off x="669" y="3040"/>
            <a:ext cx="5056" cy="388"/>
          </p:xfrm>
          <a:graphic>
            <a:graphicData uri="http://schemas.openxmlformats.org/presentationml/2006/ole">
              <p:oleObj spid="_x0000_s135195" name="Equation" r:id="rId5" imgW="10470178" imgH="858068" progId="Equation.3">
                <p:embed/>
              </p:oleObj>
            </a:graphicData>
          </a:graphic>
        </p:graphicFrame>
      </p:grpSp>
      <p:sp>
        <p:nvSpPr>
          <p:cNvPr id="57354" name="Rectangle 10"/>
          <p:cNvSpPr>
            <a:spLocks noChangeArrowheads="1"/>
          </p:cNvSpPr>
          <p:nvPr/>
        </p:nvSpPr>
        <p:spPr bwMode="auto">
          <a:xfrm>
            <a:off x="974725" y="5775325"/>
            <a:ext cx="7362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buFont typeface="Monotype Sorts" pitchFamily="2" charset="2"/>
              <a:buChar char="*"/>
            </a:pPr>
            <a:r>
              <a:rPr lang="en-US" sz="2400">
                <a:solidFill>
                  <a:srgbClr val="000000"/>
                </a:solidFill>
              </a:rPr>
              <a:t> </a:t>
            </a:r>
            <a:r>
              <a:rPr lang="en-US" sz="2400" i="1">
                <a:solidFill>
                  <a:srgbClr val="000000"/>
                </a:solidFill>
              </a:rPr>
              <a:t>A query optimizer can find this given the first solution!</a:t>
            </a:r>
          </a:p>
        </p:txBody>
      </p:sp>
    </p:spTree>
    <p:extLst>
      <p:ext uri="{BB962C8B-B14F-4D97-AF65-F5344CB8AC3E}">
        <p14:creationId xmlns:p14="http://schemas.microsoft.com/office/powerpoint/2010/main" xmlns="" val="1428125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9" grpId="0" build="p" autoUpdateAnimBg="0"/>
      <p:bldP spid="57354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endParaRPr lang="en-US" smtClean="0">
              <a:solidFill>
                <a:srgbClr val="000000"/>
              </a:solidFill>
              <a:latin typeface="Times New Roman" pitchFamily="-32" charset="0"/>
            </a:endParaRPr>
          </a:p>
          <a:p>
            <a:endParaRPr lang="en-US" smtClean="0">
              <a:solidFill>
                <a:srgbClr val="000000"/>
              </a:solidFill>
              <a:latin typeface="Times New Roman" pitchFamily="-32" charset="0"/>
            </a:endParaRPr>
          </a:p>
        </p:txBody>
      </p:sp>
      <p:sp>
        <p:nvSpPr>
          <p:cNvPr id="13317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200"/>
          </a:p>
        </p:txBody>
      </p:sp>
      <p:sp>
        <p:nvSpPr>
          <p:cNvPr id="13318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200"/>
          </a:p>
        </p:txBody>
      </p:sp>
      <p:sp>
        <p:nvSpPr>
          <p:cNvPr id="13319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571500"/>
            <a:ext cx="8458200" cy="1104900"/>
          </a:xfrm>
          <a:noFill/>
        </p:spPr>
        <p:txBody>
          <a:bodyPr/>
          <a:lstStyle/>
          <a:p>
            <a:r>
              <a:rPr lang="en-US" sz="2800" smtClean="0"/>
              <a:t>Find sailors who’ve reserved a red boat </a:t>
            </a:r>
            <a:r>
              <a:rPr lang="en-US" sz="2800" u="sng" smtClean="0"/>
              <a:t>or</a:t>
            </a:r>
            <a:r>
              <a:rPr lang="en-US" sz="2800" smtClean="0"/>
              <a:t> a green boat</a:t>
            </a:r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7772400" cy="4724400"/>
          </a:xfrm>
          <a:noFill/>
        </p:spPr>
        <p:txBody>
          <a:bodyPr/>
          <a:lstStyle/>
          <a:p>
            <a:r>
              <a:rPr lang="en-US" smtClean="0"/>
              <a:t>Can identify all red or green boats, then find sailors who’ve reserved one of these boats: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762000" y="2784475"/>
            <a:ext cx="8316913" cy="1547813"/>
            <a:chOff x="480" y="1754"/>
            <a:chExt cx="5239" cy="975"/>
          </a:xfrm>
        </p:grpSpPr>
        <p:graphicFrame>
          <p:nvGraphicFramePr>
            <p:cNvPr id="13314" name="Object 1024"/>
            <p:cNvGraphicFramePr>
              <a:graphicFrameLocks/>
            </p:cNvGraphicFramePr>
            <p:nvPr/>
          </p:nvGraphicFramePr>
          <p:xfrm>
            <a:off x="528" y="1754"/>
            <a:ext cx="5191" cy="483"/>
          </p:xfrm>
          <a:graphic>
            <a:graphicData uri="http://schemas.openxmlformats.org/presentationml/2006/ole">
              <p:oleObj spid="_x0000_s136218" name="Equation" r:id="rId4" imgW="9173356" imgH="893771" progId="Equation.3">
                <p:embed/>
              </p:oleObj>
            </a:graphicData>
          </a:graphic>
        </p:graphicFrame>
        <p:graphicFrame>
          <p:nvGraphicFramePr>
            <p:cNvPr id="13315" name="Object 1025"/>
            <p:cNvGraphicFramePr>
              <a:graphicFrameLocks/>
            </p:cNvGraphicFramePr>
            <p:nvPr/>
          </p:nvGraphicFramePr>
          <p:xfrm>
            <a:off x="480" y="2298"/>
            <a:ext cx="4681" cy="431"/>
          </p:xfrm>
          <a:graphic>
            <a:graphicData uri="http://schemas.openxmlformats.org/presentationml/2006/ole">
              <p:oleObj spid="_x0000_s136219" name="Equation" r:id="rId5" imgW="7443732" imgH="700577" progId="Equation.3">
                <p:embed/>
              </p:oleObj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xmlns="" val="33948073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3" grpId="0" build="p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endParaRPr lang="en-US" smtClean="0">
              <a:solidFill>
                <a:srgbClr val="000000"/>
              </a:solidFill>
              <a:latin typeface="Times New Roman" pitchFamily="-32" charset="0"/>
            </a:endParaRPr>
          </a:p>
          <a:p>
            <a:endParaRPr lang="en-US" smtClean="0">
              <a:solidFill>
                <a:srgbClr val="000000"/>
              </a:solidFill>
              <a:latin typeface="Times New Roman" pitchFamily="-32" charset="0"/>
            </a:endParaRPr>
          </a:p>
        </p:txBody>
      </p:sp>
      <p:sp>
        <p:nvSpPr>
          <p:cNvPr id="14341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200"/>
          </a:p>
        </p:txBody>
      </p:sp>
      <p:sp>
        <p:nvSpPr>
          <p:cNvPr id="14342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200"/>
          </a:p>
        </p:txBody>
      </p:sp>
      <p:sp>
        <p:nvSpPr>
          <p:cNvPr id="14343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647700"/>
            <a:ext cx="8610600" cy="1104900"/>
          </a:xfrm>
          <a:noFill/>
        </p:spPr>
        <p:txBody>
          <a:bodyPr/>
          <a:lstStyle/>
          <a:p>
            <a:r>
              <a:rPr lang="en-US" sz="2800" smtClean="0"/>
              <a:t>Find sailors who’ve reserved a red </a:t>
            </a:r>
            <a:r>
              <a:rPr lang="en-US" sz="2800" u="sng" smtClean="0"/>
              <a:t>and</a:t>
            </a:r>
            <a:r>
              <a:rPr lang="en-US" sz="2800" smtClean="0"/>
              <a:t> a green boat</a:t>
            </a:r>
          </a:p>
        </p:txBody>
      </p:sp>
      <p:sp>
        <p:nvSpPr>
          <p:cNvPr id="14344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8153400" cy="4724400"/>
          </a:xfrm>
          <a:noFill/>
        </p:spPr>
        <p:txBody>
          <a:bodyPr/>
          <a:lstStyle/>
          <a:p>
            <a:r>
              <a:rPr lang="en-US" smtClean="0"/>
              <a:t>Cut-and-paste previous slide?</a:t>
            </a:r>
          </a:p>
          <a:p>
            <a:pPr>
              <a:buFontTx/>
              <a:buNone/>
            </a:pPr>
            <a:r>
              <a:rPr lang="en-US" smtClean="0"/>
              <a:t> 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</p:txBody>
      </p:sp>
      <p:sp>
        <p:nvSpPr>
          <p:cNvPr id="14345" name="Rectangle 7"/>
          <p:cNvSpPr>
            <a:spLocks noChangeArrowheads="1"/>
          </p:cNvSpPr>
          <p:nvPr/>
        </p:nvSpPr>
        <p:spPr bwMode="auto">
          <a:xfrm>
            <a:off x="823913" y="4892675"/>
            <a:ext cx="273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14346" name="Rectangle 9"/>
          <p:cNvSpPr>
            <a:spLocks noChangeArrowheads="1"/>
          </p:cNvSpPr>
          <p:nvPr/>
        </p:nvSpPr>
        <p:spPr bwMode="auto">
          <a:xfrm>
            <a:off x="823913" y="5472113"/>
            <a:ext cx="260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2400">
                <a:solidFill>
                  <a:srgbClr val="000000"/>
                </a:solidFill>
              </a:rPr>
              <a:t> </a:t>
            </a:r>
          </a:p>
        </p:txBody>
      </p:sp>
      <p:graphicFrame>
        <p:nvGraphicFramePr>
          <p:cNvPr id="14338" name="Object 15"/>
          <p:cNvGraphicFramePr>
            <a:graphicFrameLocks/>
          </p:cNvGraphicFramePr>
          <p:nvPr/>
        </p:nvGraphicFramePr>
        <p:xfrm>
          <a:off x="1282700" y="3484563"/>
          <a:ext cx="7323138" cy="590550"/>
        </p:xfrm>
        <a:graphic>
          <a:graphicData uri="http://schemas.openxmlformats.org/presentationml/2006/ole">
            <p:oleObj spid="_x0000_s139288" name="Equation" r:id="rId4" imgW="8153400" imgH="685800" progId="Equation.3">
              <p:embed/>
            </p:oleObj>
          </a:graphicData>
        </a:graphic>
      </p:graphicFrame>
      <p:graphicFrame>
        <p:nvGraphicFramePr>
          <p:cNvPr id="14339" name="Object 16"/>
          <p:cNvGraphicFramePr>
            <a:graphicFrameLocks/>
          </p:cNvGraphicFramePr>
          <p:nvPr/>
        </p:nvGraphicFramePr>
        <p:xfrm>
          <a:off x="747713" y="4260850"/>
          <a:ext cx="7431087" cy="684213"/>
        </p:xfrm>
        <a:graphic>
          <a:graphicData uri="http://schemas.openxmlformats.org/presentationml/2006/ole">
            <p:oleObj spid="_x0000_s139289" name="Equation" r:id="rId5" imgW="7443732" imgH="700577" progId="Equation.3">
              <p:embed/>
            </p:oleObj>
          </a:graphicData>
        </a:graphic>
      </p:graphicFrame>
      <p:sp>
        <p:nvSpPr>
          <p:cNvPr id="59413" name="Freeform 21"/>
          <p:cNvSpPr>
            <a:spLocks/>
          </p:cNvSpPr>
          <p:nvPr/>
        </p:nvSpPr>
        <p:spPr bwMode="auto">
          <a:xfrm>
            <a:off x="5197475" y="3581400"/>
            <a:ext cx="401638" cy="493713"/>
          </a:xfrm>
          <a:custGeom>
            <a:avLst/>
            <a:gdLst>
              <a:gd name="T0" fmla="*/ 239713 w 253"/>
              <a:gd name="T1" fmla="*/ 22225 h 311"/>
              <a:gd name="T2" fmla="*/ 165100 w 253"/>
              <a:gd name="T3" fmla="*/ 80963 h 311"/>
              <a:gd name="T4" fmla="*/ 0 w 253"/>
              <a:gd name="T5" fmla="*/ 304800 h 311"/>
              <a:gd name="T6" fmla="*/ 134938 w 253"/>
              <a:gd name="T7" fmla="*/ 484188 h 311"/>
              <a:gd name="T8" fmla="*/ 314325 w 253"/>
              <a:gd name="T9" fmla="*/ 469900 h 311"/>
              <a:gd name="T10" fmla="*/ 374650 w 253"/>
              <a:gd name="T11" fmla="*/ 379413 h 311"/>
              <a:gd name="T12" fmla="*/ 374650 w 253"/>
              <a:gd name="T13" fmla="*/ 246063 h 311"/>
              <a:gd name="T14" fmla="*/ 150813 w 253"/>
              <a:gd name="T15" fmla="*/ 111125 h 311"/>
              <a:gd name="T16" fmla="*/ 90488 w 253"/>
              <a:gd name="T17" fmla="*/ 80963 h 31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53"/>
              <a:gd name="T28" fmla="*/ 0 h 311"/>
              <a:gd name="T29" fmla="*/ 253 w 253"/>
              <a:gd name="T30" fmla="*/ 311 h 31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53" h="311">
                <a:moveTo>
                  <a:pt x="151" y="14"/>
                </a:moveTo>
                <a:cubicBezTo>
                  <a:pt x="96" y="94"/>
                  <a:pt x="168" y="0"/>
                  <a:pt x="104" y="51"/>
                </a:cubicBezTo>
                <a:cubicBezTo>
                  <a:pt x="57" y="87"/>
                  <a:pt x="19" y="137"/>
                  <a:pt x="0" y="192"/>
                </a:cubicBezTo>
                <a:cubicBezTo>
                  <a:pt x="11" y="256"/>
                  <a:pt x="21" y="284"/>
                  <a:pt x="85" y="305"/>
                </a:cubicBezTo>
                <a:cubicBezTo>
                  <a:pt x="122" y="302"/>
                  <a:pt x="163" y="311"/>
                  <a:pt x="198" y="296"/>
                </a:cubicBezTo>
                <a:cubicBezTo>
                  <a:pt x="218" y="286"/>
                  <a:pt x="236" y="239"/>
                  <a:pt x="236" y="239"/>
                </a:cubicBezTo>
                <a:cubicBezTo>
                  <a:pt x="244" y="205"/>
                  <a:pt x="253" y="190"/>
                  <a:pt x="236" y="155"/>
                </a:cubicBezTo>
                <a:cubicBezTo>
                  <a:pt x="219" y="121"/>
                  <a:pt x="129" y="81"/>
                  <a:pt x="95" y="70"/>
                </a:cubicBezTo>
                <a:cubicBezTo>
                  <a:pt x="63" y="49"/>
                  <a:pt x="77" y="51"/>
                  <a:pt x="57" y="51"/>
                </a:cubicBezTo>
              </a:path>
            </a:pathLst>
          </a:cu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en-US" sz="1200"/>
          </a:p>
        </p:txBody>
      </p:sp>
      <p:sp>
        <p:nvSpPr>
          <p:cNvPr id="59414" name="AutoShape 22"/>
          <p:cNvSpPr>
            <a:spLocks/>
          </p:cNvSpPr>
          <p:nvPr/>
        </p:nvSpPr>
        <p:spPr bwMode="auto">
          <a:xfrm>
            <a:off x="2136775" y="2181225"/>
            <a:ext cx="4735513" cy="4379913"/>
          </a:xfrm>
          <a:custGeom>
            <a:avLst/>
            <a:gdLst>
              <a:gd name="T0" fmla="*/ 519099074 w 21600"/>
              <a:gd name="T1" fmla="*/ 0 h 21600"/>
              <a:gd name="T2" fmla="*/ 152028821 w 21600"/>
              <a:gd name="T3" fmla="*/ 130053612 h 21600"/>
              <a:gd name="T4" fmla="*/ 0 w 21600"/>
              <a:gd name="T5" fmla="*/ 444065633 h 21600"/>
              <a:gd name="T6" fmla="*/ 152028821 w 21600"/>
              <a:gd name="T7" fmla="*/ 758077704 h 21600"/>
              <a:gd name="T8" fmla="*/ 519099074 w 21600"/>
              <a:gd name="T9" fmla="*/ 888131265 h 21600"/>
              <a:gd name="T10" fmla="*/ 886169601 w 21600"/>
              <a:gd name="T11" fmla="*/ 758077704 h 21600"/>
              <a:gd name="T12" fmla="*/ 1038198148 w 21600"/>
              <a:gd name="T13" fmla="*/ 444065633 h 21600"/>
              <a:gd name="T14" fmla="*/ 886169601 w 21600"/>
              <a:gd name="T15" fmla="*/ 130053612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945" y="16999"/>
                </a:moveTo>
                <a:cubicBezTo>
                  <a:pt x="19438" y="15278"/>
                  <a:pt x="20260" y="13077"/>
                  <a:pt x="20260" y="10800"/>
                </a:cubicBezTo>
                <a:cubicBezTo>
                  <a:pt x="20260" y="5575"/>
                  <a:pt x="16024" y="1340"/>
                  <a:pt x="10800" y="1340"/>
                </a:cubicBezTo>
                <a:cubicBezTo>
                  <a:pt x="8522" y="1339"/>
                  <a:pt x="6321" y="2161"/>
                  <a:pt x="4600" y="3654"/>
                </a:cubicBezTo>
                <a:close/>
                <a:moveTo>
                  <a:pt x="3654" y="4600"/>
                </a:moveTo>
                <a:cubicBezTo>
                  <a:pt x="2161" y="6321"/>
                  <a:pt x="1340" y="8522"/>
                  <a:pt x="1340" y="10799"/>
                </a:cubicBezTo>
                <a:cubicBezTo>
                  <a:pt x="1340" y="16024"/>
                  <a:pt x="5575" y="20260"/>
                  <a:pt x="10800" y="20260"/>
                </a:cubicBezTo>
                <a:cubicBezTo>
                  <a:pt x="13077" y="20260"/>
                  <a:pt x="15278" y="19438"/>
                  <a:pt x="16999" y="17945"/>
                </a:cubicBezTo>
                <a:close/>
              </a:path>
            </a:pathLst>
          </a:custGeom>
          <a:solidFill>
            <a:srgbClr val="FF0205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xmlns="" val="24538792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59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13" grpId="0" animBg="1"/>
      <p:bldP spid="5941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endParaRPr lang="en-US" smtClean="0">
              <a:solidFill>
                <a:srgbClr val="000000"/>
              </a:solidFill>
              <a:latin typeface="Times New Roman" pitchFamily="-32" charset="0"/>
            </a:endParaRPr>
          </a:p>
          <a:p>
            <a:endParaRPr lang="en-US" smtClean="0">
              <a:solidFill>
                <a:srgbClr val="000000"/>
              </a:solidFill>
              <a:latin typeface="Times New Roman" pitchFamily="-32" charset="0"/>
            </a:endParaRPr>
          </a:p>
        </p:txBody>
      </p:sp>
      <p:sp>
        <p:nvSpPr>
          <p:cNvPr id="1536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200"/>
          </a:p>
        </p:txBody>
      </p:sp>
      <p:sp>
        <p:nvSpPr>
          <p:cNvPr id="1536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200"/>
          </a:p>
        </p:txBody>
      </p:sp>
      <p:sp>
        <p:nvSpPr>
          <p:cNvPr id="1536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647700"/>
            <a:ext cx="8610600" cy="1104900"/>
          </a:xfrm>
          <a:noFill/>
        </p:spPr>
        <p:txBody>
          <a:bodyPr/>
          <a:lstStyle/>
          <a:p>
            <a:r>
              <a:rPr lang="en-US" sz="2800" smtClean="0"/>
              <a:t>Find sailors who’ve reserved a red </a:t>
            </a:r>
            <a:r>
              <a:rPr lang="en-US" sz="2800" u="sng" smtClean="0"/>
              <a:t>and</a:t>
            </a:r>
            <a:r>
              <a:rPr lang="en-US" sz="2800" smtClean="0"/>
              <a:t> a green boat</a:t>
            </a:r>
          </a:p>
        </p:txBody>
      </p:sp>
      <p:sp>
        <p:nvSpPr>
          <p:cNvPr id="9114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8153400" cy="4724400"/>
          </a:xfrm>
          <a:noFill/>
        </p:spPr>
        <p:txBody>
          <a:bodyPr/>
          <a:lstStyle/>
          <a:p>
            <a:endParaRPr lang="en-US" smtClean="0"/>
          </a:p>
          <a:p>
            <a:r>
              <a:rPr lang="en-US" smtClean="0"/>
              <a:t>Previous approach won’t work!  Must identify sailors who’ve reserved red boats, sailors who’ve reserved green boats, then find the intersection </a:t>
            </a:r>
            <a:r>
              <a:rPr lang="en-US" smtClean="0">
                <a:solidFill>
                  <a:schemeClr val="accent2"/>
                </a:solidFill>
              </a:rPr>
              <a:t>(note that </a:t>
            </a:r>
            <a:r>
              <a:rPr lang="en-US" i="1" smtClean="0">
                <a:solidFill>
                  <a:schemeClr val="accent2"/>
                </a:solidFill>
              </a:rPr>
              <a:t>sid</a:t>
            </a:r>
            <a:r>
              <a:rPr lang="en-US" smtClean="0">
                <a:solidFill>
                  <a:schemeClr val="accent2"/>
                </a:solidFill>
              </a:rPr>
              <a:t> is a key for Sailors)</a:t>
            </a:r>
            <a:r>
              <a:rPr lang="en-US" smtClean="0"/>
              <a:t>:</a:t>
            </a:r>
          </a:p>
        </p:txBody>
      </p:sp>
      <p:graphicFrame>
        <p:nvGraphicFramePr>
          <p:cNvPr id="91142" name="Object 6"/>
          <p:cNvGraphicFramePr>
            <a:graphicFrameLocks/>
          </p:cNvGraphicFramePr>
          <p:nvPr/>
        </p:nvGraphicFramePr>
        <p:xfrm>
          <a:off x="376238" y="3713163"/>
          <a:ext cx="8639175" cy="711200"/>
        </p:xfrm>
        <a:graphic>
          <a:graphicData uri="http://schemas.openxmlformats.org/presentationml/2006/ole">
            <p:oleObj spid="_x0000_s140323" name="Equation" r:id="rId4" imgW="9616076" imgH="794992" progId="Equation.3">
              <p:embed/>
            </p:oleObj>
          </a:graphicData>
        </a:graphic>
      </p:graphicFrame>
      <p:sp>
        <p:nvSpPr>
          <p:cNvPr id="15370" name="Rectangle 7"/>
          <p:cNvSpPr>
            <a:spLocks noChangeArrowheads="1"/>
          </p:cNvSpPr>
          <p:nvPr/>
        </p:nvSpPr>
        <p:spPr bwMode="auto">
          <a:xfrm>
            <a:off x="823913" y="4892675"/>
            <a:ext cx="273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 </a:t>
            </a:r>
          </a:p>
        </p:txBody>
      </p:sp>
      <p:graphicFrame>
        <p:nvGraphicFramePr>
          <p:cNvPr id="91144" name="Object 8"/>
          <p:cNvGraphicFramePr>
            <a:graphicFrameLocks/>
          </p:cNvGraphicFramePr>
          <p:nvPr/>
        </p:nvGraphicFramePr>
        <p:xfrm>
          <a:off x="228600" y="5557838"/>
          <a:ext cx="7670800" cy="684212"/>
        </p:xfrm>
        <a:graphic>
          <a:graphicData uri="http://schemas.openxmlformats.org/presentationml/2006/ole">
            <p:oleObj spid="_x0000_s140324" name="Equation" r:id="rId5" imgW="7684530" imgH="699784" progId="Equation.3">
              <p:embed/>
            </p:oleObj>
          </a:graphicData>
        </a:graphic>
      </p:graphicFrame>
      <p:sp>
        <p:nvSpPr>
          <p:cNvPr id="15371" name="Rectangle 9"/>
          <p:cNvSpPr>
            <a:spLocks noChangeArrowheads="1"/>
          </p:cNvSpPr>
          <p:nvPr/>
        </p:nvSpPr>
        <p:spPr bwMode="auto">
          <a:xfrm>
            <a:off x="823913" y="5472113"/>
            <a:ext cx="260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2400">
                <a:solidFill>
                  <a:srgbClr val="000000"/>
                </a:solidFill>
              </a:rPr>
              <a:t> </a:t>
            </a:r>
          </a:p>
        </p:txBody>
      </p:sp>
      <p:graphicFrame>
        <p:nvGraphicFramePr>
          <p:cNvPr id="91146" name="Object 10"/>
          <p:cNvGraphicFramePr>
            <a:graphicFrameLocks/>
          </p:cNvGraphicFramePr>
          <p:nvPr/>
        </p:nvGraphicFramePr>
        <p:xfrm>
          <a:off x="304800" y="4567238"/>
          <a:ext cx="8763000" cy="842962"/>
        </p:xfrm>
        <a:graphic>
          <a:graphicData uri="http://schemas.openxmlformats.org/presentationml/2006/ole">
            <p:oleObj spid="_x0000_s140325" name="Equation" r:id="rId6" imgW="9871553" imgH="909243" progId="Equation.3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4510351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1" grpId="0" build="p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1pPr>
            <a:lvl2pPr marL="742950" indent="-28575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2pPr>
            <a:lvl3pPr marL="11430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3pPr>
            <a:lvl4pPr marL="16002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4pPr>
            <a:lvl5pPr marL="2057400" indent="-228600" eaLnBrk="0" hangingPunct="0"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-32" charset="0"/>
                <a:ea typeface="Osaka" pitchFamily="48" charset="-128"/>
              </a:defRPr>
            </a:lvl9pPr>
          </a:lstStyle>
          <a:p>
            <a:endParaRPr lang="en-US" smtClean="0">
              <a:solidFill>
                <a:srgbClr val="000000"/>
              </a:solidFill>
              <a:latin typeface="Times New Roman" pitchFamily="-32" charset="0"/>
            </a:endParaRPr>
          </a:p>
          <a:p>
            <a:endParaRPr lang="en-US" smtClean="0">
              <a:solidFill>
                <a:srgbClr val="000000"/>
              </a:solidFill>
              <a:latin typeface="Times New Roman" pitchFamily="-32" charset="0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Relational Algebra: a small set of operators mapping relations to relations</a:t>
            </a:r>
          </a:p>
          <a:p>
            <a:pPr lvl="1"/>
            <a:r>
              <a:rPr lang="en-US" dirty="0" smtClean="0"/>
              <a:t>Operational, in the sense that you specify the explicit order of operations</a:t>
            </a:r>
          </a:p>
          <a:p>
            <a:pPr lvl="1"/>
            <a:r>
              <a:rPr lang="en-US" dirty="0" smtClean="0"/>
              <a:t>A </a:t>
            </a:r>
            <a:r>
              <a:rPr lang="en-US" i="1" dirty="0" smtClean="0"/>
              <a:t>closed</a:t>
            </a:r>
            <a:r>
              <a:rPr lang="en-US" dirty="0" smtClean="0"/>
              <a:t> set of operators!  Can mix and match.</a:t>
            </a:r>
          </a:p>
          <a:p>
            <a:r>
              <a:rPr lang="en-US" dirty="0" smtClean="0"/>
              <a:t>Basic ops include: </a:t>
            </a:r>
            <a:r>
              <a:rPr lang="en-US" dirty="0" smtClean="0">
                <a:latin typeface="Symbol" pitchFamily="-32" charset="2"/>
              </a:rPr>
              <a:t>s</a:t>
            </a:r>
            <a:r>
              <a:rPr lang="en-US" dirty="0" smtClean="0"/>
              <a:t>, </a:t>
            </a:r>
            <a:r>
              <a:rPr lang="en-US" dirty="0" smtClean="0">
                <a:latin typeface="Symbol" pitchFamily="-32" charset="2"/>
              </a:rPr>
              <a:t>p</a:t>
            </a:r>
            <a:r>
              <a:rPr lang="en-US" dirty="0" smtClean="0"/>
              <a:t>, </a:t>
            </a:r>
            <a:r>
              <a:rPr lang="en-US" dirty="0" smtClean="0">
                <a:sym typeface="Symbol" pitchFamily="-32" charset="2"/>
              </a:rPr>
              <a:t></a:t>
            </a:r>
            <a:r>
              <a:rPr lang="en-US" dirty="0" smtClean="0"/>
              <a:t>, </a:t>
            </a:r>
            <a:r>
              <a:rPr lang="en-US" dirty="0" smtClean="0">
                <a:sym typeface="Symbol" pitchFamily="-32" charset="2"/>
              </a:rPr>
              <a:t></a:t>
            </a:r>
            <a:r>
              <a:rPr lang="en-US" dirty="0" smtClean="0"/>
              <a:t>, —</a:t>
            </a:r>
          </a:p>
          <a:p>
            <a:r>
              <a:rPr lang="en-US" dirty="0" smtClean="0"/>
              <a:t>Important compound ops: </a:t>
            </a:r>
            <a:r>
              <a:rPr lang="en-US" dirty="0" smtClean="0">
                <a:sym typeface="Symbol" pitchFamily="-32" charset="2"/>
              </a:rPr>
              <a:t>, </a:t>
            </a:r>
            <a:r>
              <a:rPr lang="en-US" dirty="0">
                <a:sym typeface="Symbol" pitchFamily="-32" charset="2"/>
              </a:rPr>
              <a:t>,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grpSp>
        <p:nvGrpSpPr>
          <p:cNvPr id="31749" name="Group 4"/>
          <p:cNvGrpSpPr>
            <a:grpSpLocks/>
          </p:cNvGrpSpPr>
          <p:nvPr/>
        </p:nvGrpSpPr>
        <p:grpSpPr bwMode="auto">
          <a:xfrm>
            <a:off x="5588000" y="4610100"/>
            <a:ext cx="284163" cy="180975"/>
            <a:chOff x="2226" y="2065"/>
            <a:chExt cx="1148" cy="671"/>
          </a:xfrm>
        </p:grpSpPr>
        <p:sp>
          <p:nvSpPr>
            <p:cNvPr id="31750" name="AutoShape 5"/>
            <p:cNvSpPr>
              <a:spLocks noChangeArrowheads="1"/>
            </p:cNvSpPr>
            <p:nvPr/>
          </p:nvSpPr>
          <p:spPr bwMode="auto">
            <a:xfrm rot="-5400000">
              <a:off x="2753" y="2110"/>
              <a:ext cx="666" cy="576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1" hangingPunct="1"/>
              <a:endParaRPr lang="en-US" sz="1200"/>
            </a:p>
          </p:txBody>
        </p:sp>
        <p:sp>
          <p:nvSpPr>
            <p:cNvPr id="31751" name="AutoShape 6"/>
            <p:cNvSpPr>
              <a:spLocks noChangeArrowheads="1"/>
            </p:cNvSpPr>
            <p:nvPr/>
          </p:nvSpPr>
          <p:spPr bwMode="auto">
            <a:xfrm rot="5400000" flipH="1">
              <a:off x="2181" y="2115"/>
              <a:ext cx="666" cy="576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1" hangingPunct="1"/>
              <a:endParaRPr 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xmlns="" val="1743696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ecture1">
  <a:themeElements>
    <a:clrScheme name="CS186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21E8"/>
      </a:accent1>
      <a:accent2>
        <a:srgbClr val="C00000"/>
      </a:accent2>
      <a:accent3>
        <a:srgbClr val="FFFFFF"/>
      </a:accent3>
      <a:accent4>
        <a:srgbClr val="000000"/>
      </a:accent4>
      <a:accent5>
        <a:srgbClr val="AAABF2"/>
      </a:accent5>
      <a:accent6>
        <a:srgbClr val="E78A5C"/>
      </a:accent6>
      <a:hlink>
        <a:srgbClr val="CC3300"/>
      </a:hlink>
      <a:folHlink>
        <a:srgbClr val="1B1DB2"/>
      </a:folHlink>
    </a:clrScheme>
    <a:fontScheme name="lecture1">
      <a:majorFont>
        <a:latin typeface="Tahoma"/>
        <a:ea typeface="Osaka"/>
        <a:cs typeface=""/>
      </a:majorFont>
      <a:minorFont>
        <a:latin typeface="Tahoma"/>
        <a:ea typeface="Osak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rgbClr val="CF0E30"/>
            </a:solidFill>
            <a:effectLst/>
            <a:latin typeface="Book Antiqua" pitchFamily="1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rgbClr val="CF0E30"/>
            </a:solidFill>
            <a:effectLst/>
            <a:latin typeface="Book Antiqua" pitchFamily="1" charset="0"/>
          </a:defRPr>
        </a:defPPr>
      </a:lstStyle>
    </a:lnDef>
  </a:objectDefaults>
  <a:extraClrSchemeLst>
    <a:extraClrScheme>
      <a:clrScheme name="lecture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amdb-demo2">
  <a:themeElements>
    <a:clrScheme name="">
      <a:dk1>
        <a:srgbClr val="000000"/>
      </a:dk1>
      <a:lt1>
        <a:srgbClr val="FFFFFF"/>
      </a:lt1>
      <a:dk2>
        <a:srgbClr val="000000"/>
      </a:dk2>
      <a:lt2>
        <a:srgbClr val="868686"/>
      </a:lt2>
      <a:accent1>
        <a:srgbClr val="3366FF"/>
      </a:accent1>
      <a:accent2>
        <a:srgbClr val="009900"/>
      </a:accent2>
      <a:accent3>
        <a:srgbClr val="FFFFFF"/>
      </a:accent3>
      <a:accent4>
        <a:srgbClr val="000000"/>
      </a:accent4>
      <a:accent5>
        <a:srgbClr val="ADB8FF"/>
      </a:accent5>
      <a:accent6>
        <a:srgbClr val="008A00"/>
      </a:accent6>
      <a:hlink>
        <a:srgbClr val="FCCD04"/>
      </a:hlink>
      <a:folHlink>
        <a:srgbClr val="CCCCCC"/>
      </a:folHlink>
    </a:clrScheme>
    <a:fontScheme name="amdb-demo2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66FF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kumimoji="0" lang="en-US" sz="1200" b="0" i="0" u="none" strike="noStrike" cap="none" normalizeH="0" baseline="0" smtClean="0">
            <a:ln>
              <a:noFill/>
            </a:ln>
            <a:solidFill>
              <a:srgbClr val="CF0E30"/>
            </a:solidFill>
            <a:effectLst/>
            <a:latin typeface="Book Antiqua" pitchFamily="1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66FF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kumimoji="0" lang="en-US" sz="1200" b="0" i="0" u="none" strike="noStrike" cap="none" normalizeH="0" baseline="0" smtClean="0">
            <a:ln>
              <a:noFill/>
            </a:ln>
            <a:solidFill>
              <a:srgbClr val="CF0E30"/>
            </a:solidFill>
            <a:effectLst/>
            <a:latin typeface="Book Antiqua" pitchFamily="1" charset="0"/>
          </a:defRPr>
        </a:defPPr>
      </a:lstStyle>
    </a:lnDef>
  </a:objectDefaults>
  <a:extraClrSchemeLst>
    <a:extraClrScheme>
      <a:clrScheme name="amdb-demo2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mdb-demo2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mdb-demo2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amdb-demo2">
  <a:themeElements>
    <a:clrScheme name="">
      <a:dk1>
        <a:srgbClr val="000000"/>
      </a:dk1>
      <a:lt1>
        <a:srgbClr val="FFFFFF"/>
      </a:lt1>
      <a:dk2>
        <a:srgbClr val="000000"/>
      </a:dk2>
      <a:lt2>
        <a:srgbClr val="868686"/>
      </a:lt2>
      <a:accent1>
        <a:srgbClr val="3366FF"/>
      </a:accent1>
      <a:accent2>
        <a:srgbClr val="009900"/>
      </a:accent2>
      <a:accent3>
        <a:srgbClr val="FFFFFF"/>
      </a:accent3>
      <a:accent4>
        <a:srgbClr val="000000"/>
      </a:accent4>
      <a:accent5>
        <a:srgbClr val="ADB8FF"/>
      </a:accent5>
      <a:accent6>
        <a:srgbClr val="008A00"/>
      </a:accent6>
      <a:hlink>
        <a:srgbClr val="FCCD04"/>
      </a:hlink>
      <a:folHlink>
        <a:srgbClr val="CCCCCC"/>
      </a:folHlink>
    </a:clrScheme>
    <a:fontScheme name="amdb-demo2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66FF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kumimoji="0" lang="en-US" sz="1200" b="0" i="0" u="none" strike="noStrike" cap="none" normalizeH="0" baseline="0" smtClean="0">
            <a:ln>
              <a:noFill/>
            </a:ln>
            <a:solidFill>
              <a:srgbClr val="CF0E30"/>
            </a:solidFill>
            <a:effectLst/>
            <a:latin typeface="Book Antiqua" pitchFamily="1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66FF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kumimoji="0" lang="en-US" sz="1200" b="0" i="0" u="none" strike="noStrike" cap="none" normalizeH="0" baseline="0" smtClean="0">
            <a:ln>
              <a:noFill/>
            </a:ln>
            <a:solidFill>
              <a:srgbClr val="CF0E30"/>
            </a:solidFill>
            <a:effectLst/>
            <a:latin typeface="Book Antiqua" pitchFamily="1" charset="0"/>
          </a:defRPr>
        </a:defPPr>
      </a:lstStyle>
    </a:lnDef>
  </a:objectDefaults>
  <a:extraClrSchemeLst>
    <a:extraClrScheme>
      <a:clrScheme name="amdb-demo2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mdb-demo2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mdb-demo2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lecture1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21E8"/>
      </a:accent1>
      <a:accent2>
        <a:srgbClr val="FF9966"/>
      </a:accent2>
      <a:accent3>
        <a:srgbClr val="FFFFFF"/>
      </a:accent3>
      <a:accent4>
        <a:srgbClr val="000000"/>
      </a:accent4>
      <a:accent5>
        <a:srgbClr val="AAABF2"/>
      </a:accent5>
      <a:accent6>
        <a:srgbClr val="E78A5C"/>
      </a:accent6>
      <a:hlink>
        <a:srgbClr val="CC3300"/>
      </a:hlink>
      <a:folHlink>
        <a:srgbClr val="996600"/>
      </a:folHlink>
    </a:clrScheme>
    <a:fontScheme name="lecture1">
      <a:majorFont>
        <a:latin typeface="Tahoma"/>
        <a:ea typeface="Osaka"/>
        <a:cs typeface=""/>
      </a:majorFont>
      <a:minorFont>
        <a:latin typeface="Tahoma"/>
        <a:ea typeface="Osak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66FF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kumimoji="0" lang="en-US" sz="1200" b="0" i="0" u="none" strike="noStrike" cap="none" normalizeH="0" baseline="0" smtClean="0">
            <a:ln>
              <a:noFill/>
            </a:ln>
            <a:solidFill>
              <a:srgbClr val="CF0E30"/>
            </a:solidFill>
            <a:effectLst/>
            <a:latin typeface="Book Antiqua" pitchFamily="1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66FF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kumimoji="0" lang="en-US" sz="1200" b="0" i="0" u="none" strike="noStrike" cap="none" normalizeH="0" baseline="0" smtClean="0">
            <a:ln>
              <a:noFill/>
            </a:ln>
            <a:solidFill>
              <a:srgbClr val="CF0E30"/>
            </a:solidFill>
            <a:effectLst/>
            <a:latin typeface="Book Antiqua" pitchFamily="1" charset="0"/>
          </a:defRPr>
        </a:defPPr>
      </a:lstStyle>
    </a:lnDef>
  </a:objectDefaults>
  <a:extraClrSchemeLst>
    <a:extraClrScheme>
      <a:clrScheme name="lecture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_amdb-demo2">
  <a:themeElements>
    <a:clrScheme name="">
      <a:dk1>
        <a:srgbClr val="000000"/>
      </a:dk1>
      <a:lt1>
        <a:srgbClr val="FFFFFF"/>
      </a:lt1>
      <a:dk2>
        <a:srgbClr val="000000"/>
      </a:dk2>
      <a:lt2>
        <a:srgbClr val="868686"/>
      </a:lt2>
      <a:accent1>
        <a:srgbClr val="3366FF"/>
      </a:accent1>
      <a:accent2>
        <a:srgbClr val="009900"/>
      </a:accent2>
      <a:accent3>
        <a:srgbClr val="FFFFFF"/>
      </a:accent3>
      <a:accent4>
        <a:srgbClr val="000000"/>
      </a:accent4>
      <a:accent5>
        <a:srgbClr val="ADB8FF"/>
      </a:accent5>
      <a:accent6>
        <a:srgbClr val="008A00"/>
      </a:accent6>
      <a:hlink>
        <a:srgbClr val="FCCD04"/>
      </a:hlink>
      <a:folHlink>
        <a:srgbClr val="CCCCCC"/>
      </a:folHlink>
    </a:clrScheme>
    <a:fontScheme name="amdb-demo2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66FF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kumimoji="0" lang="en-US" sz="1200" b="0" i="0" u="none" strike="noStrike" cap="none" normalizeH="0" baseline="0" smtClean="0">
            <a:ln>
              <a:noFill/>
            </a:ln>
            <a:solidFill>
              <a:srgbClr val="CF0E30"/>
            </a:solidFill>
            <a:effectLst/>
            <a:latin typeface="Book Antiqua" pitchFamily="1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66FF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kumimoji="0" lang="en-US" sz="1200" b="0" i="0" u="none" strike="noStrike" cap="none" normalizeH="0" baseline="0" smtClean="0">
            <a:ln>
              <a:noFill/>
            </a:ln>
            <a:solidFill>
              <a:srgbClr val="CF0E30"/>
            </a:solidFill>
            <a:effectLst/>
            <a:latin typeface="Book Antiqua" pitchFamily="1" charset="0"/>
          </a:defRPr>
        </a:defPPr>
      </a:lstStyle>
    </a:lnDef>
  </a:objectDefaults>
  <a:extraClrSchemeLst>
    <a:extraClrScheme>
      <a:clrScheme name="amdb-demo2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mdb-demo2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mdb-demo2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lecture1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21E8"/>
      </a:accent1>
      <a:accent2>
        <a:srgbClr val="FF9966"/>
      </a:accent2>
      <a:accent3>
        <a:srgbClr val="FFFFFF"/>
      </a:accent3>
      <a:accent4>
        <a:srgbClr val="000000"/>
      </a:accent4>
      <a:accent5>
        <a:srgbClr val="AAABF2"/>
      </a:accent5>
      <a:accent6>
        <a:srgbClr val="E78A5C"/>
      </a:accent6>
      <a:hlink>
        <a:srgbClr val="CC3300"/>
      </a:hlink>
      <a:folHlink>
        <a:srgbClr val="996600"/>
      </a:folHlink>
    </a:clrScheme>
    <a:fontScheme name="lecture1">
      <a:majorFont>
        <a:latin typeface="Tahoma"/>
        <a:ea typeface="Osaka"/>
        <a:cs typeface=""/>
      </a:majorFont>
      <a:minorFont>
        <a:latin typeface="Tahoma"/>
        <a:ea typeface="Osak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66FF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kumimoji="0" lang="en-US" sz="1200" b="0" i="0" u="none" strike="noStrike" cap="none" normalizeH="0" baseline="0" smtClean="0">
            <a:ln>
              <a:noFill/>
            </a:ln>
            <a:solidFill>
              <a:srgbClr val="CF0E30"/>
            </a:solidFill>
            <a:effectLst/>
            <a:latin typeface="Book Antiqua" pitchFamily="1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66FF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kumimoji="0" lang="en-US" sz="1200" b="0" i="0" u="none" strike="noStrike" cap="none" normalizeH="0" baseline="0" smtClean="0">
            <a:ln>
              <a:noFill/>
            </a:ln>
            <a:solidFill>
              <a:srgbClr val="CF0E30"/>
            </a:solidFill>
            <a:effectLst/>
            <a:latin typeface="Book Antiqua" pitchFamily="1" charset="0"/>
          </a:defRPr>
        </a:defPPr>
      </a:lstStyle>
    </a:lnDef>
  </a:objectDefaults>
  <a:extraClrSchemeLst>
    <a:extraClrScheme>
      <a:clrScheme name="lecture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lecture1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21E8"/>
      </a:accent1>
      <a:accent2>
        <a:srgbClr val="FF9966"/>
      </a:accent2>
      <a:accent3>
        <a:srgbClr val="FFFFFF"/>
      </a:accent3>
      <a:accent4>
        <a:srgbClr val="000000"/>
      </a:accent4>
      <a:accent5>
        <a:srgbClr val="AAABF2"/>
      </a:accent5>
      <a:accent6>
        <a:srgbClr val="E78A5C"/>
      </a:accent6>
      <a:hlink>
        <a:srgbClr val="CC3300"/>
      </a:hlink>
      <a:folHlink>
        <a:srgbClr val="996600"/>
      </a:folHlink>
    </a:clrScheme>
    <a:fontScheme name="lecture1">
      <a:majorFont>
        <a:latin typeface="Tahoma"/>
        <a:ea typeface="Osaka"/>
        <a:cs typeface=""/>
      </a:majorFont>
      <a:minorFont>
        <a:latin typeface="Tahoma"/>
        <a:ea typeface="Osak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66FF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kumimoji="0" lang="en-US" sz="1200" b="0" i="0" u="none" strike="noStrike" cap="none" normalizeH="0" baseline="0" smtClean="0">
            <a:ln>
              <a:noFill/>
            </a:ln>
            <a:solidFill>
              <a:srgbClr val="CF0E30"/>
            </a:solidFill>
            <a:effectLst/>
            <a:latin typeface="Book Antiqua" pitchFamily="1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66FF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kumimoji="0" lang="en-US" sz="1200" b="0" i="0" u="none" strike="noStrike" cap="none" normalizeH="0" baseline="0" smtClean="0">
            <a:ln>
              <a:noFill/>
            </a:ln>
            <a:solidFill>
              <a:srgbClr val="CF0E30"/>
            </a:solidFill>
            <a:effectLst/>
            <a:latin typeface="Book Antiqua" pitchFamily="1" charset="0"/>
          </a:defRPr>
        </a:defPPr>
      </a:lstStyle>
    </a:lnDef>
  </a:objectDefaults>
  <a:extraClrSchemeLst>
    <a:extraClrScheme>
      <a:clrScheme name="lecture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4_amdb-demo2">
  <a:themeElements>
    <a:clrScheme name="">
      <a:dk1>
        <a:srgbClr val="000000"/>
      </a:dk1>
      <a:lt1>
        <a:srgbClr val="FFFFFF"/>
      </a:lt1>
      <a:dk2>
        <a:srgbClr val="000000"/>
      </a:dk2>
      <a:lt2>
        <a:srgbClr val="868686"/>
      </a:lt2>
      <a:accent1>
        <a:srgbClr val="3366FF"/>
      </a:accent1>
      <a:accent2>
        <a:srgbClr val="009900"/>
      </a:accent2>
      <a:accent3>
        <a:srgbClr val="FFFFFF"/>
      </a:accent3>
      <a:accent4>
        <a:srgbClr val="000000"/>
      </a:accent4>
      <a:accent5>
        <a:srgbClr val="ADB8FF"/>
      </a:accent5>
      <a:accent6>
        <a:srgbClr val="008A00"/>
      </a:accent6>
      <a:hlink>
        <a:srgbClr val="FCCD04"/>
      </a:hlink>
      <a:folHlink>
        <a:srgbClr val="CCCCCC"/>
      </a:folHlink>
    </a:clrScheme>
    <a:fontScheme name="amdb-demo2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66FF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kumimoji="0" lang="en-US" sz="1200" b="0" i="0" u="none" strike="noStrike" cap="none" normalizeH="0" baseline="0" smtClean="0">
            <a:ln>
              <a:noFill/>
            </a:ln>
            <a:solidFill>
              <a:srgbClr val="CF0E30"/>
            </a:solidFill>
            <a:effectLst/>
            <a:latin typeface="Book Antiqua" pitchFamily="1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66FF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kumimoji="0" lang="en-US" sz="1200" b="0" i="0" u="none" strike="noStrike" cap="none" normalizeH="0" baseline="0" smtClean="0">
            <a:ln>
              <a:noFill/>
            </a:ln>
            <a:solidFill>
              <a:srgbClr val="CF0E30"/>
            </a:solidFill>
            <a:effectLst/>
            <a:latin typeface="Book Antiqua" pitchFamily="1" charset="0"/>
          </a:defRPr>
        </a:defPPr>
      </a:lstStyle>
    </a:lnDef>
  </a:objectDefaults>
  <a:extraClrSchemeLst>
    <a:extraClrScheme>
      <a:clrScheme name="amdb-demo2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mdb-demo2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mdb-demo2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5_amdb-demo2">
  <a:themeElements>
    <a:clrScheme name="">
      <a:dk1>
        <a:srgbClr val="000000"/>
      </a:dk1>
      <a:lt1>
        <a:srgbClr val="FFFFFF"/>
      </a:lt1>
      <a:dk2>
        <a:srgbClr val="000000"/>
      </a:dk2>
      <a:lt2>
        <a:srgbClr val="868686"/>
      </a:lt2>
      <a:accent1>
        <a:srgbClr val="3366FF"/>
      </a:accent1>
      <a:accent2>
        <a:srgbClr val="009900"/>
      </a:accent2>
      <a:accent3>
        <a:srgbClr val="FFFFFF"/>
      </a:accent3>
      <a:accent4>
        <a:srgbClr val="000000"/>
      </a:accent4>
      <a:accent5>
        <a:srgbClr val="ADB8FF"/>
      </a:accent5>
      <a:accent6>
        <a:srgbClr val="008A00"/>
      </a:accent6>
      <a:hlink>
        <a:srgbClr val="FCCD04"/>
      </a:hlink>
      <a:folHlink>
        <a:srgbClr val="CCCCCC"/>
      </a:folHlink>
    </a:clrScheme>
    <a:fontScheme name="amdb-demo2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66FF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kumimoji="0" lang="en-US" sz="1200" b="0" i="0" u="none" strike="noStrike" cap="none" normalizeH="0" baseline="0" smtClean="0">
            <a:ln>
              <a:noFill/>
            </a:ln>
            <a:solidFill>
              <a:srgbClr val="CF0E30"/>
            </a:solidFill>
            <a:effectLst/>
            <a:latin typeface="Book Antiqua" pitchFamily="1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66FF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kumimoji="0" lang="en-US" sz="1200" b="0" i="0" u="none" strike="noStrike" cap="none" normalizeH="0" baseline="0" smtClean="0">
            <a:ln>
              <a:noFill/>
            </a:ln>
            <a:solidFill>
              <a:srgbClr val="CF0E30"/>
            </a:solidFill>
            <a:effectLst/>
            <a:latin typeface="Book Antiqua" pitchFamily="1" charset="0"/>
          </a:defRPr>
        </a:defPPr>
      </a:lstStyle>
    </a:lnDef>
  </a:objectDefaults>
  <a:extraClrSchemeLst>
    <a:extraClrScheme>
      <a:clrScheme name="amdb-demo2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mdb-demo2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mdb-demo2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mylecture01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14015</TotalTime>
  <Words>1966</Words>
  <Application>Microsoft Office PowerPoint</Application>
  <PresentationFormat>On-screen Show (4:3)</PresentationFormat>
  <Paragraphs>430</Paragraphs>
  <Slides>51</Slides>
  <Notes>44</Notes>
  <HiddenSlides>0</HiddenSlides>
  <MMClips>0</MMClips>
  <ScaleCrop>false</ScaleCrop>
  <HeadingPairs>
    <vt:vector size="6" baseType="variant">
      <vt:variant>
        <vt:lpstr>Theme</vt:lpstr>
      </vt:variant>
      <vt:variant>
        <vt:i4>10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51</vt:i4>
      </vt:variant>
    </vt:vector>
  </HeadingPairs>
  <TitlesOfParts>
    <vt:vector size="63" baseType="lpstr">
      <vt:lpstr>lecture1</vt:lpstr>
      <vt:lpstr>amdb-demo2</vt:lpstr>
      <vt:lpstr>2_amdb-demo2</vt:lpstr>
      <vt:lpstr>1_lecture1</vt:lpstr>
      <vt:lpstr>3_amdb-demo2</vt:lpstr>
      <vt:lpstr>2_lecture1</vt:lpstr>
      <vt:lpstr>3_lecture1</vt:lpstr>
      <vt:lpstr>4_amdb-demo2</vt:lpstr>
      <vt:lpstr>5_amdb-demo2</vt:lpstr>
      <vt:lpstr>mylecture01</vt:lpstr>
      <vt:lpstr>Clip</vt:lpstr>
      <vt:lpstr>Equation</vt:lpstr>
      <vt:lpstr> Lecture 00</vt:lpstr>
      <vt:lpstr>Relational Database: Definitions</vt:lpstr>
      <vt:lpstr>Ex: Instance of  Students Relation</vt:lpstr>
      <vt:lpstr>Relational Query Languages</vt:lpstr>
      <vt:lpstr>A Logical View of Data</vt:lpstr>
      <vt:lpstr>A Logical View of Data</vt:lpstr>
      <vt:lpstr>A Logical View of Data</vt:lpstr>
      <vt:lpstr>Slide 8</vt:lpstr>
      <vt:lpstr>Slide 9</vt:lpstr>
      <vt:lpstr>Keys</vt:lpstr>
      <vt:lpstr>Slide 11</vt:lpstr>
      <vt:lpstr>Keys</vt:lpstr>
      <vt:lpstr>Slide 13</vt:lpstr>
      <vt:lpstr>Slide 14</vt:lpstr>
      <vt:lpstr>Slide 15</vt:lpstr>
      <vt:lpstr>Relational Database Operators</vt:lpstr>
      <vt:lpstr>Relational Database Operators</vt:lpstr>
      <vt:lpstr>Relational Database Operators</vt:lpstr>
      <vt:lpstr>Relational Database Operators</vt:lpstr>
      <vt:lpstr>Relational Database Operators</vt:lpstr>
      <vt:lpstr>Relational Database Operators</vt:lpstr>
      <vt:lpstr>Relational Database Operators</vt:lpstr>
      <vt:lpstr>Relational Database Operators</vt:lpstr>
      <vt:lpstr>Relational Database Operators</vt:lpstr>
      <vt:lpstr>Slide 25</vt:lpstr>
      <vt:lpstr>Slide 26</vt:lpstr>
      <vt:lpstr>Relational Database Operators</vt:lpstr>
      <vt:lpstr>Slide 28</vt:lpstr>
      <vt:lpstr>Relational Database Operators</vt:lpstr>
      <vt:lpstr>The Data Dictionary and the System Catalog</vt:lpstr>
      <vt:lpstr>Slide 31</vt:lpstr>
      <vt:lpstr>Relational Algebra: 5 Basic Operations</vt:lpstr>
      <vt:lpstr>Example Instances</vt:lpstr>
      <vt:lpstr>Projection ()</vt:lpstr>
      <vt:lpstr>Projection ()</vt:lpstr>
      <vt:lpstr>Selection ()</vt:lpstr>
      <vt:lpstr>Union and Set-Difference</vt:lpstr>
      <vt:lpstr>Union</vt:lpstr>
      <vt:lpstr>Set Difference</vt:lpstr>
      <vt:lpstr>Cross-Product</vt:lpstr>
      <vt:lpstr>Cross Product Example</vt:lpstr>
      <vt:lpstr>Compound Operator: Intersection</vt:lpstr>
      <vt:lpstr>Natural Join Example</vt:lpstr>
      <vt:lpstr>Other Types of Joins</vt:lpstr>
      <vt:lpstr>Examples</vt:lpstr>
      <vt:lpstr>Find names of sailors who’ve reserved boat #103</vt:lpstr>
      <vt:lpstr>Find names of sailors who’ve reserved a red boat</vt:lpstr>
      <vt:lpstr>Find sailors who’ve reserved a red boat or a green boat</vt:lpstr>
      <vt:lpstr>Find sailors who’ve reserved a red and a green boat</vt:lpstr>
      <vt:lpstr>Find sailors who’ve reserved a red and a green boat</vt:lpstr>
      <vt:lpstr>Summary</vt:lpstr>
    </vt:vector>
  </TitlesOfParts>
  <Company>Joe Hellerstein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Relational Model</dc:title>
  <dc:creator>Head-CSE</dc:creator>
  <cp:lastModifiedBy>Windows User</cp:lastModifiedBy>
  <cp:revision>46</cp:revision>
  <dcterms:modified xsi:type="dcterms:W3CDTF">2025-02-02T03:12:59Z</dcterms:modified>
</cp:coreProperties>
</file>