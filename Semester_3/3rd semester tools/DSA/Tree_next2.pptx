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sldIdLst>
    <p:sldId id="256" r:id="rId2"/>
    <p:sldId id="257" r:id="rId3"/>
    <p:sldId id="340" r:id="rId4"/>
    <p:sldId id="341" r:id="rId5"/>
    <p:sldId id="258"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259" r:id="rId20"/>
    <p:sldId id="326" r:id="rId21"/>
    <p:sldId id="327" r:id="rId22"/>
    <p:sldId id="328" r:id="rId23"/>
    <p:sldId id="329" r:id="rId24"/>
    <p:sldId id="330" r:id="rId25"/>
    <p:sldId id="362" r:id="rId26"/>
    <p:sldId id="363" r:id="rId27"/>
    <p:sldId id="364" r:id="rId28"/>
    <p:sldId id="331" r:id="rId29"/>
    <p:sldId id="355" r:id="rId30"/>
    <p:sldId id="332" r:id="rId31"/>
    <p:sldId id="333" r:id="rId32"/>
    <p:sldId id="356" r:id="rId33"/>
    <p:sldId id="358" r:id="rId34"/>
    <p:sldId id="357" r:id="rId35"/>
    <p:sldId id="359" r:id="rId36"/>
    <p:sldId id="365" r:id="rId37"/>
    <p:sldId id="360" r:id="rId38"/>
    <p:sldId id="361" r:id="rId39"/>
    <p:sldId id="334" r:id="rId40"/>
    <p:sldId id="335" r:id="rId41"/>
    <p:sldId id="336" r:id="rId42"/>
    <p:sldId id="337" r:id="rId43"/>
    <p:sldId id="338" r:id="rId44"/>
    <p:sldId id="339" r:id="rId45"/>
    <p:sldId id="292"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Arial" charset="0"/>
        <a:cs typeface="Arial" charset="0"/>
      </a:defRPr>
    </a:lvl1pPr>
    <a:lvl2pPr marL="457200" algn="l" rtl="0" fontAlgn="base">
      <a:spcBef>
        <a:spcPct val="0"/>
      </a:spcBef>
      <a:spcAft>
        <a:spcPct val="0"/>
      </a:spcAft>
      <a:defRPr kern="1200">
        <a:solidFill>
          <a:schemeClr val="tx1"/>
        </a:solidFill>
        <a:latin typeface="Arial" charset="0"/>
        <a:ea typeface="Arial" charset="0"/>
        <a:cs typeface="Arial" charset="0"/>
      </a:defRPr>
    </a:lvl2pPr>
    <a:lvl3pPr marL="914400" algn="l" rtl="0" fontAlgn="base">
      <a:spcBef>
        <a:spcPct val="0"/>
      </a:spcBef>
      <a:spcAft>
        <a:spcPct val="0"/>
      </a:spcAft>
      <a:defRPr kern="1200">
        <a:solidFill>
          <a:schemeClr val="tx1"/>
        </a:solidFill>
        <a:latin typeface="Arial" charset="0"/>
        <a:ea typeface="Arial" charset="0"/>
        <a:cs typeface="Arial" charset="0"/>
      </a:defRPr>
    </a:lvl3pPr>
    <a:lvl4pPr marL="1371600" algn="l" rtl="0" fontAlgn="base">
      <a:spcBef>
        <a:spcPct val="0"/>
      </a:spcBef>
      <a:spcAft>
        <a:spcPct val="0"/>
      </a:spcAft>
      <a:defRPr kern="1200">
        <a:solidFill>
          <a:schemeClr val="tx1"/>
        </a:solidFill>
        <a:latin typeface="Arial" charset="0"/>
        <a:ea typeface="Arial" charset="0"/>
        <a:cs typeface="Arial" charset="0"/>
      </a:defRPr>
    </a:lvl4pPr>
    <a:lvl5pPr marL="1828800" algn="l" rtl="0" fontAlgn="base">
      <a:spcBef>
        <a:spcPct val="0"/>
      </a:spcBef>
      <a:spcAft>
        <a:spcPct val="0"/>
      </a:spcAft>
      <a:defRPr kern="1200">
        <a:solidFill>
          <a:schemeClr val="tx1"/>
        </a:solidFill>
        <a:latin typeface="Arial" charset="0"/>
        <a:ea typeface="Arial" charset="0"/>
        <a:cs typeface="Arial" charset="0"/>
      </a:defRPr>
    </a:lvl5pPr>
    <a:lvl6pPr marL="2286000" algn="l" defTabSz="914400" rtl="0" eaLnBrk="1" latinLnBrk="0" hangingPunct="1">
      <a:defRPr kern="1200">
        <a:solidFill>
          <a:schemeClr val="tx1"/>
        </a:solidFill>
        <a:latin typeface="Arial" charset="0"/>
        <a:ea typeface="Arial" charset="0"/>
        <a:cs typeface="Arial" charset="0"/>
      </a:defRPr>
    </a:lvl6pPr>
    <a:lvl7pPr marL="2743200" algn="l" defTabSz="914400" rtl="0" eaLnBrk="1" latinLnBrk="0" hangingPunct="1">
      <a:defRPr kern="1200">
        <a:solidFill>
          <a:schemeClr val="tx1"/>
        </a:solidFill>
        <a:latin typeface="Arial" charset="0"/>
        <a:ea typeface="Arial" charset="0"/>
        <a:cs typeface="Arial" charset="0"/>
      </a:defRPr>
    </a:lvl7pPr>
    <a:lvl8pPr marL="3200400" algn="l" defTabSz="914400" rtl="0" eaLnBrk="1" latinLnBrk="0" hangingPunct="1">
      <a:defRPr kern="1200">
        <a:solidFill>
          <a:schemeClr val="tx1"/>
        </a:solidFill>
        <a:latin typeface="Arial" charset="0"/>
        <a:ea typeface="Arial" charset="0"/>
        <a:cs typeface="Arial" charset="0"/>
      </a:defRPr>
    </a:lvl8pPr>
    <a:lvl9pPr marL="3657600" algn="l" defTabSz="914400" rtl="0" eaLnBrk="1" latinLnBrk="0" hangingPunct="1">
      <a:defRPr kern="1200">
        <a:solidFill>
          <a:schemeClr val="tx1"/>
        </a:solidFill>
        <a:latin typeface="Arial" charset="0"/>
        <a:ea typeface="Arial" charset="0"/>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1456B6BC-54F0-4C5C-8B7A-F5823E1F6F29}" type="datetimeFigureOut">
              <a:rPr lang="en-US"/>
              <a:pPr>
                <a:defRPr/>
              </a:pPr>
              <a:t>3/21/2021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DD4FC702-B4C6-42FE-B3AC-A8B99FD920E5}" type="slidenum">
              <a:rPr lang="en-US"/>
              <a:pPr>
                <a:defRPr/>
              </a:pPr>
              <a:t>‹#›</a:t>
            </a:fld>
            <a:endParaRPr lang="en-US" dirty="0"/>
          </a:p>
        </p:txBody>
      </p:sp>
    </p:spTree>
    <p:extLst>
      <p:ext uri="{BB962C8B-B14F-4D97-AF65-F5344CB8AC3E}">
        <p14:creationId xmlns:p14="http://schemas.microsoft.com/office/powerpoint/2010/main" val="42901058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p:spPr>
      </p:sp>
      <p:sp>
        <p:nvSpPr>
          <p:cNvPr id="184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74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B62E9E7-4741-4B09-8F2F-24701DA790B7}" type="slidenum">
              <a:rPr lang="en-US" smtClean="0"/>
              <a:pPr fontAlgn="base">
                <a:spcBef>
                  <a:spcPct val="0"/>
                </a:spcBef>
                <a:spcAft>
                  <a:spcPct val="0"/>
                </a:spcAft>
                <a:defRPr/>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84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2BBA12-9D7B-4043-A6CA-18E690C46D0F}" type="slidenum">
              <a:rPr lang="en-US" smtClean="0"/>
              <a:pPr fontAlgn="base">
                <a:spcBef>
                  <a:spcPct val="0"/>
                </a:spcBef>
                <a:spcAft>
                  <a:spcPct val="0"/>
                </a:spcAft>
                <a:defRPr/>
              </a:pPr>
              <a:t>5</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84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2BBA12-9D7B-4043-A6CA-18E690C46D0F}" type="slidenum">
              <a:rPr lang="en-US" smtClean="0"/>
              <a:pPr fontAlgn="base">
                <a:spcBef>
                  <a:spcPct val="0"/>
                </a:spcBef>
                <a:spcAft>
                  <a:spcPct val="0"/>
                </a:spcAft>
                <a:defRPr/>
              </a:pPr>
              <a:t>28</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84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2BBA12-9D7B-4043-A6CA-18E690C46D0F}" type="slidenum">
              <a:rPr lang="en-US" smtClean="0"/>
              <a:pPr fontAlgn="base">
                <a:spcBef>
                  <a:spcPct val="0"/>
                </a:spcBef>
                <a:spcAft>
                  <a:spcPct val="0"/>
                </a:spcAft>
                <a:defRPr/>
              </a:pPr>
              <a:t>30</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84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2BBA12-9D7B-4043-A6CA-18E690C46D0F}" type="slidenum">
              <a:rPr lang="en-US" smtClean="0"/>
              <a:pPr fontAlgn="base">
                <a:spcBef>
                  <a:spcPct val="0"/>
                </a:spcBef>
                <a:spcAft>
                  <a:spcPct val="0"/>
                </a:spcAft>
                <a:defRPr/>
              </a:pPr>
              <a:t>31</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84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2BBA12-9D7B-4043-A6CA-18E690C46D0F}" type="slidenum">
              <a:rPr lang="en-US" smtClean="0"/>
              <a:pPr fontAlgn="base">
                <a:spcBef>
                  <a:spcPct val="0"/>
                </a:spcBef>
                <a:spcAft>
                  <a:spcPct val="0"/>
                </a:spcAft>
                <a:defRPr/>
              </a:pPr>
              <a:t>39</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useBgFill="1">
        <p:nvSpPr>
          <p:cNvPr id="11" name="Rounded Rectangle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useBgFill="1">
        <p:nvSpPr>
          <p:cNvPr id="12" name="Rounded Rectangle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smtClean="0"/>
              <a:t>Click to edit Master title style</a:t>
            </a:r>
            <a:endParaRPr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7" name="Date Placeholder 27"/>
          <p:cNvSpPr>
            <a:spLocks noGrp="1"/>
          </p:cNvSpPr>
          <p:nvPr>
            <p:ph type="dt" sz="half" idx="10"/>
          </p:nvPr>
        </p:nvSpPr>
        <p:spPr>
          <a:xfrm>
            <a:off x="6705600" y="4206875"/>
            <a:ext cx="960438" cy="457200"/>
          </a:xfrm>
        </p:spPr>
        <p:txBody>
          <a:bodyPr/>
          <a:lstStyle>
            <a:lvl1pPr>
              <a:defRPr/>
            </a:lvl1pPr>
          </a:lstStyle>
          <a:p>
            <a:pPr>
              <a:defRPr/>
            </a:pPr>
            <a:fld id="{17AEDE27-2E3A-4C0E-BCA0-35F1549E565F}" type="datetime1">
              <a:rPr lang="en-US"/>
              <a:pPr>
                <a:defRPr/>
              </a:pPr>
              <a:t>3/21/2021</a:t>
            </a:fld>
            <a:endParaRPr lang="en-US" dirty="0"/>
          </a:p>
        </p:txBody>
      </p:sp>
      <p:sp>
        <p:nvSpPr>
          <p:cNvPr id="18" name="Footer Placeholder 16"/>
          <p:cNvSpPr>
            <a:spLocks noGrp="1"/>
          </p:cNvSpPr>
          <p:nvPr>
            <p:ph type="ftr" sz="quarter" idx="11"/>
          </p:nvPr>
        </p:nvSpPr>
        <p:spPr>
          <a:xfrm>
            <a:off x="5410200" y="4205288"/>
            <a:ext cx="1295400" cy="457200"/>
          </a:xfrm>
        </p:spPr>
        <p:txBody>
          <a:bodyPr/>
          <a:lstStyle>
            <a:lvl1pPr>
              <a:defRPr dirty="0"/>
            </a:lvl1pPr>
          </a:lstStyle>
          <a:p>
            <a:pPr>
              <a:defRPr/>
            </a:pPr>
            <a:endParaRPr lang="en-US"/>
          </a:p>
        </p:txBody>
      </p:sp>
      <p:sp>
        <p:nvSpPr>
          <p:cNvPr id="19" name="Slide Number Placeholder 28"/>
          <p:cNvSpPr>
            <a:spLocks noGrp="1"/>
          </p:cNvSpPr>
          <p:nvPr>
            <p:ph type="sldNum" sz="quarter" idx="12"/>
          </p:nvPr>
        </p:nvSpPr>
        <p:spPr>
          <a:xfrm>
            <a:off x="8320088" y="1588"/>
            <a:ext cx="747712" cy="365125"/>
          </a:xfrm>
        </p:spPr>
        <p:txBody>
          <a:bodyPr/>
          <a:lstStyle>
            <a:lvl1pPr algn="r">
              <a:defRPr sz="1800">
                <a:solidFill>
                  <a:schemeClr val="bg1"/>
                </a:solidFill>
              </a:defRPr>
            </a:lvl1pPr>
          </a:lstStyle>
          <a:p>
            <a:pPr>
              <a:defRPr/>
            </a:pPr>
            <a:fld id="{7EF9EBBF-7639-4C7C-B281-274A2489E06D}"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67B05A91-1D11-429C-B07E-54CA17656038}" type="datetime1">
              <a:rPr lang="en-US"/>
              <a:pPr>
                <a:defRPr/>
              </a:pPr>
              <a:t>3/21/2021</a:t>
            </a:fld>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86806105-ADB5-45EF-BA95-148E279DCEB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13"/>
          <p:cNvSpPr>
            <a:spLocks noGrp="1"/>
          </p:cNvSpPr>
          <p:nvPr>
            <p:ph type="dt" sz="half" idx="10"/>
          </p:nvPr>
        </p:nvSpPr>
        <p:spPr/>
        <p:txBody>
          <a:bodyPr/>
          <a:lstStyle>
            <a:lvl1pPr>
              <a:defRPr/>
            </a:lvl1pPr>
          </a:lstStyle>
          <a:p>
            <a:pPr>
              <a:defRPr/>
            </a:pPr>
            <a:fld id="{35BE74EF-C661-4698-BEE2-7A8DA6FBC5A9}" type="datetime1">
              <a:rPr lang="en-US"/>
              <a:pPr>
                <a:defRPr/>
              </a:pPr>
              <a:t>3/21/2021</a:t>
            </a:fld>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561041BF-E9D1-4363-B1EE-6148548CC00F}"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F1E877BF-0872-441B-A06E-0596378C053D}" type="datetime1">
              <a:rPr lang="en-US"/>
              <a:pPr>
                <a:defRPr/>
              </a:pPr>
              <a:t>3/21/2021</a:t>
            </a:fld>
            <a:endParaRPr lang="en-US"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5EAE5D41-2307-41C2-A8DE-C108A0F414CF}"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5"/>
          <p:cNvSpPr>
            <a:spLocks noGrp="1"/>
          </p:cNvSpPr>
          <p:nvPr>
            <p:ph type="dt" sz="half" idx="10"/>
          </p:nvPr>
        </p:nvSpPr>
        <p:spPr/>
        <p:txBody>
          <a:bodyPr rtlCol="0"/>
          <a:lstStyle>
            <a:lvl1pPr>
              <a:defRPr/>
            </a:lvl1pPr>
          </a:lstStyle>
          <a:p>
            <a:pPr>
              <a:defRPr/>
            </a:pPr>
            <a:fld id="{2A568D56-9F2C-4F79-B164-A91C972577A3}" type="datetime1">
              <a:rPr lang="en-US"/>
              <a:pPr>
                <a:defRPr/>
              </a:pPr>
              <a:t>3/21/2021</a:t>
            </a:fld>
            <a:endParaRPr lang="en-US" dirty="0"/>
          </a:p>
        </p:txBody>
      </p:sp>
      <p:sp>
        <p:nvSpPr>
          <p:cNvPr id="8" name="Slide Number Placeholder 26"/>
          <p:cNvSpPr>
            <a:spLocks noGrp="1"/>
          </p:cNvSpPr>
          <p:nvPr>
            <p:ph type="sldNum" sz="quarter" idx="11"/>
          </p:nvPr>
        </p:nvSpPr>
        <p:spPr/>
        <p:txBody>
          <a:bodyPr rtlCol="0"/>
          <a:lstStyle>
            <a:lvl1pPr>
              <a:defRPr/>
            </a:lvl1pPr>
          </a:lstStyle>
          <a:p>
            <a:pPr>
              <a:defRPr/>
            </a:pPr>
            <a:fld id="{115BF102-77AB-42F8-8A25-EDC77FDBC189}" type="slidenum">
              <a:rPr lang="en-US"/>
              <a:pPr>
                <a:defRPr/>
              </a:pPr>
              <a:t>‹#›</a:t>
            </a:fld>
            <a:endParaRPr lang="en-US" dirty="0"/>
          </a:p>
        </p:txBody>
      </p:sp>
      <p:sp>
        <p:nvSpPr>
          <p:cNvPr id="9" name="Footer Placeholder 27"/>
          <p:cNvSpPr>
            <a:spLocks noGrp="1"/>
          </p:cNvSpPr>
          <p:nvPr>
            <p:ph type="ftr" sz="quarter" idx="12"/>
          </p:nvPr>
        </p:nvSpPr>
        <p:spPr/>
        <p:txBody>
          <a:bodyPr rtlCol="0"/>
          <a:lstStyle>
            <a:lvl1pPr>
              <a:defRPr dirty="0"/>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smtClean="0"/>
              <a:t>Click to edit Master title style</a:t>
            </a:r>
            <a:endParaRPr lang="en-US"/>
          </a:p>
        </p:txBody>
      </p:sp>
      <p:sp>
        <p:nvSpPr>
          <p:cNvPr id="3" name="Date Placeholder 2"/>
          <p:cNvSpPr>
            <a:spLocks noGrp="1"/>
          </p:cNvSpPr>
          <p:nvPr>
            <p:ph type="dt" sz="half" idx="10"/>
          </p:nvPr>
        </p:nvSpPr>
        <p:spPr>
          <a:xfrm>
            <a:off x="6583363" y="612775"/>
            <a:ext cx="957262" cy="457200"/>
          </a:xfrm>
        </p:spPr>
        <p:txBody>
          <a:bodyPr/>
          <a:lstStyle>
            <a:lvl1pPr>
              <a:defRPr/>
            </a:lvl1pPr>
          </a:lstStyle>
          <a:p>
            <a:pPr>
              <a:defRPr/>
            </a:pPr>
            <a:fld id="{9C7BFB17-6E1B-4482-90B5-105D05687BD1}" type="datetime1">
              <a:rPr lang="en-US"/>
              <a:pPr>
                <a:defRPr/>
              </a:pPr>
              <a:t>3/21/2021</a:t>
            </a:fld>
            <a:endParaRPr lang="en-US" dirty="0"/>
          </a:p>
        </p:txBody>
      </p:sp>
      <p:sp>
        <p:nvSpPr>
          <p:cNvPr id="4" name="Footer Placeholder 3"/>
          <p:cNvSpPr>
            <a:spLocks noGrp="1"/>
          </p:cNvSpPr>
          <p:nvPr>
            <p:ph type="ftr" sz="quarter" idx="11"/>
          </p:nvPr>
        </p:nvSpPr>
        <p:spPr/>
        <p:txBody>
          <a:bodyPr/>
          <a:lstStyle>
            <a:lvl1pPr>
              <a:defRPr dirty="0"/>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CF0E66E2-2F34-45F3-A486-4C6025EBD16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B613D1E5-32DA-4D0C-BE1D-4BA9D8F10B2E}" type="datetime1">
              <a:rPr lang="en-US"/>
              <a:pPr>
                <a:defRPr/>
              </a:pPr>
              <a:t>3/21/2021</a:t>
            </a:fld>
            <a:endParaRPr lang="en-US" dirty="0"/>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E784625E-CF61-472C-A910-19CA7BC5BA38}"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smtClean="0"/>
              <a:t>Click to edit Master title style</a:t>
            </a:r>
            <a:endParaRPr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4BB732B9-D44D-45AF-99AF-70FC976EAC18}" type="datetime1">
              <a:rPr lang="en-US"/>
              <a:pPr>
                <a:defRPr/>
              </a:pPr>
              <a:t>3/21/2021</a:t>
            </a:fld>
            <a:endParaRPr lang="en-US"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58BE1CC9-A94A-4153-81D0-1CC9D3DEB0C2}"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5" name="Date Placeholder 13"/>
          <p:cNvSpPr>
            <a:spLocks noGrp="1"/>
          </p:cNvSpPr>
          <p:nvPr>
            <p:ph type="dt" sz="half" idx="10"/>
          </p:nvPr>
        </p:nvSpPr>
        <p:spPr/>
        <p:txBody>
          <a:bodyPr/>
          <a:lstStyle>
            <a:lvl1pPr>
              <a:defRPr/>
            </a:lvl1pPr>
          </a:lstStyle>
          <a:p>
            <a:pPr>
              <a:defRPr/>
            </a:pPr>
            <a:fld id="{76C1AA81-0EE2-4857-81DF-0EAC004F4300}" type="datetime1">
              <a:rPr lang="en-US"/>
              <a:pPr>
                <a:defRPr/>
              </a:pPr>
              <a:t>3/21/2021</a:t>
            </a:fld>
            <a:endParaRPr lang="en-US"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5549D9FD-768A-45C0-A408-BD7A42926E5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B2DCB741-CD4C-4279-BC62-676DA8328705}" type="datetime1">
              <a:rPr lang="en-US"/>
              <a:pPr>
                <a:defRPr/>
              </a:pPr>
              <a:t>3/21/2021</a:t>
            </a:fld>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F45646EA-4F18-433A-B3A2-A10EBDBC92EB}"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AF75B178-BA3F-466E-B42D-8C2E68F12BCF}" type="datetime1">
              <a:rPr lang="en-US"/>
              <a:pPr>
                <a:defRPr/>
              </a:pPr>
              <a:t>3/21/2021</a:t>
            </a:fld>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2ABD533-D821-4353-B54C-92685422806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useBgFill="1">
        <p:nvSpPr>
          <p:cNvPr id="33" name="Rounded Rectangle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useBgFill="1">
        <p:nvSpPr>
          <p:cNvPr id="34" name="Rounded Rectangle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39" name="Title Placeholder 21"/>
          <p:cNvSpPr>
            <a:spLocks noGrp="1"/>
          </p:cNvSpPr>
          <p:nvPr>
            <p:ph type="title"/>
          </p:nvPr>
        </p:nvSpPr>
        <p:spPr bwMode="auto">
          <a:xfrm>
            <a:off x="457200" y="1143000"/>
            <a:ext cx="82296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40" name="Text Placeholder 12"/>
          <p:cNvSpPr>
            <a:spLocks noGrp="1"/>
          </p:cNvSpPr>
          <p:nvPr>
            <p:ph type="body" idx="1"/>
          </p:nvPr>
        </p:nvSpPr>
        <p:spPr bwMode="auto">
          <a:xfrm>
            <a:off x="457200" y="2249488"/>
            <a:ext cx="8229600" cy="4324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586538" y="612775"/>
            <a:ext cx="957262" cy="457200"/>
          </a:xfrm>
          <a:prstGeom prst="rect">
            <a:avLst/>
          </a:prstGeom>
        </p:spPr>
        <p:txBody>
          <a:bodyPr vert="horz"/>
          <a:lstStyle>
            <a:lvl1pPr algn="l" eaLnBrk="1" fontAlgn="auto" latinLnBrk="0" hangingPunct="1">
              <a:spcBef>
                <a:spcPts val="0"/>
              </a:spcBef>
              <a:spcAft>
                <a:spcPts val="0"/>
              </a:spcAft>
              <a:defRPr kumimoji="0" sz="800">
                <a:solidFill>
                  <a:schemeClr val="accent2"/>
                </a:solidFill>
                <a:latin typeface="+mn-lt"/>
                <a:ea typeface="+mn-ea"/>
                <a:cs typeface="+mn-cs"/>
              </a:defRPr>
            </a:lvl1pPr>
          </a:lstStyle>
          <a:p>
            <a:pPr>
              <a:defRPr/>
            </a:pPr>
            <a:fld id="{D8E70CB1-7088-404C-A51B-E8E624079FAB}" type="datetime1">
              <a:rPr lang="en-US"/>
              <a:pPr>
                <a:defRPr/>
              </a:pPr>
              <a:t>3/21/2021</a:t>
            </a:fld>
            <a:endParaRPr lang="en-US" dirty="0"/>
          </a:p>
        </p:txBody>
      </p:sp>
      <p:sp>
        <p:nvSpPr>
          <p:cNvPr id="3" name="Footer Placeholder 2"/>
          <p:cNvSpPr>
            <a:spLocks noGrp="1"/>
          </p:cNvSpPr>
          <p:nvPr>
            <p:ph type="ftr" sz="quarter" idx="3"/>
          </p:nvPr>
        </p:nvSpPr>
        <p:spPr>
          <a:xfrm>
            <a:off x="5257800" y="612775"/>
            <a:ext cx="1325563" cy="457200"/>
          </a:xfrm>
          <a:prstGeom prst="rect">
            <a:avLst/>
          </a:prstGeom>
        </p:spPr>
        <p:txBody>
          <a:bodyPr vert="horz"/>
          <a:lstStyle>
            <a:lvl1pPr algn="r" eaLnBrk="1" fontAlgn="auto" latinLnBrk="0" hangingPunct="1">
              <a:spcBef>
                <a:spcPts val="0"/>
              </a:spcBef>
              <a:spcAft>
                <a:spcPts val="0"/>
              </a:spcAft>
              <a:defRPr kumimoji="0" sz="800" dirty="0">
                <a:solidFill>
                  <a:schemeClr val="accent2"/>
                </a:solidFill>
                <a:latin typeface="+mn-lt"/>
                <a:ea typeface="+mn-ea"/>
                <a:cs typeface="+mn-cs"/>
              </a:defRPr>
            </a:lvl1pPr>
          </a:lstStyle>
          <a:p>
            <a:pPr>
              <a:defRPr/>
            </a:pPr>
            <a:endParaRPr lang="en-US"/>
          </a:p>
        </p:txBody>
      </p:sp>
      <p:sp>
        <p:nvSpPr>
          <p:cNvPr id="23" name="Slide Number Placeholder 22"/>
          <p:cNvSpPr>
            <a:spLocks noGrp="1"/>
          </p:cNvSpPr>
          <p:nvPr>
            <p:ph type="sldNum" sz="quarter" idx="4"/>
          </p:nvPr>
        </p:nvSpPr>
        <p:spPr>
          <a:xfrm>
            <a:off x="8174038" y="1588"/>
            <a:ext cx="762000" cy="366712"/>
          </a:xfrm>
          <a:prstGeom prst="rect">
            <a:avLst/>
          </a:prstGeom>
        </p:spPr>
        <p:txBody>
          <a:bodyPr vert="horz" anchor="b"/>
          <a:lstStyle>
            <a:lvl1pPr algn="r" eaLnBrk="1" fontAlgn="auto" latinLnBrk="0" hangingPunct="1">
              <a:spcBef>
                <a:spcPts val="0"/>
              </a:spcBef>
              <a:spcAft>
                <a:spcPts val="0"/>
              </a:spcAft>
              <a:defRPr kumimoji="0" sz="1800">
                <a:solidFill>
                  <a:srgbClr val="FFFFFF"/>
                </a:solidFill>
                <a:latin typeface="+mn-lt"/>
                <a:ea typeface="+mn-ea"/>
                <a:cs typeface="+mn-cs"/>
              </a:defRPr>
            </a:lvl1pPr>
          </a:lstStyle>
          <a:p>
            <a:pPr>
              <a:defRPr/>
            </a:pPr>
            <a:fld id="{EFE2CF38-BFE1-4F21-8545-18039AD6962E}"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29" r:id="rId2"/>
    <p:sldLayoutId id="2147483730" r:id="rId3"/>
    <p:sldLayoutId id="2147483731" r:id="rId4"/>
    <p:sldLayoutId id="2147483738" r:id="rId5"/>
    <p:sldLayoutId id="2147483739" r:id="rId6"/>
    <p:sldLayoutId id="2147483732" r:id="rId7"/>
    <p:sldLayoutId id="2147483733" r:id="rId8"/>
    <p:sldLayoutId id="2147483734" r:id="rId9"/>
    <p:sldLayoutId id="2147483735" r:id="rId10"/>
    <p:sldLayoutId id="2147483736" r:id="rId11"/>
  </p:sldLayoutIdLst>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A04DA3"/>
        </a:buClr>
        <a:buFont typeface="Georgia"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685800" y="609600"/>
            <a:ext cx="7772400" cy="1470025"/>
          </a:xfrm>
        </p:spPr>
        <p:txBody>
          <a:bodyPr/>
          <a:lstStyle/>
          <a:p>
            <a:pPr eaLnBrk="1" hangingPunct="1"/>
            <a:r>
              <a:rPr lang="en-US" dirty="0" smtClean="0"/>
              <a:t>Trees</a:t>
            </a:r>
          </a:p>
        </p:txBody>
      </p:sp>
      <p:sp>
        <p:nvSpPr>
          <p:cNvPr id="5123" name="Subtitle 2"/>
          <p:cNvSpPr>
            <a:spLocks noGrp="1"/>
          </p:cNvSpPr>
          <p:nvPr>
            <p:ph type="subTitle" idx="1"/>
          </p:nvPr>
        </p:nvSpPr>
        <p:spPr>
          <a:xfrm>
            <a:off x="990600" y="4114800"/>
            <a:ext cx="6781800" cy="2362200"/>
          </a:xfrm>
        </p:spPr>
        <p:txBody>
          <a:bodyPr/>
          <a:lstStyle/>
          <a:p>
            <a:pPr marL="63500" eaLnBrk="1" hangingPunct="1"/>
            <a:endParaRPr lang="en-US" sz="2800"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nodePh="1">
                                  <p:stCondLst>
                                    <p:cond delay="0"/>
                                  </p:stCondLst>
                                  <p:endCondLst>
                                    <p:cond evt="begin" delay="0">
                                      <p:tn val="9"/>
                                    </p:cond>
                                  </p:end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smtClean="0"/>
              <a:t>Content	</a:t>
            </a:r>
          </a:p>
        </p:txBody>
      </p:sp>
      <p:sp>
        <p:nvSpPr>
          <p:cNvPr id="6147" name="Content Placeholder 2"/>
          <p:cNvSpPr>
            <a:spLocks noGrp="1"/>
          </p:cNvSpPr>
          <p:nvPr>
            <p:ph idx="1"/>
          </p:nvPr>
        </p:nvSpPr>
        <p:spPr/>
        <p:txBody>
          <a:bodyPr/>
          <a:lstStyle/>
          <a:p>
            <a:pPr eaLnBrk="1" hangingPunct="1">
              <a:buFont typeface="Wingdings" pitchFamily="2" charset="2"/>
              <a:buChar char="q"/>
            </a:pPr>
            <a:endParaRPr lang="en-US" dirty="0" smtClean="0"/>
          </a:p>
          <a:p>
            <a:pPr eaLnBrk="1" hangingPunct="1">
              <a:buFont typeface="Wingdings" pitchFamily="2" charset="2"/>
              <a:buChar char="q"/>
            </a:pPr>
            <a:r>
              <a:rPr lang="en-US" dirty="0" smtClean="0"/>
              <a:t> Introduction to Trees.</a:t>
            </a:r>
          </a:p>
          <a:p>
            <a:pPr eaLnBrk="1" hangingPunct="1">
              <a:buFont typeface="Wingdings" pitchFamily="2" charset="2"/>
              <a:buChar char="q"/>
            </a:pPr>
            <a:r>
              <a:rPr lang="en-US" dirty="0" smtClean="0"/>
              <a:t> Introduction to Binary Trees.</a:t>
            </a:r>
          </a:p>
          <a:p>
            <a:pPr eaLnBrk="1" hangingPunct="1">
              <a:buFont typeface="Wingdings" pitchFamily="2" charset="2"/>
              <a:buChar char="q"/>
            </a:pPr>
            <a:r>
              <a:rPr lang="en-US" dirty="0" smtClean="0"/>
              <a:t> Traversing Binary Trees.</a:t>
            </a:r>
          </a:p>
          <a:p>
            <a:pPr eaLnBrk="1" hangingPunct="1">
              <a:buFont typeface="Wingdings" pitchFamily="2" charset="2"/>
              <a:buChar char="q"/>
            </a:pPr>
            <a:r>
              <a:rPr lang="en-US" dirty="0" smtClean="0"/>
              <a:t> Introduction to Binary Search Trees.</a:t>
            </a:r>
          </a:p>
          <a:p>
            <a:pPr eaLnBrk="1" hangingPunct="1">
              <a:buFont typeface="Wingdings" pitchFamily="2" charset="2"/>
              <a:buChar char="q"/>
            </a:pPr>
            <a:r>
              <a:rPr lang="en-US" dirty="0" smtClean="0"/>
              <a:t> Insertion into Binary Search Trees.</a:t>
            </a:r>
          </a:p>
          <a:p>
            <a:pPr eaLnBrk="1" hangingPunct="1">
              <a:buFont typeface="Wingdings" pitchFamily="2" charset="2"/>
              <a:buChar char="q"/>
            </a:pPr>
            <a:r>
              <a:rPr lang="en-US" dirty="0" smtClean="0"/>
              <a:t> Huffman Algorithm for Data Encoding.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274638"/>
            <a:ext cx="8229600" cy="490537"/>
          </a:xfrm>
        </p:spPr>
        <p:txBody>
          <a:bodyPr rtlCol="0" anchor="t">
            <a:normAutofit fontScale="90000"/>
          </a:bodyPr>
          <a:lstStyle/>
          <a:p>
            <a:pPr eaLnBrk="1" fontAlgn="auto" hangingPunct="1">
              <a:spcAft>
                <a:spcPts val="0"/>
              </a:spcAft>
              <a:defRPr/>
            </a:pPr>
            <a:r>
              <a:rPr lang="en-US" sz="3200" smtClean="0"/>
              <a:t>Tree</a:t>
            </a:r>
            <a:endParaRPr lang="en-IN" sz="3200" smtClean="0"/>
          </a:p>
        </p:txBody>
      </p:sp>
      <p:sp>
        <p:nvSpPr>
          <p:cNvPr id="3" name="Content Placeholder 2"/>
          <p:cNvSpPr>
            <a:spLocks noGrp="1"/>
          </p:cNvSpPr>
          <p:nvPr>
            <p:ph idx="1"/>
          </p:nvPr>
        </p:nvSpPr>
        <p:spPr>
          <a:xfrm>
            <a:off x="457200" y="1052513"/>
            <a:ext cx="8229600" cy="5073650"/>
          </a:xfrm>
        </p:spPr>
        <p:txBody>
          <a:bodyPr rtlCol="0">
            <a:normAutofit fontScale="92500"/>
          </a:bodyPr>
          <a:lstStyle/>
          <a:p>
            <a:pPr eaLnBrk="1" fontAlgn="auto" hangingPunct="1">
              <a:spcAft>
                <a:spcPts val="0"/>
              </a:spcAft>
              <a:buFont typeface="Wingdings" pitchFamily="2" charset="2"/>
              <a:buNone/>
              <a:defRPr/>
            </a:pPr>
            <a:r>
              <a:rPr lang="en-IN" sz="2400" dirty="0"/>
              <a:t>A tree is a graph with the </a:t>
            </a:r>
            <a:r>
              <a:rPr lang="en-IN" sz="2400" dirty="0" smtClean="0"/>
              <a:t>following  properties</a:t>
            </a:r>
            <a:r>
              <a:rPr lang="en-IN" sz="2400" dirty="0"/>
              <a:t>:</a:t>
            </a:r>
          </a:p>
          <a:p>
            <a:pPr eaLnBrk="1" fontAlgn="auto" hangingPunct="1">
              <a:spcAft>
                <a:spcPts val="0"/>
              </a:spcAft>
              <a:buFont typeface="Arial" pitchFamily="34" charset="0"/>
              <a:buChar char="•"/>
              <a:defRPr/>
            </a:pPr>
            <a:endParaRPr lang="en-IN" sz="2400" dirty="0" smtClean="0"/>
          </a:p>
          <a:p>
            <a:pPr eaLnBrk="1" fontAlgn="auto" hangingPunct="1">
              <a:lnSpc>
                <a:spcPct val="160000"/>
              </a:lnSpc>
              <a:spcAft>
                <a:spcPts val="0"/>
              </a:spcAft>
              <a:buFont typeface="Arial" pitchFamily="34" charset="0"/>
              <a:buChar char="•"/>
              <a:defRPr/>
            </a:pPr>
            <a:r>
              <a:rPr lang="en-IN" sz="2400" dirty="0" smtClean="0"/>
              <a:t> </a:t>
            </a:r>
            <a:r>
              <a:rPr lang="en-IN" sz="2400" dirty="0"/>
              <a:t>The graph is connected (can go </a:t>
            </a:r>
            <a:r>
              <a:rPr lang="en-IN" sz="2400" dirty="0" smtClean="0"/>
              <a:t>from  anywhere </a:t>
            </a:r>
            <a:r>
              <a:rPr lang="en-IN" sz="2400" dirty="0"/>
              <a:t>to anywhere)</a:t>
            </a:r>
          </a:p>
          <a:p>
            <a:pPr eaLnBrk="1" fontAlgn="auto" hangingPunct="1">
              <a:lnSpc>
                <a:spcPct val="160000"/>
              </a:lnSpc>
              <a:spcAft>
                <a:spcPts val="0"/>
              </a:spcAft>
              <a:buFont typeface="Arial" pitchFamily="34" charset="0"/>
              <a:buChar char="•"/>
              <a:defRPr/>
            </a:pPr>
            <a:r>
              <a:rPr lang="en-IN" sz="2400" dirty="0" smtClean="0"/>
              <a:t> </a:t>
            </a:r>
            <a:r>
              <a:rPr lang="en-IN" sz="2400" dirty="0"/>
              <a:t>There are no </a:t>
            </a:r>
            <a:r>
              <a:rPr lang="en-IN" sz="2400" dirty="0" smtClean="0"/>
              <a:t>cycles(acyclic)</a:t>
            </a:r>
          </a:p>
          <a:p>
            <a:pPr eaLnBrk="1" fontAlgn="auto" hangingPunct="1">
              <a:spcAft>
                <a:spcPts val="0"/>
              </a:spcAft>
              <a:buFont typeface="Wingdings" pitchFamily="2" charset="2"/>
              <a:buNone/>
              <a:defRPr/>
            </a:pPr>
            <a:endParaRPr lang="en-US" sz="2400" dirty="0"/>
          </a:p>
          <a:p>
            <a:pPr eaLnBrk="1" fontAlgn="auto" hangingPunct="1">
              <a:spcAft>
                <a:spcPts val="0"/>
              </a:spcAft>
              <a:buFont typeface="Wingdings" pitchFamily="2" charset="2"/>
              <a:buNone/>
              <a:defRPr/>
            </a:pPr>
            <a:r>
              <a:rPr lang="en-US" sz="2400" dirty="0" smtClean="0"/>
              <a:t>                                                                            </a:t>
            </a:r>
          </a:p>
          <a:p>
            <a:pPr eaLnBrk="1" fontAlgn="auto" hangingPunct="1">
              <a:spcAft>
                <a:spcPts val="0"/>
              </a:spcAft>
              <a:buFont typeface="Wingdings" pitchFamily="2" charset="2"/>
              <a:buNone/>
              <a:defRPr/>
            </a:pPr>
            <a:r>
              <a:rPr lang="en-US" sz="2400" dirty="0"/>
              <a:t> </a:t>
            </a:r>
            <a:r>
              <a:rPr lang="en-US" sz="2400" dirty="0" smtClean="0"/>
              <a:t>                                                                     </a:t>
            </a:r>
          </a:p>
          <a:p>
            <a:pPr eaLnBrk="1" fontAlgn="auto" hangingPunct="1">
              <a:spcAft>
                <a:spcPts val="0"/>
              </a:spcAft>
              <a:buFont typeface="Wingdings" pitchFamily="2" charset="2"/>
              <a:buNone/>
              <a:defRPr/>
            </a:pPr>
            <a:endParaRPr lang="en-US" sz="2400" dirty="0"/>
          </a:p>
          <a:p>
            <a:pPr eaLnBrk="1" fontAlgn="auto" hangingPunct="1">
              <a:spcAft>
                <a:spcPts val="0"/>
              </a:spcAft>
              <a:buFont typeface="Wingdings" pitchFamily="2" charset="2"/>
              <a:buNone/>
              <a:defRPr/>
            </a:pPr>
            <a:endParaRPr lang="en-US" sz="2400" dirty="0" smtClean="0"/>
          </a:p>
          <a:p>
            <a:pPr eaLnBrk="1" fontAlgn="auto" hangingPunct="1">
              <a:spcAft>
                <a:spcPts val="0"/>
              </a:spcAft>
              <a:buFont typeface="Wingdings" pitchFamily="2" charset="2"/>
              <a:buNone/>
              <a:defRPr/>
            </a:pPr>
            <a:endParaRPr lang="en-US" sz="2400" dirty="0"/>
          </a:p>
          <a:p>
            <a:pPr eaLnBrk="1" fontAlgn="auto" hangingPunct="1">
              <a:spcAft>
                <a:spcPts val="0"/>
              </a:spcAft>
              <a:buFont typeface="Wingdings" pitchFamily="2" charset="2"/>
              <a:buNone/>
              <a:defRPr/>
            </a:pPr>
            <a:endParaRPr lang="en-US" sz="2400" dirty="0" smtClean="0"/>
          </a:p>
          <a:p>
            <a:pPr eaLnBrk="1" fontAlgn="auto" hangingPunct="1">
              <a:spcAft>
                <a:spcPts val="0"/>
              </a:spcAft>
              <a:buFont typeface="Wingdings" pitchFamily="2" charset="2"/>
              <a:buNone/>
              <a:defRPr/>
            </a:pPr>
            <a:r>
              <a:rPr lang="en-US" sz="2400" dirty="0"/>
              <a:t>	</a:t>
            </a:r>
            <a:r>
              <a:rPr lang="en-US" sz="2400" dirty="0" smtClean="0"/>
              <a:t>					</a:t>
            </a:r>
            <a:r>
              <a:rPr lang="en-US" sz="2000" b="1" dirty="0" smtClean="0"/>
              <a:t>Graphs that are not trees</a:t>
            </a:r>
            <a:endParaRPr lang="en-US" sz="2000" b="1" dirty="0"/>
          </a:p>
        </p:txBody>
      </p:sp>
      <p:sp>
        <p:nvSpPr>
          <p:cNvPr id="4" name="Oval 3"/>
          <p:cNvSpPr/>
          <p:nvPr/>
        </p:nvSpPr>
        <p:spPr>
          <a:xfrm>
            <a:off x="1835150" y="4076700"/>
            <a:ext cx="360363"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 name="Oval 4"/>
          <p:cNvSpPr/>
          <p:nvPr/>
        </p:nvSpPr>
        <p:spPr>
          <a:xfrm>
            <a:off x="971550" y="4149725"/>
            <a:ext cx="360363" cy="35877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6" name="Oval 5"/>
          <p:cNvSpPr/>
          <p:nvPr/>
        </p:nvSpPr>
        <p:spPr>
          <a:xfrm>
            <a:off x="1619250" y="4941888"/>
            <a:ext cx="360363" cy="35877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7" name="Oval 6"/>
          <p:cNvSpPr/>
          <p:nvPr/>
        </p:nvSpPr>
        <p:spPr>
          <a:xfrm>
            <a:off x="2700338" y="4581525"/>
            <a:ext cx="358775"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8" name="Oval 7"/>
          <p:cNvSpPr/>
          <p:nvPr/>
        </p:nvSpPr>
        <p:spPr>
          <a:xfrm>
            <a:off x="2771775" y="3644900"/>
            <a:ext cx="360363"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 name="Oval 8"/>
          <p:cNvSpPr/>
          <p:nvPr/>
        </p:nvSpPr>
        <p:spPr>
          <a:xfrm>
            <a:off x="1619250" y="3357563"/>
            <a:ext cx="360363" cy="35877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12" name="Straight Connector 11"/>
          <p:cNvCxnSpPr>
            <a:stCxn id="4" idx="7"/>
            <a:endCxn id="8" idx="3"/>
          </p:cNvCxnSpPr>
          <p:nvPr/>
        </p:nvCxnSpPr>
        <p:spPr>
          <a:xfrm flipV="1">
            <a:off x="2143125" y="3952875"/>
            <a:ext cx="681038" cy="1762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 idx="5"/>
            <a:endCxn id="7" idx="2"/>
          </p:cNvCxnSpPr>
          <p:nvPr/>
        </p:nvCxnSpPr>
        <p:spPr>
          <a:xfrm>
            <a:off x="2143125" y="4384675"/>
            <a:ext cx="557213" cy="376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 idx="3"/>
            <a:endCxn id="6" idx="0"/>
          </p:cNvCxnSpPr>
          <p:nvPr/>
        </p:nvCxnSpPr>
        <p:spPr>
          <a:xfrm flipH="1">
            <a:off x="1800225" y="4384675"/>
            <a:ext cx="88900" cy="5572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4" idx="2"/>
            <a:endCxn id="5" idx="6"/>
          </p:cNvCxnSpPr>
          <p:nvPr/>
        </p:nvCxnSpPr>
        <p:spPr>
          <a:xfrm flipH="1">
            <a:off x="1331913" y="4257675"/>
            <a:ext cx="503237" cy="71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4" idx="1"/>
            <a:endCxn id="9" idx="4"/>
          </p:cNvCxnSpPr>
          <p:nvPr/>
        </p:nvCxnSpPr>
        <p:spPr>
          <a:xfrm flipH="1" flipV="1">
            <a:off x="1800225" y="3716338"/>
            <a:ext cx="88900" cy="412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4932363" y="4652963"/>
            <a:ext cx="360362" cy="36036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4" name="Oval 43"/>
          <p:cNvSpPr/>
          <p:nvPr/>
        </p:nvSpPr>
        <p:spPr>
          <a:xfrm>
            <a:off x="5508625" y="4076700"/>
            <a:ext cx="358775"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5" name="Oval 44"/>
          <p:cNvSpPr/>
          <p:nvPr/>
        </p:nvSpPr>
        <p:spPr>
          <a:xfrm>
            <a:off x="4356100" y="4076700"/>
            <a:ext cx="360363"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6" name="Oval 45"/>
          <p:cNvSpPr/>
          <p:nvPr/>
        </p:nvSpPr>
        <p:spPr>
          <a:xfrm>
            <a:off x="4932363" y="3429000"/>
            <a:ext cx="360362"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7" name="Oval 46"/>
          <p:cNvSpPr/>
          <p:nvPr/>
        </p:nvSpPr>
        <p:spPr>
          <a:xfrm>
            <a:off x="7956550" y="3429000"/>
            <a:ext cx="360363"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8" name="Oval 47"/>
          <p:cNvSpPr/>
          <p:nvPr/>
        </p:nvSpPr>
        <p:spPr>
          <a:xfrm>
            <a:off x="7380288" y="3933825"/>
            <a:ext cx="360362" cy="35877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9" name="Oval 48"/>
          <p:cNvSpPr/>
          <p:nvPr/>
        </p:nvSpPr>
        <p:spPr>
          <a:xfrm>
            <a:off x="7812088" y="4365625"/>
            <a:ext cx="360362" cy="35877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0" name="Oval 49"/>
          <p:cNvSpPr/>
          <p:nvPr/>
        </p:nvSpPr>
        <p:spPr>
          <a:xfrm>
            <a:off x="6875463" y="4365625"/>
            <a:ext cx="360362" cy="35877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1" name="Oval 50"/>
          <p:cNvSpPr/>
          <p:nvPr/>
        </p:nvSpPr>
        <p:spPr>
          <a:xfrm>
            <a:off x="6875463" y="3429000"/>
            <a:ext cx="360362" cy="36036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53" name="Straight Connector 52"/>
          <p:cNvCxnSpPr>
            <a:stCxn id="46" idx="3"/>
            <a:endCxn id="45" idx="7"/>
          </p:cNvCxnSpPr>
          <p:nvPr/>
        </p:nvCxnSpPr>
        <p:spPr>
          <a:xfrm flipH="1">
            <a:off x="4664075" y="3736975"/>
            <a:ext cx="320675" cy="3921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46" idx="5"/>
            <a:endCxn id="44" idx="1"/>
          </p:cNvCxnSpPr>
          <p:nvPr/>
        </p:nvCxnSpPr>
        <p:spPr>
          <a:xfrm>
            <a:off x="5238750" y="3736975"/>
            <a:ext cx="322263" cy="3921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45" idx="6"/>
            <a:endCxn id="44" idx="2"/>
          </p:cNvCxnSpPr>
          <p:nvPr/>
        </p:nvCxnSpPr>
        <p:spPr>
          <a:xfrm>
            <a:off x="4716463" y="4257675"/>
            <a:ext cx="7921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endCxn id="44" idx="3"/>
          </p:cNvCxnSpPr>
          <p:nvPr/>
        </p:nvCxnSpPr>
        <p:spPr>
          <a:xfrm flipV="1">
            <a:off x="5219700" y="4384675"/>
            <a:ext cx="341313" cy="3016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50" idx="0"/>
            <a:endCxn id="51" idx="4"/>
          </p:cNvCxnSpPr>
          <p:nvPr/>
        </p:nvCxnSpPr>
        <p:spPr>
          <a:xfrm flipV="1">
            <a:off x="7056438" y="3789363"/>
            <a:ext cx="0" cy="57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7235825" y="4508500"/>
            <a:ext cx="576263"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48" idx="7"/>
            <a:endCxn id="47" idx="3"/>
          </p:cNvCxnSpPr>
          <p:nvPr/>
        </p:nvCxnSpPr>
        <p:spPr>
          <a:xfrm flipV="1">
            <a:off x="7688263" y="3736975"/>
            <a:ext cx="320675" cy="249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51" name="TextBox 74"/>
          <p:cNvSpPr txBox="1">
            <a:spLocks noChangeArrowheads="1"/>
          </p:cNvSpPr>
          <p:nvPr/>
        </p:nvSpPr>
        <p:spPr bwMode="auto">
          <a:xfrm>
            <a:off x="1403350" y="5516563"/>
            <a:ext cx="792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eaLnBrk="0" fontAlgn="base" hangingPunct="0">
              <a:spcBef>
                <a:spcPct val="0"/>
              </a:spcBef>
              <a:spcAft>
                <a:spcPct val="0"/>
              </a:spcAft>
              <a:defRPr sz="2400" b="1">
                <a:solidFill>
                  <a:schemeClr val="tx1"/>
                </a:solidFill>
                <a:latin typeface="Times New Roman" pitchFamily="18" charset="0"/>
              </a:defRPr>
            </a:lvl6pPr>
            <a:lvl7pPr marL="2971800" indent="-228600" eaLnBrk="0" fontAlgn="base" hangingPunct="0">
              <a:spcBef>
                <a:spcPct val="0"/>
              </a:spcBef>
              <a:spcAft>
                <a:spcPct val="0"/>
              </a:spcAft>
              <a:defRPr sz="2400" b="1">
                <a:solidFill>
                  <a:schemeClr val="tx1"/>
                </a:solidFill>
                <a:latin typeface="Times New Roman" pitchFamily="18" charset="0"/>
              </a:defRPr>
            </a:lvl7pPr>
            <a:lvl8pPr marL="3429000" indent="-228600" eaLnBrk="0" fontAlgn="base" hangingPunct="0">
              <a:spcBef>
                <a:spcPct val="0"/>
              </a:spcBef>
              <a:spcAft>
                <a:spcPct val="0"/>
              </a:spcAft>
              <a:defRPr sz="2400" b="1">
                <a:solidFill>
                  <a:schemeClr val="tx1"/>
                </a:solidFill>
                <a:latin typeface="Times New Roman" pitchFamily="18" charset="0"/>
              </a:defRPr>
            </a:lvl8pPr>
            <a:lvl9pPr marL="3886200" indent="-228600" eaLnBrk="0" fontAlgn="base" hangingPunct="0">
              <a:spcBef>
                <a:spcPct val="0"/>
              </a:spcBef>
              <a:spcAft>
                <a:spcPct val="0"/>
              </a:spcAft>
              <a:defRPr sz="2400" b="1">
                <a:solidFill>
                  <a:schemeClr val="tx1"/>
                </a:solidFill>
                <a:latin typeface="Times New Roman" pitchFamily="18" charset="0"/>
              </a:defRPr>
            </a:lvl9pPr>
          </a:lstStyle>
          <a:p>
            <a:r>
              <a:rPr lang="en-US" sz="2000"/>
              <a:t>Tree </a:t>
            </a:r>
            <a:endParaRPr lang="en-IN" sz="2000"/>
          </a:p>
        </p:txBody>
      </p:sp>
    </p:spTree>
    <p:extLst>
      <p:ext uri="{BB962C8B-B14F-4D97-AF65-F5344CB8AC3E}">
        <p14:creationId xmlns:p14="http://schemas.microsoft.com/office/powerpoint/2010/main" val="26434704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chor="t"/>
          <a:lstStyle/>
          <a:p>
            <a:pPr eaLnBrk="1" hangingPunct="1"/>
            <a:r>
              <a:rPr lang="en-US" dirty="0" smtClean="0"/>
              <a:t>Definition</a:t>
            </a:r>
            <a:br>
              <a:rPr lang="en-US" dirty="0" smtClean="0"/>
            </a:br>
            <a:endParaRPr lang="en-US" dirty="0" smtClean="0"/>
          </a:p>
        </p:txBody>
      </p:sp>
      <p:sp>
        <p:nvSpPr>
          <p:cNvPr id="6147" name="Rectangle 3"/>
          <p:cNvSpPr>
            <a:spLocks noGrp="1" noChangeArrowheads="1"/>
          </p:cNvSpPr>
          <p:nvPr>
            <p:ph idx="1"/>
          </p:nvPr>
        </p:nvSpPr>
        <p:spPr>
          <a:xfrm>
            <a:off x="533400" y="1600200"/>
            <a:ext cx="8229600" cy="4525963"/>
          </a:xfrm>
        </p:spPr>
        <p:txBody>
          <a:bodyPr/>
          <a:lstStyle/>
          <a:p>
            <a:pPr eaLnBrk="1" hangingPunct="1"/>
            <a:endParaRPr lang="en-US" dirty="0" smtClean="0"/>
          </a:p>
          <a:p>
            <a:pPr eaLnBrk="1" hangingPunct="1"/>
            <a:endParaRPr lang="en-US" dirty="0"/>
          </a:p>
          <a:p>
            <a:pPr eaLnBrk="1" hangingPunct="1"/>
            <a:r>
              <a:rPr lang="en-US" dirty="0" smtClean="0"/>
              <a:t>A </a:t>
            </a:r>
            <a:r>
              <a:rPr lang="en-US" dirty="0" smtClean="0">
                <a:solidFill>
                  <a:schemeClr val="hlink"/>
                </a:solidFill>
              </a:rPr>
              <a:t>tree</a:t>
            </a:r>
            <a:r>
              <a:rPr lang="en-US" dirty="0" smtClean="0"/>
              <a:t> consists of finite set of elements, called </a:t>
            </a:r>
            <a:r>
              <a:rPr lang="en-US" dirty="0" smtClean="0">
                <a:solidFill>
                  <a:srgbClr val="660066"/>
                </a:solidFill>
              </a:rPr>
              <a:t>nodes</a:t>
            </a:r>
            <a:r>
              <a:rPr lang="en-US" dirty="0" smtClean="0"/>
              <a:t>, and a finite set of directed lines called </a:t>
            </a:r>
            <a:r>
              <a:rPr lang="en-US" dirty="0" smtClean="0">
                <a:solidFill>
                  <a:srgbClr val="660066"/>
                </a:solidFill>
              </a:rPr>
              <a:t>branches</a:t>
            </a:r>
            <a:r>
              <a:rPr lang="en-US" dirty="0" smtClean="0"/>
              <a:t>, that connect the nodes.</a:t>
            </a:r>
          </a:p>
          <a:p>
            <a:pPr eaLnBrk="1" hangingPunct="1"/>
            <a:r>
              <a:rPr lang="en-US" dirty="0" smtClean="0"/>
              <a:t>A </a:t>
            </a:r>
            <a:r>
              <a:rPr lang="en-US" dirty="0" smtClean="0">
                <a:solidFill>
                  <a:srgbClr val="FF0000"/>
                </a:solidFill>
              </a:rPr>
              <a:t>tree</a:t>
            </a:r>
            <a:r>
              <a:rPr lang="en-US" dirty="0" smtClean="0"/>
              <a:t> is a connected graph without any circuits</a:t>
            </a:r>
          </a:p>
          <a:p>
            <a:pPr eaLnBrk="1" hangingPunct="1">
              <a:buFont typeface="Wingdings" pitchFamily="2" charset="2"/>
              <a:buNone/>
            </a:pPr>
            <a:endParaRPr lang="en-US" dirty="0" smtClean="0"/>
          </a:p>
        </p:txBody>
      </p:sp>
      <p:sp>
        <p:nvSpPr>
          <p:cNvPr id="5" name="Slide Number Placeholder 4"/>
          <p:cNvSpPr>
            <a:spLocks noGrp="1"/>
          </p:cNvSpPr>
          <p:nvPr>
            <p:ph type="sldNum" sz="quarter" idx="12"/>
          </p:nvPr>
        </p:nvSpPr>
        <p:spPr/>
        <p:txBody>
          <a:bodyPr/>
          <a:lstStyle/>
          <a:p>
            <a:pPr>
              <a:defRPr/>
            </a:pPr>
            <a:fld id="{FCFAC243-FD7D-4B6B-809C-78AB5A1B8B74}" type="slidenum">
              <a:rPr lang="en-US"/>
              <a:pPr>
                <a:defRPr/>
              </a:pPr>
              <a:t>4</a:t>
            </a:fld>
            <a:endParaRPr lang="en-US"/>
          </a:p>
        </p:txBody>
      </p:sp>
    </p:spTree>
    <p:extLst>
      <p:ext uri="{BB962C8B-B14F-4D97-AF65-F5344CB8AC3E}">
        <p14:creationId xmlns:p14="http://schemas.microsoft.com/office/powerpoint/2010/main" val="16572094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dirty="0" smtClean="0"/>
              <a:t>Introduction to Trees</a:t>
            </a:r>
          </a:p>
        </p:txBody>
      </p:sp>
      <p:sp>
        <p:nvSpPr>
          <p:cNvPr id="7171" name="Content Placeholder 2"/>
          <p:cNvSpPr>
            <a:spLocks noGrp="1"/>
          </p:cNvSpPr>
          <p:nvPr>
            <p:ph idx="1"/>
          </p:nvPr>
        </p:nvSpPr>
        <p:spPr>
          <a:xfrm>
            <a:off x="457200" y="2249488"/>
            <a:ext cx="8534400" cy="4324350"/>
          </a:xfrm>
        </p:spPr>
        <p:txBody>
          <a:bodyPr/>
          <a:lstStyle/>
          <a:p>
            <a:pPr marL="342900" indent="-342900" algn="just">
              <a:lnSpc>
                <a:spcPct val="90000"/>
              </a:lnSpc>
              <a:spcBef>
                <a:spcPct val="20000"/>
              </a:spcBef>
              <a:buNone/>
            </a:pPr>
            <a:r>
              <a:rPr lang="en-US" altLang="zh-TW" sz="2400" dirty="0" smtClean="0">
                <a:latin typeface="Georgia" pitchFamily="18" charset="0"/>
                <a:ea typeface="新細明體" pitchFamily="18" charset="-120"/>
              </a:rPr>
              <a:t>	A Tree is a finite set of elements called nodes such that:</a:t>
            </a:r>
          </a:p>
          <a:p>
            <a:pPr marL="635000" lvl="1" indent="-342900" algn="just">
              <a:lnSpc>
                <a:spcPct val="90000"/>
              </a:lnSpc>
              <a:spcBef>
                <a:spcPct val="20000"/>
              </a:spcBef>
              <a:buFont typeface="Wingdings" pitchFamily="2" charset="2"/>
              <a:buChar char="q"/>
            </a:pPr>
            <a:r>
              <a:rPr lang="en-US" altLang="zh-TW" sz="2200" dirty="0" smtClean="0">
                <a:solidFill>
                  <a:schemeClr val="tx1"/>
                </a:solidFill>
                <a:latin typeface="Georgia" pitchFamily="18" charset="0"/>
                <a:ea typeface="新細明體" pitchFamily="18" charset="-120"/>
              </a:rPr>
              <a:t>There is specially designated node called the </a:t>
            </a:r>
            <a:r>
              <a:rPr lang="en-US" altLang="zh-TW" sz="2200" b="1" dirty="0" smtClean="0">
                <a:solidFill>
                  <a:schemeClr val="tx1"/>
                </a:solidFill>
                <a:latin typeface="Georgia" pitchFamily="18" charset="0"/>
                <a:ea typeface="新細明體" pitchFamily="18" charset="-120"/>
              </a:rPr>
              <a:t>root</a:t>
            </a:r>
            <a:r>
              <a:rPr lang="en-US" altLang="zh-TW" sz="2200" dirty="0" smtClean="0">
                <a:solidFill>
                  <a:schemeClr val="tx1"/>
                </a:solidFill>
                <a:latin typeface="Georgia" pitchFamily="18" charset="0"/>
                <a:ea typeface="新細明體" pitchFamily="18" charset="-120"/>
              </a:rPr>
              <a:t>.</a:t>
            </a:r>
          </a:p>
          <a:p>
            <a:pPr marL="635000" lvl="1" indent="-342900" algn="just">
              <a:lnSpc>
                <a:spcPct val="90000"/>
              </a:lnSpc>
              <a:spcBef>
                <a:spcPct val="20000"/>
              </a:spcBef>
              <a:buFont typeface="Wingdings" pitchFamily="2" charset="2"/>
              <a:buChar char="q"/>
            </a:pPr>
            <a:r>
              <a:rPr lang="en-US" altLang="zh-TW" sz="2200" dirty="0" smtClean="0">
                <a:solidFill>
                  <a:schemeClr val="tx1"/>
                </a:solidFill>
                <a:latin typeface="Georgia" pitchFamily="18" charset="0"/>
                <a:ea typeface="新細明體" pitchFamily="18" charset="-120"/>
              </a:rPr>
              <a:t>The remaining nodes are partitioned into disjoint sets T</a:t>
            </a:r>
            <a:r>
              <a:rPr lang="en-US" altLang="zh-TW" sz="2200" baseline="-25000" dirty="0" smtClean="0">
                <a:solidFill>
                  <a:schemeClr val="tx1"/>
                </a:solidFill>
                <a:latin typeface="Georgia" pitchFamily="18" charset="0"/>
                <a:ea typeface="新細明體" pitchFamily="18" charset="-120"/>
              </a:rPr>
              <a:t>1</a:t>
            </a:r>
            <a:r>
              <a:rPr lang="en-US" altLang="zh-TW" sz="2200" dirty="0" smtClean="0">
                <a:solidFill>
                  <a:schemeClr val="tx1"/>
                </a:solidFill>
                <a:latin typeface="Georgia" pitchFamily="18" charset="0"/>
                <a:ea typeface="新細明體" pitchFamily="18" charset="-120"/>
              </a:rPr>
              <a:t>,….</a:t>
            </a:r>
            <a:r>
              <a:rPr lang="en-US" altLang="zh-TW" sz="2200" dirty="0" err="1" smtClean="0">
                <a:solidFill>
                  <a:schemeClr val="tx1"/>
                </a:solidFill>
                <a:latin typeface="Georgia" pitchFamily="18" charset="0"/>
                <a:ea typeface="新細明體" pitchFamily="18" charset="-120"/>
              </a:rPr>
              <a:t>T</a:t>
            </a:r>
            <a:r>
              <a:rPr lang="en-US" altLang="zh-TW" sz="2200" baseline="-25000" dirty="0" err="1" smtClean="0">
                <a:solidFill>
                  <a:schemeClr val="tx1"/>
                </a:solidFill>
                <a:latin typeface="Georgia" pitchFamily="18" charset="0"/>
                <a:ea typeface="新細明體" pitchFamily="18" charset="-120"/>
              </a:rPr>
              <a:t>n</a:t>
            </a:r>
            <a:r>
              <a:rPr lang="en-US" altLang="zh-TW" sz="2200" baseline="-25000" dirty="0" smtClean="0">
                <a:solidFill>
                  <a:schemeClr val="tx1"/>
                </a:solidFill>
                <a:latin typeface="Georgia" pitchFamily="18" charset="0"/>
                <a:ea typeface="新細明體" pitchFamily="18" charset="-120"/>
              </a:rPr>
              <a:t>  </a:t>
            </a:r>
            <a:r>
              <a:rPr lang="en-US" altLang="zh-TW" sz="2200" dirty="0" smtClean="0">
                <a:solidFill>
                  <a:schemeClr val="tx1"/>
                </a:solidFill>
                <a:latin typeface="Georgia" pitchFamily="18" charset="0"/>
                <a:ea typeface="新細明體" pitchFamily="18" charset="-120"/>
              </a:rPr>
              <a:t>where each of these sets is also tree called </a:t>
            </a:r>
            <a:r>
              <a:rPr lang="en-US" altLang="zh-TW" sz="2200" b="1" dirty="0" smtClean="0">
                <a:solidFill>
                  <a:schemeClr val="tx1"/>
                </a:solidFill>
                <a:latin typeface="Georgia" pitchFamily="18" charset="0"/>
                <a:ea typeface="新細明體" pitchFamily="18" charset="-120"/>
              </a:rPr>
              <a:t>sub trees</a:t>
            </a:r>
            <a:r>
              <a:rPr lang="en-US" altLang="zh-TW" sz="2200" dirty="0" smtClean="0">
                <a:solidFill>
                  <a:schemeClr val="tx1"/>
                </a:solidFill>
                <a:latin typeface="Georgia" pitchFamily="18" charset="0"/>
                <a:ea typeface="新細明體" pitchFamily="18" charset="-120"/>
              </a:rPr>
              <a:t> of the root.</a:t>
            </a:r>
          </a:p>
          <a:p>
            <a:pPr marL="635000" lvl="1" indent="-342900" algn="just">
              <a:lnSpc>
                <a:spcPct val="90000"/>
              </a:lnSpc>
              <a:spcBef>
                <a:spcPct val="20000"/>
              </a:spcBef>
              <a:buFont typeface="Wingdings" pitchFamily="2" charset="2"/>
              <a:buChar char="q"/>
            </a:pPr>
            <a:r>
              <a:rPr lang="en-US" altLang="zh-TW" sz="2200" dirty="0" smtClean="0">
                <a:solidFill>
                  <a:schemeClr val="tx1"/>
                </a:solidFill>
                <a:latin typeface="Georgia" pitchFamily="18" charset="0"/>
                <a:ea typeface="新細明體" pitchFamily="18" charset="-120"/>
              </a:rPr>
              <a:t>Each node can have 0 or more </a:t>
            </a:r>
            <a:r>
              <a:rPr lang="en-US" altLang="zh-TW" sz="2200" b="1" dirty="0" smtClean="0">
                <a:solidFill>
                  <a:schemeClr val="tx1"/>
                </a:solidFill>
                <a:latin typeface="Georgia" pitchFamily="18" charset="0"/>
                <a:ea typeface="新細明體" pitchFamily="18" charset="-120"/>
              </a:rPr>
              <a:t>children</a:t>
            </a:r>
            <a:r>
              <a:rPr lang="en-US" altLang="zh-TW" sz="2200" dirty="0" smtClean="0">
                <a:solidFill>
                  <a:schemeClr val="tx1"/>
                </a:solidFill>
                <a:latin typeface="Georgia" pitchFamily="18" charset="0"/>
                <a:ea typeface="新細明體" pitchFamily="18" charset="-120"/>
              </a:rPr>
              <a:t>.</a:t>
            </a:r>
          </a:p>
          <a:p>
            <a:pPr marL="635000" lvl="1" indent="-342900" algn="just">
              <a:lnSpc>
                <a:spcPct val="90000"/>
              </a:lnSpc>
              <a:spcBef>
                <a:spcPct val="20000"/>
              </a:spcBef>
              <a:buFont typeface="Wingdings" pitchFamily="2" charset="2"/>
              <a:buChar char="q"/>
            </a:pPr>
            <a:r>
              <a:rPr lang="en-US" altLang="zh-TW" sz="2200" dirty="0" smtClean="0">
                <a:solidFill>
                  <a:schemeClr val="tx1"/>
                </a:solidFill>
                <a:latin typeface="Georgia" pitchFamily="18" charset="0"/>
                <a:ea typeface="新細明體" pitchFamily="18" charset="-120"/>
              </a:rPr>
              <a:t>A node can have at most one </a:t>
            </a:r>
            <a:r>
              <a:rPr lang="en-US" altLang="zh-TW" sz="2200" b="1" dirty="0" smtClean="0">
                <a:solidFill>
                  <a:schemeClr val="tx1"/>
                </a:solidFill>
                <a:latin typeface="Georgia" pitchFamily="18" charset="0"/>
                <a:ea typeface="新細明體" pitchFamily="18" charset="-120"/>
              </a:rPr>
              <a:t>parent</a:t>
            </a:r>
            <a:r>
              <a:rPr lang="en-US" altLang="zh-TW" sz="2200" dirty="0" smtClean="0">
                <a:solidFill>
                  <a:schemeClr val="tx1"/>
                </a:solidFill>
                <a:latin typeface="Georgia" pitchFamily="18" charset="0"/>
                <a:ea typeface="新細明體" pitchFamily="18" charset="-120"/>
              </a:rPr>
              <a:t>.</a:t>
            </a:r>
            <a:endParaRPr lang="en-US" altLang="zh-TW" sz="2400" dirty="0" smtClean="0">
              <a:solidFill>
                <a:schemeClr val="tx1"/>
              </a:solidFill>
              <a:latin typeface="Georgia" pitchFamily="18" charset="0"/>
              <a:ea typeface="新細明體" pitchFamily="18" charset="-120"/>
            </a:endParaRPr>
          </a:p>
        </p:txBody>
      </p:sp>
      <p:sp>
        <p:nvSpPr>
          <p:cNvPr id="9" name="Oval 8"/>
          <p:cNvSpPr/>
          <p:nvPr/>
        </p:nvSpPr>
        <p:spPr>
          <a:xfrm>
            <a:off x="6858000" y="4724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10" name="Oval 9"/>
          <p:cNvSpPr/>
          <p:nvPr/>
        </p:nvSpPr>
        <p:spPr>
          <a:xfrm>
            <a:off x="7467600" y="4114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11" name="Oval 10"/>
          <p:cNvSpPr/>
          <p:nvPr/>
        </p:nvSpPr>
        <p:spPr>
          <a:xfrm>
            <a:off x="6400800" y="5562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12" name="Oval 11"/>
          <p:cNvSpPr/>
          <p:nvPr/>
        </p:nvSpPr>
        <p:spPr>
          <a:xfrm>
            <a:off x="7239000" y="5562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13" name="Oval 12"/>
          <p:cNvSpPr/>
          <p:nvPr/>
        </p:nvSpPr>
        <p:spPr>
          <a:xfrm>
            <a:off x="8077200" y="4724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16" name="Oval 15"/>
          <p:cNvSpPr/>
          <p:nvPr/>
        </p:nvSpPr>
        <p:spPr>
          <a:xfrm>
            <a:off x="7696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8" name="Oval 17"/>
          <p:cNvSpPr/>
          <p:nvPr/>
        </p:nvSpPr>
        <p:spPr>
          <a:xfrm>
            <a:off x="8458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38" name="Straight Connector 37"/>
          <p:cNvCxnSpPr>
            <a:stCxn id="10" idx="3"/>
            <a:endCxn id="9" idx="7"/>
          </p:cNvCxnSpPr>
          <p:nvPr/>
        </p:nvCxnSpPr>
        <p:spPr>
          <a:xfrm rot="5400000">
            <a:off x="71181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p:cNvCxnSpPr>
            <a:endCxn id="11" idx="0"/>
          </p:cNvCxnSpPr>
          <p:nvPr/>
        </p:nvCxnSpPr>
        <p:spPr>
          <a:xfrm rot="5400000">
            <a:off x="6483537" y="5098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0" idx="5"/>
            <a:endCxn id="13" idx="1"/>
          </p:cNvCxnSpPr>
          <p:nvPr/>
        </p:nvCxnSpPr>
        <p:spPr>
          <a:xfrm rot="16200000" flipH="1">
            <a:off x="77277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p:cNvCxnSpPr>
            <a:endCxn id="16" idx="0"/>
          </p:cNvCxnSpPr>
          <p:nvPr/>
        </p:nvCxnSpPr>
        <p:spPr>
          <a:xfrm rot="5400000">
            <a:off x="7747871" y="5115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8" name="Straight Connector 47"/>
          <p:cNvCxnSpPr>
            <a:endCxn id="12" idx="0"/>
          </p:cNvCxnSpPr>
          <p:nvPr/>
        </p:nvCxnSpPr>
        <p:spPr>
          <a:xfrm rot="16200000" flipH="1">
            <a:off x="6934200" y="5105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3" idx="4"/>
          </p:cNvCxnSpPr>
          <p:nvPr/>
        </p:nvCxnSpPr>
        <p:spPr>
          <a:xfrm rot="16200000" flipH="1">
            <a:off x="8177930" y="5080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9" grpId="0" animBg="1"/>
      <p:bldP spid="10" grpId="0" animBg="1"/>
      <p:bldP spid="11" grpId="0" animBg="1"/>
      <p:bldP spid="12" grpId="0" animBg="1"/>
      <p:bldP spid="13" grpId="0" animBg="1"/>
      <p:bldP spid="16"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2"/>
          </p:nvPr>
        </p:nvSpPr>
        <p:spPr/>
        <p:txBody>
          <a:bodyPr/>
          <a:lstStyle/>
          <a:p>
            <a:pPr>
              <a:defRPr/>
            </a:pPr>
            <a:fld id="{B016BD43-156A-415E-974F-93A9AEA49B97}" type="slidenum">
              <a:rPr lang="en-US"/>
              <a:pPr>
                <a:defRPr/>
              </a:pPr>
              <a:t>6</a:t>
            </a:fld>
            <a:endParaRPr lang="en-US" dirty="0"/>
          </a:p>
        </p:txBody>
      </p:sp>
      <p:pic>
        <p:nvPicPr>
          <p:cNvPr id="7171" name="Picture 12" descr="Fig06-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5344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1"/>
          <p:cNvSpPr>
            <a:spLocks noChangeArrowheads="1"/>
          </p:cNvSpPr>
          <p:nvPr/>
        </p:nvSpPr>
        <p:spPr bwMode="auto">
          <a:xfrm>
            <a:off x="304800" y="5181600"/>
            <a:ext cx="1219200" cy="457200"/>
          </a:xfrm>
          <a:prstGeom prst="rect">
            <a:avLst/>
          </a:prstGeom>
          <a:solidFill>
            <a:schemeClr val="bg1"/>
          </a:solidFill>
          <a:ln w="9525" algn="ctr">
            <a:solidFill>
              <a:schemeClr val="bg1"/>
            </a:solidFill>
            <a:round/>
            <a:headEnd/>
            <a:tailEnd/>
          </a:ln>
        </p:spPr>
        <p:txBody>
          <a:bodyPr/>
          <a:lstStyle/>
          <a:p>
            <a:endParaRPr lang="en-US"/>
          </a:p>
        </p:txBody>
      </p:sp>
    </p:spTree>
    <p:extLst>
      <p:ext uri="{BB962C8B-B14F-4D97-AF65-F5344CB8AC3E}">
        <p14:creationId xmlns:p14="http://schemas.microsoft.com/office/powerpoint/2010/main" val="25552382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chor="t"/>
          <a:lstStyle/>
          <a:p>
            <a:pPr eaLnBrk="1" hangingPunct="1"/>
            <a:r>
              <a:rPr lang="en-US" smtClean="0"/>
              <a:t>Basic Tree Concepts</a:t>
            </a:r>
          </a:p>
        </p:txBody>
      </p:sp>
      <p:sp>
        <p:nvSpPr>
          <p:cNvPr id="8195" name="Rectangle 3"/>
          <p:cNvSpPr>
            <a:spLocks noGrp="1" noChangeArrowheads="1"/>
          </p:cNvSpPr>
          <p:nvPr>
            <p:ph idx="1"/>
          </p:nvPr>
        </p:nvSpPr>
        <p:spPr/>
        <p:txBody>
          <a:bodyPr/>
          <a:lstStyle/>
          <a:p>
            <a:pPr eaLnBrk="1" hangingPunct="1"/>
            <a:r>
              <a:rPr lang="en-US" smtClean="0"/>
              <a:t>When the branch is directed toward the node, it is </a:t>
            </a:r>
            <a:r>
              <a:rPr lang="en-US" smtClean="0">
                <a:solidFill>
                  <a:srgbClr val="660066"/>
                </a:solidFill>
              </a:rPr>
              <a:t>indegree</a:t>
            </a:r>
            <a:r>
              <a:rPr lang="en-US" smtClean="0"/>
              <a:t> </a:t>
            </a:r>
            <a:r>
              <a:rPr lang="en-US" smtClean="0">
                <a:solidFill>
                  <a:srgbClr val="660066"/>
                </a:solidFill>
              </a:rPr>
              <a:t>branch</a:t>
            </a:r>
            <a:r>
              <a:rPr lang="en-US" smtClean="0"/>
              <a:t>.</a:t>
            </a:r>
          </a:p>
          <a:p>
            <a:pPr eaLnBrk="1" hangingPunct="1"/>
            <a:r>
              <a:rPr lang="en-US" smtClean="0"/>
              <a:t>When the branch is directed away from the node, it is an </a:t>
            </a:r>
            <a:r>
              <a:rPr lang="en-US" smtClean="0">
                <a:solidFill>
                  <a:srgbClr val="660066"/>
                </a:solidFill>
              </a:rPr>
              <a:t>outdegree</a:t>
            </a:r>
            <a:r>
              <a:rPr lang="en-US" smtClean="0"/>
              <a:t> </a:t>
            </a:r>
            <a:r>
              <a:rPr lang="en-US" smtClean="0">
                <a:solidFill>
                  <a:srgbClr val="660066"/>
                </a:solidFill>
              </a:rPr>
              <a:t>branch</a:t>
            </a:r>
            <a:r>
              <a:rPr lang="en-US" smtClean="0"/>
              <a:t>.</a:t>
            </a:r>
          </a:p>
          <a:p>
            <a:pPr eaLnBrk="1" hangingPunct="1"/>
            <a:r>
              <a:rPr lang="en-US" smtClean="0"/>
              <a:t>The sum of the indegree and outdegree branches is the </a:t>
            </a:r>
            <a:r>
              <a:rPr lang="en-US" smtClean="0">
                <a:solidFill>
                  <a:srgbClr val="660066"/>
                </a:solidFill>
              </a:rPr>
              <a:t>degree</a:t>
            </a:r>
            <a:r>
              <a:rPr lang="en-US" smtClean="0"/>
              <a:t> of the node.</a:t>
            </a:r>
          </a:p>
          <a:p>
            <a:pPr eaLnBrk="1" hangingPunct="1"/>
            <a:r>
              <a:rPr lang="en-US" smtClean="0"/>
              <a:t>If the tree is not empty, the first node is called the </a:t>
            </a:r>
            <a:r>
              <a:rPr lang="en-US" smtClean="0">
                <a:solidFill>
                  <a:srgbClr val="660066"/>
                </a:solidFill>
              </a:rPr>
              <a:t>root</a:t>
            </a:r>
            <a:r>
              <a:rPr lang="en-US" smtClean="0"/>
              <a:t>.</a:t>
            </a:r>
          </a:p>
          <a:p>
            <a:pPr eaLnBrk="1" hangingPunct="1">
              <a:buFont typeface="Wingdings" pitchFamily="2" charset="2"/>
              <a:buNone/>
            </a:pPr>
            <a:endParaRPr lang="en-US" smtClean="0"/>
          </a:p>
        </p:txBody>
      </p:sp>
      <p:sp>
        <p:nvSpPr>
          <p:cNvPr id="5" name="Slide Number Placeholder 4"/>
          <p:cNvSpPr>
            <a:spLocks noGrp="1"/>
          </p:cNvSpPr>
          <p:nvPr>
            <p:ph type="sldNum" sz="quarter" idx="12"/>
          </p:nvPr>
        </p:nvSpPr>
        <p:spPr/>
        <p:txBody>
          <a:bodyPr/>
          <a:lstStyle/>
          <a:p>
            <a:pPr>
              <a:defRPr/>
            </a:pPr>
            <a:fld id="{1E891ECD-3325-4D1E-B737-C711FD988516}" type="slidenum">
              <a:rPr lang="en-US"/>
              <a:pPr>
                <a:defRPr/>
              </a:pPr>
              <a:t>7</a:t>
            </a:fld>
            <a:endParaRPr lang="en-US"/>
          </a:p>
        </p:txBody>
      </p:sp>
    </p:spTree>
    <p:extLst>
      <p:ext uri="{BB962C8B-B14F-4D97-AF65-F5344CB8AC3E}">
        <p14:creationId xmlns:p14="http://schemas.microsoft.com/office/powerpoint/2010/main" val="4596243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chor="t"/>
          <a:lstStyle/>
          <a:p>
            <a:pPr eaLnBrk="1" hangingPunct="1"/>
            <a:r>
              <a:rPr lang="en-US" smtClean="0"/>
              <a:t>Basic Tree Concepts</a:t>
            </a:r>
          </a:p>
        </p:txBody>
      </p:sp>
      <p:sp>
        <p:nvSpPr>
          <p:cNvPr id="9219" name="Rectangle 3"/>
          <p:cNvSpPr>
            <a:spLocks noGrp="1" noChangeArrowheads="1"/>
          </p:cNvSpPr>
          <p:nvPr>
            <p:ph idx="1"/>
          </p:nvPr>
        </p:nvSpPr>
        <p:spPr/>
        <p:txBody>
          <a:bodyPr/>
          <a:lstStyle/>
          <a:p>
            <a:pPr eaLnBrk="1" hangingPunct="1"/>
            <a:r>
              <a:rPr lang="en-US" sz="2800" smtClean="0"/>
              <a:t>The indegree of the root is, by definition, zero.</a:t>
            </a:r>
          </a:p>
          <a:p>
            <a:pPr eaLnBrk="1" hangingPunct="1"/>
            <a:r>
              <a:rPr lang="en-US" sz="2800" smtClean="0"/>
              <a:t>With the exception of the root, all of the nodes in a tree must have an indegree of exactly one; that is, they may have only one predecessor.</a:t>
            </a:r>
          </a:p>
          <a:p>
            <a:pPr eaLnBrk="1" hangingPunct="1"/>
            <a:r>
              <a:rPr lang="en-US" sz="2800" smtClean="0"/>
              <a:t>All nodes in the tree can have zero, one, or more branches leaving them; that is, they may have outdegree of zero, one, or more.</a:t>
            </a:r>
          </a:p>
        </p:txBody>
      </p:sp>
      <p:sp>
        <p:nvSpPr>
          <p:cNvPr id="5" name="Slide Number Placeholder 4"/>
          <p:cNvSpPr>
            <a:spLocks noGrp="1"/>
          </p:cNvSpPr>
          <p:nvPr>
            <p:ph type="sldNum" sz="quarter" idx="12"/>
          </p:nvPr>
        </p:nvSpPr>
        <p:spPr/>
        <p:txBody>
          <a:bodyPr/>
          <a:lstStyle/>
          <a:p>
            <a:pPr>
              <a:defRPr/>
            </a:pPr>
            <a:fld id="{0AE4C210-0CAF-4ACA-8243-E9F8CA398DB2}" type="slidenum">
              <a:rPr lang="en-US"/>
              <a:pPr>
                <a:defRPr/>
              </a:pPr>
              <a:t>8</a:t>
            </a:fld>
            <a:endParaRPr lang="en-US"/>
          </a:p>
        </p:txBody>
      </p:sp>
    </p:spTree>
    <p:extLst>
      <p:ext uri="{BB962C8B-B14F-4D97-AF65-F5344CB8AC3E}">
        <p14:creationId xmlns:p14="http://schemas.microsoft.com/office/powerpoint/2010/main" val="6848352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chor="t"/>
          <a:lstStyle/>
          <a:p>
            <a:pPr eaLnBrk="1" hangingPunct="1"/>
            <a:r>
              <a:rPr lang="en-US" smtClean="0"/>
              <a:t>Basic Tree Concepts</a:t>
            </a:r>
          </a:p>
        </p:txBody>
      </p:sp>
      <p:sp>
        <p:nvSpPr>
          <p:cNvPr id="10243" name="Rectangle 3"/>
          <p:cNvSpPr>
            <a:spLocks noGrp="1" noChangeArrowheads="1"/>
          </p:cNvSpPr>
          <p:nvPr>
            <p:ph idx="1"/>
          </p:nvPr>
        </p:nvSpPr>
        <p:spPr>
          <a:xfrm>
            <a:off x="457200" y="1219200"/>
            <a:ext cx="8229600" cy="4906963"/>
          </a:xfrm>
        </p:spPr>
        <p:txBody>
          <a:bodyPr/>
          <a:lstStyle/>
          <a:p>
            <a:pPr eaLnBrk="1" hangingPunct="1"/>
            <a:endParaRPr lang="en-US" dirty="0" smtClean="0"/>
          </a:p>
          <a:p>
            <a:pPr eaLnBrk="1" hangingPunct="1"/>
            <a:r>
              <a:rPr lang="en-US" dirty="0" smtClean="0"/>
              <a:t>A </a:t>
            </a:r>
            <a:r>
              <a:rPr lang="en-US" dirty="0" smtClean="0">
                <a:solidFill>
                  <a:srgbClr val="660066"/>
                </a:solidFill>
              </a:rPr>
              <a:t>leaf</a:t>
            </a:r>
            <a:r>
              <a:rPr lang="en-US" dirty="0" smtClean="0"/>
              <a:t> is any node with an </a:t>
            </a:r>
            <a:r>
              <a:rPr lang="en-US" dirty="0" err="1" smtClean="0"/>
              <a:t>outdegree</a:t>
            </a:r>
            <a:r>
              <a:rPr lang="en-US" dirty="0" smtClean="0"/>
              <a:t> of zero, that is, a node with no successors.</a:t>
            </a:r>
          </a:p>
          <a:p>
            <a:pPr eaLnBrk="1" hangingPunct="1"/>
            <a:r>
              <a:rPr lang="en-US" dirty="0" smtClean="0"/>
              <a:t>A node that is not a root or a leaf is known as an </a:t>
            </a:r>
            <a:r>
              <a:rPr lang="en-US" dirty="0" smtClean="0">
                <a:solidFill>
                  <a:srgbClr val="660066"/>
                </a:solidFill>
              </a:rPr>
              <a:t>internal</a:t>
            </a:r>
            <a:r>
              <a:rPr lang="en-US" dirty="0" smtClean="0"/>
              <a:t> node.</a:t>
            </a:r>
          </a:p>
          <a:p>
            <a:pPr eaLnBrk="1" hangingPunct="1"/>
            <a:r>
              <a:rPr lang="en-US" dirty="0" smtClean="0"/>
              <a:t>A node is a </a:t>
            </a:r>
            <a:r>
              <a:rPr lang="en-US" dirty="0" smtClean="0">
                <a:solidFill>
                  <a:srgbClr val="660066"/>
                </a:solidFill>
              </a:rPr>
              <a:t>parent</a:t>
            </a:r>
            <a:r>
              <a:rPr lang="en-US" dirty="0" smtClean="0"/>
              <a:t> if it has successor nodes; that is, if it has </a:t>
            </a:r>
            <a:r>
              <a:rPr lang="en-US" dirty="0" err="1" smtClean="0"/>
              <a:t>outdegree</a:t>
            </a:r>
            <a:r>
              <a:rPr lang="en-US" dirty="0" smtClean="0"/>
              <a:t> greater than zero.</a:t>
            </a:r>
          </a:p>
          <a:p>
            <a:pPr eaLnBrk="1" hangingPunct="1"/>
            <a:r>
              <a:rPr lang="en-US" dirty="0" smtClean="0"/>
              <a:t>A node with a predecessor is called a </a:t>
            </a:r>
            <a:r>
              <a:rPr lang="en-US" dirty="0" smtClean="0">
                <a:solidFill>
                  <a:srgbClr val="660066"/>
                </a:solidFill>
              </a:rPr>
              <a:t>child</a:t>
            </a:r>
            <a:r>
              <a:rPr lang="en-US" dirty="0" smtClean="0"/>
              <a:t>.</a:t>
            </a:r>
          </a:p>
        </p:txBody>
      </p:sp>
      <p:sp>
        <p:nvSpPr>
          <p:cNvPr id="5" name="Slide Number Placeholder 4"/>
          <p:cNvSpPr>
            <a:spLocks noGrp="1"/>
          </p:cNvSpPr>
          <p:nvPr>
            <p:ph type="sldNum" sz="quarter" idx="12"/>
          </p:nvPr>
        </p:nvSpPr>
        <p:spPr/>
        <p:txBody>
          <a:bodyPr/>
          <a:lstStyle/>
          <a:p>
            <a:pPr>
              <a:defRPr/>
            </a:pPr>
            <a:fld id="{5D45DE83-CFCE-4FF2-BFB5-9E21F7F87CD3}" type="slidenum">
              <a:rPr lang="en-US"/>
              <a:pPr>
                <a:defRPr/>
              </a:pPr>
              <a:t>9</a:t>
            </a:fld>
            <a:endParaRPr lang="en-US"/>
          </a:p>
        </p:txBody>
      </p:sp>
    </p:spTree>
    <p:extLst>
      <p:ext uri="{BB962C8B-B14F-4D97-AF65-F5344CB8AC3E}">
        <p14:creationId xmlns:p14="http://schemas.microsoft.com/office/powerpoint/2010/main" val="10680543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chor="t"/>
          <a:lstStyle/>
          <a:p>
            <a:pPr eaLnBrk="1" hangingPunct="1"/>
            <a:r>
              <a:rPr lang="en-US" smtClean="0"/>
              <a:t>Basic Tree Concepts</a:t>
            </a:r>
          </a:p>
        </p:txBody>
      </p:sp>
      <p:sp>
        <p:nvSpPr>
          <p:cNvPr id="11267" name="Rectangle 3"/>
          <p:cNvSpPr>
            <a:spLocks noGrp="1" noChangeArrowheads="1"/>
          </p:cNvSpPr>
          <p:nvPr>
            <p:ph idx="1"/>
          </p:nvPr>
        </p:nvSpPr>
        <p:spPr>
          <a:xfrm>
            <a:off x="457200" y="1219200"/>
            <a:ext cx="8229600" cy="4906963"/>
          </a:xfrm>
        </p:spPr>
        <p:txBody>
          <a:bodyPr/>
          <a:lstStyle/>
          <a:p>
            <a:pPr eaLnBrk="1" hangingPunct="1"/>
            <a:endParaRPr lang="en-US" dirty="0" smtClean="0"/>
          </a:p>
          <a:p>
            <a:pPr eaLnBrk="1" hangingPunct="1"/>
            <a:endParaRPr lang="en-US" dirty="0"/>
          </a:p>
          <a:p>
            <a:pPr eaLnBrk="1" hangingPunct="1"/>
            <a:r>
              <a:rPr lang="en-US" dirty="0" smtClean="0"/>
              <a:t>Two or more nodes with the same parents are called </a:t>
            </a:r>
            <a:r>
              <a:rPr lang="en-US" dirty="0" smtClean="0">
                <a:solidFill>
                  <a:srgbClr val="660066"/>
                </a:solidFill>
              </a:rPr>
              <a:t>siblings</a:t>
            </a:r>
            <a:r>
              <a:rPr lang="en-US" dirty="0" smtClean="0"/>
              <a:t>.</a:t>
            </a:r>
          </a:p>
          <a:p>
            <a:pPr eaLnBrk="1" hangingPunct="1"/>
            <a:r>
              <a:rPr lang="en-US" dirty="0" smtClean="0"/>
              <a:t>A </a:t>
            </a:r>
            <a:r>
              <a:rPr lang="en-US" dirty="0" smtClean="0">
                <a:solidFill>
                  <a:srgbClr val="660066"/>
                </a:solidFill>
              </a:rPr>
              <a:t>path</a:t>
            </a:r>
            <a:r>
              <a:rPr lang="en-US" dirty="0" smtClean="0"/>
              <a:t> is a sequence of nodes in which each node is adjacent to the next node.</a:t>
            </a:r>
          </a:p>
          <a:p>
            <a:pPr eaLnBrk="1" hangingPunct="1"/>
            <a:r>
              <a:rPr lang="en-US" dirty="0" smtClean="0"/>
              <a:t>The </a:t>
            </a:r>
            <a:r>
              <a:rPr lang="en-US" dirty="0" smtClean="0">
                <a:solidFill>
                  <a:srgbClr val="660066"/>
                </a:solidFill>
              </a:rPr>
              <a:t>level</a:t>
            </a:r>
            <a:r>
              <a:rPr lang="en-US" dirty="0" smtClean="0"/>
              <a:t> of a node is its distance from the root. The root is at level 0, its children are at level 1, etc. …</a:t>
            </a:r>
          </a:p>
        </p:txBody>
      </p:sp>
      <p:sp>
        <p:nvSpPr>
          <p:cNvPr id="5" name="Slide Number Placeholder 4"/>
          <p:cNvSpPr>
            <a:spLocks noGrp="1"/>
          </p:cNvSpPr>
          <p:nvPr>
            <p:ph type="sldNum" sz="quarter" idx="12"/>
          </p:nvPr>
        </p:nvSpPr>
        <p:spPr/>
        <p:txBody>
          <a:bodyPr/>
          <a:lstStyle/>
          <a:p>
            <a:pPr>
              <a:defRPr/>
            </a:pPr>
            <a:fld id="{3DDE711B-9484-458D-80F2-CF0EA540EB34}" type="slidenum">
              <a:rPr lang="en-US"/>
              <a:pPr>
                <a:defRPr/>
              </a:pPr>
              <a:t>10</a:t>
            </a:fld>
            <a:endParaRPr lang="en-US"/>
          </a:p>
        </p:txBody>
      </p:sp>
    </p:spTree>
    <p:extLst>
      <p:ext uri="{BB962C8B-B14F-4D97-AF65-F5344CB8AC3E}">
        <p14:creationId xmlns:p14="http://schemas.microsoft.com/office/powerpoint/2010/main" val="15551800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chor="t"/>
          <a:lstStyle/>
          <a:p>
            <a:pPr eaLnBrk="1" hangingPunct="1"/>
            <a:r>
              <a:rPr lang="en-US" smtClean="0"/>
              <a:t>Basic Tree Concepts</a:t>
            </a:r>
          </a:p>
        </p:txBody>
      </p:sp>
      <p:sp>
        <p:nvSpPr>
          <p:cNvPr id="12291" name="Rectangle 3"/>
          <p:cNvSpPr>
            <a:spLocks noGrp="1" noChangeArrowheads="1"/>
          </p:cNvSpPr>
          <p:nvPr>
            <p:ph idx="1"/>
          </p:nvPr>
        </p:nvSpPr>
        <p:spPr>
          <a:xfrm>
            <a:off x="457200" y="1219200"/>
            <a:ext cx="8229600" cy="4906963"/>
          </a:xfrm>
        </p:spPr>
        <p:txBody>
          <a:bodyPr/>
          <a:lstStyle/>
          <a:p>
            <a:pPr eaLnBrk="1" hangingPunct="1"/>
            <a:endParaRPr lang="en-US" dirty="0" smtClean="0"/>
          </a:p>
          <a:p>
            <a:pPr eaLnBrk="1" hangingPunct="1"/>
            <a:endParaRPr lang="en-US" dirty="0"/>
          </a:p>
          <a:p>
            <a:pPr eaLnBrk="1" hangingPunct="1"/>
            <a:r>
              <a:rPr lang="en-US" dirty="0"/>
              <a:t>The </a:t>
            </a:r>
            <a:r>
              <a:rPr lang="en-US" dirty="0">
                <a:solidFill>
                  <a:srgbClr val="660066"/>
                </a:solidFill>
              </a:rPr>
              <a:t>height</a:t>
            </a:r>
            <a:r>
              <a:rPr lang="en-US" dirty="0"/>
              <a:t> of the tree is </a:t>
            </a:r>
            <a:r>
              <a:rPr lang="en-US" dirty="0" smtClean="0"/>
              <a:t>the level of the leaf in the longest path from the root plus 1. </a:t>
            </a:r>
            <a:r>
              <a:rPr lang="en-US" dirty="0" smtClean="0">
                <a:solidFill>
                  <a:srgbClr val="660066"/>
                </a:solidFill>
              </a:rPr>
              <a:t>By definition</a:t>
            </a:r>
            <a:r>
              <a:rPr lang="en-US" dirty="0" smtClean="0"/>
              <a:t> the height of any empty tree is 1.</a:t>
            </a:r>
          </a:p>
          <a:p>
            <a:pPr eaLnBrk="1" hangingPunct="1"/>
            <a:r>
              <a:rPr lang="en-US" dirty="0" smtClean="0"/>
              <a:t>A </a:t>
            </a:r>
            <a:r>
              <a:rPr lang="en-US" dirty="0" err="1" smtClean="0">
                <a:solidFill>
                  <a:srgbClr val="660066"/>
                </a:solidFill>
              </a:rPr>
              <a:t>subtree</a:t>
            </a:r>
            <a:r>
              <a:rPr lang="en-US" dirty="0" smtClean="0"/>
              <a:t> is any connected structure below the root. The first node in the </a:t>
            </a:r>
            <a:r>
              <a:rPr lang="en-US" dirty="0" err="1" smtClean="0"/>
              <a:t>subtree</a:t>
            </a:r>
            <a:r>
              <a:rPr lang="en-US" dirty="0" smtClean="0"/>
              <a:t> is known is the root of the </a:t>
            </a:r>
            <a:r>
              <a:rPr lang="en-US" dirty="0" err="1" smtClean="0"/>
              <a:t>subtree</a:t>
            </a:r>
            <a:r>
              <a:rPr lang="en-US" dirty="0" smtClean="0"/>
              <a:t>.</a:t>
            </a:r>
          </a:p>
        </p:txBody>
      </p:sp>
      <p:sp>
        <p:nvSpPr>
          <p:cNvPr id="5" name="Slide Number Placeholder 4"/>
          <p:cNvSpPr>
            <a:spLocks noGrp="1"/>
          </p:cNvSpPr>
          <p:nvPr>
            <p:ph type="sldNum" sz="quarter" idx="12"/>
          </p:nvPr>
        </p:nvSpPr>
        <p:spPr/>
        <p:txBody>
          <a:bodyPr/>
          <a:lstStyle/>
          <a:p>
            <a:pPr>
              <a:defRPr/>
            </a:pPr>
            <a:fld id="{CAC0BA48-722E-4CBD-8BA5-B6550E91AC20}" type="slidenum">
              <a:rPr lang="en-US"/>
              <a:pPr>
                <a:defRPr/>
              </a:pPr>
              <a:t>11</a:t>
            </a:fld>
            <a:endParaRPr lang="en-US"/>
          </a:p>
        </p:txBody>
      </p:sp>
    </p:spTree>
    <p:extLst>
      <p:ext uri="{BB962C8B-B14F-4D97-AF65-F5344CB8AC3E}">
        <p14:creationId xmlns:p14="http://schemas.microsoft.com/office/powerpoint/2010/main" val="26452935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2"/>
          </p:nvPr>
        </p:nvSpPr>
        <p:spPr/>
        <p:txBody>
          <a:bodyPr/>
          <a:lstStyle/>
          <a:p>
            <a:pPr>
              <a:defRPr/>
            </a:pPr>
            <a:fld id="{8C86A649-1D9A-4DD4-B0FA-E2BDA44B5F94}" type="slidenum">
              <a:rPr lang="en-US"/>
              <a:pPr>
                <a:defRPr/>
              </a:pPr>
              <a:t>12</a:t>
            </a:fld>
            <a:endParaRPr lang="en-US"/>
          </a:p>
        </p:txBody>
      </p:sp>
      <p:pic>
        <p:nvPicPr>
          <p:cNvPr id="13315" name="Picture 11" descr="Fig06-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806291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3733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2"/>
          </p:nvPr>
        </p:nvSpPr>
        <p:spPr/>
        <p:txBody>
          <a:bodyPr/>
          <a:lstStyle/>
          <a:p>
            <a:pPr>
              <a:defRPr/>
            </a:pPr>
            <a:fld id="{E2D1D207-9392-4B0C-82A2-7E1021D66A97}" type="slidenum">
              <a:rPr lang="en-US"/>
              <a:pPr>
                <a:defRPr/>
              </a:pPr>
              <a:t>13</a:t>
            </a:fld>
            <a:endParaRPr lang="en-US"/>
          </a:p>
        </p:txBody>
      </p:sp>
      <p:pic>
        <p:nvPicPr>
          <p:cNvPr id="14339" name="Picture 11" descr="Fig06-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836771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15422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chor="t"/>
          <a:lstStyle/>
          <a:p>
            <a:pPr eaLnBrk="1" hangingPunct="1"/>
            <a:r>
              <a:rPr lang="en-US" smtClean="0"/>
              <a:t>Binary Trees</a:t>
            </a:r>
          </a:p>
        </p:txBody>
      </p:sp>
      <p:sp>
        <p:nvSpPr>
          <p:cNvPr id="19459" name="Rectangle 3"/>
          <p:cNvSpPr>
            <a:spLocks noGrp="1" noChangeArrowheads="1"/>
          </p:cNvSpPr>
          <p:nvPr>
            <p:ph idx="1"/>
          </p:nvPr>
        </p:nvSpPr>
        <p:spPr/>
        <p:txBody>
          <a:bodyPr/>
          <a:lstStyle/>
          <a:p>
            <a:pPr eaLnBrk="1" hangingPunct="1"/>
            <a:r>
              <a:rPr lang="en-US" dirty="0" smtClean="0"/>
              <a:t>A </a:t>
            </a:r>
            <a:r>
              <a:rPr lang="en-US" b="1" dirty="0" smtClean="0">
                <a:solidFill>
                  <a:schemeClr val="hlink"/>
                </a:solidFill>
              </a:rPr>
              <a:t>binary tree</a:t>
            </a:r>
            <a:r>
              <a:rPr lang="en-US" dirty="0" smtClean="0"/>
              <a:t> is a tree in which no node can have more than two </a:t>
            </a:r>
            <a:r>
              <a:rPr lang="en-US" dirty="0" err="1" smtClean="0"/>
              <a:t>subtrees</a:t>
            </a:r>
            <a:r>
              <a:rPr lang="en-US" dirty="0" smtClean="0"/>
              <a:t>; the maximum </a:t>
            </a:r>
            <a:r>
              <a:rPr lang="en-US" dirty="0" err="1" smtClean="0"/>
              <a:t>outdegree</a:t>
            </a:r>
            <a:r>
              <a:rPr lang="en-US" dirty="0" smtClean="0"/>
              <a:t> for a node is two.</a:t>
            </a:r>
          </a:p>
          <a:p>
            <a:pPr eaLnBrk="1" hangingPunct="1"/>
            <a:r>
              <a:rPr lang="en-US" dirty="0" smtClean="0"/>
              <a:t>In other words, a node can have zero, one, or two </a:t>
            </a:r>
            <a:r>
              <a:rPr lang="en-US" dirty="0" err="1" smtClean="0"/>
              <a:t>subtrees</a:t>
            </a:r>
            <a:r>
              <a:rPr lang="en-US" dirty="0" smtClean="0"/>
              <a:t>.</a:t>
            </a:r>
          </a:p>
          <a:p>
            <a:pPr eaLnBrk="1" hangingPunct="1"/>
            <a:r>
              <a:rPr lang="en-US" dirty="0" smtClean="0"/>
              <a:t>These </a:t>
            </a:r>
            <a:r>
              <a:rPr lang="en-US" dirty="0" err="1" smtClean="0"/>
              <a:t>subtrees</a:t>
            </a:r>
            <a:r>
              <a:rPr lang="en-US" dirty="0" smtClean="0"/>
              <a:t> are designated as the </a:t>
            </a:r>
            <a:r>
              <a:rPr lang="en-US" dirty="0" smtClean="0">
                <a:solidFill>
                  <a:srgbClr val="660066"/>
                </a:solidFill>
              </a:rPr>
              <a:t>left </a:t>
            </a:r>
            <a:r>
              <a:rPr lang="en-US" dirty="0" err="1" smtClean="0">
                <a:solidFill>
                  <a:srgbClr val="660066"/>
                </a:solidFill>
              </a:rPr>
              <a:t>subtree</a:t>
            </a:r>
            <a:r>
              <a:rPr lang="en-US" dirty="0" smtClean="0"/>
              <a:t> and the </a:t>
            </a:r>
            <a:r>
              <a:rPr lang="en-US" dirty="0" smtClean="0">
                <a:solidFill>
                  <a:srgbClr val="660066"/>
                </a:solidFill>
              </a:rPr>
              <a:t>right </a:t>
            </a:r>
            <a:r>
              <a:rPr lang="en-US" dirty="0" err="1" smtClean="0">
                <a:solidFill>
                  <a:srgbClr val="660066"/>
                </a:solidFill>
              </a:rPr>
              <a:t>subtree</a:t>
            </a:r>
            <a:r>
              <a:rPr lang="en-US" dirty="0" smtClean="0"/>
              <a:t>.</a:t>
            </a:r>
          </a:p>
        </p:txBody>
      </p:sp>
      <p:sp>
        <p:nvSpPr>
          <p:cNvPr id="5" name="Slide Number Placeholder 4"/>
          <p:cNvSpPr>
            <a:spLocks noGrp="1"/>
          </p:cNvSpPr>
          <p:nvPr>
            <p:ph type="sldNum" sz="quarter" idx="12"/>
          </p:nvPr>
        </p:nvSpPr>
        <p:spPr/>
        <p:txBody>
          <a:bodyPr/>
          <a:lstStyle/>
          <a:p>
            <a:pPr>
              <a:defRPr/>
            </a:pPr>
            <a:fld id="{416FEDD2-B45D-4EF9-9868-7385DC3B4EB8}" type="slidenum">
              <a:rPr lang="en-US"/>
              <a:pPr>
                <a:defRPr/>
              </a:pPr>
              <a:t>14</a:t>
            </a:fld>
            <a:endParaRPr lang="en-US"/>
          </a:p>
        </p:txBody>
      </p:sp>
    </p:spTree>
    <p:extLst>
      <p:ext uri="{BB962C8B-B14F-4D97-AF65-F5344CB8AC3E}">
        <p14:creationId xmlns:p14="http://schemas.microsoft.com/office/powerpoint/2010/main" val="7363393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2"/>
          </p:nvPr>
        </p:nvSpPr>
        <p:spPr/>
        <p:txBody>
          <a:bodyPr/>
          <a:lstStyle/>
          <a:p>
            <a:pPr>
              <a:defRPr/>
            </a:pPr>
            <a:fld id="{84C52724-A518-4533-A1F0-48F925D8BA47}" type="slidenum">
              <a:rPr lang="en-US"/>
              <a:pPr>
                <a:defRPr/>
              </a:pPr>
              <a:t>15</a:t>
            </a:fld>
            <a:endParaRPr lang="en-US"/>
          </a:p>
        </p:txBody>
      </p:sp>
      <p:pic>
        <p:nvPicPr>
          <p:cNvPr id="20483" name="Picture 11" descr="Fig06-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8458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57602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p:cNvSpPr>
            <a:spLocks noGrp="1"/>
          </p:cNvSpPr>
          <p:nvPr>
            <p:ph type="sldNum" sz="quarter" idx="12"/>
          </p:nvPr>
        </p:nvSpPr>
        <p:spPr/>
        <p:txBody>
          <a:bodyPr/>
          <a:lstStyle/>
          <a:p>
            <a:pPr>
              <a:defRPr/>
            </a:pPr>
            <a:fld id="{50A8D4CD-E053-4BFC-8E17-CD70EF0DD783}" type="slidenum">
              <a:rPr lang="en-US"/>
              <a:pPr>
                <a:defRPr/>
              </a:pPr>
              <a:t>16</a:t>
            </a:fld>
            <a:endParaRPr lang="en-US"/>
          </a:p>
        </p:txBody>
      </p:sp>
      <p:pic>
        <p:nvPicPr>
          <p:cNvPr id="21507" name="Picture 11" descr="Fig06-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04800"/>
            <a:ext cx="8382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 Box 12"/>
          <p:cNvSpPr txBox="1">
            <a:spLocks noChangeArrowheads="1"/>
          </p:cNvSpPr>
          <p:nvPr/>
        </p:nvSpPr>
        <p:spPr bwMode="auto">
          <a:xfrm>
            <a:off x="152400" y="381000"/>
            <a:ext cx="1371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eaLnBrk="0" fontAlgn="base" hangingPunct="0">
              <a:spcBef>
                <a:spcPct val="0"/>
              </a:spcBef>
              <a:spcAft>
                <a:spcPct val="0"/>
              </a:spcAft>
              <a:defRPr sz="2400" b="1">
                <a:solidFill>
                  <a:schemeClr val="tx1"/>
                </a:solidFill>
                <a:latin typeface="Times New Roman" pitchFamily="18" charset="0"/>
              </a:defRPr>
            </a:lvl6pPr>
            <a:lvl7pPr marL="2971800" indent="-228600" eaLnBrk="0" fontAlgn="base" hangingPunct="0">
              <a:spcBef>
                <a:spcPct val="0"/>
              </a:spcBef>
              <a:spcAft>
                <a:spcPct val="0"/>
              </a:spcAft>
              <a:defRPr sz="2400" b="1">
                <a:solidFill>
                  <a:schemeClr val="tx1"/>
                </a:solidFill>
                <a:latin typeface="Times New Roman" pitchFamily="18" charset="0"/>
              </a:defRPr>
            </a:lvl7pPr>
            <a:lvl8pPr marL="3429000" indent="-228600" eaLnBrk="0" fontAlgn="base" hangingPunct="0">
              <a:spcBef>
                <a:spcPct val="0"/>
              </a:spcBef>
              <a:spcAft>
                <a:spcPct val="0"/>
              </a:spcAft>
              <a:defRPr sz="2400" b="1">
                <a:solidFill>
                  <a:schemeClr val="tx1"/>
                </a:solidFill>
                <a:latin typeface="Times New Roman" pitchFamily="18" charset="0"/>
              </a:defRPr>
            </a:lvl8pPr>
            <a:lvl9pPr marL="3886200" indent="-228600" eaLnBrk="0" fontAlgn="base" hangingPunct="0">
              <a:spcBef>
                <a:spcPct val="0"/>
              </a:spcBef>
              <a:spcAft>
                <a:spcPct val="0"/>
              </a:spcAft>
              <a:defRPr sz="2400" b="1">
                <a:solidFill>
                  <a:schemeClr val="tx1"/>
                </a:solidFill>
                <a:latin typeface="Times New Roman" pitchFamily="18" charset="0"/>
              </a:defRPr>
            </a:lvl9pPr>
          </a:lstStyle>
          <a:p>
            <a:pPr>
              <a:spcBef>
                <a:spcPct val="50000"/>
              </a:spcBef>
            </a:pPr>
            <a:r>
              <a:rPr lang="en-US"/>
              <a:t>A </a:t>
            </a:r>
            <a:r>
              <a:rPr lang="en-US">
                <a:solidFill>
                  <a:srgbClr val="660066"/>
                </a:solidFill>
              </a:rPr>
              <a:t>null tree</a:t>
            </a:r>
            <a:r>
              <a:rPr lang="en-US"/>
              <a:t> is a tree with no nodes</a:t>
            </a:r>
          </a:p>
        </p:txBody>
      </p:sp>
      <p:sp>
        <p:nvSpPr>
          <p:cNvPr id="21509" name="AutoShape 13"/>
          <p:cNvSpPr>
            <a:spLocks noChangeArrowheads="1"/>
          </p:cNvSpPr>
          <p:nvPr/>
        </p:nvSpPr>
        <p:spPr bwMode="auto">
          <a:xfrm>
            <a:off x="1524000" y="762000"/>
            <a:ext cx="609600" cy="485775"/>
          </a:xfrm>
          <a:prstGeom prst="rightArrow">
            <a:avLst>
              <a:gd name="adj1" fmla="val 50000"/>
              <a:gd name="adj2" fmla="val 31373"/>
            </a:avLst>
          </a:pr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5021688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chor="t"/>
          <a:lstStyle/>
          <a:p>
            <a:pPr eaLnBrk="1" hangingPunct="1"/>
            <a:r>
              <a:rPr lang="en-US" smtClean="0"/>
              <a:t>Binary Tree Traversal</a:t>
            </a:r>
          </a:p>
        </p:txBody>
      </p:sp>
      <p:sp>
        <p:nvSpPr>
          <p:cNvPr id="26627" name="Rectangle 3"/>
          <p:cNvSpPr>
            <a:spLocks noGrp="1" noChangeArrowheads="1"/>
          </p:cNvSpPr>
          <p:nvPr>
            <p:ph idx="1"/>
          </p:nvPr>
        </p:nvSpPr>
        <p:spPr/>
        <p:txBody>
          <a:bodyPr/>
          <a:lstStyle/>
          <a:p>
            <a:pPr eaLnBrk="1" hangingPunct="1">
              <a:buFont typeface="Wingdings" pitchFamily="2" charset="2"/>
              <a:buNone/>
            </a:pPr>
            <a:r>
              <a:rPr lang="en-US" dirty="0" smtClean="0"/>
              <a:t>A </a:t>
            </a:r>
            <a:r>
              <a:rPr lang="en-US" dirty="0" smtClean="0">
                <a:solidFill>
                  <a:srgbClr val="660066"/>
                </a:solidFill>
              </a:rPr>
              <a:t>binary tree traversal</a:t>
            </a:r>
            <a:r>
              <a:rPr lang="en-US" dirty="0" smtClean="0"/>
              <a:t> requires that each node of the tree be processed once and only once in a predetermined sequence.</a:t>
            </a:r>
          </a:p>
          <a:p>
            <a:pPr eaLnBrk="1" hangingPunct="1">
              <a:buFont typeface="Wingdings" pitchFamily="2" charset="2"/>
              <a:buNone/>
            </a:pPr>
            <a:endParaRPr lang="en-US" dirty="0" smtClean="0"/>
          </a:p>
          <a:p>
            <a:pPr eaLnBrk="1" hangingPunct="1">
              <a:buFont typeface="Wingdings" pitchFamily="2" charset="2"/>
              <a:buChar char="Ø"/>
            </a:pPr>
            <a:r>
              <a:rPr lang="en-US" dirty="0" smtClean="0"/>
              <a:t>Preorder Traversal (PLR)</a:t>
            </a:r>
          </a:p>
          <a:p>
            <a:pPr eaLnBrk="1" hangingPunct="1">
              <a:buFont typeface="Wingdings" pitchFamily="2" charset="2"/>
              <a:buChar char="Ø"/>
            </a:pPr>
            <a:r>
              <a:rPr lang="en-US" dirty="0" err="1" smtClean="0"/>
              <a:t>Inorder</a:t>
            </a:r>
            <a:r>
              <a:rPr lang="en-US" dirty="0" smtClean="0"/>
              <a:t> Traversal (LPR)</a:t>
            </a:r>
          </a:p>
          <a:p>
            <a:pPr eaLnBrk="1" hangingPunct="1">
              <a:buFont typeface="Wingdings" pitchFamily="2" charset="2"/>
              <a:buChar char="Ø"/>
            </a:pPr>
            <a:r>
              <a:rPr lang="en-US" dirty="0" err="1" smtClean="0"/>
              <a:t>Postorder</a:t>
            </a:r>
            <a:r>
              <a:rPr lang="en-US" dirty="0" smtClean="0"/>
              <a:t> Traversal (LRP)</a:t>
            </a:r>
          </a:p>
        </p:txBody>
      </p:sp>
      <p:sp>
        <p:nvSpPr>
          <p:cNvPr id="5" name="Slide Number Placeholder 4"/>
          <p:cNvSpPr>
            <a:spLocks noGrp="1"/>
          </p:cNvSpPr>
          <p:nvPr>
            <p:ph type="sldNum" sz="quarter" idx="12"/>
          </p:nvPr>
        </p:nvSpPr>
        <p:spPr/>
        <p:txBody>
          <a:bodyPr/>
          <a:lstStyle/>
          <a:p>
            <a:pPr>
              <a:defRPr/>
            </a:pPr>
            <a:fld id="{61B815D1-36E8-48E5-9320-CD74864E1B57}" type="slidenum">
              <a:rPr lang="en-US"/>
              <a:pPr>
                <a:defRPr/>
              </a:pPr>
              <a:t>17</a:t>
            </a:fld>
            <a:endParaRPr lang="en-US" dirty="0"/>
          </a:p>
        </p:txBody>
      </p:sp>
    </p:spTree>
    <p:extLst>
      <p:ext uri="{BB962C8B-B14F-4D97-AF65-F5344CB8AC3E}">
        <p14:creationId xmlns:p14="http://schemas.microsoft.com/office/powerpoint/2010/main" val="30972376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2"/>
          </p:nvPr>
        </p:nvSpPr>
        <p:spPr/>
        <p:txBody>
          <a:bodyPr/>
          <a:lstStyle/>
          <a:p>
            <a:pPr>
              <a:defRPr/>
            </a:pPr>
            <a:fld id="{F3A8B1E2-F5F3-49EB-8A6F-031F57AB6EDC}" type="slidenum">
              <a:rPr lang="en-US"/>
              <a:pPr>
                <a:defRPr/>
              </a:pPr>
              <a:t>18</a:t>
            </a:fld>
            <a:endParaRPr lang="en-US"/>
          </a:p>
        </p:txBody>
      </p:sp>
      <p:pic>
        <p:nvPicPr>
          <p:cNvPr id="27651" name="Picture 12" descr="Fig06-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8686800"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22147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990600"/>
            <a:ext cx="8229600" cy="1066800"/>
          </a:xfrm>
        </p:spPr>
        <p:txBody>
          <a:bodyPr/>
          <a:lstStyle/>
          <a:p>
            <a:pPr eaLnBrk="1" hangingPunct="1"/>
            <a:r>
              <a:rPr lang="en-US" dirty="0" smtClean="0"/>
              <a:t>Traversing Binary Trees</a:t>
            </a:r>
          </a:p>
        </p:txBody>
      </p:sp>
      <p:sp>
        <p:nvSpPr>
          <p:cNvPr id="8195" name="Content Placeholder 2"/>
          <p:cNvSpPr>
            <a:spLocks noGrp="1"/>
          </p:cNvSpPr>
          <p:nvPr>
            <p:ph idx="1"/>
          </p:nvPr>
        </p:nvSpPr>
        <p:spPr>
          <a:xfrm>
            <a:off x="381000" y="1981200"/>
            <a:ext cx="8534400" cy="4724400"/>
          </a:xfrm>
        </p:spPr>
        <p:txBody>
          <a:bodyPr/>
          <a:lstStyle/>
          <a:p>
            <a:pPr eaLnBrk="1" hangingPunct="1">
              <a:buFont typeface="Georgia" pitchFamily="18" charset="0"/>
              <a:buNone/>
            </a:pPr>
            <a:r>
              <a:rPr lang="en-US" sz="2000" dirty="0" smtClean="0"/>
              <a:t>	There are three standard ways of traversing a binary tree T with root R are,</a:t>
            </a:r>
            <a:endParaRPr lang="en-US" sz="2000" dirty="0" smtClean="0">
              <a:solidFill>
                <a:schemeClr val="tx1"/>
              </a:solidFill>
            </a:endParaRPr>
          </a:p>
          <a:p>
            <a:pPr lvl="1" eaLnBrk="1" hangingPunct="1">
              <a:buNone/>
            </a:pPr>
            <a:r>
              <a:rPr lang="en-US" sz="2000" b="1" dirty="0" smtClean="0">
                <a:solidFill>
                  <a:schemeClr val="tx1"/>
                </a:solidFill>
              </a:rPr>
              <a:t>Preorder</a:t>
            </a:r>
          </a:p>
          <a:p>
            <a:pPr marL="868362" lvl="1" indent="-457200" eaLnBrk="1" hangingPunct="1">
              <a:buAutoNum type="arabicParenR"/>
            </a:pPr>
            <a:r>
              <a:rPr lang="en-US" sz="2000" dirty="0" smtClean="0">
                <a:solidFill>
                  <a:schemeClr val="tx1"/>
                </a:solidFill>
              </a:rPr>
              <a:t>Process the root R.</a:t>
            </a:r>
          </a:p>
          <a:p>
            <a:pPr marL="868362" lvl="1" indent="-457200" eaLnBrk="1" hangingPunct="1">
              <a:buAutoNum type="arabicParenR"/>
            </a:pPr>
            <a:r>
              <a:rPr lang="en-US" sz="2000" dirty="0" smtClean="0">
                <a:solidFill>
                  <a:schemeClr val="tx1"/>
                </a:solidFill>
              </a:rPr>
              <a:t>Traverse the left </a:t>
            </a:r>
            <a:r>
              <a:rPr lang="en-US" sz="2000" dirty="0" err="1" smtClean="0">
                <a:solidFill>
                  <a:schemeClr val="tx1"/>
                </a:solidFill>
              </a:rPr>
              <a:t>subtree</a:t>
            </a:r>
            <a:r>
              <a:rPr lang="en-US" sz="2000" dirty="0" smtClean="0">
                <a:solidFill>
                  <a:schemeClr val="tx1"/>
                </a:solidFill>
              </a:rPr>
              <a:t> of R in preorder.</a:t>
            </a:r>
          </a:p>
          <a:p>
            <a:pPr marL="868362" lvl="1" indent="-457200" eaLnBrk="1" hangingPunct="1">
              <a:buAutoNum type="arabicParenR"/>
            </a:pPr>
            <a:r>
              <a:rPr lang="en-US" sz="2000" dirty="0" smtClean="0">
                <a:solidFill>
                  <a:schemeClr val="tx1"/>
                </a:solidFill>
              </a:rPr>
              <a:t>Traverse the right </a:t>
            </a:r>
            <a:r>
              <a:rPr lang="en-US" sz="2000" dirty="0" err="1" smtClean="0">
                <a:solidFill>
                  <a:schemeClr val="tx1"/>
                </a:solidFill>
              </a:rPr>
              <a:t>subtree</a:t>
            </a:r>
            <a:r>
              <a:rPr lang="en-US" sz="2000" dirty="0" smtClean="0">
                <a:solidFill>
                  <a:schemeClr val="tx1"/>
                </a:solidFill>
              </a:rPr>
              <a:t> of R in preorder. </a:t>
            </a:r>
          </a:p>
        </p:txBody>
      </p:sp>
      <p:sp>
        <p:nvSpPr>
          <p:cNvPr id="4" name="Oval 3"/>
          <p:cNvSpPr/>
          <p:nvPr/>
        </p:nvSpPr>
        <p:spPr>
          <a:xfrm>
            <a:off x="11430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 name="Oval 4"/>
          <p:cNvSpPr/>
          <p:nvPr/>
        </p:nvSpPr>
        <p:spPr>
          <a:xfrm>
            <a:off x="1752600" y="4267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 name="Oval 5"/>
          <p:cNvSpPr/>
          <p:nvPr/>
        </p:nvSpPr>
        <p:spPr>
          <a:xfrm>
            <a:off x="6858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 name="Oval 6"/>
          <p:cNvSpPr/>
          <p:nvPr/>
        </p:nvSpPr>
        <p:spPr>
          <a:xfrm>
            <a:off x="15240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8" name="Oval 7"/>
          <p:cNvSpPr/>
          <p:nvPr/>
        </p:nvSpPr>
        <p:spPr>
          <a:xfrm>
            <a:off x="23622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9" name="Oval 8"/>
          <p:cNvSpPr/>
          <p:nvPr/>
        </p:nvSpPr>
        <p:spPr>
          <a:xfrm>
            <a:off x="19812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0" name="Oval 9"/>
          <p:cNvSpPr/>
          <p:nvPr/>
        </p:nvSpPr>
        <p:spPr>
          <a:xfrm>
            <a:off x="27432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11" name="Straight Connector 10"/>
          <p:cNvCxnSpPr>
            <a:stCxn id="5" idx="3"/>
            <a:endCxn id="4" idx="7"/>
          </p:cNvCxnSpPr>
          <p:nvPr/>
        </p:nvCxnSpPr>
        <p:spPr>
          <a:xfrm rot="5400000">
            <a:off x="14031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6" idx="0"/>
          </p:cNvCxnSpPr>
          <p:nvPr/>
        </p:nvCxnSpPr>
        <p:spPr>
          <a:xfrm rot="5400000">
            <a:off x="7685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8" idx="1"/>
          </p:cNvCxnSpPr>
          <p:nvPr/>
        </p:nvCxnSpPr>
        <p:spPr>
          <a:xfrm rot="16200000" flipH="1">
            <a:off x="2012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9" idx="0"/>
          </p:cNvCxnSpPr>
          <p:nvPr/>
        </p:nvCxnSpPr>
        <p:spPr>
          <a:xfrm rot="5400000">
            <a:off x="20328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7" idx="0"/>
          </p:cNvCxnSpPr>
          <p:nvPr/>
        </p:nvCxnSpPr>
        <p:spPr>
          <a:xfrm rot="16200000" flipH="1">
            <a:off x="12192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4"/>
          </p:cNvCxnSpPr>
          <p:nvPr/>
        </p:nvCxnSpPr>
        <p:spPr>
          <a:xfrm rot="16200000" flipH="1">
            <a:off x="24629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40386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18" name="Oval 17"/>
          <p:cNvSpPr/>
          <p:nvPr/>
        </p:nvSpPr>
        <p:spPr>
          <a:xfrm>
            <a:off x="4648200" y="4267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19" name="Oval 18"/>
          <p:cNvSpPr/>
          <p:nvPr/>
        </p:nvSpPr>
        <p:spPr>
          <a:xfrm>
            <a:off x="35814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20" name="Oval 19"/>
          <p:cNvSpPr/>
          <p:nvPr/>
        </p:nvSpPr>
        <p:spPr>
          <a:xfrm>
            <a:off x="44196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21" name="Oval 20"/>
          <p:cNvSpPr/>
          <p:nvPr/>
        </p:nvSpPr>
        <p:spPr>
          <a:xfrm>
            <a:off x="52578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2" name="Oval 21"/>
          <p:cNvSpPr/>
          <p:nvPr/>
        </p:nvSpPr>
        <p:spPr>
          <a:xfrm>
            <a:off x="48768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23" name="Oval 22"/>
          <p:cNvSpPr/>
          <p:nvPr/>
        </p:nvSpPr>
        <p:spPr>
          <a:xfrm>
            <a:off x="56388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24" name="Straight Connector 23"/>
          <p:cNvCxnSpPr>
            <a:stCxn id="18" idx="3"/>
            <a:endCxn id="17" idx="7"/>
          </p:cNvCxnSpPr>
          <p:nvPr/>
        </p:nvCxnSpPr>
        <p:spPr>
          <a:xfrm rot="5400000">
            <a:off x="4298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a:endCxn id="19" idx="0"/>
          </p:cNvCxnSpPr>
          <p:nvPr/>
        </p:nvCxnSpPr>
        <p:spPr>
          <a:xfrm rot="5400000">
            <a:off x="36641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8" idx="5"/>
            <a:endCxn id="21" idx="1"/>
          </p:cNvCxnSpPr>
          <p:nvPr/>
        </p:nvCxnSpPr>
        <p:spPr>
          <a:xfrm rot="16200000" flipH="1">
            <a:off x="49083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a:endCxn id="22" idx="0"/>
          </p:cNvCxnSpPr>
          <p:nvPr/>
        </p:nvCxnSpPr>
        <p:spPr>
          <a:xfrm rot="5400000">
            <a:off x="49284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20" idx="0"/>
          </p:cNvCxnSpPr>
          <p:nvPr/>
        </p:nvCxnSpPr>
        <p:spPr>
          <a:xfrm rot="16200000" flipH="1">
            <a:off x="41148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1" idx="4"/>
          </p:cNvCxnSpPr>
          <p:nvPr/>
        </p:nvCxnSpPr>
        <p:spPr>
          <a:xfrm rot="16200000" flipH="1">
            <a:off x="53585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6858000" y="4724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31" name="Oval 30"/>
          <p:cNvSpPr/>
          <p:nvPr/>
        </p:nvSpPr>
        <p:spPr>
          <a:xfrm>
            <a:off x="7467600" y="4114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32" name="Oval 31"/>
          <p:cNvSpPr/>
          <p:nvPr/>
        </p:nvSpPr>
        <p:spPr>
          <a:xfrm>
            <a:off x="6400800" y="5562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33" name="Oval 32"/>
          <p:cNvSpPr/>
          <p:nvPr/>
        </p:nvSpPr>
        <p:spPr>
          <a:xfrm>
            <a:off x="7239000" y="5562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34" name="Oval 33"/>
          <p:cNvSpPr/>
          <p:nvPr/>
        </p:nvSpPr>
        <p:spPr>
          <a:xfrm>
            <a:off x="8077200" y="4724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35" name="Oval 34"/>
          <p:cNvSpPr/>
          <p:nvPr/>
        </p:nvSpPr>
        <p:spPr>
          <a:xfrm>
            <a:off x="7696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36" name="Oval 35"/>
          <p:cNvSpPr/>
          <p:nvPr/>
        </p:nvSpPr>
        <p:spPr>
          <a:xfrm>
            <a:off x="8458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37" name="Straight Connector 36"/>
          <p:cNvCxnSpPr>
            <a:stCxn id="31" idx="3"/>
            <a:endCxn id="30" idx="7"/>
          </p:cNvCxnSpPr>
          <p:nvPr/>
        </p:nvCxnSpPr>
        <p:spPr>
          <a:xfrm rot="5400000">
            <a:off x="71181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p:cNvCxnSpPr>
            <a:endCxn id="32" idx="0"/>
          </p:cNvCxnSpPr>
          <p:nvPr/>
        </p:nvCxnSpPr>
        <p:spPr>
          <a:xfrm rot="5400000">
            <a:off x="6483537" y="5098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1" idx="5"/>
            <a:endCxn id="34" idx="1"/>
          </p:cNvCxnSpPr>
          <p:nvPr/>
        </p:nvCxnSpPr>
        <p:spPr>
          <a:xfrm rot="16200000" flipH="1">
            <a:off x="77277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p:cNvCxnSpPr>
            <a:endCxn id="35" idx="0"/>
          </p:cNvCxnSpPr>
          <p:nvPr/>
        </p:nvCxnSpPr>
        <p:spPr>
          <a:xfrm rot="5400000">
            <a:off x="7747871" y="5115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3" idx="0"/>
          </p:cNvCxnSpPr>
          <p:nvPr/>
        </p:nvCxnSpPr>
        <p:spPr>
          <a:xfrm rot="16200000" flipH="1">
            <a:off x="6934200" y="5105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4" idx="4"/>
          </p:cNvCxnSpPr>
          <p:nvPr/>
        </p:nvCxnSpPr>
        <p:spPr>
          <a:xfrm rot="16200000" flipH="1">
            <a:off x="8177930" y="5080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Right Arrow 42"/>
          <p:cNvSpPr/>
          <p:nvPr/>
        </p:nvSpPr>
        <p:spPr>
          <a:xfrm>
            <a:off x="2971800" y="4572000"/>
            <a:ext cx="609600" cy="838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p:cNvSpPr/>
          <p:nvPr/>
        </p:nvSpPr>
        <p:spPr>
          <a:xfrm>
            <a:off x="5867400" y="4572000"/>
            <a:ext cx="609600" cy="838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990600"/>
            <a:ext cx="8229600" cy="1066800"/>
          </a:xfrm>
        </p:spPr>
        <p:txBody>
          <a:bodyPr/>
          <a:lstStyle/>
          <a:p>
            <a:pPr eaLnBrk="1" hangingPunct="1"/>
            <a:r>
              <a:rPr lang="en-US" dirty="0" smtClean="0"/>
              <a:t>Traversing Binary Trees</a:t>
            </a:r>
          </a:p>
        </p:txBody>
      </p:sp>
      <p:sp>
        <p:nvSpPr>
          <p:cNvPr id="8195" name="Content Placeholder 2"/>
          <p:cNvSpPr>
            <a:spLocks noGrp="1"/>
          </p:cNvSpPr>
          <p:nvPr>
            <p:ph idx="1"/>
          </p:nvPr>
        </p:nvSpPr>
        <p:spPr>
          <a:xfrm>
            <a:off x="381000" y="1981200"/>
            <a:ext cx="8534400" cy="4724400"/>
          </a:xfrm>
        </p:spPr>
        <p:txBody>
          <a:bodyPr/>
          <a:lstStyle/>
          <a:p>
            <a:pPr eaLnBrk="1" hangingPunct="1">
              <a:buFont typeface="Georgia" pitchFamily="18" charset="0"/>
              <a:buNone/>
            </a:pPr>
            <a:r>
              <a:rPr lang="en-US" sz="2000" dirty="0" smtClean="0">
                <a:solidFill>
                  <a:schemeClr val="tx1"/>
                </a:solidFill>
              </a:rPr>
              <a:t> </a:t>
            </a:r>
          </a:p>
          <a:p>
            <a:pPr eaLnBrk="1" hangingPunct="1">
              <a:buFont typeface="Georgia" pitchFamily="18" charset="0"/>
              <a:buNone/>
            </a:pPr>
            <a:endParaRPr lang="en-US" sz="2000" dirty="0" smtClean="0"/>
          </a:p>
          <a:p>
            <a:pPr eaLnBrk="1" hangingPunct="1">
              <a:buFont typeface="Georgia" pitchFamily="18" charset="0"/>
              <a:buNone/>
            </a:pPr>
            <a:endParaRPr lang="en-US" sz="2000" dirty="0" smtClean="0">
              <a:solidFill>
                <a:schemeClr val="tx1"/>
              </a:solidFill>
            </a:endParaRPr>
          </a:p>
          <a:p>
            <a:pPr eaLnBrk="1" hangingPunct="1">
              <a:buFont typeface="Georgia" pitchFamily="18" charset="0"/>
              <a:buNone/>
            </a:pPr>
            <a:endParaRPr lang="en-US" sz="2000" dirty="0" smtClean="0"/>
          </a:p>
          <a:p>
            <a:pPr eaLnBrk="1" hangingPunct="1">
              <a:buFont typeface="Georgia" pitchFamily="18" charset="0"/>
              <a:buNone/>
            </a:pPr>
            <a:endParaRPr lang="en-US" sz="2000" dirty="0" smtClean="0">
              <a:solidFill>
                <a:schemeClr val="tx1"/>
              </a:solidFill>
            </a:endParaRPr>
          </a:p>
          <a:p>
            <a:pPr eaLnBrk="1" hangingPunct="1">
              <a:buFont typeface="Georgia" pitchFamily="18" charset="0"/>
              <a:buNone/>
            </a:pPr>
            <a:endParaRPr lang="en-US" sz="2000" dirty="0" smtClean="0"/>
          </a:p>
          <a:p>
            <a:pPr eaLnBrk="1" hangingPunct="1">
              <a:buFont typeface="Georgia" pitchFamily="18" charset="0"/>
              <a:buNone/>
            </a:pPr>
            <a:r>
              <a:rPr lang="en-US" sz="2000" dirty="0" smtClean="0">
                <a:solidFill>
                  <a:schemeClr val="tx1"/>
                </a:solidFill>
              </a:rPr>
              <a:t>				</a:t>
            </a:r>
          </a:p>
          <a:p>
            <a:pPr eaLnBrk="1" hangingPunct="1">
              <a:buFont typeface="Georgia" pitchFamily="18" charset="0"/>
              <a:buNone/>
            </a:pPr>
            <a:r>
              <a:rPr lang="en-US" sz="2000" b="1" dirty="0" smtClean="0"/>
              <a:t>				Preorder:</a:t>
            </a:r>
            <a:r>
              <a:rPr lang="en-US" sz="2000" dirty="0" smtClean="0"/>
              <a:t> A B D E C F G</a:t>
            </a:r>
            <a:endParaRPr lang="en-US" sz="2000" dirty="0" smtClean="0">
              <a:solidFill>
                <a:schemeClr val="tx1"/>
              </a:solidFill>
            </a:endParaRPr>
          </a:p>
        </p:txBody>
      </p:sp>
      <p:sp>
        <p:nvSpPr>
          <p:cNvPr id="4" name="Oval 3"/>
          <p:cNvSpPr/>
          <p:nvPr/>
        </p:nvSpPr>
        <p:spPr>
          <a:xfrm>
            <a:off x="11430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 name="Oval 4"/>
          <p:cNvSpPr/>
          <p:nvPr/>
        </p:nvSpPr>
        <p:spPr>
          <a:xfrm>
            <a:off x="1752600" y="4267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 name="Oval 5"/>
          <p:cNvSpPr/>
          <p:nvPr/>
        </p:nvSpPr>
        <p:spPr>
          <a:xfrm>
            <a:off x="6858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 name="Oval 6"/>
          <p:cNvSpPr/>
          <p:nvPr/>
        </p:nvSpPr>
        <p:spPr>
          <a:xfrm>
            <a:off x="15240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8" name="Oval 7"/>
          <p:cNvSpPr/>
          <p:nvPr/>
        </p:nvSpPr>
        <p:spPr>
          <a:xfrm>
            <a:off x="23622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9" name="Oval 8"/>
          <p:cNvSpPr/>
          <p:nvPr/>
        </p:nvSpPr>
        <p:spPr>
          <a:xfrm>
            <a:off x="1981200" y="56868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0" name="Oval 9"/>
          <p:cNvSpPr/>
          <p:nvPr/>
        </p:nvSpPr>
        <p:spPr>
          <a:xfrm>
            <a:off x="2743200" y="56868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11" name="Straight Connector 10"/>
          <p:cNvCxnSpPr>
            <a:stCxn id="5" idx="3"/>
            <a:endCxn id="4" idx="7"/>
          </p:cNvCxnSpPr>
          <p:nvPr/>
        </p:nvCxnSpPr>
        <p:spPr>
          <a:xfrm rot="5400000">
            <a:off x="14031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6" idx="0"/>
          </p:cNvCxnSpPr>
          <p:nvPr/>
        </p:nvCxnSpPr>
        <p:spPr>
          <a:xfrm rot="5400000">
            <a:off x="7685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8" idx="1"/>
          </p:cNvCxnSpPr>
          <p:nvPr/>
        </p:nvCxnSpPr>
        <p:spPr>
          <a:xfrm rot="16200000" flipH="1">
            <a:off x="2012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9" idx="0"/>
          </p:cNvCxnSpPr>
          <p:nvPr/>
        </p:nvCxnSpPr>
        <p:spPr>
          <a:xfrm rot="5400000">
            <a:off x="20328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7" idx="0"/>
          </p:cNvCxnSpPr>
          <p:nvPr/>
        </p:nvCxnSpPr>
        <p:spPr>
          <a:xfrm rot="16200000" flipH="1">
            <a:off x="12192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4"/>
          </p:cNvCxnSpPr>
          <p:nvPr/>
        </p:nvCxnSpPr>
        <p:spPr>
          <a:xfrm rot="16200000" flipH="1">
            <a:off x="24629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1066800" y="2895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44" name="Oval 43"/>
          <p:cNvSpPr/>
          <p:nvPr/>
        </p:nvSpPr>
        <p:spPr>
          <a:xfrm>
            <a:off x="1676400" y="2286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45" name="Oval 44"/>
          <p:cNvSpPr/>
          <p:nvPr/>
        </p:nvSpPr>
        <p:spPr>
          <a:xfrm>
            <a:off x="609600" y="3733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46" name="Oval 45"/>
          <p:cNvSpPr/>
          <p:nvPr/>
        </p:nvSpPr>
        <p:spPr>
          <a:xfrm>
            <a:off x="2286000" y="2895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47" name="Oval 46"/>
          <p:cNvSpPr/>
          <p:nvPr/>
        </p:nvSpPr>
        <p:spPr>
          <a:xfrm>
            <a:off x="1905000" y="37056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48" name="Oval 47"/>
          <p:cNvSpPr/>
          <p:nvPr/>
        </p:nvSpPr>
        <p:spPr>
          <a:xfrm>
            <a:off x="2667000" y="37056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49" name="Straight Connector 48"/>
          <p:cNvCxnSpPr>
            <a:stCxn id="44" idx="3"/>
            <a:endCxn id="43" idx="7"/>
          </p:cNvCxnSpPr>
          <p:nvPr/>
        </p:nvCxnSpPr>
        <p:spPr>
          <a:xfrm rot="5400000">
            <a:off x="1326963" y="25461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45" idx="0"/>
          </p:cNvCxnSpPr>
          <p:nvPr/>
        </p:nvCxnSpPr>
        <p:spPr>
          <a:xfrm rot="5400000">
            <a:off x="692337" y="32700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a:endCxn id="47" idx="0"/>
          </p:cNvCxnSpPr>
          <p:nvPr/>
        </p:nvCxnSpPr>
        <p:spPr>
          <a:xfrm rot="5400000">
            <a:off x="1956671" y="32870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H="1">
            <a:off x="1143000" y="32766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6" idx="4"/>
          </p:cNvCxnSpPr>
          <p:nvPr/>
        </p:nvCxnSpPr>
        <p:spPr>
          <a:xfrm rot="16200000" flipH="1">
            <a:off x="2386730" y="32520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1524000" y="37022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57" name="Straight Connector 56"/>
          <p:cNvCxnSpPr/>
          <p:nvPr/>
        </p:nvCxnSpPr>
        <p:spPr>
          <a:xfrm rot="16200000" flipH="1">
            <a:off x="1968126" y="25146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Oval 57"/>
          <p:cNvSpPr/>
          <p:nvPr/>
        </p:nvSpPr>
        <p:spPr>
          <a:xfrm>
            <a:off x="3657600" y="2819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9" name="Oval 58"/>
          <p:cNvSpPr/>
          <p:nvPr/>
        </p:nvSpPr>
        <p:spPr>
          <a:xfrm>
            <a:off x="4267200" y="2209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0" name="Oval 59"/>
          <p:cNvSpPr/>
          <p:nvPr/>
        </p:nvSpPr>
        <p:spPr>
          <a:xfrm>
            <a:off x="3200400" y="3657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61" name="Oval 60"/>
          <p:cNvSpPr/>
          <p:nvPr/>
        </p:nvSpPr>
        <p:spPr>
          <a:xfrm>
            <a:off x="4876800" y="2819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62" name="Oval 61"/>
          <p:cNvSpPr/>
          <p:nvPr/>
        </p:nvSpPr>
        <p:spPr>
          <a:xfrm>
            <a:off x="4495800" y="3629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63" name="Oval 62"/>
          <p:cNvSpPr/>
          <p:nvPr/>
        </p:nvSpPr>
        <p:spPr>
          <a:xfrm>
            <a:off x="5257800" y="3629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64" name="Straight Connector 63"/>
          <p:cNvCxnSpPr>
            <a:stCxn id="59" idx="3"/>
            <a:endCxn id="58" idx="7"/>
          </p:cNvCxnSpPr>
          <p:nvPr/>
        </p:nvCxnSpPr>
        <p:spPr>
          <a:xfrm rot="5400000">
            <a:off x="3917763" y="2469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Straight Connector 64"/>
          <p:cNvCxnSpPr>
            <a:endCxn id="60" idx="0"/>
          </p:cNvCxnSpPr>
          <p:nvPr/>
        </p:nvCxnSpPr>
        <p:spPr>
          <a:xfrm rot="5400000">
            <a:off x="3283137" y="3193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Straight Connector 65"/>
          <p:cNvCxnSpPr>
            <a:endCxn id="62" idx="0"/>
          </p:cNvCxnSpPr>
          <p:nvPr/>
        </p:nvCxnSpPr>
        <p:spPr>
          <a:xfrm rot="5400000">
            <a:off x="4547471" y="3210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16200000" flipH="1">
            <a:off x="3733800" y="3200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61" idx="4"/>
          </p:cNvCxnSpPr>
          <p:nvPr/>
        </p:nvCxnSpPr>
        <p:spPr>
          <a:xfrm rot="16200000" flipH="1">
            <a:off x="4977530" y="3175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114800" y="36260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70" name="Straight Connector 69"/>
          <p:cNvCxnSpPr/>
          <p:nvPr/>
        </p:nvCxnSpPr>
        <p:spPr>
          <a:xfrm rot="16200000" flipH="1">
            <a:off x="4558926" y="24384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6629400" y="2743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72" name="Oval 71"/>
          <p:cNvSpPr/>
          <p:nvPr/>
        </p:nvSpPr>
        <p:spPr>
          <a:xfrm>
            <a:off x="7239000" y="2133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73" name="Oval 72"/>
          <p:cNvSpPr/>
          <p:nvPr/>
        </p:nvSpPr>
        <p:spPr>
          <a:xfrm>
            <a:off x="6172200" y="3581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4" name="Oval 73"/>
          <p:cNvSpPr/>
          <p:nvPr/>
        </p:nvSpPr>
        <p:spPr>
          <a:xfrm>
            <a:off x="7848600" y="2743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75" name="Oval 74"/>
          <p:cNvSpPr/>
          <p:nvPr/>
        </p:nvSpPr>
        <p:spPr>
          <a:xfrm>
            <a:off x="7467600" y="35532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76" name="Oval 75"/>
          <p:cNvSpPr/>
          <p:nvPr/>
        </p:nvSpPr>
        <p:spPr>
          <a:xfrm>
            <a:off x="8229600" y="35532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77" name="Straight Connector 76"/>
          <p:cNvCxnSpPr>
            <a:stCxn id="72" idx="3"/>
            <a:endCxn id="71" idx="7"/>
          </p:cNvCxnSpPr>
          <p:nvPr/>
        </p:nvCxnSpPr>
        <p:spPr>
          <a:xfrm rot="5400000">
            <a:off x="6889563" y="23937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Straight Connector 77"/>
          <p:cNvCxnSpPr>
            <a:endCxn id="73" idx="0"/>
          </p:cNvCxnSpPr>
          <p:nvPr/>
        </p:nvCxnSpPr>
        <p:spPr>
          <a:xfrm rot="5400000">
            <a:off x="6254937" y="31176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Straight Connector 78"/>
          <p:cNvCxnSpPr>
            <a:endCxn id="75" idx="0"/>
          </p:cNvCxnSpPr>
          <p:nvPr/>
        </p:nvCxnSpPr>
        <p:spPr>
          <a:xfrm rot="5400000">
            <a:off x="7519271" y="31346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16200000" flipH="1">
            <a:off x="6705600" y="31242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74" idx="4"/>
          </p:cNvCxnSpPr>
          <p:nvPr/>
        </p:nvCxnSpPr>
        <p:spPr>
          <a:xfrm rot="16200000" flipH="1">
            <a:off x="7949330" y="30996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7086600" y="35498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83" name="Straight Connector 82"/>
          <p:cNvCxnSpPr/>
          <p:nvPr/>
        </p:nvCxnSpPr>
        <p:spPr>
          <a:xfrm rot="16200000" flipH="1">
            <a:off x="7530726" y="23622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4" name="Right Arrow 83"/>
          <p:cNvSpPr/>
          <p:nvPr/>
        </p:nvSpPr>
        <p:spPr>
          <a:xfrm>
            <a:off x="2819400" y="2514600"/>
            <a:ext cx="45720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ight Arrow 84"/>
          <p:cNvSpPr/>
          <p:nvPr/>
        </p:nvSpPr>
        <p:spPr>
          <a:xfrm>
            <a:off x="5638800" y="2514600"/>
            <a:ext cx="45720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ight Arrow 85"/>
          <p:cNvSpPr/>
          <p:nvPr/>
        </p:nvSpPr>
        <p:spPr>
          <a:xfrm>
            <a:off x="8382000" y="2514600"/>
            <a:ext cx="45720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990600"/>
            <a:ext cx="8229600" cy="1066800"/>
          </a:xfrm>
        </p:spPr>
        <p:txBody>
          <a:bodyPr/>
          <a:lstStyle/>
          <a:p>
            <a:pPr eaLnBrk="1" hangingPunct="1"/>
            <a:r>
              <a:rPr lang="en-US" dirty="0" smtClean="0"/>
              <a:t>Traversing Binary Trees</a:t>
            </a:r>
          </a:p>
        </p:txBody>
      </p:sp>
      <p:sp>
        <p:nvSpPr>
          <p:cNvPr id="8195" name="Content Placeholder 2"/>
          <p:cNvSpPr>
            <a:spLocks noGrp="1"/>
          </p:cNvSpPr>
          <p:nvPr>
            <p:ph idx="1"/>
          </p:nvPr>
        </p:nvSpPr>
        <p:spPr>
          <a:xfrm>
            <a:off x="381000" y="1981200"/>
            <a:ext cx="8534400" cy="4724400"/>
          </a:xfrm>
        </p:spPr>
        <p:txBody>
          <a:bodyPr/>
          <a:lstStyle/>
          <a:p>
            <a:pPr eaLnBrk="1" hangingPunct="1">
              <a:buFont typeface="Georgia" pitchFamily="18" charset="0"/>
              <a:buNone/>
            </a:pPr>
            <a:r>
              <a:rPr lang="en-US" sz="2000" dirty="0" smtClean="0"/>
              <a:t>	</a:t>
            </a:r>
            <a:r>
              <a:rPr lang="en-US" sz="2000" b="1" dirty="0" err="1" smtClean="0">
                <a:solidFill>
                  <a:schemeClr val="tx1"/>
                </a:solidFill>
              </a:rPr>
              <a:t>Inorder</a:t>
            </a:r>
            <a:endParaRPr lang="en-US" sz="2000" dirty="0" smtClean="0">
              <a:solidFill>
                <a:schemeClr val="tx1"/>
              </a:solidFill>
            </a:endParaRPr>
          </a:p>
          <a:p>
            <a:pPr marL="868362" lvl="1" indent="-457200" eaLnBrk="1" hangingPunct="1">
              <a:buFont typeface="Georgia" pitchFamily="18" charset="0"/>
              <a:buAutoNum type="arabicParenR"/>
            </a:pPr>
            <a:r>
              <a:rPr lang="en-US" sz="2000" dirty="0" smtClean="0">
                <a:solidFill>
                  <a:schemeClr val="tx1"/>
                </a:solidFill>
              </a:rPr>
              <a:t>Traverse the left </a:t>
            </a:r>
            <a:r>
              <a:rPr lang="en-US" sz="2000" dirty="0" err="1" smtClean="0">
                <a:solidFill>
                  <a:schemeClr val="tx1"/>
                </a:solidFill>
              </a:rPr>
              <a:t>subtree</a:t>
            </a:r>
            <a:r>
              <a:rPr lang="en-US" sz="2000" dirty="0" smtClean="0">
                <a:solidFill>
                  <a:schemeClr val="tx1"/>
                </a:solidFill>
              </a:rPr>
              <a:t> of R in </a:t>
            </a:r>
            <a:r>
              <a:rPr lang="en-US" sz="2000" dirty="0" err="1" smtClean="0">
                <a:solidFill>
                  <a:schemeClr val="tx1"/>
                </a:solidFill>
              </a:rPr>
              <a:t>inorder</a:t>
            </a:r>
            <a:r>
              <a:rPr lang="en-US" sz="2000" dirty="0" smtClean="0">
                <a:solidFill>
                  <a:schemeClr val="tx1"/>
                </a:solidFill>
              </a:rPr>
              <a:t>.</a:t>
            </a:r>
          </a:p>
          <a:p>
            <a:pPr marL="868362" lvl="1" indent="-457200" eaLnBrk="1" hangingPunct="1">
              <a:buAutoNum type="arabicParenR"/>
            </a:pPr>
            <a:r>
              <a:rPr lang="en-US" sz="2000" dirty="0" smtClean="0">
                <a:solidFill>
                  <a:schemeClr val="tx1"/>
                </a:solidFill>
              </a:rPr>
              <a:t>Process the root R.</a:t>
            </a:r>
          </a:p>
          <a:p>
            <a:pPr marL="868362" lvl="1" indent="-457200" eaLnBrk="1" hangingPunct="1">
              <a:buAutoNum type="arabicParenR"/>
            </a:pPr>
            <a:r>
              <a:rPr lang="en-US" sz="2000" dirty="0" smtClean="0">
                <a:solidFill>
                  <a:schemeClr val="tx1"/>
                </a:solidFill>
              </a:rPr>
              <a:t>Traverse the right </a:t>
            </a:r>
            <a:r>
              <a:rPr lang="en-US" sz="2000" dirty="0" err="1" smtClean="0">
                <a:solidFill>
                  <a:schemeClr val="tx1"/>
                </a:solidFill>
              </a:rPr>
              <a:t>subtree</a:t>
            </a:r>
            <a:r>
              <a:rPr lang="en-US" sz="2000" dirty="0" smtClean="0">
                <a:solidFill>
                  <a:schemeClr val="tx1"/>
                </a:solidFill>
              </a:rPr>
              <a:t> of R in </a:t>
            </a:r>
            <a:r>
              <a:rPr lang="en-US" sz="2000" dirty="0" err="1" smtClean="0">
                <a:solidFill>
                  <a:schemeClr val="tx1"/>
                </a:solidFill>
              </a:rPr>
              <a:t>inorder</a:t>
            </a:r>
            <a:r>
              <a:rPr lang="en-US" sz="2000" dirty="0" smtClean="0">
                <a:solidFill>
                  <a:schemeClr val="tx1"/>
                </a:solidFill>
              </a:rPr>
              <a:t>. </a:t>
            </a:r>
          </a:p>
        </p:txBody>
      </p:sp>
      <p:sp>
        <p:nvSpPr>
          <p:cNvPr id="4" name="Oval 3"/>
          <p:cNvSpPr/>
          <p:nvPr/>
        </p:nvSpPr>
        <p:spPr>
          <a:xfrm>
            <a:off x="11430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 name="Oval 4"/>
          <p:cNvSpPr/>
          <p:nvPr/>
        </p:nvSpPr>
        <p:spPr>
          <a:xfrm>
            <a:off x="1752600" y="42672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 name="Oval 5"/>
          <p:cNvSpPr/>
          <p:nvPr/>
        </p:nvSpPr>
        <p:spPr>
          <a:xfrm>
            <a:off x="6858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 name="Oval 6"/>
          <p:cNvSpPr/>
          <p:nvPr/>
        </p:nvSpPr>
        <p:spPr>
          <a:xfrm>
            <a:off x="15240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8" name="Oval 7"/>
          <p:cNvSpPr/>
          <p:nvPr/>
        </p:nvSpPr>
        <p:spPr>
          <a:xfrm>
            <a:off x="23622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9" name="Oval 8"/>
          <p:cNvSpPr/>
          <p:nvPr/>
        </p:nvSpPr>
        <p:spPr>
          <a:xfrm>
            <a:off x="19812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0" name="Oval 9"/>
          <p:cNvSpPr/>
          <p:nvPr/>
        </p:nvSpPr>
        <p:spPr>
          <a:xfrm>
            <a:off x="27432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11" name="Straight Connector 10"/>
          <p:cNvCxnSpPr>
            <a:stCxn id="5" idx="3"/>
            <a:endCxn id="4" idx="7"/>
          </p:cNvCxnSpPr>
          <p:nvPr/>
        </p:nvCxnSpPr>
        <p:spPr>
          <a:xfrm rot="5400000">
            <a:off x="14031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6" idx="0"/>
          </p:cNvCxnSpPr>
          <p:nvPr/>
        </p:nvCxnSpPr>
        <p:spPr>
          <a:xfrm rot="5400000">
            <a:off x="7685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8" idx="1"/>
          </p:cNvCxnSpPr>
          <p:nvPr/>
        </p:nvCxnSpPr>
        <p:spPr>
          <a:xfrm rot="16200000" flipH="1">
            <a:off x="2012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9" idx="0"/>
          </p:cNvCxnSpPr>
          <p:nvPr/>
        </p:nvCxnSpPr>
        <p:spPr>
          <a:xfrm rot="5400000">
            <a:off x="20328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7" idx="0"/>
          </p:cNvCxnSpPr>
          <p:nvPr/>
        </p:nvCxnSpPr>
        <p:spPr>
          <a:xfrm rot="16200000" flipH="1">
            <a:off x="12192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4"/>
          </p:cNvCxnSpPr>
          <p:nvPr/>
        </p:nvCxnSpPr>
        <p:spPr>
          <a:xfrm rot="16200000" flipH="1">
            <a:off x="24629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40386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18" name="Oval 17"/>
          <p:cNvSpPr/>
          <p:nvPr/>
        </p:nvSpPr>
        <p:spPr>
          <a:xfrm>
            <a:off x="4648200" y="42672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19" name="Oval 18"/>
          <p:cNvSpPr/>
          <p:nvPr/>
        </p:nvSpPr>
        <p:spPr>
          <a:xfrm>
            <a:off x="35814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20" name="Oval 19"/>
          <p:cNvSpPr/>
          <p:nvPr/>
        </p:nvSpPr>
        <p:spPr>
          <a:xfrm>
            <a:off x="44196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21" name="Oval 20"/>
          <p:cNvSpPr/>
          <p:nvPr/>
        </p:nvSpPr>
        <p:spPr>
          <a:xfrm>
            <a:off x="52578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2" name="Oval 21"/>
          <p:cNvSpPr/>
          <p:nvPr/>
        </p:nvSpPr>
        <p:spPr>
          <a:xfrm>
            <a:off x="48768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23" name="Oval 22"/>
          <p:cNvSpPr/>
          <p:nvPr/>
        </p:nvSpPr>
        <p:spPr>
          <a:xfrm>
            <a:off x="56388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24" name="Straight Connector 23"/>
          <p:cNvCxnSpPr>
            <a:stCxn id="18" idx="3"/>
            <a:endCxn id="17" idx="7"/>
          </p:cNvCxnSpPr>
          <p:nvPr/>
        </p:nvCxnSpPr>
        <p:spPr>
          <a:xfrm rot="5400000">
            <a:off x="4298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a:endCxn id="19" idx="0"/>
          </p:cNvCxnSpPr>
          <p:nvPr/>
        </p:nvCxnSpPr>
        <p:spPr>
          <a:xfrm rot="5400000">
            <a:off x="36641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8" idx="5"/>
            <a:endCxn id="21" idx="1"/>
          </p:cNvCxnSpPr>
          <p:nvPr/>
        </p:nvCxnSpPr>
        <p:spPr>
          <a:xfrm rot="16200000" flipH="1">
            <a:off x="49083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a:endCxn id="22" idx="0"/>
          </p:cNvCxnSpPr>
          <p:nvPr/>
        </p:nvCxnSpPr>
        <p:spPr>
          <a:xfrm rot="5400000">
            <a:off x="49284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20" idx="0"/>
          </p:cNvCxnSpPr>
          <p:nvPr/>
        </p:nvCxnSpPr>
        <p:spPr>
          <a:xfrm rot="16200000" flipH="1">
            <a:off x="41148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1" idx="4"/>
          </p:cNvCxnSpPr>
          <p:nvPr/>
        </p:nvCxnSpPr>
        <p:spPr>
          <a:xfrm rot="16200000" flipH="1">
            <a:off x="53585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6858000" y="4724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31" name="Oval 30"/>
          <p:cNvSpPr/>
          <p:nvPr/>
        </p:nvSpPr>
        <p:spPr>
          <a:xfrm>
            <a:off x="7467600" y="4114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32" name="Oval 31"/>
          <p:cNvSpPr/>
          <p:nvPr/>
        </p:nvSpPr>
        <p:spPr>
          <a:xfrm>
            <a:off x="6400800" y="5562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33" name="Oval 32"/>
          <p:cNvSpPr/>
          <p:nvPr/>
        </p:nvSpPr>
        <p:spPr>
          <a:xfrm>
            <a:off x="7239000" y="5562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34" name="Oval 33"/>
          <p:cNvSpPr/>
          <p:nvPr/>
        </p:nvSpPr>
        <p:spPr>
          <a:xfrm>
            <a:off x="8077200" y="4724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35" name="Oval 34"/>
          <p:cNvSpPr/>
          <p:nvPr/>
        </p:nvSpPr>
        <p:spPr>
          <a:xfrm>
            <a:off x="7696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36" name="Oval 35"/>
          <p:cNvSpPr/>
          <p:nvPr/>
        </p:nvSpPr>
        <p:spPr>
          <a:xfrm>
            <a:off x="8458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37" name="Straight Connector 36"/>
          <p:cNvCxnSpPr>
            <a:stCxn id="31" idx="3"/>
            <a:endCxn id="30" idx="7"/>
          </p:cNvCxnSpPr>
          <p:nvPr/>
        </p:nvCxnSpPr>
        <p:spPr>
          <a:xfrm rot="5400000">
            <a:off x="71181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p:cNvCxnSpPr>
            <a:endCxn id="32" idx="0"/>
          </p:cNvCxnSpPr>
          <p:nvPr/>
        </p:nvCxnSpPr>
        <p:spPr>
          <a:xfrm rot="5400000">
            <a:off x="6483537" y="5098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1" idx="5"/>
            <a:endCxn id="34" idx="1"/>
          </p:cNvCxnSpPr>
          <p:nvPr/>
        </p:nvCxnSpPr>
        <p:spPr>
          <a:xfrm rot="16200000" flipH="1">
            <a:off x="77277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p:cNvCxnSpPr>
            <a:endCxn id="35" idx="0"/>
          </p:cNvCxnSpPr>
          <p:nvPr/>
        </p:nvCxnSpPr>
        <p:spPr>
          <a:xfrm rot="5400000">
            <a:off x="7747871" y="5115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3" idx="0"/>
          </p:cNvCxnSpPr>
          <p:nvPr/>
        </p:nvCxnSpPr>
        <p:spPr>
          <a:xfrm rot="16200000" flipH="1">
            <a:off x="6934200" y="5105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4" idx="4"/>
          </p:cNvCxnSpPr>
          <p:nvPr/>
        </p:nvCxnSpPr>
        <p:spPr>
          <a:xfrm rot="16200000" flipH="1">
            <a:off x="8177930" y="5080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Right Arrow 42"/>
          <p:cNvSpPr/>
          <p:nvPr/>
        </p:nvSpPr>
        <p:spPr>
          <a:xfrm>
            <a:off x="3048000" y="45720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p:cNvSpPr/>
          <p:nvPr/>
        </p:nvSpPr>
        <p:spPr>
          <a:xfrm>
            <a:off x="5943600" y="44958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990600"/>
            <a:ext cx="8229600" cy="1066800"/>
          </a:xfrm>
        </p:spPr>
        <p:txBody>
          <a:bodyPr/>
          <a:lstStyle/>
          <a:p>
            <a:pPr eaLnBrk="1" hangingPunct="1"/>
            <a:r>
              <a:rPr lang="en-US" dirty="0" smtClean="0"/>
              <a:t>Traversing Binary Trees</a:t>
            </a:r>
          </a:p>
        </p:txBody>
      </p:sp>
      <p:sp>
        <p:nvSpPr>
          <p:cNvPr id="8195" name="Content Placeholder 2"/>
          <p:cNvSpPr>
            <a:spLocks noGrp="1"/>
          </p:cNvSpPr>
          <p:nvPr>
            <p:ph idx="1"/>
          </p:nvPr>
        </p:nvSpPr>
        <p:spPr>
          <a:xfrm>
            <a:off x="381000" y="1981200"/>
            <a:ext cx="8534400" cy="4724400"/>
          </a:xfrm>
        </p:spPr>
        <p:txBody>
          <a:bodyPr/>
          <a:lstStyle/>
          <a:p>
            <a:pPr eaLnBrk="1" hangingPunct="1">
              <a:buFont typeface="Georgia" pitchFamily="18" charset="0"/>
              <a:buNone/>
            </a:pPr>
            <a:r>
              <a:rPr lang="en-US" sz="2000" dirty="0" smtClean="0">
                <a:solidFill>
                  <a:schemeClr val="tx1"/>
                </a:solidFill>
              </a:rPr>
              <a:t> </a:t>
            </a:r>
          </a:p>
          <a:p>
            <a:pPr eaLnBrk="1" hangingPunct="1">
              <a:buFont typeface="Georgia" pitchFamily="18" charset="0"/>
              <a:buNone/>
            </a:pPr>
            <a:endParaRPr lang="en-US" sz="2000" dirty="0" smtClean="0"/>
          </a:p>
          <a:p>
            <a:pPr eaLnBrk="1" hangingPunct="1">
              <a:buFont typeface="Georgia" pitchFamily="18" charset="0"/>
              <a:buNone/>
            </a:pPr>
            <a:endParaRPr lang="en-US" sz="2000" dirty="0" smtClean="0">
              <a:solidFill>
                <a:schemeClr val="tx1"/>
              </a:solidFill>
            </a:endParaRPr>
          </a:p>
          <a:p>
            <a:pPr eaLnBrk="1" hangingPunct="1">
              <a:buFont typeface="Georgia" pitchFamily="18" charset="0"/>
              <a:buNone/>
            </a:pPr>
            <a:endParaRPr lang="en-US" sz="2000" dirty="0" smtClean="0"/>
          </a:p>
          <a:p>
            <a:pPr eaLnBrk="1" hangingPunct="1">
              <a:buFont typeface="Georgia" pitchFamily="18" charset="0"/>
              <a:buNone/>
            </a:pPr>
            <a:endParaRPr lang="en-US" sz="2000" dirty="0" smtClean="0">
              <a:solidFill>
                <a:schemeClr val="tx1"/>
              </a:solidFill>
            </a:endParaRPr>
          </a:p>
          <a:p>
            <a:pPr eaLnBrk="1" hangingPunct="1">
              <a:buFont typeface="Georgia" pitchFamily="18" charset="0"/>
              <a:buNone/>
            </a:pPr>
            <a:endParaRPr lang="en-US" sz="2000" dirty="0" smtClean="0"/>
          </a:p>
          <a:p>
            <a:pPr eaLnBrk="1" hangingPunct="1">
              <a:buFont typeface="Georgia" pitchFamily="18" charset="0"/>
              <a:buNone/>
            </a:pPr>
            <a:r>
              <a:rPr lang="en-US" sz="2000" dirty="0" smtClean="0">
                <a:solidFill>
                  <a:schemeClr val="tx1"/>
                </a:solidFill>
              </a:rPr>
              <a:t>				</a:t>
            </a:r>
          </a:p>
          <a:p>
            <a:pPr eaLnBrk="1" hangingPunct="1">
              <a:buFont typeface="Georgia" pitchFamily="18" charset="0"/>
              <a:buNone/>
            </a:pPr>
            <a:r>
              <a:rPr lang="en-US" sz="2000" b="1" dirty="0" smtClean="0"/>
              <a:t>				</a:t>
            </a:r>
            <a:r>
              <a:rPr lang="en-US" sz="2000" b="1" dirty="0" err="1" smtClean="0"/>
              <a:t>Inorder</a:t>
            </a:r>
            <a:r>
              <a:rPr lang="en-US" sz="2000" b="1" dirty="0" smtClean="0"/>
              <a:t>:</a:t>
            </a:r>
            <a:r>
              <a:rPr lang="en-US" sz="2000" dirty="0" smtClean="0"/>
              <a:t> D B E A F C G</a:t>
            </a:r>
            <a:endParaRPr lang="en-US" sz="2000" dirty="0" smtClean="0">
              <a:solidFill>
                <a:schemeClr val="tx1"/>
              </a:solidFill>
            </a:endParaRPr>
          </a:p>
        </p:txBody>
      </p:sp>
      <p:sp>
        <p:nvSpPr>
          <p:cNvPr id="4" name="Oval 3"/>
          <p:cNvSpPr/>
          <p:nvPr/>
        </p:nvSpPr>
        <p:spPr>
          <a:xfrm>
            <a:off x="11430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 name="Oval 4"/>
          <p:cNvSpPr/>
          <p:nvPr/>
        </p:nvSpPr>
        <p:spPr>
          <a:xfrm>
            <a:off x="1752600" y="4267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 name="Oval 5"/>
          <p:cNvSpPr/>
          <p:nvPr/>
        </p:nvSpPr>
        <p:spPr>
          <a:xfrm>
            <a:off x="6858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 name="Oval 6"/>
          <p:cNvSpPr/>
          <p:nvPr/>
        </p:nvSpPr>
        <p:spPr>
          <a:xfrm>
            <a:off x="15240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8" name="Oval 7"/>
          <p:cNvSpPr/>
          <p:nvPr/>
        </p:nvSpPr>
        <p:spPr>
          <a:xfrm>
            <a:off x="23622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9" name="Oval 8"/>
          <p:cNvSpPr/>
          <p:nvPr/>
        </p:nvSpPr>
        <p:spPr>
          <a:xfrm>
            <a:off x="1981200" y="56868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0" name="Oval 9"/>
          <p:cNvSpPr/>
          <p:nvPr/>
        </p:nvSpPr>
        <p:spPr>
          <a:xfrm>
            <a:off x="2743200" y="56868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11" name="Straight Connector 10"/>
          <p:cNvCxnSpPr>
            <a:stCxn id="5" idx="3"/>
            <a:endCxn id="4" idx="7"/>
          </p:cNvCxnSpPr>
          <p:nvPr/>
        </p:nvCxnSpPr>
        <p:spPr>
          <a:xfrm rot="5400000">
            <a:off x="14031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6" idx="0"/>
          </p:cNvCxnSpPr>
          <p:nvPr/>
        </p:nvCxnSpPr>
        <p:spPr>
          <a:xfrm rot="5400000">
            <a:off x="7685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8" idx="1"/>
          </p:cNvCxnSpPr>
          <p:nvPr/>
        </p:nvCxnSpPr>
        <p:spPr>
          <a:xfrm rot="16200000" flipH="1">
            <a:off x="2012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9" idx="0"/>
          </p:cNvCxnSpPr>
          <p:nvPr/>
        </p:nvCxnSpPr>
        <p:spPr>
          <a:xfrm rot="5400000">
            <a:off x="20328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7" idx="0"/>
          </p:cNvCxnSpPr>
          <p:nvPr/>
        </p:nvCxnSpPr>
        <p:spPr>
          <a:xfrm rot="16200000" flipH="1">
            <a:off x="12192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4"/>
          </p:cNvCxnSpPr>
          <p:nvPr/>
        </p:nvCxnSpPr>
        <p:spPr>
          <a:xfrm rot="16200000" flipH="1">
            <a:off x="24629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1066800" y="2895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44" name="Oval 43"/>
          <p:cNvSpPr/>
          <p:nvPr/>
        </p:nvSpPr>
        <p:spPr>
          <a:xfrm>
            <a:off x="1676400" y="2286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45" name="Oval 44"/>
          <p:cNvSpPr/>
          <p:nvPr/>
        </p:nvSpPr>
        <p:spPr>
          <a:xfrm>
            <a:off x="609600" y="3733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46" name="Oval 45"/>
          <p:cNvSpPr/>
          <p:nvPr/>
        </p:nvSpPr>
        <p:spPr>
          <a:xfrm>
            <a:off x="2286000" y="2895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47" name="Oval 46"/>
          <p:cNvSpPr/>
          <p:nvPr/>
        </p:nvSpPr>
        <p:spPr>
          <a:xfrm>
            <a:off x="1905000" y="37056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48" name="Oval 47"/>
          <p:cNvSpPr/>
          <p:nvPr/>
        </p:nvSpPr>
        <p:spPr>
          <a:xfrm>
            <a:off x="2667000" y="37056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49" name="Straight Connector 48"/>
          <p:cNvCxnSpPr>
            <a:stCxn id="44" idx="3"/>
            <a:endCxn id="43" idx="7"/>
          </p:cNvCxnSpPr>
          <p:nvPr/>
        </p:nvCxnSpPr>
        <p:spPr>
          <a:xfrm rot="5400000">
            <a:off x="1326963" y="25461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45" idx="0"/>
          </p:cNvCxnSpPr>
          <p:nvPr/>
        </p:nvCxnSpPr>
        <p:spPr>
          <a:xfrm rot="5400000">
            <a:off x="692337" y="32700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a:endCxn id="47" idx="0"/>
          </p:cNvCxnSpPr>
          <p:nvPr/>
        </p:nvCxnSpPr>
        <p:spPr>
          <a:xfrm rot="5400000">
            <a:off x="1956671" y="32870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H="1">
            <a:off x="1143000" y="32766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6" idx="4"/>
          </p:cNvCxnSpPr>
          <p:nvPr/>
        </p:nvCxnSpPr>
        <p:spPr>
          <a:xfrm rot="16200000" flipH="1">
            <a:off x="2386730" y="32520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1524000" y="37022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57" name="Straight Connector 56"/>
          <p:cNvCxnSpPr/>
          <p:nvPr/>
        </p:nvCxnSpPr>
        <p:spPr>
          <a:xfrm rot="16200000" flipH="1">
            <a:off x="1968126" y="25146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Oval 57"/>
          <p:cNvSpPr/>
          <p:nvPr/>
        </p:nvSpPr>
        <p:spPr>
          <a:xfrm>
            <a:off x="3657600" y="2819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9" name="Oval 58"/>
          <p:cNvSpPr/>
          <p:nvPr/>
        </p:nvSpPr>
        <p:spPr>
          <a:xfrm>
            <a:off x="4267200" y="2209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0" name="Oval 59"/>
          <p:cNvSpPr/>
          <p:nvPr/>
        </p:nvSpPr>
        <p:spPr>
          <a:xfrm>
            <a:off x="3200400" y="3657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61" name="Oval 60"/>
          <p:cNvSpPr/>
          <p:nvPr/>
        </p:nvSpPr>
        <p:spPr>
          <a:xfrm>
            <a:off x="4876800" y="2819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62" name="Oval 61"/>
          <p:cNvSpPr/>
          <p:nvPr/>
        </p:nvSpPr>
        <p:spPr>
          <a:xfrm>
            <a:off x="4495800" y="36294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63" name="Oval 62"/>
          <p:cNvSpPr/>
          <p:nvPr/>
        </p:nvSpPr>
        <p:spPr>
          <a:xfrm>
            <a:off x="5257800" y="3629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64" name="Straight Connector 63"/>
          <p:cNvCxnSpPr>
            <a:stCxn id="59" idx="3"/>
            <a:endCxn id="58" idx="7"/>
          </p:cNvCxnSpPr>
          <p:nvPr/>
        </p:nvCxnSpPr>
        <p:spPr>
          <a:xfrm rot="5400000">
            <a:off x="3917763" y="2469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Straight Connector 64"/>
          <p:cNvCxnSpPr>
            <a:endCxn id="60" idx="0"/>
          </p:cNvCxnSpPr>
          <p:nvPr/>
        </p:nvCxnSpPr>
        <p:spPr>
          <a:xfrm rot="5400000">
            <a:off x="3283137" y="3193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Straight Connector 65"/>
          <p:cNvCxnSpPr>
            <a:endCxn id="62" idx="0"/>
          </p:cNvCxnSpPr>
          <p:nvPr/>
        </p:nvCxnSpPr>
        <p:spPr>
          <a:xfrm rot="5400000">
            <a:off x="4547471" y="3210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16200000" flipH="1">
            <a:off x="3733800" y="3200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61" idx="4"/>
          </p:cNvCxnSpPr>
          <p:nvPr/>
        </p:nvCxnSpPr>
        <p:spPr>
          <a:xfrm rot="16200000" flipH="1">
            <a:off x="4977530" y="3175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114800" y="36260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70" name="Straight Connector 69"/>
          <p:cNvCxnSpPr/>
          <p:nvPr/>
        </p:nvCxnSpPr>
        <p:spPr>
          <a:xfrm rot="16200000" flipH="1">
            <a:off x="4558926" y="24384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6629400" y="2743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72" name="Oval 71"/>
          <p:cNvSpPr/>
          <p:nvPr/>
        </p:nvSpPr>
        <p:spPr>
          <a:xfrm>
            <a:off x="7239000" y="2133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73" name="Oval 72"/>
          <p:cNvSpPr/>
          <p:nvPr/>
        </p:nvSpPr>
        <p:spPr>
          <a:xfrm>
            <a:off x="6172200" y="3581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4" name="Oval 73"/>
          <p:cNvSpPr/>
          <p:nvPr/>
        </p:nvSpPr>
        <p:spPr>
          <a:xfrm>
            <a:off x="7848600" y="2743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75" name="Oval 74"/>
          <p:cNvSpPr/>
          <p:nvPr/>
        </p:nvSpPr>
        <p:spPr>
          <a:xfrm>
            <a:off x="7467600" y="35532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76" name="Oval 75"/>
          <p:cNvSpPr/>
          <p:nvPr/>
        </p:nvSpPr>
        <p:spPr>
          <a:xfrm>
            <a:off x="8229600" y="35532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77" name="Straight Connector 76"/>
          <p:cNvCxnSpPr>
            <a:stCxn id="72" idx="3"/>
            <a:endCxn id="71" idx="7"/>
          </p:cNvCxnSpPr>
          <p:nvPr/>
        </p:nvCxnSpPr>
        <p:spPr>
          <a:xfrm rot="5400000">
            <a:off x="6889563" y="23937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Straight Connector 77"/>
          <p:cNvCxnSpPr>
            <a:endCxn id="73" idx="0"/>
          </p:cNvCxnSpPr>
          <p:nvPr/>
        </p:nvCxnSpPr>
        <p:spPr>
          <a:xfrm rot="5400000">
            <a:off x="6254937" y="31176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Straight Connector 78"/>
          <p:cNvCxnSpPr>
            <a:endCxn id="75" idx="0"/>
          </p:cNvCxnSpPr>
          <p:nvPr/>
        </p:nvCxnSpPr>
        <p:spPr>
          <a:xfrm rot="5400000">
            <a:off x="7519271" y="31346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16200000" flipH="1">
            <a:off x="6705600" y="31242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74" idx="4"/>
          </p:cNvCxnSpPr>
          <p:nvPr/>
        </p:nvCxnSpPr>
        <p:spPr>
          <a:xfrm rot="16200000" flipH="1">
            <a:off x="7949330" y="30996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7086600" y="35498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83" name="Straight Connector 82"/>
          <p:cNvCxnSpPr/>
          <p:nvPr/>
        </p:nvCxnSpPr>
        <p:spPr>
          <a:xfrm rot="16200000" flipH="1">
            <a:off x="7530726" y="23622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4" name="Right Arrow 83"/>
          <p:cNvSpPr/>
          <p:nvPr/>
        </p:nvSpPr>
        <p:spPr>
          <a:xfrm>
            <a:off x="8305800" y="24384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ight Arrow 84"/>
          <p:cNvSpPr/>
          <p:nvPr/>
        </p:nvSpPr>
        <p:spPr>
          <a:xfrm>
            <a:off x="5715000" y="24384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ight Arrow 85"/>
          <p:cNvSpPr/>
          <p:nvPr/>
        </p:nvSpPr>
        <p:spPr>
          <a:xfrm>
            <a:off x="2895600" y="24384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990600"/>
            <a:ext cx="8229600" cy="1066800"/>
          </a:xfrm>
        </p:spPr>
        <p:txBody>
          <a:bodyPr/>
          <a:lstStyle/>
          <a:p>
            <a:pPr eaLnBrk="1" hangingPunct="1"/>
            <a:r>
              <a:rPr lang="en-US" dirty="0" smtClean="0"/>
              <a:t>Traversing Binary Trees</a:t>
            </a:r>
          </a:p>
        </p:txBody>
      </p:sp>
      <p:sp>
        <p:nvSpPr>
          <p:cNvPr id="8195" name="Content Placeholder 2"/>
          <p:cNvSpPr>
            <a:spLocks noGrp="1"/>
          </p:cNvSpPr>
          <p:nvPr>
            <p:ph idx="1"/>
          </p:nvPr>
        </p:nvSpPr>
        <p:spPr>
          <a:xfrm>
            <a:off x="381000" y="1981200"/>
            <a:ext cx="8534400" cy="4724400"/>
          </a:xfrm>
        </p:spPr>
        <p:txBody>
          <a:bodyPr/>
          <a:lstStyle/>
          <a:p>
            <a:pPr eaLnBrk="1" hangingPunct="1">
              <a:buFont typeface="Georgia" pitchFamily="18" charset="0"/>
              <a:buNone/>
            </a:pPr>
            <a:r>
              <a:rPr lang="en-US" sz="2000" dirty="0" smtClean="0"/>
              <a:t>	</a:t>
            </a:r>
            <a:r>
              <a:rPr lang="en-US" sz="2000" b="1" dirty="0" err="1" smtClean="0">
                <a:solidFill>
                  <a:schemeClr val="tx1"/>
                </a:solidFill>
              </a:rPr>
              <a:t>Postorder</a:t>
            </a:r>
            <a:endParaRPr lang="en-US" sz="2000" dirty="0" smtClean="0">
              <a:solidFill>
                <a:schemeClr val="tx1"/>
              </a:solidFill>
            </a:endParaRPr>
          </a:p>
          <a:p>
            <a:pPr marL="868362" lvl="1" indent="-457200" eaLnBrk="1" hangingPunct="1">
              <a:buFont typeface="Georgia" pitchFamily="18" charset="0"/>
              <a:buAutoNum type="arabicParenR"/>
            </a:pPr>
            <a:r>
              <a:rPr lang="en-US" sz="2000" dirty="0" smtClean="0">
                <a:solidFill>
                  <a:schemeClr val="tx1"/>
                </a:solidFill>
              </a:rPr>
              <a:t>Traverse the left </a:t>
            </a:r>
            <a:r>
              <a:rPr lang="en-US" sz="2000" dirty="0" err="1" smtClean="0">
                <a:solidFill>
                  <a:schemeClr val="tx1"/>
                </a:solidFill>
              </a:rPr>
              <a:t>subtree</a:t>
            </a:r>
            <a:r>
              <a:rPr lang="en-US" sz="2000" dirty="0" smtClean="0">
                <a:solidFill>
                  <a:schemeClr val="tx1"/>
                </a:solidFill>
              </a:rPr>
              <a:t> of R in </a:t>
            </a:r>
            <a:r>
              <a:rPr lang="en-US" sz="2000" dirty="0" err="1" smtClean="0">
                <a:solidFill>
                  <a:schemeClr val="tx1"/>
                </a:solidFill>
              </a:rPr>
              <a:t>inorder</a:t>
            </a:r>
            <a:r>
              <a:rPr lang="en-US" sz="2000" dirty="0" smtClean="0">
                <a:solidFill>
                  <a:schemeClr val="tx1"/>
                </a:solidFill>
              </a:rPr>
              <a:t>.</a:t>
            </a:r>
          </a:p>
          <a:p>
            <a:pPr marL="868362" lvl="1" indent="-457200" eaLnBrk="1" hangingPunct="1">
              <a:buFont typeface="Georgia" pitchFamily="18" charset="0"/>
              <a:buAutoNum type="arabicParenR"/>
            </a:pPr>
            <a:r>
              <a:rPr lang="en-US" sz="2000" dirty="0" smtClean="0">
                <a:solidFill>
                  <a:schemeClr val="tx1"/>
                </a:solidFill>
              </a:rPr>
              <a:t>Traverse the right </a:t>
            </a:r>
            <a:r>
              <a:rPr lang="en-US" sz="2000" dirty="0" err="1" smtClean="0">
                <a:solidFill>
                  <a:schemeClr val="tx1"/>
                </a:solidFill>
              </a:rPr>
              <a:t>subtree</a:t>
            </a:r>
            <a:r>
              <a:rPr lang="en-US" sz="2000" dirty="0" smtClean="0">
                <a:solidFill>
                  <a:schemeClr val="tx1"/>
                </a:solidFill>
              </a:rPr>
              <a:t> of R in </a:t>
            </a:r>
            <a:r>
              <a:rPr lang="en-US" sz="2000" dirty="0" err="1" smtClean="0">
                <a:solidFill>
                  <a:schemeClr val="tx1"/>
                </a:solidFill>
              </a:rPr>
              <a:t>inorder</a:t>
            </a:r>
            <a:r>
              <a:rPr lang="en-US" sz="2000" dirty="0" smtClean="0">
                <a:solidFill>
                  <a:schemeClr val="tx1"/>
                </a:solidFill>
              </a:rPr>
              <a:t>. </a:t>
            </a:r>
          </a:p>
          <a:p>
            <a:pPr marL="868362" lvl="1" indent="-457200" eaLnBrk="1" hangingPunct="1">
              <a:buFont typeface="Georgia" pitchFamily="18" charset="0"/>
              <a:buAutoNum type="arabicParenR"/>
            </a:pPr>
            <a:r>
              <a:rPr lang="en-US" sz="2000" dirty="0" smtClean="0">
                <a:solidFill>
                  <a:schemeClr val="tx1"/>
                </a:solidFill>
              </a:rPr>
              <a:t>Process the root R.</a:t>
            </a:r>
          </a:p>
        </p:txBody>
      </p:sp>
      <p:sp>
        <p:nvSpPr>
          <p:cNvPr id="4" name="Oval 3"/>
          <p:cNvSpPr/>
          <p:nvPr/>
        </p:nvSpPr>
        <p:spPr>
          <a:xfrm>
            <a:off x="11430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 name="Oval 4"/>
          <p:cNvSpPr/>
          <p:nvPr/>
        </p:nvSpPr>
        <p:spPr>
          <a:xfrm>
            <a:off x="1752600" y="42672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 name="Oval 5"/>
          <p:cNvSpPr/>
          <p:nvPr/>
        </p:nvSpPr>
        <p:spPr>
          <a:xfrm>
            <a:off x="6858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 name="Oval 6"/>
          <p:cNvSpPr/>
          <p:nvPr/>
        </p:nvSpPr>
        <p:spPr>
          <a:xfrm>
            <a:off x="1524000" y="5715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8" name="Oval 7"/>
          <p:cNvSpPr/>
          <p:nvPr/>
        </p:nvSpPr>
        <p:spPr>
          <a:xfrm>
            <a:off x="23622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9" name="Oval 8"/>
          <p:cNvSpPr/>
          <p:nvPr/>
        </p:nvSpPr>
        <p:spPr>
          <a:xfrm>
            <a:off x="19812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0" name="Oval 9"/>
          <p:cNvSpPr/>
          <p:nvPr/>
        </p:nvSpPr>
        <p:spPr>
          <a:xfrm>
            <a:off x="27432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11" name="Straight Connector 10"/>
          <p:cNvCxnSpPr>
            <a:stCxn id="5" idx="3"/>
            <a:endCxn id="4" idx="7"/>
          </p:cNvCxnSpPr>
          <p:nvPr/>
        </p:nvCxnSpPr>
        <p:spPr>
          <a:xfrm rot="5400000">
            <a:off x="14031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6" idx="0"/>
          </p:cNvCxnSpPr>
          <p:nvPr/>
        </p:nvCxnSpPr>
        <p:spPr>
          <a:xfrm rot="5400000">
            <a:off x="7685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8" idx="1"/>
          </p:cNvCxnSpPr>
          <p:nvPr/>
        </p:nvCxnSpPr>
        <p:spPr>
          <a:xfrm rot="16200000" flipH="1">
            <a:off x="2012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9" idx="0"/>
          </p:cNvCxnSpPr>
          <p:nvPr/>
        </p:nvCxnSpPr>
        <p:spPr>
          <a:xfrm rot="5400000">
            <a:off x="20328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7" idx="0"/>
          </p:cNvCxnSpPr>
          <p:nvPr/>
        </p:nvCxnSpPr>
        <p:spPr>
          <a:xfrm rot="16200000" flipH="1">
            <a:off x="12192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4"/>
          </p:cNvCxnSpPr>
          <p:nvPr/>
        </p:nvCxnSpPr>
        <p:spPr>
          <a:xfrm rot="16200000" flipH="1">
            <a:off x="24629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40386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18" name="Oval 17"/>
          <p:cNvSpPr/>
          <p:nvPr/>
        </p:nvSpPr>
        <p:spPr>
          <a:xfrm>
            <a:off x="4648200" y="42672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19" name="Oval 18"/>
          <p:cNvSpPr/>
          <p:nvPr/>
        </p:nvSpPr>
        <p:spPr>
          <a:xfrm>
            <a:off x="35814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20" name="Oval 19"/>
          <p:cNvSpPr/>
          <p:nvPr/>
        </p:nvSpPr>
        <p:spPr>
          <a:xfrm>
            <a:off x="44196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21" name="Oval 20"/>
          <p:cNvSpPr/>
          <p:nvPr/>
        </p:nvSpPr>
        <p:spPr>
          <a:xfrm>
            <a:off x="5257800" y="4876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2" name="Oval 21"/>
          <p:cNvSpPr/>
          <p:nvPr/>
        </p:nvSpPr>
        <p:spPr>
          <a:xfrm>
            <a:off x="48768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23" name="Oval 22"/>
          <p:cNvSpPr/>
          <p:nvPr/>
        </p:nvSpPr>
        <p:spPr>
          <a:xfrm>
            <a:off x="5638800" y="56868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24" name="Straight Connector 23"/>
          <p:cNvCxnSpPr>
            <a:stCxn id="18" idx="3"/>
            <a:endCxn id="17" idx="7"/>
          </p:cNvCxnSpPr>
          <p:nvPr/>
        </p:nvCxnSpPr>
        <p:spPr>
          <a:xfrm rot="5400000">
            <a:off x="4298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a:endCxn id="19" idx="0"/>
          </p:cNvCxnSpPr>
          <p:nvPr/>
        </p:nvCxnSpPr>
        <p:spPr>
          <a:xfrm rot="5400000">
            <a:off x="36641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8" idx="5"/>
            <a:endCxn id="21" idx="1"/>
          </p:cNvCxnSpPr>
          <p:nvPr/>
        </p:nvCxnSpPr>
        <p:spPr>
          <a:xfrm rot="16200000" flipH="1">
            <a:off x="49083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a:endCxn id="22" idx="0"/>
          </p:cNvCxnSpPr>
          <p:nvPr/>
        </p:nvCxnSpPr>
        <p:spPr>
          <a:xfrm rot="5400000">
            <a:off x="49284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20" idx="0"/>
          </p:cNvCxnSpPr>
          <p:nvPr/>
        </p:nvCxnSpPr>
        <p:spPr>
          <a:xfrm rot="16200000" flipH="1">
            <a:off x="41148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1" idx="4"/>
          </p:cNvCxnSpPr>
          <p:nvPr/>
        </p:nvCxnSpPr>
        <p:spPr>
          <a:xfrm rot="16200000" flipH="1">
            <a:off x="53585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6858000" y="4724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31" name="Oval 30"/>
          <p:cNvSpPr/>
          <p:nvPr/>
        </p:nvSpPr>
        <p:spPr>
          <a:xfrm>
            <a:off x="7467600" y="4114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32" name="Oval 31"/>
          <p:cNvSpPr/>
          <p:nvPr/>
        </p:nvSpPr>
        <p:spPr>
          <a:xfrm>
            <a:off x="6400800" y="5562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33" name="Oval 32"/>
          <p:cNvSpPr/>
          <p:nvPr/>
        </p:nvSpPr>
        <p:spPr>
          <a:xfrm>
            <a:off x="7239000" y="5562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34" name="Oval 33"/>
          <p:cNvSpPr/>
          <p:nvPr/>
        </p:nvSpPr>
        <p:spPr>
          <a:xfrm>
            <a:off x="8077200" y="4724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35" name="Oval 34"/>
          <p:cNvSpPr/>
          <p:nvPr/>
        </p:nvSpPr>
        <p:spPr>
          <a:xfrm>
            <a:off x="7696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36" name="Oval 35"/>
          <p:cNvSpPr/>
          <p:nvPr/>
        </p:nvSpPr>
        <p:spPr>
          <a:xfrm>
            <a:off x="8458200" y="55344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37" name="Straight Connector 36"/>
          <p:cNvCxnSpPr>
            <a:stCxn id="31" idx="3"/>
            <a:endCxn id="30" idx="7"/>
          </p:cNvCxnSpPr>
          <p:nvPr/>
        </p:nvCxnSpPr>
        <p:spPr>
          <a:xfrm rot="5400000">
            <a:off x="71181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p:cNvCxnSpPr>
            <a:endCxn id="32" idx="0"/>
          </p:cNvCxnSpPr>
          <p:nvPr/>
        </p:nvCxnSpPr>
        <p:spPr>
          <a:xfrm rot="5400000">
            <a:off x="6483537" y="5098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1" idx="5"/>
            <a:endCxn id="34" idx="1"/>
          </p:cNvCxnSpPr>
          <p:nvPr/>
        </p:nvCxnSpPr>
        <p:spPr>
          <a:xfrm rot="16200000" flipH="1">
            <a:off x="7727763" y="4374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p:cNvCxnSpPr>
            <a:endCxn id="35" idx="0"/>
          </p:cNvCxnSpPr>
          <p:nvPr/>
        </p:nvCxnSpPr>
        <p:spPr>
          <a:xfrm rot="5400000">
            <a:off x="7747871" y="5115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3" idx="0"/>
          </p:cNvCxnSpPr>
          <p:nvPr/>
        </p:nvCxnSpPr>
        <p:spPr>
          <a:xfrm rot="16200000" flipH="1">
            <a:off x="6934200" y="5105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4" idx="4"/>
          </p:cNvCxnSpPr>
          <p:nvPr/>
        </p:nvCxnSpPr>
        <p:spPr>
          <a:xfrm rot="16200000" flipH="1">
            <a:off x="8177930" y="5080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Right Arrow 42"/>
          <p:cNvSpPr/>
          <p:nvPr/>
        </p:nvSpPr>
        <p:spPr>
          <a:xfrm>
            <a:off x="3048000" y="45720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p:cNvSpPr/>
          <p:nvPr/>
        </p:nvSpPr>
        <p:spPr>
          <a:xfrm>
            <a:off x="5943600" y="44958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990600"/>
            <a:ext cx="8229600" cy="1066800"/>
          </a:xfrm>
        </p:spPr>
        <p:txBody>
          <a:bodyPr/>
          <a:lstStyle/>
          <a:p>
            <a:pPr eaLnBrk="1" hangingPunct="1"/>
            <a:r>
              <a:rPr lang="en-US" dirty="0" smtClean="0"/>
              <a:t>Traversing Binary Trees</a:t>
            </a:r>
          </a:p>
        </p:txBody>
      </p:sp>
      <p:sp>
        <p:nvSpPr>
          <p:cNvPr id="8195" name="Content Placeholder 2"/>
          <p:cNvSpPr>
            <a:spLocks noGrp="1"/>
          </p:cNvSpPr>
          <p:nvPr>
            <p:ph idx="1"/>
          </p:nvPr>
        </p:nvSpPr>
        <p:spPr>
          <a:xfrm>
            <a:off x="381000" y="1981200"/>
            <a:ext cx="8534400" cy="4724400"/>
          </a:xfrm>
        </p:spPr>
        <p:txBody>
          <a:bodyPr/>
          <a:lstStyle/>
          <a:p>
            <a:pPr eaLnBrk="1" hangingPunct="1">
              <a:buFont typeface="Georgia" pitchFamily="18" charset="0"/>
              <a:buNone/>
            </a:pPr>
            <a:r>
              <a:rPr lang="en-US" sz="2000" dirty="0" smtClean="0">
                <a:solidFill>
                  <a:schemeClr val="tx1"/>
                </a:solidFill>
              </a:rPr>
              <a:t> </a:t>
            </a:r>
          </a:p>
          <a:p>
            <a:pPr eaLnBrk="1" hangingPunct="1">
              <a:buFont typeface="Georgia" pitchFamily="18" charset="0"/>
              <a:buNone/>
            </a:pPr>
            <a:endParaRPr lang="en-US" sz="2000" dirty="0" smtClean="0"/>
          </a:p>
          <a:p>
            <a:pPr eaLnBrk="1" hangingPunct="1">
              <a:buFont typeface="Georgia" pitchFamily="18" charset="0"/>
              <a:buNone/>
            </a:pPr>
            <a:endParaRPr lang="en-US" sz="2000" dirty="0" smtClean="0">
              <a:solidFill>
                <a:schemeClr val="tx1"/>
              </a:solidFill>
            </a:endParaRPr>
          </a:p>
          <a:p>
            <a:pPr eaLnBrk="1" hangingPunct="1">
              <a:buFont typeface="Georgia" pitchFamily="18" charset="0"/>
              <a:buNone/>
            </a:pPr>
            <a:endParaRPr lang="en-US" sz="2000" dirty="0" smtClean="0"/>
          </a:p>
          <a:p>
            <a:pPr eaLnBrk="1" hangingPunct="1">
              <a:buFont typeface="Georgia" pitchFamily="18" charset="0"/>
              <a:buNone/>
            </a:pPr>
            <a:endParaRPr lang="en-US" sz="2000" dirty="0" smtClean="0">
              <a:solidFill>
                <a:schemeClr val="tx1"/>
              </a:solidFill>
            </a:endParaRPr>
          </a:p>
          <a:p>
            <a:pPr eaLnBrk="1" hangingPunct="1">
              <a:buFont typeface="Georgia" pitchFamily="18" charset="0"/>
              <a:buNone/>
            </a:pPr>
            <a:endParaRPr lang="en-US" sz="2000" dirty="0" smtClean="0"/>
          </a:p>
          <a:p>
            <a:pPr eaLnBrk="1" hangingPunct="1">
              <a:buFont typeface="Georgia" pitchFamily="18" charset="0"/>
              <a:buNone/>
            </a:pPr>
            <a:r>
              <a:rPr lang="en-US" sz="2000" dirty="0" smtClean="0">
                <a:solidFill>
                  <a:schemeClr val="tx1"/>
                </a:solidFill>
              </a:rPr>
              <a:t>				</a:t>
            </a:r>
          </a:p>
          <a:p>
            <a:pPr eaLnBrk="1" hangingPunct="1">
              <a:buFont typeface="Georgia" pitchFamily="18" charset="0"/>
              <a:buNone/>
            </a:pPr>
            <a:r>
              <a:rPr lang="en-US" sz="2000" b="1" dirty="0" smtClean="0"/>
              <a:t>				</a:t>
            </a:r>
            <a:r>
              <a:rPr lang="en-US" sz="2000" b="1" dirty="0" err="1" smtClean="0"/>
              <a:t>Postorder</a:t>
            </a:r>
            <a:r>
              <a:rPr lang="en-US" sz="2000" b="1" dirty="0" smtClean="0"/>
              <a:t>:</a:t>
            </a:r>
            <a:r>
              <a:rPr lang="en-US" sz="2000" dirty="0" smtClean="0"/>
              <a:t> D E B F G C A</a:t>
            </a:r>
            <a:endParaRPr lang="en-US" sz="2000" dirty="0" smtClean="0">
              <a:solidFill>
                <a:schemeClr val="tx1"/>
              </a:solidFill>
            </a:endParaRPr>
          </a:p>
        </p:txBody>
      </p:sp>
      <p:sp>
        <p:nvSpPr>
          <p:cNvPr id="4" name="Oval 3"/>
          <p:cNvSpPr/>
          <p:nvPr/>
        </p:nvSpPr>
        <p:spPr>
          <a:xfrm>
            <a:off x="11430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 name="Oval 4"/>
          <p:cNvSpPr/>
          <p:nvPr/>
        </p:nvSpPr>
        <p:spPr>
          <a:xfrm>
            <a:off x="1752600" y="4267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 name="Oval 5"/>
          <p:cNvSpPr/>
          <p:nvPr/>
        </p:nvSpPr>
        <p:spPr>
          <a:xfrm>
            <a:off x="6858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 name="Oval 6"/>
          <p:cNvSpPr/>
          <p:nvPr/>
        </p:nvSpPr>
        <p:spPr>
          <a:xfrm>
            <a:off x="1524000" y="57150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sp>
        <p:nvSpPr>
          <p:cNvPr id="8" name="Oval 7"/>
          <p:cNvSpPr/>
          <p:nvPr/>
        </p:nvSpPr>
        <p:spPr>
          <a:xfrm>
            <a:off x="2362200" y="4876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9" name="Oval 8"/>
          <p:cNvSpPr/>
          <p:nvPr/>
        </p:nvSpPr>
        <p:spPr>
          <a:xfrm>
            <a:off x="1981200" y="56868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10" name="Oval 9"/>
          <p:cNvSpPr/>
          <p:nvPr/>
        </p:nvSpPr>
        <p:spPr>
          <a:xfrm>
            <a:off x="2743200" y="56868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11" name="Straight Connector 10"/>
          <p:cNvCxnSpPr>
            <a:stCxn id="5" idx="3"/>
            <a:endCxn id="4" idx="7"/>
          </p:cNvCxnSpPr>
          <p:nvPr/>
        </p:nvCxnSpPr>
        <p:spPr>
          <a:xfrm rot="5400000">
            <a:off x="14031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6" idx="0"/>
          </p:cNvCxnSpPr>
          <p:nvPr/>
        </p:nvCxnSpPr>
        <p:spPr>
          <a:xfrm rot="5400000">
            <a:off x="768537" y="52512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5"/>
            <a:endCxn id="8" idx="1"/>
          </p:cNvCxnSpPr>
          <p:nvPr/>
        </p:nvCxnSpPr>
        <p:spPr>
          <a:xfrm rot="16200000" flipH="1">
            <a:off x="2012763" y="45273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p:cNvCxnSpPr>
            <a:endCxn id="9" idx="0"/>
          </p:cNvCxnSpPr>
          <p:nvPr/>
        </p:nvCxnSpPr>
        <p:spPr>
          <a:xfrm rot="5400000">
            <a:off x="2032871" y="52682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7" idx="0"/>
          </p:cNvCxnSpPr>
          <p:nvPr/>
        </p:nvCxnSpPr>
        <p:spPr>
          <a:xfrm rot="16200000" flipH="1">
            <a:off x="1219200" y="52578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4"/>
          </p:cNvCxnSpPr>
          <p:nvPr/>
        </p:nvCxnSpPr>
        <p:spPr>
          <a:xfrm rot="16200000" flipH="1">
            <a:off x="2462930" y="52332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1066800" y="2895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44" name="Oval 43"/>
          <p:cNvSpPr/>
          <p:nvPr/>
        </p:nvSpPr>
        <p:spPr>
          <a:xfrm>
            <a:off x="1676400" y="22860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45" name="Oval 44"/>
          <p:cNvSpPr/>
          <p:nvPr/>
        </p:nvSpPr>
        <p:spPr>
          <a:xfrm>
            <a:off x="609600" y="37338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46" name="Oval 45"/>
          <p:cNvSpPr/>
          <p:nvPr/>
        </p:nvSpPr>
        <p:spPr>
          <a:xfrm>
            <a:off x="2286000" y="2895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47" name="Oval 46"/>
          <p:cNvSpPr/>
          <p:nvPr/>
        </p:nvSpPr>
        <p:spPr>
          <a:xfrm>
            <a:off x="1905000" y="37056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48" name="Oval 47"/>
          <p:cNvSpPr/>
          <p:nvPr/>
        </p:nvSpPr>
        <p:spPr>
          <a:xfrm>
            <a:off x="2667000" y="3705664"/>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49" name="Straight Connector 48"/>
          <p:cNvCxnSpPr>
            <a:stCxn id="44" idx="3"/>
            <a:endCxn id="43" idx="7"/>
          </p:cNvCxnSpPr>
          <p:nvPr/>
        </p:nvCxnSpPr>
        <p:spPr>
          <a:xfrm rot="5400000">
            <a:off x="1326963" y="25461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45" idx="0"/>
          </p:cNvCxnSpPr>
          <p:nvPr/>
        </p:nvCxnSpPr>
        <p:spPr>
          <a:xfrm rot="5400000">
            <a:off x="692337" y="32700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a:endCxn id="47" idx="0"/>
          </p:cNvCxnSpPr>
          <p:nvPr/>
        </p:nvCxnSpPr>
        <p:spPr>
          <a:xfrm rot="5400000">
            <a:off x="1956671" y="32870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H="1">
            <a:off x="1143000" y="32766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6" idx="4"/>
          </p:cNvCxnSpPr>
          <p:nvPr/>
        </p:nvCxnSpPr>
        <p:spPr>
          <a:xfrm rot="16200000" flipH="1">
            <a:off x="2386730" y="32520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1524000" y="37022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57" name="Straight Connector 56"/>
          <p:cNvCxnSpPr/>
          <p:nvPr/>
        </p:nvCxnSpPr>
        <p:spPr>
          <a:xfrm rot="16200000" flipH="1">
            <a:off x="1968126" y="25146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Oval 57"/>
          <p:cNvSpPr/>
          <p:nvPr/>
        </p:nvSpPr>
        <p:spPr>
          <a:xfrm>
            <a:off x="3657600" y="2819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9" name="Oval 58"/>
          <p:cNvSpPr/>
          <p:nvPr/>
        </p:nvSpPr>
        <p:spPr>
          <a:xfrm>
            <a:off x="4267200" y="22098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0" name="Oval 59"/>
          <p:cNvSpPr/>
          <p:nvPr/>
        </p:nvSpPr>
        <p:spPr>
          <a:xfrm>
            <a:off x="3200400" y="36576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61" name="Oval 60"/>
          <p:cNvSpPr/>
          <p:nvPr/>
        </p:nvSpPr>
        <p:spPr>
          <a:xfrm>
            <a:off x="4876800" y="28194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62" name="Oval 61"/>
          <p:cNvSpPr/>
          <p:nvPr/>
        </p:nvSpPr>
        <p:spPr>
          <a:xfrm>
            <a:off x="4495800" y="36294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63" name="Oval 62"/>
          <p:cNvSpPr/>
          <p:nvPr/>
        </p:nvSpPr>
        <p:spPr>
          <a:xfrm>
            <a:off x="5257800" y="36294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64" name="Straight Connector 63"/>
          <p:cNvCxnSpPr>
            <a:stCxn id="59" idx="3"/>
            <a:endCxn id="58" idx="7"/>
          </p:cNvCxnSpPr>
          <p:nvPr/>
        </p:nvCxnSpPr>
        <p:spPr>
          <a:xfrm rot="5400000">
            <a:off x="3917763" y="24699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Straight Connector 64"/>
          <p:cNvCxnSpPr>
            <a:endCxn id="60" idx="0"/>
          </p:cNvCxnSpPr>
          <p:nvPr/>
        </p:nvCxnSpPr>
        <p:spPr>
          <a:xfrm rot="5400000">
            <a:off x="3283137" y="31938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Straight Connector 65"/>
          <p:cNvCxnSpPr>
            <a:endCxn id="62" idx="0"/>
          </p:cNvCxnSpPr>
          <p:nvPr/>
        </p:nvCxnSpPr>
        <p:spPr>
          <a:xfrm rot="5400000">
            <a:off x="4547471" y="32108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16200000" flipH="1">
            <a:off x="3733800" y="32004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61" idx="4"/>
          </p:cNvCxnSpPr>
          <p:nvPr/>
        </p:nvCxnSpPr>
        <p:spPr>
          <a:xfrm rot="16200000" flipH="1">
            <a:off x="4977530" y="31758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114800" y="36260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70" name="Straight Connector 69"/>
          <p:cNvCxnSpPr/>
          <p:nvPr/>
        </p:nvCxnSpPr>
        <p:spPr>
          <a:xfrm rot="16200000" flipH="1">
            <a:off x="4558926" y="24384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6629400" y="2743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72" name="Oval 71"/>
          <p:cNvSpPr/>
          <p:nvPr/>
        </p:nvSpPr>
        <p:spPr>
          <a:xfrm>
            <a:off x="7239000" y="2133600"/>
            <a:ext cx="304800" cy="3048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73" name="Oval 72"/>
          <p:cNvSpPr/>
          <p:nvPr/>
        </p:nvSpPr>
        <p:spPr>
          <a:xfrm>
            <a:off x="6172200" y="35814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a:t>
            </a:r>
            <a:endParaRPr lang="en-US" dirty="0">
              <a:solidFill>
                <a:schemeClr val="tx1"/>
              </a:solidFill>
            </a:endParaRPr>
          </a:p>
        </p:txBody>
      </p:sp>
      <p:sp>
        <p:nvSpPr>
          <p:cNvPr id="74" name="Oval 73"/>
          <p:cNvSpPr/>
          <p:nvPr/>
        </p:nvSpPr>
        <p:spPr>
          <a:xfrm>
            <a:off x="7848600" y="2743200"/>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75" name="Oval 74"/>
          <p:cNvSpPr/>
          <p:nvPr/>
        </p:nvSpPr>
        <p:spPr>
          <a:xfrm>
            <a:off x="7467600" y="35532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a:t>
            </a:r>
            <a:endParaRPr lang="en-US" dirty="0">
              <a:solidFill>
                <a:schemeClr val="tx1"/>
              </a:solidFill>
            </a:endParaRPr>
          </a:p>
        </p:txBody>
      </p:sp>
      <p:sp>
        <p:nvSpPr>
          <p:cNvPr id="76" name="Oval 75"/>
          <p:cNvSpPr/>
          <p:nvPr/>
        </p:nvSpPr>
        <p:spPr>
          <a:xfrm>
            <a:off x="8229600" y="355326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G</a:t>
            </a:r>
            <a:endParaRPr lang="en-US" dirty="0">
              <a:solidFill>
                <a:schemeClr val="tx1"/>
              </a:solidFill>
            </a:endParaRPr>
          </a:p>
        </p:txBody>
      </p:sp>
      <p:cxnSp>
        <p:nvCxnSpPr>
          <p:cNvPr id="77" name="Straight Connector 76"/>
          <p:cNvCxnSpPr>
            <a:stCxn id="72" idx="3"/>
            <a:endCxn id="71" idx="7"/>
          </p:cNvCxnSpPr>
          <p:nvPr/>
        </p:nvCxnSpPr>
        <p:spPr>
          <a:xfrm rot="5400000">
            <a:off x="6889563" y="2393763"/>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Straight Connector 77"/>
          <p:cNvCxnSpPr>
            <a:endCxn id="73" idx="0"/>
          </p:cNvCxnSpPr>
          <p:nvPr/>
        </p:nvCxnSpPr>
        <p:spPr>
          <a:xfrm rot="5400000">
            <a:off x="6254937" y="3117663"/>
            <a:ext cx="533400" cy="3940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9" name="Straight Connector 78"/>
          <p:cNvCxnSpPr>
            <a:endCxn id="75" idx="0"/>
          </p:cNvCxnSpPr>
          <p:nvPr/>
        </p:nvCxnSpPr>
        <p:spPr>
          <a:xfrm rot="5400000">
            <a:off x="7519271" y="3134661"/>
            <a:ext cx="519332" cy="31787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16200000" flipH="1">
            <a:off x="6705600" y="3124200"/>
            <a:ext cx="5334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74" idx="4"/>
          </p:cNvCxnSpPr>
          <p:nvPr/>
        </p:nvCxnSpPr>
        <p:spPr>
          <a:xfrm rot="16200000" flipH="1">
            <a:off x="7949330" y="3099670"/>
            <a:ext cx="499403" cy="3960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7086600" y="3549838"/>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83" name="Straight Connector 82"/>
          <p:cNvCxnSpPr/>
          <p:nvPr/>
        </p:nvCxnSpPr>
        <p:spPr>
          <a:xfrm rot="16200000" flipH="1">
            <a:off x="7530726" y="2362201"/>
            <a:ext cx="394074" cy="39407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4" name="Right Arrow 83"/>
          <p:cNvSpPr/>
          <p:nvPr/>
        </p:nvSpPr>
        <p:spPr>
          <a:xfrm>
            <a:off x="8305800" y="24384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ight Arrow 84"/>
          <p:cNvSpPr/>
          <p:nvPr/>
        </p:nvSpPr>
        <p:spPr>
          <a:xfrm>
            <a:off x="5715000" y="24384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ight Arrow 85"/>
          <p:cNvSpPr/>
          <p:nvPr/>
        </p:nvSpPr>
        <p:spPr>
          <a:xfrm>
            <a:off x="2895600" y="2438400"/>
            <a:ext cx="533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73" y="228599"/>
            <a:ext cx="8229600" cy="1066800"/>
          </a:xfrm>
        </p:spPr>
        <p:txBody>
          <a:bodyPr/>
          <a:lstStyle/>
          <a:p>
            <a:pPr algn="ctr"/>
            <a:r>
              <a:rPr lang="en-US" dirty="0" err="1" smtClean="0"/>
              <a:t>Inorder</a:t>
            </a:r>
            <a:r>
              <a:rPr lang="en-US" dirty="0" smtClean="0"/>
              <a:t> Traversing</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534391" y="1056409"/>
            <a:ext cx="6075218" cy="6248400"/>
          </a:xfrm>
          <a:prstGeom prst="rect">
            <a:avLst/>
          </a:prstGeom>
        </p:spPr>
      </p:pic>
    </p:spTree>
    <p:extLst>
      <p:ext uri="{BB962C8B-B14F-4D97-AF65-F5344CB8AC3E}">
        <p14:creationId xmlns:p14="http://schemas.microsoft.com/office/powerpoint/2010/main" val="3848359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73" y="228599"/>
            <a:ext cx="8229600" cy="1066800"/>
          </a:xfrm>
        </p:spPr>
        <p:txBody>
          <a:bodyPr/>
          <a:lstStyle/>
          <a:p>
            <a:pPr algn="ctr"/>
            <a:r>
              <a:rPr lang="en-US" dirty="0" smtClean="0"/>
              <a:t>Preorder Traversing</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866900" y="1028700"/>
            <a:ext cx="5867400" cy="5791200"/>
          </a:xfrm>
          <a:prstGeom prst="rect">
            <a:avLst/>
          </a:prstGeom>
        </p:spPr>
      </p:pic>
    </p:spTree>
    <p:extLst>
      <p:ext uri="{BB962C8B-B14F-4D97-AF65-F5344CB8AC3E}">
        <p14:creationId xmlns:p14="http://schemas.microsoft.com/office/powerpoint/2010/main" val="538718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73" y="228599"/>
            <a:ext cx="8229600" cy="1066800"/>
          </a:xfrm>
        </p:spPr>
        <p:txBody>
          <a:bodyPr/>
          <a:lstStyle/>
          <a:p>
            <a:pPr algn="ctr"/>
            <a:r>
              <a:rPr lang="en-US" dirty="0" smtClean="0"/>
              <a:t>Searching a Specific Node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2105025" y="962025"/>
            <a:ext cx="5791200" cy="6000750"/>
          </a:xfrm>
          <a:prstGeom prst="rect">
            <a:avLst/>
          </a:prstGeom>
        </p:spPr>
      </p:pic>
    </p:spTree>
    <p:extLst>
      <p:ext uri="{BB962C8B-B14F-4D97-AF65-F5344CB8AC3E}">
        <p14:creationId xmlns:p14="http://schemas.microsoft.com/office/powerpoint/2010/main" val="290790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dirty="0" smtClean="0"/>
              <a:t>Introduction to Binary Search Trees</a:t>
            </a:r>
          </a:p>
        </p:txBody>
      </p:sp>
      <p:sp>
        <p:nvSpPr>
          <p:cNvPr id="7171" name="Content Placeholder 2"/>
          <p:cNvSpPr>
            <a:spLocks noGrp="1"/>
          </p:cNvSpPr>
          <p:nvPr>
            <p:ph idx="1"/>
          </p:nvPr>
        </p:nvSpPr>
        <p:spPr>
          <a:xfrm>
            <a:off x="457200" y="2249488"/>
            <a:ext cx="8534400" cy="4324350"/>
          </a:xfrm>
        </p:spPr>
        <p:txBody>
          <a:bodyPr/>
          <a:lstStyle/>
          <a:p>
            <a:pPr algn="just">
              <a:buNone/>
            </a:pPr>
            <a:r>
              <a:rPr lang="en-US" altLang="en-US" sz="2400" dirty="0" smtClean="0"/>
              <a:t>	A binary search tree T is a binary tree in which each node N of T has the following property,</a:t>
            </a:r>
          </a:p>
          <a:p>
            <a:pPr algn="just">
              <a:buNone/>
            </a:pPr>
            <a:r>
              <a:rPr lang="en-US" altLang="en-US" sz="2400" dirty="0" smtClean="0"/>
              <a:t>	a) Left child node is smaller than its parent node.</a:t>
            </a:r>
          </a:p>
          <a:p>
            <a:pPr algn="just">
              <a:buNone/>
            </a:pPr>
            <a:r>
              <a:rPr lang="en-US" altLang="en-US" sz="2400" dirty="0" smtClean="0"/>
              <a:t>	b) Right child node is greater than its parent node.</a:t>
            </a:r>
          </a:p>
        </p:txBody>
      </p:sp>
      <p:sp>
        <p:nvSpPr>
          <p:cNvPr id="17" name="Oval 16"/>
          <p:cNvSpPr/>
          <p:nvPr/>
        </p:nvSpPr>
        <p:spPr>
          <a:xfrm>
            <a:off x="4038600" y="44196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cxnSp>
        <p:nvCxnSpPr>
          <p:cNvPr id="34" name="Straight Connector 33"/>
          <p:cNvCxnSpPr>
            <a:endCxn id="37" idx="7"/>
          </p:cNvCxnSpPr>
          <p:nvPr/>
        </p:nvCxnSpPr>
        <p:spPr>
          <a:xfrm rot="10800000" flipV="1">
            <a:off x="3404767" y="4800599"/>
            <a:ext cx="710034" cy="44795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6172200" y="60198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60</a:t>
            </a:r>
            <a:endParaRPr lang="en-US" dirty="0">
              <a:solidFill>
                <a:schemeClr val="tx1"/>
              </a:solidFill>
            </a:endParaRPr>
          </a:p>
        </p:txBody>
      </p:sp>
      <p:sp>
        <p:nvSpPr>
          <p:cNvPr id="37" name="Oval 36"/>
          <p:cNvSpPr/>
          <p:nvPr/>
        </p:nvSpPr>
        <p:spPr>
          <a:xfrm>
            <a:off x="2819400" y="51816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30</a:t>
            </a:r>
            <a:endParaRPr lang="en-US" dirty="0">
              <a:solidFill>
                <a:schemeClr val="tx1"/>
              </a:solidFill>
            </a:endParaRPr>
          </a:p>
        </p:txBody>
      </p:sp>
      <p:sp>
        <p:nvSpPr>
          <p:cNvPr id="38" name="Oval 37"/>
          <p:cNvSpPr/>
          <p:nvPr/>
        </p:nvSpPr>
        <p:spPr>
          <a:xfrm>
            <a:off x="5334000" y="51816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50</a:t>
            </a:r>
            <a:endParaRPr lang="en-US" dirty="0">
              <a:solidFill>
                <a:schemeClr val="tx1"/>
              </a:solidFill>
            </a:endParaRPr>
          </a:p>
        </p:txBody>
      </p:sp>
      <p:sp>
        <p:nvSpPr>
          <p:cNvPr id="39" name="Oval 38"/>
          <p:cNvSpPr/>
          <p:nvPr/>
        </p:nvSpPr>
        <p:spPr>
          <a:xfrm>
            <a:off x="3733800" y="60198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35</a:t>
            </a:r>
            <a:endParaRPr lang="en-US" dirty="0">
              <a:solidFill>
                <a:schemeClr val="tx1"/>
              </a:solidFill>
            </a:endParaRPr>
          </a:p>
        </p:txBody>
      </p:sp>
      <p:sp>
        <p:nvSpPr>
          <p:cNvPr id="40" name="Oval 39"/>
          <p:cNvSpPr/>
          <p:nvPr/>
        </p:nvSpPr>
        <p:spPr>
          <a:xfrm>
            <a:off x="1856936" y="600573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25</a:t>
            </a:r>
            <a:endParaRPr lang="en-US" dirty="0">
              <a:solidFill>
                <a:schemeClr val="tx1"/>
              </a:solidFill>
            </a:endParaRPr>
          </a:p>
        </p:txBody>
      </p:sp>
      <p:sp>
        <p:nvSpPr>
          <p:cNvPr id="41" name="Oval 40"/>
          <p:cNvSpPr/>
          <p:nvPr/>
        </p:nvSpPr>
        <p:spPr>
          <a:xfrm>
            <a:off x="4724400" y="60198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45</a:t>
            </a:r>
            <a:endParaRPr lang="en-US" dirty="0">
              <a:solidFill>
                <a:schemeClr val="tx1"/>
              </a:solidFill>
            </a:endParaRPr>
          </a:p>
        </p:txBody>
      </p:sp>
      <p:cxnSp>
        <p:nvCxnSpPr>
          <p:cNvPr id="43" name="Straight Connector 42"/>
          <p:cNvCxnSpPr>
            <a:stCxn id="37" idx="3"/>
          </p:cNvCxnSpPr>
          <p:nvPr/>
        </p:nvCxnSpPr>
        <p:spPr>
          <a:xfrm rot="5400000">
            <a:off x="2378939" y="5478907"/>
            <a:ext cx="447957" cy="6338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5155257" y="5665143"/>
            <a:ext cx="447955" cy="3671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7" idx="5"/>
            <a:endCxn id="38" idx="1"/>
          </p:cNvCxnSpPr>
          <p:nvPr/>
        </p:nvCxnSpPr>
        <p:spPr>
          <a:xfrm rot="16200000" flipH="1">
            <a:off x="4809845" y="4623967"/>
            <a:ext cx="438710" cy="81046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7" idx="5"/>
          </p:cNvCxnSpPr>
          <p:nvPr/>
        </p:nvCxnSpPr>
        <p:spPr>
          <a:xfrm rot="16200000" flipH="1">
            <a:off x="3459606" y="5517005"/>
            <a:ext cx="462023" cy="57170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Straight Connector 54"/>
          <p:cNvCxnSpPr>
            <a:endCxn id="36" idx="1"/>
          </p:cNvCxnSpPr>
          <p:nvPr/>
        </p:nvCxnSpPr>
        <p:spPr>
          <a:xfrm rot="16200000" flipH="1">
            <a:off x="5822007" y="5636128"/>
            <a:ext cx="496019" cy="405233"/>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Binary Tree</a:t>
            </a:r>
            <a:endParaRPr lang="en-US" dirty="0"/>
          </a:p>
        </p:txBody>
      </p:sp>
      <p:sp>
        <p:nvSpPr>
          <p:cNvPr id="3" name="Content Placeholder 2"/>
          <p:cNvSpPr>
            <a:spLocks noGrp="1"/>
          </p:cNvSpPr>
          <p:nvPr>
            <p:ph idx="1"/>
          </p:nvPr>
        </p:nvSpPr>
        <p:spPr/>
        <p:txBody>
          <a:bodyPr/>
          <a:lstStyle/>
          <a:p>
            <a:r>
              <a:rPr lang="en-US" dirty="0" smtClean="0"/>
              <a:t>Binary Tree is a specialized form of tree with two child. It is simply representation of data in tree structure.</a:t>
            </a:r>
            <a:endParaRPr lang="en-US" dirty="0"/>
          </a:p>
        </p:txBody>
      </p:sp>
    </p:spTree>
    <p:extLst>
      <p:ext uri="{BB962C8B-B14F-4D97-AF65-F5344CB8AC3E}">
        <p14:creationId xmlns:p14="http://schemas.microsoft.com/office/powerpoint/2010/main" val="3892005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838200"/>
            <a:ext cx="8229600" cy="1066800"/>
          </a:xfrm>
        </p:spPr>
        <p:txBody>
          <a:bodyPr/>
          <a:lstStyle/>
          <a:p>
            <a:pPr eaLnBrk="1" hangingPunct="1"/>
            <a:r>
              <a:rPr lang="en-US" dirty="0" smtClean="0"/>
              <a:t>Insertion into Binary Search Trees</a:t>
            </a:r>
          </a:p>
        </p:txBody>
      </p:sp>
      <p:sp>
        <p:nvSpPr>
          <p:cNvPr id="7171" name="Content Placeholder 2"/>
          <p:cNvSpPr>
            <a:spLocks noGrp="1"/>
          </p:cNvSpPr>
          <p:nvPr>
            <p:ph idx="1"/>
          </p:nvPr>
        </p:nvSpPr>
        <p:spPr>
          <a:xfrm>
            <a:off x="381000" y="1981200"/>
            <a:ext cx="8534400" cy="4876800"/>
          </a:xfrm>
        </p:spPr>
        <p:txBody>
          <a:bodyPr/>
          <a:lstStyle/>
          <a:p>
            <a:pPr algn="just">
              <a:buNone/>
            </a:pPr>
            <a:r>
              <a:rPr lang="en-US" altLang="en-US" sz="2400" dirty="0" smtClean="0"/>
              <a:t>	Suppose we are given following items to insert on a empty Binary Search Tree(BST),</a:t>
            </a:r>
          </a:p>
          <a:p>
            <a:pPr algn="just">
              <a:buNone/>
            </a:pPr>
            <a:r>
              <a:rPr lang="en-US" altLang="en-US" sz="2400" dirty="0" smtClean="0"/>
              <a:t>	40, 60, 50, 33, 55, 11</a:t>
            </a:r>
          </a:p>
          <a:p>
            <a:pPr algn="just">
              <a:buNone/>
            </a:pPr>
            <a:r>
              <a:rPr lang="en-US" altLang="en-US" sz="2400" b="1" dirty="0" smtClean="0"/>
              <a:t>	Step 1: 				Step 2:</a:t>
            </a:r>
          </a:p>
          <a:p>
            <a:pPr algn="just">
              <a:buNone/>
            </a:pPr>
            <a:r>
              <a:rPr lang="en-US" altLang="en-US" sz="2000" dirty="0" smtClean="0"/>
              <a:t>	Item=40				Item=60</a:t>
            </a:r>
          </a:p>
          <a:p>
            <a:pPr algn="just">
              <a:buNone/>
            </a:pPr>
            <a:endParaRPr lang="en-US" altLang="en-US" sz="2400" b="1" dirty="0" smtClean="0"/>
          </a:p>
          <a:p>
            <a:pPr algn="just">
              <a:buNone/>
            </a:pPr>
            <a:r>
              <a:rPr lang="en-US" altLang="en-US" sz="2400" b="1" dirty="0" smtClean="0"/>
              <a:t>	Step 3:				Step 4:</a:t>
            </a:r>
          </a:p>
          <a:p>
            <a:pPr algn="just">
              <a:buNone/>
            </a:pPr>
            <a:endParaRPr lang="en-US" altLang="en-US" sz="2400" b="1" dirty="0" smtClean="0"/>
          </a:p>
          <a:p>
            <a:pPr algn="just">
              <a:buNone/>
            </a:pPr>
            <a:r>
              <a:rPr lang="en-US" altLang="en-US" sz="2400" dirty="0" smtClean="0"/>
              <a:t>	</a:t>
            </a:r>
            <a:r>
              <a:rPr lang="en-US" altLang="en-US" sz="2000" dirty="0" smtClean="0"/>
              <a:t>Item=50				Item=33</a:t>
            </a:r>
          </a:p>
          <a:p>
            <a:pPr algn="just">
              <a:buNone/>
            </a:pPr>
            <a:endParaRPr lang="en-US" altLang="en-US" sz="2400" b="1" dirty="0" smtClean="0"/>
          </a:p>
        </p:txBody>
      </p:sp>
      <p:sp>
        <p:nvSpPr>
          <p:cNvPr id="17" name="Oval 16"/>
          <p:cNvSpPr/>
          <p:nvPr/>
        </p:nvSpPr>
        <p:spPr>
          <a:xfrm>
            <a:off x="2362200" y="33528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sp>
        <p:nvSpPr>
          <p:cNvPr id="36" name="Oval 35"/>
          <p:cNvSpPr/>
          <p:nvPr/>
        </p:nvSpPr>
        <p:spPr>
          <a:xfrm>
            <a:off x="7696200" y="39624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60</a:t>
            </a:r>
            <a:endParaRPr lang="en-US" dirty="0">
              <a:solidFill>
                <a:schemeClr val="tx1"/>
              </a:solidFill>
            </a:endParaRPr>
          </a:p>
        </p:txBody>
      </p:sp>
      <p:sp>
        <p:nvSpPr>
          <p:cNvPr id="37" name="Oval 36"/>
          <p:cNvSpPr/>
          <p:nvPr/>
        </p:nvSpPr>
        <p:spPr>
          <a:xfrm>
            <a:off x="2314136" y="4668128"/>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sp>
        <p:nvSpPr>
          <p:cNvPr id="38" name="Oval 37"/>
          <p:cNvSpPr/>
          <p:nvPr/>
        </p:nvSpPr>
        <p:spPr>
          <a:xfrm>
            <a:off x="6858000" y="31242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sp>
        <p:nvSpPr>
          <p:cNvPr id="39" name="Oval 38"/>
          <p:cNvSpPr/>
          <p:nvPr/>
        </p:nvSpPr>
        <p:spPr>
          <a:xfrm>
            <a:off x="3352800" y="54102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60</a:t>
            </a:r>
            <a:endParaRPr lang="en-US" dirty="0">
              <a:solidFill>
                <a:schemeClr val="tx1"/>
              </a:solidFill>
            </a:endParaRPr>
          </a:p>
        </p:txBody>
      </p:sp>
      <p:sp>
        <p:nvSpPr>
          <p:cNvPr id="40" name="Oval 39"/>
          <p:cNvSpPr/>
          <p:nvPr/>
        </p:nvSpPr>
        <p:spPr>
          <a:xfrm>
            <a:off x="2286000" y="61722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50</a:t>
            </a:r>
            <a:endParaRPr lang="en-US" dirty="0">
              <a:solidFill>
                <a:schemeClr val="tx1"/>
              </a:solidFill>
            </a:endParaRPr>
          </a:p>
        </p:txBody>
      </p:sp>
      <p:cxnSp>
        <p:nvCxnSpPr>
          <p:cNvPr id="50" name="Straight Connector 49"/>
          <p:cNvCxnSpPr/>
          <p:nvPr/>
        </p:nvCxnSpPr>
        <p:spPr>
          <a:xfrm rot="16200000" flipH="1">
            <a:off x="2950439" y="4974361"/>
            <a:ext cx="462023" cy="57170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Straight Connector 54"/>
          <p:cNvCxnSpPr>
            <a:endCxn id="36" idx="1"/>
          </p:cNvCxnSpPr>
          <p:nvPr/>
        </p:nvCxnSpPr>
        <p:spPr>
          <a:xfrm rot="16200000" flipH="1">
            <a:off x="7346007" y="3578728"/>
            <a:ext cx="496019" cy="4052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flipV="1">
            <a:off x="2857300" y="5777131"/>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6962336" y="48006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sp>
        <p:nvSpPr>
          <p:cNvPr id="22" name="Oval 21"/>
          <p:cNvSpPr/>
          <p:nvPr/>
        </p:nvSpPr>
        <p:spPr>
          <a:xfrm>
            <a:off x="8001000" y="554267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60</a:t>
            </a:r>
            <a:endParaRPr lang="en-US" dirty="0">
              <a:solidFill>
                <a:schemeClr val="tx1"/>
              </a:solidFill>
            </a:endParaRPr>
          </a:p>
        </p:txBody>
      </p:sp>
      <p:sp>
        <p:nvSpPr>
          <p:cNvPr id="23" name="Oval 22"/>
          <p:cNvSpPr/>
          <p:nvPr/>
        </p:nvSpPr>
        <p:spPr>
          <a:xfrm>
            <a:off x="6934200" y="630467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50</a:t>
            </a:r>
            <a:endParaRPr lang="en-US" dirty="0">
              <a:solidFill>
                <a:schemeClr val="tx1"/>
              </a:solidFill>
            </a:endParaRPr>
          </a:p>
        </p:txBody>
      </p:sp>
      <p:cxnSp>
        <p:nvCxnSpPr>
          <p:cNvPr id="24" name="Straight Connector 23"/>
          <p:cNvCxnSpPr/>
          <p:nvPr/>
        </p:nvCxnSpPr>
        <p:spPr>
          <a:xfrm rot="16200000" flipH="1">
            <a:off x="7598639" y="5106833"/>
            <a:ext cx="462023" cy="57170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flipV="1">
            <a:off x="7505500" y="5909603"/>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5881467" y="5500469"/>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33</a:t>
            </a:r>
            <a:endParaRPr lang="en-US" dirty="0">
              <a:solidFill>
                <a:schemeClr val="tx1"/>
              </a:solidFill>
            </a:endParaRPr>
          </a:p>
        </p:txBody>
      </p:sp>
      <p:cxnSp>
        <p:nvCxnSpPr>
          <p:cNvPr id="27" name="Straight Connector 26"/>
          <p:cNvCxnSpPr/>
          <p:nvPr/>
        </p:nvCxnSpPr>
        <p:spPr>
          <a:xfrm rot="10800000" flipV="1">
            <a:off x="6438699" y="5105400"/>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838200"/>
            <a:ext cx="8229600" cy="1066800"/>
          </a:xfrm>
        </p:spPr>
        <p:txBody>
          <a:bodyPr/>
          <a:lstStyle/>
          <a:p>
            <a:pPr eaLnBrk="1" hangingPunct="1"/>
            <a:r>
              <a:rPr lang="en-US" dirty="0" smtClean="0"/>
              <a:t>Insertion into Binary Search Trees</a:t>
            </a:r>
          </a:p>
        </p:txBody>
      </p:sp>
      <p:sp>
        <p:nvSpPr>
          <p:cNvPr id="7171" name="Content Placeholder 2"/>
          <p:cNvSpPr>
            <a:spLocks noGrp="1"/>
          </p:cNvSpPr>
          <p:nvPr>
            <p:ph idx="1"/>
          </p:nvPr>
        </p:nvSpPr>
        <p:spPr>
          <a:xfrm>
            <a:off x="381000" y="1752600"/>
            <a:ext cx="8534400" cy="4876800"/>
          </a:xfrm>
        </p:spPr>
        <p:txBody>
          <a:bodyPr/>
          <a:lstStyle/>
          <a:p>
            <a:pPr algn="just">
              <a:buNone/>
            </a:pPr>
            <a:r>
              <a:rPr lang="en-US" altLang="en-US" sz="2400" dirty="0" smtClean="0"/>
              <a:t>	</a:t>
            </a:r>
            <a:r>
              <a:rPr lang="en-US" altLang="en-US" sz="2400" b="1" dirty="0" smtClean="0"/>
              <a:t>Step 5:</a:t>
            </a:r>
            <a:r>
              <a:rPr lang="en-US" altLang="en-US" sz="2400" b="1" smtClean="0"/>
              <a:t>	</a:t>
            </a:r>
            <a:endParaRPr lang="en-US" altLang="en-US" sz="2400" b="1" dirty="0" smtClean="0"/>
          </a:p>
          <a:p>
            <a:pPr algn="just">
              <a:buNone/>
            </a:pPr>
            <a:r>
              <a:rPr lang="en-US" altLang="en-US" sz="2000" b="1" dirty="0" smtClean="0"/>
              <a:t>	</a:t>
            </a:r>
            <a:r>
              <a:rPr lang="en-US" altLang="en-US" sz="2000" dirty="0" smtClean="0"/>
              <a:t>Item=55</a:t>
            </a:r>
            <a:endParaRPr lang="en-US" altLang="en-US" sz="2000" b="1" dirty="0" smtClean="0"/>
          </a:p>
          <a:p>
            <a:pPr algn="just">
              <a:buNone/>
            </a:pPr>
            <a:endParaRPr lang="en-US" altLang="en-US" sz="2400" b="1" dirty="0" smtClean="0"/>
          </a:p>
          <a:p>
            <a:pPr algn="just">
              <a:buNone/>
            </a:pPr>
            <a:endParaRPr lang="en-US" altLang="en-US" sz="2400" b="1" dirty="0" smtClean="0"/>
          </a:p>
          <a:p>
            <a:pPr algn="just">
              <a:buNone/>
            </a:pPr>
            <a:endParaRPr lang="en-US" altLang="en-US" sz="2400" b="1" dirty="0" smtClean="0"/>
          </a:p>
          <a:p>
            <a:pPr algn="just">
              <a:buNone/>
            </a:pPr>
            <a:r>
              <a:rPr lang="en-US" altLang="en-US" sz="2400" b="1" dirty="0" smtClean="0"/>
              <a:t>	Step 6:</a:t>
            </a:r>
          </a:p>
          <a:p>
            <a:pPr algn="just">
              <a:buNone/>
            </a:pPr>
            <a:r>
              <a:rPr lang="en-US" altLang="en-US" sz="2400" b="1" dirty="0" smtClean="0"/>
              <a:t>	</a:t>
            </a:r>
            <a:r>
              <a:rPr lang="en-US" altLang="en-US" sz="2000" dirty="0" smtClean="0"/>
              <a:t>Item=11</a:t>
            </a:r>
            <a:endParaRPr lang="en-US" altLang="en-US" sz="2000" b="1" dirty="0" smtClean="0"/>
          </a:p>
          <a:p>
            <a:pPr algn="just">
              <a:buNone/>
            </a:pPr>
            <a:endParaRPr lang="en-US" altLang="en-US" sz="2400" b="1" dirty="0" smtClean="0"/>
          </a:p>
        </p:txBody>
      </p:sp>
      <p:sp>
        <p:nvSpPr>
          <p:cNvPr id="36" name="Oval 35"/>
          <p:cNvSpPr/>
          <p:nvPr/>
        </p:nvSpPr>
        <p:spPr>
          <a:xfrm>
            <a:off x="7605933" y="40386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55</a:t>
            </a:r>
            <a:endParaRPr lang="en-US" dirty="0">
              <a:solidFill>
                <a:schemeClr val="tx1"/>
              </a:solidFill>
            </a:endParaRPr>
          </a:p>
        </p:txBody>
      </p:sp>
      <p:sp>
        <p:nvSpPr>
          <p:cNvPr id="40" name="Oval 39"/>
          <p:cNvSpPr/>
          <p:nvPr/>
        </p:nvSpPr>
        <p:spPr>
          <a:xfrm>
            <a:off x="2071468" y="5486401"/>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11</a:t>
            </a:r>
            <a:endParaRPr lang="en-US" dirty="0">
              <a:solidFill>
                <a:schemeClr val="tx1"/>
              </a:solidFill>
            </a:endParaRPr>
          </a:p>
        </p:txBody>
      </p:sp>
      <p:cxnSp>
        <p:nvCxnSpPr>
          <p:cNvPr id="55" name="Straight Connector 54"/>
          <p:cNvCxnSpPr>
            <a:stCxn id="23" idx="6"/>
            <a:endCxn id="36" idx="1"/>
          </p:cNvCxnSpPr>
          <p:nvPr/>
        </p:nvCxnSpPr>
        <p:spPr>
          <a:xfrm>
            <a:off x="7148733" y="3713872"/>
            <a:ext cx="557633" cy="39168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flipV="1">
            <a:off x="2642768" y="5091332"/>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6491069" y="19812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sp>
        <p:nvSpPr>
          <p:cNvPr id="22" name="Oval 21"/>
          <p:cNvSpPr/>
          <p:nvPr/>
        </p:nvSpPr>
        <p:spPr>
          <a:xfrm>
            <a:off x="7529733" y="272327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60</a:t>
            </a:r>
            <a:endParaRPr lang="en-US" dirty="0">
              <a:solidFill>
                <a:schemeClr val="tx1"/>
              </a:solidFill>
            </a:endParaRPr>
          </a:p>
        </p:txBody>
      </p:sp>
      <p:sp>
        <p:nvSpPr>
          <p:cNvPr id="23" name="Oval 22"/>
          <p:cNvSpPr/>
          <p:nvPr/>
        </p:nvSpPr>
        <p:spPr>
          <a:xfrm>
            <a:off x="6462933" y="348527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50</a:t>
            </a:r>
            <a:endParaRPr lang="en-US" dirty="0">
              <a:solidFill>
                <a:schemeClr val="tx1"/>
              </a:solidFill>
            </a:endParaRPr>
          </a:p>
        </p:txBody>
      </p:sp>
      <p:cxnSp>
        <p:nvCxnSpPr>
          <p:cNvPr id="24" name="Straight Connector 23"/>
          <p:cNvCxnSpPr/>
          <p:nvPr/>
        </p:nvCxnSpPr>
        <p:spPr>
          <a:xfrm rot="16200000" flipH="1">
            <a:off x="7127372" y="2287433"/>
            <a:ext cx="462023" cy="57170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flipV="1">
            <a:off x="7034233" y="3090203"/>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5410200" y="2681069"/>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33</a:t>
            </a:r>
            <a:endParaRPr lang="en-US" dirty="0">
              <a:solidFill>
                <a:schemeClr val="tx1"/>
              </a:solidFill>
            </a:endParaRPr>
          </a:p>
        </p:txBody>
      </p:sp>
      <p:cxnSp>
        <p:nvCxnSpPr>
          <p:cNvPr id="27" name="Straight Connector 26"/>
          <p:cNvCxnSpPr/>
          <p:nvPr/>
        </p:nvCxnSpPr>
        <p:spPr>
          <a:xfrm rot="10800000" flipV="1">
            <a:off x="5967432" y="2286000"/>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5319933" y="60960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55</a:t>
            </a:r>
            <a:endParaRPr lang="en-US" dirty="0">
              <a:solidFill>
                <a:schemeClr val="tx1"/>
              </a:solidFill>
            </a:endParaRPr>
          </a:p>
        </p:txBody>
      </p:sp>
      <p:cxnSp>
        <p:nvCxnSpPr>
          <p:cNvPr id="29" name="Straight Connector 28"/>
          <p:cNvCxnSpPr>
            <a:stCxn id="32" idx="6"/>
            <a:endCxn id="28" idx="1"/>
          </p:cNvCxnSpPr>
          <p:nvPr/>
        </p:nvCxnSpPr>
        <p:spPr>
          <a:xfrm>
            <a:off x="4862733" y="5771272"/>
            <a:ext cx="557633" cy="39168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4205069" y="4038600"/>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40</a:t>
            </a:r>
            <a:endParaRPr lang="en-US" dirty="0">
              <a:solidFill>
                <a:schemeClr val="tx1"/>
              </a:solidFill>
            </a:endParaRPr>
          </a:p>
        </p:txBody>
      </p:sp>
      <p:sp>
        <p:nvSpPr>
          <p:cNvPr id="31" name="Oval 30"/>
          <p:cNvSpPr/>
          <p:nvPr/>
        </p:nvSpPr>
        <p:spPr>
          <a:xfrm>
            <a:off x="5243733" y="478067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60</a:t>
            </a:r>
            <a:endParaRPr lang="en-US" dirty="0">
              <a:solidFill>
                <a:schemeClr val="tx1"/>
              </a:solidFill>
            </a:endParaRPr>
          </a:p>
        </p:txBody>
      </p:sp>
      <p:sp>
        <p:nvSpPr>
          <p:cNvPr id="32" name="Oval 31"/>
          <p:cNvSpPr/>
          <p:nvPr/>
        </p:nvSpPr>
        <p:spPr>
          <a:xfrm>
            <a:off x="4176933" y="5542672"/>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50</a:t>
            </a:r>
            <a:endParaRPr lang="en-US" dirty="0">
              <a:solidFill>
                <a:schemeClr val="tx1"/>
              </a:solidFill>
            </a:endParaRPr>
          </a:p>
        </p:txBody>
      </p:sp>
      <p:cxnSp>
        <p:nvCxnSpPr>
          <p:cNvPr id="33" name="Straight Connector 32"/>
          <p:cNvCxnSpPr/>
          <p:nvPr/>
        </p:nvCxnSpPr>
        <p:spPr>
          <a:xfrm rot="16200000" flipH="1">
            <a:off x="4841372" y="4344833"/>
            <a:ext cx="462023" cy="57170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0800000" flipV="1">
            <a:off x="4748233" y="5147603"/>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3124200" y="4738469"/>
            <a:ext cx="685800" cy="4572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33</a:t>
            </a:r>
            <a:endParaRPr lang="en-US" dirty="0">
              <a:solidFill>
                <a:schemeClr val="tx1"/>
              </a:solidFill>
            </a:endParaRPr>
          </a:p>
        </p:txBody>
      </p:sp>
      <p:cxnSp>
        <p:nvCxnSpPr>
          <p:cNvPr id="41" name="Straight Connector 40"/>
          <p:cNvCxnSpPr/>
          <p:nvPr/>
        </p:nvCxnSpPr>
        <p:spPr>
          <a:xfrm rot="10800000" flipV="1">
            <a:off x="3681432" y="4343400"/>
            <a:ext cx="557633" cy="447955"/>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Binary Heap</a:t>
            </a:r>
            <a:endParaRPr lang="en-US" dirty="0"/>
          </a:p>
        </p:txBody>
      </p:sp>
      <p:sp>
        <p:nvSpPr>
          <p:cNvPr id="3" name="Content Placeholder 2"/>
          <p:cNvSpPr>
            <a:spLocks noGrp="1"/>
          </p:cNvSpPr>
          <p:nvPr>
            <p:ph idx="1"/>
          </p:nvPr>
        </p:nvSpPr>
        <p:spPr/>
        <p:txBody>
          <a:bodyPr/>
          <a:lstStyle/>
          <a:p>
            <a:pPr algn="just"/>
            <a:r>
              <a:rPr lang="en-US" sz="2400" dirty="0"/>
              <a:t>A Binary Heap is a Binary Tree with following </a:t>
            </a:r>
            <a:r>
              <a:rPr lang="en-US" sz="2400" dirty="0" smtClean="0"/>
              <a:t>properties.</a:t>
            </a:r>
          </a:p>
          <a:p>
            <a:pPr marL="109537" indent="0" algn="just">
              <a:buNone/>
            </a:pPr>
            <a:r>
              <a:rPr lang="en-US" sz="2400" dirty="0" smtClean="0"/>
              <a:t>1</a:t>
            </a:r>
            <a:r>
              <a:rPr lang="en-US" sz="2400" dirty="0"/>
              <a:t>) It’s a complete tree (All levels are completely filled except possibly the last level and the last level has all keys as left as possible). This property of Binary Heap makes them suitable to be stored in an array.</a:t>
            </a:r>
          </a:p>
          <a:p>
            <a:pPr marL="109537" indent="0" algn="just">
              <a:buNone/>
            </a:pPr>
            <a:r>
              <a:rPr lang="en-US" sz="2400" dirty="0"/>
              <a:t>2) A Binary Heap is either Min Heap or Max Heap. In a Min Binary Heap, the key at root must be minimum among all keys present in Binary Heap. The same property must be recursively true for all nodes in Binary Tree. Max Binary Heap is similar to </a:t>
            </a:r>
            <a:r>
              <a:rPr lang="en-US" sz="2400" dirty="0" smtClean="0"/>
              <a:t>Min Heap</a:t>
            </a:r>
            <a:r>
              <a:rPr lang="en-US" sz="2400" dirty="0"/>
              <a:t>.</a:t>
            </a:r>
          </a:p>
          <a:p>
            <a:endParaRPr lang="en-US" dirty="0"/>
          </a:p>
        </p:txBody>
      </p:sp>
    </p:spTree>
    <p:extLst>
      <p:ext uri="{BB962C8B-B14F-4D97-AF65-F5344CB8AC3E}">
        <p14:creationId xmlns:p14="http://schemas.microsoft.com/office/powerpoint/2010/main" val="514066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255" y="609600"/>
            <a:ext cx="8229600" cy="1066800"/>
          </a:xfrm>
        </p:spPr>
        <p:txBody>
          <a:bodyPr/>
          <a:lstStyle/>
          <a:p>
            <a:pPr algn="ctr"/>
            <a:r>
              <a:rPr lang="en-US" dirty="0" smtClean="0"/>
              <a:t>Min Heap</a:t>
            </a:r>
            <a:endParaRPr lang="en-US" dirty="0"/>
          </a:p>
        </p:txBody>
      </p:sp>
      <p:sp>
        <p:nvSpPr>
          <p:cNvPr id="4" name="Rectangle 1"/>
          <p:cNvSpPr>
            <a:spLocks noChangeArrowheads="1"/>
          </p:cNvSpPr>
          <p:nvPr/>
        </p:nvSpPr>
        <p:spPr bwMode="auto">
          <a:xfrm>
            <a:off x="152400" y="1897252"/>
            <a:ext cx="944187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Min-Heap</a:t>
            </a:r>
            <a:r>
              <a:rPr kumimoji="0" lang="en-US" altLang="en-US" sz="24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 Where the value of the root node is less than or equal to either of its children.</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  </a:t>
            </a:r>
            <a:br>
              <a:rPr kumimoji="0" lang="en-US" altLang="en-US" sz="2400" b="0" i="0" u="none" strike="noStrike" cap="none" normalizeH="0" baseline="0" dirty="0" smtClean="0">
                <a:ln>
                  <a:noFill/>
                </a:ln>
                <a:solidFill>
                  <a:schemeClr val="tx1"/>
                </a:solidFill>
                <a:effectLst/>
                <a:latin typeface="Arial" panose="020B0604020202020204" pitchFamily="34" charset="0"/>
              </a:rPr>
            </a:b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pic>
        <p:nvPicPr>
          <p:cNvPr id="1026" name="Picture 2" descr="Max Heap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124200"/>
            <a:ext cx="4762500" cy="234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3374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81891"/>
            <a:ext cx="8229600" cy="1066800"/>
          </a:xfrm>
        </p:spPr>
        <p:txBody>
          <a:bodyPr/>
          <a:lstStyle/>
          <a:p>
            <a:pPr algn="ctr"/>
            <a:r>
              <a:rPr lang="en-US" dirty="0" smtClean="0"/>
              <a:t>Min Heap</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5400000">
            <a:off x="-883227" y="2102427"/>
            <a:ext cx="5652655" cy="4343400"/>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3356266" y="2206334"/>
            <a:ext cx="6317670" cy="4800600"/>
          </a:xfrm>
          <a:prstGeom prst="rect">
            <a:avLst/>
          </a:prstGeom>
        </p:spPr>
      </p:pic>
    </p:spTree>
    <p:extLst>
      <p:ext uri="{BB962C8B-B14F-4D97-AF65-F5344CB8AC3E}">
        <p14:creationId xmlns:p14="http://schemas.microsoft.com/office/powerpoint/2010/main" val="14626966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lstStyle/>
          <a:p>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704850" y="1827068"/>
            <a:ext cx="6858000" cy="51435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4452505" y="1619250"/>
            <a:ext cx="6858000" cy="5143500"/>
          </a:xfrm>
          <a:prstGeom prst="rect">
            <a:avLst/>
          </a:prstGeom>
        </p:spPr>
      </p:pic>
    </p:spTree>
    <p:extLst>
      <p:ext uri="{BB962C8B-B14F-4D97-AF65-F5344CB8AC3E}">
        <p14:creationId xmlns:p14="http://schemas.microsoft.com/office/powerpoint/2010/main" val="2459728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069848"/>
          </a:xfrm>
        </p:spPr>
        <p:txBody>
          <a:bodyPr/>
          <a:lstStyle/>
          <a:p>
            <a:r>
              <a:rPr lang="en-US" dirty="0" smtClean="0"/>
              <a:t>Huffman Tree</a:t>
            </a:r>
            <a:endParaRPr lang="en-US" dirty="0"/>
          </a:p>
        </p:txBody>
      </p:sp>
      <p:sp>
        <p:nvSpPr>
          <p:cNvPr id="3" name="Rectangle 2"/>
          <p:cNvSpPr/>
          <p:nvPr/>
        </p:nvSpPr>
        <p:spPr>
          <a:xfrm>
            <a:off x="381000" y="1755649"/>
            <a:ext cx="8229600" cy="1477328"/>
          </a:xfrm>
          <a:prstGeom prst="rect">
            <a:avLst/>
          </a:prstGeom>
        </p:spPr>
        <p:txBody>
          <a:bodyPr wrap="square">
            <a:spAutoFit/>
          </a:bodyPr>
          <a:lstStyle/>
          <a:p>
            <a:r>
              <a:rPr lang="en-US" dirty="0">
                <a:solidFill>
                  <a:srgbClr val="40424E"/>
                </a:solidFill>
                <a:latin typeface="urw-din"/>
              </a:rPr>
              <a:t>Huffman coding is a lossless data compression algorithm. The idea is to assign variable-length codes to input characters, lengths of the assigned codes are based on the frequencies of corresponding characters. The most frequent character gets the smallest code and the least frequent character gets the largest code.</a:t>
            </a:r>
            <a:endParaRPr lang="en-US" dirty="0"/>
          </a:p>
        </p:txBody>
      </p:sp>
    </p:spTree>
    <p:extLst>
      <p:ext uri="{BB962C8B-B14F-4D97-AF65-F5344CB8AC3E}">
        <p14:creationId xmlns:p14="http://schemas.microsoft.com/office/powerpoint/2010/main" val="3201603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229600" cy="1069848"/>
          </a:xfrm>
        </p:spPr>
        <p:txBody>
          <a:bodyPr/>
          <a:lstStyle/>
          <a:p>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153391" y="1077191"/>
            <a:ext cx="6858000" cy="4745182"/>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3465368" y="1255568"/>
            <a:ext cx="6858000" cy="4499264"/>
          </a:xfrm>
          <a:prstGeom prst="rect">
            <a:avLst/>
          </a:prstGeom>
        </p:spPr>
      </p:pic>
    </p:spTree>
    <p:extLst>
      <p:ext uri="{BB962C8B-B14F-4D97-AF65-F5344CB8AC3E}">
        <p14:creationId xmlns:p14="http://schemas.microsoft.com/office/powerpoint/2010/main" val="42749873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229600" cy="1069848"/>
          </a:xfrm>
        </p:spPr>
        <p:txBody>
          <a:bodyPr/>
          <a:lstStyle/>
          <a:p>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836468" y="1314450"/>
            <a:ext cx="6858000" cy="5143500"/>
          </a:xfrm>
          <a:prstGeom prst="rect">
            <a:avLst/>
          </a:prstGeom>
        </p:spPr>
      </p:pic>
    </p:spTree>
    <p:extLst>
      <p:ext uri="{BB962C8B-B14F-4D97-AF65-F5344CB8AC3E}">
        <p14:creationId xmlns:p14="http://schemas.microsoft.com/office/powerpoint/2010/main" val="2794441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914400"/>
            <a:ext cx="8229600" cy="762000"/>
          </a:xfrm>
        </p:spPr>
        <p:txBody>
          <a:bodyPr/>
          <a:lstStyle/>
          <a:p>
            <a:pPr eaLnBrk="1" hangingPunct="1"/>
            <a:r>
              <a:rPr lang="en-US" sz="3600" dirty="0" smtClean="0"/>
              <a:t>Huffman Algorithm for Data Encoding</a:t>
            </a:r>
          </a:p>
        </p:txBody>
      </p:sp>
      <p:sp>
        <p:nvSpPr>
          <p:cNvPr id="19" name="Content Placeholder 18"/>
          <p:cNvSpPr>
            <a:spLocks noGrp="1"/>
          </p:cNvSpPr>
          <p:nvPr>
            <p:ph idx="1"/>
          </p:nvPr>
        </p:nvSpPr>
        <p:spPr>
          <a:xfrm>
            <a:off x="457200" y="1981200"/>
            <a:ext cx="8229600" cy="4324350"/>
          </a:xfrm>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Bit(C1)=</a:t>
            </a:r>
            <a:r>
              <a:rPr lang="en-US" sz="2400" dirty="0" smtClean="0"/>
              <a:t>16*3+5*3=12*3+17*3+10*3+25*3</a:t>
            </a:r>
            <a:r>
              <a:rPr lang="en-US" dirty="0" smtClean="0"/>
              <a:t>=255</a:t>
            </a:r>
          </a:p>
          <a:p>
            <a:pPr>
              <a:buNone/>
            </a:pPr>
            <a:r>
              <a:rPr lang="en-US" dirty="0" smtClean="0"/>
              <a:t>	Bit(C2)=</a:t>
            </a:r>
            <a:r>
              <a:rPr lang="en-US" sz="2400" dirty="0" smtClean="0"/>
              <a:t>16*2+5*4+12*3+17*2+10*4+25*2=212</a:t>
            </a:r>
            <a:endParaRPr lang="en-US" dirty="0" smtClean="0"/>
          </a:p>
        </p:txBody>
      </p:sp>
      <p:graphicFrame>
        <p:nvGraphicFramePr>
          <p:cNvPr id="20" name="Content Placeholder 17"/>
          <p:cNvGraphicFramePr>
            <a:graphicFrameLocks/>
          </p:cNvGraphicFramePr>
          <p:nvPr/>
        </p:nvGraphicFramePr>
        <p:xfrm>
          <a:off x="914400" y="2209800"/>
          <a:ext cx="7467600" cy="2773680"/>
        </p:xfrm>
        <a:graphic>
          <a:graphicData uri="http://schemas.openxmlformats.org/drawingml/2006/table">
            <a:tbl>
              <a:tblPr firstRow="1" bandRow="1">
                <a:tableStyleId>{5C22544A-7EE6-4342-B048-85BDC9FD1C3A}</a:tableStyleId>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121920">
                <a:tc>
                  <a:txBody>
                    <a:bodyPr/>
                    <a:lstStyle/>
                    <a:p>
                      <a:pPr algn="ctr"/>
                      <a:r>
                        <a:rPr lang="en-US" dirty="0" smtClean="0"/>
                        <a:t>Character</a:t>
                      </a:r>
                      <a:endParaRPr lang="en-US" dirty="0"/>
                    </a:p>
                  </a:txBody>
                  <a:tcPr/>
                </a:tc>
                <a:tc>
                  <a:txBody>
                    <a:bodyPr/>
                    <a:lstStyle/>
                    <a:p>
                      <a:pPr algn="ctr"/>
                      <a:r>
                        <a:rPr lang="en-US" dirty="0" smtClean="0"/>
                        <a:t>Frequency</a:t>
                      </a:r>
                      <a:endParaRPr lang="en-US" dirty="0"/>
                    </a:p>
                  </a:txBody>
                  <a:tcPr/>
                </a:tc>
                <a:tc>
                  <a:txBody>
                    <a:bodyPr/>
                    <a:lstStyle/>
                    <a:p>
                      <a:pPr algn="ctr"/>
                      <a:r>
                        <a:rPr lang="en-US" sz="1600" dirty="0" smtClean="0"/>
                        <a:t>Fixed Length(C1)</a:t>
                      </a:r>
                      <a:endParaRPr lang="en-US" sz="1600" dirty="0"/>
                    </a:p>
                  </a:txBody>
                  <a:tcPr/>
                </a:tc>
                <a:tc>
                  <a:txBody>
                    <a:bodyPr/>
                    <a:lstStyle/>
                    <a:p>
                      <a:pPr algn="ctr"/>
                      <a:r>
                        <a:rPr lang="en-US" dirty="0" smtClean="0"/>
                        <a:t>Huffman(C2)</a:t>
                      </a:r>
                      <a:endParaRPr lang="en-US" dirty="0"/>
                    </a:p>
                  </a:txBody>
                  <a:tcPr/>
                </a:tc>
                <a:extLst>
                  <a:ext uri="{0D108BD9-81ED-4DB2-BD59-A6C34878D82A}">
                    <a16:rowId xmlns:a16="http://schemas.microsoft.com/office/drawing/2014/main" val="10000"/>
                  </a:ext>
                </a:extLst>
              </a:tr>
              <a:tr h="353559">
                <a:tc>
                  <a:txBody>
                    <a:bodyPr/>
                    <a:lstStyle/>
                    <a:p>
                      <a:pPr algn="ctr"/>
                      <a:r>
                        <a:rPr lang="en-US" dirty="0" smtClean="0"/>
                        <a:t>A</a:t>
                      </a:r>
                      <a:endParaRPr lang="en-US" dirty="0"/>
                    </a:p>
                  </a:txBody>
                  <a:tcPr/>
                </a:tc>
                <a:tc>
                  <a:txBody>
                    <a:bodyPr/>
                    <a:lstStyle/>
                    <a:p>
                      <a:pPr algn="ctr"/>
                      <a:r>
                        <a:rPr lang="en-US" dirty="0" smtClean="0"/>
                        <a:t>16</a:t>
                      </a:r>
                      <a:endParaRPr lang="en-US" dirty="0"/>
                    </a:p>
                  </a:txBody>
                  <a:tcPr/>
                </a:tc>
                <a:tc>
                  <a:txBody>
                    <a:bodyPr/>
                    <a:lstStyle/>
                    <a:p>
                      <a:pPr algn="ctr"/>
                      <a:r>
                        <a:rPr lang="en-US" dirty="0" smtClean="0"/>
                        <a:t>000</a:t>
                      </a:r>
                      <a:endParaRPr lang="en-US" dirty="0"/>
                    </a:p>
                  </a:txBody>
                  <a:tcPr/>
                </a:tc>
                <a:tc>
                  <a:txBody>
                    <a:bodyPr/>
                    <a:lstStyle/>
                    <a:p>
                      <a:pPr algn="ctr"/>
                      <a:r>
                        <a:rPr lang="en-US" dirty="0" smtClean="0"/>
                        <a:t>00</a:t>
                      </a:r>
                      <a:endParaRPr lang="en-US" dirty="0"/>
                    </a:p>
                  </a:txBody>
                  <a:tcPr/>
                </a:tc>
                <a:extLst>
                  <a:ext uri="{0D108BD9-81ED-4DB2-BD59-A6C34878D82A}">
                    <a16:rowId xmlns:a16="http://schemas.microsoft.com/office/drawing/2014/main" val="10001"/>
                  </a:ext>
                </a:extLst>
              </a:tr>
              <a:tr h="353559">
                <a:tc>
                  <a:txBody>
                    <a:bodyPr/>
                    <a:lstStyle/>
                    <a:p>
                      <a:pPr algn="ctr"/>
                      <a:r>
                        <a:rPr lang="en-US" dirty="0" smtClean="0"/>
                        <a:t>B</a:t>
                      </a:r>
                      <a:endParaRPr lang="en-US" dirty="0"/>
                    </a:p>
                  </a:txBody>
                  <a:tcPr/>
                </a:tc>
                <a:tc>
                  <a:txBody>
                    <a:bodyPr/>
                    <a:lstStyle/>
                    <a:p>
                      <a:pPr algn="ctr"/>
                      <a:r>
                        <a:rPr lang="en-US" dirty="0" smtClean="0"/>
                        <a:t>5</a:t>
                      </a:r>
                      <a:endParaRPr lang="en-US" dirty="0"/>
                    </a:p>
                  </a:txBody>
                  <a:tcPr/>
                </a:tc>
                <a:tc>
                  <a:txBody>
                    <a:bodyPr/>
                    <a:lstStyle/>
                    <a:p>
                      <a:pPr algn="ctr"/>
                      <a:r>
                        <a:rPr lang="en-US" dirty="0" smtClean="0"/>
                        <a:t>001</a:t>
                      </a:r>
                      <a:endParaRPr lang="en-US" dirty="0"/>
                    </a:p>
                  </a:txBody>
                  <a:tcPr/>
                </a:tc>
                <a:tc>
                  <a:txBody>
                    <a:bodyPr/>
                    <a:lstStyle/>
                    <a:p>
                      <a:pPr algn="ctr"/>
                      <a:r>
                        <a:rPr lang="en-US" dirty="0" smtClean="0"/>
                        <a:t>1100</a:t>
                      </a:r>
                      <a:endParaRPr lang="en-US" dirty="0"/>
                    </a:p>
                  </a:txBody>
                  <a:tcPr/>
                </a:tc>
                <a:extLst>
                  <a:ext uri="{0D108BD9-81ED-4DB2-BD59-A6C34878D82A}">
                    <a16:rowId xmlns:a16="http://schemas.microsoft.com/office/drawing/2014/main" val="10002"/>
                  </a:ext>
                </a:extLst>
              </a:tr>
              <a:tr h="353559">
                <a:tc>
                  <a:txBody>
                    <a:bodyPr/>
                    <a:lstStyle/>
                    <a:p>
                      <a:pPr algn="ctr"/>
                      <a:r>
                        <a:rPr lang="en-US" dirty="0" smtClean="0"/>
                        <a:t>C</a:t>
                      </a:r>
                      <a:endParaRPr lang="en-US" dirty="0"/>
                    </a:p>
                  </a:txBody>
                  <a:tcPr/>
                </a:tc>
                <a:tc>
                  <a:txBody>
                    <a:bodyPr/>
                    <a:lstStyle/>
                    <a:p>
                      <a:pPr algn="ctr"/>
                      <a:r>
                        <a:rPr lang="en-US" dirty="0" smtClean="0"/>
                        <a:t>12</a:t>
                      </a:r>
                      <a:endParaRPr lang="en-US" dirty="0"/>
                    </a:p>
                  </a:txBody>
                  <a:tcPr/>
                </a:tc>
                <a:tc>
                  <a:txBody>
                    <a:bodyPr/>
                    <a:lstStyle/>
                    <a:p>
                      <a:pPr algn="ctr"/>
                      <a:r>
                        <a:rPr lang="en-US" dirty="0" smtClean="0"/>
                        <a:t>010</a:t>
                      </a:r>
                      <a:endParaRPr lang="en-US" dirty="0"/>
                    </a:p>
                  </a:txBody>
                  <a:tcPr/>
                </a:tc>
                <a:tc>
                  <a:txBody>
                    <a:bodyPr/>
                    <a:lstStyle/>
                    <a:p>
                      <a:pPr algn="ctr"/>
                      <a:r>
                        <a:rPr lang="en-US" dirty="0" smtClean="0"/>
                        <a:t>110</a:t>
                      </a:r>
                      <a:endParaRPr lang="en-US" dirty="0"/>
                    </a:p>
                  </a:txBody>
                  <a:tcPr/>
                </a:tc>
                <a:extLst>
                  <a:ext uri="{0D108BD9-81ED-4DB2-BD59-A6C34878D82A}">
                    <a16:rowId xmlns:a16="http://schemas.microsoft.com/office/drawing/2014/main" val="10003"/>
                  </a:ext>
                </a:extLst>
              </a:tr>
              <a:tr h="353559">
                <a:tc>
                  <a:txBody>
                    <a:bodyPr/>
                    <a:lstStyle/>
                    <a:p>
                      <a:pPr algn="ctr"/>
                      <a:r>
                        <a:rPr lang="en-US" dirty="0" smtClean="0"/>
                        <a:t>D</a:t>
                      </a:r>
                      <a:endParaRPr lang="en-US" dirty="0"/>
                    </a:p>
                  </a:txBody>
                  <a:tcPr/>
                </a:tc>
                <a:tc>
                  <a:txBody>
                    <a:bodyPr/>
                    <a:lstStyle/>
                    <a:p>
                      <a:pPr algn="ctr"/>
                      <a:r>
                        <a:rPr lang="en-US" dirty="0" smtClean="0"/>
                        <a:t>17</a:t>
                      </a:r>
                      <a:endParaRPr lang="en-US" dirty="0"/>
                    </a:p>
                  </a:txBody>
                  <a:tcPr/>
                </a:tc>
                <a:tc>
                  <a:txBody>
                    <a:bodyPr/>
                    <a:lstStyle/>
                    <a:p>
                      <a:pPr algn="ctr"/>
                      <a:r>
                        <a:rPr lang="en-US" dirty="0" smtClean="0"/>
                        <a:t>011</a:t>
                      </a:r>
                      <a:endParaRPr lang="en-US" dirty="0"/>
                    </a:p>
                  </a:txBody>
                  <a:tcPr/>
                </a:tc>
                <a:tc>
                  <a:txBody>
                    <a:bodyPr/>
                    <a:lstStyle/>
                    <a:p>
                      <a:pPr algn="ctr"/>
                      <a:r>
                        <a:rPr lang="en-US" dirty="0" smtClean="0"/>
                        <a:t>01</a:t>
                      </a:r>
                      <a:endParaRPr lang="en-US" dirty="0"/>
                    </a:p>
                  </a:txBody>
                  <a:tcPr/>
                </a:tc>
                <a:extLst>
                  <a:ext uri="{0D108BD9-81ED-4DB2-BD59-A6C34878D82A}">
                    <a16:rowId xmlns:a16="http://schemas.microsoft.com/office/drawing/2014/main" val="10004"/>
                  </a:ext>
                </a:extLst>
              </a:tr>
              <a:tr h="353559">
                <a:tc>
                  <a:txBody>
                    <a:bodyPr/>
                    <a:lstStyle/>
                    <a:p>
                      <a:pPr algn="ctr"/>
                      <a:r>
                        <a:rPr lang="en-US" dirty="0" smtClean="0"/>
                        <a:t>E</a:t>
                      </a:r>
                      <a:endParaRPr lang="en-US" dirty="0"/>
                    </a:p>
                  </a:txBody>
                  <a:tcPr/>
                </a:tc>
                <a:tc>
                  <a:txBody>
                    <a:bodyPr/>
                    <a:lstStyle/>
                    <a:p>
                      <a:pPr algn="ctr"/>
                      <a:r>
                        <a:rPr lang="en-US" dirty="0" smtClean="0"/>
                        <a:t>10</a:t>
                      </a:r>
                      <a:endParaRPr lang="en-US" dirty="0"/>
                    </a:p>
                  </a:txBody>
                  <a:tcPr/>
                </a:tc>
                <a:tc>
                  <a:txBody>
                    <a:bodyPr/>
                    <a:lstStyle/>
                    <a:p>
                      <a:pPr algn="ctr"/>
                      <a:r>
                        <a:rPr lang="en-US" dirty="0" smtClean="0"/>
                        <a:t>100</a:t>
                      </a:r>
                      <a:endParaRPr lang="en-US" dirty="0"/>
                    </a:p>
                  </a:txBody>
                  <a:tcPr/>
                </a:tc>
                <a:tc>
                  <a:txBody>
                    <a:bodyPr/>
                    <a:lstStyle/>
                    <a:p>
                      <a:pPr algn="ctr"/>
                      <a:r>
                        <a:rPr lang="en-US" dirty="0" smtClean="0"/>
                        <a:t>1111</a:t>
                      </a:r>
                      <a:endParaRPr lang="en-US" dirty="0"/>
                    </a:p>
                  </a:txBody>
                  <a:tcPr/>
                </a:tc>
                <a:extLst>
                  <a:ext uri="{0D108BD9-81ED-4DB2-BD59-A6C34878D82A}">
                    <a16:rowId xmlns:a16="http://schemas.microsoft.com/office/drawing/2014/main" val="10005"/>
                  </a:ext>
                </a:extLst>
              </a:tr>
              <a:tr h="353559">
                <a:tc>
                  <a:txBody>
                    <a:bodyPr/>
                    <a:lstStyle/>
                    <a:p>
                      <a:pPr algn="ctr"/>
                      <a:r>
                        <a:rPr lang="en-US" dirty="0" smtClean="0"/>
                        <a:t>F</a:t>
                      </a:r>
                      <a:endParaRPr lang="en-US" dirty="0"/>
                    </a:p>
                  </a:txBody>
                  <a:tcPr/>
                </a:tc>
                <a:tc>
                  <a:txBody>
                    <a:bodyPr/>
                    <a:lstStyle/>
                    <a:p>
                      <a:pPr algn="ctr"/>
                      <a:r>
                        <a:rPr lang="en-US" dirty="0" smtClean="0"/>
                        <a:t>25</a:t>
                      </a:r>
                      <a:endParaRPr lang="en-US" dirty="0"/>
                    </a:p>
                  </a:txBody>
                  <a:tcPr/>
                </a:tc>
                <a:tc>
                  <a:txBody>
                    <a:bodyPr/>
                    <a:lstStyle/>
                    <a:p>
                      <a:pPr algn="ctr"/>
                      <a:r>
                        <a:rPr lang="en-US" dirty="0" smtClean="0"/>
                        <a:t>101</a:t>
                      </a:r>
                      <a:endParaRPr lang="en-US" dirty="0"/>
                    </a:p>
                  </a:txBody>
                  <a:tcPr/>
                </a:tc>
                <a:tc>
                  <a:txBody>
                    <a:bodyPr/>
                    <a:lstStyle/>
                    <a:p>
                      <a:pPr algn="ctr"/>
                      <a:r>
                        <a:rPr lang="en-US" dirty="0" smtClean="0"/>
                        <a:t>10</a:t>
                      </a:r>
                      <a:endParaRPr lang="en-US" dirty="0"/>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lstStyle/>
          <a:p>
            <a:r>
              <a:rPr lang="en-US" sz="3600" dirty="0" smtClean="0"/>
              <a:t>Huffman Algorithm for Data Encoding</a:t>
            </a:r>
            <a:endParaRPr lang="en-US" sz="3600" dirty="0"/>
          </a:p>
        </p:txBody>
      </p:sp>
      <p:sp>
        <p:nvSpPr>
          <p:cNvPr id="3" name="Content Placeholder 2"/>
          <p:cNvSpPr>
            <a:spLocks noGrp="1"/>
          </p:cNvSpPr>
          <p:nvPr>
            <p:ph idx="1"/>
          </p:nvPr>
        </p:nvSpPr>
        <p:spPr>
          <a:xfrm>
            <a:off x="457200" y="1905000"/>
            <a:ext cx="8229600" cy="4495800"/>
          </a:xfrm>
        </p:spPr>
        <p:txBody>
          <a:bodyPr/>
          <a:lstStyle/>
          <a:p>
            <a:pPr>
              <a:buNone/>
            </a:pPr>
            <a:endParaRPr lang="en-US" dirty="0" smtClean="0"/>
          </a:p>
          <a:p>
            <a:pPr>
              <a:buNone/>
            </a:pPr>
            <a:endParaRPr lang="en-US" dirty="0" smtClean="0"/>
          </a:p>
          <a:p>
            <a:pPr>
              <a:buNone/>
            </a:pPr>
            <a:endParaRPr lang="en-US" dirty="0" smtClean="0"/>
          </a:p>
          <a:p>
            <a:pPr>
              <a:buNone/>
            </a:pPr>
            <a:r>
              <a:rPr lang="en-US" b="1" dirty="0" smtClean="0"/>
              <a:t>Step 1:</a:t>
            </a:r>
            <a:endParaRPr lang="en-US" b="1" dirty="0"/>
          </a:p>
        </p:txBody>
      </p:sp>
      <p:sp>
        <p:nvSpPr>
          <p:cNvPr id="4" name="Rounded Rectangle 3"/>
          <p:cNvSpPr/>
          <p:nvPr/>
        </p:nvSpPr>
        <p:spPr>
          <a:xfrm>
            <a:off x="914400" y="2133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 5</a:t>
            </a:r>
            <a:endParaRPr lang="en-US" b="1" dirty="0">
              <a:solidFill>
                <a:schemeClr val="tx1"/>
              </a:solidFill>
            </a:endParaRPr>
          </a:p>
        </p:txBody>
      </p:sp>
      <p:sp>
        <p:nvSpPr>
          <p:cNvPr id="7" name="Rounded Rectangle 6"/>
          <p:cNvSpPr/>
          <p:nvPr/>
        </p:nvSpPr>
        <p:spPr>
          <a:xfrm>
            <a:off x="2133600" y="2133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E: 10</a:t>
            </a:r>
            <a:endParaRPr lang="en-US" b="1" dirty="0">
              <a:solidFill>
                <a:schemeClr val="tx1"/>
              </a:solidFill>
            </a:endParaRPr>
          </a:p>
        </p:txBody>
      </p:sp>
      <p:sp>
        <p:nvSpPr>
          <p:cNvPr id="8" name="Rounded Rectangle 7"/>
          <p:cNvSpPr/>
          <p:nvPr/>
        </p:nvSpPr>
        <p:spPr>
          <a:xfrm>
            <a:off x="3276600" y="2133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 12</a:t>
            </a:r>
            <a:endParaRPr lang="en-US" b="1" dirty="0">
              <a:solidFill>
                <a:schemeClr val="tx1"/>
              </a:solidFill>
            </a:endParaRPr>
          </a:p>
        </p:txBody>
      </p:sp>
      <p:sp>
        <p:nvSpPr>
          <p:cNvPr id="9" name="Rounded Rectangle 8"/>
          <p:cNvSpPr/>
          <p:nvPr/>
        </p:nvSpPr>
        <p:spPr>
          <a:xfrm>
            <a:off x="4495800" y="2133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 16</a:t>
            </a:r>
            <a:endParaRPr lang="en-US" b="1" dirty="0">
              <a:solidFill>
                <a:schemeClr val="tx1"/>
              </a:solidFill>
            </a:endParaRPr>
          </a:p>
        </p:txBody>
      </p:sp>
      <p:sp>
        <p:nvSpPr>
          <p:cNvPr id="10" name="Rounded Rectangle 9"/>
          <p:cNvSpPr/>
          <p:nvPr/>
        </p:nvSpPr>
        <p:spPr>
          <a:xfrm>
            <a:off x="5715000" y="2133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D: 17</a:t>
            </a:r>
            <a:endParaRPr lang="en-US" b="1" dirty="0">
              <a:solidFill>
                <a:schemeClr val="tx1"/>
              </a:solidFill>
            </a:endParaRPr>
          </a:p>
        </p:txBody>
      </p:sp>
      <p:sp>
        <p:nvSpPr>
          <p:cNvPr id="11" name="Rounded Rectangle 10"/>
          <p:cNvSpPr/>
          <p:nvPr/>
        </p:nvSpPr>
        <p:spPr>
          <a:xfrm>
            <a:off x="6934200" y="2133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F: 25</a:t>
            </a:r>
            <a:endParaRPr lang="en-US" b="1" dirty="0">
              <a:solidFill>
                <a:schemeClr val="tx1"/>
              </a:solidFill>
            </a:endParaRPr>
          </a:p>
        </p:txBody>
      </p:sp>
      <p:sp>
        <p:nvSpPr>
          <p:cNvPr id="12" name="Rounded Rectangle 11"/>
          <p:cNvSpPr/>
          <p:nvPr/>
        </p:nvSpPr>
        <p:spPr>
          <a:xfrm>
            <a:off x="2209800" y="57150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 5</a:t>
            </a:r>
            <a:endParaRPr lang="en-US" b="1" dirty="0">
              <a:solidFill>
                <a:schemeClr val="tx1"/>
              </a:solidFill>
            </a:endParaRPr>
          </a:p>
        </p:txBody>
      </p:sp>
      <p:sp>
        <p:nvSpPr>
          <p:cNvPr id="13" name="Rounded Rectangle 12"/>
          <p:cNvSpPr/>
          <p:nvPr/>
        </p:nvSpPr>
        <p:spPr>
          <a:xfrm>
            <a:off x="3429000" y="57150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E: 10</a:t>
            </a:r>
            <a:endParaRPr lang="en-US" b="1" dirty="0">
              <a:solidFill>
                <a:schemeClr val="tx1"/>
              </a:solidFill>
            </a:endParaRPr>
          </a:p>
        </p:txBody>
      </p:sp>
      <p:sp>
        <p:nvSpPr>
          <p:cNvPr id="14" name="Rounded Rectangle 13"/>
          <p:cNvSpPr/>
          <p:nvPr/>
        </p:nvSpPr>
        <p:spPr>
          <a:xfrm>
            <a:off x="914400" y="4267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 12</a:t>
            </a:r>
            <a:endParaRPr lang="en-US" b="1" dirty="0">
              <a:solidFill>
                <a:schemeClr val="tx1"/>
              </a:solidFill>
            </a:endParaRPr>
          </a:p>
        </p:txBody>
      </p:sp>
      <p:sp>
        <p:nvSpPr>
          <p:cNvPr id="15" name="Rounded Rectangle 14"/>
          <p:cNvSpPr/>
          <p:nvPr/>
        </p:nvSpPr>
        <p:spPr>
          <a:xfrm>
            <a:off x="4572000" y="4267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 16</a:t>
            </a:r>
            <a:endParaRPr lang="en-US" b="1" dirty="0">
              <a:solidFill>
                <a:schemeClr val="tx1"/>
              </a:solidFill>
            </a:endParaRPr>
          </a:p>
        </p:txBody>
      </p:sp>
      <p:sp>
        <p:nvSpPr>
          <p:cNvPr id="16" name="Rounded Rectangle 15"/>
          <p:cNvSpPr/>
          <p:nvPr/>
        </p:nvSpPr>
        <p:spPr>
          <a:xfrm>
            <a:off x="5791200" y="4267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D: 17</a:t>
            </a:r>
            <a:endParaRPr lang="en-US" b="1" dirty="0">
              <a:solidFill>
                <a:schemeClr val="tx1"/>
              </a:solidFill>
            </a:endParaRPr>
          </a:p>
        </p:txBody>
      </p:sp>
      <p:sp>
        <p:nvSpPr>
          <p:cNvPr id="17" name="Rounded Rectangle 16"/>
          <p:cNvSpPr/>
          <p:nvPr/>
        </p:nvSpPr>
        <p:spPr>
          <a:xfrm>
            <a:off x="7010400" y="4267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F: 25</a:t>
            </a:r>
            <a:endParaRPr lang="en-US" b="1" dirty="0">
              <a:solidFill>
                <a:schemeClr val="tx1"/>
              </a:solidFill>
            </a:endParaRPr>
          </a:p>
        </p:txBody>
      </p:sp>
      <p:sp>
        <p:nvSpPr>
          <p:cNvPr id="18" name="Oval 17"/>
          <p:cNvSpPr/>
          <p:nvPr/>
        </p:nvSpPr>
        <p:spPr>
          <a:xfrm>
            <a:off x="2819400" y="41148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15</a:t>
            </a:r>
            <a:endParaRPr lang="en-US" sz="2000" b="1" dirty="0">
              <a:solidFill>
                <a:schemeClr val="tx1"/>
              </a:solidFill>
            </a:endParaRPr>
          </a:p>
        </p:txBody>
      </p:sp>
      <p:cxnSp>
        <p:nvCxnSpPr>
          <p:cNvPr id="20" name="Straight Connector 19"/>
          <p:cNvCxnSpPr>
            <a:stCxn id="18" idx="4"/>
            <a:endCxn id="12" idx="0"/>
          </p:cNvCxnSpPr>
          <p:nvPr/>
        </p:nvCxnSpPr>
        <p:spPr>
          <a:xfrm rot="5400000">
            <a:off x="2571750" y="5010150"/>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8" idx="4"/>
          </p:cNvCxnSpPr>
          <p:nvPr/>
        </p:nvCxnSpPr>
        <p:spPr>
          <a:xfrm rot="16200000" flipH="1">
            <a:off x="3190594" y="4962805"/>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362200" y="48768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27" name="Rectangle 26"/>
          <p:cNvSpPr/>
          <p:nvPr/>
        </p:nvSpPr>
        <p:spPr>
          <a:xfrm>
            <a:off x="3872132" y="48768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lstStyle/>
          <a:p>
            <a:r>
              <a:rPr lang="en-US" sz="3600" dirty="0" smtClean="0"/>
              <a:t>Huffman Algorithm for Data Encoding</a:t>
            </a:r>
            <a:endParaRPr lang="en-US" sz="3600" dirty="0"/>
          </a:p>
        </p:txBody>
      </p:sp>
      <p:sp>
        <p:nvSpPr>
          <p:cNvPr id="3" name="Content Placeholder 2"/>
          <p:cNvSpPr>
            <a:spLocks noGrp="1"/>
          </p:cNvSpPr>
          <p:nvPr>
            <p:ph idx="1"/>
          </p:nvPr>
        </p:nvSpPr>
        <p:spPr>
          <a:xfrm>
            <a:off x="457200" y="1905000"/>
            <a:ext cx="8229600" cy="4495800"/>
          </a:xfrm>
        </p:spPr>
        <p:txBody>
          <a:bodyPr/>
          <a:lstStyle/>
          <a:p>
            <a:pPr>
              <a:buNone/>
            </a:pPr>
            <a:r>
              <a:rPr lang="en-US" b="1" dirty="0" smtClean="0"/>
              <a:t>Step 2:</a:t>
            </a:r>
            <a:endParaRPr lang="en-US" b="1" dirty="0"/>
          </a:p>
        </p:txBody>
      </p:sp>
      <p:sp>
        <p:nvSpPr>
          <p:cNvPr id="12" name="Rounded Rectangle 11"/>
          <p:cNvSpPr/>
          <p:nvPr/>
        </p:nvSpPr>
        <p:spPr>
          <a:xfrm>
            <a:off x="6019800" y="57150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 5</a:t>
            </a:r>
            <a:endParaRPr lang="en-US" b="1" dirty="0">
              <a:solidFill>
                <a:schemeClr val="tx1"/>
              </a:solidFill>
            </a:endParaRPr>
          </a:p>
        </p:txBody>
      </p:sp>
      <p:sp>
        <p:nvSpPr>
          <p:cNvPr id="13" name="Rounded Rectangle 12"/>
          <p:cNvSpPr/>
          <p:nvPr/>
        </p:nvSpPr>
        <p:spPr>
          <a:xfrm>
            <a:off x="7239000" y="57150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E: 10</a:t>
            </a:r>
            <a:endParaRPr lang="en-US" b="1" dirty="0">
              <a:solidFill>
                <a:schemeClr val="tx1"/>
              </a:solidFill>
            </a:endParaRPr>
          </a:p>
        </p:txBody>
      </p:sp>
      <p:sp>
        <p:nvSpPr>
          <p:cNvPr id="14" name="Rounded Rectangle 13"/>
          <p:cNvSpPr/>
          <p:nvPr/>
        </p:nvSpPr>
        <p:spPr>
          <a:xfrm>
            <a:off x="5334000" y="41148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 12</a:t>
            </a:r>
            <a:endParaRPr lang="en-US" b="1" dirty="0">
              <a:solidFill>
                <a:schemeClr val="tx1"/>
              </a:solidFill>
            </a:endParaRPr>
          </a:p>
        </p:txBody>
      </p:sp>
      <p:sp>
        <p:nvSpPr>
          <p:cNvPr id="15" name="Rounded Rectangle 14"/>
          <p:cNvSpPr/>
          <p:nvPr/>
        </p:nvSpPr>
        <p:spPr>
          <a:xfrm>
            <a:off x="1447800" y="2743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 16</a:t>
            </a:r>
            <a:endParaRPr lang="en-US" b="1" dirty="0">
              <a:solidFill>
                <a:schemeClr val="tx1"/>
              </a:solidFill>
            </a:endParaRPr>
          </a:p>
        </p:txBody>
      </p:sp>
      <p:sp>
        <p:nvSpPr>
          <p:cNvPr id="16" name="Rounded Rectangle 15"/>
          <p:cNvSpPr/>
          <p:nvPr/>
        </p:nvSpPr>
        <p:spPr>
          <a:xfrm>
            <a:off x="2667000" y="2743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D: 17</a:t>
            </a:r>
            <a:endParaRPr lang="en-US" b="1" dirty="0">
              <a:solidFill>
                <a:schemeClr val="tx1"/>
              </a:solidFill>
            </a:endParaRPr>
          </a:p>
        </p:txBody>
      </p:sp>
      <p:sp>
        <p:nvSpPr>
          <p:cNvPr id="17" name="Rounded Rectangle 16"/>
          <p:cNvSpPr/>
          <p:nvPr/>
        </p:nvSpPr>
        <p:spPr>
          <a:xfrm>
            <a:off x="3886200" y="2743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F: 25</a:t>
            </a:r>
            <a:endParaRPr lang="en-US" b="1" dirty="0">
              <a:solidFill>
                <a:schemeClr val="tx1"/>
              </a:solidFill>
            </a:endParaRPr>
          </a:p>
        </p:txBody>
      </p:sp>
      <p:sp>
        <p:nvSpPr>
          <p:cNvPr id="18" name="Oval 17"/>
          <p:cNvSpPr/>
          <p:nvPr/>
        </p:nvSpPr>
        <p:spPr>
          <a:xfrm>
            <a:off x="6629400" y="41148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15</a:t>
            </a:r>
            <a:endParaRPr lang="en-US" sz="2000" b="1" dirty="0">
              <a:solidFill>
                <a:schemeClr val="tx1"/>
              </a:solidFill>
            </a:endParaRPr>
          </a:p>
        </p:txBody>
      </p:sp>
      <p:cxnSp>
        <p:nvCxnSpPr>
          <p:cNvPr id="20" name="Straight Connector 19"/>
          <p:cNvCxnSpPr>
            <a:stCxn id="18" idx="4"/>
            <a:endCxn id="12" idx="0"/>
          </p:cNvCxnSpPr>
          <p:nvPr/>
        </p:nvCxnSpPr>
        <p:spPr>
          <a:xfrm rot="5400000">
            <a:off x="6381750" y="5010150"/>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8" idx="4"/>
          </p:cNvCxnSpPr>
          <p:nvPr/>
        </p:nvCxnSpPr>
        <p:spPr>
          <a:xfrm rot="16200000" flipH="1">
            <a:off x="7000594" y="4962805"/>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943600" y="25146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27</a:t>
            </a:r>
            <a:endParaRPr lang="en-US" sz="2000" b="1" dirty="0">
              <a:solidFill>
                <a:schemeClr val="tx1"/>
              </a:solidFill>
            </a:endParaRPr>
          </a:p>
        </p:txBody>
      </p:sp>
      <p:cxnSp>
        <p:nvCxnSpPr>
          <p:cNvPr id="22" name="Straight Connector 21"/>
          <p:cNvCxnSpPr/>
          <p:nvPr/>
        </p:nvCxnSpPr>
        <p:spPr>
          <a:xfrm rot="5400000">
            <a:off x="5685986" y="3409952"/>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6200000" flipH="1">
            <a:off x="6304830" y="3362607"/>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110068" y="49530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25" name="Rectangle 24"/>
          <p:cNvSpPr/>
          <p:nvPr/>
        </p:nvSpPr>
        <p:spPr>
          <a:xfrm>
            <a:off x="7620000" y="49530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26" name="Rectangle 25"/>
          <p:cNvSpPr/>
          <p:nvPr/>
        </p:nvSpPr>
        <p:spPr>
          <a:xfrm>
            <a:off x="5424268" y="33528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27" name="Rectangle 26"/>
          <p:cNvSpPr/>
          <p:nvPr/>
        </p:nvSpPr>
        <p:spPr>
          <a:xfrm>
            <a:off x="6934200" y="33528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lstStyle/>
          <a:p>
            <a:r>
              <a:rPr lang="en-US" sz="3600" dirty="0" smtClean="0"/>
              <a:t>Huffman Algorithm for Data Encoding</a:t>
            </a:r>
            <a:endParaRPr lang="en-US" sz="3600" dirty="0"/>
          </a:p>
        </p:txBody>
      </p:sp>
      <p:sp>
        <p:nvSpPr>
          <p:cNvPr id="3" name="Content Placeholder 2"/>
          <p:cNvSpPr>
            <a:spLocks noGrp="1"/>
          </p:cNvSpPr>
          <p:nvPr>
            <p:ph idx="1"/>
          </p:nvPr>
        </p:nvSpPr>
        <p:spPr>
          <a:xfrm>
            <a:off x="457200" y="1905000"/>
            <a:ext cx="8229600" cy="4495800"/>
          </a:xfrm>
        </p:spPr>
        <p:txBody>
          <a:bodyPr/>
          <a:lstStyle/>
          <a:p>
            <a:pPr>
              <a:buNone/>
            </a:pPr>
            <a:r>
              <a:rPr lang="en-US" b="1" dirty="0" smtClean="0"/>
              <a:t>Step 3:</a:t>
            </a:r>
            <a:endParaRPr lang="en-US" b="1" dirty="0"/>
          </a:p>
        </p:txBody>
      </p:sp>
      <p:sp>
        <p:nvSpPr>
          <p:cNvPr id="12" name="Rounded Rectangle 11"/>
          <p:cNvSpPr/>
          <p:nvPr/>
        </p:nvSpPr>
        <p:spPr>
          <a:xfrm>
            <a:off x="2590800" y="5867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 5</a:t>
            </a:r>
            <a:endParaRPr lang="en-US" b="1" dirty="0">
              <a:solidFill>
                <a:schemeClr val="tx1"/>
              </a:solidFill>
            </a:endParaRPr>
          </a:p>
        </p:txBody>
      </p:sp>
      <p:sp>
        <p:nvSpPr>
          <p:cNvPr id="13" name="Rounded Rectangle 12"/>
          <p:cNvSpPr/>
          <p:nvPr/>
        </p:nvSpPr>
        <p:spPr>
          <a:xfrm>
            <a:off x="3810000" y="5867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E: 10</a:t>
            </a:r>
            <a:endParaRPr lang="en-US" b="1" dirty="0">
              <a:solidFill>
                <a:schemeClr val="tx1"/>
              </a:solidFill>
            </a:endParaRPr>
          </a:p>
        </p:txBody>
      </p:sp>
      <p:sp>
        <p:nvSpPr>
          <p:cNvPr id="14" name="Rounded Rectangle 13"/>
          <p:cNvSpPr/>
          <p:nvPr/>
        </p:nvSpPr>
        <p:spPr>
          <a:xfrm>
            <a:off x="1905000" y="4267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 12</a:t>
            </a:r>
            <a:endParaRPr lang="en-US" b="1" dirty="0">
              <a:solidFill>
                <a:schemeClr val="tx1"/>
              </a:solidFill>
            </a:endParaRPr>
          </a:p>
        </p:txBody>
      </p:sp>
      <p:sp>
        <p:nvSpPr>
          <p:cNvPr id="15" name="Rounded Rectangle 14"/>
          <p:cNvSpPr/>
          <p:nvPr/>
        </p:nvSpPr>
        <p:spPr>
          <a:xfrm>
            <a:off x="4876800" y="419686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 16</a:t>
            </a:r>
            <a:endParaRPr lang="en-US" b="1" dirty="0">
              <a:solidFill>
                <a:schemeClr val="tx1"/>
              </a:solidFill>
            </a:endParaRPr>
          </a:p>
        </p:txBody>
      </p:sp>
      <p:sp>
        <p:nvSpPr>
          <p:cNvPr id="16" name="Rounded Rectangle 15"/>
          <p:cNvSpPr/>
          <p:nvPr/>
        </p:nvSpPr>
        <p:spPr>
          <a:xfrm>
            <a:off x="6248400" y="419686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D: 17</a:t>
            </a:r>
            <a:endParaRPr lang="en-US" b="1" dirty="0">
              <a:solidFill>
                <a:schemeClr val="tx1"/>
              </a:solidFill>
            </a:endParaRPr>
          </a:p>
        </p:txBody>
      </p:sp>
      <p:sp>
        <p:nvSpPr>
          <p:cNvPr id="17" name="Rounded Rectangle 16"/>
          <p:cNvSpPr/>
          <p:nvPr/>
        </p:nvSpPr>
        <p:spPr>
          <a:xfrm>
            <a:off x="914400" y="2819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F: 25</a:t>
            </a:r>
            <a:endParaRPr lang="en-US" b="1" dirty="0">
              <a:solidFill>
                <a:schemeClr val="tx1"/>
              </a:solidFill>
            </a:endParaRPr>
          </a:p>
        </p:txBody>
      </p:sp>
      <p:sp>
        <p:nvSpPr>
          <p:cNvPr id="18" name="Oval 17"/>
          <p:cNvSpPr/>
          <p:nvPr/>
        </p:nvSpPr>
        <p:spPr>
          <a:xfrm>
            <a:off x="3200400" y="42672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15</a:t>
            </a:r>
            <a:endParaRPr lang="en-US" sz="2000" b="1" dirty="0">
              <a:solidFill>
                <a:schemeClr val="tx1"/>
              </a:solidFill>
            </a:endParaRPr>
          </a:p>
        </p:txBody>
      </p:sp>
      <p:cxnSp>
        <p:nvCxnSpPr>
          <p:cNvPr id="20" name="Straight Connector 19"/>
          <p:cNvCxnSpPr>
            <a:stCxn id="18" idx="4"/>
            <a:endCxn id="12" idx="0"/>
          </p:cNvCxnSpPr>
          <p:nvPr/>
        </p:nvCxnSpPr>
        <p:spPr>
          <a:xfrm rot="5400000">
            <a:off x="2952750" y="5162550"/>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8" idx="4"/>
          </p:cNvCxnSpPr>
          <p:nvPr/>
        </p:nvCxnSpPr>
        <p:spPr>
          <a:xfrm rot="16200000" flipH="1">
            <a:off x="3571594" y="5115205"/>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514600" y="26670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27</a:t>
            </a:r>
            <a:endParaRPr lang="en-US" sz="2000" b="1" dirty="0">
              <a:solidFill>
                <a:schemeClr val="tx1"/>
              </a:solidFill>
            </a:endParaRPr>
          </a:p>
        </p:txBody>
      </p:sp>
      <p:cxnSp>
        <p:nvCxnSpPr>
          <p:cNvPr id="22" name="Straight Connector 21"/>
          <p:cNvCxnSpPr/>
          <p:nvPr/>
        </p:nvCxnSpPr>
        <p:spPr>
          <a:xfrm rot="5400000">
            <a:off x="2256986" y="3562352"/>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6200000" flipH="1">
            <a:off x="2875830" y="3515007"/>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524500" y="25908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33</a:t>
            </a:r>
            <a:endParaRPr lang="en-US" sz="2000" b="1" dirty="0">
              <a:solidFill>
                <a:schemeClr val="tx1"/>
              </a:solidFill>
            </a:endParaRPr>
          </a:p>
        </p:txBody>
      </p:sp>
      <p:cxnSp>
        <p:nvCxnSpPr>
          <p:cNvPr id="25" name="Straight Connector 24"/>
          <p:cNvCxnSpPr>
            <a:stCxn id="24" idx="4"/>
          </p:cNvCxnSpPr>
          <p:nvPr/>
        </p:nvCxnSpPr>
        <p:spPr>
          <a:xfrm rot="5400000">
            <a:off x="5276850" y="3486150"/>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4" idx="4"/>
          </p:cNvCxnSpPr>
          <p:nvPr/>
        </p:nvCxnSpPr>
        <p:spPr>
          <a:xfrm rot="16200000" flipH="1">
            <a:off x="5895694" y="3438805"/>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681068" y="50292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28" name="Rectangle 27"/>
          <p:cNvSpPr/>
          <p:nvPr/>
        </p:nvSpPr>
        <p:spPr>
          <a:xfrm>
            <a:off x="4191000" y="50292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29" name="Rectangle 28"/>
          <p:cNvSpPr/>
          <p:nvPr/>
        </p:nvSpPr>
        <p:spPr>
          <a:xfrm>
            <a:off x="2071468" y="3420792"/>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30" name="Rectangle 29"/>
          <p:cNvSpPr/>
          <p:nvPr/>
        </p:nvSpPr>
        <p:spPr>
          <a:xfrm>
            <a:off x="3581400" y="3420792"/>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31" name="Rectangle 30"/>
          <p:cNvSpPr/>
          <p:nvPr/>
        </p:nvSpPr>
        <p:spPr>
          <a:xfrm>
            <a:off x="5029200" y="33528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32" name="Rectangle 31"/>
          <p:cNvSpPr/>
          <p:nvPr/>
        </p:nvSpPr>
        <p:spPr>
          <a:xfrm>
            <a:off x="6539132" y="33528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lstStyle/>
          <a:p>
            <a:r>
              <a:rPr lang="en-US" sz="3600" dirty="0" smtClean="0"/>
              <a:t>Huffman Algorithm for Data Encoding</a:t>
            </a:r>
            <a:endParaRPr lang="en-US" sz="3600" dirty="0"/>
          </a:p>
        </p:txBody>
      </p:sp>
      <p:sp>
        <p:nvSpPr>
          <p:cNvPr id="3" name="Content Placeholder 2"/>
          <p:cNvSpPr>
            <a:spLocks noGrp="1"/>
          </p:cNvSpPr>
          <p:nvPr>
            <p:ph idx="1"/>
          </p:nvPr>
        </p:nvSpPr>
        <p:spPr>
          <a:xfrm>
            <a:off x="457200" y="1905000"/>
            <a:ext cx="8229600" cy="4495800"/>
          </a:xfrm>
        </p:spPr>
        <p:txBody>
          <a:bodyPr/>
          <a:lstStyle/>
          <a:p>
            <a:pPr>
              <a:buNone/>
            </a:pPr>
            <a:r>
              <a:rPr lang="en-US" b="1" dirty="0" smtClean="0"/>
              <a:t>Step 4:</a:t>
            </a:r>
            <a:endParaRPr lang="en-US" b="1" dirty="0"/>
          </a:p>
        </p:txBody>
      </p:sp>
      <p:sp>
        <p:nvSpPr>
          <p:cNvPr id="12" name="Rounded Rectangle 11"/>
          <p:cNvSpPr>
            <a:spLocks noChangeAspect="1"/>
          </p:cNvSpPr>
          <p:nvPr/>
        </p:nvSpPr>
        <p:spPr>
          <a:xfrm>
            <a:off x="6705600" y="5867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 5</a:t>
            </a:r>
            <a:endParaRPr lang="en-US" b="1" dirty="0">
              <a:solidFill>
                <a:schemeClr val="tx1"/>
              </a:solidFill>
            </a:endParaRPr>
          </a:p>
        </p:txBody>
      </p:sp>
      <p:sp>
        <p:nvSpPr>
          <p:cNvPr id="13" name="Rounded Rectangle 12"/>
          <p:cNvSpPr>
            <a:spLocks noChangeAspect="1"/>
          </p:cNvSpPr>
          <p:nvPr/>
        </p:nvSpPr>
        <p:spPr>
          <a:xfrm>
            <a:off x="7924800" y="5867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E: 10</a:t>
            </a:r>
            <a:endParaRPr lang="en-US" b="1" dirty="0">
              <a:solidFill>
                <a:schemeClr val="tx1"/>
              </a:solidFill>
            </a:endParaRPr>
          </a:p>
        </p:txBody>
      </p:sp>
      <p:sp>
        <p:nvSpPr>
          <p:cNvPr id="14" name="Rounded Rectangle 13"/>
          <p:cNvSpPr>
            <a:spLocks noChangeAspect="1"/>
          </p:cNvSpPr>
          <p:nvPr/>
        </p:nvSpPr>
        <p:spPr>
          <a:xfrm>
            <a:off x="6019800" y="5029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 12</a:t>
            </a:r>
            <a:endParaRPr lang="en-US" b="1" dirty="0">
              <a:solidFill>
                <a:schemeClr val="tx1"/>
              </a:solidFill>
            </a:endParaRPr>
          </a:p>
        </p:txBody>
      </p:sp>
      <p:sp>
        <p:nvSpPr>
          <p:cNvPr id="15" name="Rounded Rectangle 14"/>
          <p:cNvSpPr/>
          <p:nvPr/>
        </p:nvSpPr>
        <p:spPr>
          <a:xfrm>
            <a:off x="1752600" y="442546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 16</a:t>
            </a:r>
            <a:endParaRPr lang="en-US" b="1" dirty="0">
              <a:solidFill>
                <a:schemeClr val="tx1"/>
              </a:solidFill>
            </a:endParaRPr>
          </a:p>
        </p:txBody>
      </p:sp>
      <p:sp>
        <p:nvSpPr>
          <p:cNvPr id="16" name="Rounded Rectangle 15"/>
          <p:cNvSpPr/>
          <p:nvPr/>
        </p:nvSpPr>
        <p:spPr>
          <a:xfrm>
            <a:off x="3124200" y="442546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D: 17</a:t>
            </a:r>
            <a:endParaRPr lang="en-US" b="1" dirty="0">
              <a:solidFill>
                <a:schemeClr val="tx1"/>
              </a:solidFill>
            </a:endParaRPr>
          </a:p>
        </p:txBody>
      </p:sp>
      <p:sp>
        <p:nvSpPr>
          <p:cNvPr id="17" name="Rounded Rectangle 16"/>
          <p:cNvSpPr/>
          <p:nvPr/>
        </p:nvSpPr>
        <p:spPr>
          <a:xfrm>
            <a:off x="4876800" y="4038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F: 25</a:t>
            </a:r>
            <a:endParaRPr lang="en-US" b="1" dirty="0">
              <a:solidFill>
                <a:schemeClr val="tx1"/>
              </a:solidFill>
            </a:endParaRPr>
          </a:p>
        </p:txBody>
      </p:sp>
      <p:sp>
        <p:nvSpPr>
          <p:cNvPr id="18" name="Oval 17"/>
          <p:cNvSpPr>
            <a:spLocks noChangeAspect="1"/>
          </p:cNvSpPr>
          <p:nvPr/>
        </p:nvSpPr>
        <p:spPr>
          <a:xfrm>
            <a:off x="7467600" y="4953000"/>
            <a:ext cx="685800" cy="5715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15</a:t>
            </a:r>
            <a:endParaRPr lang="en-US" sz="2000" b="1" dirty="0">
              <a:solidFill>
                <a:schemeClr val="tx1"/>
              </a:solidFill>
            </a:endParaRPr>
          </a:p>
        </p:txBody>
      </p:sp>
      <p:cxnSp>
        <p:nvCxnSpPr>
          <p:cNvPr id="20" name="Straight Connector 19"/>
          <p:cNvCxnSpPr>
            <a:cxnSpLocks noChangeAspect="1"/>
            <a:stCxn id="18" idx="3"/>
            <a:endCxn id="12" idx="0"/>
          </p:cNvCxnSpPr>
          <p:nvPr/>
        </p:nvCxnSpPr>
        <p:spPr>
          <a:xfrm rot="5400000">
            <a:off x="7171170" y="5470537"/>
            <a:ext cx="426594" cy="3671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noChangeAspect="1"/>
            <a:stCxn id="18" idx="5"/>
          </p:cNvCxnSpPr>
          <p:nvPr/>
        </p:nvCxnSpPr>
        <p:spPr>
          <a:xfrm rot="16200000" flipH="1">
            <a:off x="8032480" y="5461292"/>
            <a:ext cx="426594" cy="38562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Oval 18"/>
          <p:cNvSpPr>
            <a:spLocks noChangeAspect="1"/>
          </p:cNvSpPr>
          <p:nvPr/>
        </p:nvSpPr>
        <p:spPr>
          <a:xfrm>
            <a:off x="6795868" y="3914336"/>
            <a:ext cx="762000" cy="635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27</a:t>
            </a:r>
            <a:endParaRPr lang="en-US" sz="2000" b="1" dirty="0">
              <a:solidFill>
                <a:schemeClr val="tx1"/>
              </a:solidFill>
            </a:endParaRPr>
          </a:p>
        </p:txBody>
      </p:sp>
      <p:cxnSp>
        <p:nvCxnSpPr>
          <p:cNvPr id="22" name="Straight Connector 21"/>
          <p:cNvCxnSpPr>
            <a:cxnSpLocks noChangeAspect="1"/>
          </p:cNvCxnSpPr>
          <p:nvPr/>
        </p:nvCxnSpPr>
        <p:spPr>
          <a:xfrm rot="5400000">
            <a:off x="6464300" y="4559300"/>
            <a:ext cx="5588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noChangeAspect="1"/>
            <a:stCxn id="19" idx="5"/>
          </p:cNvCxnSpPr>
          <p:nvPr/>
        </p:nvCxnSpPr>
        <p:spPr>
          <a:xfrm rot="16200000" flipH="1">
            <a:off x="7389303" y="4513315"/>
            <a:ext cx="496659" cy="3827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400300" y="2819400"/>
            <a:ext cx="914400" cy="762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33</a:t>
            </a:r>
            <a:endParaRPr lang="en-US" sz="2000" b="1" dirty="0">
              <a:solidFill>
                <a:schemeClr val="tx1"/>
              </a:solidFill>
            </a:endParaRPr>
          </a:p>
        </p:txBody>
      </p:sp>
      <p:cxnSp>
        <p:nvCxnSpPr>
          <p:cNvPr id="25" name="Straight Connector 24"/>
          <p:cNvCxnSpPr/>
          <p:nvPr/>
        </p:nvCxnSpPr>
        <p:spPr>
          <a:xfrm rot="5400000">
            <a:off x="2152650" y="3714750"/>
            <a:ext cx="838200" cy="5715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2771494" y="3667405"/>
            <a:ext cx="838201" cy="66618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5715000" y="2971800"/>
            <a:ext cx="914400" cy="6096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52</a:t>
            </a:r>
            <a:endParaRPr lang="en-US" sz="2000" b="1" dirty="0">
              <a:solidFill>
                <a:schemeClr val="tx1"/>
              </a:solidFill>
            </a:endParaRPr>
          </a:p>
        </p:txBody>
      </p:sp>
      <p:cxnSp>
        <p:nvCxnSpPr>
          <p:cNvPr id="42" name="Straight Connector 41"/>
          <p:cNvCxnSpPr/>
          <p:nvPr/>
        </p:nvCxnSpPr>
        <p:spPr>
          <a:xfrm rot="10800000" flipV="1">
            <a:off x="5334000" y="3505200"/>
            <a:ext cx="609600" cy="533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400800" y="3505200"/>
            <a:ext cx="533400" cy="4572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1905000" y="35814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47" name="Rectangle 46"/>
          <p:cNvSpPr/>
          <p:nvPr/>
        </p:nvSpPr>
        <p:spPr>
          <a:xfrm>
            <a:off x="3414932" y="3581400"/>
            <a:ext cx="457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48" name="Rectangle 47"/>
          <p:cNvSpPr/>
          <p:nvPr/>
        </p:nvSpPr>
        <p:spPr>
          <a:xfrm>
            <a:off x="7100668" y="5334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49" name="Rectangle 48"/>
          <p:cNvSpPr/>
          <p:nvPr/>
        </p:nvSpPr>
        <p:spPr>
          <a:xfrm>
            <a:off x="8305800" y="5334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50" name="Rectangle 49"/>
          <p:cNvSpPr/>
          <p:nvPr/>
        </p:nvSpPr>
        <p:spPr>
          <a:xfrm>
            <a:off x="6400800" y="44958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51" name="Rectangle 50"/>
          <p:cNvSpPr/>
          <p:nvPr/>
        </p:nvSpPr>
        <p:spPr>
          <a:xfrm>
            <a:off x="7772400" y="44196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52" name="Rectangle 51"/>
          <p:cNvSpPr/>
          <p:nvPr/>
        </p:nvSpPr>
        <p:spPr>
          <a:xfrm>
            <a:off x="5334000" y="35052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53" name="Rectangle 52"/>
          <p:cNvSpPr/>
          <p:nvPr/>
        </p:nvSpPr>
        <p:spPr>
          <a:xfrm>
            <a:off x="6858000" y="3471204"/>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lstStyle/>
          <a:p>
            <a:r>
              <a:rPr lang="en-US" sz="3600" dirty="0" smtClean="0"/>
              <a:t>Huffman Algorithm for Data Encoding</a:t>
            </a:r>
            <a:endParaRPr lang="en-US" sz="3600" dirty="0"/>
          </a:p>
        </p:txBody>
      </p:sp>
      <p:sp>
        <p:nvSpPr>
          <p:cNvPr id="3" name="Content Placeholder 2"/>
          <p:cNvSpPr>
            <a:spLocks noGrp="1"/>
          </p:cNvSpPr>
          <p:nvPr>
            <p:ph idx="1"/>
          </p:nvPr>
        </p:nvSpPr>
        <p:spPr>
          <a:xfrm>
            <a:off x="457200" y="1905000"/>
            <a:ext cx="8229600" cy="4495800"/>
          </a:xfrm>
        </p:spPr>
        <p:txBody>
          <a:bodyPr/>
          <a:lstStyle/>
          <a:p>
            <a:pPr>
              <a:buNone/>
            </a:pPr>
            <a:r>
              <a:rPr lang="en-US" b="1" dirty="0" smtClean="0"/>
              <a:t>Step 5:</a:t>
            </a:r>
            <a:endParaRPr lang="en-US" b="1" dirty="0"/>
          </a:p>
        </p:txBody>
      </p:sp>
      <p:sp>
        <p:nvSpPr>
          <p:cNvPr id="12" name="Rounded Rectangle 11"/>
          <p:cNvSpPr>
            <a:spLocks noChangeAspect="1"/>
          </p:cNvSpPr>
          <p:nvPr/>
        </p:nvSpPr>
        <p:spPr>
          <a:xfrm>
            <a:off x="6705600" y="5867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 5</a:t>
            </a:r>
            <a:endParaRPr lang="en-US" b="1" dirty="0">
              <a:solidFill>
                <a:schemeClr val="tx1"/>
              </a:solidFill>
            </a:endParaRPr>
          </a:p>
        </p:txBody>
      </p:sp>
      <p:sp>
        <p:nvSpPr>
          <p:cNvPr id="13" name="Rounded Rectangle 12"/>
          <p:cNvSpPr>
            <a:spLocks noChangeAspect="1"/>
          </p:cNvSpPr>
          <p:nvPr/>
        </p:nvSpPr>
        <p:spPr>
          <a:xfrm>
            <a:off x="7924800" y="58674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E: 10</a:t>
            </a:r>
            <a:endParaRPr lang="en-US" b="1" dirty="0">
              <a:solidFill>
                <a:schemeClr val="tx1"/>
              </a:solidFill>
            </a:endParaRPr>
          </a:p>
        </p:txBody>
      </p:sp>
      <p:sp>
        <p:nvSpPr>
          <p:cNvPr id="14" name="Rounded Rectangle 13"/>
          <p:cNvSpPr>
            <a:spLocks noChangeAspect="1"/>
          </p:cNvSpPr>
          <p:nvPr/>
        </p:nvSpPr>
        <p:spPr>
          <a:xfrm>
            <a:off x="6019800" y="50292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C: 12</a:t>
            </a:r>
            <a:endParaRPr lang="en-US" b="1" dirty="0">
              <a:solidFill>
                <a:schemeClr val="tx1"/>
              </a:solidFill>
            </a:endParaRPr>
          </a:p>
        </p:txBody>
      </p:sp>
      <p:sp>
        <p:nvSpPr>
          <p:cNvPr id="15" name="Rounded Rectangle 14"/>
          <p:cNvSpPr/>
          <p:nvPr/>
        </p:nvSpPr>
        <p:spPr>
          <a:xfrm>
            <a:off x="1828800" y="4010464"/>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 16</a:t>
            </a:r>
            <a:endParaRPr lang="en-US" b="1" dirty="0">
              <a:solidFill>
                <a:schemeClr val="tx1"/>
              </a:solidFill>
            </a:endParaRPr>
          </a:p>
        </p:txBody>
      </p:sp>
      <p:sp>
        <p:nvSpPr>
          <p:cNvPr id="16" name="Rounded Rectangle 15"/>
          <p:cNvSpPr/>
          <p:nvPr/>
        </p:nvSpPr>
        <p:spPr>
          <a:xfrm>
            <a:off x="3200400" y="4010464"/>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D: 17</a:t>
            </a:r>
            <a:endParaRPr lang="en-US" b="1" dirty="0">
              <a:solidFill>
                <a:schemeClr val="tx1"/>
              </a:solidFill>
            </a:endParaRPr>
          </a:p>
        </p:txBody>
      </p:sp>
      <p:sp>
        <p:nvSpPr>
          <p:cNvPr id="17" name="Rounded Rectangle 16"/>
          <p:cNvSpPr/>
          <p:nvPr/>
        </p:nvSpPr>
        <p:spPr>
          <a:xfrm>
            <a:off x="4876800" y="4038600"/>
            <a:ext cx="990600" cy="4572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F: 25</a:t>
            </a:r>
            <a:endParaRPr lang="en-US" b="1" dirty="0">
              <a:solidFill>
                <a:schemeClr val="tx1"/>
              </a:solidFill>
            </a:endParaRPr>
          </a:p>
        </p:txBody>
      </p:sp>
      <p:sp>
        <p:nvSpPr>
          <p:cNvPr id="18" name="Oval 17"/>
          <p:cNvSpPr>
            <a:spLocks noChangeAspect="1"/>
          </p:cNvSpPr>
          <p:nvPr/>
        </p:nvSpPr>
        <p:spPr>
          <a:xfrm>
            <a:off x="7467600" y="4953000"/>
            <a:ext cx="685800" cy="5715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15</a:t>
            </a:r>
            <a:endParaRPr lang="en-US" sz="2000" b="1" dirty="0">
              <a:solidFill>
                <a:schemeClr val="tx1"/>
              </a:solidFill>
            </a:endParaRPr>
          </a:p>
        </p:txBody>
      </p:sp>
      <p:cxnSp>
        <p:nvCxnSpPr>
          <p:cNvPr id="20" name="Straight Connector 19"/>
          <p:cNvCxnSpPr>
            <a:cxnSpLocks noChangeAspect="1"/>
            <a:stCxn id="18" idx="3"/>
            <a:endCxn id="12" idx="0"/>
          </p:cNvCxnSpPr>
          <p:nvPr/>
        </p:nvCxnSpPr>
        <p:spPr>
          <a:xfrm rot="5400000">
            <a:off x="7171170" y="5470537"/>
            <a:ext cx="426594" cy="3671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noChangeAspect="1"/>
            <a:stCxn id="18" idx="5"/>
          </p:cNvCxnSpPr>
          <p:nvPr/>
        </p:nvCxnSpPr>
        <p:spPr>
          <a:xfrm rot="16200000" flipH="1">
            <a:off x="8032480" y="5461292"/>
            <a:ext cx="426594" cy="38562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Oval 18"/>
          <p:cNvSpPr>
            <a:spLocks noChangeAspect="1"/>
          </p:cNvSpPr>
          <p:nvPr/>
        </p:nvSpPr>
        <p:spPr>
          <a:xfrm>
            <a:off x="6795868" y="3914336"/>
            <a:ext cx="762000" cy="6350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27</a:t>
            </a:r>
            <a:endParaRPr lang="en-US" sz="2000" b="1" dirty="0">
              <a:solidFill>
                <a:schemeClr val="tx1"/>
              </a:solidFill>
            </a:endParaRPr>
          </a:p>
        </p:txBody>
      </p:sp>
      <p:cxnSp>
        <p:nvCxnSpPr>
          <p:cNvPr id="22" name="Straight Connector 21"/>
          <p:cNvCxnSpPr>
            <a:cxnSpLocks noChangeAspect="1"/>
          </p:cNvCxnSpPr>
          <p:nvPr/>
        </p:nvCxnSpPr>
        <p:spPr>
          <a:xfrm rot="5400000">
            <a:off x="6464300" y="4559300"/>
            <a:ext cx="558800" cy="381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noChangeAspect="1"/>
            <a:stCxn id="19" idx="5"/>
          </p:cNvCxnSpPr>
          <p:nvPr/>
        </p:nvCxnSpPr>
        <p:spPr>
          <a:xfrm rot="16200000" flipH="1">
            <a:off x="7389303" y="4513315"/>
            <a:ext cx="496659" cy="3827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424332" y="2999936"/>
            <a:ext cx="952500" cy="6096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33</a:t>
            </a:r>
            <a:endParaRPr lang="en-US" sz="2000" b="1" dirty="0">
              <a:solidFill>
                <a:schemeClr val="tx1"/>
              </a:solidFill>
            </a:endParaRPr>
          </a:p>
        </p:txBody>
      </p:sp>
      <p:cxnSp>
        <p:nvCxnSpPr>
          <p:cNvPr id="25" name="Straight Connector 24"/>
          <p:cNvCxnSpPr/>
          <p:nvPr/>
        </p:nvCxnSpPr>
        <p:spPr>
          <a:xfrm rot="5400000">
            <a:off x="2286000" y="3623604"/>
            <a:ext cx="457200" cy="304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3086102" y="3585506"/>
            <a:ext cx="457198" cy="38099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5715000" y="2971800"/>
            <a:ext cx="914400" cy="6096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52</a:t>
            </a:r>
            <a:endParaRPr lang="en-US" sz="2000" b="1" dirty="0">
              <a:solidFill>
                <a:schemeClr val="tx1"/>
              </a:solidFill>
            </a:endParaRPr>
          </a:p>
        </p:txBody>
      </p:sp>
      <p:cxnSp>
        <p:nvCxnSpPr>
          <p:cNvPr id="42" name="Straight Connector 41"/>
          <p:cNvCxnSpPr/>
          <p:nvPr/>
        </p:nvCxnSpPr>
        <p:spPr>
          <a:xfrm rot="10800000" flipV="1">
            <a:off x="5334000" y="3505200"/>
            <a:ext cx="609600" cy="533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400800" y="3505200"/>
            <a:ext cx="533400" cy="4572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4048564" y="2209800"/>
            <a:ext cx="952500" cy="60960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85</a:t>
            </a:r>
            <a:endParaRPr lang="en-US" sz="2000" b="1" dirty="0">
              <a:solidFill>
                <a:schemeClr val="tx1"/>
              </a:solidFill>
            </a:endParaRPr>
          </a:p>
        </p:txBody>
      </p:sp>
      <p:cxnSp>
        <p:nvCxnSpPr>
          <p:cNvPr id="32" name="Straight Connector 31"/>
          <p:cNvCxnSpPr>
            <a:endCxn id="24" idx="7"/>
          </p:cNvCxnSpPr>
          <p:nvPr/>
        </p:nvCxnSpPr>
        <p:spPr>
          <a:xfrm rot="10800000" flipV="1">
            <a:off x="3237343" y="2667000"/>
            <a:ext cx="877459" cy="4222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41" idx="1"/>
          </p:cNvCxnSpPr>
          <p:nvPr/>
        </p:nvCxnSpPr>
        <p:spPr>
          <a:xfrm rot="16200000" flipV="1">
            <a:off x="5165819" y="2377982"/>
            <a:ext cx="394074" cy="97211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7086600" y="5334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38" name="Rectangle 37"/>
          <p:cNvSpPr/>
          <p:nvPr/>
        </p:nvSpPr>
        <p:spPr>
          <a:xfrm>
            <a:off x="8382000" y="5334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39" name="Rectangle 38"/>
          <p:cNvSpPr/>
          <p:nvPr/>
        </p:nvSpPr>
        <p:spPr>
          <a:xfrm>
            <a:off x="6324600" y="4572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40" name="Rectangle 39"/>
          <p:cNvSpPr/>
          <p:nvPr/>
        </p:nvSpPr>
        <p:spPr>
          <a:xfrm>
            <a:off x="7924800" y="4572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44" name="Rectangle 43"/>
          <p:cNvSpPr/>
          <p:nvPr/>
        </p:nvSpPr>
        <p:spPr>
          <a:xfrm>
            <a:off x="5257800" y="3429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45" name="Rectangle 44"/>
          <p:cNvSpPr/>
          <p:nvPr/>
        </p:nvSpPr>
        <p:spPr>
          <a:xfrm>
            <a:off x="6781800" y="34290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46" name="Rectangle 45"/>
          <p:cNvSpPr/>
          <p:nvPr/>
        </p:nvSpPr>
        <p:spPr>
          <a:xfrm>
            <a:off x="3276600" y="24384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47" name="Rectangle 46"/>
          <p:cNvSpPr/>
          <p:nvPr/>
        </p:nvSpPr>
        <p:spPr>
          <a:xfrm>
            <a:off x="5257800" y="24384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
        <p:nvSpPr>
          <p:cNvPr id="48" name="Rectangle 47"/>
          <p:cNvSpPr/>
          <p:nvPr/>
        </p:nvSpPr>
        <p:spPr>
          <a:xfrm>
            <a:off x="2057400" y="35052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0</a:t>
            </a:r>
            <a:endParaRPr lang="en-US" sz="3200" b="1" dirty="0">
              <a:solidFill>
                <a:schemeClr val="tx1"/>
              </a:solidFill>
            </a:endParaRPr>
          </a:p>
        </p:txBody>
      </p:sp>
      <p:sp>
        <p:nvSpPr>
          <p:cNvPr id="49" name="Rectangle 48"/>
          <p:cNvSpPr/>
          <p:nvPr/>
        </p:nvSpPr>
        <p:spPr>
          <a:xfrm>
            <a:off x="3505200" y="35052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1</a:t>
            </a:r>
            <a:endParaRPr lang="en-US" sz="3200" b="1" dirty="0">
              <a:solidFill>
                <a:schemeClr val="tx1"/>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324350"/>
          </a:xfrm>
        </p:spPr>
        <p:txBody>
          <a:bodyPr/>
          <a:lstStyle/>
          <a:p>
            <a:pPr>
              <a:buNone/>
            </a:pPr>
            <a:endParaRPr lang="en-US" dirty="0" smtClean="0"/>
          </a:p>
          <a:p>
            <a:pPr>
              <a:buNone/>
            </a:pPr>
            <a:endParaRPr lang="en-US" dirty="0" smtClean="0"/>
          </a:p>
          <a:p>
            <a:pPr algn="ctr">
              <a:buNone/>
            </a:pPr>
            <a:r>
              <a:rPr lang="en-US" sz="11500" b="1" dirty="0" smtClean="0">
                <a:solidFill>
                  <a:srgbClr val="00B050"/>
                </a:solidFill>
              </a:rPr>
              <a:t>Thanks</a:t>
            </a:r>
            <a:endParaRPr lang="en-US" sz="11500" b="1" dirty="0">
              <a:solidFill>
                <a:srgbClr val="00B050"/>
              </a:solidFill>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2164</TotalTime>
  <Words>1227</Words>
  <Application>Microsoft Office PowerPoint</Application>
  <PresentationFormat>On-screen Show (4:3)</PresentationFormat>
  <Paragraphs>487</Paragraphs>
  <Slides>45</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Calibri</vt:lpstr>
      <vt:lpstr>Georgia</vt:lpstr>
      <vt:lpstr>新細明體</vt:lpstr>
      <vt:lpstr>Times New Roman</vt:lpstr>
      <vt:lpstr>Trebuchet MS</vt:lpstr>
      <vt:lpstr>urw-din</vt:lpstr>
      <vt:lpstr>Wingdings</vt:lpstr>
      <vt:lpstr>Wingdings 2</vt:lpstr>
      <vt:lpstr>Urban</vt:lpstr>
      <vt:lpstr>Trees</vt:lpstr>
      <vt:lpstr>Content </vt:lpstr>
      <vt:lpstr>Tree</vt:lpstr>
      <vt:lpstr>Definition </vt:lpstr>
      <vt:lpstr>Introduction to Trees</vt:lpstr>
      <vt:lpstr>PowerPoint Presentation</vt:lpstr>
      <vt:lpstr>Basic Tree Concepts</vt:lpstr>
      <vt:lpstr>Basic Tree Concepts</vt:lpstr>
      <vt:lpstr>Basic Tree Concepts</vt:lpstr>
      <vt:lpstr>Basic Tree Concepts</vt:lpstr>
      <vt:lpstr>Basic Tree Concepts</vt:lpstr>
      <vt:lpstr>PowerPoint Presentation</vt:lpstr>
      <vt:lpstr>PowerPoint Presentation</vt:lpstr>
      <vt:lpstr>Binary Trees</vt:lpstr>
      <vt:lpstr>PowerPoint Presentation</vt:lpstr>
      <vt:lpstr>PowerPoint Presentation</vt:lpstr>
      <vt:lpstr>Binary Tree Traversal</vt:lpstr>
      <vt:lpstr>PowerPoint Presentation</vt:lpstr>
      <vt:lpstr>Traversing Binary Trees</vt:lpstr>
      <vt:lpstr>Traversing Binary Trees</vt:lpstr>
      <vt:lpstr>Traversing Binary Trees</vt:lpstr>
      <vt:lpstr>Traversing Binary Trees</vt:lpstr>
      <vt:lpstr>Traversing Binary Trees</vt:lpstr>
      <vt:lpstr>Traversing Binary Trees</vt:lpstr>
      <vt:lpstr>Inorder Traversing</vt:lpstr>
      <vt:lpstr>Preorder Traversing</vt:lpstr>
      <vt:lpstr>Searching a Specific Node</vt:lpstr>
      <vt:lpstr>Introduction to Binary Search Trees</vt:lpstr>
      <vt:lpstr>Binary Tree</vt:lpstr>
      <vt:lpstr>Insertion into Binary Search Trees</vt:lpstr>
      <vt:lpstr>Insertion into Binary Search Trees</vt:lpstr>
      <vt:lpstr>Binary Heap</vt:lpstr>
      <vt:lpstr>Min Heap</vt:lpstr>
      <vt:lpstr>Min Heap</vt:lpstr>
      <vt:lpstr>PowerPoint Presentation</vt:lpstr>
      <vt:lpstr>Huffman Tree</vt:lpstr>
      <vt:lpstr>PowerPoint Presentation</vt:lpstr>
      <vt:lpstr>PowerPoint Presentation</vt:lpstr>
      <vt:lpstr>Huffman Algorithm for Data Encoding</vt:lpstr>
      <vt:lpstr>Huffman Algorithm for Data Encoding</vt:lpstr>
      <vt:lpstr>Huffman Algorithm for Data Encoding</vt:lpstr>
      <vt:lpstr>Huffman Algorithm for Data Encoding</vt:lpstr>
      <vt:lpstr>Huffman Algorithm for Data Encoding</vt:lpstr>
      <vt:lpstr>Huffman Algorithm for Data Encoding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MISBAH</dc:creator>
  <cp:lastModifiedBy>KKD</cp:lastModifiedBy>
  <cp:revision>477</cp:revision>
  <dcterms:created xsi:type="dcterms:W3CDTF">2013-09-25T07:30:58Z</dcterms:created>
  <dcterms:modified xsi:type="dcterms:W3CDTF">2021-03-21T06:38:45Z</dcterms:modified>
</cp:coreProperties>
</file>