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63" r:id="rId5"/>
    <p:sldId id="264" r:id="rId6"/>
    <p:sldId id="265" r:id="rId7"/>
    <p:sldId id="266" r:id="rId8"/>
    <p:sldId id="26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76200"/>
          </a:xfrm>
          <a:custGeom>
            <a:avLst/>
            <a:gdLst/>
            <a:ahLst/>
            <a:cxnLst/>
            <a:rect l="l" t="t" r="r" b="b"/>
            <a:pathLst>
              <a:path w="9144000" h="76200">
                <a:moveTo>
                  <a:pt x="0" y="76199"/>
                </a:moveTo>
                <a:lnTo>
                  <a:pt x="9143999" y="76199"/>
                </a:lnTo>
                <a:lnTo>
                  <a:pt x="9143999" y="0"/>
                </a:lnTo>
                <a:lnTo>
                  <a:pt x="0" y="0"/>
                </a:lnTo>
                <a:lnTo>
                  <a:pt x="0" y="76199"/>
                </a:lnTo>
                <a:close/>
              </a:path>
            </a:pathLst>
          </a:custGeom>
          <a:solidFill>
            <a:srgbClr val="ACACEB">
              <a:alpha val="6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762000"/>
            <a:ext cx="9144000" cy="6096000"/>
          </a:xfrm>
          <a:custGeom>
            <a:avLst/>
            <a:gdLst/>
            <a:ahLst/>
            <a:cxnLst/>
            <a:rect l="l" t="t" r="r" b="b"/>
            <a:pathLst>
              <a:path w="9144000" h="6096000">
                <a:moveTo>
                  <a:pt x="0" y="6095999"/>
                </a:moveTo>
                <a:lnTo>
                  <a:pt x="9143999" y="6095999"/>
                </a:lnTo>
                <a:lnTo>
                  <a:pt x="9143999" y="0"/>
                </a:lnTo>
                <a:lnTo>
                  <a:pt x="0" y="0"/>
                </a:lnTo>
                <a:lnTo>
                  <a:pt x="0" y="6095999"/>
                </a:lnTo>
                <a:close/>
              </a:path>
            </a:pathLst>
          </a:custGeom>
          <a:solidFill>
            <a:srgbClr val="ACACEB">
              <a:alpha val="6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32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32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32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2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49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5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4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66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80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24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58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64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90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0"/>
                </a:moveTo>
                <a:lnTo>
                  <a:pt x="0" y="0"/>
                </a:lnTo>
                <a:lnTo>
                  <a:pt x="0" y="6857999"/>
                </a:lnTo>
                <a:lnTo>
                  <a:pt x="9143999" y="6857999"/>
                </a:lnTo>
                <a:lnTo>
                  <a:pt x="9143999" y="0"/>
                </a:lnTo>
                <a:close/>
              </a:path>
            </a:pathLst>
          </a:custGeom>
          <a:solidFill>
            <a:srgbClr val="ACACEB">
              <a:alpha val="6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92397" y="2103243"/>
            <a:ext cx="375920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32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2968" y="3306830"/>
            <a:ext cx="8798062" cy="2332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2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9951" y="26918"/>
            <a:ext cx="114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457200"/>
            <a:ext cx="7772400" cy="641201"/>
          </a:xfrm>
          <a:prstGeom prst="rect">
            <a:avLst/>
          </a:prstGeom>
          <a:solidFill>
            <a:srgbClr val="595959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400" dirty="0" smtClean="0">
                <a:latin typeface="Times New Roman"/>
                <a:cs typeface="Times New Roman"/>
              </a:rPr>
              <a:t>CSE-2103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3200400"/>
            <a:ext cx="7772400" cy="1295400"/>
          </a:xfrm>
          <a:prstGeom prst="rect">
            <a:avLst/>
          </a:prstGeom>
          <a:solidFill>
            <a:srgbClr val="00AF50"/>
          </a:solidFill>
          <a:ln w="9524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4400" b="1" dirty="0">
                <a:latin typeface="Times New Roman"/>
                <a:cs typeface="Times New Roman"/>
              </a:rPr>
              <a:t>Chapter</a:t>
            </a:r>
            <a:r>
              <a:rPr sz="4400" b="1" spc="-114" dirty="0">
                <a:latin typeface="Times New Roman"/>
                <a:cs typeface="Times New Roman"/>
              </a:rPr>
              <a:t> </a:t>
            </a:r>
            <a:r>
              <a:rPr sz="4400" b="1" dirty="0">
                <a:latin typeface="Times New Roman"/>
                <a:cs typeface="Times New Roman"/>
              </a:rPr>
              <a:t>2:</a:t>
            </a:r>
            <a:endParaRPr sz="4400" dirty="0">
              <a:latin typeface="Times New Roman"/>
              <a:cs typeface="Times New Roman"/>
            </a:endParaRPr>
          </a:p>
          <a:p>
            <a:pPr marL="45085" algn="ctr">
              <a:lnSpc>
                <a:spcPct val="100000"/>
              </a:lnSpc>
              <a:spcBef>
                <a:spcPts val="30"/>
              </a:spcBef>
              <a:tabLst>
                <a:tab pos="4444365" algn="l"/>
              </a:tabLst>
            </a:pPr>
            <a:r>
              <a:rPr sz="3600" spc="-15" dirty="0" err="1">
                <a:latin typeface="Arial"/>
                <a:cs typeface="Arial"/>
              </a:rPr>
              <a:t>Arra</a:t>
            </a:r>
            <a:r>
              <a:rPr sz="3600" spc="-550" dirty="0">
                <a:latin typeface="Arial"/>
                <a:cs typeface="Arial"/>
              </a:rPr>
              <a:t> </a:t>
            </a:r>
            <a:r>
              <a:rPr sz="3600" spc="-70" dirty="0" err="1" smtClean="0">
                <a:latin typeface="Arial"/>
                <a:cs typeface="Arial"/>
              </a:rPr>
              <a:t>ys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800" y="1959035"/>
            <a:ext cx="6172200" cy="467436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lang="en-US" sz="2800" dirty="0" smtClean="0">
                <a:latin typeface="Arial"/>
                <a:cs typeface="Arial"/>
              </a:rPr>
              <a:t>Data Structures and Algorithms-I 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0"/>
                </a:moveTo>
                <a:lnTo>
                  <a:pt x="0" y="0"/>
                </a:lnTo>
                <a:lnTo>
                  <a:pt x="0" y="6857999"/>
                </a:lnTo>
                <a:lnTo>
                  <a:pt x="9143999" y="6857999"/>
                </a:lnTo>
                <a:lnTo>
                  <a:pt x="9143999" y="0"/>
                </a:lnTo>
                <a:close/>
              </a:path>
            </a:pathLst>
          </a:custGeom>
          <a:solidFill>
            <a:srgbClr val="ACACEB">
              <a:alpha val="6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949951" y="26918"/>
            <a:ext cx="114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76200"/>
            <a:ext cx="8610600" cy="1066800"/>
          </a:xfrm>
          <a:custGeom>
            <a:avLst/>
            <a:gdLst/>
            <a:ahLst/>
            <a:cxnLst/>
            <a:rect l="l" t="t" r="r" b="b"/>
            <a:pathLst>
              <a:path w="8610600" h="1066800">
                <a:moveTo>
                  <a:pt x="8610599" y="0"/>
                </a:moveTo>
                <a:lnTo>
                  <a:pt x="0" y="0"/>
                </a:lnTo>
                <a:lnTo>
                  <a:pt x="0" y="1066799"/>
                </a:lnTo>
                <a:lnTo>
                  <a:pt x="8610599" y="1066799"/>
                </a:lnTo>
                <a:lnTo>
                  <a:pt x="8610599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7484" y="240227"/>
            <a:ext cx="32848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FF00"/>
                </a:solidFill>
              </a:rPr>
              <a:t>Introduction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764540" y="1149758"/>
            <a:ext cx="5766435" cy="266763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0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Arrays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5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Structures of </a:t>
            </a:r>
            <a:r>
              <a:rPr sz="2200" spc="-5" dirty="0">
                <a:latin typeface="Times New Roman"/>
                <a:cs typeface="Times New Roman"/>
              </a:rPr>
              <a:t>related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items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Static </a:t>
            </a:r>
            <a:r>
              <a:rPr sz="2200" dirty="0">
                <a:latin typeface="Times New Roman"/>
                <a:cs typeface="Times New Roman"/>
              </a:rPr>
              <a:t>entity </a:t>
            </a:r>
            <a:r>
              <a:rPr sz="2200" spc="-5" dirty="0">
                <a:latin typeface="Times New Roman"/>
                <a:cs typeface="Times New Roman"/>
              </a:rPr>
              <a:t>(same size </a:t>
            </a:r>
            <a:r>
              <a:rPr sz="2200" dirty="0">
                <a:latin typeface="Times New Roman"/>
                <a:cs typeface="Times New Roman"/>
              </a:rPr>
              <a:t>throughout</a:t>
            </a:r>
            <a:r>
              <a:rPr sz="2200" spc="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program)</a:t>
            </a: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65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A few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types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5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Pointer-based </a:t>
            </a:r>
            <a:r>
              <a:rPr sz="2200" dirty="0">
                <a:latin typeface="Times New Roman"/>
                <a:cs typeface="Times New Roman"/>
              </a:rPr>
              <a:t>arrays</a:t>
            </a:r>
            <a:r>
              <a:rPr sz="2200" spc="-5" dirty="0">
                <a:latin typeface="Times New Roman"/>
                <a:cs typeface="Times New Roman"/>
              </a:rPr>
              <a:t> (C-like)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Arrays </a:t>
            </a: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objects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(C++)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Definition: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is a container which can hold fix number of items and these items should be of same type. Most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use of array to implement their algorithms. Following are important terms to understand the concepts of Array.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Each item stored in an array is called an element.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Each location of an element in an array has a numerical index which is used to identify the element.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4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</a:t>
            </a:r>
            <a:r>
              <a:rPr lang="en-US" dirty="0" smtClean="0"/>
              <a:t>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Arrays </a:t>
            </a:r>
            <a:r>
              <a:rPr lang="en-US" dirty="0"/>
              <a:t>can be declared in various ways in different languages.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illustration, let's take C array declaration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657600"/>
            <a:ext cx="8686800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3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</a:t>
            </a:r>
            <a:r>
              <a:rPr lang="en-US" dirty="0" smtClean="0"/>
              <a:t>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Arrays </a:t>
            </a:r>
            <a:r>
              <a:rPr lang="en-US" dirty="0"/>
              <a:t>can be declared in various ways in different languages. For illustration, let's take C array declaration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657600"/>
            <a:ext cx="8153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4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As per above shown illustration, following are the important points to be considered.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Index starts with 0</a:t>
            </a:r>
            <a:r>
              <a:rPr lang="en-US" sz="2800" dirty="0" smtClean="0"/>
              <a:t>.</a:t>
            </a:r>
            <a:endParaRPr lang="en-US" sz="2800" dirty="0"/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Each element can be accessed via its index. For example, we can fetch element at index 6 as </a:t>
            </a:r>
            <a:r>
              <a:rPr lang="en-US" sz="2800" dirty="0" smtClean="0"/>
              <a:t>27.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7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Basic </a:t>
            </a:r>
            <a:r>
              <a:rPr lang="en-US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Following </a:t>
            </a:r>
            <a:r>
              <a:rPr lang="en-US" dirty="0"/>
              <a:t>are the basic operations supported by an array.</a:t>
            </a:r>
          </a:p>
          <a:p>
            <a:r>
              <a:rPr lang="en-US" b="1" dirty="0"/>
              <a:t>Traverse</a:t>
            </a:r>
            <a:r>
              <a:rPr lang="en-US" dirty="0"/>
              <a:t> − print all the array elements one by one.</a:t>
            </a:r>
          </a:p>
          <a:p>
            <a:r>
              <a:rPr lang="en-US" b="1" dirty="0"/>
              <a:t>Insertion</a:t>
            </a:r>
            <a:r>
              <a:rPr lang="en-US" dirty="0"/>
              <a:t> − add an element at given index.</a:t>
            </a:r>
          </a:p>
          <a:p>
            <a:r>
              <a:rPr lang="en-US" b="1" dirty="0"/>
              <a:t>Deletion</a:t>
            </a:r>
            <a:r>
              <a:rPr lang="en-US" dirty="0"/>
              <a:t> − delete an element at given index.</a:t>
            </a:r>
          </a:p>
          <a:p>
            <a:r>
              <a:rPr lang="en-US" b="1" dirty="0"/>
              <a:t>Search</a:t>
            </a:r>
            <a:r>
              <a:rPr lang="en-US" dirty="0"/>
              <a:t> − search an element using given index or by value.</a:t>
            </a:r>
          </a:p>
          <a:p>
            <a:r>
              <a:rPr lang="en-US" b="1" dirty="0"/>
              <a:t>Update</a:t>
            </a:r>
            <a:r>
              <a:rPr lang="en-US" dirty="0"/>
              <a:t> − update an element at given index.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74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0"/>
                </a:moveTo>
                <a:lnTo>
                  <a:pt x="0" y="0"/>
                </a:lnTo>
                <a:lnTo>
                  <a:pt x="0" y="6857999"/>
                </a:lnTo>
                <a:lnTo>
                  <a:pt x="9143999" y="6857999"/>
                </a:lnTo>
                <a:lnTo>
                  <a:pt x="9143999" y="0"/>
                </a:lnTo>
                <a:close/>
              </a:path>
            </a:pathLst>
          </a:custGeom>
          <a:solidFill>
            <a:srgbClr val="ACACEB">
              <a:alpha val="6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949951" y="26918"/>
            <a:ext cx="114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76200"/>
            <a:ext cx="7772400" cy="1066800"/>
          </a:xfrm>
          <a:custGeom>
            <a:avLst/>
            <a:gdLst/>
            <a:ahLst/>
            <a:cxnLst/>
            <a:rect l="l" t="t" r="r" b="b"/>
            <a:pathLst>
              <a:path w="7772400" h="1066800">
                <a:moveTo>
                  <a:pt x="7772399" y="0"/>
                </a:moveTo>
                <a:lnTo>
                  <a:pt x="0" y="0"/>
                </a:lnTo>
                <a:lnTo>
                  <a:pt x="0" y="1066799"/>
                </a:lnTo>
                <a:lnTo>
                  <a:pt x="7772399" y="1066799"/>
                </a:lnTo>
                <a:lnTo>
                  <a:pt x="7772399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240227"/>
            <a:ext cx="3287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FF00"/>
                </a:solidFill>
              </a:rPr>
              <a:t>Introduction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764540" y="1149758"/>
            <a:ext cx="6196330" cy="43135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0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Times New Roman"/>
                <a:cs typeface="Times New Roman"/>
              </a:rPr>
              <a:t>Array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5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imes New Roman"/>
                <a:cs typeface="Times New Roman"/>
              </a:rPr>
              <a:t>Consecutive group of </a:t>
            </a:r>
            <a:r>
              <a:rPr sz="2200" spc="-10" dirty="0">
                <a:latin typeface="Times New Roman"/>
                <a:cs typeface="Times New Roman"/>
              </a:rPr>
              <a:t>memory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locations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0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Same </a:t>
            </a:r>
            <a:r>
              <a:rPr sz="2200" spc="-10" dirty="0">
                <a:latin typeface="Times New Roman"/>
                <a:cs typeface="Times New Roman"/>
              </a:rPr>
              <a:t>name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type </a:t>
            </a:r>
            <a:r>
              <a:rPr sz="2200" spc="-10" dirty="0">
                <a:latin typeface="Times New Roman"/>
                <a:cs typeface="Times New Roman"/>
              </a:rPr>
              <a:t>(</a:t>
            </a:r>
            <a:r>
              <a:rPr sz="2200" b="1" spc="-10" dirty="0">
                <a:latin typeface="Courier New"/>
                <a:cs typeface="Courier New"/>
              </a:rPr>
              <a:t>int</a:t>
            </a:r>
            <a:r>
              <a:rPr sz="2200" spc="-10" dirty="0">
                <a:latin typeface="Times New Roman"/>
                <a:cs typeface="Times New Roman"/>
              </a:rPr>
              <a:t>, </a:t>
            </a:r>
            <a:r>
              <a:rPr sz="2200" b="1" spc="-5" dirty="0">
                <a:latin typeface="Courier New"/>
                <a:cs typeface="Courier New"/>
              </a:rPr>
              <a:t>char</a:t>
            </a:r>
            <a:r>
              <a:rPr sz="2200" spc="-5" dirty="0">
                <a:latin typeface="Times New Roman"/>
                <a:cs typeface="Times New Roman"/>
              </a:rPr>
              <a:t>,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etc.)</a:t>
            </a: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78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To refer to an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5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Specify array name and </a:t>
            </a:r>
            <a:r>
              <a:rPr sz="2200" dirty="0">
                <a:latin typeface="Times New Roman"/>
                <a:cs typeface="Times New Roman"/>
              </a:rPr>
              <a:t>position </a:t>
            </a:r>
            <a:r>
              <a:rPr sz="2200" spc="-5" dirty="0">
                <a:latin typeface="Times New Roman"/>
                <a:cs typeface="Times New Roman"/>
              </a:rPr>
              <a:t>number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(index)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Format: arrayname[ </a:t>
            </a:r>
            <a:r>
              <a:rPr sz="2200" dirty="0">
                <a:latin typeface="Times New Roman"/>
                <a:cs typeface="Times New Roman"/>
              </a:rPr>
              <a:t>position </a:t>
            </a:r>
            <a:r>
              <a:rPr sz="2200" spc="-5" dirty="0">
                <a:latin typeface="Times New Roman"/>
                <a:cs typeface="Times New Roman"/>
              </a:rPr>
              <a:t>number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]</a:t>
            </a:r>
            <a:endParaRPr sz="2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First element at </a:t>
            </a:r>
            <a:r>
              <a:rPr sz="2200" dirty="0">
                <a:latin typeface="Times New Roman"/>
                <a:cs typeface="Times New Roman"/>
              </a:rPr>
              <a:t>position </a:t>
            </a:r>
            <a:r>
              <a:rPr sz="2200" spc="-5" dirty="0">
                <a:latin typeface="Times New Roman"/>
                <a:cs typeface="Times New Roman"/>
              </a:rPr>
              <a:t>1 (0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C)</a:t>
            </a:r>
            <a:endParaRPr sz="22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64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Times New Roman"/>
                <a:cs typeface="Times New Roman"/>
              </a:rPr>
              <a:t>N-element array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114300" algn="ctr">
              <a:lnSpc>
                <a:spcPct val="100000"/>
              </a:lnSpc>
              <a:spcBef>
                <a:spcPts val="355"/>
              </a:spcBef>
              <a:tabLst>
                <a:tab pos="525780" algn="l"/>
                <a:tab pos="798195" algn="l"/>
                <a:tab pos="1458595" algn="l"/>
                <a:tab pos="1731010" algn="l"/>
                <a:tab pos="2004060" algn="l"/>
                <a:tab pos="2700655" algn="l"/>
                <a:tab pos="2972435" algn="l"/>
                <a:tab pos="3244850" algn="l"/>
                <a:tab pos="3518535" algn="l"/>
              </a:tabLst>
            </a:pPr>
            <a:r>
              <a:rPr sz="1800" b="1" spc="-5" dirty="0">
                <a:latin typeface="Courier New"/>
                <a:cs typeface="Courier New"/>
              </a:rPr>
              <a:t>c[</a:t>
            </a:r>
            <a:r>
              <a:rPr sz="1800" spc="-5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Courier New"/>
                <a:cs typeface="Courier New"/>
              </a:rPr>
              <a:t>0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spc="-5" dirty="0">
                <a:latin typeface="Courier New"/>
                <a:cs typeface="Courier New"/>
              </a:rPr>
              <a:t>]</a:t>
            </a:r>
            <a:r>
              <a:rPr sz="1800" spc="-5" dirty="0">
                <a:latin typeface="Times New Roman"/>
                <a:cs typeface="Times New Roman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c[</a:t>
            </a:r>
            <a:r>
              <a:rPr sz="1800" spc="-5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Courier New"/>
                <a:cs typeface="Courier New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Courier New"/>
                <a:cs typeface="Courier New"/>
              </a:rPr>
              <a:t>]</a:t>
            </a:r>
            <a:r>
              <a:rPr sz="1800" dirty="0">
                <a:latin typeface="Times New Roman"/>
                <a:cs typeface="Times New Roman"/>
              </a:rPr>
              <a:t>	…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c[</a:t>
            </a:r>
            <a:r>
              <a:rPr sz="1800" spc="-5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Courier New"/>
                <a:cs typeface="Courier New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Courier New"/>
                <a:cs typeface="Courier New"/>
              </a:rPr>
              <a:t>-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Courier New"/>
                <a:cs typeface="Courier New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 marL="756285" lvl="1" indent="-287020">
              <a:lnSpc>
                <a:spcPct val="100000"/>
              </a:lnSpc>
              <a:spcBef>
                <a:spcPts val="63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imes New Roman"/>
                <a:cs typeface="Times New Roman"/>
              </a:rPr>
              <a:t>Nth element as </a:t>
            </a:r>
            <a:r>
              <a:rPr sz="2200" dirty="0">
                <a:latin typeface="Times New Roman"/>
                <a:cs typeface="Times New Roman"/>
              </a:rPr>
              <a:t>position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N-1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7960" y="6276847"/>
            <a:ext cx="1250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55825" y="2035170"/>
            <a:ext cx="1291590" cy="941705"/>
            <a:chOff x="1655825" y="2035170"/>
            <a:chExt cx="1291590" cy="941705"/>
          </a:xfrm>
        </p:grpSpPr>
        <p:sp>
          <p:nvSpPr>
            <p:cNvPr id="4" name="object 4"/>
            <p:cNvSpPr/>
            <p:nvPr/>
          </p:nvSpPr>
          <p:spPr>
            <a:xfrm>
              <a:off x="2847344" y="2035170"/>
              <a:ext cx="99690" cy="182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55825" y="2205090"/>
              <a:ext cx="951230" cy="771525"/>
            </a:xfrm>
            <a:custGeom>
              <a:avLst/>
              <a:gdLst/>
              <a:ahLst/>
              <a:cxnLst/>
              <a:rect l="l" t="t" r="r" b="b"/>
              <a:pathLst>
                <a:path w="951230" h="771525">
                  <a:moveTo>
                    <a:pt x="950915" y="0"/>
                  </a:moveTo>
                  <a:lnTo>
                    <a:pt x="0" y="0"/>
                  </a:lnTo>
                  <a:lnTo>
                    <a:pt x="0" y="771524"/>
                  </a:lnTo>
                  <a:lnTo>
                    <a:pt x="950915" y="771524"/>
                  </a:lnTo>
                  <a:lnTo>
                    <a:pt x="95091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55825" y="2205060"/>
            <a:ext cx="897255" cy="77216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000" b="1" i="1" spc="-10" dirty="0">
                <a:latin typeface="Times New Roman"/>
                <a:cs typeface="Times New Roman"/>
              </a:rPr>
              <a:t>i</a:t>
            </a:r>
            <a:r>
              <a:rPr sz="1800" b="1" spc="-10" dirty="0">
                <a:latin typeface="Times New Roman"/>
                <a:cs typeface="Times New Roman"/>
              </a:rPr>
              <a:t>←</a:t>
            </a:r>
            <a:r>
              <a:rPr sz="2000" b="1" i="1" spc="-10" dirty="0">
                <a:latin typeface="Times New Roman"/>
                <a:cs typeface="Times New Roman"/>
              </a:rPr>
              <a:t>i</a:t>
            </a:r>
            <a:r>
              <a:rPr sz="1800" b="1" spc="-10" dirty="0">
                <a:latin typeface="Times New Roman"/>
                <a:cs typeface="Times New Roman"/>
              </a:rPr>
              <a:t>+1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47937" y="2200267"/>
            <a:ext cx="866775" cy="459105"/>
            <a:chOff x="2547937" y="2200267"/>
            <a:chExt cx="866775" cy="459105"/>
          </a:xfrm>
        </p:grpSpPr>
        <p:sp>
          <p:nvSpPr>
            <p:cNvPr id="8" name="object 8"/>
            <p:cNvSpPr/>
            <p:nvPr/>
          </p:nvSpPr>
          <p:spPr>
            <a:xfrm>
              <a:off x="2552700" y="2205029"/>
              <a:ext cx="857250" cy="449580"/>
            </a:xfrm>
            <a:custGeom>
              <a:avLst/>
              <a:gdLst/>
              <a:ahLst/>
              <a:cxnLst/>
              <a:rect l="l" t="t" r="r" b="b"/>
              <a:pathLst>
                <a:path w="857250" h="449580">
                  <a:moveTo>
                    <a:pt x="857249" y="0"/>
                  </a:moveTo>
                  <a:lnTo>
                    <a:pt x="0" y="0"/>
                  </a:lnTo>
                  <a:lnTo>
                    <a:pt x="0" y="449259"/>
                  </a:lnTo>
                  <a:lnTo>
                    <a:pt x="857249" y="449259"/>
                  </a:lnTo>
                  <a:lnTo>
                    <a:pt x="8572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2700" y="2205029"/>
              <a:ext cx="857250" cy="449580"/>
            </a:xfrm>
            <a:custGeom>
              <a:avLst/>
              <a:gdLst/>
              <a:ahLst/>
              <a:cxnLst/>
              <a:rect l="l" t="t" r="r" b="b"/>
              <a:pathLst>
                <a:path w="857250" h="449580">
                  <a:moveTo>
                    <a:pt x="0" y="449259"/>
                  </a:moveTo>
                  <a:lnTo>
                    <a:pt x="857249" y="449259"/>
                  </a:lnTo>
                  <a:lnTo>
                    <a:pt x="857249" y="0"/>
                  </a:lnTo>
                  <a:lnTo>
                    <a:pt x="0" y="0"/>
                  </a:lnTo>
                  <a:lnTo>
                    <a:pt x="0" y="44925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11503" y="2229354"/>
            <a:ext cx="7988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 New Roman"/>
                <a:cs typeface="Times New Roman"/>
              </a:rPr>
              <a:t>i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←0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47937" y="2649597"/>
            <a:ext cx="866775" cy="332105"/>
            <a:chOff x="2547937" y="2649597"/>
            <a:chExt cx="866775" cy="332105"/>
          </a:xfrm>
        </p:grpSpPr>
        <p:sp>
          <p:nvSpPr>
            <p:cNvPr id="12" name="object 12"/>
            <p:cNvSpPr/>
            <p:nvPr/>
          </p:nvSpPr>
          <p:spPr>
            <a:xfrm>
              <a:off x="2552700" y="2654360"/>
              <a:ext cx="857250" cy="322580"/>
            </a:xfrm>
            <a:custGeom>
              <a:avLst/>
              <a:gdLst/>
              <a:ahLst/>
              <a:cxnLst/>
              <a:rect l="l" t="t" r="r" b="b"/>
              <a:pathLst>
                <a:path w="857250" h="322580">
                  <a:moveTo>
                    <a:pt x="857249" y="0"/>
                  </a:moveTo>
                  <a:lnTo>
                    <a:pt x="0" y="0"/>
                  </a:lnTo>
                  <a:lnTo>
                    <a:pt x="0" y="322255"/>
                  </a:lnTo>
                  <a:lnTo>
                    <a:pt x="857249" y="322255"/>
                  </a:lnTo>
                  <a:lnTo>
                    <a:pt x="8572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2700" y="2654360"/>
              <a:ext cx="857250" cy="322580"/>
            </a:xfrm>
            <a:custGeom>
              <a:avLst/>
              <a:gdLst/>
              <a:ahLst/>
              <a:cxnLst/>
              <a:rect l="l" t="t" r="r" b="b"/>
              <a:pathLst>
                <a:path w="857250" h="322580">
                  <a:moveTo>
                    <a:pt x="0" y="322255"/>
                  </a:moveTo>
                  <a:lnTo>
                    <a:pt x="857249" y="322255"/>
                  </a:lnTo>
                  <a:lnTo>
                    <a:pt x="857249" y="0"/>
                  </a:lnTo>
                  <a:lnTo>
                    <a:pt x="0" y="0"/>
                  </a:lnTo>
                  <a:lnTo>
                    <a:pt x="0" y="32225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11503" y="2632910"/>
            <a:ext cx="7988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i &lt;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09596" y="2469003"/>
            <a:ext cx="1346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54012" y="2447421"/>
            <a:ext cx="3035300" cy="1097915"/>
            <a:chOff x="1154012" y="2447421"/>
            <a:chExt cx="3035300" cy="1097915"/>
          </a:xfrm>
        </p:grpSpPr>
        <p:sp>
          <p:nvSpPr>
            <p:cNvPr id="17" name="object 17"/>
            <p:cNvSpPr/>
            <p:nvPr/>
          </p:nvSpPr>
          <p:spPr>
            <a:xfrm>
              <a:off x="3440186" y="2748015"/>
              <a:ext cx="676275" cy="0"/>
            </a:xfrm>
            <a:custGeom>
              <a:avLst/>
              <a:gdLst/>
              <a:ahLst/>
              <a:cxnLst/>
              <a:rect l="l" t="t" r="r" b="b"/>
              <a:pathLst>
                <a:path w="676275">
                  <a:moveTo>
                    <a:pt x="676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54011" y="2447429"/>
              <a:ext cx="3035300" cy="1097915"/>
            </a:xfrm>
            <a:custGeom>
              <a:avLst/>
              <a:gdLst/>
              <a:ahLst/>
              <a:cxnLst/>
              <a:rect l="l" t="t" r="r" b="b"/>
              <a:pathLst>
                <a:path w="3035300" h="1097914">
                  <a:moveTo>
                    <a:pt x="455714" y="48120"/>
                  </a:moveTo>
                  <a:lnTo>
                    <a:pt x="447497" y="43548"/>
                  </a:lnTo>
                  <a:lnTo>
                    <a:pt x="371513" y="1244"/>
                  </a:lnTo>
                  <a:lnTo>
                    <a:pt x="369227" y="0"/>
                  </a:lnTo>
                  <a:lnTo>
                    <a:pt x="366306" y="876"/>
                  </a:lnTo>
                  <a:lnTo>
                    <a:pt x="363753" y="5448"/>
                  </a:lnTo>
                  <a:lnTo>
                    <a:pt x="364515" y="8382"/>
                  </a:lnTo>
                  <a:lnTo>
                    <a:pt x="428637" y="43929"/>
                  </a:lnTo>
                  <a:lnTo>
                    <a:pt x="0" y="52946"/>
                  </a:lnTo>
                  <a:lnTo>
                    <a:pt x="203" y="62357"/>
                  </a:lnTo>
                  <a:lnTo>
                    <a:pt x="428866" y="53428"/>
                  </a:lnTo>
                  <a:lnTo>
                    <a:pt x="366306" y="91681"/>
                  </a:lnTo>
                  <a:lnTo>
                    <a:pt x="365544" y="94602"/>
                  </a:lnTo>
                  <a:lnTo>
                    <a:pt x="366941" y="96888"/>
                  </a:lnTo>
                  <a:lnTo>
                    <a:pt x="368325" y="99060"/>
                  </a:lnTo>
                  <a:lnTo>
                    <a:pt x="371259" y="99822"/>
                  </a:lnTo>
                  <a:lnTo>
                    <a:pt x="455714" y="48120"/>
                  </a:lnTo>
                  <a:close/>
                </a:path>
                <a:path w="3035300" h="1097914">
                  <a:moveTo>
                    <a:pt x="3034703" y="1011174"/>
                  </a:moveTo>
                  <a:lnTo>
                    <a:pt x="3033941" y="1008240"/>
                  </a:lnTo>
                  <a:lnTo>
                    <a:pt x="3031655" y="1006970"/>
                  </a:lnTo>
                  <a:lnTo>
                    <a:pt x="3029369" y="1005713"/>
                  </a:lnTo>
                  <a:lnTo>
                    <a:pt x="3026435" y="1006475"/>
                  </a:lnTo>
                  <a:lnTo>
                    <a:pt x="3025190" y="1008761"/>
                  </a:lnTo>
                  <a:lnTo>
                    <a:pt x="2990519" y="1070368"/>
                  </a:lnTo>
                  <a:lnTo>
                    <a:pt x="2990583" y="1078395"/>
                  </a:lnTo>
                  <a:lnTo>
                    <a:pt x="2990469" y="1070457"/>
                  </a:lnTo>
                  <a:lnTo>
                    <a:pt x="2978188" y="281419"/>
                  </a:lnTo>
                  <a:lnTo>
                    <a:pt x="2968650" y="281546"/>
                  </a:lnTo>
                  <a:lnTo>
                    <a:pt x="2980956" y="1070368"/>
                  </a:lnTo>
                  <a:lnTo>
                    <a:pt x="2944533" y="1010018"/>
                  </a:lnTo>
                  <a:lnTo>
                    <a:pt x="2943136" y="1007846"/>
                  </a:lnTo>
                  <a:lnTo>
                    <a:pt x="2940215" y="1007084"/>
                  </a:lnTo>
                  <a:lnTo>
                    <a:pt x="2937929" y="1008494"/>
                  </a:lnTo>
                  <a:lnTo>
                    <a:pt x="2935643" y="1009764"/>
                  </a:lnTo>
                  <a:lnTo>
                    <a:pt x="2934995" y="1012698"/>
                  </a:lnTo>
                  <a:lnTo>
                    <a:pt x="2936278" y="1014984"/>
                  </a:lnTo>
                  <a:lnTo>
                    <a:pt x="2986176" y="1097521"/>
                  </a:lnTo>
                  <a:lnTo>
                    <a:pt x="2991447" y="1088136"/>
                  </a:lnTo>
                  <a:lnTo>
                    <a:pt x="3034703" y="1011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274954" y="3814315"/>
            <a:ext cx="11576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4270" algn="l"/>
              </a:tabLst>
            </a:pP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2000" b="1" i="1" u="sng" spc="-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i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2000" b="1" i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]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←</a:t>
            </a:r>
            <a:r>
              <a:rPr sz="1800" b="1" u="sng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	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49347" y="1733603"/>
            <a:ext cx="2267585" cy="2283460"/>
            <a:chOff x="1149347" y="1733603"/>
            <a:chExt cx="2267585" cy="2283460"/>
          </a:xfrm>
        </p:grpSpPr>
        <p:sp>
          <p:nvSpPr>
            <p:cNvPr id="21" name="object 21"/>
            <p:cNvSpPr/>
            <p:nvPr/>
          </p:nvSpPr>
          <p:spPr>
            <a:xfrm>
              <a:off x="2947285" y="3006729"/>
              <a:ext cx="99822" cy="1619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39970" y="1738365"/>
              <a:ext cx="1071880" cy="282575"/>
            </a:xfrm>
            <a:custGeom>
              <a:avLst/>
              <a:gdLst/>
              <a:ahLst/>
              <a:cxnLst/>
              <a:rect l="l" t="t" r="r" b="b"/>
              <a:pathLst>
                <a:path w="1071879" h="282575">
                  <a:moveTo>
                    <a:pt x="899169" y="0"/>
                  </a:moveTo>
                  <a:lnTo>
                    <a:pt x="172343" y="0"/>
                  </a:lnTo>
                  <a:lnTo>
                    <a:pt x="117893" y="7201"/>
                  </a:lnTo>
                  <a:lnTo>
                    <a:pt x="70586" y="27254"/>
                  </a:lnTo>
                  <a:lnTo>
                    <a:pt x="33270" y="57831"/>
                  </a:lnTo>
                  <a:lnTo>
                    <a:pt x="8792" y="96603"/>
                  </a:lnTo>
                  <a:lnTo>
                    <a:pt x="0" y="141244"/>
                  </a:lnTo>
                  <a:lnTo>
                    <a:pt x="8792" y="185882"/>
                  </a:lnTo>
                  <a:lnTo>
                    <a:pt x="33270" y="224676"/>
                  </a:lnTo>
                  <a:lnTo>
                    <a:pt x="70586" y="255284"/>
                  </a:lnTo>
                  <a:lnTo>
                    <a:pt x="117893" y="275366"/>
                  </a:lnTo>
                  <a:lnTo>
                    <a:pt x="172343" y="282580"/>
                  </a:lnTo>
                  <a:lnTo>
                    <a:pt x="899169" y="282580"/>
                  </a:lnTo>
                  <a:lnTo>
                    <a:pt x="953680" y="275366"/>
                  </a:lnTo>
                  <a:lnTo>
                    <a:pt x="1001021" y="255284"/>
                  </a:lnTo>
                  <a:lnTo>
                    <a:pt x="1038352" y="224676"/>
                  </a:lnTo>
                  <a:lnTo>
                    <a:pt x="1062833" y="185882"/>
                  </a:lnTo>
                  <a:lnTo>
                    <a:pt x="1071624" y="141244"/>
                  </a:lnTo>
                  <a:lnTo>
                    <a:pt x="1062833" y="96603"/>
                  </a:lnTo>
                  <a:lnTo>
                    <a:pt x="1038352" y="57831"/>
                  </a:lnTo>
                  <a:lnTo>
                    <a:pt x="1001021" y="27254"/>
                  </a:lnTo>
                  <a:lnTo>
                    <a:pt x="953680" y="7201"/>
                  </a:lnTo>
                  <a:lnTo>
                    <a:pt x="899169" y="0"/>
                  </a:lnTo>
                  <a:close/>
                </a:path>
              </a:pathLst>
            </a:custGeom>
            <a:solidFill>
              <a:srgbClr val="C2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54109" y="1738365"/>
              <a:ext cx="2258060" cy="2273935"/>
            </a:xfrm>
            <a:custGeom>
              <a:avLst/>
              <a:gdLst/>
              <a:ahLst/>
              <a:cxnLst/>
              <a:rect l="l" t="t" r="r" b="b"/>
              <a:pathLst>
                <a:path w="2258060" h="2273935">
                  <a:moveTo>
                    <a:pt x="1358204" y="0"/>
                  </a:moveTo>
                  <a:lnTo>
                    <a:pt x="2085030" y="0"/>
                  </a:lnTo>
                  <a:lnTo>
                    <a:pt x="2139541" y="7201"/>
                  </a:lnTo>
                  <a:lnTo>
                    <a:pt x="2186882" y="27254"/>
                  </a:lnTo>
                  <a:lnTo>
                    <a:pt x="2224213" y="57831"/>
                  </a:lnTo>
                  <a:lnTo>
                    <a:pt x="2248694" y="96603"/>
                  </a:lnTo>
                  <a:lnTo>
                    <a:pt x="2257485" y="141244"/>
                  </a:lnTo>
                  <a:lnTo>
                    <a:pt x="2248694" y="185882"/>
                  </a:lnTo>
                  <a:lnTo>
                    <a:pt x="2224213" y="224676"/>
                  </a:lnTo>
                  <a:lnTo>
                    <a:pt x="2186882" y="255284"/>
                  </a:lnTo>
                  <a:lnTo>
                    <a:pt x="2139541" y="275366"/>
                  </a:lnTo>
                  <a:lnTo>
                    <a:pt x="2085030" y="282580"/>
                  </a:lnTo>
                  <a:lnTo>
                    <a:pt x="1358204" y="282580"/>
                  </a:lnTo>
                  <a:lnTo>
                    <a:pt x="1303754" y="275366"/>
                  </a:lnTo>
                  <a:lnTo>
                    <a:pt x="1256447" y="255284"/>
                  </a:lnTo>
                  <a:lnTo>
                    <a:pt x="1219131" y="224676"/>
                  </a:lnTo>
                  <a:lnTo>
                    <a:pt x="1194653" y="185882"/>
                  </a:lnTo>
                  <a:lnTo>
                    <a:pt x="1185860" y="141244"/>
                  </a:lnTo>
                  <a:lnTo>
                    <a:pt x="1194653" y="96603"/>
                  </a:lnTo>
                  <a:lnTo>
                    <a:pt x="1219131" y="57831"/>
                  </a:lnTo>
                  <a:lnTo>
                    <a:pt x="1256447" y="27254"/>
                  </a:lnTo>
                  <a:lnTo>
                    <a:pt x="1303754" y="7201"/>
                  </a:lnTo>
                  <a:lnTo>
                    <a:pt x="1358204" y="0"/>
                  </a:lnTo>
                  <a:close/>
                </a:path>
                <a:path w="2258060" h="2273935">
                  <a:moveTo>
                    <a:pt x="0" y="2273314"/>
                  </a:moveTo>
                  <a:lnTo>
                    <a:pt x="0" y="757184"/>
                  </a:lnTo>
                </a:path>
                <a:path w="2258060" h="2273935">
                  <a:moveTo>
                    <a:pt x="1133545" y="2273314"/>
                  </a:moveTo>
                  <a:lnTo>
                    <a:pt x="0" y="227331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57800" y="1552636"/>
            <a:ext cx="3507104" cy="922655"/>
          </a:xfrm>
          <a:prstGeom prst="rect">
            <a:avLst/>
          </a:prstGeom>
          <a:solidFill>
            <a:srgbClr val="C2FFF0"/>
          </a:solidFill>
          <a:ln w="952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: total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elements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: input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variable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Array Elements: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a[0]…..a[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-1]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40586" y="1765803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Verdana"/>
                <a:cs typeface="Verdana"/>
              </a:rPr>
              <a:t>St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31414" y="3638550"/>
            <a:ext cx="99822" cy="215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219071" y="2937506"/>
            <a:ext cx="144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7479" y="914393"/>
            <a:ext cx="8647430" cy="501650"/>
          </a:xfrm>
          <a:custGeom>
            <a:avLst/>
            <a:gdLst/>
            <a:ahLst/>
            <a:cxnLst/>
            <a:rect l="l" t="t" r="r" b="b"/>
            <a:pathLst>
              <a:path w="8647430" h="501650">
                <a:moveTo>
                  <a:pt x="8647175" y="0"/>
                </a:moveTo>
                <a:lnTo>
                  <a:pt x="0" y="0"/>
                </a:lnTo>
                <a:lnTo>
                  <a:pt x="0" y="501645"/>
                </a:lnTo>
                <a:lnTo>
                  <a:pt x="8647175" y="501645"/>
                </a:lnTo>
                <a:lnTo>
                  <a:pt x="8647175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96398" y="981578"/>
            <a:ext cx="7849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00AFF0"/>
                </a:solidFill>
                <a:latin typeface="Times New Roman"/>
                <a:cs typeface="Times New Roman"/>
              </a:rPr>
              <a:t>Topic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1: </a:t>
            </a:r>
            <a:r>
              <a:rPr sz="2400" b="1" spc="-10" dirty="0">
                <a:solidFill>
                  <a:srgbClr val="00AFF0"/>
                </a:solidFill>
                <a:latin typeface="Times New Roman"/>
                <a:cs typeface="Times New Roman"/>
              </a:rPr>
              <a:t>Write </a:t>
            </a:r>
            <a:r>
              <a:rPr sz="2400" b="1" spc="-5" dirty="0">
                <a:solidFill>
                  <a:srgbClr val="00AFF0"/>
                </a:solidFill>
                <a:latin typeface="Times New Roman"/>
                <a:cs typeface="Times New Roman"/>
              </a:rPr>
              <a:t>an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Algorithm to insert </a:t>
            </a:r>
            <a:r>
              <a:rPr sz="2400" b="1" i="1" spc="-5" dirty="0">
                <a:solidFill>
                  <a:srgbClr val="00AFF0"/>
                </a:solidFill>
                <a:latin typeface="Times New Roman"/>
                <a:cs typeface="Times New Roman"/>
              </a:rPr>
              <a:t>n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elements in </a:t>
            </a:r>
            <a:r>
              <a:rPr sz="2400" b="1" spc="-5" dirty="0">
                <a:solidFill>
                  <a:srgbClr val="00AFF0"/>
                </a:solidFill>
                <a:latin typeface="Times New Roman"/>
                <a:cs typeface="Times New Roman"/>
              </a:rPr>
              <a:t>an</a:t>
            </a:r>
            <a:r>
              <a:rPr sz="2400" b="1" spc="-225" dirty="0">
                <a:solidFill>
                  <a:srgbClr val="00AFF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array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65404" y="3155939"/>
            <a:ext cx="1624330" cy="495934"/>
            <a:chOff x="2065404" y="3155939"/>
            <a:chExt cx="1624330" cy="495934"/>
          </a:xfrm>
        </p:grpSpPr>
        <p:sp>
          <p:nvSpPr>
            <p:cNvPr id="31" name="object 31"/>
            <p:cNvSpPr/>
            <p:nvPr/>
          </p:nvSpPr>
          <p:spPr>
            <a:xfrm>
              <a:off x="2078104" y="3168639"/>
              <a:ext cx="1598930" cy="470534"/>
            </a:xfrm>
            <a:custGeom>
              <a:avLst/>
              <a:gdLst/>
              <a:ahLst/>
              <a:cxnLst/>
              <a:rect l="l" t="t" r="r" b="b"/>
              <a:pathLst>
                <a:path w="1598929" h="470535">
                  <a:moveTo>
                    <a:pt x="1598544" y="0"/>
                  </a:moveTo>
                  <a:lnTo>
                    <a:pt x="319658" y="0"/>
                  </a:lnTo>
                  <a:lnTo>
                    <a:pt x="0" y="469910"/>
                  </a:lnTo>
                  <a:lnTo>
                    <a:pt x="1278901" y="469910"/>
                  </a:lnTo>
                  <a:lnTo>
                    <a:pt x="1598544" y="0"/>
                  </a:lnTo>
                  <a:close/>
                </a:path>
              </a:pathLst>
            </a:custGeom>
            <a:solidFill>
              <a:srgbClr val="00CC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78104" y="3168639"/>
              <a:ext cx="1598930" cy="470534"/>
            </a:xfrm>
            <a:custGeom>
              <a:avLst/>
              <a:gdLst/>
              <a:ahLst/>
              <a:cxnLst/>
              <a:rect l="l" t="t" r="r" b="b"/>
              <a:pathLst>
                <a:path w="1598929" h="470535">
                  <a:moveTo>
                    <a:pt x="0" y="469910"/>
                  </a:moveTo>
                  <a:lnTo>
                    <a:pt x="319658" y="0"/>
                  </a:lnTo>
                  <a:lnTo>
                    <a:pt x="1598544" y="0"/>
                  </a:lnTo>
                  <a:lnTo>
                    <a:pt x="1278901" y="469910"/>
                  </a:lnTo>
                  <a:lnTo>
                    <a:pt x="0" y="469910"/>
                  </a:lnTo>
                  <a:close/>
                </a:path>
              </a:pathLst>
            </a:custGeom>
            <a:ln w="25399">
              <a:solidFill>
                <a:srgbClr val="0094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45463" y="3263643"/>
            <a:ext cx="663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  <a:r>
              <a:rPr sz="16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b="1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652837" y="3516317"/>
            <a:ext cx="1081405" cy="292100"/>
            <a:chOff x="3652837" y="3516317"/>
            <a:chExt cx="1081405" cy="292100"/>
          </a:xfrm>
        </p:grpSpPr>
        <p:sp>
          <p:nvSpPr>
            <p:cNvPr id="35" name="object 35"/>
            <p:cNvSpPr/>
            <p:nvPr/>
          </p:nvSpPr>
          <p:spPr>
            <a:xfrm>
              <a:off x="3657600" y="3521080"/>
              <a:ext cx="1071880" cy="282575"/>
            </a:xfrm>
            <a:custGeom>
              <a:avLst/>
              <a:gdLst/>
              <a:ahLst/>
              <a:cxnLst/>
              <a:rect l="l" t="t" r="r" b="b"/>
              <a:pathLst>
                <a:path w="1071879" h="282575">
                  <a:moveTo>
                    <a:pt x="899159" y="0"/>
                  </a:moveTo>
                  <a:lnTo>
                    <a:pt x="172333" y="0"/>
                  </a:lnTo>
                  <a:lnTo>
                    <a:pt x="117882" y="7201"/>
                  </a:lnTo>
                  <a:lnTo>
                    <a:pt x="70577" y="27252"/>
                  </a:lnTo>
                  <a:lnTo>
                    <a:pt x="33264" y="57824"/>
                  </a:lnTo>
                  <a:lnTo>
                    <a:pt x="8790" y="96587"/>
                  </a:lnTo>
                  <a:lnTo>
                    <a:pt x="0" y="141213"/>
                  </a:lnTo>
                  <a:lnTo>
                    <a:pt x="8790" y="185914"/>
                  </a:lnTo>
                  <a:lnTo>
                    <a:pt x="33264" y="224722"/>
                  </a:lnTo>
                  <a:lnTo>
                    <a:pt x="70577" y="255317"/>
                  </a:lnTo>
                  <a:lnTo>
                    <a:pt x="117882" y="275377"/>
                  </a:lnTo>
                  <a:lnTo>
                    <a:pt x="172333" y="282580"/>
                  </a:lnTo>
                  <a:lnTo>
                    <a:pt x="899159" y="282580"/>
                  </a:lnTo>
                  <a:lnTo>
                    <a:pt x="953671" y="275377"/>
                  </a:lnTo>
                  <a:lnTo>
                    <a:pt x="1001012" y="255317"/>
                  </a:lnTo>
                  <a:lnTo>
                    <a:pt x="1038343" y="224722"/>
                  </a:lnTo>
                  <a:lnTo>
                    <a:pt x="1062824" y="185914"/>
                  </a:lnTo>
                  <a:lnTo>
                    <a:pt x="1071615" y="141213"/>
                  </a:lnTo>
                  <a:lnTo>
                    <a:pt x="1062824" y="96587"/>
                  </a:lnTo>
                  <a:lnTo>
                    <a:pt x="1038343" y="57824"/>
                  </a:lnTo>
                  <a:lnTo>
                    <a:pt x="1001012" y="27252"/>
                  </a:lnTo>
                  <a:lnTo>
                    <a:pt x="953671" y="7201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C2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57600" y="3521080"/>
              <a:ext cx="1071880" cy="282575"/>
            </a:xfrm>
            <a:custGeom>
              <a:avLst/>
              <a:gdLst/>
              <a:ahLst/>
              <a:cxnLst/>
              <a:rect l="l" t="t" r="r" b="b"/>
              <a:pathLst>
                <a:path w="1071879" h="282575">
                  <a:moveTo>
                    <a:pt x="172333" y="0"/>
                  </a:moveTo>
                  <a:lnTo>
                    <a:pt x="899159" y="0"/>
                  </a:lnTo>
                  <a:lnTo>
                    <a:pt x="953671" y="7201"/>
                  </a:lnTo>
                  <a:lnTo>
                    <a:pt x="1001012" y="27252"/>
                  </a:lnTo>
                  <a:lnTo>
                    <a:pt x="1038343" y="57824"/>
                  </a:lnTo>
                  <a:lnTo>
                    <a:pt x="1062824" y="96587"/>
                  </a:lnTo>
                  <a:lnTo>
                    <a:pt x="1071615" y="141213"/>
                  </a:lnTo>
                  <a:lnTo>
                    <a:pt x="1062824" y="185914"/>
                  </a:lnTo>
                  <a:lnTo>
                    <a:pt x="1038343" y="224722"/>
                  </a:lnTo>
                  <a:lnTo>
                    <a:pt x="1001012" y="255317"/>
                  </a:lnTo>
                  <a:lnTo>
                    <a:pt x="953671" y="275377"/>
                  </a:lnTo>
                  <a:lnTo>
                    <a:pt x="899159" y="282580"/>
                  </a:lnTo>
                  <a:lnTo>
                    <a:pt x="172333" y="282580"/>
                  </a:lnTo>
                  <a:lnTo>
                    <a:pt x="117882" y="275377"/>
                  </a:lnTo>
                  <a:lnTo>
                    <a:pt x="70577" y="255317"/>
                  </a:lnTo>
                  <a:lnTo>
                    <a:pt x="33264" y="224722"/>
                  </a:lnTo>
                  <a:lnTo>
                    <a:pt x="8790" y="185914"/>
                  </a:lnTo>
                  <a:lnTo>
                    <a:pt x="0" y="141213"/>
                  </a:lnTo>
                  <a:lnTo>
                    <a:pt x="8790" y="96587"/>
                  </a:lnTo>
                  <a:lnTo>
                    <a:pt x="33264" y="57824"/>
                  </a:lnTo>
                  <a:lnTo>
                    <a:pt x="70577" y="27252"/>
                  </a:lnTo>
                  <a:lnTo>
                    <a:pt x="117882" y="7201"/>
                  </a:lnTo>
                  <a:lnTo>
                    <a:pt x="172333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016505" y="3549139"/>
            <a:ext cx="3562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Verdana"/>
                <a:cs typeface="Verdana"/>
              </a:rPr>
              <a:t>end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1719329" y="4870450"/>
          <a:ext cx="3531870" cy="370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3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7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45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2037081" y="527405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99081" y="527405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561332" y="527405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23332" y="527405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969514" y="5274050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….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68881" y="5311642"/>
            <a:ext cx="2324735" cy="259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  <a:tabLst>
                <a:tab pos="504190" algn="l"/>
                <a:tab pos="1257300" algn="l"/>
                <a:tab pos="2019300" algn="l"/>
              </a:tabLst>
            </a:pPr>
            <a:r>
              <a:rPr sz="1800" dirty="0">
                <a:latin typeface="Times New Roman"/>
                <a:cs typeface="Times New Roman"/>
              </a:rPr>
              <a:t>.	….	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-2	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-1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23285" y="484186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5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[]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7620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999" y="0"/>
                </a:moveTo>
                <a:lnTo>
                  <a:pt x="0" y="0"/>
                </a:lnTo>
                <a:lnTo>
                  <a:pt x="0" y="685799"/>
                </a:lnTo>
                <a:lnTo>
                  <a:pt x="9143999" y="685799"/>
                </a:lnTo>
                <a:lnTo>
                  <a:pt x="9143999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497840" y="50997"/>
            <a:ext cx="3736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00"/>
                </a:solidFill>
                <a:latin typeface="Times New Roman"/>
                <a:cs typeface="Times New Roman"/>
              </a:rPr>
              <a:t>Array</a:t>
            </a:r>
            <a:r>
              <a:rPr sz="4400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FF00"/>
                </a:solidFill>
                <a:latin typeface="Times New Roman"/>
                <a:cs typeface="Times New Roman"/>
              </a:rPr>
              <a:t>Creation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257800" y="2654296"/>
            <a:ext cx="3124200" cy="2924175"/>
          </a:xfrm>
          <a:prstGeom prst="rect">
            <a:avLst/>
          </a:prstGeom>
          <a:solidFill>
            <a:srgbClr val="595959"/>
          </a:solidFill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int</a:t>
            </a:r>
            <a:r>
              <a:rPr sz="1600" b="1" spc="1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main(){</a:t>
            </a:r>
            <a:endParaRPr sz="1600">
              <a:latin typeface="Arial"/>
              <a:cs typeface="Arial"/>
            </a:endParaRPr>
          </a:p>
          <a:p>
            <a:pPr marL="206375" marR="1539240">
              <a:lnSpc>
                <a:spcPct val="150000"/>
              </a:lnSpc>
            </a:pP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int i, a[100], n;  n=10;</a:t>
            </a:r>
            <a:endParaRPr sz="1600">
              <a:latin typeface="Arial"/>
              <a:cs typeface="Arial"/>
            </a:endParaRPr>
          </a:p>
          <a:p>
            <a:pPr marL="206375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for(i=0;i&lt;n;i++){</a:t>
            </a:r>
            <a:endParaRPr sz="1600">
              <a:latin typeface="Arial"/>
              <a:cs typeface="Arial"/>
            </a:endParaRPr>
          </a:p>
          <a:p>
            <a:pPr marL="320675" marR="1048385">
              <a:lnSpc>
                <a:spcPct val="150000"/>
              </a:lnSpc>
            </a:pP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scan</a:t>
            </a:r>
            <a:r>
              <a:rPr sz="1600" b="1" spc="-10" dirty="0">
                <a:solidFill>
                  <a:srgbClr val="FFFF00"/>
                </a:solidFill>
                <a:latin typeface="Arial"/>
                <a:cs typeface="Arial"/>
              </a:rPr>
              <a:t>f</a:t>
            </a: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(“</a:t>
            </a:r>
            <a:r>
              <a:rPr sz="1600" b="1" spc="-45" dirty="0">
                <a:solidFill>
                  <a:srgbClr val="FFFF00"/>
                </a:solidFill>
                <a:latin typeface="Arial"/>
                <a:cs typeface="Arial"/>
              </a:rPr>
              <a:t>%</a:t>
            </a: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d</a:t>
            </a:r>
            <a:r>
              <a:rPr sz="1600" b="1" spc="5" dirty="0">
                <a:solidFill>
                  <a:srgbClr val="FFFF00"/>
                </a:solidFill>
                <a:latin typeface="Arial"/>
                <a:cs typeface="Arial"/>
              </a:rPr>
              <a:t>”</a:t>
            </a: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,&amp;a</a:t>
            </a: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[</a:t>
            </a: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FFFF00"/>
                </a:solidFill>
                <a:latin typeface="Arial"/>
                <a:cs typeface="Arial"/>
              </a:rPr>
              <a:t>]);  </a:t>
            </a: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a[i]=x;</a:t>
            </a:r>
            <a:endParaRPr sz="16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solidFill>
                  <a:srgbClr val="FFFF00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286508" y="1900681"/>
            <a:ext cx="4419600" cy="2773045"/>
          </a:xfrm>
          <a:custGeom>
            <a:avLst/>
            <a:gdLst/>
            <a:ahLst/>
            <a:cxnLst/>
            <a:rect l="l" t="t" r="r" b="b"/>
            <a:pathLst>
              <a:path w="4419600" h="2773045">
                <a:moveTo>
                  <a:pt x="2971292" y="896505"/>
                </a:moveTo>
                <a:lnTo>
                  <a:pt x="2915297" y="818019"/>
                </a:lnTo>
                <a:lnTo>
                  <a:pt x="2913773" y="815848"/>
                </a:lnTo>
                <a:lnTo>
                  <a:pt x="2910840" y="815340"/>
                </a:lnTo>
                <a:lnTo>
                  <a:pt x="2908681" y="816864"/>
                </a:lnTo>
                <a:lnTo>
                  <a:pt x="2906522" y="818502"/>
                </a:lnTo>
                <a:lnTo>
                  <a:pt x="2906001" y="821436"/>
                </a:lnTo>
                <a:lnTo>
                  <a:pt x="2907525" y="823595"/>
                </a:lnTo>
                <a:lnTo>
                  <a:pt x="2948584" y="880999"/>
                </a:lnTo>
                <a:lnTo>
                  <a:pt x="992009" y="0"/>
                </a:lnTo>
                <a:lnTo>
                  <a:pt x="988199" y="8648"/>
                </a:lnTo>
                <a:lnTo>
                  <a:pt x="2944571" y="889711"/>
                </a:lnTo>
                <a:lnTo>
                  <a:pt x="2874518" y="897140"/>
                </a:lnTo>
                <a:lnTo>
                  <a:pt x="2871863" y="897382"/>
                </a:lnTo>
                <a:lnTo>
                  <a:pt x="2869946" y="899795"/>
                </a:lnTo>
                <a:lnTo>
                  <a:pt x="2870454" y="905002"/>
                </a:lnTo>
                <a:lnTo>
                  <a:pt x="2872867" y="906894"/>
                </a:lnTo>
                <a:lnTo>
                  <a:pt x="2966682" y="896988"/>
                </a:lnTo>
                <a:lnTo>
                  <a:pt x="2971292" y="896505"/>
                </a:lnTo>
                <a:close/>
              </a:path>
              <a:path w="4419600" h="2773045">
                <a:moveTo>
                  <a:pt x="3276092" y="2747518"/>
                </a:moveTo>
                <a:lnTo>
                  <a:pt x="3208909" y="2678430"/>
                </a:lnTo>
                <a:lnTo>
                  <a:pt x="3207143" y="2676525"/>
                </a:lnTo>
                <a:lnTo>
                  <a:pt x="3204095" y="2676525"/>
                </a:lnTo>
                <a:lnTo>
                  <a:pt x="3200285" y="2680081"/>
                </a:lnTo>
                <a:lnTo>
                  <a:pt x="3200285" y="2683129"/>
                </a:lnTo>
                <a:lnTo>
                  <a:pt x="3202051" y="2685034"/>
                </a:lnTo>
                <a:lnTo>
                  <a:pt x="3251390" y="2735694"/>
                </a:lnTo>
                <a:lnTo>
                  <a:pt x="991362" y="2106295"/>
                </a:lnTo>
                <a:lnTo>
                  <a:pt x="988809" y="2115578"/>
                </a:lnTo>
                <a:lnTo>
                  <a:pt x="3248888" y="2744851"/>
                </a:lnTo>
                <a:lnTo>
                  <a:pt x="3180473" y="2762758"/>
                </a:lnTo>
                <a:lnTo>
                  <a:pt x="3177908" y="2763393"/>
                </a:lnTo>
                <a:lnTo>
                  <a:pt x="3176384" y="2766060"/>
                </a:lnTo>
                <a:lnTo>
                  <a:pt x="3177032" y="2768612"/>
                </a:lnTo>
                <a:lnTo>
                  <a:pt x="3177794" y="2771140"/>
                </a:lnTo>
                <a:lnTo>
                  <a:pt x="3180321" y="2772664"/>
                </a:lnTo>
                <a:lnTo>
                  <a:pt x="3182874" y="2772041"/>
                </a:lnTo>
                <a:lnTo>
                  <a:pt x="3268345" y="2749562"/>
                </a:lnTo>
                <a:lnTo>
                  <a:pt x="3276092" y="2747518"/>
                </a:lnTo>
                <a:close/>
              </a:path>
              <a:path w="4419600" h="2773045">
                <a:moveTo>
                  <a:pt x="3428492" y="2366518"/>
                </a:moveTo>
                <a:lnTo>
                  <a:pt x="3369932" y="2289937"/>
                </a:lnTo>
                <a:lnTo>
                  <a:pt x="3368408" y="2287905"/>
                </a:lnTo>
                <a:lnTo>
                  <a:pt x="3365360" y="2287524"/>
                </a:lnTo>
                <a:lnTo>
                  <a:pt x="3361182" y="2290699"/>
                </a:lnTo>
                <a:lnTo>
                  <a:pt x="3360788" y="2293620"/>
                </a:lnTo>
                <a:lnTo>
                  <a:pt x="3405276" y="2351811"/>
                </a:lnTo>
                <a:lnTo>
                  <a:pt x="991857" y="1360436"/>
                </a:lnTo>
                <a:lnTo>
                  <a:pt x="988314" y="1369187"/>
                </a:lnTo>
                <a:lnTo>
                  <a:pt x="3401568" y="2360688"/>
                </a:lnTo>
                <a:lnTo>
                  <a:pt x="3331718" y="2370328"/>
                </a:lnTo>
                <a:lnTo>
                  <a:pt x="3329178" y="2370709"/>
                </a:lnTo>
                <a:lnTo>
                  <a:pt x="3327260" y="2373134"/>
                </a:lnTo>
                <a:lnTo>
                  <a:pt x="3328022" y="2378329"/>
                </a:lnTo>
                <a:lnTo>
                  <a:pt x="3330435" y="2380234"/>
                </a:lnTo>
                <a:lnTo>
                  <a:pt x="3422091" y="2367419"/>
                </a:lnTo>
                <a:lnTo>
                  <a:pt x="3428492" y="2366518"/>
                </a:lnTo>
                <a:close/>
              </a:path>
              <a:path w="4419600" h="2773045">
                <a:moveTo>
                  <a:pt x="4419092" y="1953768"/>
                </a:moveTo>
                <a:lnTo>
                  <a:pt x="4349496" y="1887220"/>
                </a:lnTo>
                <a:lnTo>
                  <a:pt x="4347578" y="1885302"/>
                </a:lnTo>
                <a:lnTo>
                  <a:pt x="4344530" y="1885454"/>
                </a:lnTo>
                <a:lnTo>
                  <a:pt x="4342765" y="1887347"/>
                </a:lnTo>
                <a:lnTo>
                  <a:pt x="4340847" y="1889264"/>
                </a:lnTo>
                <a:lnTo>
                  <a:pt x="4340999" y="1892160"/>
                </a:lnTo>
                <a:lnTo>
                  <a:pt x="4342892" y="1894078"/>
                </a:lnTo>
                <a:lnTo>
                  <a:pt x="4393882" y="1942833"/>
                </a:lnTo>
                <a:lnTo>
                  <a:pt x="3379838" y="1700187"/>
                </a:lnTo>
                <a:lnTo>
                  <a:pt x="3278289" y="1665820"/>
                </a:lnTo>
                <a:lnTo>
                  <a:pt x="3278289" y="1675892"/>
                </a:lnTo>
                <a:lnTo>
                  <a:pt x="2869946" y="1578178"/>
                </a:lnTo>
                <a:lnTo>
                  <a:pt x="2648166" y="1462659"/>
                </a:lnTo>
                <a:lnTo>
                  <a:pt x="3278289" y="1675892"/>
                </a:lnTo>
                <a:lnTo>
                  <a:pt x="3278289" y="1665820"/>
                </a:lnTo>
                <a:lnTo>
                  <a:pt x="2592794" y="1433830"/>
                </a:lnTo>
                <a:lnTo>
                  <a:pt x="992251" y="600202"/>
                </a:lnTo>
                <a:lnTo>
                  <a:pt x="987920" y="608584"/>
                </a:lnTo>
                <a:lnTo>
                  <a:pt x="2534488" y="1414094"/>
                </a:lnTo>
                <a:lnTo>
                  <a:pt x="991616" y="891933"/>
                </a:lnTo>
                <a:lnTo>
                  <a:pt x="988568" y="901077"/>
                </a:lnTo>
                <a:lnTo>
                  <a:pt x="2589885" y="1442948"/>
                </a:lnTo>
                <a:lnTo>
                  <a:pt x="2832150" y="1569135"/>
                </a:lnTo>
                <a:lnTo>
                  <a:pt x="2159" y="891933"/>
                </a:lnTo>
                <a:lnTo>
                  <a:pt x="0" y="901077"/>
                </a:lnTo>
                <a:lnTo>
                  <a:pt x="2866834" y="1587195"/>
                </a:lnTo>
                <a:lnTo>
                  <a:pt x="3554742" y="1945462"/>
                </a:lnTo>
                <a:lnTo>
                  <a:pt x="3481578" y="1948942"/>
                </a:lnTo>
                <a:lnTo>
                  <a:pt x="3479546" y="1951228"/>
                </a:lnTo>
                <a:lnTo>
                  <a:pt x="3479787" y="1956435"/>
                </a:lnTo>
                <a:lnTo>
                  <a:pt x="3481946" y="1958467"/>
                </a:lnTo>
                <a:lnTo>
                  <a:pt x="3580892" y="1953768"/>
                </a:lnTo>
                <a:lnTo>
                  <a:pt x="3529393" y="1872107"/>
                </a:lnTo>
                <a:lnTo>
                  <a:pt x="3528060" y="1870062"/>
                </a:lnTo>
                <a:lnTo>
                  <a:pt x="3525139" y="1869300"/>
                </a:lnTo>
                <a:lnTo>
                  <a:pt x="3522980" y="1870710"/>
                </a:lnTo>
                <a:lnTo>
                  <a:pt x="3520694" y="1872107"/>
                </a:lnTo>
                <a:lnTo>
                  <a:pt x="3520046" y="1875155"/>
                </a:lnTo>
                <a:lnTo>
                  <a:pt x="3521456" y="1877314"/>
                </a:lnTo>
                <a:lnTo>
                  <a:pt x="3559060" y="1937080"/>
                </a:lnTo>
                <a:lnTo>
                  <a:pt x="2904629" y="1596237"/>
                </a:lnTo>
                <a:lnTo>
                  <a:pt x="3377019" y="1709293"/>
                </a:lnTo>
                <a:lnTo>
                  <a:pt x="4087126" y="1949577"/>
                </a:lnTo>
                <a:lnTo>
                  <a:pt x="4018026" y="1963801"/>
                </a:lnTo>
                <a:lnTo>
                  <a:pt x="4015346" y="1964321"/>
                </a:lnTo>
                <a:lnTo>
                  <a:pt x="4013708" y="1966849"/>
                </a:lnTo>
                <a:lnTo>
                  <a:pt x="4014216" y="1969389"/>
                </a:lnTo>
                <a:lnTo>
                  <a:pt x="4014863" y="1971941"/>
                </a:lnTo>
                <a:lnTo>
                  <a:pt x="4017264" y="1973580"/>
                </a:lnTo>
                <a:lnTo>
                  <a:pt x="4019918" y="1973084"/>
                </a:lnTo>
                <a:lnTo>
                  <a:pt x="4106837" y="1955292"/>
                </a:lnTo>
                <a:lnTo>
                  <a:pt x="4114292" y="1953768"/>
                </a:lnTo>
                <a:lnTo>
                  <a:pt x="4049268" y="1879092"/>
                </a:lnTo>
                <a:lnTo>
                  <a:pt x="4046220" y="1878838"/>
                </a:lnTo>
                <a:lnTo>
                  <a:pt x="4044302" y="1880616"/>
                </a:lnTo>
                <a:lnTo>
                  <a:pt x="4042295" y="1882406"/>
                </a:lnTo>
                <a:lnTo>
                  <a:pt x="4042143" y="1885302"/>
                </a:lnTo>
                <a:lnTo>
                  <a:pt x="4043819" y="1887347"/>
                </a:lnTo>
                <a:lnTo>
                  <a:pt x="4090098" y="1940547"/>
                </a:lnTo>
                <a:lnTo>
                  <a:pt x="3478555" y="1733600"/>
                </a:lnTo>
                <a:lnTo>
                  <a:pt x="4391698" y="1952129"/>
                </a:lnTo>
                <a:lnTo>
                  <a:pt x="4321556" y="1973326"/>
                </a:lnTo>
                <a:lnTo>
                  <a:pt x="4320146" y="1975866"/>
                </a:lnTo>
                <a:lnTo>
                  <a:pt x="4321670" y="1980946"/>
                </a:lnTo>
                <a:lnTo>
                  <a:pt x="4324350" y="1982343"/>
                </a:lnTo>
                <a:lnTo>
                  <a:pt x="4410634" y="1956320"/>
                </a:lnTo>
                <a:lnTo>
                  <a:pt x="4419092" y="1953768"/>
                </a:lnTo>
                <a:close/>
              </a:path>
            </a:pathLst>
          </a:custGeom>
          <a:solidFill>
            <a:srgbClr val="00CC9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7960" y="6276847"/>
            <a:ext cx="1250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4180" y="1460510"/>
            <a:ext cx="3507104" cy="1200150"/>
          </a:xfrm>
          <a:prstGeom prst="rect">
            <a:avLst/>
          </a:prstGeom>
          <a:solidFill>
            <a:srgbClr val="C2FFF0"/>
          </a:solidFill>
          <a:ln w="952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: total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elements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r>
              <a:rPr sz="1800" spc="-5" dirty="0">
                <a:latin typeface="Times New Roman"/>
                <a:cs typeface="Times New Roman"/>
              </a:rPr>
              <a:t>: </a:t>
            </a:r>
            <a:r>
              <a:rPr sz="1800" dirty="0">
                <a:latin typeface="Times New Roman"/>
                <a:cs typeface="Times New Roman"/>
              </a:rPr>
              <a:t>index 0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n-1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x: </a:t>
            </a:r>
            <a:r>
              <a:rPr sz="1800" dirty="0">
                <a:latin typeface="Times New Roman"/>
                <a:cs typeface="Times New Roman"/>
              </a:rPr>
              <a:t>input variable for new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Array </a:t>
            </a:r>
            <a:r>
              <a:rPr sz="1800" dirty="0">
                <a:latin typeface="Times New Roman"/>
                <a:cs typeface="Times New Roman"/>
              </a:rPr>
              <a:t>Elements: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[0]…..</a:t>
            </a:r>
            <a:r>
              <a:rPr sz="1800" i="1" dirty="0">
                <a:latin typeface="Times New Roman"/>
                <a:cs typeface="Times New Roman"/>
              </a:rPr>
              <a:t>a[n-1</a:t>
            </a:r>
            <a:r>
              <a:rPr sz="1800" dirty="0">
                <a:latin typeface="Times New Roman"/>
                <a:cs typeface="Times New Roman"/>
              </a:rPr>
              <a:t>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5408" y="793754"/>
            <a:ext cx="9018905" cy="501650"/>
          </a:xfrm>
          <a:custGeom>
            <a:avLst/>
            <a:gdLst/>
            <a:ahLst/>
            <a:cxnLst/>
            <a:rect l="l" t="t" r="r" b="b"/>
            <a:pathLst>
              <a:path w="9018905" h="501650">
                <a:moveTo>
                  <a:pt x="9018544" y="0"/>
                </a:moveTo>
                <a:lnTo>
                  <a:pt x="0" y="0"/>
                </a:lnTo>
                <a:lnTo>
                  <a:pt x="0" y="501645"/>
                </a:lnTo>
                <a:lnTo>
                  <a:pt x="9018544" y="501645"/>
                </a:lnTo>
                <a:lnTo>
                  <a:pt x="9018544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4315" y="860801"/>
            <a:ext cx="5205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00AFF0"/>
                </a:solidFill>
                <a:latin typeface="Times New Roman"/>
                <a:cs typeface="Times New Roman"/>
              </a:rPr>
              <a:t>Topic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: </a:t>
            </a:r>
            <a:r>
              <a:rPr sz="2400" b="1" spc="-5" dirty="0">
                <a:solidFill>
                  <a:srgbClr val="00AFF0"/>
                </a:solidFill>
                <a:latin typeface="Times New Roman"/>
                <a:cs typeface="Times New Roman"/>
              </a:rPr>
              <a:t>Insert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a new element at </a:t>
            </a:r>
            <a:r>
              <a:rPr sz="2400" b="1" spc="-5" dirty="0">
                <a:solidFill>
                  <a:srgbClr val="00AFF0"/>
                </a:solidFill>
                <a:latin typeface="Times New Roman"/>
                <a:cs typeface="Times New Roman"/>
              </a:rPr>
              <a:t>index</a:t>
            </a:r>
            <a:r>
              <a:rPr sz="2400" b="1" spc="-25" dirty="0">
                <a:solidFill>
                  <a:srgbClr val="00AFF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F0"/>
                </a:solidFill>
                <a:latin typeface="Times New Roman"/>
                <a:cs typeface="Times New Roman"/>
              </a:rPr>
              <a:t>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8790" y="3243321"/>
            <a:ext cx="3532504" cy="193865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335"/>
              </a:lnSpc>
            </a:pPr>
            <a:r>
              <a:rPr sz="2000" b="1" dirty="0">
                <a:solidFill>
                  <a:srgbClr val="252598"/>
                </a:solidFill>
                <a:latin typeface="Times New Roman"/>
                <a:cs typeface="Times New Roman"/>
              </a:rPr>
              <a:t>Shifting</a:t>
            </a:r>
            <a:r>
              <a:rPr sz="2000" b="1" spc="-50" dirty="0">
                <a:solidFill>
                  <a:srgbClr val="25259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252598"/>
                </a:solidFill>
                <a:latin typeface="Times New Roman"/>
                <a:cs typeface="Times New Roman"/>
              </a:rPr>
              <a:t>Required</a:t>
            </a:r>
            <a:endParaRPr sz="2000">
              <a:latin typeface="Times New Roman"/>
              <a:cs typeface="Times New Roman"/>
            </a:endParaRPr>
          </a:p>
          <a:p>
            <a:pPr marL="92075" marR="178435" indent="190500">
              <a:lnSpc>
                <a:spcPct val="100000"/>
              </a:lnSpc>
            </a:pPr>
            <a:r>
              <a:rPr sz="2000" spc="-5" dirty="0">
                <a:latin typeface="Times New Roman"/>
                <a:cs typeface="Times New Roman"/>
              </a:rPr>
              <a:t>all elements </a:t>
            </a:r>
            <a:r>
              <a:rPr sz="2000" dirty="0">
                <a:latin typeface="Times New Roman"/>
                <a:cs typeface="Times New Roman"/>
              </a:rPr>
              <a:t>from index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m </a:t>
            </a:r>
            <a:r>
              <a:rPr sz="2000" dirty="0">
                <a:latin typeface="Times New Roman"/>
                <a:cs typeface="Times New Roman"/>
              </a:rPr>
              <a:t>to 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(n-1) </a:t>
            </a:r>
            <a:r>
              <a:rPr sz="2000" dirty="0">
                <a:latin typeface="Times New Roman"/>
                <a:cs typeface="Times New Roman"/>
              </a:rPr>
              <a:t>are needed to be shifted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 index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(m+1)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r>
              <a:rPr sz="2000" b="1" i="1" spc="-1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respectively.</a:t>
            </a:r>
            <a:endParaRPr sz="2000">
              <a:latin typeface="Times New Roman"/>
              <a:cs typeface="Times New Roman"/>
            </a:endParaRPr>
          </a:p>
          <a:p>
            <a:pPr marL="92075" marR="71437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Total </a:t>
            </a: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(n-m</a:t>
            </a:r>
            <a:r>
              <a:rPr sz="2000" dirty="0">
                <a:latin typeface="Times New Roman"/>
                <a:cs typeface="Times New Roman"/>
              </a:rPr>
              <a:t>) </a:t>
            </a:r>
            <a:r>
              <a:rPr sz="2000" spc="-5" dirty="0">
                <a:latin typeface="Times New Roman"/>
                <a:cs typeface="Times New Roman"/>
              </a:rPr>
              <a:t>elements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 shifted.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7620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999" y="0"/>
                </a:moveTo>
                <a:lnTo>
                  <a:pt x="0" y="0"/>
                </a:lnTo>
                <a:lnTo>
                  <a:pt x="0" y="685799"/>
                </a:lnTo>
                <a:lnTo>
                  <a:pt x="9143999" y="685799"/>
                </a:lnTo>
                <a:lnTo>
                  <a:pt x="9143999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8048" y="50997"/>
            <a:ext cx="37992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00"/>
                </a:solidFill>
                <a:latin typeface="Times New Roman"/>
                <a:cs typeface="Times New Roman"/>
              </a:rPr>
              <a:t>Array</a:t>
            </a:r>
            <a:r>
              <a:rPr sz="4400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FF00"/>
                </a:solidFill>
                <a:latin typeface="Times New Roman"/>
                <a:cs typeface="Times New Roman"/>
              </a:rPr>
              <a:t>Insertion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61460" y="1962149"/>
            <a:ext cx="99822" cy="182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73122" y="3449668"/>
          <a:ext cx="1808480" cy="771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1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26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←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i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b="1" i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←</a:t>
                      </a:r>
                      <a:r>
                        <a:rPr sz="1800" b="1" i="1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350"/>
                        </a:lnSpc>
                      </a:pPr>
                      <a:r>
                        <a:rPr sz="2000" i="1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</a:t>
                      </a:r>
                      <a:r>
                        <a:rPr sz="20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2885696" y="3718680"/>
            <a:ext cx="1346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17804" y="3962269"/>
            <a:ext cx="1021715" cy="743585"/>
            <a:chOff x="2717804" y="3962269"/>
            <a:chExt cx="1021715" cy="743585"/>
          </a:xfrm>
        </p:grpSpPr>
        <p:sp>
          <p:nvSpPr>
            <p:cNvPr id="13" name="object 13"/>
            <p:cNvSpPr/>
            <p:nvPr/>
          </p:nvSpPr>
          <p:spPr>
            <a:xfrm>
              <a:off x="2717804" y="3998976"/>
              <a:ext cx="967105" cy="0"/>
            </a:xfrm>
            <a:custGeom>
              <a:avLst/>
              <a:gdLst/>
              <a:ahLst/>
              <a:cxnLst/>
              <a:rect l="l" t="t" r="r" b="b"/>
              <a:pathLst>
                <a:path w="967104">
                  <a:moveTo>
                    <a:pt x="966862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39556" y="3962269"/>
              <a:ext cx="100330" cy="743585"/>
            </a:xfrm>
            <a:custGeom>
              <a:avLst/>
              <a:gdLst/>
              <a:ahLst/>
              <a:cxnLst/>
              <a:rect l="l" t="t" r="r" b="b"/>
              <a:pathLst>
                <a:path w="100329" h="743585">
                  <a:moveTo>
                    <a:pt x="5212" y="652784"/>
                  </a:moveTo>
                  <a:lnTo>
                    <a:pt x="3048" y="654177"/>
                  </a:lnTo>
                  <a:lnTo>
                    <a:pt x="762" y="655451"/>
                  </a:lnTo>
                  <a:lnTo>
                    <a:pt x="0" y="658499"/>
                  </a:lnTo>
                  <a:lnTo>
                    <a:pt x="1402" y="660654"/>
                  </a:lnTo>
                  <a:lnTo>
                    <a:pt x="51328" y="743081"/>
                  </a:lnTo>
                  <a:lnTo>
                    <a:pt x="56607" y="733687"/>
                  </a:lnTo>
                  <a:lnTo>
                    <a:pt x="46482" y="733687"/>
                  </a:lnTo>
                  <a:lnTo>
                    <a:pt x="46181" y="716159"/>
                  </a:lnTo>
                  <a:lnTo>
                    <a:pt x="9540" y="655701"/>
                  </a:lnTo>
                  <a:lnTo>
                    <a:pt x="8138" y="653546"/>
                  </a:lnTo>
                  <a:lnTo>
                    <a:pt x="5212" y="652784"/>
                  </a:lnTo>
                  <a:close/>
                </a:path>
                <a:path w="100329" h="743585">
                  <a:moveTo>
                    <a:pt x="46181" y="716159"/>
                  </a:moveTo>
                  <a:lnTo>
                    <a:pt x="46482" y="733687"/>
                  </a:lnTo>
                  <a:lnTo>
                    <a:pt x="56022" y="733556"/>
                  </a:lnTo>
                  <a:lnTo>
                    <a:pt x="55983" y="731270"/>
                  </a:lnTo>
                  <a:lnTo>
                    <a:pt x="47122" y="731270"/>
                  </a:lnTo>
                  <a:lnTo>
                    <a:pt x="51070" y="724226"/>
                  </a:lnTo>
                  <a:lnTo>
                    <a:pt x="46181" y="716159"/>
                  </a:lnTo>
                  <a:close/>
                </a:path>
                <a:path w="100329" h="743585">
                  <a:moveTo>
                    <a:pt x="94366" y="651260"/>
                  </a:moveTo>
                  <a:lnTo>
                    <a:pt x="91440" y="652022"/>
                  </a:lnTo>
                  <a:lnTo>
                    <a:pt x="90190" y="654439"/>
                  </a:lnTo>
                  <a:lnTo>
                    <a:pt x="55719" y="715932"/>
                  </a:lnTo>
                  <a:lnTo>
                    <a:pt x="56022" y="733556"/>
                  </a:lnTo>
                  <a:lnTo>
                    <a:pt x="46482" y="733687"/>
                  </a:lnTo>
                  <a:lnTo>
                    <a:pt x="56607" y="733687"/>
                  </a:lnTo>
                  <a:lnTo>
                    <a:pt x="98572" y="659011"/>
                  </a:lnTo>
                  <a:lnTo>
                    <a:pt x="99822" y="656725"/>
                  </a:lnTo>
                  <a:lnTo>
                    <a:pt x="98938" y="653796"/>
                  </a:lnTo>
                  <a:lnTo>
                    <a:pt x="94366" y="651260"/>
                  </a:lnTo>
                  <a:close/>
                </a:path>
                <a:path w="100329" h="743585">
                  <a:moveTo>
                    <a:pt x="51070" y="724226"/>
                  </a:moveTo>
                  <a:lnTo>
                    <a:pt x="47122" y="731270"/>
                  </a:lnTo>
                  <a:lnTo>
                    <a:pt x="55260" y="731139"/>
                  </a:lnTo>
                  <a:lnTo>
                    <a:pt x="51070" y="724226"/>
                  </a:lnTo>
                  <a:close/>
                </a:path>
                <a:path w="100329" h="743585">
                  <a:moveTo>
                    <a:pt x="55719" y="715932"/>
                  </a:moveTo>
                  <a:lnTo>
                    <a:pt x="51070" y="724226"/>
                  </a:lnTo>
                  <a:lnTo>
                    <a:pt x="55260" y="731139"/>
                  </a:lnTo>
                  <a:lnTo>
                    <a:pt x="47122" y="731270"/>
                  </a:lnTo>
                  <a:lnTo>
                    <a:pt x="55983" y="731270"/>
                  </a:lnTo>
                  <a:lnTo>
                    <a:pt x="55719" y="715932"/>
                  </a:lnTo>
                  <a:close/>
                </a:path>
                <a:path w="100329" h="743585">
                  <a:moveTo>
                    <a:pt x="43434" y="0"/>
                  </a:moveTo>
                  <a:lnTo>
                    <a:pt x="33924" y="262"/>
                  </a:lnTo>
                  <a:lnTo>
                    <a:pt x="46181" y="716159"/>
                  </a:lnTo>
                  <a:lnTo>
                    <a:pt x="51070" y="724226"/>
                  </a:lnTo>
                  <a:lnTo>
                    <a:pt x="55719" y="715932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25447" y="3698351"/>
            <a:ext cx="929005" cy="962660"/>
            <a:chOff x="425447" y="3698351"/>
            <a:chExt cx="929005" cy="962660"/>
          </a:xfrm>
        </p:grpSpPr>
        <p:sp>
          <p:nvSpPr>
            <p:cNvPr id="16" name="object 16"/>
            <p:cNvSpPr/>
            <p:nvPr/>
          </p:nvSpPr>
          <p:spPr>
            <a:xfrm>
              <a:off x="430112" y="3698351"/>
              <a:ext cx="455930" cy="100330"/>
            </a:xfrm>
            <a:custGeom>
              <a:avLst/>
              <a:gdLst/>
              <a:ahLst/>
              <a:cxnLst/>
              <a:rect l="l" t="t" r="r" b="b"/>
              <a:pathLst>
                <a:path w="455930" h="100329">
                  <a:moveTo>
                    <a:pt x="447520" y="43586"/>
                  </a:moveTo>
                  <a:lnTo>
                    <a:pt x="446187" y="43586"/>
                  </a:lnTo>
                  <a:lnTo>
                    <a:pt x="446388" y="53096"/>
                  </a:lnTo>
                  <a:lnTo>
                    <a:pt x="428875" y="53459"/>
                  </a:lnTo>
                  <a:lnTo>
                    <a:pt x="368533" y="90312"/>
                  </a:lnTo>
                  <a:lnTo>
                    <a:pt x="366308" y="91714"/>
                  </a:lnTo>
                  <a:lnTo>
                    <a:pt x="365595" y="94640"/>
                  </a:lnTo>
                  <a:lnTo>
                    <a:pt x="366963" y="96926"/>
                  </a:lnTo>
                  <a:lnTo>
                    <a:pt x="368332" y="99060"/>
                  </a:lnTo>
                  <a:lnTo>
                    <a:pt x="371273" y="99822"/>
                  </a:lnTo>
                  <a:lnTo>
                    <a:pt x="455736" y="48158"/>
                  </a:lnTo>
                  <a:lnTo>
                    <a:pt x="447520" y="43586"/>
                  </a:lnTo>
                  <a:close/>
                </a:path>
                <a:path w="455930" h="100329">
                  <a:moveTo>
                    <a:pt x="428650" y="43955"/>
                  </a:moveTo>
                  <a:lnTo>
                    <a:pt x="0" y="52974"/>
                  </a:lnTo>
                  <a:lnTo>
                    <a:pt x="204" y="62362"/>
                  </a:lnTo>
                  <a:lnTo>
                    <a:pt x="428875" y="53459"/>
                  </a:lnTo>
                  <a:lnTo>
                    <a:pt x="436920" y="48546"/>
                  </a:lnTo>
                  <a:lnTo>
                    <a:pt x="428650" y="43955"/>
                  </a:lnTo>
                  <a:close/>
                </a:path>
                <a:path w="455930" h="100329">
                  <a:moveTo>
                    <a:pt x="436920" y="48546"/>
                  </a:moveTo>
                  <a:lnTo>
                    <a:pt x="428875" y="53459"/>
                  </a:lnTo>
                  <a:lnTo>
                    <a:pt x="446388" y="53096"/>
                  </a:lnTo>
                  <a:lnTo>
                    <a:pt x="446375" y="52456"/>
                  </a:lnTo>
                  <a:lnTo>
                    <a:pt x="443962" y="52456"/>
                  </a:lnTo>
                  <a:lnTo>
                    <a:pt x="436920" y="48546"/>
                  </a:lnTo>
                  <a:close/>
                </a:path>
                <a:path w="455930" h="100329">
                  <a:moveTo>
                    <a:pt x="443794" y="44348"/>
                  </a:moveTo>
                  <a:lnTo>
                    <a:pt x="436920" y="48546"/>
                  </a:lnTo>
                  <a:lnTo>
                    <a:pt x="443962" y="52456"/>
                  </a:lnTo>
                  <a:lnTo>
                    <a:pt x="443794" y="44348"/>
                  </a:lnTo>
                  <a:close/>
                </a:path>
                <a:path w="455930" h="100329">
                  <a:moveTo>
                    <a:pt x="446203" y="44348"/>
                  </a:moveTo>
                  <a:lnTo>
                    <a:pt x="443794" y="44348"/>
                  </a:lnTo>
                  <a:lnTo>
                    <a:pt x="443962" y="52456"/>
                  </a:lnTo>
                  <a:lnTo>
                    <a:pt x="446375" y="52456"/>
                  </a:lnTo>
                  <a:lnTo>
                    <a:pt x="446203" y="44348"/>
                  </a:lnTo>
                  <a:close/>
                </a:path>
                <a:path w="455930" h="100329">
                  <a:moveTo>
                    <a:pt x="446187" y="43586"/>
                  </a:moveTo>
                  <a:lnTo>
                    <a:pt x="428650" y="43955"/>
                  </a:lnTo>
                  <a:lnTo>
                    <a:pt x="436920" y="48546"/>
                  </a:lnTo>
                  <a:lnTo>
                    <a:pt x="443794" y="44348"/>
                  </a:lnTo>
                  <a:lnTo>
                    <a:pt x="446203" y="44348"/>
                  </a:lnTo>
                  <a:lnTo>
                    <a:pt x="446187" y="43586"/>
                  </a:lnTo>
                  <a:close/>
                </a:path>
                <a:path w="455930" h="100329">
                  <a:moveTo>
                    <a:pt x="369189" y="0"/>
                  </a:moveTo>
                  <a:lnTo>
                    <a:pt x="366296" y="914"/>
                  </a:lnTo>
                  <a:lnTo>
                    <a:pt x="363723" y="5486"/>
                  </a:lnTo>
                  <a:lnTo>
                    <a:pt x="364571" y="8382"/>
                  </a:lnTo>
                  <a:lnTo>
                    <a:pt x="428650" y="43955"/>
                  </a:lnTo>
                  <a:lnTo>
                    <a:pt x="446187" y="43586"/>
                  </a:lnTo>
                  <a:lnTo>
                    <a:pt x="447520" y="43586"/>
                  </a:lnTo>
                  <a:lnTo>
                    <a:pt x="3691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0209" y="3746510"/>
              <a:ext cx="924560" cy="909955"/>
            </a:xfrm>
            <a:custGeom>
              <a:avLst/>
              <a:gdLst/>
              <a:ahLst/>
              <a:cxnLst/>
              <a:rect l="l" t="t" r="r" b="b"/>
              <a:pathLst>
                <a:path w="924560" h="909954">
                  <a:moveTo>
                    <a:pt x="0" y="909690"/>
                  </a:moveTo>
                  <a:lnTo>
                    <a:pt x="0" y="0"/>
                  </a:lnTo>
                </a:path>
                <a:path w="924560" h="909954">
                  <a:moveTo>
                    <a:pt x="923995" y="909690"/>
                  </a:moveTo>
                  <a:lnTo>
                    <a:pt x="0" y="90969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19506" y="4691060"/>
            <a:ext cx="1132205" cy="316230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8585">
              <a:lnSpc>
                <a:spcPts val="2110"/>
              </a:lnSpc>
            </a:pPr>
            <a:r>
              <a:rPr sz="1800" i="1" spc="-5" dirty="0">
                <a:latin typeface="Times New Roman"/>
                <a:cs typeface="Times New Roman"/>
              </a:rPr>
              <a:t>a[m] </a:t>
            </a:r>
            <a:r>
              <a:rPr sz="1800" b="1" dirty="0">
                <a:latin typeface="Times New Roman"/>
                <a:cs typeface="Times New Roman"/>
              </a:rPr>
              <a:t>←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23385" y="4256019"/>
            <a:ext cx="99822" cy="162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550991" y="1660573"/>
            <a:ext cx="1081405" cy="294005"/>
            <a:chOff x="1550991" y="1660573"/>
            <a:chExt cx="1081405" cy="294005"/>
          </a:xfrm>
        </p:grpSpPr>
        <p:sp>
          <p:nvSpPr>
            <p:cNvPr id="21" name="object 21"/>
            <p:cNvSpPr/>
            <p:nvPr/>
          </p:nvSpPr>
          <p:spPr>
            <a:xfrm>
              <a:off x="1555754" y="1665335"/>
              <a:ext cx="1071880" cy="284480"/>
            </a:xfrm>
            <a:custGeom>
              <a:avLst/>
              <a:gdLst/>
              <a:ahLst/>
              <a:cxnLst/>
              <a:rect l="l" t="t" r="r" b="b"/>
              <a:pathLst>
                <a:path w="1071880" h="284480">
                  <a:moveTo>
                    <a:pt x="899159" y="0"/>
                  </a:moveTo>
                  <a:lnTo>
                    <a:pt x="172330" y="0"/>
                  </a:lnTo>
                  <a:lnTo>
                    <a:pt x="117882" y="7234"/>
                  </a:lnTo>
                  <a:lnTo>
                    <a:pt x="70579" y="27382"/>
                  </a:lnTo>
                  <a:lnTo>
                    <a:pt x="33266" y="58114"/>
                  </a:lnTo>
                  <a:lnTo>
                    <a:pt x="8790" y="97099"/>
                  </a:lnTo>
                  <a:lnTo>
                    <a:pt x="0" y="142006"/>
                  </a:lnTo>
                  <a:lnTo>
                    <a:pt x="8790" y="186923"/>
                  </a:lnTo>
                  <a:lnTo>
                    <a:pt x="33266" y="225930"/>
                  </a:lnTo>
                  <a:lnTo>
                    <a:pt x="70579" y="256689"/>
                  </a:lnTo>
                  <a:lnTo>
                    <a:pt x="117882" y="276860"/>
                  </a:lnTo>
                  <a:lnTo>
                    <a:pt x="172330" y="284104"/>
                  </a:lnTo>
                  <a:lnTo>
                    <a:pt x="899159" y="284104"/>
                  </a:lnTo>
                  <a:lnTo>
                    <a:pt x="953672" y="276860"/>
                  </a:lnTo>
                  <a:lnTo>
                    <a:pt x="1001014" y="256689"/>
                  </a:lnTo>
                  <a:lnTo>
                    <a:pt x="1038347" y="225930"/>
                  </a:lnTo>
                  <a:lnTo>
                    <a:pt x="1062829" y="186923"/>
                  </a:lnTo>
                  <a:lnTo>
                    <a:pt x="1071621" y="142006"/>
                  </a:lnTo>
                  <a:lnTo>
                    <a:pt x="1062829" y="97099"/>
                  </a:lnTo>
                  <a:lnTo>
                    <a:pt x="1038347" y="58114"/>
                  </a:lnTo>
                  <a:lnTo>
                    <a:pt x="1001014" y="27382"/>
                  </a:lnTo>
                  <a:lnTo>
                    <a:pt x="953672" y="7234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C2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55754" y="1665335"/>
              <a:ext cx="1071880" cy="284480"/>
            </a:xfrm>
            <a:custGeom>
              <a:avLst/>
              <a:gdLst/>
              <a:ahLst/>
              <a:cxnLst/>
              <a:rect l="l" t="t" r="r" b="b"/>
              <a:pathLst>
                <a:path w="1071880" h="284480">
                  <a:moveTo>
                    <a:pt x="172330" y="0"/>
                  </a:moveTo>
                  <a:lnTo>
                    <a:pt x="899159" y="0"/>
                  </a:lnTo>
                  <a:lnTo>
                    <a:pt x="953672" y="7234"/>
                  </a:lnTo>
                  <a:lnTo>
                    <a:pt x="1001014" y="27382"/>
                  </a:lnTo>
                  <a:lnTo>
                    <a:pt x="1038347" y="58114"/>
                  </a:lnTo>
                  <a:lnTo>
                    <a:pt x="1062829" y="97099"/>
                  </a:lnTo>
                  <a:lnTo>
                    <a:pt x="1071621" y="142006"/>
                  </a:lnTo>
                  <a:lnTo>
                    <a:pt x="1062829" y="186923"/>
                  </a:lnTo>
                  <a:lnTo>
                    <a:pt x="1038347" y="225930"/>
                  </a:lnTo>
                  <a:lnTo>
                    <a:pt x="1001014" y="256689"/>
                  </a:lnTo>
                  <a:lnTo>
                    <a:pt x="953672" y="276860"/>
                  </a:lnTo>
                  <a:lnTo>
                    <a:pt x="899159" y="284104"/>
                  </a:lnTo>
                  <a:lnTo>
                    <a:pt x="172330" y="284104"/>
                  </a:lnTo>
                  <a:lnTo>
                    <a:pt x="117882" y="276860"/>
                  </a:lnTo>
                  <a:lnTo>
                    <a:pt x="70579" y="256689"/>
                  </a:lnTo>
                  <a:lnTo>
                    <a:pt x="33266" y="225930"/>
                  </a:lnTo>
                  <a:lnTo>
                    <a:pt x="8790" y="186923"/>
                  </a:lnTo>
                  <a:lnTo>
                    <a:pt x="0" y="142006"/>
                  </a:lnTo>
                  <a:lnTo>
                    <a:pt x="8790" y="97099"/>
                  </a:lnTo>
                  <a:lnTo>
                    <a:pt x="33266" y="58114"/>
                  </a:lnTo>
                  <a:lnTo>
                    <a:pt x="70579" y="27382"/>
                  </a:lnTo>
                  <a:lnTo>
                    <a:pt x="117882" y="7234"/>
                  </a:lnTo>
                  <a:lnTo>
                    <a:pt x="17233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855979" y="1692905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Verdana"/>
                <a:cs typeface="Verdana"/>
              </a:rPr>
              <a:t>St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98559" y="2132086"/>
            <a:ext cx="1906905" cy="497205"/>
            <a:chOff x="1198559" y="2132086"/>
            <a:chExt cx="1906905" cy="497205"/>
          </a:xfrm>
        </p:grpSpPr>
        <p:sp>
          <p:nvSpPr>
            <p:cNvPr id="25" name="object 25"/>
            <p:cNvSpPr/>
            <p:nvPr/>
          </p:nvSpPr>
          <p:spPr>
            <a:xfrm>
              <a:off x="1211259" y="2144786"/>
              <a:ext cx="1881505" cy="471805"/>
            </a:xfrm>
            <a:custGeom>
              <a:avLst/>
              <a:gdLst/>
              <a:ahLst/>
              <a:cxnLst/>
              <a:rect l="l" t="t" r="r" b="b"/>
              <a:pathLst>
                <a:path w="1881505" h="471805">
                  <a:moveTo>
                    <a:pt x="1881179" y="0"/>
                  </a:moveTo>
                  <a:lnTo>
                    <a:pt x="376235" y="0"/>
                  </a:lnTo>
                  <a:lnTo>
                    <a:pt x="0" y="471403"/>
                  </a:lnTo>
                  <a:lnTo>
                    <a:pt x="1505020" y="471403"/>
                  </a:lnTo>
                  <a:lnTo>
                    <a:pt x="1881179" y="0"/>
                  </a:lnTo>
                  <a:close/>
                </a:path>
              </a:pathLst>
            </a:custGeom>
            <a:solidFill>
              <a:srgbClr val="00CC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11259" y="2144786"/>
              <a:ext cx="1881505" cy="471805"/>
            </a:xfrm>
            <a:custGeom>
              <a:avLst/>
              <a:gdLst/>
              <a:ahLst/>
              <a:cxnLst/>
              <a:rect l="l" t="t" r="r" b="b"/>
              <a:pathLst>
                <a:path w="1881505" h="471805">
                  <a:moveTo>
                    <a:pt x="0" y="471403"/>
                  </a:moveTo>
                  <a:lnTo>
                    <a:pt x="376235" y="0"/>
                  </a:lnTo>
                  <a:lnTo>
                    <a:pt x="1881179" y="0"/>
                  </a:lnTo>
                  <a:lnTo>
                    <a:pt x="1505020" y="471403"/>
                  </a:lnTo>
                  <a:lnTo>
                    <a:pt x="0" y="471403"/>
                  </a:lnTo>
                  <a:close/>
                </a:path>
              </a:pathLst>
            </a:custGeom>
            <a:ln w="25399">
              <a:solidFill>
                <a:srgbClr val="0094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691387" y="2240403"/>
            <a:ext cx="922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D0D0D"/>
                </a:solidFill>
                <a:latin typeface="Times New Roman"/>
                <a:cs typeface="Times New Roman"/>
              </a:rPr>
              <a:t>Input </a:t>
            </a:r>
            <a:r>
              <a:rPr sz="1600" b="1" i="1" spc="-5" dirty="0">
                <a:solidFill>
                  <a:srgbClr val="0D0D0D"/>
                </a:solidFill>
                <a:latin typeface="Times New Roman"/>
                <a:cs typeface="Times New Roman"/>
              </a:rPr>
              <a:t>x,</a:t>
            </a:r>
            <a:r>
              <a:rPr sz="1600" b="1" i="1" spc="-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600" b="1" i="1" spc="-5" dirty="0">
                <a:solidFill>
                  <a:srgbClr val="0D0D0D"/>
                </a:solidFill>
                <a:latin typeface="Times New Roman"/>
                <a:cs typeface="Times New Roman"/>
              </a:rPr>
              <a:t>m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941757" y="5368992"/>
            <a:ext cx="1081405" cy="335280"/>
            <a:chOff x="3941757" y="5368992"/>
            <a:chExt cx="1081405" cy="335280"/>
          </a:xfrm>
        </p:grpSpPr>
        <p:sp>
          <p:nvSpPr>
            <p:cNvPr id="29" name="object 29"/>
            <p:cNvSpPr/>
            <p:nvPr/>
          </p:nvSpPr>
          <p:spPr>
            <a:xfrm>
              <a:off x="3946519" y="5373754"/>
              <a:ext cx="1071880" cy="325755"/>
            </a:xfrm>
            <a:custGeom>
              <a:avLst/>
              <a:gdLst/>
              <a:ahLst/>
              <a:cxnLst/>
              <a:rect l="l" t="t" r="r" b="b"/>
              <a:pathLst>
                <a:path w="1071879" h="325754">
                  <a:moveTo>
                    <a:pt x="899159" y="0"/>
                  </a:moveTo>
                  <a:lnTo>
                    <a:pt x="172333" y="0"/>
                  </a:lnTo>
                  <a:lnTo>
                    <a:pt x="126548" y="5806"/>
                  </a:lnTo>
                  <a:lnTo>
                    <a:pt x="85389" y="22196"/>
                  </a:lnTo>
                  <a:lnTo>
                    <a:pt x="50505" y="47624"/>
                  </a:lnTo>
                  <a:lnTo>
                    <a:pt x="23546" y="80546"/>
                  </a:lnTo>
                  <a:lnTo>
                    <a:pt x="6161" y="119415"/>
                  </a:lnTo>
                  <a:lnTo>
                    <a:pt x="0" y="162686"/>
                  </a:lnTo>
                  <a:lnTo>
                    <a:pt x="6161" y="205930"/>
                  </a:lnTo>
                  <a:lnTo>
                    <a:pt x="23546" y="244791"/>
                  </a:lnTo>
                  <a:lnTo>
                    <a:pt x="50505" y="277718"/>
                  </a:lnTo>
                  <a:lnTo>
                    <a:pt x="85389" y="303158"/>
                  </a:lnTo>
                  <a:lnTo>
                    <a:pt x="126548" y="319561"/>
                  </a:lnTo>
                  <a:lnTo>
                    <a:pt x="172333" y="325373"/>
                  </a:lnTo>
                  <a:lnTo>
                    <a:pt x="899159" y="325373"/>
                  </a:lnTo>
                  <a:lnTo>
                    <a:pt x="945009" y="319561"/>
                  </a:lnTo>
                  <a:lnTo>
                    <a:pt x="986211" y="303158"/>
                  </a:lnTo>
                  <a:lnTo>
                    <a:pt x="1021121" y="277718"/>
                  </a:lnTo>
                  <a:lnTo>
                    <a:pt x="1048094" y="244791"/>
                  </a:lnTo>
                  <a:lnTo>
                    <a:pt x="1065484" y="205930"/>
                  </a:lnTo>
                  <a:lnTo>
                    <a:pt x="1071646" y="162686"/>
                  </a:lnTo>
                  <a:lnTo>
                    <a:pt x="1065484" y="119415"/>
                  </a:lnTo>
                  <a:lnTo>
                    <a:pt x="1048094" y="80546"/>
                  </a:lnTo>
                  <a:lnTo>
                    <a:pt x="1021121" y="47624"/>
                  </a:lnTo>
                  <a:lnTo>
                    <a:pt x="986211" y="22196"/>
                  </a:lnTo>
                  <a:lnTo>
                    <a:pt x="945009" y="5806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C2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46519" y="5373754"/>
              <a:ext cx="1071880" cy="325755"/>
            </a:xfrm>
            <a:custGeom>
              <a:avLst/>
              <a:gdLst/>
              <a:ahLst/>
              <a:cxnLst/>
              <a:rect l="l" t="t" r="r" b="b"/>
              <a:pathLst>
                <a:path w="1071879" h="325754">
                  <a:moveTo>
                    <a:pt x="172333" y="0"/>
                  </a:moveTo>
                  <a:lnTo>
                    <a:pt x="899159" y="0"/>
                  </a:lnTo>
                  <a:lnTo>
                    <a:pt x="945009" y="5806"/>
                  </a:lnTo>
                  <a:lnTo>
                    <a:pt x="986211" y="22196"/>
                  </a:lnTo>
                  <a:lnTo>
                    <a:pt x="1021121" y="47624"/>
                  </a:lnTo>
                  <a:lnTo>
                    <a:pt x="1048094" y="80546"/>
                  </a:lnTo>
                  <a:lnTo>
                    <a:pt x="1065484" y="119415"/>
                  </a:lnTo>
                  <a:lnTo>
                    <a:pt x="1071646" y="162686"/>
                  </a:lnTo>
                  <a:lnTo>
                    <a:pt x="1065484" y="205930"/>
                  </a:lnTo>
                  <a:lnTo>
                    <a:pt x="1048094" y="244791"/>
                  </a:lnTo>
                  <a:lnTo>
                    <a:pt x="1021121" y="277718"/>
                  </a:lnTo>
                  <a:lnTo>
                    <a:pt x="986211" y="303158"/>
                  </a:lnTo>
                  <a:lnTo>
                    <a:pt x="945009" y="319561"/>
                  </a:lnTo>
                  <a:lnTo>
                    <a:pt x="899159" y="325373"/>
                  </a:lnTo>
                  <a:lnTo>
                    <a:pt x="172333" y="325373"/>
                  </a:lnTo>
                  <a:lnTo>
                    <a:pt x="126548" y="319561"/>
                  </a:lnTo>
                  <a:lnTo>
                    <a:pt x="85389" y="303158"/>
                  </a:lnTo>
                  <a:lnTo>
                    <a:pt x="50505" y="277718"/>
                  </a:lnTo>
                  <a:lnTo>
                    <a:pt x="23546" y="244791"/>
                  </a:lnTo>
                  <a:lnTo>
                    <a:pt x="6161" y="205930"/>
                  </a:lnTo>
                  <a:lnTo>
                    <a:pt x="0" y="162686"/>
                  </a:lnTo>
                  <a:lnTo>
                    <a:pt x="6161" y="119415"/>
                  </a:lnTo>
                  <a:lnTo>
                    <a:pt x="23546" y="80546"/>
                  </a:lnTo>
                  <a:lnTo>
                    <a:pt x="50505" y="47624"/>
                  </a:lnTo>
                  <a:lnTo>
                    <a:pt x="85389" y="22196"/>
                  </a:lnTo>
                  <a:lnTo>
                    <a:pt x="126548" y="5806"/>
                  </a:lnTo>
                  <a:lnTo>
                    <a:pt x="172333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05430" y="5408476"/>
            <a:ext cx="3562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Verdana"/>
                <a:cs typeface="Verdana"/>
              </a:rPr>
              <a:t>end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68119" y="4187187"/>
            <a:ext cx="144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96958" y="2617713"/>
            <a:ext cx="1989455" cy="876935"/>
            <a:chOff x="1096958" y="2617713"/>
            <a:chExt cx="1989455" cy="876935"/>
          </a:xfrm>
        </p:grpSpPr>
        <p:sp>
          <p:nvSpPr>
            <p:cNvPr id="34" name="object 34"/>
            <p:cNvSpPr/>
            <p:nvPr/>
          </p:nvSpPr>
          <p:spPr>
            <a:xfrm>
              <a:off x="2044065" y="2617713"/>
              <a:ext cx="99690" cy="21604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29718" y="3206739"/>
              <a:ext cx="100330" cy="287655"/>
            </a:xfrm>
            <a:custGeom>
              <a:avLst/>
              <a:gdLst/>
              <a:ahLst/>
              <a:cxnLst/>
              <a:rect l="l" t="t" r="r" b="b"/>
              <a:pathLst>
                <a:path w="100330" h="287654">
                  <a:moveTo>
                    <a:pt x="5334" y="196230"/>
                  </a:moveTo>
                  <a:lnTo>
                    <a:pt x="3048" y="197632"/>
                  </a:lnTo>
                  <a:lnTo>
                    <a:pt x="762" y="198882"/>
                  </a:lnTo>
                  <a:lnTo>
                    <a:pt x="0" y="201808"/>
                  </a:lnTo>
                  <a:lnTo>
                    <a:pt x="1392" y="204094"/>
                  </a:lnTo>
                  <a:lnTo>
                    <a:pt x="49911" y="287395"/>
                  </a:lnTo>
                  <a:lnTo>
                    <a:pt x="55448" y="277886"/>
                  </a:lnTo>
                  <a:lnTo>
                    <a:pt x="45207" y="277886"/>
                  </a:lnTo>
                  <a:lnTo>
                    <a:pt x="45087" y="260248"/>
                  </a:lnTo>
                  <a:lnTo>
                    <a:pt x="9525" y="199278"/>
                  </a:lnTo>
                  <a:lnTo>
                    <a:pt x="8250" y="196992"/>
                  </a:lnTo>
                  <a:lnTo>
                    <a:pt x="5334" y="196230"/>
                  </a:lnTo>
                  <a:close/>
                </a:path>
                <a:path w="100330" h="287654">
                  <a:moveTo>
                    <a:pt x="45199" y="260440"/>
                  </a:moveTo>
                  <a:lnTo>
                    <a:pt x="45207" y="277886"/>
                  </a:lnTo>
                  <a:lnTo>
                    <a:pt x="54732" y="277886"/>
                  </a:lnTo>
                  <a:lnTo>
                    <a:pt x="54731" y="275478"/>
                  </a:lnTo>
                  <a:lnTo>
                    <a:pt x="45838" y="275478"/>
                  </a:lnTo>
                  <a:lnTo>
                    <a:pt x="49905" y="268508"/>
                  </a:lnTo>
                  <a:lnTo>
                    <a:pt x="45199" y="260440"/>
                  </a:lnTo>
                  <a:close/>
                </a:path>
                <a:path w="100330" h="287654">
                  <a:moveTo>
                    <a:pt x="94488" y="196230"/>
                  </a:moveTo>
                  <a:lnTo>
                    <a:pt x="91558" y="196992"/>
                  </a:lnTo>
                  <a:lnTo>
                    <a:pt x="90297" y="199278"/>
                  </a:lnTo>
                  <a:lnTo>
                    <a:pt x="54724" y="260248"/>
                  </a:lnTo>
                  <a:lnTo>
                    <a:pt x="54732" y="277886"/>
                  </a:lnTo>
                  <a:lnTo>
                    <a:pt x="55448" y="277886"/>
                  </a:lnTo>
                  <a:lnTo>
                    <a:pt x="98416" y="204094"/>
                  </a:lnTo>
                  <a:lnTo>
                    <a:pt x="99822" y="201808"/>
                  </a:lnTo>
                  <a:lnTo>
                    <a:pt x="99060" y="198882"/>
                  </a:lnTo>
                  <a:lnTo>
                    <a:pt x="96774" y="197632"/>
                  </a:lnTo>
                  <a:lnTo>
                    <a:pt x="94488" y="196230"/>
                  </a:lnTo>
                  <a:close/>
                </a:path>
                <a:path w="100330" h="287654">
                  <a:moveTo>
                    <a:pt x="49905" y="268508"/>
                  </a:moveTo>
                  <a:lnTo>
                    <a:pt x="45838" y="275478"/>
                  </a:lnTo>
                  <a:lnTo>
                    <a:pt x="53970" y="275478"/>
                  </a:lnTo>
                  <a:lnTo>
                    <a:pt x="49905" y="268508"/>
                  </a:lnTo>
                  <a:close/>
                </a:path>
                <a:path w="100330" h="287654">
                  <a:moveTo>
                    <a:pt x="54724" y="260248"/>
                  </a:moveTo>
                  <a:lnTo>
                    <a:pt x="49905" y="268508"/>
                  </a:lnTo>
                  <a:lnTo>
                    <a:pt x="53970" y="275478"/>
                  </a:lnTo>
                  <a:lnTo>
                    <a:pt x="54731" y="275478"/>
                  </a:lnTo>
                  <a:lnTo>
                    <a:pt x="54724" y="260248"/>
                  </a:lnTo>
                  <a:close/>
                </a:path>
                <a:path w="100330" h="287654">
                  <a:moveTo>
                    <a:pt x="54601" y="0"/>
                  </a:moveTo>
                  <a:lnTo>
                    <a:pt x="45076" y="0"/>
                  </a:lnTo>
                  <a:lnTo>
                    <a:pt x="45199" y="260440"/>
                  </a:lnTo>
                  <a:lnTo>
                    <a:pt x="49905" y="268508"/>
                  </a:lnTo>
                  <a:lnTo>
                    <a:pt x="54612" y="260440"/>
                  </a:lnTo>
                  <a:lnTo>
                    <a:pt x="546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01720" y="2733659"/>
              <a:ext cx="1979930" cy="480059"/>
            </a:xfrm>
            <a:custGeom>
              <a:avLst/>
              <a:gdLst/>
              <a:ahLst/>
              <a:cxnLst/>
              <a:rect l="l" t="t" r="r" b="b"/>
              <a:pathLst>
                <a:path w="1979930" h="480060">
                  <a:moveTo>
                    <a:pt x="989837" y="0"/>
                  </a:moveTo>
                  <a:lnTo>
                    <a:pt x="0" y="239664"/>
                  </a:lnTo>
                  <a:lnTo>
                    <a:pt x="989837" y="479450"/>
                  </a:lnTo>
                  <a:lnTo>
                    <a:pt x="1979685" y="239664"/>
                  </a:lnTo>
                  <a:lnTo>
                    <a:pt x="989837" y="0"/>
                  </a:lnTo>
                  <a:close/>
                </a:path>
              </a:pathLst>
            </a:custGeom>
            <a:solidFill>
              <a:srgbClr val="FF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01720" y="2733659"/>
              <a:ext cx="1979930" cy="480059"/>
            </a:xfrm>
            <a:custGeom>
              <a:avLst/>
              <a:gdLst/>
              <a:ahLst/>
              <a:cxnLst/>
              <a:rect l="l" t="t" r="r" b="b"/>
              <a:pathLst>
                <a:path w="1979930" h="480060">
                  <a:moveTo>
                    <a:pt x="0" y="239664"/>
                  </a:moveTo>
                  <a:lnTo>
                    <a:pt x="989837" y="0"/>
                  </a:lnTo>
                  <a:lnTo>
                    <a:pt x="1979685" y="239664"/>
                  </a:lnTo>
                  <a:lnTo>
                    <a:pt x="989837" y="479450"/>
                  </a:lnTo>
                  <a:lnTo>
                    <a:pt x="0" y="2396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679903" y="2947934"/>
            <a:ext cx="763905" cy="2665730"/>
            <a:chOff x="3679903" y="2947934"/>
            <a:chExt cx="763905" cy="2665730"/>
          </a:xfrm>
        </p:grpSpPr>
        <p:sp>
          <p:nvSpPr>
            <p:cNvPr id="39" name="object 39"/>
            <p:cNvSpPr/>
            <p:nvPr/>
          </p:nvSpPr>
          <p:spPr>
            <a:xfrm>
              <a:off x="4343918" y="2947934"/>
              <a:ext cx="99695" cy="2442210"/>
            </a:xfrm>
            <a:custGeom>
              <a:avLst/>
              <a:gdLst/>
              <a:ahLst/>
              <a:cxnLst/>
              <a:rect l="l" t="t" r="r" b="b"/>
              <a:pathLst>
                <a:path w="99695" h="2442210">
                  <a:moveTo>
                    <a:pt x="5212" y="2350763"/>
                  </a:moveTo>
                  <a:lnTo>
                    <a:pt x="2926" y="2352156"/>
                  </a:lnTo>
                  <a:lnTo>
                    <a:pt x="762" y="2353430"/>
                  </a:lnTo>
                  <a:lnTo>
                    <a:pt x="0" y="2356347"/>
                  </a:lnTo>
                  <a:lnTo>
                    <a:pt x="1249" y="2358633"/>
                  </a:lnTo>
                  <a:lnTo>
                    <a:pt x="50292" y="2441691"/>
                  </a:lnTo>
                  <a:lnTo>
                    <a:pt x="55701" y="2432297"/>
                  </a:lnTo>
                  <a:lnTo>
                    <a:pt x="45445" y="2432297"/>
                  </a:lnTo>
                  <a:lnTo>
                    <a:pt x="45352" y="2414518"/>
                  </a:lnTo>
                  <a:lnTo>
                    <a:pt x="9509" y="2353811"/>
                  </a:lnTo>
                  <a:lnTo>
                    <a:pt x="8107" y="2351525"/>
                  </a:lnTo>
                  <a:lnTo>
                    <a:pt x="5212" y="2350763"/>
                  </a:lnTo>
                  <a:close/>
                </a:path>
                <a:path w="99695" h="2442210">
                  <a:moveTo>
                    <a:pt x="45352" y="2414518"/>
                  </a:moveTo>
                  <a:lnTo>
                    <a:pt x="45445" y="2432297"/>
                  </a:lnTo>
                  <a:lnTo>
                    <a:pt x="54985" y="2432166"/>
                  </a:lnTo>
                  <a:lnTo>
                    <a:pt x="54973" y="2429880"/>
                  </a:lnTo>
                  <a:lnTo>
                    <a:pt x="46085" y="2429880"/>
                  </a:lnTo>
                  <a:lnTo>
                    <a:pt x="50204" y="2422736"/>
                  </a:lnTo>
                  <a:lnTo>
                    <a:pt x="45352" y="2414518"/>
                  </a:lnTo>
                  <a:close/>
                </a:path>
                <a:path w="99695" h="2442210">
                  <a:moveTo>
                    <a:pt x="94366" y="2350382"/>
                  </a:moveTo>
                  <a:lnTo>
                    <a:pt x="91440" y="2351144"/>
                  </a:lnTo>
                  <a:lnTo>
                    <a:pt x="90159" y="2353430"/>
                  </a:lnTo>
                  <a:lnTo>
                    <a:pt x="54942" y="2414518"/>
                  </a:lnTo>
                  <a:lnTo>
                    <a:pt x="54985" y="2432166"/>
                  </a:lnTo>
                  <a:lnTo>
                    <a:pt x="45445" y="2432297"/>
                  </a:lnTo>
                  <a:lnTo>
                    <a:pt x="55701" y="2432297"/>
                  </a:lnTo>
                  <a:lnTo>
                    <a:pt x="98419" y="2358121"/>
                  </a:lnTo>
                  <a:lnTo>
                    <a:pt x="99700" y="2355835"/>
                  </a:lnTo>
                  <a:lnTo>
                    <a:pt x="98938" y="2352918"/>
                  </a:lnTo>
                  <a:lnTo>
                    <a:pt x="94366" y="2350382"/>
                  </a:lnTo>
                  <a:close/>
                </a:path>
                <a:path w="99695" h="2442210">
                  <a:moveTo>
                    <a:pt x="50204" y="2422736"/>
                  </a:moveTo>
                  <a:lnTo>
                    <a:pt x="46085" y="2429880"/>
                  </a:lnTo>
                  <a:lnTo>
                    <a:pt x="54345" y="2429749"/>
                  </a:lnTo>
                  <a:lnTo>
                    <a:pt x="50204" y="2422736"/>
                  </a:lnTo>
                  <a:close/>
                </a:path>
                <a:path w="99695" h="2442210">
                  <a:moveTo>
                    <a:pt x="54894" y="2414602"/>
                  </a:moveTo>
                  <a:lnTo>
                    <a:pt x="50204" y="2422736"/>
                  </a:lnTo>
                  <a:lnTo>
                    <a:pt x="54345" y="2429749"/>
                  </a:lnTo>
                  <a:lnTo>
                    <a:pt x="46085" y="2429880"/>
                  </a:lnTo>
                  <a:lnTo>
                    <a:pt x="54973" y="2429880"/>
                  </a:lnTo>
                  <a:lnTo>
                    <a:pt x="54894" y="2414602"/>
                  </a:lnTo>
                  <a:close/>
                </a:path>
                <a:path w="99695" h="2442210">
                  <a:moveTo>
                    <a:pt x="42275" y="0"/>
                  </a:moveTo>
                  <a:lnTo>
                    <a:pt x="32766" y="121"/>
                  </a:lnTo>
                  <a:lnTo>
                    <a:pt x="45352" y="2414518"/>
                  </a:lnTo>
                  <a:lnTo>
                    <a:pt x="50204" y="2422736"/>
                  </a:lnTo>
                  <a:lnTo>
                    <a:pt x="54894" y="2414602"/>
                  </a:lnTo>
                  <a:lnTo>
                    <a:pt x="42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84666" y="4994279"/>
              <a:ext cx="0" cy="614680"/>
            </a:xfrm>
            <a:custGeom>
              <a:avLst/>
              <a:gdLst/>
              <a:ahLst/>
              <a:cxnLst/>
              <a:rect l="l" t="t" r="r" b="b"/>
              <a:pathLst>
                <a:path h="614679">
                  <a:moveTo>
                    <a:pt x="0" y="0"/>
                  </a:moveTo>
                  <a:lnTo>
                    <a:pt x="0" y="61436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398650" y="4418015"/>
            <a:ext cx="1554480" cy="392430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ts val="2105"/>
              </a:lnSpc>
            </a:pPr>
            <a:r>
              <a:rPr sz="1800" b="1" i="1" spc="-5" dirty="0">
                <a:latin typeface="Times New Roman"/>
                <a:cs typeface="Times New Roman"/>
              </a:rPr>
              <a:t>a[i+1]←</a:t>
            </a:r>
            <a:r>
              <a:rPr sz="1800" b="1" i="1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a[i]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84199" y="2835398"/>
            <a:ext cx="943610" cy="58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0 </a:t>
            </a:r>
            <a:r>
              <a:rPr sz="1400" dirty="0">
                <a:latin typeface="Symbol"/>
                <a:cs typeface="Symbol"/>
              </a:rPr>
              <a:t>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m </a:t>
            </a:r>
            <a:r>
              <a:rPr sz="1400" dirty="0">
                <a:latin typeface="Symbol"/>
                <a:cs typeface="Symbol"/>
              </a:rPr>
              <a:t></a:t>
            </a:r>
            <a:r>
              <a:rPr sz="1400" spc="-114" dirty="0">
                <a:latin typeface="Times New Roman"/>
                <a:cs typeface="Times New Roman"/>
              </a:rPr>
              <a:t> </a:t>
            </a:r>
            <a:r>
              <a:rPr sz="1400" i="1" spc="5" dirty="0">
                <a:latin typeface="Times New Roman"/>
                <a:cs typeface="Times New Roman"/>
              </a:rPr>
              <a:t>n-1?</a:t>
            </a:r>
            <a:endParaRPr sz="1400">
              <a:latin typeface="Times New Roman"/>
              <a:cs typeface="Times New Roman"/>
            </a:endParaRPr>
          </a:p>
          <a:p>
            <a:pPr marR="62865" algn="r">
              <a:lnSpc>
                <a:spcPct val="100000"/>
              </a:lnSpc>
              <a:spcBef>
                <a:spcPts val="1010"/>
              </a:spcBef>
            </a:pPr>
            <a:r>
              <a:rPr sz="1400" b="1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068706" y="2753360"/>
            <a:ext cx="13131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9845" algn="l"/>
              </a:tabLst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4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675004" y="5522214"/>
            <a:ext cx="270510" cy="100330"/>
          </a:xfrm>
          <a:custGeom>
            <a:avLst/>
            <a:gdLst/>
            <a:ahLst/>
            <a:cxnLst/>
            <a:rect l="l" t="t" r="r" b="b"/>
            <a:pathLst>
              <a:path w="270510" h="100329">
                <a:moveTo>
                  <a:pt x="261799" y="43683"/>
                </a:moveTo>
                <a:lnTo>
                  <a:pt x="260482" y="43683"/>
                </a:lnTo>
                <a:lnTo>
                  <a:pt x="260604" y="53208"/>
                </a:lnTo>
                <a:lnTo>
                  <a:pt x="243124" y="53515"/>
                </a:lnTo>
                <a:lnTo>
                  <a:pt x="182636" y="90214"/>
                </a:lnTo>
                <a:lnTo>
                  <a:pt x="180350" y="91571"/>
                </a:lnTo>
                <a:lnTo>
                  <a:pt x="179710" y="94500"/>
                </a:lnTo>
                <a:lnTo>
                  <a:pt x="180959" y="96749"/>
                </a:lnTo>
                <a:lnTo>
                  <a:pt x="182361" y="98999"/>
                </a:lnTo>
                <a:lnTo>
                  <a:pt x="185287" y="99703"/>
                </a:lnTo>
                <a:lnTo>
                  <a:pt x="187573" y="98346"/>
                </a:lnTo>
                <a:lnTo>
                  <a:pt x="269991" y="48255"/>
                </a:lnTo>
                <a:lnTo>
                  <a:pt x="261799" y="43683"/>
                </a:lnTo>
                <a:close/>
              </a:path>
              <a:path w="270510" h="100329">
                <a:moveTo>
                  <a:pt x="242681" y="44005"/>
                </a:moveTo>
                <a:lnTo>
                  <a:pt x="0" y="48387"/>
                </a:lnTo>
                <a:lnTo>
                  <a:pt x="121" y="57780"/>
                </a:lnTo>
                <a:lnTo>
                  <a:pt x="243124" y="53515"/>
                </a:lnTo>
                <a:lnTo>
                  <a:pt x="251056" y="48703"/>
                </a:lnTo>
                <a:lnTo>
                  <a:pt x="242681" y="44005"/>
                </a:lnTo>
                <a:close/>
              </a:path>
              <a:path w="270510" h="100329">
                <a:moveTo>
                  <a:pt x="251056" y="48703"/>
                </a:moveTo>
                <a:lnTo>
                  <a:pt x="243124" y="53515"/>
                </a:lnTo>
                <a:lnTo>
                  <a:pt x="260604" y="53208"/>
                </a:lnTo>
                <a:lnTo>
                  <a:pt x="260597" y="52709"/>
                </a:lnTo>
                <a:lnTo>
                  <a:pt x="258196" y="52709"/>
                </a:lnTo>
                <a:lnTo>
                  <a:pt x="251056" y="48703"/>
                </a:lnTo>
                <a:close/>
              </a:path>
              <a:path w="270510" h="100329">
                <a:moveTo>
                  <a:pt x="258074" y="44445"/>
                </a:moveTo>
                <a:lnTo>
                  <a:pt x="251056" y="48703"/>
                </a:lnTo>
                <a:lnTo>
                  <a:pt x="258196" y="52709"/>
                </a:lnTo>
                <a:lnTo>
                  <a:pt x="258074" y="44445"/>
                </a:lnTo>
                <a:close/>
              </a:path>
              <a:path w="270510" h="100329">
                <a:moveTo>
                  <a:pt x="260491" y="44445"/>
                </a:moveTo>
                <a:lnTo>
                  <a:pt x="258074" y="44445"/>
                </a:lnTo>
                <a:lnTo>
                  <a:pt x="258196" y="52709"/>
                </a:lnTo>
                <a:lnTo>
                  <a:pt x="260597" y="52709"/>
                </a:lnTo>
                <a:lnTo>
                  <a:pt x="260491" y="44445"/>
                </a:lnTo>
                <a:close/>
              </a:path>
              <a:path w="270510" h="100329">
                <a:moveTo>
                  <a:pt x="260482" y="43683"/>
                </a:moveTo>
                <a:lnTo>
                  <a:pt x="242681" y="44005"/>
                </a:lnTo>
                <a:lnTo>
                  <a:pt x="251056" y="48703"/>
                </a:lnTo>
                <a:lnTo>
                  <a:pt x="258074" y="44445"/>
                </a:lnTo>
                <a:lnTo>
                  <a:pt x="260491" y="44445"/>
                </a:lnTo>
                <a:lnTo>
                  <a:pt x="260482" y="43683"/>
                </a:lnTo>
                <a:close/>
              </a:path>
              <a:path w="270510" h="100329">
                <a:moveTo>
                  <a:pt x="183520" y="0"/>
                </a:moveTo>
                <a:lnTo>
                  <a:pt x="180715" y="762"/>
                </a:lnTo>
                <a:lnTo>
                  <a:pt x="179313" y="3048"/>
                </a:lnTo>
                <a:lnTo>
                  <a:pt x="178064" y="5334"/>
                </a:lnTo>
                <a:lnTo>
                  <a:pt x="178948" y="8250"/>
                </a:lnTo>
                <a:lnTo>
                  <a:pt x="242681" y="44005"/>
                </a:lnTo>
                <a:lnTo>
                  <a:pt x="260482" y="43683"/>
                </a:lnTo>
                <a:lnTo>
                  <a:pt x="261799" y="43683"/>
                </a:lnTo>
                <a:lnTo>
                  <a:pt x="183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1000120" y="5953121"/>
          <a:ext cx="4938394" cy="3706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45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1289689" y="63570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95040" y="63570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613399" y="6357012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….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79971" y="6357012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53330" y="635701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20592" y="6357012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n-1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522217" y="63570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92073" y="5924803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a[]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4180" y="1460510"/>
            <a:ext cx="3507104" cy="1200150"/>
          </a:xfrm>
          <a:prstGeom prst="rect">
            <a:avLst/>
          </a:prstGeom>
          <a:solidFill>
            <a:srgbClr val="C2FFF0"/>
          </a:solidFill>
          <a:ln w="9524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: total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elements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r>
              <a:rPr sz="1800" spc="-5" dirty="0">
                <a:latin typeface="Times New Roman"/>
                <a:cs typeface="Times New Roman"/>
              </a:rPr>
              <a:t>: </a:t>
            </a:r>
            <a:r>
              <a:rPr sz="1800" dirty="0">
                <a:latin typeface="Times New Roman"/>
                <a:cs typeface="Times New Roman"/>
              </a:rPr>
              <a:t>index 0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m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i="1" dirty="0">
                <a:latin typeface="Times New Roman"/>
                <a:cs typeface="Times New Roman"/>
              </a:rPr>
              <a:t>x: </a:t>
            </a:r>
            <a:r>
              <a:rPr sz="1800" dirty="0">
                <a:latin typeface="Times New Roman"/>
                <a:cs typeface="Times New Roman"/>
              </a:rPr>
              <a:t>input variable to be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deleted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Array </a:t>
            </a:r>
            <a:r>
              <a:rPr sz="1800" dirty="0">
                <a:latin typeface="Times New Roman"/>
                <a:cs typeface="Times New Roman"/>
              </a:rPr>
              <a:t>Elements: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a[0]…..a[n-1]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19756" y="3306830"/>
            <a:ext cx="3851275" cy="2332355"/>
          </a:xfrm>
          <a:prstGeom prst="rect">
            <a:avLst/>
          </a:prstGeom>
          <a:solidFill>
            <a:srgbClr val="BEBEBE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805"/>
              </a:lnSpc>
            </a:pPr>
            <a:r>
              <a:rPr sz="2400" b="1" spc="-5" dirty="0">
                <a:solidFill>
                  <a:srgbClr val="252598"/>
                </a:solidFill>
                <a:latin typeface="Times New Roman"/>
                <a:cs typeface="Times New Roman"/>
              </a:rPr>
              <a:t>Shifting</a:t>
            </a:r>
            <a:r>
              <a:rPr sz="2400" b="1" spc="-25" dirty="0">
                <a:solidFill>
                  <a:srgbClr val="252598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252598"/>
                </a:solidFill>
                <a:latin typeface="Times New Roman"/>
                <a:cs typeface="Times New Roman"/>
              </a:rPr>
              <a:t>Required</a:t>
            </a:r>
            <a:endParaRPr sz="2400">
              <a:latin typeface="Times New Roman"/>
              <a:cs typeface="Times New Roman"/>
            </a:endParaRPr>
          </a:p>
          <a:p>
            <a:pPr marL="92075" marR="271145" indent="228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all </a:t>
            </a:r>
            <a:r>
              <a:rPr sz="2400" spc="-5" dirty="0">
                <a:latin typeface="Times New Roman"/>
                <a:cs typeface="Times New Roman"/>
              </a:rPr>
              <a:t>elements </a:t>
            </a:r>
            <a:r>
              <a:rPr sz="2400" dirty="0">
                <a:latin typeface="Times New Roman"/>
                <a:cs typeface="Times New Roman"/>
              </a:rPr>
              <a:t>from index  (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m+1)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(n-1) </a:t>
            </a:r>
            <a:r>
              <a:rPr sz="2400" dirty="0">
                <a:latin typeface="Times New Roman"/>
                <a:cs typeface="Times New Roman"/>
              </a:rPr>
              <a:t>are needed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 be shifted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index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m </a:t>
            </a:r>
            <a:r>
              <a:rPr sz="2400" dirty="0">
                <a:latin typeface="Times New Roman"/>
                <a:cs typeface="Times New Roman"/>
              </a:rPr>
              <a:t>to  </a:t>
            </a:r>
            <a:r>
              <a:rPr sz="2400" b="1" i="1" spc="-5" dirty="0">
                <a:latin typeface="Times New Roman"/>
                <a:cs typeface="Times New Roman"/>
              </a:rPr>
              <a:t>(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n-2) </a:t>
            </a:r>
            <a:r>
              <a:rPr sz="2400" dirty="0">
                <a:latin typeface="Times New Roman"/>
                <a:cs typeface="Times New Roman"/>
              </a:rPr>
              <a:t>respectively. Total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(n-  </a:t>
            </a:r>
            <a:r>
              <a:rPr sz="2400" b="1" i="1" dirty="0">
                <a:solidFill>
                  <a:srgbClr val="C00000"/>
                </a:solidFill>
                <a:latin typeface="Times New Roman"/>
                <a:cs typeface="Times New Roman"/>
              </a:rPr>
              <a:t>m-1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spc="-5" dirty="0">
                <a:latin typeface="Times New Roman"/>
                <a:cs typeface="Times New Roman"/>
              </a:rPr>
              <a:t>elements </a:t>
            </a:r>
            <a:r>
              <a:rPr sz="2400" dirty="0">
                <a:latin typeface="Times New Roman"/>
                <a:cs typeface="Times New Roman"/>
              </a:rPr>
              <a:t>to be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shifted.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76200"/>
            <a:ext cx="9144000" cy="685800"/>
          </a:xfrm>
          <a:custGeom>
            <a:avLst/>
            <a:gdLst/>
            <a:ahLst/>
            <a:cxnLst/>
            <a:rect l="l" t="t" r="r" b="b"/>
            <a:pathLst>
              <a:path w="9144000" h="685800">
                <a:moveTo>
                  <a:pt x="9143999" y="0"/>
                </a:moveTo>
                <a:lnTo>
                  <a:pt x="0" y="0"/>
                </a:lnTo>
                <a:lnTo>
                  <a:pt x="0" y="685799"/>
                </a:lnTo>
                <a:lnTo>
                  <a:pt x="9143999" y="685799"/>
                </a:lnTo>
                <a:lnTo>
                  <a:pt x="9143999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7840" y="50997"/>
            <a:ext cx="3612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00"/>
                </a:solidFill>
                <a:latin typeface="Times New Roman"/>
                <a:cs typeface="Times New Roman"/>
              </a:rPr>
              <a:t>Array</a:t>
            </a:r>
            <a:r>
              <a:rPr sz="4400" spc="-8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4400" dirty="0">
                <a:solidFill>
                  <a:srgbClr val="FFFF00"/>
                </a:solidFill>
                <a:latin typeface="Times New Roman"/>
                <a:cs typeface="Times New Roman"/>
              </a:rPr>
              <a:t>Deletion</a:t>
            </a:r>
            <a:endParaRPr sz="4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00120" y="5953121"/>
          <a:ext cx="4938394" cy="3706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6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45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89689" y="63570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95040" y="63570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3399" y="6357012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….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79971" y="6357012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latin typeface="Times New Roman"/>
                <a:cs typeface="Times New Roman"/>
              </a:rPr>
              <a:t>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3330" y="635701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0592" y="6357012"/>
            <a:ext cx="33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n-1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2217" y="635701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073" y="5924803"/>
            <a:ext cx="38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a[]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28110" y="1603369"/>
            <a:ext cx="99822" cy="1826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95312" y="2466997"/>
          <a:ext cx="1806575" cy="771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26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i←i+1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0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←0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179070" algn="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 &lt;</a:t>
                      </a:r>
                      <a:r>
                        <a:rPr sz="20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606169" y="2735652"/>
            <a:ext cx="1346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6054" y="2714121"/>
            <a:ext cx="461009" cy="935990"/>
            <a:chOff x="146054" y="2714121"/>
            <a:chExt cx="461009" cy="935990"/>
          </a:xfrm>
        </p:grpSpPr>
        <p:sp>
          <p:nvSpPr>
            <p:cNvPr id="19" name="object 19"/>
            <p:cNvSpPr/>
            <p:nvPr/>
          </p:nvSpPr>
          <p:spPr>
            <a:xfrm>
              <a:off x="150709" y="2714121"/>
              <a:ext cx="455930" cy="100330"/>
            </a:xfrm>
            <a:custGeom>
              <a:avLst/>
              <a:gdLst/>
              <a:ahLst/>
              <a:cxnLst/>
              <a:rect l="l" t="t" r="r" b="b"/>
              <a:pathLst>
                <a:path w="455930" h="100330">
                  <a:moveTo>
                    <a:pt x="447519" y="43555"/>
                  </a:moveTo>
                  <a:lnTo>
                    <a:pt x="446186" y="43555"/>
                  </a:lnTo>
                  <a:lnTo>
                    <a:pt x="446387" y="53065"/>
                  </a:lnTo>
                  <a:lnTo>
                    <a:pt x="428885" y="53430"/>
                  </a:lnTo>
                  <a:lnTo>
                    <a:pt x="368544" y="90281"/>
                  </a:lnTo>
                  <a:lnTo>
                    <a:pt x="366307" y="91683"/>
                  </a:lnTo>
                  <a:lnTo>
                    <a:pt x="365594" y="94609"/>
                  </a:lnTo>
                  <a:lnTo>
                    <a:pt x="366963" y="96895"/>
                  </a:lnTo>
                  <a:lnTo>
                    <a:pt x="368343" y="99060"/>
                  </a:lnTo>
                  <a:lnTo>
                    <a:pt x="371272" y="99822"/>
                  </a:lnTo>
                  <a:lnTo>
                    <a:pt x="373522" y="98419"/>
                  </a:lnTo>
                  <a:lnTo>
                    <a:pt x="455736" y="48127"/>
                  </a:lnTo>
                  <a:lnTo>
                    <a:pt x="447519" y="43555"/>
                  </a:lnTo>
                  <a:close/>
                </a:path>
                <a:path w="455930" h="100330">
                  <a:moveTo>
                    <a:pt x="428621" y="43925"/>
                  </a:moveTo>
                  <a:lnTo>
                    <a:pt x="0" y="52943"/>
                  </a:lnTo>
                  <a:lnTo>
                    <a:pt x="202" y="62362"/>
                  </a:lnTo>
                  <a:lnTo>
                    <a:pt x="428885" y="53430"/>
                  </a:lnTo>
                  <a:lnTo>
                    <a:pt x="436911" y="48528"/>
                  </a:lnTo>
                  <a:lnTo>
                    <a:pt x="428621" y="43925"/>
                  </a:lnTo>
                  <a:close/>
                </a:path>
                <a:path w="455930" h="100330">
                  <a:moveTo>
                    <a:pt x="436911" y="48528"/>
                  </a:moveTo>
                  <a:lnTo>
                    <a:pt x="428885" y="53430"/>
                  </a:lnTo>
                  <a:lnTo>
                    <a:pt x="446387" y="53065"/>
                  </a:lnTo>
                  <a:lnTo>
                    <a:pt x="446374" y="52456"/>
                  </a:lnTo>
                  <a:lnTo>
                    <a:pt x="443982" y="52456"/>
                  </a:lnTo>
                  <a:lnTo>
                    <a:pt x="436911" y="48528"/>
                  </a:lnTo>
                  <a:close/>
                </a:path>
                <a:path w="455930" h="100330">
                  <a:moveTo>
                    <a:pt x="443806" y="44317"/>
                  </a:moveTo>
                  <a:lnTo>
                    <a:pt x="436911" y="48528"/>
                  </a:lnTo>
                  <a:lnTo>
                    <a:pt x="443982" y="52456"/>
                  </a:lnTo>
                  <a:lnTo>
                    <a:pt x="443806" y="44317"/>
                  </a:lnTo>
                  <a:close/>
                </a:path>
                <a:path w="455930" h="100330">
                  <a:moveTo>
                    <a:pt x="446202" y="44317"/>
                  </a:moveTo>
                  <a:lnTo>
                    <a:pt x="443806" y="44317"/>
                  </a:lnTo>
                  <a:lnTo>
                    <a:pt x="443982" y="52456"/>
                  </a:lnTo>
                  <a:lnTo>
                    <a:pt x="446374" y="52456"/>
                  </a:lnTo>
                  <a:lnTo>
                    <a:pt x="446202" y="44317"/>
                  </a:lnTo>
                  <a:close/>
                </a:path>
                <a:path w="455930" h="100330">
                  <a:moveTo>
                    <a:pt x="446186" y="43555"/>
                  </a:moveTo>
                  <a:lnTo>
                    <a:pt x="428621" y="43925"/>
                  </a:lnTo>
                  <a:lnTo>
                    <a:pt x="436911" y="48528"/>
                  </a:lnTo>
                  <a:lnTo>
                    <a:pt x="443806" y="44317"/>
                  </a:lnTo>
                  <a:lnTo>
                    <a:pt x="446202" y="44317"/>
                  </a:lnTo>
                  <a:lnTo>
                    <a:pt x="446186" y="43555"/>
                  </a:lnTo>
                  <a:close/>
                </a:path>
                <a:path w="455930" h="100330">
                  <a:moveTo>
                    <a:pt x="369188" y="0"/>
                  </a:moveTo>
                  <a:lnTo>
                    <a:pt x="366295" y="883"/>
                  </a:lnTo>
                  <a:lnTo>
                    <a:pt x="363723" y="5455"/>
                  </a:lnTo>
                  <a:lnTo>
                    <a:pt x="364570" y="8382"/>
                  </a:lnTo>
                  <a:lnTo>
                    <a:pt x="366868" y="9631"/>
                  </a:lnTo>
                  <a:lnTo>
                    <a:pt x="428621" y="43925"/>
                  </a:lnTo>
                  <a:lnTo>
                    <a:pt x="446186" y="43555"/>
                  </a:lnTo>
                  <a:lnTo>
                    <a:pt x="447519" y="43555"/>
                  </a:lnTo>
                  <a:lnTo>
                    <a:pt x="371486" y="1249"/>
                  </a:lnTo>
                  <a:lnTo>
                    <a:pt x="369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0816" y="2762250"/>
              <a:ext cx="0" cy="887730"/>
            </a:xfrm>
            <a:custGeom>
              <a:avLst/>
              <a:gdLst/>
              <a:ahLst/>
              <a:cxnLst/>
              <a:rect l="l" t="t" r="r" b="b"/>
              <a:pathLst>
                <a:path h="887729">
                  <a:moveTo>
                    <a:pt x="0" y="887486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416117" y="1301823"/>
            <a:ext cx="1081405" cy="292100"/>
            <a:chOff x="1416117" y="1301823"/>
            <a:chExt cx="1081405" cy="292100"/>
          </a:xfrm>
        </p:grpSpPr>
        <p:sp>
          <p:nvSpPr>
            <p:cNvPr id="22" name="object 22"/>
            <p:cNvSpPr/>
            <p:nvPr/>
          </p:nvSpPr>
          <p:spPr>
            <a:xfrm>
              <a:off x="1420880" y="1306586"/>
              <a:ext cx="1071880" cy="282575"/>
            </a:xfrm>
            <a:custGeom>
              <a:avLst/>
              <a:gdLst/>
              <a:ahLst/>
              <a:cxnLst/>
              <a:rect l="l" t="t" r="r" b="b"/>
              <a:pathLst>
                <a:path w="1071880" h="282575">
                  <a:moveTo>
                    <a:pt x="899159" y="0"/>
                  </a:moveTo>
                  <a:lnTo>
                    <a:pt x="172330" y="0"/>
                  </a:lnTo>
                  <a:lnTo>
                    <a:pt x="117832" y="7201"/>
                  </a:lnTo>
                  <a:lnTo>
                    <a:pt x="70522" y="27252"/>
                  </a:lnTo>
                  <a:lnTo>
                    <a:pt x="33228" y="57824"/>
                  </a:lnTo>
                  <a:lnTo>
                    <a:pt x="8778" y="96587"/>
                  </a:lnTo>
                  <a:lnTo>
                    <a:pt x="0" y="141213"/>
                  </a:lnTo>
                  <a:lnTo>
                    <a:pt x="8778" y="185852"/>
                  </a:lnTo>
                  <a:lnTo>
                    <a:pt x="33228" y="224646"/>
                  </a:lnTo>
                  <a:lnTo>
                    <a:pt x="70522" y="255254"/>
                  </a:lnTo>
                  <a:lnTo>
                    <a:pt x="117832" y="275335"/>
                  </a:lnTo>
                  <a:lnTo>
                    <a:pt x="172330" y="282549"/>
                  </a:lnTo>
                  <a:lnTo>
                    <a:pt x="899159" y="282549"/>
                  </a:lnTo>
                  <a:lnTo>
                    <a:pt x="953608" y="275335"/>
                  </a:lnTo>
                  <a:lnTo>
                    <a:pt x="1000911" y="255254"/>
                  </a:lnTo>
                  <a:lnTo>
                    <a:pt x="1038224" y="224646"/>
                  </a:lnTo>
                  <a:lnTo>
                    <a:pt x="1062699" y="185852"/>
                  </a:lnTo>
                  <a:lnTo>
                    <a:pt x="1071490" y="141213"/>
                  </a:lnTo>
                  <a:lnTo>
                    <a:pt x="1062699" y="96587"/>
                  </a:lnTo>
                  <a:lnTo>
                    <a:pt x="1038224" y="57824"/>
                  </a:lnTo>
                  <a:lnTo>
                    <a:pt x="1000911" y="27252"/>
                  </a:lnTo>
                  <a:lnTo>
                    <a:pt x="953608" y="7201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C2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20880" y="1306586"/>
              <a:ext cx="1071880" cy="282575"/>
            </a:xfrm>
            <a:custGeom>
              <a:avLst/>
              <a:gdLst/>
              <a:ahLst/>
              <a:cxnLst/>
              <a:rect l="l" t="t" r="r" b="b"/>
              <a:pathLst>
                <a:path w="1071880" h="282575">
                  <a:moveTo>
                    <a:pt x="172330" y="0"/>
                  </a:moveTo>
                  <a:lnTo>
                    <a:pt x="899159" y="0"/>
                  </a:lnTo>
                  <a:lnTo>
                    <a:pt x="953608" y="7201"/>
                  </a:lnTo>
                  <a:lnTo>
                    <a:pt x="1000911" y="27252"/>
                  </a:lnTo>
                  <a:lnTo>
                    <a:pt x="1038224" y="57824"/>
                  </a:lnTo>
                  <a:lnTo>
                    <a:pt x="1062699" y="96587"/>
                  </a:lnTo>
                  <a:lnTo>
                    <a:pt x="1071490" y="141213"/>
                  </a:lnTo>
                  <a:lnTo>
                    <a:pt x="1062699" y="185852"/>
                  </a:lnTo>
                  <a:lnTo>
                    <a:pt x="1038224" y="224646"/>
                  </a:lnTo>
                  <a:lnTo>
                    <a:pt x="1000911" y="255254"/>
                  </a:lnTo>
                  <a:lnTo>
                    <a:pt x="953608" y="275335"/>
                  </a:lnTo>
                  <a:lnTo>
                    <a:pt x="899159" y="282549"/>
                  </a:lnTo>
                  <a:lnTo>
                    <a:pt x="172330" y="282549"/>
                  </a:lnTo>
                  <a:lnTo>
                    <a:pt x="117832" y="275335"/>
                  </a:lnTo>
                  <a:lnTo>
                    <a:pt x="70522" y="255254"/>
                  </a:lnTo>
                  <a:lnTo>
                    <a:pt x="33228" y="224646"/>
                  </a:lnTo>
                  <a:lnTo>
                    <a:pt x="8778" y="185852"/>
                  </a:lnTo>
                  <a:lnTo>
                    <a:pt x="0" y="141213"/>
                  </a:lnTo>
                  <a:lnTo>
                    <a:pt x="8778" y="96587"/>
                  </a:lnTo>
                  <a:lnTo>
                    <a:pt x="33228" y="57824"/>
                  </a:lnTo>
                  <a:lnTo>
                    <a:pt x="70522" y="27252"/>
                  </a:lnTo>
                  <a:lnTo>
                    <a:pt x="117832" y="7201"/>
                  </a:lnTo>
                  <a:lnTo>
                    <a:pt x="17233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939290" y="3009953"/>
            <a:ext cx="2386965" cy="1838325"/>
            <a:chOff x="1939290" y="3009953"/>
            <a:chExt cx="2386965" cy="1838325"/>
          </a:xfrm>
        </p:grpSpPr>
        <p:sp>
          <p:nvSpPr>
            <p:cNvPr id="25" name="object 25"/>
            <p:cNvSpPr/>
            <p:nvPr/>
          </p:nvSpPr>
          <p:spPr>
            <a:xfrm>
              <a:off x="2438400" y="3014715"/>
              <a:ext cx="1287780" cy="0"/>
            </a:xfrm>
            <a:custGeom>
              <a:avLst/>
              <a:gdLst/>
              <a:ahLst/>
              <a:cxnLst/>
              <a:rect l="l" t="t" r="r" b="b"/>
              <a:pathLst>
                <a:path w="1287779">
                  <a:moveTo>
                    <a:pt x="128753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99906" y="3840098"/>
              <a:ext cx="100330" cy="741680"/>
            </a:xfrm>
            <a:custGeom>
              <a:avLst/>
              <a:gdLst/>
              <a:ahLst/>
              <a:cxnLst/>
              <a:rect l="l" t="t" r="r" b="b"/>
              <a:pathLst>
                <a:path w="100329" h="741679">
                  <a:moveTo>
                    <a:pt x="5181" y="651129"/>
                  </a:moveTo>
                  <a:lnTo>
                    <a:pt x="3048" y="652521"/>
                  </a:lnTo>
                  <a:lnTo>
                    <a:pt x="762" y="653927"/>
                  </a:lnTo>
                  <a:lnTo>
                    <a:pt x="0" y="656844"/>
                  </a:lnTo>
                  <a:lnTo>
                    <a:pt x="1371" y="658998"/>
                  </a:lnTo>
                  <a:lnTo>
                    <a:pt x="51297" y="741426"/>
                  </a:lnTo>
                  <a:lnTo>
                    <a:pt x="56576" y="732032"/>
                  </a:lnTo>
                  <a:lnTo>
                    <a:pt x="46482" y="732032"/>
                  </a:lnTo>
                  <a:lnTo>
                    <a:pt x="46181" y="714554"/>
                  </a:lnTo>
                  <a:lnTo>
                    <a:pt x="9432" y="653927"/>
                  </a:lnTo>
                  <a:lnTo>
                    <a:pt x="8107" y="651891"/>
                  </a:lnTo>
                  <a:lnTo>
                    <a:pt x="5181" y="651129"/>
                  </a:lnTo>
                  <a:close/>
                </a:path>
                <a:path w="100329" h="741679">
                  <a:moveTo>
                    <a:pt x="46181" y="714554"/>
                  </a:moveTo>
                  <a:lnTo>
                    <a:pt x="46482" y="732032"/>
                  </a:lnTo>
                  <a:lnTo>
                    <a:pt x="55991" y="731901"/>
                  </a:lnTo>
                  <a:lnTo>
                    <a:pt x="55952" y="729615"/>
                  </a:lnTo>
                  <a:lnTo>
                    <a:pt x="47091" y="729615"/>
                  </a:lnTo>
                  <a:lnTo>
                    <a:pt x="51040" y="722571"/>
                  </a:lnTo>
                  <a:lnTo>
                    <a:pt x="46181" y="714554"/>
                  </a:lnTo>
                  <a:close/>
                </a:path>
                <a:path w="100329" h="741679">
                  <a:moveTo>
                    <a:pt x="94335" y="649605"/>
                  </a:moveTo>
                  <a:lnTo>
                    <a:pt x="91440" y="650367"/>
                  </a:lnTo>
                  <a:lnTo>
                    <a:pt x="90159" y="652784"/>
                  </a:lnTo>
                  <a:lnTo>
                    <a:pt x="55689" y="714277"/>
                  </a:lnTo>
                  <a:lnTo>
                    <a:pt x="55991" y="731901"/>
                  </a:lnTo>
                  <a:lnTo>
                    <a:pt x="46482" y="732032"/>
                  </a:lnTo>
                  <a:lnTo>
                    <a:pt x="56576" y="732032"/>
                  </a:lnTo>
                  <a:lnTo>
                    <a:pt x="99822" y="655070"/>
                  </a:lnTo>
                  <a:lnTo>
                    <a:pt x="98907" y="652140"/>
                  </a:lnTo>
                  <a:lnTo>
                    <a:pt x="94335" y="649605"/>
                  </a:lnTo>
                  <a:close/>
                </a:path>
                <a:path w="100329" h="741679">
                  <a:moveTo>
                    <a:pt x="51040" y="722571"/>
                  </a:moveTo>
                  <a:lnTo>
                    <a:pt x="47091" y="729615"/>
                  </a:lnTo>
                  <a:lnTo>
                    <a:pt x="55229" y="729483"/>
                  </a:lnTo>
                  <a:lnTo>
                    <a:pt x="51040" y="722571"/>
                  </a:lnTo>
                  <a:close/>
                </a:path>
                <a:path w="100329" h="741679">
                  <a:moveTo>
                    <a:pt x="55689" y="714277"/>
                  </a:moveTo>
                  <a:lnTo>
                    <a:pt x="51040" y="722571"/>
                  </a:lnTo>
                  <a:lnTo>
                    <a:pt x="55229" y="729483"/>
                  </a:lnTo>
                  <a:lnTo>
                    <a:pt x="47091" y="729615"/>
                  </a:lnTo>
                  <a:lnTo>
                    <a:pt x="55952" y="729615"/>
                  </a:lnTo>
                  <a:lnTo>
                    <a:pt x="55689" y="714277"/>
                  </a:lnTo>
                  <a:close/>
                </a:path>
                <a:path w="100329" h="741679">
                  <a:moveTo>
                    <a:pt x="43434" y="0"/>
                  </a:moveTo>
                  <a:lnTo>
                    <a:pt x="33893" y="131"/>
                  </a:lnTo>
                  <a:lnTo>
                    <a:pt x="46181" y="714554"/>
                  </a:lnTo>
                  <a:lnTo>
                    <a:pt x="51040" y="722571"/>
                  </a:lnTo>
                  <a:lnTo>
                    <a:pt x="55689" y="714277"/>
                  </a:lnTo>
                  <a:lnTo>
                    <a:pt x="434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9686" y="4560951"/>
              <a:ext cx="1071880" cy="282575"/>
            </a:xfrm>
            <a:custGeom>
              <a:avLst/>
              <a:gdLst/>
              <a:ahLst/>
              <a:cxnLst/>
              <a:rect l="l" t="t" r="r" b="b"/>
              <a:pathLst>
                <a:path w="1071879" h="282575">
                  <a:moveTo>
                    <a:pt x="899159" y="0"/>
                  </a:moveTo>
                  <a:lnTo>
                    <a:pt x="172333" y="0"/>
                  </a:lnTo>
                  <a:lnTo>
                    <a:pt x="117835" y="7201"/>
                  </a:lnTo>
                  <a:lnTo>
                    <a:pt x="70524" y="27252"/>
                  </a:lnTo>
                  <a:lnTo>
                    <a:pt x="33229" y="57825"/>
                  </a:lnTo>
                  <a:lnTo>
                    <a:pt x="8778" y="96591"/>
                  </a:lnTo>
                  <a:lnTo>
                    <a:pt x="0" y="141219"/>
                  </a:lnTo>
                  <a:lnTo>
                    <a:pt x="8778" y="185867"/>
                  </a:lnTo>
                  <a:lnTo>
                    <a:pt x="33229" y="224665"/>
                  </a:lnTo>
                  <a:lnTo>
                    <a:pt x="70524" y="255275"/>
                  </a:lnTo>
                  <a:lnTo>
                    <a:pt x="117835" y="275357"/>
                  </a:lnTo>
                  <a:lnTo>
                    <a:pt x="172333" y="282570"/>
                  </a:lnTo>
                  <a:lnTo>
                    <a:pt x="899159" y="282570"/>
                  </a:lnTo>
                  <a:lnTo>
                    <a:pt x="953611" y="275357"/>
                  </a:lnTo>
                  <a:lnTo>
                    <a:pt x="1000916" y="255275"/>
                  </a:lnTo>
                  <a:lnTo>
                    <a:pt x="1038229" y="224665"/>
                  </a:lnTo>
                  <a:lnTo>
                    <a:pt x="1062703" y="185867"/>
                  </a:lnTo>
                  <a:lnTo>
                    <a:pt x="1071493" y="141219"/>
                  </a:lnTo>
                  <a:lnTo>
                    <a:pt x="1062703" y="96591"/>
                  </a:lnTo>
                  <a:lnTo>
                    <a:pt x="1038229" y="57825"/>
                  </a:lnTo>
                  <a:lnTo>
                    <a:pt x="1000916" y="27252"/>
                  </a:lnTo>
                  <a:lnTo>
                    <a:pt x="953611" y="7201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C2FF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49686" y="4560951"/>
              <a:ext cx="1071880" cy="282575"/>
            </a:xfrm>
            <a:custGeom>
              <a:avLst/>
              <a:gdLst/>
              <a:ahLst/>
              <a:cxnLst/>
              <a:rect l="l" t="t" r="r" b="b"/>
              <a:pathLst>
                <a:path w="1071879" h="282575">
                  <a:moveTo>
                    <a:pt x="172333" y="0"/>
                  </a:moveTo>
                  <a:lnTo>
                    <a:pt x="899159" y="0"/>
                  </a:lnTo>
                  <a:lnTo>
                    <a:pt x="953611" y="7201"/>
                  </a:lnTo>
                  <a:lnTo>
                    <a:pt x="1000916" y="27252"/>
                  </a:lnTo>
                  <a:lnTo>
                    <a:pt x="1038229" y="57825"/>
                  </a:lnTo>
                  <a:lnTo>
                    <a:pt x="1062703" y="96591"/>
                  </a:lnTo>
                  <a:lnTo>
                    <a:pt x="1071493" y="141219"/>
                  </a:lnTo>
                  <a:lnTo>
                    <a:pt x="1062703" y="185867"/>
                  </a:lnTo>
                  <a:lnTo>
                    <a:pt x="1038229" y="224665"/>
                  </a:lnTo>
                  <a:lnTo>
                    <a:pt x="1000916" y="255275"/>
                  </a:lnTo>
                  <a:lnTo>
                    <a:pt x="953611" y="275357"/>
                  </a:lnTo>
                  <a:lnTo>
                    <a:pt x="899159" y="282570"/>
                  </a:lnTo>
                  <a:lnTo>
                    <a:pt x="172333" y="282570"/>
                  </a:lnTo>
                  <a:lnTo>
                    <a:pt x="117835" y="275357"/>
                  </a:lnTo>
                  <a:lnTo>
                    <a:pt x="70524" y="255275"/>
                  </a:lnTo>
                  <a:lnTo>
                    <a:pt x="33229" y="224665"/>
                  </a:lnTo>
                  <a:lnTo>
                    <a:pt x="8778" y="185867"/>
                  </a:lnTo>
                  <a:lnTo>
                    <a:pt x="0" y="141219"/>
                  </a:lnTo>
                  <a:lnTo>
                    <a:pt x="8778" y="96591"/>
                  </a:lnTo>
                  <a:lnTo>
                    <a:pt x="33229" y="57825"/>
                  </a:lnTo>
                  <a:lnTo>
                    <a:pt x="70524" y="27252"/>
                  </a:lnTo>
                  <a:lnTo>
                    <a:pt x="117835" y="7201"/>
                  </a:lnTo>
                  <a:lnTo>
                    <a:pt x="172333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43993" y="3273430"/>
              <a:ext cx="99822" cy="1619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39290" y="3905250"/>
              <a:ext cx="99690" cy="2158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21359" y="1333876"/>
            <a:ext cx="4718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Verdana"/>
                <a:cs typeface="Verdana"/>
              </a:rPr>
              <a:t>Start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65220" y="1773306"/>
            <a:ext cx="1624330" cy="497205"/>
            <a:chOff x="1165220" y="1773306"/>
            <a:chExt cx="1624330" cy="497205"/>
          </a:xfrm>
        </p:grpSpPr>
        <p:sp>
          <p:nvSpPr>
            <p:cNvPr id="33" name="object 33"/>
            <p:cNvSpPr/>
            <p:nvPr/>
          </p:nvSpPr>
          <p:spPr>
            <a:xfrm>
              <a:off x="1177920" y="1786006"/>
              <a:ext cx="1598930" cy="471805"/>
            </a:xfrm>
            <a:custGeom>
              <a:avLst/>
              <a:gdLst/>
              <a:ahLst/>
              <a:cxnLst/>
              <a:rect l="l" t="t" r="r" b="b"/>
              <a:pathLst>
                <a:path w="1598930" h="471805">
                  <a:moveTo>
                    <a:pt x="1598675" y="0"/>
                  </a:moveTo>
                  <a:lnTo>
                    <a:pt x="319790" y="0"/>
                  </a:lnTo>
                  <a:lnTo>
                    <a:pt x="0" y="471403"/>
                  </a:lnTo>
                  <a:lnTo>
                    <a:pt x="1278898" y="471403"/>
                  </a:lnTo>
                  <a:lnTo>
                    <a:pt x="1598675" y="0"/>
                  </a:lnTo>
                  <a:close/>
                </a:path>
              </a:pathLst>
            </a:custGeom>
            <a:solidFill>
              <a:srgbClr val="00CC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77920" y="1786006"/>
              <a:ext cx="1598930" cy="471805"/>
            </a:xfrm>
            <a:custGeom>
              <a:avLst/>
              <a:gdLst/>
              <a:ahLst/>
              <a:cxnLst/>
              <a:rect l="l" t="t" r="r" b="b"/>
              <a:pathLst>
                <a:path w="1598930" h="471805">
                  <a:moveTo>
                    <a:pt x="0" y="471403"/>
                  </a:moveTo>
                  <a:lnTo>
                    <a:pt x="319790" y="0"/>
                  </a:lnTo>
                  <a:lnTo>
                    <a:pt x="1598675" y="0"/>
                  </a:lnTo>
                  <a:lnTo>
                    <a:pt x="1278898" y="471403"/>
                  </a:lnTo>
                  <a:lnTo>
                    <a:pt x="0" y="471403"/>
                  </a:lnTo>
                  <a:close/>
                </a:path>
              </a:pathLst>
            </a:custGeom>
            <a:ln w="25399">
              <a:solidFill>
                <a:srgbClr val="0094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644524" y="1881374"/>
            <a:ext cx="663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D0D0D"/>
                </a:solidFill>
                <a:latin typeface="Times New Roman"/>
                <a:cs typeface="Times New Roman"/>
              </a:rPr>
              <a:t>Input</a:t>
            </a:r>
            <a:r>
              <a:rPr sz="1600" b="1" spc="-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1600" b="1" i="1" spc="-5" dirty="0">
                <a:solidFill>
                  <a:srgbClr val="0D0D0D"/>
                </a:solidFill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08327" y="4589143"/>
            <a:ext cx="3562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Verdana"/>
                <a:cs typeface="Verdana"/>
              </a:rPr>
              <a:t>end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98541" y="3430577"/>
            <a:ext cx="1990725" cy="490855"/>
            <a:chOff x="998541" y="3430577"/>
            <a:chExt cx="1990725" cy="490855"/>
          </a:xfrm>
        </p:grpSpPr>
        <p:sp>
          <p:nvSpPr>
            <p:cNvPr id="38" name="object 38"/>
            <p:cNvSpPr/>
            <p:nvPr/>
          </p:nvSpPr>
          <p:spPr>
            <a:xfrm>
              <a:off x="1003304" y="3435339"/>
              <a:ext cx="1981200" cy="481330"/>
            </a:xfrm>
            <a:custGeom>
              <a:avLst/>
              <a:gdLst/>
              <a:ahLst/>
              <a:cxnLst/>
              <a:rect l="l" t="t" r="r" b="b"/>
              <a:pathLst>
                <a:path w="1981200" h="481329">
                  <a:moveTo>
                    <a:pt x="990599" y="0"/>
                  </a:moveTo>
                  <a:lnTo>
                    <a:pt x="0" y="240548"/>
                  </a:lnTo>
                  <a:lnTo>
                    <a:pt x="990599" y="481090"/>
                  </a:lnTo>
                  <a:lnTo>
                    <a:pt x="1981199" y="240548"/>
                  </a:lnTo>
                  <a:lnTo>
                    <a:pt x="990599" y="0"/>
                  </a:lnTo>
                  <a:close/>
                </a:path>
              </a:pathLst>
            </a:custGeom>
            <a:solidFill>
              <a:srgbClr val="FF9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03304" y="3435339"/>
              <a:ext cx="1981200" cy="481330"/>
            </a:xfrm>
            <a:custGeom>
              <a:avLst/>
              <a:gdLst/>
              <a:ahLst/>
              <a:cxnLst/>
              <a:rect l="l" t="t" r="r" b="b"/>
              <a:pathLst>
                <a:path w="1981200" h="481329">
                  <a:moveTo>
                    <a:pt x="0" y="240548"/>
                  </a:moveTo>
                  <a:lnTo>
                    <a:pt x="990599" y="0"/>
                  </a:lnTo>
                  <a:lnTo>
                    <a:pt x="1981199" y="240548"/>
                  </a:lnTo>
                  <a:lnTo>
                    <a:pt x="990599" y="481090"/>
                  </a:lnTo>
                  <a:lnTo>
                    <a:pt x="0" y="24054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629538" y="3196722"/>
            <a:ext cx="730885" cy="6146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90"/>
              </a:spcBef>
            </a:pPr>
            <a:r>
              <a:rPr sz="1400" b="1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600" spc="-10" dirty="0">
                <a:latin typeface="Verdana"/>
                <a:cs typeface="Verdana"/>
              </a:rPr>
              <a:t>a[i]=</a:t>
            </a:r>
            <a:r>
              <a:rPr sz="1600" i="1" spc="-10" dirty="0">
                <a:latin typeface="Verdana"/>
                <a:cs typeface="Verdana"/>
              </a:rPr>
              <a:t>x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8116" y="3413884"/>
            <a:ext cx="9493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000" algn="l"/>
                <a:tab pos="935990" algn="l"/>
              </a:tabLst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F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78813" y="3844295"/>
            <a:ext cx="144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809119" y="3028934"/>
            <a:ext cx="2820035" cy="1769110"/>
            <a:chOff x="1809119" y="3028934"/>
            <a:chExt cx="2820035" cy="1769110"/>
          </a:xfrm>
        </p:grpSpPr>
        <p:sp>
          <p:nvSpPr>
            <p:cNvPr id="44" name="object 44"/>
            <p:cNvSpPr/>
            <p:nvPr/>
          </p:nvSpPr>
          <p:spPr>
            <a:xfrm>
              <a:off x="2479675" y="3028937"/>
              <a:ext cx="1296035" cy="1707514"/>
            </a:xfrm>
            <a:custGeom>
              <a:avLst/>
              <a:gdLst/>
              <a:ahLst/>
              <a:cxnLst/>
              <a:rect l="l" t="t" r="r" b="b"/>
              <a:pathLst>
                <a:path w="1296035" h="1707514">
                  <a:moveTo>
                    <a:pt x="768362" y="1657362"/>
                  </a:moveTo>
                  <a:lnTo>
                    <a:pt x="760095" y="1652549"/>
                  </a:lnTo>
                  <a:lnTo>
                    <a:pt x="685152" y="1608848"/>
                  </a:lnTo>
                  <a:lnTo>
                    <a:pt x="682866" y="1607451"/>
                  </a:lnTo>
                  <a:lnTo>
                    <a:pt x="679970" y="1608213"/>
                  </a:lnTo>
                  <a:lnTo>
                    <a:pt x="678561" y="1610499"/>
                  </a:lnTo>
                  <a:lnTo>
                    <a:pt x="677291" y="1612785"/>
                  </a:lnTo>
                  <a:lnTo>
                    <a:pt x="678053" y="1615706"/>
                  </a:lnTo>
                  <a:lnTo>
                    <a:pt x="680339" y="1616976"/>
                  </a:lnTo>
                  <a:lnTo>
                    <a:pt x="741311" y="1652549"/>
                  </a:lnTo>
                  <a:lnTo>
                    <a:pt x="0" y="1652549"/>
                  </a:lnTo>
                  <a:lnTo>
                    <a:pt x="0" y="1662074"/>
                  </a:lnTo>
                  <a:lnTo>
                    <a:pt x="741489" y="1662074"/>
                  </a:lnTo>
                  <a:lnTo>
                    <a:pt x="680339" y="1697748"/>
                  </a:lnTo>
                  <a:lnTo>
                    <a:pt x="678053" y="1699031"/>
                  </a:lnTo>
                  <a:lnTo>
                    <a:pt x="677291" y="1701939"/>
                  </a:lnTo>
                  <a:lnTo>
                    <a:pt x="678561" y="1704225"/>
                  </a:lnTo>
                  <a:lnTo>
                    <a:pt x="679970" y="1706511"/>
                  </a:lnTo>
                  <a:lnTo>
                    <a:pt x="682866" y="1707273"/>
                  </a:lnTo>
                  <a:lnTo>
                    <a:pt x="685152" y="1705889"/>
                  </a:lnTo>
                  <a:lnTo>
                    <a:pt x="760298" y="1662074"/>
                  </a:lnTo>
                  <a:lnTo>
                    <a:pt x="768362" y="1657362"/>
                  </a:lnTo>
                  <a:close/>
                </a:path>
                <a:path w="1296035" h="1707514">
                  <a:moveTo>
                    <a:pt x="1296035" y="293903"/>
                  </a:moveTo>
                  <a:lnTo>
                    <a:pt x="1295273" y="290982"/>
                  </a:lnTo>
                  <a:lnTo>
                    <a:pt x="1292987" y="289699"/>
                  </a:lnTo>
                  <a:lnTo>
                    <a:pt x="1290815" y="288302"/>
                  </a:lnTo>
                  <a:lnTo>
                    <a:pt x="1287894" y="289064"/>
                  </a:lnTo>
                  <a:lnTo>
                    <a:pt x="1286522" y="291350"/>
                  </a:lnTo>
                  <a:lnTo>
                    <a:pt x="1250950" y="352298"/>
                  </a:lnTo>
                  <a:lnTo>
                    <a:pt x="1250950" y="0"/>
                  </a:lnTo>
                  <a:lnTo>
                    <a:pt x="1241425" y="0"/>
                  </a:lnTo>
                  <a:lnTo>
                    <a:pt x="1241425" y="352310"/>
                  </a:lnTo>
                  <a:lnTo>
                    <a:pt x="1241425" y="369951"/>
                  </a:lnTo>
                  <a:lnTo>
                    <a:pt x="1241412" y="352298"/>
                  </a:lnTo>
                  <a:lnTo>
                    <a:pt x="1205865" y="291350"/>
                  </a:lnTo>
                  <a:lnTo>
                    <a:pt x="1204468" y="289064"/>
                  </a:lnTo>
                  <a:lnTo>
                    <a:pt x="1201547" y="288302"/>
                  </a:lnTo>
                  <a:lnTo>
                    <a:pt x="1199375" y="289699"/>
                  </a:lnTo>
                  <a:lnTo>
                    <a:pt x="1197089" y="290982"/>
                  </a:lnTo>
                  <a:lnTo>
                    <a:pt x="1196327" y="293903"/>
                  </a:lnTo>
                  <a:lnTo>
                    <a:pt x="1197610" y="296189"/>
                  </a:lnTo>
                  <a:lnTo>
                    <a:pt x="1246251" y="379488"/>
                  </a:lnTo>
                  <a:lnTo>
                    <a:pt x="1251813" y="369951"/>
                  </a:lnTo>
                  <a:lnTo>
                    <a:pt x="1294752" y="296189"/>
                  </a:lnTo>
                  <a:lnTo>
                    <a:pt x="1296035" y="2939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17900" y="3397239"/>
              <a:ext cx="1598930" cy="470534"/>
            </a:xfrm>
            <a:custGeom>
              <a:avLst/>
              <a:gdLst/>
              <a:ahLst/>
              <a:cxnLst/>
              <a:rect l="l" t="t" r="r" b="b"/>
              <a:pathLst>
                <a:path w="1598929" h="470535">
                  <a:moveTo>
                    <a:pt x="1598538" y="0"/>
                  </a:moveTo>
                  <a:lnTo>
                    <a:pt x="319658" y="0"/>
                  </a:lnTo>
                  <a:lnTo>
                    <a:pt x="0" y="469910"/>
                  </a:lnTo>
                  <a:lnTo>
                    <a:pt x="1278773" y="469910"/>
                  </a:lnTo>
                  <a:lnTo>
                    <a:pt x="1598538" y="0"/>
                  </a:lnTo>
                  <a:close/>
                </a:path>
              </a:pathLst>
            </a:custGeom>
            <a:solidFill>
              <a:srgbClr val="00CC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17900" y="3397239"/>
              <a:ext cx="1598930" cy="470534"/>
            </a:xfrm>
            <a:custGeom>
              <a:avLst/>
              <a:gdLst/>
              <a:ahLst/>
              <a:cxnLst/>
              <a:rect l="l" t="t" r="r" b="b"/>
              <a:pathLst>
                <a:path w="1598929" h="470535">
                  <a:moveTo>
                    <a:pt x="0" y="469910"/>
                  </a:moveTo>
                  <a:lnTo>
                    <a:pt x="319658" y="0"/>
                  </a:lnTo>
                  <a:lnTo>
                    <a:pt x="1598538" y="0"/>
                  </a:lnTo>
                  <a:lnTo>
                    <a:pt x="1278773" y="469910"/>
                  </a:lnTo>
                  <a:lnTo>
                    <a:pt x="0" y="469910"/>
                  </a:lnTo>
                  <a:close/>
                </a:path>
              </a:pathLst>
            </a:custGeom>
            <a:ln w="25399">
              <a:solidFill>
                <a:srgbClr val="0094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809119" y="4581525"/>
              <a:ext cx="99690" cy="21589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125408" y="793754"/>
            <a:ext cx="9018905" cy="1679575"/>
            <a:chOff x="125408" y="793754"/>
            <a:chExt cx="9018905" cy="1679575"/>
          </a:xfrm>
        </p:grpSpPr>
        <p:sp>
          <p:nvSpPr>
            <p:cNvPr id="49" name="object 49"/>
            <p:cNvSpPr/>
            <p:nvPr/>
          </p:nvSpPr>
          <p:spPr>
            <a:xfrm>
              <a:off x="1909060" y="2258933"/>
              <a:ext cx="99822" cy="2143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25408" y="793754"/>
              <a:ext cx="9018905" cy="501650"/>
            </a:xfrm>
            <a:custGeom>
              <a:avLst/>
              <a:gdLst/>
              <a:ahLst/>
              <a:cxnLst/>
              <a:rect l="l" t="t" r="r" b="b"/>
              <a:pathLst>
                <a:path w="9018905" h="501650">
                  <a:moveTo>
                    <a:pt x="9018544" y="0"/>
                  </a:moveTo>
                  <a:lnTo>
                    <a:pt x="0" y="0"/>
                  </a:lnTo>
                  <a:lnTo>
                    <a:pt x="0" y="501645"/>
                  </a:lnTo>
                  <a:lnTo>
                    <a:pt x="9018544" y="501645"/>
                  </a:lnTo>
                  <a:lnTo>
                    <a:pt x="901854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523617" y="3370322"/>
            <a:ext cx="5899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0D0D0D"/>
                </a:solidFill>
                <a:latin typeface="Times New Roman"/>
                <a:cs typeface="Times New Roman"/>
              </a:rPr>
              <a:t>Not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b="1" spc="-5" dirty="0">
                <a:solidFill>
                  <a:srgbClr val="0D0D0D"/>
                </a:solidFill>
                <a:latin typeface="Times New Roman"/>
                <a:cs typeface="Times New Roman"/>
              </a:rPr>
              <a:t>Found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7384" y="4075145"/>
            <a:ext cx="951230" cy="771525"/>
          </a:xfrm>
          <a:prstGeom prst="rect">
            <a:avLst/>
          </a:prstGeom>
          <a:solidFill>
            <a:srgbClr val="D9D9D9"/>
          </a:solidFill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latin typeface="Times New Roman"/>
                <a:cs typeface="Times New Roman"/>
              </a:rPr>
              <a:t>j </a:t>
            </a:r>
            <a:r>
              <a:rPr sz="1800" b="1" dirty="0">
                <a:latin typeface="Times New Roman"/>
                <a:cs typeface="Times New Roman"/>
              </a:rPr>
              <a:t>←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j+1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638300" y="4075115"/>
            <a:ext cx="857250" cy="449580"/>
          </a:xfrm>
          <a:custGeom>
            <a:avLst/>
            <a:gdLst/>
            <a:ahLst/>
            <a:cxnLst/>
            <a:rect l="l" t="t" r="r" b="b"/>
            <a:pathLst>
              <a:path w="857250" h="449579">
                <a:moveTo>
                  <a:pt x="857249" y="0"/>
                </a:moveTo>
                <a:lnTo>
                  <a:pt x="0" y="0"/>
                </a:lnTo>
                <a:lnTo>
                  <a:pt x="0" y="449259"/>
                </a:lnTo>
                <a:lnTo>
                  <a:pt x="857249" y="449259"/>
                </a:lnTo>
                <a:lnTo>
                  <a:pt x="85724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638300" y="4075145"/>
            <a:ext cx="857250" cy="4495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305"/>
              </a:spcBef>
            </a:pPr>
            <a:r>
              <a:rPr sz="1800" b="1" i="1" dirty="0">
                <a:latin typeface="Times New Roman"/>
                <a:cs typeface="Times New Roman"/>
              </a:rPr>
              <a:t>j</a:t>
            </a:r>
            <a:r>
              <a:rPr sz="1800" b="1" i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←</a:t>
            </a:r>
            <a:r>
              <a:rPr sz="1800" b="1" i="1" dirty="0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638300" y="4524314"/>
            <a:ext cx="857250" cy="322580"/>
          </a:xfrm>
          <a:custGeom>
            <a:avLst/>
            <a:gdLst/>
            <a:ahLst/>
            <a:cxnLst/>
            <a:rect l="l" t="t" r="r" b="b"/>
            <a:pathLst>
              <a:path w="857250" h="322579">
                <a:moveTo>
                  <a:pt x="857249" y="0"/>
                </a:moveTo>
                <a:lnTo>
                  <a:pt x="0" y="0"/>
                </a:lnTo>
                <a:lnTo>
                  <a:pt x="0" y="322255"/>
                </a:lnTo>
                <a:lnTo>
                  <a:pt x="857249" y="322255"/>
                </a:lnTo>
                <a:lnTo>
                  <a:pt x="85724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638300" y="4524344"/>
            <a:ext cx="857250" cy="3225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8110">
              <a:lnSpc>
                <a:spcPts val="2110"/>
              </a:lnSpc>
            </a:pPr>
            <a:r>
              <a:rPr sz="1800" i="1" dirty="0">
                <a:latin typeface="Times New Roman"/>
                <a:cs typeface="Times New Roman"/>
              </a:rPr>
              <a:t>j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Times New Roman"/>
                <a:cs typeface="Times New Roman"/>
              </a:rPr>
              <a:t>n-2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94815" y="4339595"/>
            <a:ext cx="1346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F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032885" y="4876800"/>
            <a:ext cx="99822" cy="1619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234945" y="4319146"/>
            <a:ext cx="929005" cy="962660"/>
            <a:chOff x="234945" y="4319146"/>
            <a:chExt cx="929005" cy="962660"/>
          </a:xfrm>
        </p:grpSpPr>
        <p:sp>
          <p:nvSpPr>
            <p:cNvPr id="60" name="object 60"/>
            <p:cNvSpPr/>
            <p:nvPr/>
          </p:nvSpPr>
          <p:spPr>
            <a:xfrm>
              <a:off x="239613" y="4319146"/>
              <a:ext cx="455930" cy="99695"/>
            </a:xfrm>
            <a:custGeom>
              <a:avLst/>
              <a:gdLst/>
              <a:ahLst/>
              <a:cxnLst/>
              <a:rect l="l" t="t" r="r" b="b"/>
              <a:pathLst>
                <a:path w="455930" h="99695">
                  <a:moveTo>
                    <a:pt x="447707" y="43552"/>
                  </a:moveTo>
                  <a:lnTo>
                    <a:pt x="446186" y="43552"/>
                  </a:lnTo>
                  <a:lnTo>
                    <a:pt x="446387" y="53077"/>
                  </a:lnTo>
                  <a:lnTo>
                    <a:pt x="428693" y="53445"/>
                  </a:lnTo>
                  <a:lnTo>
                    <a:pt x="368532" y="90297"/>
                  </a:lnTo>
                  <a:lnTo>
                    <a:pt x="366307" y="91558"/>
                  </a:lnTo>
                  <a:lnTo>
                    <a:pt x="365594" y="94488"/>
                  </a:lnTo>
                  <a:lnTo>
                    <a:pt x="368331" y="99060"/>
                  </a:lnTo>
                  <a:lnTo>
                    <a:pt x="371272" y="99690"/>
                  </a:lnTo>
                  <a:lnTo>
                    <a:pt x="373522" y="98416"/>
                  </a:lnTo>
                  <a:lnTo>
                    <a:pt x="455736" y="48006"/>
                  </a:lnTo>
                  <a:lnTo>
                    <a:pt x="447707" y="43552"/>
                  </a:lnTo>
                  <a:close/>
                </a:path>
                <a:path w="455930" h="99695">
                  <a:moveTo>
                    <a:pt x="428647" y="43917"/>
                  </a:moveTo>
                  <a:lnTo>
                    <a:pt x="0" y="52827"/>
                  </a:lnTo>
                  <a:lnTo>
                    <a:pt x="202" y="62352"/>
                  </a:lnTo>
                  <a:lnTo>
                    <a:pt x="428693" y="53445"/>
                  </a:lnTo>
                  <a:lnTo>
                    <a:pt x="436821" y="48467"/>
                  </a:lnTo>
                  <a:lnTo>
                    <a:pt x="428647" y="43917"/>
                  </a:lnTo>
                  <a:close/>
                </a:path>
                <a:path w="455930" h="99695">
                  <a:moveTo>
                    <a:pt x="436821" y="48467"/>
                  </a:moveTo>
                  <a:lnTo>
                    <a:pt x="428693" y="53445"/>
                  </a:lnTo>
                  <a:lnTo>
                    <a:pt x="446387" y="53077"/>
                  </a:lnTo>
                  <a:lnTo>
                    <a:pt x="446374" y="52446"/>
                  </a:lnTo>
                  <a:lnTo>
                    <a:pt x="443970" y="52446"/>
                  </a:lnTo>
                  <a:lnTo>
                    <a:pt x="436821" y="48467"/>
                  </a:lnTo>
                  <a:close/>
                </a:path>
                <a:path w="455930" h="99695">
                  <a:moveTo>
                    <a:pt x="443793" y="44196"/>
                  </a:moveTo>
                  <a:lnTo>
                    <a:pt x="436821" y="48467"/>
                  </a:lnTo>
                  <a:lnTo>
                    <a:pt x="443970" y="52446"/>
                  </a:lnTo>
                  <a:lnTo>
                    <a:pt x="443793" y="44196"/>
                  </a:lnTo>
                  <a:close/>
                </a:path>
                <a:path w="455930" h="99695">
                  <a:moveTo>
                    <a:pt x="446200" y="44196"/>
                  </a:moveTo>
                  <a:lnTo>
                    <a:pt x="443793" y="44196"/>
                  </a:lnTo>
                  <a:lnTo>
                    <a:pt x="443970" y="52446"/>
                  </a:lnTo>
                  <a:lnTo>
                    <a:pt x="446374" y="52446"/>
                  </a:lnTo>
                  <a:lnTo>
                    <a:pt x="446200" y="44196"/>
                  </a:lnTo>
                  <a:close/>
                </a:path>
                <a:path w="455930" h="99695">
                  <a:moveTo>
                    <a:pt x="446186" y="43552"/>
                  </a:moveTo>
                  <a:lnTo>
                    <a:pt x="428647" y="43917"/>
                  </a:lnTo>
                  <a:lnTo>
                    <a:pt x="436821" y="48467"/>
                  </a:lnTo>
                  <a:lnTo>
                    <a:pt x="443793" y="44196"/>
                  </a:lnTo>
                  <a:lnTo>
                    <a:pt x="446200" y="44196"/>
                  </a:lnTo>
                  <a:lnTo>
                    <a:pt x="446186" y="43552"/>
                  </a:lnTo>
                  <a:close/>
                </a:path>
                <a:path w="455930" h="99695">
                  <a:moveTo>
                    <a:pt x="369188" y="0"/>
                  </a:moveTo>
                  <a:lnTo>
                    <a:pt x="366295" y="762"/>
                  </a:lnTo>
                  <a:lnTo>
                    <a:pt x="365009" y="3048"/>
                  </a:lnTo>
                  <a:lnTo>
                    <a:pt x="363723" y="5452"/>
                  </a:lnTo>
                  <a:lnTo>
                    <a:pt x="364570" y="8250"/>
                  </a:lnTo>
                  <a:lnTo>
                    <a:pt x="428647" y="43917"/>
                  </a:lnTo>
                  <a:lnTo>
                    <a:pt x="446186" y="43552"/>
                  </a:lnTo>
                  <a:lnTo>
                    <a:pt x="447707" y="43552"/>
                  </a:lnTo>
                  <a:lnTo>
                    <a:pt x="369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39708" y="4367152"/>
              <a:ext cx="923925" cy="909955"/>
            </a:xfrm>
            <a:custGeom>
              <a:avLst/>
              <a:gdLst/>
              <a:ahLst/>
              <a:cxnLst/>
              <a:rect l="l" t="t" r="r" b="b"/>
              <a:pathLst>
                <a:path w="923925" h="909954">
                  <a:moveTo>
                    <a:pt x="0" y="909696"/>
                  </a:moveTo>
                  <a:lnTo>
                    <a:pt x="0" y="0"/>
                  </a:lnTo>
                </a:path>
                <a:path w="923925" h="909954">
                  <a:moveTo>
                    <a:pt x="923926" y="909696"/>
                  </a:moveTo>
                  <a:lnTo>
                    <a:pt x="0" y="909696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277238" y="4807964"/>
            <a:ext cx="1447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08090" y="5038785"/>
            <a:ext cx="1554480" cy="392430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ts val="2110"/>
              </a:lnSpc>
            </a:pPr>
            <a:r>
              <a:rPr sz="1800" b="1" i="1" dirty="0">
                <a:latin typeface="Times New Roman"/>
                <a:cs typeface="Times New Roman"/>
              </a:rPr>
              <a:t>a[j]←</a:t>
            </a:r>
            <a:r>
              <a:rPr sz="1800" b="1" i="1" spc="-3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a[j+1]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04315" y="860801"/>
            <a:ext cx="4563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00AFF0"/>
                </a:solidFill>
                <a:latin typeface="Times New Roman"/>
                <a:cs typeface="Times New Roman"/>
              </a:rPr>
              <a:t>Topic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: Delete </a:t>
            </a:r>
            <a:r>
              <a:rPr sz="2400" b="1" spc="-5" dirty="0">
                <a:solidFill>
                  <a:srgbClr val="00AFF0"/>
                </a:solidFill>
                <a:latin typeface="Times New Roman"/>
                <a:cs typeface="Times New Roman"/>
              </a:rPr>
              <a:t>an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specific element</a:t>
            </a:r>
            <a:r>
              <a:rPr sz="2400" b="1" spc="-105" dirty="0">
                <a:solidFill>
                  <a:srgbClr val="00AFF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AFF0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spc="-215" dirty="0"/>
              <a:t>End </a:t>
            </a:r>
            <a:r>
              <a:rPr spc="55" dirty="0"/>
              <a:t>of</a:t>
            </a:r>
            <a:r>
              <a:rPr spc="-760" dirty="0"/>
              <a:t> </a:t>
            </a:r>
            <a:r>
              <a:rPr spc="140" dirty="0"/>
              <a:t>Chapter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9951" y="26918"/>
            <a:ext cx="1149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577</Words>
  <Application>Microsoft Office PowerPoint</Application>
  <PresentationFormat>On-screen Show (4:3)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Courier New</vt:lpstr>
      <vt:lpstr>Symbol</vt:lpstr>
      <vt:lpstr>Times New Roman</vt:lpstr>
      <vt:lpstr>Verdana</vt:lpstr>
      <vt:lpstr>Wingdings</vt:lpstr>
      <vt:lpstr>Office Theme</vt:lpstr>
      <vt:lpstr>1_Office Theme</vt:lpstr>
      <vt:lpstr>PowerPoint Presentation</vt:lpstr>
      <vt:lpstr>Introduction</vt:lpstr>
      <vt:lpstr>Definition:</vt:lpstr>
      <vt:lpstr>Array Representation</vt:lpstr>
      <vt:lpstr>Array Declaration</vt:lpstr>
      <vt:lpstr>PowerPoint Presentation</vt:lpstr>
      <vt:lpstr>Basic Operations</vt:lpstr>
      <vt:lpstr>Introduction</vt:lpstr>
      <vt:lpstr>Array Creation</vt:lpstr>
      <vt:lpstr>Array Insertion</vt:lpstr>
      <vt:lpstr>Array Deletion</vt:lpstr>
      <vt:lpstr>End of Chapter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KKD</cp:lastModifiedBy>
  <cp:revision>4</cp:revision>
  <dcterms:created xsi:type="dcterms:W3CDTF">2023-07-11T03:49:31Z</dcterms:created>
  <dcterms:modified xsi:type="dcterms:W3CDTF">2023-07-11T04:17:48Z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2023-01-16T00:00:00Z</vt:filetime>
  </property>
  <property fmtid="{D5CDD505-2E9C-101B-9397-08002B2CF9AE}" pid="3" name="Creator">
    <vt:lpwstr>Online2PDF.com</vt:lpwstr>
  </property>
  <property fmtid="{D5CDD505-2E9C-101B-9397-08002B2CF9AE}" pid="4" name="LastSaved">
    <vt:filetime>2023-07-11T00:00:00Z</vt:filetime>
  </property>
</Properties>
</file>