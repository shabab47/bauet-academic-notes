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Corbel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35" roundtripDataSignature="AMtx7mgxznDixuO98bydNRs/udUf36Vg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5DDF4C-F220-4EBA-B512-D119BC9370B0}">
  <a:tblStyle styleId="{545DDF4C-F220-4EBA-B512-D119BC9370B0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F3F7"/>
          </a:solidFill>
        </a:fill>
      </a:tcStyle>
    </a:wholeTbl>
    <a:band1H>
      <a:tcTxStyle/>
      <a:tcStyle>
        <a:fill>
          <a:solidFill>
            <a:srgbClr val="CDE6EE"/>
          </a:solidFill>
        </a:fill>
      </a:tcStyle>
    </a:band1H>
    <a:band2H>
      <a:tcTxStyle/>
    </a:band2H>
    <a:band1V>
      <a:tcTxStyle/>
      <a:tcStyle>
        <a:fill>
          <a:solidFill>
            <a:srgbClr val="CDE6EE"/>
          </a:solidFill>
        </a:fill>
      </a:tcStyle>
    </a:band1V>
    <a:band2V>
      <a:tcTxStyle/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orbel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Corbel-italic.fntdata"/><Relationship Id="rId10" Type="http://schemas.openxmlformats.org/officeDocument/2006/relationships/slide" Target="slides/slide5.xml"/><Relationship Id="rId32" Type="http://schemas.openxmlformats.org/officeDocument/2006/relationships/font" Target="fonts/Corbel-bold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Corbel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7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7"/>
          <p:cNvSpPr txBox="1"/>
          <p:nvPr>
            <p:ph type="ctrTitle"/>
          </p:nvPr>
        </p:nvSpPr>
        <p:spPr>
          <a:xfrm>
            <a:off x="1069848" y="1298448"/>
            <a:ext cx="7315200" cy="32552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orbel"/>
              <a:buNone/>
              <a:defRPr sz="59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" type="subTitle"/>
          </p:nvPr>
        </p:nvSpPr>
        <p:spPr>
          <a:xfrm>
            <a:off x="1100015" y="4670246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sz="2200" cap="none">
                <a:solidFill>
                  <a:srgbClr val="D7F0F6"/>
                </a:solidFill>
              </a:defRPr>
            </a:lvl1pPr>
            <a:lvl2pPr lvl="1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" name="Google Shape;18;p27"/>
          <p:cNvSpPr txBox="1"/>
          <p:nvPr>
            <p:ph idx="10" type="dt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1" type="ftr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2" type="sldNum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0" type="dt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1" type="ftr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3867912" y="1298448"/>
            <a:ext cx="7315200" cy="32552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900"/>
              <a:buFont typeface="Corbel"/>
              <a:buNone/>
              <a:defRPr b="0" sz="5900">
                <a:solidFill>
                  <a:srgbClr val="59595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>
            <a:off x="3886200" y="4672584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sz="2200" cap="none">
                <a:solidFill>
                  <a:srgbClr val="595959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9"/>
          <p:cNvSpPr txBox="1"/>
          <p:nvPr>
            <p:ph idx="10" type="dt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1" type="ftr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2" type="sldNum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" type="body"/>
          </p:nvPr>
        </p:nvSpPr>
        <p:spPr>
          <a:xfrm>
            <a:off x="3867912" y="868680"/>
            <a:ext cx="347472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36" name="Google Shape;36;p30"/>
          <p:cNvSpPr txBox="1"/>
          <p:nvPr>
            <p:ph idx="2" type="body"/>
          </p:nvPr>
        </p:nvSpPr>
        <p:spPr>
          <a:xfrm>
            <a:off x="7818120" y="868680"/>
            <a:ext cx="347472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37" name="Google Shape;37;p30"/>
          <p:cNvSpPr txBox="1"/>
          <p:nvPr>
            <p:ph idx="10" type="dt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1" type="ftr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2" type="sldNum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3867912" y="1023586"/>
            <a:ext cx="3474720" cy="807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rgbClr val="595959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1"/>
          <p:cNvSpPr txBox="1"/>
          <p:nvPr>
            <p:ph idx="2" type="body"/>
          </p:nvPr>
        </p:nvSpPr>
        <p:spPr>
          <a:xfrm>
            <a:off x="3867912" y="1930936"/>
            <a:ext cx="347472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44" name="Google Shape;44;p31"/>
          <p:cNvSpPr txBox="1"/>
          <p:nvPr>
            <p:ph idx="3" type="body"/>
          </p:nvPr>
        </p:nvSpPr>
        <p:spPr>
          <a:xfrm>
            <a:off x="7818463" y="1023586"/>
            <a:ext cx="3474720" cy="8131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rgbClr val="595959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1"/>
          <p:cNvSpPr txBox="1"/>
          <p:nvPr>
            <p:ph idx="4" type="body"/>
          </p:nvPr>
        </p:nvSpPr>
        <p:spPr>
          <a:xfrm>
            <a:off x="7818463" y="1930936"/>
            <a:ext cx="347472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46" name="Google Shape;46;p31"/>
          <p:cNvSpPr txBox="1"/>
          <p:nvPr>
            <p:ph idx="10" type="dt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1" type="ftr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2" type="sldNum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0" type="dt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idx="10" type="dt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1" type="ftr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2" type="sldNum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/>
          <p:nvPr>
            <p:ph type="title"/>
          </p:nvPr>
        </p:nvSpPr>
        <p:spPr>
          <a:xfrm>
            <a:off x="256032" y="1143000"/>
            <a:ext cx="28346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rbel"/>
              <a:buNone/>
              <a:defRPr b="0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" type="body"/>
          </p:nvPr>
        </p:nvSpPr>
        <p:spPr>
          <a:xfrm>
            <a:off x="3867912" y="868680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61" name="Google Shape;61;p34"/>
          <p:cNvSpPr txBox="1"/>
          <p:nvPr>
            <p:ph idx="2" type="body"/>
          </p:nvPr>
        </p:nvSpPr>
        <p:spPr>
          <a:xfrm>
            <a:off x="256032" y="3494176"/>
            <a:ext cx="2834640" cy="2321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4"/>
          <p:cNvSpPr txBox="1"/>
          <p:nvPr>
            <p:ph idx="10" type="dt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11" type="ftr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12" type="sldNum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>
            <a:off x="256032" y="1143000"/>
            <a:ext cx="28346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rbel"/>
              <a:buNone/>
              <a:defRPr b="0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/>
          <p:nvPr>
            <p:ph idx="2" type="pic"/>
          </p:nvPr>
        </p:nvSpPr>
        <p:spPr>
          <a:xfrm>
            <a:off x="3570644" y="767419"/>
            <a:ext cx="8115230" cy="5330952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68" name="Google Shape;68;p35"/>
          <p:cNvSpPr txBox="1"/>
          <p:nvPr>
            <p:ph idx="1" type="body"/>
          </p:nvPr>
        </p:nvSpPr>
        <p:spPr>
          <a:xfrm>
            <a:off x="256032" y="3493008"/>
            <a:ext cx="2834640" cy="2322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5"/>
          <p:cNvSpPr txBox="1"/>
          <p:nvPr>
            <p:ph idx="10" type="dt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1" type="ftr"/>
          </p:nvPr>
        </p:nvSpPr>
        <p:spPr>
          <a:xfrm>
            <a:off x="3499101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2" type="sldNum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6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6"/>
          <p:cNvSpPr txBox="1"/>
          <p:nvPr>
            <p:ph idx="1" type="body"/>
          </p:nvPr>
        </p:nvSpPr>
        <p:spPr>
          <a:xfrm rot="5400000">
            <a:off x="4966548" y="-233172"/>
            <a:ext cx="5120640" cy="7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0" type="dt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1" type="ftr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2" type="sldNum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/>
          <p:nvPr>
            <p:ph type="title"/>
          </p:nvPr>
        </p:nvSpPr>
        <p:spPr>
          <a:xfrm rot="5400000">
            <a:off x="-685800" y="2057400"/>
            <a:ext cx="49530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7"/>
          <p:cNvSpPr txBox="1"/>
          <p:nvPr>
            <p:ph idx="1" type="body"/>
          </p:nvPr>
        </p:nvSpPr>
        <p:spPr>
          <a:xfrm rot="5400000">
            <a:off x="4965192" y="-228600"/>
            <a:ext cx="5120640" cy="7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1" name="Google Shape;81;p37"/>
          <p:cNvSpPr txBox="1"/>
          <p:nvPr>
            <p:ph idx="10" type="dt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7"/>
          <p:cNvSpPr txBox="1"/>
          <p:nvPr>
            <p:ph idx="11" type="ftr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 txBox="1"/>
          <p:nvPr>
            <p:ph idx="12" type="sldNum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26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  <a:defRPr b="0" i="0" sz="36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26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26"/>
          <p:cNvSpPr txBox="1"/>
          <p:nvPr>
            <p:ph idx="1" type="body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0" type="dt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7F7F7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1" type="ftr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7F7F7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2" type="sldNum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069848" y="1298448"/>
            <a:ext cx="7315200" cy="32552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b="1" lang="en-US" sz="4400">
                <a:solidFill>
                  <a:schemeClr val="dk1"/>
                </a:solidFill>
              </a:rPr>
              <a:t>Chapter-10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100015" y="4670246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n-US" sz="4000">
                <a:solidFill>
                  <a:srgbClr val="FF0000"/>
                </a:solidFill>
              </a:rPr>
              <a:t>Error Detection and Correction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Error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82880" lvl="0" marL="1828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/>
              <a:t>Data are transmitted in the network.</a:t>
            </a:r>
            <a:endParaRPr/>
          </a:p>
          <a:p>
            <a:pPr indent="-182880" lvl="0" marL="18288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/>
              <a:t>Data can be corrupted during transmission.</a:t>
            </a:r>
            <a:endParaRPr/>
          </a:p>
          <a:p>
            <a:pPr indent="-182880" lvl="0" marL="18288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/>
              <a:t>This is called transmission error.</a:t>
            </a:r>
            <a:endParaRPr/>
          </a:p>
          <a:p>
            <a:pPr indent="-182880" lvl="0" marL="18288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/>
              <a:t>For reliable communications, errors must be detected and corrected.</a:t>
            </a:r>
            <a:endParaRPr/>
          </a:p>
          <a:p>
            <a:pPr indent="-5587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Types of Errors</a:t>
            </a:r>
            <a:endParaRPr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rbel"/>
              <a:buAutoNum type="arabicPeriod"/>
            </a:pPr>
            <a:r>
              <a:rPr lang="en-US"/>
              <a:t>Bit Error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orbel"/>
              <a:buAutoNum type="arabicPeriod"/>
            </a:pPr>
            <a:r>
              <a:rPr lang="en-US"/>
              <a:t>Burst Error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/>
          <p:nvPr>
            <p:ph type="title"/>
          </p:nvPr>
        </p:nvSpPr>
        <p:spPr>
          <a:xfrm>
            <a:off x="252919" y="1123837"/>
            <a:ext cx="2947500" cy="46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How To Detect Errors?</a:t>
            </a:r>
            <a:endParaRPr/>
          </a:p>
        </p:txBody>
      </p:sp>
      <p:sp>
        <p:nvSpPr>
          <p:cNvPr id="107" name="Google Shape;107;p6"/>
          <p:cNvSpPr txBox="1"/>
          <p:nvPr>
            <p:ph idx="1" type="body"/>
          </p:nvPr>
        </p:nvSpPr>
        <p:spPr>
          <a:xfrm>
            <a:off x="3915922" y="1609624"/>
            <a:ext cx="7315200" cy="3629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82880" lvl="0" marL="1828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solidFill>
                  <a:schemeClr val="dk1"/>
                </a:solidFill>
              </a:rPr>
              <a:t>Error detection means to decide whether the received data is correct or not without having a copy of the original message.</a:t>
            </a:r>
            <a:endParaRPr/>
          </a:p>
          <a:p>
            <a:pPr indent="-182880" lvl="0" marL="18288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solidFill>
                  <a:schemeClr val="dk1"/>
                </a:solidFill>
              </a:rPr>
              <a:t>To detect or correct errors, we need to send extra (redundant) bits with data.</a:t>
            </a:r>
            <a:endParaRPr/>
          </a:p>
          <a:p>
            <a:pPr indent="-182880" lvl="0" marL="18288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solidFill>
                  <a:schemeClr val="dk1"/>
                </a:solidFill>
              </a:rPr>
              <a:t>These extra bits are called </a:t>
            </a:r>
            <a:r>
              <a:rPr b="1" lang="en-US">
                <a:solidFill>
                  <a:schemeClr val="dk1"/>
                </a:solidFill>
              </a:rPr>
              <a:t>redundant bits</a:t>
            </a:r>
            <a:r>
              <a:rPr lang="en-US">
                <a:solidFill>
                  <a:schemeClr val="dk1"/>
                </a:solidFill>
              </a:rPr>
              <a:t>.</a:t>
            </a:r>
            <a:endParaRPr/>
          </a:p>
          <a:p>
            <a:pPr indent="-55879" lvl="0" marL="18288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/>
          </a:p>
          <a:p>
            <a:pPr indent="-5587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Bit Error</a:t>
            </a:r>
            <a:endParaRPr/>
          </a:p>
        </p:txBody>
      </p:sp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82880" lvl="0" marL="18288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solidFill>
                  <a:schemeClr val="dk1"/>
                </a:solidFill>
              </a:rPr>
              <a:t>In a single-bit error, only 1 bit in the data unit has changed.</a:t>
            </a:r>
            <a:endParaRPr/>
          </a:p>
          <a:p>
            <a:pPr indent="-5587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7198" y="4042270"/>
            <a:ext cx="6839339" cy="168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Burst Error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3869268" y="864108"/>
            <a:ext cx="7315200" cy="1664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82880" lvl="0" marL="1828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/>
              <a:t>A burst error means that 2 or more bits in the data unit have changed.</a:t>
            </a:r>
            <a:endParaRPr/>
          </a:p>
          <a:p>
            <a:pPr indent="-5587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id="121" name="Google Shape;1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0824" y="2599823"/>
            <a:ext cx="7079825" cy="3459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Error Correction</a:t>
            </a:r>
            <a:endParaRPr/>
          </a:p>
        </p:txBody>
      </p:sp>
      <p:sp>
        <p:nvSpPr>
          <p:cNvPr id="127" name="Google Shape;127;p7"/>
          <p:cNvSpPr txBox="1"/>
          <p:nvPr>
            <p:ph idx="1" type="body"/>
          </p:nvPr>
        </p:nvSpPr>
        <p:spPr>
          <a:xfrm>
            <a:off x="3915922" y="1609624"/>
            <a:ext cx="7315200" cy="3629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-182880" lvl="0" marL="1828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lang="en-US"/>
              <a:t> </a:t>
            </a:r>
            <a:r>
              <a:rPr b="1" lang="en-US"/>
              <a:t>It can be handled in two ways:</a:t>
            </a:r>
            <a:endParaRPr/>
          </a:p>
          <a:p>
            <a:pPr indent="-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Corbel"/>
              <a:buAutoNum type="arabicPeriod"/>
            </a:pPr>
            <a:r>
              <a:rPr b="0" i="0" lang="en-US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Forward error correction is the process in which the receiver tries to guess the message by using redundant bits.</a:t>
            </a:r>
            <a:r>
              <a:rPr lang="en-US">
                <a:latin typeface="Corbel"/>
                <a:ea typeface="Corbel"/>
                <a:cs typeface="Corbel"/>
                <a:sym typeface="Corbel"/>
              </a:rPr>
              <a:t> </a:t>
            </a:r>
            <a:endParaRPr/>
          </a:p>
          <a:p>
            <a:pPr indent="-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Corbel"/>
              <a:buAutoNum type="arabicPeriod"/>
            </a:pPr>
            <a:r>
              <a:rPr b="0" i="0" lang="en-US"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Correction by retransmission is a technique in which the receiver detects the occurrence of an error and asks the sender to resend the message. </a:t>
            </a:r>
            <a:br>
              <a:rPr lang="en-US"/>
            </a:br>
            <a:br>
              <a:rPr lang="en-US"/>
            </a:br>
            <a:endParaRPr/>
          </a:p>
          <a:p>
            <a:pPr indent="-65404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Coding</a:t>
            </a:r>
            <a:endParaRPr/>
          </a:p>
        </p:txBody>
      </p:sp>
      <p:sp>
        <p:nvSpPr>
          <p:cNvPr id="133" name="Google Shape;133;p8"/>
          <p:cNvSpPr txBox="1"/>
          <p:nvPr>
            <p:ph idx="1" type="body"/>
          </p:nvPr>
        </p:nvSpPr>
        <p:spPr>
          <a:xfrm>
            <a:off x="3803955" y="713885"/>
            <a:ext cx="7315200" cy="3629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10000"/>
          </a:bodyPr>
          <a:lstStyle/>
          <a:p>
            <a:pPr indent="-182880" lvl="0" marL="18288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b="0" i="0" lang="en-US" sz="21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The sender adds redundant bits through a process that creates a relationship between the redundant bits and the actual data bits. </a:t>
            </a:r>
            <a:endParaRPr/>
          </a:p>
          <a:p>
            <a:pPr indent="-182880" lvl="0" marL="182880" rtl="0" algn="just">
              <a:lnSpc>
                <a:spcPct val="17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b="0" i="0" lang="en-US" sz="21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The receiver checks the relationships between the two sets of bits to detect or correct the errors.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lang="en-US"/>
              <a:t> </a:t>
            </a:r>
            <a:br>
              <a:rPr lang="en-US"/>
            </a:br>
            <a:br>
              <a:rPr lang="en-US"/>
            </a:br>
            <a:br>
              <a:rPr lang="en-US"/>
            </a:br>
            <a:endParaRPr/>
          </a:p>
          <a:p>
            <a:pPr indent="-7492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id="134" name="Google Shape;13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4171" y="2689549"/>
            <a:ext cx="7520474" cy="35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Error Detection Techniques</a:t>
            </a:r>
            <a:endParaRPr/>
          </a:p>
        </p:txBody>
      </p:sp>
      <p:sp>
        <p:nvSpPr>
          <p:cNvPr id="140" name="Google Shape;140;p9"/>
          <p:cNvSpPr txBox="1"/>
          <p:nvPr>
            <p:ph idx="1" type="body"/>
          </p:nvPr>
        </p:nvSpPr>
        <p:spPr>
          <a:xfrm>
            <a:off x="3729310" y="2258101"/>
            <a:ext cx="7315200" cy="2332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25000" lnSpcReduction="20000"/>
          </a:bodyPr>
          <a:lstStyle/>
          <a:p>
            <a:pPr indent="-182880" lvl="0" marL="1828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❖"/>
            </a:pPr>
            <a:r>
              <a:rPr b="1" lang="en-US" sz="7200">
                <a:solidFill>
                  <a:schemeClr val="dk1"/>
                </a:solidFill>
              </a:rPr>
              <a:t> There are four error detection techniques:</a:t>
            </a:r>
            <a:endParaRPr/>
          </a:p>
          <a:p>
            <a:pPr indent="-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Corbel"/>
              <a:buAutoNum type="arabicPeriod"/>
            </a:pPr>
            <a:r>
              <a:rPr lang="en-US" sz="7200">
                <a:solidFill>
                  <a:schemeClr val="dk1"/>
                </a:solidFill>
              </a:rPr>
              <a:t>Vertical Redundancy Check (VRC)</a:t>
            </a:r>
            <a:endParaRPr/>
          </a:p>
          <a:p>
            <a:pPr indent="-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Corbel"/>
              <a:buAutoNum type="arabicPeriod"/>
            </a:pPr>
            <a:r>
              <a:rPr lang="en-US" sz="7200">
                <a:solidFill>
                  <a:schemeClr val="dk1"/>
                </a:solidFill>
              </a:rPr>
              <a:t>Longitudinal Redundancy Check (LRC)</a:t>
            </a:r>
            <a:endParaRPr/>
          </a:p>
          <a:p>
            <a:pPr indent="-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Corbel"/>
              <a:buAutoNum type="arabicPeriod"/>
            </a:pPr>
            <a:r>
              <a:rPr lang="en-US" sz="7200">
                <a:solidFill>
                  <a:schemeClr val="dk1"/>
                </a:solidFill>
              </a:rPr>
              <a:t>Checksum</a:t>
            </a:r>
            <a:endParaRPr/>
          </a:p>
          <a:p>
            <a:pPr indent="-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Corbel"/>
              <a:buAutoNum type="arabicPeriod"/>
            </a:pPr>
            <a:r>
              <a:rPr lang="en-US" sz="7200">
                <a:solidFill>
                  <a:schemeClr val="dk1"/>
                </a:solidFill>
              </a:rPr>
              <a:t>Cyclic Redundancy Check(CRC)</a:t>
            </a:r>
            <a:endParaRPr/>
          </a:p>
          <a:p>
            <a:pPr indent="-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Corbel"/>
              <a:buAutoNum type="arabicPeriod"/>
            </a:pPr>
            <a:r>
              <a:rPr lang="en-US" sz="7200">
                <a:solidFill>
                  <a:schemeClr val="dk1"/>
                </a:solidFill>
              </a:rPr>
              <a:t>Two Dimensional Parity Check</a:t>
            </a:r>
            <a:endParaRPr sz="7200"/>
          </a:p>
          <a:p>
            <a:pPr indent="-15113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Vertical Redundancy Check (VRC)</a:t>
            </a:r>
            <a:endParaRPr/>
          </a:p>
        </p:txBody>
      </p:sp>
      <p:sp>
        <p:nvSpPr>
          <p:cNvPr id="146" name="Google Shape;146;p10"/>
          <p:cNvSpPr txBox="1"/>
          <p:nvPr>
            <p:ph idx="1" type="body"/>
          </p:nvPr>
        </p:nvSpPr>
        <p:spPr>
          <a:xfrm>
            <a:off x="3570690" y="634026"/>
            <a:ext cx="7315200" cy="979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/>
              <a:t> </a:t>
            </a:r>
            <a:r>
              <a:rPr lang="en-US">
                <a:solidFill>
                  <a:schemeClr val="dk1"/>
                </a:solidFill>
              </a:rPr>
              <a:t>It is also known as parity check.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7" name="Google Shape;147;p10"/>
          <p:cNvSpPr txBox="1"/>
          <p:nvPr/>
        </p:nvSpPr>
        <p:spPr>
          <a:xfrm>
            <a:off x="4254759" y="1511559"/>
            <a:ext cx="8643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</p:txBody>
      </p:sp>
      <p:sp>
        <p:nvSpPr>
          <p:cNvPr id="148" name="Google Shape;148;p10"/>
          <p:cNvSpPr/>
          <p:nvPr/>
        </p:nvSpPr>
        <p:spPr>
          <a:xfrm>
            <a:off x="4043115" y="1959336"/>
            <a:ext cx="1287625" cy="531845"/>
          </a:xfrm>
          <a:prstGeom prst="rect">
            <a:avLst/>
          </a:prstGeom>
          <a:solidFill>
            <a:schemeClr val="accent1"/>
          </a:solidFill>
          <a:ln cap="flat" cmpd="sng" w="10775">
            <a:solidFill>
              <a:srgbClr val="2E87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1010010</a:t>
            </a:r>
            <a:endParaRPr/>
          </a:p>
        </p:txBody>
      </p:sp>
      <p:sp>
        <p:nvSpPr>
          <p:cNvPr id="149" name="Google Shape;149;p10"/>
          <p:cNvSpPr/>
          <p:nvPr/>
        </p:nvSpPr>
        <p:spPr>
          <a:xfrm>
            <a:off x="4444329" y="2758424"/>
            <a:ext cx="485191" cy="326572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0775">
            <a:solidFill>
              <a:srgbClr val="2E87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4043113" y="3312458"/>
            <a:ext cx="1287625" cy="531845"/>
          </a:xfrm>
          <a:prstGeom prst="rect">
            <a:avLst/>
          </a:prstGeom>
          <a:solidFill>
            <a:schemeClr val="accent1"/>
          </a:solidFill>
          <a:ln cap="flat" cmpd="sng" w="10775">
            <a:solidFill>
              <a:srgbClr val="2E87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Even Parity Generator</a:t>
            </a:r>
            <a:endParaRPr/>
          </a:p>
        </p:txBody>
      </p:sp>
      <p:sp>
        <p:nvSpPr>
          <p:cNvPr id="151" name="Google Shape;151;p10"/>
          <p:cNvSpPr txBox="1"/>
          <p:nvPr/>
        </p:nvSpPr>
        <p:spPr>
          <a:xfrm>
            <a:off x="4444329" y="4366820"/>
            <a:ext cx="2616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B05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cxnSp>
        <p:nvCxnSpPr>
          <p:cNvPr id="152" name="Google Shape;152;p10"/>
          <p:cNvCxnSpPr/>
          <p:nvPr/>
        </p:nvCxnSpPr>
        <p:spPr>
          <a:xfrm flipH="1" rot="10800000">
            <a:off x="4696691" y="3312575"/>
            <a:ext cx="1956000" cy="1254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" name="Google Shape;153;p10"/>
          <p:cNvCxnSpPr>
            <a:stCxn id="148" idx="3"/>
          </p:cNvCxnSpPr>
          <p:nvPr/>
        </p:nvCxnSpPr>
        <p:spPr>
          <a:xfrm>
            <a:off x="5330740" y="2225259"/>
            <a:ext cx="1312800" cy="859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4" name="Google Shape;154;p10"/>
          <p:cNvSpPr/>
          <p:nvPr/>
        </p:nvSpPr>
        <p:spPr>
          <a:xfrm>
            <a:off x="6643396" y="2981393"/>
            <a:ext cx="1856792" cy="407262"/>
          </a:xfrm>
          <a:prstGeom prst="rect">
            <a:avLst/>
          </a:prstGeom>
          <a:solidFill>
            <a:srgbClr val="FFFF00"/>
          </a:solidFill>
          <a:ln cap="flat" cmpd="sng" w="10775">
            <a:solidFill>
              <a:srgbClr val="2E87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B05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r>
              <a:rPr b="1" lang="en-US" sz="2400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    </a:t>
            </a: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1010010</a:t>
            </a:r>
            <a:endParaRPr/>
          </a:p>
        </p:txBody>
      </p:sp>
      <p:sp>
        <p:nvSpPr>
          <p:cNvPr id="155" name="Google Shape;155;p10"/>
          <p:cNvSpPr txBox="1"/>
          <p:nvPr/>
        </p:nvSpPr>
        <p:spPr>
          <a:xfrm>
            <a:off x="6783355" y="2552378"/>
            <a:ext cx="15768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Transmitted</a:t>
            </a:r>
            <a:endParaRPr/>
          </a:p>
        </p:txBody>
      </p:sp>
      <p:cxnSp>
        <p:nvCxnSpPr>
          <p:cNvPr id="156" name="Google Shape;156;p10"/>
          <p:cNvCxnSpPr/>
          <p:nvPr/>
        </p:nvCxnSpPr>
        <p:spPr>
          <a:xfrm>
            <a:off x="7119257" y="2981393"/>
            <a:ext cx="0" cy="407262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10"/>
          <p:cNvSpPr/>
          <p:nvPr/>
        </p:nvSpPr>
        <p:spPr>
          <a:xfrm>
            <a:off x="8792396" y="2981393"/>
            <a:ext cx="415212" cy="40726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0775">
            <a:solidFill>
              <a:srgbClr val="2E87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9451910" y="2951851"/>
            <a:ext cx="1856792" cy="407262"/>
          </a:xfrm>
          <a:prstGeom prst="rect">
            <a:avLst/>
          </a:prstGeom>
          <a:solidFill>
            <a:srgbClr val="FFFF00"/>
          </a:solidFill>
          <a:ln cap="flat" cmpd="sng" w="10775">
            <a:solidFill>
              <a:srgbClr val="2E87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B05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r>
              <a:rPr b="1" lang="en-US" sz="2400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    </a:t>
            </a: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1010010</a:t>
            </a:r>
            <a:endParaRPr/>
          </a:p>
        </p:txBody>
      </p:sp>
      <p:sp>
        <p:nvSpPr>
          <p:cNvPr id="159" name="Google Shape;159;p10"/>
          <p:cNvSpPr txBox="1"/>
          <p:nvPr/>
        </p:nvSpPr>
        <p:spPr>
          <a:xfrm>
            <a:off x="9591869" y="2522347"/>
            <a:ext cx="15768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Performance of VRC</a:t>
            </a:r>
            <a:endParaRPr/>
          </a:p>
        </p:txBody>
      </p:sp>
      <p:sp>
        <p:nvSpPr>
          <p:cNvPr id="165" name="Google Shape;165;p11"/>
          <p:cNvSpPr txBox="1"/>
          <p:nvPr>
            <p:ph idx="1" type="body"/>
          </p:nvPr>
        </p:nvSpPr>
        <p:spPr>
          <a:xfrm>
            <a:off x="3869268" y="864108"/>
            <a:ext cx="738345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/>
              <a:t> </a:t>
            </a:r>
            <a:r>
              <a:rPr lang="en-US">
                <a:solidFill>
                  <a:schemeClr val="dk1"/>
                </a:solidFill>
              </a:rPr>
              <a:t>It can detect single bit error.</a:t>
            </a:r>
            <a:endParaRPr/>
          </a:p>
          <a:p>
            <a:pPr indent="-182880" lvl="0" marL="18288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solidFill>
                  <a:schemeClr val="dk1"/>
                </a:solidFill>
              </a:rPr>
              <a:t>It can detect burst error if the number or errors are odd.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chemeClr val="dk1"/>
                </a:solidFill>
              </a:rPr>
              <a:t>Sender 1 10110🡪 Transmission error 1 1</a:t>
            </a:r>
            <a:r>
              <a:rPr lang="en-US">
                <a:solidFill>
                  <a:srgbClr val="FF0000"/>
                </a:solidFill>
              </a:rPr>
              <a:t>1</a:t>
            </a:r>
            <a:r>
              <a:rPr lang="en-US">
                <a:solidFill>
                  <a:schemeClr val="dk1"/>
                </a:solidFill>
              </a:rPr>
              <a:t>110🡪 Receiver rejects data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chemeClr val="dk1"/>
                </a:solidFill>
              </a:rPr>
              <a:t>Sender 1 10110🡪 Transmission error 1 1</a:t>
            </a:r>
            <a:r>
              <a:rPr lang="en-US">
                <a:solidFill>
                  <a:srgbClr val="FF0000"/>
                </a:solidFill>
              </a:rPr>
              <a:t>1</a:t>
            </a:r>
            <a:r>
              <a:rPr lang="en-US">
                <a:solidFill>
                  <a:schemeClr val="dk1"/>
                </a:solidFill>
              </a:rPr>
              <a:t>1</a:t>
            </a:r>
            <a:r>
              <a:rPr lang="en-US">
                <a:solidFill>
                  <a:srgbClr val="FF0000"/>
                </a:solidFill>
              </a:rPr>
              <a:t>0</a:t>
            </a:r>
            <a:r>
              <a:rPr lang="en-US">
                <a:solidFill>
                  <a:schemeClr val="dk1"/>
                </a:solidFill>
              </a:rPr>
              <a:t>0🡪 Receiver accepts data</a:t>
            </a:r>
            <a:endParaRPr>
              <a:solidFill>
                <a:schemeClr val="dk1"/>
              </a:solidFill>
            </a:endParaRPr>
          </a:p>
          <a:p>
            <a:pPr indent="-5587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Longitudinal Redundancy Check (LRC) </a:t>
            </a:r>
            <a:endParaRPr/>
          </a:p>
        </p:txBody>
      </p:sp>
      <p:sp>
        <p:nvSpPr>
          <p:cNvPr id="171" name="Google Shape;171;p12"/>
          <p:cNvSpPr txBox="1"/>
          <p:nvPr>
            <p:ph idx="1" type="body"/>
          </p:nvPr>
        </p:nvSpPr>
        <p:spPr>
          <a:xfrm>
            <a:off x="3869268" y="786364"/>
            <a:ext cx="7383450" cy="1978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82880" lvl="0" marL="1828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❖"/>
            </a:pPr>
            <a:r>
              <a:rPr lang="en-US" sz="1400"/>
              <a:t> </a:t>
            </a:r>
            <a:r>
              <a:rPr lang="en-US" sz="1400">
                <a:solidFill>
                  <a:schemeClr val="dk1"/>
                </a:solidFill>
              </a:rPr>
              <a:t>A block of  bit is divided into rows and columns.</a:t>
            </a:r>
            <a:endParaRPr/>
          </a:p>
          <a:p>
            <a:pPr indent="-182880" lvl="0" marL="18288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Noto Sans Symbols"/>
              <a:buChar char="❖"/>
            </a:pPr>
            <a:r>
              <a:rPr lang="en-US" sz="1400">
                <a:solidFill>
                  <a:schemeClr val="dk1"/>
                </a:solidFill>
              </a:rPr>
              <a:t> It is known as two dimensional parity check.</a:t>
            </a:r>
            <a:endParaRPr/>
          </a:p>
          <a:p>
            <a:pPr indent="-182880" lvl="0" marL="18288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Noto Sans Symbols"/>
              <a:buChar char="❖"/>
            </a:pPr>
            <a:r>
              <a:rPr lang="en-US" sz="1400">
                <a:solidFill>
                  <a:schemeClr val="dk1"/>
                </a:solidFill>
              </a:rPr>
              <a:t> The parity bit is calculated for each column and sent along with the data.</a:t>
            </a:r>
            <a:endParaRPr/>
          </a:p>
          <a:p>
            <a:pPr indent="-182880" lvl="0" marL="18288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Noto Sans Symbols"/>
              <a:buChar char="❖"/>
            </a:pPr>
            <a:r>
              <a:rPr lang="en-US" sz="1400">
                <a:solidFill>
                  <a:schemeClr val="dk1"/>
                </a:solidFill>
              </a:rPr>
              <a:t>The block of parity acts as the redundant bits.</a:t>
            </a:r>
            <a:endParaRPr/>
          </a:p>
          <a:p>
            <a:pPr indent="-182880" lvl="0" marL="18288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Noto Sans Symbols"/>
              <a:buChar char="❖"/>
            </a:pPr>
            <a:r>
              <a:rPr b="1" lang="en-US" sz="1400">
                <a:solidFill>
                  <a:schemeClr val="dk1"/>
                </a:solidFill>
              </a:rPr>
              <a:t>11001    00110   11110   00010   00001   10100    11111</a:t>
            </a:r>
            <a:endParaRPr/>
          </a:p>
        </p:txBody>
      </p:sp>
      <p:graphicFrame>
        <p:nvGraphicFramePr>
          <p:cNvPr id="172" name="Google Shape;172;p12"/>
          <p:cNvGraphicFramePr/>
          <p:nvPr/>
        </p:nvGraphicFramePr>
        <p:xfrm>
          <a:off x="4231562" y="30712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{545DDF4C-F220-4EBA-B512-D119BC9370B0}</a:tableStyleId>
              </a:tblPr>
              <a:tblGrid>
                <a:gridCol w="1032500"/>
                <a:gridCol w="1464900"/>
                <a:gridCol w="1399600"/>
                <a:gridCol w="1408925"/>
                <a:gridCol w="1352950"/>
              </a:tblGrid>
              <a:tr h="27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B05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B05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B05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B05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B05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3" name="Google Shape;173;p12"/>
          <p:cNvGraphicFramePr/>
          <p:nvPr/>
        </p:nvGraphicFramePr>
        <p:xfrm>
          <a:off x="3580881" y="57250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{545DDF4C-F220-4EBA-B512-D119BC9370B0}</a:tableStyleId>
              </a:tblPr>
              <a:tblGrid>
                <a:gridCol w="1161150"/>
                <a:gridCol w="1161150"/>
                <a:gridCol w="1161150"/>
                <a:gridCol w="1161150"/>
                <a:gridCol w="1161150"/>
                <a:gridCol w="1161150"/>
                <a:gridCol w="11611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B050"/>
                          </a:solidFill>
                        </a:rPr>
                        <a:t>01000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11111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10100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00010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11110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00110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11001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Performance of LRC </a:t>
            </a:r>
            <a:endParaRPr/>
          </a:p>
        </p:txBody>
      </p:sp>
      <p:sp>
        <p:nvSpPr>
          <p:cNvPr id="179" name="Google Shape;179;p13"/>
          <p:cNvSpPr txBox="1"/>
          <p:nvPr>
            <p:ph idx="1" type="body"/>
          </p:nvPr>
        </p:nvSpPr>
        <p:spPr>
          <a:xfrm>
            <a:off x="3869268" y="786364"/>
            <a:ext cx="7383450" cy="1978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82880" lvl="0" marL="1828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❖"/>
            </a:pPr>
            <a:r>
              <a:rPr lang="en-US" sz="1400"/>
              <a:t> </a:t>
            </a:r>
            <a:r>
              <a:rPr lang="en-US">
                <a:solidFill>
                  <a:schemeClr val="dk1"/>
                </a:solidFill>
              </a:rPr>
              <a:t>If two bits of in one data units are damaged and two bits in exactly the same positions in another unit are also damaged, the LRC will not detect any error.</a:t>
            </a:r>
            <a:endParaRPr b="1" sz="1400">
              <a:solidFill>
                <a:schemeClr val="dk1"/>
              </a:solidFill>
            </a:endParaRPr>
          </a:p>
        </p:txBody>
      </p:sp>
      <p:graphicFrame>
        <p:nvGraphicFramePr>
          <p:cNvPr id="180" name="Google Shape;180;p13"/>
          <p:cNvGraphicFramePr/>
          <p:nvPr/>
        </p:nvGraphicFramePr>
        <p:xfrm>
          <a:off x="4231562" y="29513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{545DDF4C-F220-4EBA-B512-D119BC9370B0}</a:tableStyleId>
              </a:tblPr>
              <a:tblGrid>
                <a:gridCol w="1032500"/>
                <a:gridCol w="1464900"/>
                <a:gridCol w="1399600"/>
                <a:gridCol w="1408925"/>
                <a:gridCol w="1352950"/>
              </a:tblGrid>
              <a:tr h="27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0000"/>
                          </a:solidFill>
                        </a:rPr>
                        <a:t>1🡪0</a:t>
                      </a:r>
                      <a:endParaRPr b="1" sz="20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0000"/>
                          </a:solidFill>
                        </a:rPr>
                        <a:t>0🡪1</a:t>
                      </a:r>
                      <a:endParaRPr b="1" sz="20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B05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B05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B05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B05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00B05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Checksum</a:t>
            </a:r>
            <a:endParaRPr/>
          </a:p>
        </p:txBody>
      </p:sp>
      <p:sp>
        <p:nvSpPr>
          <p:cNvPr id="186" name="Google Shape;186;p14"/>
          <p:cNvSpPr txBox="1"/>
          <p:nvPr>
            <p:ph idx="1" type="body"/>
          </p:nvPr>
        </p:nvSpPr>
        <p:spPr>
          <a:xfrm>
            <a:off x="4009227" y="2435383"/>
            <a:ext cx="7383450" cy="1978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82880" lvl="0" marL="1828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en-US" sz="1800"/>
              <a:t> </a:t>
            </a:r>
            <a:r>
              <a:rPr lang="en-US" sz="1800">
                <a:solidFill>
                  <a:schemeClr val="dk1"/>
                </a:solidFill>
              </a:rPr>
              <a:t>Checksum 🡪 Check + Sum</a:t>
            </a:r>
            <a:endParaRPr/>
          </a:p>
          <a:p>
            <a:pPr indent="-182880" lvl="0" marL="18288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en-US" sz="1800">
                <a:solidFill>
                  <a:schemeClr val="dk1"/>
                </a:solidFill>
              </a:rPr>
              <a:t>Sender side 🡪  Checksum creation</a:t>
            </a:r>
            <a:endParaRPr/>
          </a:p>
          <a:p>
            <a:pPr indent="-182880" lvl="0" marL="18288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en-US" sz="1800">
                <a:solidFill>
                  <a:schemeClr val="dk1"/>
                </a:solidFill>
              </a:rPr>
              <a:t>Receiver side 🡪 Checksum validation</a:t>
            </a:r>
            <a:endParaRPr/>
          </a:p>
          <a:p>
            <a:pPr indent="-93979" lvl="0" marL="18288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Noto Sans Symbols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Checksum</a:t>
            </a:r>
            <a:endParaRPr/>
          </a:p>
        </p:txBody>
      </p:sp>
      <p:sp>
        <p:nvSpPr>
          <p:cNvPr id="192" name="Google Shape;192;p15"/>
          <p:cNvSpPr txBox="1"/>
          <p:nvPr>
            <p:ph idx="1" type="body"/>
          </p:nvPr>
        </p:nvSpPr>
        <p:spPr>
          <a:xfrm>
            <a:off x="4009227" y="1968759"/>
            <a:ext cx="7383450" cy="324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82880" lvl="0" marL="1828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❑"/>
            </a:pPr>
            <a:r>
              <a:rPr b="1" lang="en-US" sz="1800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Checksum Sender Side</a:t>
            </a:r>
            <a:endParaRPr/>
          </a:p>
          <a:p>
            <a:pPr indent="-182880" lvl="0" marL="18288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Char char="✔"/>
            </a:pPr>
            <a:r>
              <a:rPr lang="en-US">
                <a:solidFill>
                  <a:schemeClr val="dk1"/>
                </a:solidFill>
              </a:rPr>
              <a:t>Break the original message into ‘k’ number of blocks with ‘n’ bits in each block.</a:t>
            </a:r>
            <a:endParaRPr/>
          </a:p>
          <a:p>
            <a:pPr indent="-182880" lvl="0" marL="18288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Char char="✔"/>
            </a:pPr>
            <a:r>
              <a:rPr lang="en-US">
                <a:solidFill>
                  <a:schemeClr val="dk1"/>
                </a:solidFill>
              </a:rPr>
              <a:t>Sum all the ‘k’ data blocks.</a:t>
            </a:r>
            <a:endParaRPr/>
          </a:p>
          <a:p>
            <a:pPr indent="-182880" lvl="0" marL="18288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Char char="✔"/>
            </a:pPr>
            <a:r>
              <a:rPr lang="en-US">
                <a:solidFill>
                  <a:schemeClr val="dk1"/>
                </a:solidFill>
              </a:rPr>
              <a:t>Add the carry to the sum, if any.</a:t>
            </a:r>
            <a:endParaRPr/>
          </a:p>
          <a:p>
            <a:pPr indent="-182880" lvl="0" marL="18288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Char char="✔"/>
            </a:pPr>
            <a:r>
              <a:rPr lang="en-US">
                <a:solidFill>
                  <a:schemeClr val="dk1"/>
                </a:solidFill>
              </a:rPr>
              <a:t>Do 1’s complement to the sum 🡪 checksum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Checksum</a:t>
            </a:r>
            <a:endParaRPr/>
          </a:p>
        </p:txBody>
      </p:sp>
      <p:sp>
        <p:nvSpPr>
          <p:cNvPr id="198" name="Google Shape;198;p16"/>
          <p:cNvSpPr txBox="1"/>
          <p:nvPr>
            <p:ph idx="1" type="body"/>
          </p:nvPr>
        </p:nvSpPr>
        <p:spPr>
          <a:xfrm>
            <a:off x="3581144" y="796060"/>
            <a:ext cx="7383450" cy="349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800">
                <a:solidFill>
                  <a:schemeClr val="dk1"/>
                </a:solidFill>
              </a:rPr>
              <a:t>Original Message: </a:t>
            </a:r>
            <a:r>
              <a:rPr lang="en-US" sz="1800">
                <a:solidFill>
                  <a:schemeClr val="dk1"/>
                </a:solidFill>
              </a:rPr>
              <a:t>10011001111000100010010010000100</a:t>
            </a:r>
            <a:endParaRPr/>
          </a:p>
        </p:txBody>
      </p:sp>
      <p:graphicFrame>
        <p:nvGraphicFramePr>
          <p:cNvPr id="199" name="Google Shape;199;p16"/>
          <p:cNvGraphicFramePr/>
          <p:nvPr/>
        </p:nvGraphicFramePr>
        <p:xfrm>
          <a:off x="3543646" y="13354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{545DDF4C-F220-4EBA-B512-D119BC9370B0}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10011001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11100010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00100100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10000100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0" name="Google Shape;200;p16"/>
          <p:cNvGraphicFramePr/>
          <p:nvPr/>
        </p:nvGraphicFramePr>
        <p:xfrm>
          <a:off x="3807732" y="207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{545DDF4C-F220-4EBA-B512-D119BC9370B0}</a:tableStyleId>
              </a:tblPr>
              <a:tblGrid>
                <a:gridCol w="757775"/>
                <a:gridCol w="508875"/>
                <a:gridCol w="633325"/>
                <a:gridCol w="695950"/>
                <a:gridCol w="570700"/>
                <a:gridCol w="633325"/>
                <a:gridCol w="633325"/>
                <a:gridCol w="633325"/>
                <a:gridCol w="633325"/>
                <a:gridCol w="633325"/>
                <a:gridCol w="633325"/>
                <a:gridCol w="633325"/>
              </a:tblGrid>
              <a:tr h="370850"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0000"/>
                          </a:solidFill>
                        </a:rPr>
                        <a:t>Carry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70C0"/>
                          </a:solidFill>
                        </a:rPr>
                        <a:t>Sum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70C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70C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70C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70C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70C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70C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70C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70C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 gridSpan="10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Sum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B05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B05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B05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B05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B05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B05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B05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B05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002060"/>
                          </a:solidFill>
                        </a:rPr>
                        <a:t>Checksum(1’s complement)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206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206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206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206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206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206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206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206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01" name="Google Shape;201;p16"/>
          <p:cNvSpPr txBox="1"/>
          <p:nvPr/>
        </p:nvSpPr>
        <p:spPr>
          <a:xfrm>
            <a:off x="3402738" y="5522514"/>
            <a:ext cx="7383450" cy="349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Transmitted Message:</a:t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aphicFrame>
        <p:nvGraphicFramePr>
          <p:cNvPr id="202" name="Google Shape;202;p16"/>
          <p:cNvGraphicFramePr/>
          <p:nvPr/>
        </p:nvGraphicFramePr>
        <p:xfrm>
          <a:off x="5738502" y="54933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{545DDF4C-F220-4EBA-B512-D119BC9370B0}</a:tableStyleId>
              </a:tblPr>
              <a:tblGrid>
                <a:gridCol w="1340625"/>
                <a:gridCol w="1121550"/>
                <a:gridCol w="1157000"/>
                <a:gridCol w="1147675"/>
                <a:gridCol w="11663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7030A0"/>
                          </a:solidFill>
                        </a:rPr>
                        <a:t>Checksum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Original message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7030A0"/>
                          </a:solidFill>
                        </a:rPr>
                        <a:t>11011010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10011001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11100010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00100100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10000100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Checksum</a:t>
            </a:r>
            <a:endParaRPr/>
          </a:p>
        </p:txBody>
      </p:sp>
      <p:sp>
        <p:nvSpPr>
          <p:cNvPr id="208" name="Google Shape;208;p17"/>
          <p:cNvSpPr txBox="1"/>
          <p:nvPr>
            <p:ph idx="1" type="body"/>
          </p:nvPr>
        </p:nvSpPr>
        <p:spPr>
          <a:xfrm>
            <a:off x="4009227" y="1968759"/>
            <a:ext cx="7383450" cy="324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82880" lvl="0" marL="1828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❑"/>
            </a:pPr>
            <a:r>
              <a:rPr b="1" lang="en-US" sz="1800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Checksum Receiver Side</a:t>
            </a:r>
            <a:endParaRPr/>
          </a:p>
          <a:p>
            <a:pPr indent="-182880" lvl="0" marL="18288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Char char="✔"/>
            </a:pPr>
            <a:r>
              <a:rPr lang="en-US">
                <a:solidFill>
                  <a:schemeClr val="dk1"/>
                </a:solidFill>
              </a:rPr>
              <a:t>Collect all the data blocks including the checksum.</a:t>
            </a:r>
            <a:endParaRPr/>
          </a:p>
          <a:p>
            <a:pPr indent="-182880" lvl="0" marL="18288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Char char="✔"/>
            </a:pPr>
            <a:r>
              <a:rPr lang="en-US">
                <a:solidFill>
                  <a:schemeClr val="dk1"/>
                </a:solidFill>
              </a:rPr>
              <a:t>Sum all the data blocks and the checksum.</a:t>
            </a:r>
            <a:endParaRPr/>
          </a:p>
          <a:p>
            <a:pPr indent="-182880" lvl="0" marL="18288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Char char="✔"/>
            </a:pPr>
            <a:r>
              <a:rPr lang="en-US">
                <a:solidFill>
                  <a:schemeClr val="dk1"/>
                </a:solidFill>
              </a:rPr>
              <a:t>If the result is all 1’s accept; else reject.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Checksum</a:t>
            </a:r>
            <a:endParaRPr/>
          </a:p>
        </p:txBody>
      </p:sp>
      <p:sp>
        <p:nvSpPr>
          <p:cNvPr id="214" name="Google Shape;214;p18"/>
          <p:cNvSpPr txBox="1"/>
          <p:nvPr>
            <p:ph idx="1" type="body"/>
          </p:nvPr>
        </p:nvSpPr>
        <p:spPr>
          <a:xfrm>
            <a:off x="3581144" y="796060"/>
            <a:ext cx="7383450" cy="349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800">
                <a:solidFill>
                  <a:schemeClr val="dk1"/>
                </a:solidFill>
              </a:rPr>
              <a:t>Received Message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215" name="Google Shape;215;p18"/>
          <p:cNvGraphicFramePr/>
          <p:nvPr/>
        </p:nvGraphicFramePr>
        <p:xfrm>
          <a:off x="3543646" y="13354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{545DDF4C-F220-4EBA-B512-D119BC9370B0}</a:tableStyleId>
              </a:tblPr>
              <a:tblGrid>
                <a:gridCol w="1625600"/>
                <a:gridCol w="1625600"/>
                <a:gridCol w="1625600"/>
                <a:gridCol w="1625600"/>
                <a:gridCol w="1625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7030A0"/>
                          </a:solidFill>
                        </a:rPr>
                        <a:t>11011010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10011001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11100010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00100100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10000100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6" name="Google Shape;216;p18"/>
          <p:cNvGraphicFramePr/>
          <p:nvPr/>
        </p:nvGraphicFramePr>
        <p:xfrm>
          <a:off x="3807732" y="207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{545DDF4C-F220-4EBA-B512-D119BC9370B0}</a:tableStyleId>
              </a:tblPr>
              <a:tblGrid>
                <a:gridCol w="757775"/>
                <a:gridCol w="508875"/>
                <a:gridCol w="633325"/>
                <a:gridCol w="695950"/>
                <a:gridCol w="570700"/>
                <a:gridCol w="633325"/>
                <a:gridCol w="633325"/>
                <a:gridCol w="633325"/>
                <a:gridCol w="633325"/>
                <a:gridCol w="633325"/>
                <a:gridCol w="633325"/>
                <a:gridCol w="633325"/>
              </a:tblGrid>
              <a:tr h="370850">
                <a:tc gridSpan="4" row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5" hMerge="1"/>
                <a:tc rowSpan="5" hMerge="1"/>
                <a:tc rowSpan="5"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 gridSpan="4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 gridSpan="4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 gridSpan="4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 gridSpan="4" vMerge="1"/>
                <a:tc hMerge="1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7030A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7030A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7030A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7030A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7030A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7030A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7030A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7030A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0000"/>
                          </a:solidFill>
                        </a:rPr>
                        <a:t>Carry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70C0"/>
                          </a:solidFill>
                        </a:rPr>
                        <a:t>Sum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70C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70C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70C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70C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70C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70C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70C0"/>
                          </a:solidFill>
                        </a:rPr>
                        <a:t>0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70C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 gridSpan="10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Sum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B05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B05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B05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B05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B05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B05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B05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00B05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7" name="Google Shape;217;p18"/>
          <p:cNvSpPr txBox="1"/>
          <p:nvPr/>
        </p:nvSpPr>
        <p:spPr>
          <a:xfrm>
            <a:off x="3402738" y="5522514"/>
            <a:ext cx="7383450" cy="349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Performance of Checksum</a:t>
            </a:r>
            <a:endParaRPr/>
          </a:p>
        </p:txBody>
      </p:sp>
      <p:sp>
        <p:nvSpPr>
          <p:cNvPr id="223" name="Google Shape;223;p19"/>
          <p:cNvSpPr txBox="1"/>
          <p:nvPr>
            <p:ph idx="1" type="body"/>
          </p:nvPr>
        </p:nvSpPr>
        <p:spPr>
          <a:xfrm>
            <a:off x="4009227" y="1968759"/>
            <a:ext cx="7383450" cy="324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82880" lvl="0" marL="1828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✔"/>
            </a:pPr>
            <a:r>
              <a:rPr lang="en-US">
                <a:solidFill>
                  <a:schemeClr val="dk1"/>
                </a:solidFill>
              </a:rPr>
              <a:t>It can check both the single bit and burst errors.</a:t>
            </a:r>
            <a:endParaRPr/>
          </a:p>
          <a:p>
            <a:pPr indent="-182880" lvl="0" marL="18288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Char char="✔"/>
            </a:pPr>
            <a:r>
              <a:rPr lang="en-US">
                <a:solidFill>
                  <a:schemeClr val="dk1"/>
                </a:solidFill>
              </a:rPr>
              <a:t>If one more bits of a segment are damaged and the corresponding bit or bits value in a second segment are also damaged, the sum of those columns will not change and the receiver will not detect the errors.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Cyclic Redundancy Check (CRC)</a:t>
            </a:r>
            <a:endParaRPr/>
          </a:p>
        </p:txBody>
      </p:sp>
      <p:sp>
        <p:nvSpPr>
          <p:cNvPr id="229" name="Google Shape;229;p20"/>
          <p:cNvSpPr txBox="1"/>
          <p:nvPr>
            <p:ph idx="1" type="body"/>
          </p:nvPr>
        </p:nvSpPr>
        <p:spPr>
          <a:xfrm>
            <a:off x="4009227" y="1968759"/>
            <a:ext cx="7383450" cy="324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chemeClr val="dk1"/>
                </a:solidFill>
              </a:rPr>
              <a:t>Steps of CRC operation at sender side:</a:t>
            </a:r>
            <a:endParaRPr/>
          </a:p>
          <a:p>
            <a:pPr indent="-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orbel"/>
              <a:buAutoNum type="arabicPeriod"/>
            </a:pPr>
            <a:r>
              <a:rPr lang="en-US">
                <a:solidFill>
                  <a:schemeClr val="dk1"/>
                </a:solidFill>
              </a:rPr>
              <a:t>Find the length of the divisor ‘L’.</a:t>
            </a:r>
            <a:endParaRPr/>
          </a:p>
          <a:p>
            <a:pPr indent="-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orbel"/>
              <a:buAutoNum type="arabicPeriod"/>
            </a:pPr>
            <a:r>
              <a:rPr lang="en-US">
                <a:solidFill>
                  <a:schemeClr val="dk1"/>
                </a:solidFill>
              </a:rPr>
              <a:t>Append ‘L-1’ bits (0’s) to the original message.</a:t>
            </a:r>
            <a:endParaRPr/>
          </a:p>
          <a:p>
            <a:pPr indent="-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orbel"/>
              <a:buAutoNum type="arabicPeriod"/>
            </a:pPr>
            <a:r>
              <a:rPr lang="en-US">
                <a:solidFill>
                  <a:schemeClr val="dk1"/>
                </a:solidFill>
              </a:rPr>
              <a:t>Perform binary division operation.</a:t>
            </a:r>
            <a:endParaRPr/>
          </a:p>
          <a:p>
            <a:pPr indent="-457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orbel"/>
              <a:buAutoNum type="arabicPeriod"/>
            </a:pPr>
            <a:r>
              <a:rPr lang="en-US">
                <a:solidFill>
                  <a:schemeClr val="dk1"/>
                </a:solidFill>
              </a:rPr>
              <a:t>Remainder of the division = CRC.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Cyclic Redundancy Check (CRC)</a:t>
            </a:r>
            <a:endParaRPr/>
          </a:p>
        </p:txBody>
      </p:sp>
      <p:pic>
        <p:nvPicPr>
          <p:cNvPr id="235" name="Google Shape;2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9025" y="919162"/>
            <a:ext cx="4854575" cy="501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Cyclic Redundancy Check (CRC)</a:t>
            </a:r>
            <a:endParaRPr/>
          </a:p>
        </p:txBody>
      </p:sp>
      <p:pic>
        <p:nvPicPr>
          <p:cNvPr id="241" name="Google Shape;24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6080" y="1151922"/>
            <a:ext cx="7659687" cy="4545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Two Dimensional Parity Check</a:t>
            </a:r>
            <a:endParaRPr/>
          </a:p>
        </p:txBody>
      </p:sp>
      <p:pic>
        <p:nvPicPr>
          <p:cNvPr id="247" name="Google Shape;2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5257" y="1871853"/>
            <a:ext cx="4387850" cy="31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Two Dimensional Parity Check</a:t>
            </a:r>
            <a:endParaRPr/>
          </a:p>
        </p:txBody>
      </p:sp>
      <p:pic>
        <p:nvPicPr>
          <p:cNvPr id="253" name="Google Shape;2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4900" y="2003615"/>
            <a:ext cx="7971712" cy="284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"/>
          <p:cNvSpPr txBox="1"/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</a:pPr>
            <a:r>
              <a:rPr lang="en-US"/>
              <a:t>Two Dimensional Parity Check</a:t>
            </a:r>
            <a:endParaRPr/>
          </a:p>
        </p:txBody>
      </p:sp>
      <p:pic>
        <p:nvPicPr>
          <p:cNvPr id="259" name="Google Shape;2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8229" y="2004409"/>
            <a:ext cx="7744408" cy="2840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2020-12-17T11:47:31Z</dcterms:created>
  <dc:creator>Mahedy Hasan</dc:creator>
</cp:coreProperties>
</file>