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319" r:id="rId2"/>
    <p:sldId id="320" r:id="rId3"/>
    <p:sldId id="327" r:id="rId4"/>
    <p:sldId id="326" r:id="rId5"/>
    <p:sldId id="329" r:id="rId6"/>
    <p:sldId id="330" r:id="rId7"/>
    <p:sldId id="321" r:id="rId8"/>
    <p:sldId id="322" r:id="rId9"/>
    <p:sldId id="323" r:id="rId10"/>
    <p:sldId id="328" r:id="rId11"/>
    <p:sldId id="331" r:id="rId12"/>
    <p:sldId id="324" r:id="rId13"/>
    <p:sldId id="325" r:id="rId14"/>
    <p:sldId id="332" r:id="rId15"/>
    <p:sldId id="333" r:id="rId16"/>
    <p:sldId id="334" r:id="rId17"/>
    <p:sldId id="335" r:id="rId18"/>
    <p:sldId id="336" r:id="rId19"/>
    <p:sldId id="337" r:id="rId20"/>
    <p:sldId id="687" r:id="rId21"/>
    <p:sldId id="730" r:id="rId22"/>
    <p:sldId id="731" r:id="rId23"/>
    <p:sldId id="702" r:id="rId24"/>
    <p:sldId id="723" r:id="rId25"/>
    <p:sldId id="726" r:id="rId26"/>
    <p:sldId id="727" r:id="rId27"/>
    <p:sldId id="724" r:id="rId28"/>
    <p:sldId id="728" r:id="rId29"/>
    <p:sldId id="725" r:id="rId30"/>
    <p:sldId id="729"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82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C61DDF-8EE6-4298-9BF3-4265269789E7}" type="datetimeFigureOut">
              <a:rPr lang="en-US" smtClean="0"/>
              <a:t>10/8/2025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AD9DE7-600C-4728-8C9E-7E81410FC634}" type="slidenum">
              <a:rPr lang="en-US" smtClean="0"/>
              <a:t>‹#›</a:t>
            </a:fld>
            <a:endParaRPr lang="en-US"/>
          </a:p>
        </p:txBody>
      </p:sp>
    </p:spTree>
    <p:extLst>
      <p:ext uri="{BB962C8B-B14F-4D97-AF65-F5344CB8AC3E}">
        <p14:creationId xmlns:p14="http://schemas.microsoft.com/office/powerpoint/2010/main" val="40643622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2D0D7A-E55C-460F-B6E0-3821F3A7EEA4}" type="slidenum">
              <a:rPr lang="en-US" smtClean="0"/>
              <a:t>1</a:t>
            </a:fld>
            <a:endParaRPr lang="en-US"/>
          </a:p>
        </p:txBody>
      </p:sp>
    </p:spTree>
    <p:extLst>
      <p:ext uri="{BB962C8B-B14F-4D97-AF65-F5344CB8AC3E}">
        <p14:creationId xmlns:p14="http://schemas.microsoft.com/office/powerpoint/2010/main" val="919201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2D0D7A-E55C-460F-B6E0-3821F3A7EEA4}" type="slidenum">
              <a:rPr lang="en-US" smtClean="0"/>
              <a:t>2</a:t>
            </a:fld>
            <a:endParaRPr lang="en-US"/>
          </a:p>
        </p:txBody>
      </p:sp>
    </p:spTree>
    <p:extLst>
      <p:ext uri="{BB962C8B-B14F-4D97-AF65-F5344CB8AC3E}">
        <p14:creationId xmlns:p14="http://schemas.microsoft.com/office/powerpoint/2010/main" val="31192436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2D0D7A-E55C-460F-B6E0-3821F3A7EEA4}" type="slidenum">
              <a:rPr lang="en-US" smtClean="0"/>
              <a:t>3</a:t>
            </a:fld>
            <a:endParaRPr lang="en-US"/>
          </a:p>
        </p:txBody>
      </p:sp>
    </p:spTree>
    <p:extLst>
      <p:ext uri="{BB962C8B-B14F-4D97-AF65-F5344CB8AC3E}">
        <p14:creationId xmlns:p14="http://schemas.microsoft.com/office/powerpoint/2010/main" val="29516979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2D0D7A-E55C-460F-B6E0-3821F3A7EEA4}" type="slidenum">
              <a:rPr lang="en-US" smtClean="0"/>
              <a:t>4</a:t>
            </a:fld>
            <a:endParaRPr lang="en-US"/>
          </a:p>
        </p:txBody>
      </p:sp>
    </p:spTree>
    <p:extLst>
      <p:ext uri="{BB962C8B-B14F-4D97-AF65-F5344CB8AC3E}">
        <p14:creationId xmlns:p14="http://schemas.microsoft.com/office/powerpoint/2010/main" val="38392492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2D0D7A-E55C-460F-B6E0-3821F3A7EEA4}" type="slidenum">
              <a:rPr lang="en-US" smtClean="0"/>
              <a:t>5</a:t>
            </a:fld>
            <a:endParaRPr lang="en-US"/>
          </a:p>
        </p:txBody>
      </p:sp>
    </p:spTree>
    <p:extLst>
      <p:ext uri="{BB962C8B-B14F-4D97-AF65-F5344CB8AC3E}">
        <p14:creationId xmlns:p14="http://schemas.microsoft.com/office/powerpoint/2010/main" val="18454149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2D0D7A-E55C-460F-B6E0-3821F3A7EEA4}" type="slidenum">
              <a:rPr lang="en-US" smtClean="0"/>
              <a:t>6</a:t>
            </a:fld>
            <a:endParaRPr lang="en-US"/>
          </a:p>
        </p:txBody>
      </p:sp>
    </p:spTree>
    <p:extLst>
      <p:ext uri="{BB962C8B-B14F-4D97-AF65-F5344CB8AC3E}">
        <p14:creationId xmlns:p14="http://schemas.microsoft.com/office/powerpoint/2010/main" val="5673455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2D0D7A-E55C-460F-B6E0-3821F3A7EEA4}" type="slidenum">
              <a:rPr lang="en-US" smtClean="0"/>
              <a:t>7</a:t>
            </a:fld>
            <a:endParaRPr lang="en-US"/>
          </a:p>
        </p:txBody>
      </p:sp>
    </p:spTree>
    <p:extLst>
      <p:ext uri="{BB962C8B-B14F-4D97-AF65-F5344CB8AC3E}">
        <p14:creationId xmlns:p14="http://schemas.microsoft.com/office/powerpoint/2010/main" val="39469643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2D0D7A-E55C-460F-B6E0-3821F3A7EEA4}" type="slidenum">
              <a:rPr lang="en-US" smtClean="0"/>
              <a:t>8</a:t>
            </a:fld>
            <a:endParaRPr lang="en-US"/>
          </a:p>
        </p:txBody>
      </p:sp>
    </p:spTree>
    <p:extLst>
      <p:ext uri="{BB962C8B-B14F-4D97-AF65-F5344CB8AC3E}">
        <p14:creationId xmlns:p14="http://schemas.microsoft.com/office/powerpoint/2010/main" val="6625825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2D0D7A-E55C-460F-B6E0-3821F3A7EEA4}" type="slidenum">
              <a:rPr lang="en-US" smtClean="0"/>
              <a:t>9</a:t>
            </a:fld>
            <a:endParaRPr lang="en-US"/>
          </a:p>
        </p:txBody>
      </p:sp>
    </p:spTree>
    <p:extLst>
      <p:ext uri="{BB962C8B-B14F-4D97-AF65-F5344CB8AC3E}">
        <p14:creationId xmlns:p14="http://schemas.microsoft.com/office/powerpoint/2010/main" val="27208466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2D0D7A-E55C-460F-B6E0-3821F3A7EEA4}" type="slidenum">
              <a:rPr lang="en-US" smtClean="0"/>
              <a:t>10</a:t>
            </a:fld>
            <a:endParaRPr lang="en-US"/>
          </a:p>
        </p:txBody>
      </p:sp>
    </p:spTree>
    <p:extLst>
      <p:ext uri="{BB962C8B-B14F-4D97-AF65-F5344CB8AC3E}">
        <p14:creationId xmlns:p14="http://schemas.microsoft.com/office/powerpoint/2010/main" val="17922147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2D0D7A-E55C-460F-B6E0-3821F3A7EEA4}" type="slidenum">
              <a:rPr lang="en-US" smtClean="0"/>
              <a:t>11</a:t>
            </a:fld>
            <a:endParaRPr lang="en-US"/>
          </a:p>
        </p:txBody>
      </p:sp>
    </p:spTree>
    <p:extLst>
      <p:ext uri="{BB962C8B-B14F-4D97-AF65-F5344CB8AC3E}">
        <p14:creationId xmlns:p14="http://schemas.microsoft.com/office/powerpoint/2010/main" val="31794569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2D0D7A-E55C-460F-B6E0-3821F3A7EEA4}" type="slidenum">
              <a:rPr lang="en-US" smtClean="0"/>
              <a:t>12</a:t>
            </a:fld>
            <a:endParaRPr lang="en-US"/>
          </a:p>
        </p:txBody>
      </p:sp>
    </p:spTree>
    <p:extLst>
      <p:ext uri="{BB962C8B-B14F-4D97-AF65-F5344CB8AC3E}">
        <p14:creationId xmlns:p14="http://schemas.microsoft.com/office/powerpoint/2010/main" val="33094221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2D0D7A-E55C-460F-B6E0-3821F3A7EEA4}" type="slidenum">
              <a:rPr lang="en-US" smtClean="0"/>
              <a:t>13</a:t>
            </a:fld>
            <a:endParaRPr lang="en-US"/>
          </a:p>
        </p:txBody>
      </p:sp>
    </p:spTree>
    <p:extLst>
      <p:ext uri="{BB962C8B-B14F-4D97-AF65-F5344CB8AC3E}">
        <p14:creationId xmlns:p14="http://schemas.microsoft.com/office/powerpoint/2010/main" val="7346493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2D0D7A-E55C-460F-B6E0-3821F3A7EEA4}" type="slidenum">
              <a:rPr lang="en-US" smtClean="0"/>
              <a:t>14</a:t>
            </a:fld>
            <a:endParaRPr lang="en-US"/>
          </a:p>
        </p:txBody>
      </p:sp>
    </p:spTree>
    <p:extLst>
      <p:ext uri="{BB962C8B-B14F-4D97-AF65-F5344CB8AC3E}">
        <p14:creationId xmlns:p14="http://schemas.microsoft.com/office/powerpoint/2010/main" val="16901271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2D0D7A-E55C-460F-B6E0-3821F3A7EEA4}" type="slidenum">
              <a:rPr lang="en-US" smtClean="0"/>
              <a:t>15</a:t>
            </a:fld>
            <a:endParaRPr lang="en-US"/>
          </a:p>
        </p:txBody>
      </p:sp>
    </p:spTree>
    <p:extLst>
      <p:ext uri="{BB962C8B-B14F-4D97-AF65-F5344CB8AC3E}">
        <p14:creationId xmlns:p14="http://schemas.microsoft.com/office/powerpoint/2010/main" val="6054375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2D0D7A-E55C-460F-B6E0-3821F3A7EEA4}" type="slidenum">
              <a:rPr lang="en-US" smtClean="0"/>
              <a:t>16</a:t>
            </a:fld>
            <a:endParaRPr lang="en-US"/>
          </a:p>
        </p:txBody>
      </p:sp>
    </p:spTree>
    <p:extLst>
      <p:ext uri="{BB962C8B-B14F-4D97-AF65-F5344CB8AC3E}">
        <p14:creationId xmlns:p14="http://schemas.microsoft.com/office/powerpoint/2010/main" val="10681373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2D0D7A-E55C-460F-B6E0-3821F3A7EEA4}" type="slidenum">
              <a:rPr lang="en-US" smtClean="0"/>
              <a:t>17</a:t>
            </a:fld>
            <a:endParaRPr lang="en-US"/>
          </a:p>
        </p:txBody>
      </p:sp>
    </p:spTree>
    <p:extLst>
      <p:ext uri="{BB962C8B-B14F-4D97-AF65-F5344CB8AC3E}">
        <p14:creationId xmlns:p14="http://schemas.microsoft.com/office/powerpoint/2010/main" val="4393496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2D0D7A-E55C-460F-B6E0-3821F3A7EEA4}" type="slidenum">
              <a:rPr lang="en-US" smtClean="0"/>
              <a:t>18</a:t>
            </a:fld>
            <a:endParaRPr lang="en-US"/>
          </a:p>
        </p:txBody>
      </p:sp>
    </p:spTree>
    <p:extLst>
      <p:ext uri="{BB962C8B-B14F-4D97-AF65-F5344CB8AC3E}">
        <p14:creationId xmlns:p14="http://schemas.microsoft.com/office/powerpoint/2010/main" val="34351524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2D0D7A-E55C-460F-B6E0-3821F3A7EEA4}" type="slidenum">
              <a:rPr lang="en-US" smtClean="0"/>
              <a:t>19</a:t>
            </a:fld>
            <a:endParaRPr lang="en-US"/>
          </a:p>
        </p:txBody>
      </p:sp>
    </p:spTree>
    <p:extLst>
      <p:ext uri="{BB962C8B-B14F-4D97-AF65-F5344CB8AC3E}">
        <p14:creationId xmlns:p14="http://schemas.microsoft.com/office/powerpoint/2010/main" val="37059323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62" name="Rectangle 2">
            <a:extLst>
              <a:ext uri="{FF2B5EF4-FFF2-40B4-BE49-F238E27FC236}">
                <a16:creationId xmlns:a16="http://schemas.microsoft.com/office/drawing/2014/main" id="{D392AA4F-2532-4590-38D9-BAC3DBD7BE86}"/>
              </a:ext>
            </a:extLst>
          </p:cNvPr>
          <p:cNvSpPr>
            <a:spLocks noGrp="1" noRot="1" noChangeAspect="1" noChangeArrowheads="1" noTextEdit="1"/>
          </p:cNvSpPr>
          <p:nvPr>
            <p:ph type="sldImg"/>
          </p:nvPr>
        </p:nvSpPr>
        <p:spPr>
          <a:ln/>
        </p:spPr>
      </p:sp>
      <p:sp>
        <p:nvSpPr>
          <p:cNvPr id="860163" name="Rectangle 3">
            <a:extLst>
              <a:ext uri="{FF2B5EF4-FFF2-40B4-BE49-F238E27FC236}">
                <a16:creationId xmlns:a16="http://schemas.microsoft.com/office/drawing/2014/main" id="{CE423CAF-FF3A-7BF6-6560-957906FFBB91}"/>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62" name="Rectangle 2">
            <a:extLst>
              <a:ext uri="{FF2B5EF4-FFF2-40B4-BE49-F238E27FC236}">
                <a16:creationId xmlns:a16="http://schemas.microsoft.com/office/drawing/2014/main" id="{D392AA4F-2532-4590-38D9-BAC3DBD7BE86}"/>
              </a:ext>
            </a:extLst>
          </p:cNvPr>
          <p:cNvSpPr>
            <a:spLocks noGrp="1" noRot="1" noChangeAspect="1" noChangeArrowheads="1" noTextEdit="1"/>
          </p:cNvSpPr>
          <p:nvPr>
            <p:ph type="sldImg"/>
          </p:nvPr>
        </p:nvSpPr>
        <p:spPr>
          <a:ln/>
        </p:spPr>
      </p:sp>
      <p:sp>
        <p:nvSpPr>
          <p:cNvPr id="860163" name="Rectangle 3">
            <a:extLst>
              <a:ext uri="{FF2B5EF4-FFF2-40B4-BE49-F238E27FC236}">
                <a16:creationId xmlns:a16="http://schemas.microsoft.com/office/drawing/2014/main" id="{CE423CAF-FF3A-7BF6-6560-957906FFBB91}"/>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296066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62" name="Rectangle 2">
            <a:extLst>
              <a:ext uri="{FF2B5EF4-FFF2-40B4-BE49-F238E27FC236}">
                <a16:creationId xmlns:a16="http://schemas.microsoft.com/office/drawing/2014/main" id="{D392AA4F-2532-4590-38D9-BAC3DBD7BE86}"/>
              </a:ext>
            </a:extLst>
          </p:cNvPr>
          <p:cNvSpPr>
            <a:spLocks noGrp="1" noRot="1" noChangeAspect="1" noChangeArrowheads="1" noTextEdit="1"/>
          </p:cNvSpPr>
          <p:nvPr>
            <p:ph type="sldImg"/>
          </p:nvPr>
        </p:nvSpPr>
        <p:spPr>
          <a:ln/>
        </p:spPr>
      </p:sp>
      <p:sp>
        <p:nvSpPr>
          <p:cNvPr id="860163" name="Rectangle 3">
            <a:extLst>
              <a:ext uri="{FF2B5EF4-FFF2-40B4-BE49-F238E27FC236}">
                <a16:creationId xmlns:a16="http://schemas.microsoft.com/office/drawing/2014/main" id="{CE423CAF-FF3A-7BF6-6560-957906FFBB91}"/>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9870926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1186" name="Rectangle 2">
            <a:extLst>
              <a:ext uri="{FF2B5EF4-FFF2-40B4-BE49-F238E27FC236}">
                <a16:creationId xmlns:a16="http://schemas.microsoft.com/office/drawing/2014/main" id="{59D70F09-3B25-342D-0789-1B2C78BDED9F}"/>
              </a:ext>
            </a:extLst>
          </p:cNvPr>
          <p:cNvSpPr>
            <a:spLocks noGrp="1" noRot="1" noChangeAspect="1" noChangeArrowheads="1" noTextEdit="1"/>
          </p:cNvSpPr>
          <p:nvPr>
            <p:ph type="sldImg"/>
          </p:nvPr>
        </p:nvSpPr>
        <p:spPr>
          <a:ln/>
        </p:spPr>
      </p:sp>
      <p:sp>
        <p:nvSpPr>
          <p:cNvPr id="861187" name="Rectangle 3">
            <a:extLst>
              <a:ext uri="{FF2B5EF4-FFF2-40B4-BE49-F238E27FC236}">
                <a16:creationId xmlns:a16="http://schemas.microsoft.com/office/drawing/2014/main" id="{9220695E-045F-C80F-5DC3-3922061240C4}"/>
              </a:ext>
            </a:extLst>
          </p:cNvPr>
          <p:cNvSpPr>
            <a:spLocks noGrp="1" noChangeArrowheads="1"/>
          </p:cNvSpPr>
          <p:nvPr>
            <p:ph type="body" idx="1"/>
          </p:nvPr>
        </p:nvSpPr>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59D1B-CA52-04C6-D68A-441B81ABD2D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D6B4D3F-91E5-3A59-8146-718EE3A8E3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EA12C9F-AF44-BF85-2E6D-394274585CDC}"/>
              </a:ext>
            </a:extLst>
          </p:cNvPr>
          <p:cNvSpPr>
            <a:spLocks noGrp="1"/>
          </p:cNvSpPr>
          <p:nvPr>
            <p:ph type="dt" sz="half" idx="10"/>
          </p:nvPr>
        </p:nvSpPr>
        <p:spPr/>
        <p:txBody>
          <a:bodyPr/>
          <a:lstStyle/>
          <a:p>
            <a:fld id="{66470B92-307B-410B-9AEE-25B466B025ED}" type="datetimeFigureOut">
              <a:rPr lang="en-US" smtClean="0"/>
              <a:t>10/8/2025</a:t>
            </a:fld>
            <a:endParaRPr lang="en-US"/>
          </a:p>
        </p:txBody>
      </p:sp>
      <p:sp>
        <p:nvSpPr>
          <p:cNvPr id="5" name="Footer Placeholder 4">
            <a:extLst>
              <a:ext uri="{FF2B5EF4-FFF2-40B4-BE49-F238E27FC236}">
                <a16:creationId xmlns:a16="http://schemas.microsoft.com/office/drawing/2014/main" id="{2C56A0C6-1449-2D38-5661-439CCF9A96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7474EE-8011-75DE-D677-850127DD8E4B}"/>
              </a:ext>
            </a:extLst>
          </p:cNvPr>
          <p:cNvSpPr>
            <a:spLocks noGrp="1"/>
          </p:cNvSpPr>
          <p:nvPr>
            <p:ph type="sldNum" sz="quarter" idx="12"/>
          </p:nvPr>
        </p:nvSpPr>
        <p:spPr/>
        <p:txBody>
          <a:bodyPr/>
          <a:lstStyle/>
          <a:p>
            <a:fld id="{FD896031-8FBD-41CC-A252-169958F8CE50}" type="slidenum">
              <a:rPr lang="en-US" smtClean="0"/>
              <a:t>‹#›</a:t>
            </a:fld>
            <a:endParaRPr lang="en-US"/>
          </a:p>
        </p:txBody>
      </p:sp>
    </p:spTree>
    <p:extLst>
      <p:ext uri="{BB962C8B-B14F-4D97-AF65-F5344CB8AC3E}">
        <p14:creationId xmlns:p14="http://schemas.microsoft.com/office/powerpoint/2010/main" val="2075111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46704-34D3-ED5A-39E5-88CDED94102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E7EE44F-5F37-CCD6-55AA-0A6BF70F56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2F4271-EA68-6244-7A7F-7D656A37035D}"/>
              </a:ext>
            </a:extLst>
          </p:cNvPr>
          <p:cNvSpPr>
            <a:spLocks noGrp="1"/>
          </p:cNvSpPr>
          <p:nvPr>
            <p:ph type="dt" sz="half" idx="10"/>
          </p:nvPr>
        </p:nvSpPr>
        <p:spPr/>
        <p:txBody>
          <a:bodyPr/>
          <a:lstStyle/>
          <a:p>
            <a:fld id="{66470B92-307B-410B-9AEE-25B466B025ED}" type="datetimeFigureOut">
              <a:rPr lang="en-US" smtClean="0"/>
              <a:t>10/8/2025</a:t>
            </a:fld>
            <a:endParaRPr lang="en-US"/>
          </a:p>
        </p:txBody>
      </p:sp>
      <p:sp>
        <p:nvSpPr>
          <p:cNvPr id="5" name="Footer Placeholder 4">
            <a:extLst>
              <a:ext uri="{FF2B5EF4-FFF2-40B4-BE49-F238E27FC236}">
                <a16:creationId xmlns:a16="http://schemas.microsoft.com/office/drawing/2014/main" id="{BC17AAE2-4A69-A2D5-5B1B-2CD5FFA945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2EC82F-176F-78AA-6A0E-C76C86B12A32}"/>
              </a:ext>
            </a:extLst>
          </p:cNvPr>
          <p:cNvSpPr>
            <a:spLocks noGrp="1"/>
          </p:cNvSpPr>
          <p:nvPr>
            <p:ph type="sldNum" sz="quarter" idx="12"/>
          </p:nvPr>
        </p:nvSpPr>
        <p:spPr/>
        <p:txBody>
          <a:bodyPr/>
          <a:lstStyle/>
          <a:p>
            <a:fld id="{FD896031-8FBD-41CC-A252-169958F8CE50}" type="slidenum">
              <a:rPr lang="en-US" smtClean="0"/>
              <a:t>‹#›</a:t>
            </a:fld>
            <a:endParaRPr lang="en-US"/>
          </a:p>
        </p:txBody>
      </p:sp>
    </p:spTree>
    <p:extLst>
      <p:ext uri="{BB962C8B-B14F-4D97-AF65-F5344CB8AC3E}">
        <p14:creationId xmlns:p14="http://schemas.microsoft.com/office/powerpoint/2010/main" val="2648998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A693D-4F6A-1445-2667-2B9C376B31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04EE7E-C14A-B915-7092-8B66294641C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4D7C9DF-D7E7-6A0C-B65F-4422D5D28FDA}"/>
              </a:ext>
            </a:extLst>
          </p:cNvPr>
          <p:cNvSpPr>
            <a:spLocks noGrp="1"/>
          </p:cNvSpPr>
          <p:nvPr>
            <p:ph type="dt" sz="half" idx="10"/>
          </p:nvPr>
        </p:nvSpPr>
        <p:spPr/>
        <p:txBody>
          <a:bodyPr/>
          <a:lstStyle/>
          <a:p>
            <a:fld id="{66470B92-307B-410B-9AEE-25B466B025ED}" type="datetimeFigureOut">
              <a:rPr lang="en-US" smtClean="0"/>
              <a:t>10/8/2025</a:t>
            </a:fld>
            <a:endParaRPr lang="en-US"/>
          </a:p>
        </p:txBody>
      </p:sp>
      <p:sp>
        <p:nvSpPr>
          <p:cNvPr id="5" name="Footer Placeholder 4">
            <a:extLst>
              <a:ext uri="{FF2B5EF4-FFF2-40B4-BE49-F238E27FC236}">
                <a16:creationId xmlns:a16="http://schemas.microsoft.com/office/drawing/2014/main" id="{D205A7C9-7FA5-9BF6-2780-626AEEED02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0DB9A8-F998-225E-D907-A99CCCB58017}"/>
              </a:ext>
            </a:extLst>
          </p:cNvPr>
          <p:cNvSpPr>
            <a:spLocks noGrp="1"/>
          </p:cNvSpPr>
          <p:nvPr>
            <p:ph type="sldNum" sz="quarter" idx="12"/>
          </p:nvPr>
        </p:nvSpPr>
        <p:spPr/>
        <p:txBody>
          <a:bodyPr/>
          <a:lstStyle/>
          <a:p>
            <a:fld id="{FD896031-8FBD-41CC-A252-169958F8CE50}" type="slidenum">
              <a:rPr lang="en-US" smtClean="0"/>
              <a:t>‹#›</a:t>
            </a:fld>
            <a:endParaRPr lang="en-US"/>
          </a:p>
        </p:txBody>
      </p:sp>
    </p:spTree>
    <p:extLst>
      <p:ext uri="{BB962C8B-B14F-4D97-AF65-F5344CB8AC3E}">
        <p14:creationId xmlns:p14="http://schemas.microsoft.com/office/powerpoint/2010/main" val="4778706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D6B78-1937-BDE3-4957-77F5A559F75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E6DD612-46E7-E642-8F67-2BF03F655E0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A5EC461-DB2B-4367-D3CC-1CC2AECD965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1C9225F-BC60-35D9-B0FA-33487298070C}"/>
              </a:ext>
            </a:extLst>
          </p:cNvPr>
          <p:cNvSpPr>
            <a:spLocks noGrp="1"/>
          </p:cNvSpPr>
          <p:nvPr>
            <p:ph type="dt" sz="half" idx="10"/>
          </p:nvPr>
        </p:nvSpPr>
        <p:spPr/>
        <p:txBody>
          <a:bodyPr/>
          <a:lstStyle/>
          <a:p>
            <a:fld id="{66470B92-307B-410B-9AEE-25B466B025ED}" type="datetimeFigureOut">
              <a:rPr lang="en-US" smtClean="0"/>
              <a:t>10/8/2025</a:t>
            </a:fld>
            <a:endParaRPr lang="en-US"/>
          </a:p>
        </p:txBody>
      </p:sp>
      <p:sp>
        <p:nvSpPr>
          <p:cNvPr id="6" name="Footer Placeholder 5">
            <a:extLst>
              <a:ext uri="{FF2B5EF4-FFF2-40B4-BE49-F238E27FC236}">
                <a16:creationId xmlns:a16="http://schemas.microsoft.com/office/drawing/2014/main" id="{43F4A4A7-B965-8C27-6FE1-0D5A4D7A4D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9D4786-81B7-10F5-EF0A-CBC71BE73D87}"/>
              </a:ext>
            </a:extLst>
          </p:cNvPr>
          <p:cNvSpPr>
            <a:spLocks noGrp="1"/>
          </p:cNvSpPr>
          <p:nvPr>
            <p:ph type="sldNum" sz="quarter" idx="12"/>
          </p:nvPr>
        </p:nvSpPr>
        <p:spPr/>
        <p:txBody>
          <a:bodyPr/>
          <a:lstStyle/>
          <a:p>
            <a:fld id="{FD896031-8FBD-41CC-A252-169958F8CE50}" type="slidenum">
              <a:rPr lang="en-US" smtClean="0"/>
              <a:t>‹#›</a:t>
            </a:fld>
            <a:endParaRPr lang="en-US"/>
          </a:p>
        </p:txBody>
      </p:sp>
    </p:spTree>
    <p:extLst>
      <p:ext uri="{BB962C8B-B14F-4D97-AF65-F5344CB8AC3E}">
        <p14:creationId xmlns:p14="http://schemas.microsoft.com/office/powerpoint/2010/main" val="27363468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2790F-3563-D9F1-CD44-1F384616D1F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AA1D94-D146-0A0E-9E5E-0EBCFB3EA7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096F38-07D0-2EE8-7F37-1227A5B44C5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B56D77-38BA-D3AA-7BFD-6BAFC97BC3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29B44E-DF7E-91F9-FCCF-6DA1B4C09CA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1D98713-C139-3BB2-B272-9FE7811D5119}"/>
              </a:ext>
            </a:extLst>
          </p:cNvPr>
          <p:cNvSpPr>
            <a:spLocks noGrp="1"/>
          </p:cNvSpPr>
          <p:nvPr>
            <p:ph type="dt" sz="half" idx="10"/>
          </p:nvPr>
        </p:nvSpPr>
        <p:spPr/>
        <p:txBody>
          <a:bodyPr/>
          <a:lstStyle/>
          <a:p>
            <a:fld id="{66470B92-307B-410B-9AEE-25B466B025ED}" type="datetimeFigureOut">
              <a:rPr lang="en-US" smtClean="0"/>
              <a:t>10/8/2025</a:t>
            </a:fld>
            <a:endParaRPr lang="en-US"/>
          </a:p>
        </p:txBody>
      </p:sp>
      <p:sp>
        <p:nvSpPr>
          <p:cNvPr id="8" name="Footer Placeholder 7">
            <a:extLst>
              <a:ext uri="{FF2B5EF4-FFF2-40B4-BE49-F238E27FC236}">
                <a16:creationId xmlns:a16="http://schemas.microsoft.com/office/drawing/2014/main" id="{B046F41C-0558-E432-3DDF-29C8DBA069E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70A3112-AB77-0A34-7BCB-BF4BE5E12F13}"/>
              </a:ext>
            </a:extLst>
          </p:cNvPr>
          <p:cNvSpPr>
            <a:spLocks noGrp="1"/>
          </p:cNvSpPr>
          <p:nvPr>
            <p:ph type="sldNum" sz="quarter" idx="12"/>
          </p:nvPr>
        </p:nvSpPr>
        <p:spPr/>
        <p:txBody>
          <a:bodyPr/>
          <a:lstStyle/>
          <a:p>
            <a:fld id="{FD896031-8FBD-41CC-A252-169958F8CE50}" type="slidenum">
              <a:rPr lang="en-US" smtClean="0"/>
              <a:t>‹#›</a:t>
            </a:fld>
            <a:endParaRPr lang="en-US"/>
          </a:p>
        </p:txBody>
      </p:sp>
    </p:spTree>
    <p:extLst>
      <p:ext uri="{BB962C8B-B14F-4D97-AF65-F5344CB8AC3E}">
        <p14:creationId xmlns:p14="http://schemas.microsoft.com/office/powerpoint/2010/main" val="28539217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655BE-1C22-A75E-B1B1-3E2F50F9742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992AB2D-8767-D5BA-4650-B52CD479BFD5}"/>
              </a:ext>
            </a:extLst>
          </p:cNvPr>
          <p:cNvSpPr>
            <a:spLocks noGrp="1"/>
          </p:cNvSpPr>
          <p:nvPr>
            <p:ph type="dt" sz="half" idx="10"/>
          </p:nvPr>
        </p:nvSpPr>
        <p:spPr/>
        <p:txBody>
          <a:bodyPr/>
          <a:lstStyle/>
          <a:p>
            <a:fld id="{66470B92-307B-410B-9AEE-25B466B025ED}" type="datetimeFigureOut">
              <a:rPr lang="en-US" smtClean="0"/>
              <a:t>10/8/2025</a:t>
            </a:fld>
            <a:endParaRPr lang="en-US"/>
          </a:p>
        </p:txBody>
      </p:sp>
      <p:sp>
        <p:nvSpPr>
          <p:cNvPr id="4" name="Footer Placeholder 3">
            <a:extLst>
              <a:ext uri="{FF2B5EF4-FFF2-40B4-BE49-F238E27FC236}">
                <a16:creationId xmlns:a16="http://schemas.microsoft.com/office/drawing/2014/main" id="{F5E112F5-39E3-37F0-7372-2F38ACBCA5E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A58BF09-7004-0BD9-31DF-1F797CD626C6}"/>
              </a:ext>
            </a:extLst>
          </p:cNvPr>
          <p:cNvSpPr>
            <a:spLocks noGrp="1"/>
          </p:cNvSpPr>
          <p:nvPr>
            <p:ph type="sldNum" sz="quarter" idx="12"/>
          </p:nvPr>
        </p:nvSpPr>
        <p:spPr/>
        <p:txBody>
          <a:bodyPr/>
          <a:lstStyle/>
          <a:p>
            <a:fld id="{FD896031-8FBD-41CC-A252-169958F8CE50}" type="slidenum">
              <a:rPr lang="en-US" smtClean="0"/>
              <a:t>‹#›</a:t>
            </a:fld>
            <a:endParaRPr lang="en-US"/>
          </a:p>
        </p:txBody>
      </p:sp>
    </p:spTree>
    <p:extLst>
      <p:ext uri="{BB962C8B-B14F-4D97-AF65-F5344CB8AC3E}">
        <p14:creationId xmlns:p14="http://schemas.microsoft.com/office/powerpoint/2010/main" val="10318239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C0BC46-94D6-ADA7-E85F-DC67169CA769}"/>
              </a:ext>
            </a:extLst>
          </p:cNvPr>
          <p:cNvSpPr>
            <a:spLocks noGrp="1"/>
          </p:cNvSpPr>
          <p:nvPr>
            <p:ph type="dt" sz="half" idx="10"/>
          </p:nvPr>
        </p:nvSpPr>
        <p:spPr/>
        <p:txBody>
          <a:bodyPr/>
          <a:lstStyle/>
          <a:p>
            <a:fld id="{66470B92-307B-410B-9AEE-25B466B025ED}" type="datetimeFigureOut">
              <a:rPr lang="en-US" smtClean="0"/>
              <a:t>10/8/2025</a:t>
            </a:fld>
            <a:endParaRPr lang="en-US"/>
          </a:p>
        </p:txBody>
      </p:sp>
      <p:sp>
        <p:nvSpPr>
          <p:cNvPr id="3" name="Footer Placeholder 2">
            <a:extLst>
              <a:ext uri="{FF2B5EF4-FFF2-40B4-BE49-F238E27FC236}">
                <a16:creationId xmlns:a16="http://schemas.microsoft.com/office/drawing/2014/main" id="{BD93653F-6B58-F329-11D0-FE2029B182C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C397D6A-203A-8F55-B2BF-51329286CBB1}"/>
              </a:ext>
            </a:extLst>
          </p:cNvPr>
          <p:cNvSpPr>
            <a:spLocks noGrp="1"/>
          </p:cNvSpPr>
          <p:nvPr>
            <p:ph type="sldNum" sz="quarter" idx="12"/>
          </p:nvPr>
        </p:nvSpPr>
        <p:spPr/>
        <p:txBody>
          <a:bodyPr/>
          <a:lstStyle/>
          <a:p>
            <a:fld id="{FD896031-8FBD-41CC-A252-169958F8CE50}" type="slidenum">
              <a:rPr lang="en-US" smtClean="0"/>
              <a:t>‹#›</a:t>
            </a:fld>
            <a:endParaRPr lang="en-US"/>
          </a:p>
        </p:txBody>
      </p:sp>
    </p:spTree>
    <p:extLst>
      <p:ext uri="{BB962C8B-B14F-4D97-AF65-F5344CB8AC3E}">
        <p14:creationId xmlns:p14="http://schemas.microsoft.com/office/powerpoint/2010/main" val="29343040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11CBA-7605-5E2F-0AD5-07CC768C37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87E00E9-D0EA-C24E-607D-5A80AC393F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25A3A6-F56B-D031-FD5B-8401CB6D28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2B8971-984B-D26F-799A-CE0FC58F54D8}"/>
              </a:ext>
            </a:extLst>
          </p:cNvPr>
          <p:cNvSpPr>
            <a:spLocks noGrp="1"/>
          </p:cNvSpPr>
          <p:nvPr>
            <p:ph type="dt" sz="half" idx="10"/>
          </p:nvPr>
        </p:nvSpPr>
        <p:spPr/>
        <p:txBody>
          <a:bodyPr/>
          <a:lstStyle/>
          <a:p>
            <a:fld id="{66470B92-307B-410B-9AEE-25B466B025ED}" type="datetimeFigureOut">
              <a:rPr lang="en-US" smtClean="0"/>
              <a:t>10/8/2025</a:t>
            </a:fld>
            <a:endParaRPr lang="en-US"/>
          </a:p>
        </p:txBody>
      </p:sp>
      <p:sp>
        <p:nvSpPr>
          <p:cNvPr id="6" name="Footer Placeholder 5">
            <a:extLst>
              <a:ext uri="{FF2B5EF4-FFF2-40B4-BE49-F238E27FC236}">
                <a16:creationId xmlns:a16="http://schemas.microsoft.com/office/drawing/2014/main" id="{98A461C8-F9B7-7550-E842-32A668800B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26DDFB-BECC-A3E1-9534-46364348B90D}"/>
              </a:ext>
            </a:extLst>
          </p:cNvPr>
          <p:cNvSpPr>
            <a:spLocks noGrp="1"/>
          </p:cNvSpPr>
          <p:nvPr>
            <p:ph type="sldNum" sz="quarter" idx="12"/>
          </p:nvPr>
        </p:nvSpPr>
        <p:spPr/>
        <p:txBody>
          <a:bodyPr/>
          <a:lstStyle/>
          <a:p>
            <a:fld id="{FD896031-8FBD-41CC-A252-169958F8CE50}" type="slidenum">
              <a:rPr lang="en-US" smtClean="0"/>
              <a:t>‹#›</a:t>
            </a:fld>
            <a:endParaRPr lang="en-US"/>
          </a:p>
        </p:txBody>
      </p:sp>
    </p:spTree>
    <p:extLst>
      <p:ext uri="{BB962C8B-B14F-4D97-AF65-F5344CB8AC3E}">
        <p14:creationId xmlns:p14="http://schemas.microsoft.com/office/powerpoint/2010/main" val="18413451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7D6D1-9B1F-71DF-8402-227F209C51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E9754CD-B17C-7E7C-6AFD-BE42EBBEBB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37F55A5-855A-9C20-08E5-C7D10FF2DD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33D45D-8B54-997F-5BE8-0AA3726C8532}"/>
              </a:ext>
            </a:extLst>
          </p:cNvPr>
          <p:cNvSpPr>
            <a:spLocks noGrp="1"/>
          </p:cNvSpPr>
          <p:nvPr>
            <p:ph type="dt" sz="half" idx="10"/>
          </p:nvPr>
        </p:nvSpPr>
        <p:spPr/>
        <p:txBody>
          <a:bodyPr/>
          <a:lstStyle/>
          <a:p>
            <a:fld id="{66470B92-307B-410B-9AEE-25B466B025ED}" type="datetimeFigureOut">
              <a:rPr lang="en-US" smtClean="0"/>
              <a:t>10/8/2025</a:t>
            </a:fld>
            <a:endParaRPr lang="en-US"/>
          </a:p>
        </p:txBody>
      </p:sp>
      <p:sp>
        <p:nvSpPr>
          <p:cNvPr id="6" name="Footer Placeholder 5">
            <a:extLst>
              <a:ext uri="{FF2B5EF4-FFF2-40B4-BE49-F238E27FC236}">
                <a16:creationId xmlns:a16="http://schemas.microsoft.com/office/drawing/2014/main" id="{9289E80E-CC5A-2F11-DE03-6921F7657B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0A7A67-163D-C1B5-D4D4-947DE633B7A8}"/>
              </a:ext>
            </a:extLst>
          </p:cNvPr>
          <p:cNvSpPr>
            <a:spLocks noGrp="1"/>
          </p:cNvSpPr>
          <p:nvPr>
            <p:ph type="sldNum" sz="quarter" idx="12"/>
          </p:nvPr>
        </p:nvSpPr>
        <p:spPr/>
        <p:txBody>
          <a:bodyPr/>
          <a:lstStyle/>
          <a:p>
            <a:fld id="{FD896031-8FBD-41CC-A252-169958F8CE50}" type="slidenum">
              <a:rPr lang="en-US" smtClean="0"/>
              <a:t>‹#›</a:t>
            </a:fld>
            <a:endParaRPr lang="en-US"/>
          </a:p>
        </p:txBody>
      </p:sp>
    </p:spTree>
    <p:extLst>
      <p:ext uri="{BB962C8B-B14F-4D97-AF65-F5344CB8AC3E}">
        <p14:creationId xmlns:p14="http://schemas.microsoft.com/office/powerpoint/2010/main" val="3399345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7908B-3EC3-C763-BAA5-44F35ABCC2D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5E20580-9DF5-777F-B293-BF3E874BE6F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7A39A5-E500-4611-1010-7E4D0A39C7F0}"/>
              </a:ext>
            </a:extLst>
          </p:cNvPr>
          <p:cNvSpPr>
            <a:spLocks noGrp="1"/>
          </p:cNvSpPr>
          <p:nvPr>
            <p:ph type="dt" sz="half" idx="10"/>
          </p:nvPr>
        </p:nvSpPr>
        <p:spPr/>
        <p:txBody>
          <a:bodyPr/>
          <a:lstStyle/>
          <a:p>
            <a:fld id="{66470B92-307B-410B-9AEE-25B466B025ED}" type="datetimeFigureOut">
              <a:rPr lang="en-US" smtClean="0"/>
              <a:t>10/8/2025</a:t>
            </a:fld>
            <a:endParaRPr lang="en-US"/>
          </a:p>
        </p:txBody>
      </p:sp>
      <p:sp>
        <p:nvSpPr>
          <p:cNvPr id="5" name="Footer Placeholder 4">
            <a:extLst>
              <a:ext uri="{FF2B5EF4-FFF2-40B4-BE49-F238E27FC236}">
                <a16:creationId xmlns:a16="http://schemas.microsoft.com/office/drawing/2014/main" id="{9B6DC4F4-83B2-2355-5D90-AF316337C1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9F9E46-8215-623F-53FE-CE28B9F5E89F}"/>
              </a:ext>
            </a:extLst>
          </p:cNvPr>
          <p:cNvSpPr>
            <a:spLocks noGrp="1"/>
          </p:cNvSpPr>
          <p:nvPr>
            <p:ph type="sldNum" sz="quarter" idx="12"/>
          </p:nvPr>
        </p:nvSpPr>
        <p:spPr/>
        <p:txBody>
          <a:bodyPr/>
          <a:lstStyle/>
          <a:p>
            <a:fld id="{FD896031-8FBD-41CC-A252-169958F8CE50}" type="slidenum">
              <a:rPr lang="en-US" smtClean="0"/>
              <a:t>‹#›</a:t>
            </a:fld>
            <a:endParaRPr lang="en-US"/>
          </a:p>
        </p:txBody>
      </p:sp>
    </p:spTree>
    <p:extLst>
      <p:ext uri="{BB962C8B-B14F-4D97-AF65-F5344CB8AC3E}">
        <p14:creationId xmlns:p14="http://schemas.microsoft.com/office/powerpoint/2010/main" val="41294462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AE2097-2C1F-283D-9335-E903FF286BF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C4590C1-ED0C-0DBE-B9F6-6A14BBED75B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C3D269-3F6C-FF6C-0D1B-CA92CF2CA97E}"/>
              </a:ext>
            </a:extLst>
          </p:cNvPr>
          <p:cNvSpPr>
            <a:spLocks noGrp="1"/>
          </p:cNvSpPr>
          <p:nvPr>
            <p:ph type="dt" sz="half" idx="10"/>
          </p:nvPr>
        </p:nvSpPr>
        <p:spPr/>
        <p:txBody>
          <a:bodyPr/>
          <a:lstStyle/>
          <a:p>
            <a:fld id="{66470B92-307B-410B-9AEE-25B466B025ED}" type="datetimeFigureOut">
              <a:rPr lang="en-US" smtClean="0"/>
              <a:t>10/8/2025</a:t>
            </a:fld>
            <a:endParaRPr lang="en-US"/>
          </a:p>
        </p:txBody>
      </p:sp>
      <p:sp>
        <p:nvSpPr>
          <p:cNvPr id="5" name="Footer Placeholder 4">
            <a:extLst>
              <a:ext uri="{FF2B5EF4-FFF2-40B4-BE49-F238E27FC236}">
                <a16:creationId xmlns:a16="http://schemas.microsoft.com/office/drawing/2014/main" id="{583D7C20-02EE-6427-0CD2-2375845F38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FC08C2-D8C0-E44A-34D0-82B2B7D14F1B}"/>
              </a:ext>
            </a:extLst>
          </p:cNvPr>
          <p:cNvSpPr>
            <a:spLocks noGrp="1"/>
          </p:cNvSpPr>
          <p:nvPr>
            <p:ph type="sldNum" sz="quarter" idx="12"/>
          </p:nvPr>
        </p:nvSpPr>
        <p:spPr/>
        <p:txBody>
          <a:bodyPr/>
          <a:lstStyle/>
          <a:p>
            <a:fld id="{FD896031-8FBD-41CC-A252-169958F8CE50}" type="slidenum">
              <a:rPr lang="en-US" smtClean="0"/>
              <a:t>‹#›</a:t>
            </a:fld>
            <a:endParaRPr lang="en-US"/>
          </a:p>
        </p:txBody>
      </p:sp>
    </p:spTree>
    <p:extLst>
      <p:ext uri="{BB962C8B-B14F-4D97-AF65-F5344CB8AC3E}">
        <p14:creationId xmlns:p14="http://schemas.microsoft.com/office/powerpoint/2010/main" val="23062205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F7D85A-DD10-405D-9024-FFB9AF162D71}"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8E473B-3EC3-40C9-801B-76FE74D3CFC7}" type="slidenum">
              <a:rPr lang="en-US" smtClean="0"/>
              <a:t>‹#›</a:t>
            </a:fld>
            <a:endParaRPr lang="en-US"/>
          </a:p>
        </p:txBody>
      </p:sp>
    </p:spTree>
    <p:extLst>
      <p:ext uri="{BB962C8B-B14F-4D97-AF65-F5344CB8AC3E}">
        <p14:creationId xmlns:p14="http://schemas.microsoft.com/office/powerpoint/2010/main" val="18836017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780472-2A1E-A1D1-5D1D-6E734A05E4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6EB59C6-9D85-2A2D-E6D8-B56B0FF009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5244CF-CB2B-7608-2A81-796CFF57AA8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470B92-307B-410B-9AEE-25B466B025ED}" type="datetimeFigureOut">
              <a:rPr lang="en-US" smtClean="0"/>
              <a:t>10/8/2025</a:t>
            </a:fld>
            <a:endParaRPr lang="en-US"/>
          </a:p>
        </p:txBody>
      </p:sp>
      <p:sp>
        <p:nvSpPr>
          <p:cNvPr id="5" name="Footer Placeholder 4">
            <a:extLst>
              <a:ext uri="{FF2B5EF4-FFF2-40B4-BE49-F238E27FC236}">
                <a16:creationId xmlns:a16="http://schemas.microsoft.com/office/drawing/2014/main" id="{624C88EA-401A-CAFF-58A6-355C1F8559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B19DFF8-D0D1-075D-0D31-716CA84C3E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896031-8FBD-41CC-A252-169958F8CE50}" type="slidenum">
              <a:rPr lang="en-US" smtClean="0"/>
              <a:t>‹#›</a:t>
            </a:fld>
            <a:endParaRPr lang="en-US"/>
          </a:p>
        </p:txBody>
      </p:sp>
    </p:spTree>
    <p:extLst>
      <p:ext uri="{BB962C8B-B14F-4D97-AF65-F5344CB8AC3E}">
        <p14:creationId xmlns:p14="http://schemas.microsoft.com/office/powerpoint/2010/main" val="24807276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1ED9C471-7AB7-4492-8F2D-BC887A46C3AB}"/>
              </a:ext>
            </a:extLst>
          </p:cNvPr>
          <p:cNvSpPr txBox="1">
            <a:spLocks/>
          </p:cNvSpPr>
          <p:nvPr/>
        </p:nvSpPr>
        <p:spPr>
          <a:xfrm>
            <a:off x="325586" y="0"/>
            <a:ext cx="11866414" cy="67180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Times" panose="02020603050405020304" pitchFamily="18" charset="0"/>
                <a:cs typeface="Times" panose="02020603050405020304" pitchFamily="18" charset="0"/>
              </a:rPr>
              <a:t>Digital to Analog Signal</a:t>
            </a:r>
          </a:p>
        </p:txBody>
      </p:sp>
      <p:sp>
        <p:nvSpPr>
          <p:cNvPr id="16" name="TextBox 15">
            <a:extLst>
              <a:ext uri="{FF2B5EF4-FFF2-40B4-BE49-F238E27FC236}">
                <a16:creationId xmlns:a16="http://schemas.microsoft.com/office/drawing/2014/main" id="{0F90E97A-0F7C-4E97-B6F0-8E3B1D3B5D0E}"/>
              </a:ext>
            </a:extLst>
          </p:cNvPr>
          <p:cNvSpPr txBox="1"/>
          <p:nvPr/>
        </p:nvSpPr>
        <p:spPr>
          <a:xfrm>
            <a:off x="325586" y="768517"/>
            <a:ext cx="11720234" cy="2345322"/>
          </a:xfrm>
          <a:prstGeom prst="rect">
            <a:avLst/>
          </a:prstGeom>
          <a:noFill/>
        </p:spPr>
        <p:txBody>
          <a:bodyPr wrap="square">
            <a:spAutoFit/>
          </a:bodyPr>
          <a:lstStyle/>
          <a:p>
            <a:pPr algn="just">
              <a:lnSpc>
                <a:spcPct val="150000"/>
              </a:lnSpc>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One of the characteristics of the analog signal is changed based on the information in the digital data.</a:t>
            </a:r>
          </a:p>
          <a:p>
            <a:pPr algn="just">
              <a:lnSpc>
                <a:spcPct val="15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The characteristics are:- </a:t>
            </a:r>
          </a:p>
          <a:p>
            <a:pPr marL="342900" indent="-342900" algn="just">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Amplitude</a:t>
            </a:r>
          </a:p>
          <a:p>
            <a:pPr marL="342900" indent="-342900" algn="just">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Phase </a:t>
            </a:r>
          </a:p>
          <a:p>
            <a:pPr marL="342900" indent="-342900" algn="just">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Frequency </a:t>
            </a:r>
          </a:p>
        </p:txBody>
      </p:sp>
      <p:pic>
        <p:nvPicPr>
          <p:cNvPr id="4" name="Picture 10">
            <a:extLst>
              <a:ext uri="{FF2B5EF4-FFF2-40B4-BE49-F238E27FC236}">
                <a16:creationId xmlns:a16="http://schemas.microsoft.com/office/drawing/2014/main" id="{68B96D68-535D-1531-ADB6-F6667ED9EA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3381" y="3210552"/>
            <a:ext cx="8885238" cy="2597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90961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wipe(down)">
                                      <p:cBhvr>
                                        <p:cTn id="7" dur="500"/>
                                        <p:tgtEl>
                                          <p:spTgt spid="16">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16">
                                            <p:txEl>
                                              <p:pRg st="1" end="1"/>
                                            </p:txEl>
                                          </p:spTgt>
                                        </p:tgtEl>
                                        <p:attrNameLst>
                                          <p:attrName>style.visibility</p:attrName>
                                        </p:attrNameLst>
                                      </p:cBhvr>
                                      <p:to>
                                        <p:strVal val="visible"/>
                                      </p:to>
                                    </p:set>
                                    <p:animEffect transition="in" filter="wipe(down)">
                                      <p:cBhvr>
                                        <p:cTn id="10" dur="500"/>
                                        <p:tgtEl>
                                          <p:spTgt spid="16">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animEffect transition="in" filter="wipe(down)">
                                      <p:cBhvr>
                                        <p:cTn id="15" dur="500"/>
                                        <p:tgtEl>
                                          <p:spTgt spid="16">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16">
                                            <p:txEl>
                                              <p:pRg st="3" end="3"/>
                                            </p:txEl>
                                          </p:spTgt>
                                        </p:tgtEl>
                                        <p:attrNameLst>
                                          <p:attrName>style.visibility</p:attrName>
                                        </p:attrNameLst>
                                      </p:cBhvr>
                                      <p:to>
                                        <p:strVal val="visible"/>
                                      </p:to>
                                    </p:set>
                                    <p:animEffect transition="in" filter="wipe(down)">
                                      <p:cBhvr>
                                        <p:cTn id="20" dur="500"/>
                                        <p:tgtEl>
                                          <p:spTgt spid="16">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16">
                                            <p:txEl>
                                              <p:pRg st="4" end="4"/>
                                            </p:txEl>
                                          </p:spTgt>
                                        </p:tgtEl>
                                        <p:attrNameLst>
                                          <p:attrName>style.visibility</p:attrName>
                                        </p:attrNameLst>
                                      </p:cBhvr>
                                      <p:to>
                                        <p:strVal val="visible"/>
                                      </p:to>
                                    </p:set>
                                    <p:animEffect transition="in" filter="wipe(down)">
                                      <p:cBhvr>
                                        <p:cTn id="25" dur="500"/>
                                        <p:tgtEl>
                                          <p:spTgt spid="1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1ED9C471-7AB7-4492-8F2D-BC887A46C3AB}"/>
              </a:ext>
            </a:extLst>
          </p:cNvPr>
          <p:cNvSpPr txBox="1">
            <a:spLocks/>
          </p:cNvSpPr>
          <p:nvPr/>
        </p:nvSpPr>
        <p:spPr>
          <a:xfrm>
            <a:off x="325586" y="0"/>
            <a:ext cx="11866414" cy="67180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Times" panose="02020603050405020304" pitchFamily="18" charset="0"/>
                <a:cs typeface="Times" panose="02020603050405020304" pitchFamily="18" charset="0"/>
              </a:rPr>
              <a:t>Types of Digital to Analog Conversion</a:t>
            </a:r>
          </a:p>
        </p:txBody>
      </p:sp>
      <p:pic>
        <p:nvPicPr>
          <p:cNvPr id="4" name="Picture 6">
            <a:extLst>
              <a:ext uri="{FF2B5EF4-FFF2-40B4-BE49-F238E27FC236}">
                <a16:creationId xmlns:a16="http://schemas.microsoft.com/office/drawing/2014/main" id="{3D966B5C-BB44-CC2C-1FA9-3C53EF9435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5178" y="2272645"/>
            <a:ext cx="8401050" cy="288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745241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1ED9C471-7AB7-4492-8F2D-BC887A46C3AB}"/>
              </a:ext>
            </a:extLst>
          </p:cNvPr>
          <p:cNvSpPr txBox="1">
            <a:spLocks/>
          </p:cNvSpPr>
          <p:nvPr/>
        </p:nvSpPr>
        <p:spPr>
          <a:xfrm>
            <a:off x="325586" y="0"/>
            <a:ext cx="11866414" cy="67180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Times" panose="02020603050405020304" pitchFamily="18" charset="0"/>
                <a:cs typeface="Times" panose="02020603050405020304" pitchFamily="18" charset="0"/>
              </a:rPr>
              <a:t>Digital to Analog Signal</a:t>
            </a:r>
          </a:p>
        </p:txBody>
      </p:sp>
      <p:sp>
        <p:nvSpPr>
          <p:cNvPr id="16" name="TextBox 15">
            <a:extLst>
              <a:ext uri="{FF2B5EF4-FFF2-40B4-BE49-F238E27FC236}">
                <a16:creationId xmlns:a16="http://schemas.microsoft.com/office/drawing/2014/main" id="{0F90E97A-0F7C-4E97-B6F0-8E3B1D3B5D0E}"/>
              </a:ext>
            </a:extLst>
          </p:cNvPr>
          <p:cNvSpPr txBox="1"/>
          <p:nvPr/>
        </p:nvSpPr>
        <p:spPr>
          <a:xfrm>
            <a:off x="325586" y="768517"/>
            <a:ext cx="11720234" cy="3268652"/>
          </a:xfrm>
          <a:prstGeom prst="rect">
            <a:avLst/>
          </a:prstGeom>
          <a:noFill/>
        </p:spPr>
        <p:txBody>
          <a:bodyPr wrap="square">
            <a:spAutoFit/>
          </a:bodyPr>
          <a:lstStyle/>
          <a:p>
            <a:pPr algn="just">
              <a:lnSpc>
                <a:spcPct val="150000"/>
              </a:lnSpc>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Digital data to analog signal conversion techniques:- </a:t>
            </a:r>
          </a:p>
          <a:p>
            <a:pPr marL="342900" indent="-342900" algn="just">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Amplitude Shift Keying: </a:t>
            </a:r>
            <a:r>
              <a:rPr lang="en-US" sz="2000" dirty="0">
                <a:latin typeface="Times New Roman" panose="02020603050405020304" pitchFamily="18" charset="0"/>
                <a:cs typeface="Times New Roman" panose="02020603050405020304" pitchFamily="18" charset="0"/>
              </a:rPr>
              <a:t>Amplitude will be varied according to the information on digital data.</a:t>
            </a:r>
          </a:p>
          <a:p>
            <a:pPr marL="342900" indent="-342900" algn="just">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Phase Shift Keying: </a:t>
            </a:r>
            <a:r>
              <a:rPr lang="en-US" sz="2000" dirty="0">
                <a:latin typeface="Times New Roman" panose="02020603050405020304" pitchFamily="18" charset="0"/>
                <a:cs typeface="Times New Roman" panose="02020603050405020304" pitchFamily="18" charset="0"/>
              </a:rPr>
              <a:t>Phase will be varied according to the information on digital data.</a:t>
            </a:r>
            <a:endParaRPr lang="en-US" sz="2000" b="1"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Frequency Shift Keying: </a:t>
            </a:r>
            <a:r>
              <a:rPr lang="en-US" sz="2000" dirty="0">
                <a:latin typeface="Times New Roman" panose="02020603050405020304" pitchFamily="18" charset="0"/>
                <a:cs typeface="Times New Roman" panose="02020603050405020304" pitchFamily="18" charset="0"/>
              </a:rPr>
              <a:t>Frequency will be varied according to the information on digital data.</a:t>
            </a:r>
            <a:endParaRPr lang="en-US" sz="2000" b="1"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Quadrature Amplitude Modulation (QAM): </a:t>
            </a:r>
            <a:r>
              <a:rPr lang="en-US" sz="2000" dirty="0">
                <a:latin typeface="Times New Roman" panose="02020603050405020304" pitchFamily="18" charset="0"/>
                <a:cs typeface="Times New Roman" panose="02020603050405020304" pitchFamily="18" charset="0"/>
              </a:rPr>
              <a:t>Both</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amplitude and phase will be varied according to the information on digital data.</a:t>
            </a:r>
          </a:p>
          <a:p>
            <a:pPr algn="just">
              <a:lnSpc>
                <a:spcPct val="150000"/>
              </a:lnSpc>
            </a:pP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9540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wipe(down)">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circle(in)">
                                      <p:cBhvr>
                                        <p:cTn id="12" dur="20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circle(in)">
                                      <p:cBhvr>
                                        <p:cTn id="17" dur="2000"/>
                                        <p:tgtEl>
                                          <p:spTgt spid="1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16">
                                            <p:txEl>
                                              <p:pRg st="3" end="3"/>
                                            </p:txEl>
                                          </p:spTgt>
                                        </p:tgtEl>
                                        <p:attrNameLst>
                                          <p:attrName>style.visibility</p:attrName>
                                        </p:attrNameLst>
                                      </p:cBhvr>
                                      <p:to>
                                        <p:strVal val="visible"/>
                                      </p:to>
                                    </p:set>
                                    <p:animEffect transition="in" filter="randombar(horizontal)">
                                      <p:cBhvr>
                                        <p:cTn id="22" dur="500"/>
                                        <p:tgtEl>
                                          <p:spTgt spid="1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16">
                                            <p:txEl>
                                              <p:pRg st="4" end="4"/>
                                            </p:txEl>
                                          </p:spTgt>
                                        </p:tgtEl>
                                        <p:attrNameLst>
                                          <p:attrName>style.visibility</p:attrName>
                                        </p:attrNameLst>
                                      </p:cBhvr>
                                      <p:to>
                                        <p:strVal val="visible"/>
                                      </p:to>
                                    </p:set>
                                    <p:animEffect transition="in" filter="fade">
                                      <p:cBhvr>
                                        <p:cTn id="27" dur="1000"/>
                                        <p:tgtEl>
                                          <p:spTgt spid="16">
                                            <p:txEl>
                                              <p:pRg st="4" end="4"/>
                                            </p:txEl>
                                          </p:spTgt>
                                        </p:tgtEl>
                                      </p:cBhvr>
                                    </p:animEffect>
                                    <p:anim calcmode="lin" valueType="num">
                                      <p:cBhvr>
                                        <p:cTn id="28" dur="1000" fill="hold"/>
                                        <p:tgtEl>
                                          <p:spTgt spid="16">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16">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1ED9C471-7AB7-4492-8F2D-BC887A46C3AB}"/>
              </a:ext>
            </a:extLst>
          </p:cNvPr>
          <p:cNvSpPr txBox="1">
            <a:spLocks/>
          </p:cNvSpPr>
          <p:nvPr/>
        </p:nvSpPr>
        <p:spPr>
          <a:xfrm>
            <a:off x="325586" y="0"/>
            <a:ext cx="11866414" cy="67180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Times" panose="02020603050405020304" pitchFamily="18" charset="0"/>
                <a:cs typeface="Times" panose="02020603050405020304" pitchFamily="18" charset="0"/>
              </a:rPr>
              <a:t>Digital to Analog Signal</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F90E97A-0F7C-4E97-B6F0-8E3B1D3B5D0E}"/>
                  </a:ext>
                </a:extLst>
              </p:cNvPr>
              <p:cNvSpPr txBox="1"/>
              <p:nvPr/>
            </p:nvSpPr>
            <p:spPr>
              <a:xfrm>
                <a:off x="325586" y="768517"/>
                <a:ext cx="11720234" cy="3206647"/>
              </a:xfrm>
              <a:prstGeom prst="rect">
                <a:avLst/>
              </a:prstGeom>
              <a:noFill/>
            </p:spPr>
            <p:txBody>
              <a:bodyPr wrap="square">
                <a:spAutoFit/>
              </a:bodyPr>
              <a:lstStyle/>
              <a:p>
                <a:pPr algn="just">
                  <a:lnSpc>
                    <a:spcPct val="150000"/>
                  </a:lnSpc>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Data rate vs signal rate for analog transmission:-</a:t>
                </a:r>
              </a:p>
              <a:p>
                <a:pPr algn="just">
                  <a:lnSpc>
                    <a:spcPct val="150000"/>
                  </a:lnSpc>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cs typeface="Times New Roman" panose="02020603050405020304" pitchFamily="18" charset="0"/>
                        </a:rPr>
                        <m:t>𝑆</m:t>
                      </m:r>
                      <m:r>
                        <a:rPr lang="en-US" sz="2000" b="0" i="1" smtClean="0">
                          <a:latin typeface="Cambria Math" panose="02040503050406030204" pitchFamily="18" charset="0"/>
                          <a:cs typeface="Times New Roman" panose="02020603050405020304" pitchFamily="18" charset="0"/>
                        </a:rPr>
                        <m:t>=</m:t>
                      </m:r>
                      <m:f>
                        <m:fPr>
                          <m:ctrlPr>
                            <a:rPr lang="en-US" sz="2000" b="0" i="1" smtClean="0">
                              <a:latin typeface="Cambria Math" panose="02040503050406030204" pitchFamily="18" charset="0"/>
                              <a:cs typeface="Times New Roman" panose="02020603050405020304" pitchFamily="18" charset="0"/>
                            </a:rPr>
                          </m:ctrlPr>
                        </m:fPr>
                        <m:num>
                          <m:r>
                            <a:rPr lang="en-US" sz="2000" b="0" i="1" smtClean="0">
                              <a:latin typeface="Cambria Math" panose="02040503050406030204" pitchFamily="18" charset="0"/>
                              <a:cs typeface="Times New Roman" panose="02020603050405020304" pitchFamily="18" charset="0"/>
                            </a:rPr>
                            <m:t>𝑁</m:t>
                          </m:r>
                        </m:num>
                        <m:den>
                          <m:r>
                            <a:rPr lang="en-US" sz="2000" b="0" i="1" smtClean="0">
                              <a:latin typeface="Cambria Math" panose="02040503050406030204" pitchFamily="18" charset="0"/>
                              <a:cs typeface="Times New Roman" panose="02020603050405020304" pitchFamily="18" charset="0"/>
                            </a:rPr>
                            <m:t>𝑟</m:t>
                          </m:r>
                        </m:den>
                      </m:f>
                    </m:oMath>
                  </m:oMathPara>
                </a14:m>
                <a:endParaRPr lang="en-US" sz="2000" b="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Where, N is the data rate and r represents the number of data elements carried in one signal element.</a:t>
                </a:r>
              </a:p>
              <a:p>
                <a:pPr algn="just">
                  <a:lnSpc>
                    <a:spcPct val="150000"/>
                  </a:lnSpc>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cs typeface="Times New Roman" panose="02020603050405020304" pitchFamily="18" charset="0"/>
                        </a:rPr>
                        <m:t>𝑟</m:t>
                      </m:r>
                      <m:r>
                        <a:rPr lang="en-US" sz="2000" b="0" i="1" smtClean="0">
                          <a:latin typeface="Cambria Math" panose="02040503050406030204" pitchFamily="18" charset="0"/>
                          <a:cs typeface="Times New Roman" panose="02020603050405020304" pitchFamily="18" charset="0"/>
                        </a:rPr>
                        <m:t>=</m:t>
                      </m:r>
                      <m:sSub>
                        <m:sSubPr>
                          <m:ctrlPr>
                            <a:rPr lang="en-US" sz="2000" b="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𝑙𝑜𝑔</m:t>
                          </m:r>
                        </m:e>
                        <m:sub>
                          <m:r>
                            <a:rPr lang="en-US" sz="2000" b="0" i="1" smtClean="0">
                              <a:latin typeface="Cambria Math" panose="02040503050406030204" pitchFamily="18" charset="0"/>
                              <a:cs typeface="Times New Roman" panose="02020603050405020304" pitchFamily="18" charset="0"/>
                            </a:rPr>
                            <m:t>2</m:t>
                          </m:r>
                        </m:sub>
                      </m:sSub>
                      <m:r>
                        <a:rPr lang="en-US" sz="2000" b="0" i="1" smtClean="0">
                          <a:latin typeface="Cambria Math" panose="02040503050406030204" pitchFamily="18" charset="0"/>
                          <a:cs typeface="Times New Roman" panose="02020603050405020304" pitchFamily="18" charset="0"/>
                        </a:rPr>
                        <m:t>𝐿</m:t>
                      </m:r>
                    </m:oMath>
                  </m:oMathPara>
                </a14:m>
                <a:endParaRPr lang="en-US" sz="2000" b="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Where, L is the type of signal element, not the level.</a:t>
                </a:r>
              </a:p>
              <a:p>
                <a:pPr algn="just">
                  <a:lnSpc>
                    <a:spcPct val="150000"/>
                  </a:lnSpc>
                </a:pPr>
                <a:endParaRPr lang="en-US" sz="2000" b="1" dirty="0">
                  <a:latin typeface="Times New Roman" panose="02020603050405020304" pitchFamily="18" charset="0"/>
                  <a:cs typeface="Times New Roman" panose="02020603050405020304" pitchFamily="18" charset="0"/>
                </a:endParaRPr>
              </a:p>
            </p:txBody>
          </p:sp>
        </mc:Choice>
        <mc:Fallback xmlns="">
          <p:sp>
            <p:nvSpPr>
              <p:cNvPr id="16" name="TextBox 15">
                <a:extLst>
                  <a:ext uri="{FF2B5EF4-FFF2-40B4-BE49-F238E27FC236}">
                    <a16:creationId xmlns:a16="http://schemas.microsoft.com/office/drawing/2014/main" id="{0F90E97A-0F7C-4E97-B6F0-8E3B1D3B5D0E}"/>
                  </a:ext>
                </a:extLst>
              </p:cNvPr>
              <p:cNvSpPr txBox="1">
                <a:spLocks noRot="1" noChangeAspect="1" noMove="1" noResize="1" noEditPoints="1" noAdjustHandles="1" noChangeArrowheads="1" noChangeShapeType="1" noTextEdit="1"/>
              </p:cNvSpPr>
              <p:nvPr/>
            </p:nvSpPr>
            <p:spPr>
              <a:xfrm>
                <a:off x="325586" y="768517"/>
                <a:ext cx="11720234" cy="3206647"/>
              </a:xfrm>
              <a:prstGeom prst="rect">
                <a:avLst/>
              </a:prstGeom>
              <a:blipFill>
                <a:blip r:embed="rId3"/>
                <a:stretch>
                  <a:fillRect l="-520"/>
                </a:stretch>
              </a:blipFill>
            </p:spPr>
            <p:txBody>
              <a:bodyPr/>
              <a:lstStyle/>
              <a:p>
                <a:r>
                  <a:rPr lang="en-US">
                    <a:noFill/>
                  </a:rPr>
                  <a:t> </a:t>
                </a:r>
              </a:p>
            </p:txBody>
          </p:sp>
        </mc:Fallback>
      </mc:AlternateContent>
    </p:spTree>
    <p:extLst>
      <p:ext uri="{BB962C8B-B14F-4D97-AF65-F5344CB8AC3E}">
        <p14:creationId xmlns:p14="http://schemas.microsoft.com/office/powerpoint/2010/main" val="611897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wipe(down)">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wipe(down)">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wipe(down)">
                                      <p:cBhvr>
                                        <p:cTn id="17" dur="500"/>
                                        <p:tgtEl>
                                          <p:spTgt spid="1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6">
                                            <p:txEl>
                                              <p:pRg st="3" end="3"/>
                                            </p:txEl>
                                          </p:spTgt>
                                        </p:tgtEl>
                                        <p:attrNameLst>
                                          <p:attrName>style.visibility</p:attrName>
                                        </p:attrNameLst>
                                      </p:cBhvr>
                                      <p:to>
                                        <p:strVal val="visible"/>
                                      </p:to>
                                    </p:set>
                                    <p:animEffect transition="in" filter="wipe(down)">
                                      <p:cBhvr>
                                        <p:cTn id="22" dur="500"/>
                                        <p:tgtEl>
                                          <p:spTgt spid="1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6">
                                            <p:txEl>
                                              <p:pRg st="4" end="4"/>
                                            </p:txEl>
                                          </p:spTgt>
                                        </p:tgtEl>
                                        <p:attrNameLst>
                                          <p:attrName>style.visibility</p:attrName>
                                        </p:attrNameLst>
                                      </p:cBhvr>
                                      <p:to>
                                        <p:strVal val="visible"/>
                                      </p:to>
                                    </p:set>
                                    <p:animEffect transition="in" filter="wipe(down)">
                                      <p:cBhvr>
                                        <p:cTn id="27" dur="500"/>
                                        <p:tgtEl>
                                          <p:spTgt spid="1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a:extLst>
              <a:ext uri="{FF2B5EF4-FFF2-40B4-BE49-F238E27FC236}">
                <a16:creationId xmlns:a16="http://schemas.microsoft.com/office/drawing/2014/main" id="{5FEC1D8C-FB90-0FB4-B186-FC2A5AC36E6B}"/>
              </a:ext>
            </a:extLst>
          </p:cNvPr>
          <p:cNvSpPr>
            <a:spLocks noChangeArrowheads="1"/>
          </p:cNvSpPr>
          <p:nvPr/>
        </p:nvSpPr>
        <p:spPr bwMode="auto">
          <a:xfrm>
            <a:off x="285553" y="341722"/>
            <a:ext cx="11620893" cy="960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lang="en-US" altLang="en-US" sz="2000" b="1" dirty="0">
                <a:latin typeface="Times New Roman" panose="02020603050405020304" pitchFamily="18" charset="0"/>
              </a:rPr>
              <a:t>Example 5.1: </a:t>
            </a:r>
            <a:r>
              <a:rPr lang="en-US" altLang="en-US" sz="2000" dirty="0">
                <a:latin typeface="Times New Roman" panose="02020603050405020304" pitchFamily="18" charset="0"/>
              </a:rPr>
              <a:t>An analog signal carries 4 bits per signal element. If 1000 signal elements are sent per second, find the bit rate.</a:t>
            </a:r>
          </a:p>
        </p:txBody>
      </p:sp>
      <p:sp>
        <p:nvSpPr>
          <p:cNvPr id="5" name="Rectangle 11">
            <a:extLst>
              <a:ext uri="{FF2B5EF4-FFF2-40B4-BE49-F238E27FC236}">
                <a16:creationId xmlns:a16="http://schemas.microsoft.com/office/drawing/2014/main" id="{34CAE6ED-F9A3-D8A2-E2F8-2D9C634EC26B}"/>
              </a:ext>
            </a:extLst>
          </p:cNvPr>
          <p:cNvSpPr>
            <a:spLocks noChangeArrowheads="1"/>
          </p:cNvSpPr>
          <p:nvPr/>
        </p:nvSpPr>
        <p:spPr bwMode="auto">
          <a:xfrm>
            <a:off x="285553" y="1638485"/>
            <a:ext cx="1135694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2000" dirty="0">
                <a:solidFill>
                  <a:schemeClr val="hlink"/>
                </a:solidFill>
                <a:latin typeface="Times New Roman" panose="02020603050405020304" pitchFamily="18" charset="0"/>
                <a:cs typeface="Times New Roman" panose="02020603050405020304" pitchFamily="18" charset="0"/>
              </a:rPr>
              <a:t>Solution: </a:t>
            </a:r>
            <a:r>
              <a:rPr lang="en-US" altLang="en-US" sz="2000" dirty="0">
                <a:latin typeface="Times New Roman" panose="02020603050405020304" pitchFamily="18" charset="0"/>
                <a:cs typeface="Times New Roman" panose="02020603050405020304" pitchFamily="18" charset="0"/>
              </a:rPr>
              <a:t>In this case, r = 4, S = 1000, and N is unknown. We can find the value of N from</a:t>
            </a:r>
          </a:p>
        </p:txBody>
      </p:sp>
      <p:pic>
        <p:nvPicPr>
          <p:cNvPr id="7" name="Picture 13">
            <a:extLst>
              <a:ext uri="{FF2B5EF4-FFF2-40B4-BE49-F238E27FC236}">
                <a16:creationId xmlns:a16="http://schemas.microsoft.com/office/drawing/2014/main" id="{FDF27457-2C03-7F85-FDA3-4055C3DBC3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8930" y="2486762"/>
            <a:ext cx="6434137" cy="56673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4781931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a:extLst>
              <a:ext uri="{FF2B5EF4-FFF2-40B4-BE49-F238E27FC236}">
                <a16:creationId xmlns:a16="http://schemas.microsoft.com/office/drawing/2014/main" id="{5FEC1D8C-FB90-0FB4-B186-FC2A5AC36E6B}"/>
              </a:ext>
            </a:extLst>
          </p:cNvPr>
          <p:cNvSpPr>
            <a:spLocks noChangeArrowheads="1"/>
          </p:cNvSpPr>
          <p:nvPr/>
        </p:nvSpPr>
        <p:spPr bwMode="auto">
          <a:xfrm>
            <a:off x="285553" y="341722"/>
            <a:ext cx="11620893" cy="1421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lang="en-US" altLang="en-US" sz="2000" b="1" dirty="0">
                <a:latin typeface="Times New Roman" panose="02020603050405020304" pitchFamily="18" charset="0"/>
              </a:rPr>
              <a:t>Example 5.2: </a:t>
            </a:r>
            <a:r>
              <a:rPr lang="en-US" altLang="en-US" sz="2000" dirty="0">
                <a:latin typeface="Times New Roman" panose="02020603050405020304" pitchFamily="18" charset="0"/>
              </a:rPr>
              <a:t>An analog signal has a bit rate of 8000 bps and a baud rate of 1000 baud. How many data elements are carried by each signal element? How many signal elements do we need?</a:t>
            </a:r>
          </a:p>
          <a:p>
            <a:pPr>
              <a:lnSpc>
                <a:spcPct val="150000"/>
              </a:lnSpc>
            </a:pPr>
            <a:endParaRPr lang="en-US" altLang="en-US" sz="2000" dirty="0">
              <a:latin typeface="Times New Roman" panose="02020603050405020304" pitchFamily="18" charset="0"/>
            </a:endParaRPr>
          </a:p>
        </p:txBody>
      </p:sp>
      <p:sp>
        <p:nvSpPr>
          <p:cNvPr id="5" name="Rectangle 11">
            <a:extLst>
              <a:ext uri="{FF2B5EF4-FFF2-40B4-BE49-F238E27FC236}">
                <a16:creationId xmlns:a16="http://schemas.microsoft.com/office/drawing/2014/main" id="{34CAE6ED-F9A3-D8A2-E2F8-2D9C634EC26B}"/>
              </a:ext>
            </a:extLst>
          </p:cNvPr>
          <p:cNvSpPr>
            <a:spLocks noChangeArrowheads="1"/>
          </p:cNvSpPr>
          <p:nvPr/>
        </p:nvSpPr>
        <p:spPr bwMode="auto">
          <a:xfrm>
            <a:off x="285553" y="1638485"/>
            <a:ext cx="11356942"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lang="en-US" altLang="en-US" sz="2000" dirty="0">
                <a:solidFill>
                  <a:schemeClr val="hlink"/>
                </a:solidFill>
                <a:latin typeface="Times New Roman" panose="02020603050405020304" pitchFamily="18" charset="0"/>
                <a:cs typeface="Times New Roman" panose="02020603050405020304" pitchFamily="18" charset="0"/>
              </a:rPr>
              <a:t>Solution: </a:t>
            </a:r>
            <a:r>
              <a:rPr lang="en-US" altLang="en-US" sz="2000" dirty="0">
                <a:latin typeface="Times New Roman" panose="02020603050405020304" pitchFamily="18" charset="0"/>
                <a:cs typeface="Times New Roman" panose="02020603050405020304" pitchFamily="18" charset="0"/>
              </a:rPr>
              <a:t>In this example, S = 1000, N = 8000, and r and L are unknown. We find first the value of r and then the value of L.</a:t>
            </a:r>
          </a:p>
          <a:p>
            <a:endParaRPr lang="en-US" altLang="en-US" sz="2000" dirty="0">
              <a:latin typeface="Times New Roman" panose="02020603050405020304" pitchFamily="18" charset="0"/>
              <a:cs typeface="Times New Roman" panose="02020603050405020304" pitchFamily="18" charset="0"/>
            </a:endParaRPr>
          </a:p>
        </p:txBody>
      </p:sp>
      <p:pic>
        <p:nvPicPr>
          <p:cNvPr id="6" name="Picture 15">
            <a:extLst>
              <a:ext uri="{FF2B5EF4-FFF2-40B4-BE49-F238E27FC236}">
                <a16:creationId xmlns:a16="http://schemas.microsoft.com/office/drawing/2014/main" id="{C5C67FDF-D153-1DE4-50E1-8A02CB5510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50192" y="3214112"/>
            <a:ext cx="5427663" cy="1044575"/>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058423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1ED9C471-7AB7-4492-8F2D-BC887A46C3AB}"/>
              </a:ext>
            </a:extLst>
          </p:cNvPr>
          <p:cNvSpPr txBox="1">
            <a:spLocks/>
          </p:cNvSpPr>
          <p:nvPr/>
        </p:nvSpPr>
        <p:spPr>
          <a:xfrm>
            <a:off x="325586" y="0"/>
            <a:ext cx="11866414" cy="67180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Times" panose="02020603050405020304" pitchFamily="18" charset="0"/>
                <a:cs typeface="Times" panose="02020603050405020304" pitchFamily="18" charset="0"/>
              </a:rPr>
              <a:t>Digital to Analog Signal</a:t>
            </a:r>
          </a:p>
        </p:txBody>
      </p:sp>
      <p:sp>
        <p:nvSpPr>
          <p:cNvPr id="16" name="TextBox 15">
            <a:extLst>
              <a:ext uri="{FF2B5EF4-FFF2-40B4-BE49-F238E27FC236}">
                <a16:creationId xmlns:a16="http://schemas.microsoft.com/office/drawing/2014/main" id="{0F90E97A-0F7C-4E97-B6F0-8E3B1D3B5D0E}"/>
              </a:ext>
            </a:extLst>
          </p:cNvPr>
          <p:cNvSpPr txBox="1"/>
          <p:nvPr/>
        </p:nvSpPr>
        <p:spPr>
          <a:xfrm>
            <a:off x="325586" y="768517"/>
            <a:ext cx="11720234" cy="3268652"/>
          </a:xfrm>
          <a:prstGeom prst="rect">
            <a:avLst/>
          </a:prstGeom>
          <a:noFill/>
        </p:spPr>
        <p:txBody>
          <a:bodyPr wrap="square">
            <a:spAutoFit/>
          </a:bodyPr>
          <a:lstStyle/>
          <a:p>
            <a:pPr algn="just">
              <a:lnSpc>
                <a:spcPct val="150000"/>
              </a:lnSpc>
              <a:buFont typeface="Wingdings" panose="05000000000000000000" pitchFamily="2" charset="2"/>
              <a:buChar char="ü"/>
            </a:pPr>
            <a:r>
              <a:rPr lang="en-US" sz="1800" b="1"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Carrier Signal</a:t>
            </a:r>
          </a:p>
          <a:p>
            <a:pPr algn="just">
              <a:lnSpc>
                <a:spcPct val="150000"/>
              </a:lnSpc>
            </a:pPr>
            <a:r>
              <a:rPr lang="en-US" sz="2000" dirty="0">
                <a:latin typeface="Times New Roman" panose="02020603050405020304" pitchFamily="18" charset="0"/>
                <a:cs typeface="Times New Roman" panose="02020603050405020304" pitchFamily="18" charset="0"/>
              </a:rPr>
              <a:t>In analog transmission, the sending device produces a high frequency signal that acts as a base for the information signal. This base signal is called carrier signal.</a:t>
            </a:r>
          </a:p>
          <a:p>
            <a:pPr marL="342900" indent="-342900" algn="just">
              <a:lnSpc>
                <a:spcPct val="150000"/>
              </a:lnSpc>
              <a:buFont typeface="Wingdings" panose="05000000000000000000" pitchFamily="2" charset="2"/>
              <a:buChar char="ü"/>
            </a:pPr>
            <a:r>
              <a:rPr lang="en-US" sz="2000" b="1" dirty="0">
                <a:latin typeface="Times New Roman" panose="02020603050405020304" pitchFamily="18" charset="0"/>
                <a:cs typeface="Times New Roman" panose="02020603050405020304" pitchFamily="18" charset="0"/>
              </a:rPr>
              <a:t>Shift Keying (Modulation)</a:t>
            </a:r>
          </a:p>
          <a:p>
            <a:pPr algn="just">
              <a:lnSpc>
                <a:spcPct val="150000"/>
              </a:lnSpc>
            </a:pPr>
            <a:r>
              <a:rPr lang="en-US" sz="2000" dirty="0">
                <a:latin typeface="Times New Roman" panose="02020603050405020304" pitchFamily="18" charset="0"/>
                <a:cs typeface="Times New Roman" panose="02020603050405020304" pitchFamily="18" charset="0"/>
              </a:rPr>
              <a:t>Digital information then changes the carrier signal by modifying one or more of its characteristics (amplitude, frequency or phase). This kind of modification is called modulation (shift keying).</a:t>
            </a: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8483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6">
                                            <p:txEl>
                                              <p:pRg st="1" end="1"/>
                                            </p:txEl>
                                          </p:spTgt>
                                        </p:tgtEl>
                                        <p:attrNameLst>
                                          <p:attrName>style.visibility</p:attrName>
                                        </p:attrNameLst>
                                      </p:cBhvr>
                                      <p:to>
                                        <p:strVal val="visible"/>
                                      </p:to>
                                    </p:set>
                                    <p:animEffect transition="in" filter="fade">
                                      <p:cBhvr>
                                        <p:cTn id="7" dur="1000"/>
                                        <p:tgtEl>
                                          <p:spTgt spid="16">
                                            <p:txEl>
                                              <p:pRg st="1" end="1"/>
                                            </p:txEl>
                                          </p:spTgt>
                                        </p:tgtEl>
                                      </p:cBhvr>
                                    </p:animEffect>
                                    <p:anim calcmode="lin" valueType="num">
                                      <p:cBhvr>
                                        <p:cTn id="8" dur="1000" fill="hold"/>
                                        <p:tgtEl>
                                          <p:spTgt spid="16">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6">
                                            <p:txEl>
                                              <p:pRg st="2" end="2"/>
                                            </p:txEl>
                                          </p:spTgt>
                                        </p:tgtEl>
                                        <p:attrNameLst>
                                          <p:attrName>style.visibility</p:attrName>
                                        </p:attrNameLst>
                                      </p:cBhvr>
                                      <p:to>
                                        <p:strVal val="visible"/>
                                      </p:to>
                                    </p:set>
                                    <p:animEffect transition="in" filter="fade">
                                      <p:cBhvr>
                                        <p:cTn id="14" dur="1000"/>
                                        <p:tgtEl>
                                          <p:spTgt spid="16">
                                            <p:txEl>
                                              <p:pRg st="2" end="2"/>
                                            </p:txEl>
                                          </p:spTgt>
                                        </p:tgtEl>
                                      </p:cBhvr>
                                    </p:animEffect>
                                    <p:anim calcmode="lin" valueType="num">
                                      <p:cBhvr>
                                        <p:cTn id="15" dur="1000" fill="hold"/>
                                        <p:tgtEl>
                                          <p:spTgt spid="16">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6">
                                            <p:txEl>
                                              <p:pRg st="2" end="2"/>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animEffect transition="in" filter="fade">
                                      <p:cBhvr>
                                        <p:cTn id="19" dur="1000"/>
                                        <p:tgtEl>
                                          <p:spTgt spid="16">
                                            <p:txEl>
                                              <p:pRg st="3" end="3"/>
                                            </p:txEl>
                                          </p:spTgt>
                                        </p:tgtEl>
                                      </p:cBhvr>
                                    </p:animEffect>
                                    <p:anim calcmode="lin" valueType="num">
                                      <p:cBhvr>
                                        <p:cTn id="20" dur="1000" fill="hold"/>
                                        <p:tgtEl>
                                          <p:spTgt spid="16">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16">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1ED9C471-7AB7-4492-8F2D-BC887A46C3AB}"/>
              </a:ext>
            </a:extLst>
          </p:cNvPr>
          <p:cNvSpPr txBox="1">
            <a:spLocks/>
          </p:cNvSpPr>
          <p:nvPr/>
        </p:nvSpPr>
        <p:spPr>
          <a:xfrm>
            <a:off x="325586" y="0"/>
            <a:ext cx="11866414" cy="67180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Times" panose="02020603050405020304" pitchFamily="18" charset="0"/>
                <a:cs typeface="Times" panose="02020603050405020304" pitchFamily="18" charset="0"/>
              </a:rPr>
              <a:t>Digital to Analog Signal</a:t>
            </a:r>
          </a:p>
        </p:txBody>
      </p:sp>
      <p:sp>
        <p:nvSpPr>
          <p:cNvPr id="16" name="TextBox 15">
            <a:extLst>
              <a:ext uri="{FF2B5EF4-FFF2-40B4-BE49-F238E27FC236}">
                <a16:creationId xmlns:a16="http://schemas.microsoft.com/office/drawing/2014/main" id="{0F90E97A-0F7C-4E97-B6F0-8E3B1D3B5D0E}"/>
              </a:ext>
            </a:extLst>
          </p:cNvPr>
          <p:cNvSpPr txBox="1"/>
          <p:nvPr/>
        </p:nvSpPr>
        <p:spPr>
          <a:xfrm>
            <a:off x="325586" y="768517"/>
            <a:ext cx="11720234" cy="1883657"/>
          </a:xfrm>
          <a:prstGeom prst="rect">
            <a:avLst/>
          </a:prstGeom>
          <a:noFill/>
        </p:spPr>
        <p:txBody>
          <a:bodyPr wrap="square">
            <a:spAutoFit/>
          </a:bodyPr>
          <a:lstStyle/>
          <a:p>
            <a:pPr algn="just">
              <a:lnSpc>
                <a:spcPct val="150000"/>
              </a:lnSpc>
              <a:buFont typeface="Wingdings" panose="05000000000000000000" pitchFamily="2" charset="2"/>
              <a:buChar char="ü"/>
            </a:pPr>
            <a:r>
              <a:rPr lang="en-US" sz="1800" b="1"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Amplitude Shift Keying (ASK)</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ASK is implemented by changing the amplitude of a carrier signal to reflect amplitude levels in the digital signal.</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amplitude of the carrier signal varies according to the amplitude of the message signal.</a:t>
            </a:r>
          </a:p>
        </p:txBody>
      </p:sp>
      <p:cxnSp>
        <p:nvCxnSpPr>
          <p:cNvPr id="3" name="Straight Arrow Connector 2">
            <a:extLst>
              <a:ext uri="{FF2B5EF4-FFF2-40B4-BE49-F238E27FC236}">
                <a16:creationId xmlns:a16="http://schemas.microsoft.com/office/drawing/2014/main" id="{C073ECD4-E2C3-483E-920B-63CA6C5529A5}"/>
              </a:ext>
            </a:extLst>
          </p:cNvPr>
          <p:cNvCxnSpPr>
            <a:cxnSpLocks/>
          </p:cNvCxnSpPr>
          <p:nvPr/>
        </p:nvCxnSpPr>
        <p:spPr>
          <a:xfrm>
            <a:off x="755780" y="3760237"/>
            <a:ext cx="279918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 name="Connector: Elbow 4">
            <a:extLst>
              <a:ext uri="{FF2B5EF4-FFF2-40B4-BE49-F238E27FC236}">
                <a16:creationId xmlns:a16="http://schemas.microsoft.com/office/drawing/2014/main" id="{2FAE4869-BE5C-477D-8E8D-1EEB152BD1CF}"/>
              </a:ext>
            </a:extLst>
          </p:cNvPr>
          <p:cNvCxnSpPr/>
          <p:nvPr/>
        </p:nvCxnSpPr>
        <p:spPr>
          <a:xfrm flipV="1">
            <a:off x="755780" y="3429000"/>
            <a:ext cx="326571" cy="209939"/>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7" name="Connector: Elbow 6">
            <a:extLst>
              <a:ext uri="{FF2B5EF4-FFF2-40B4-BE49-F238E27FC236}">
                <a16:creationId xmlns:a16="http://schemas.microsoft.com/office/drawing/2014/main" id="{D8C53599-DCC4-4DD0-89D0-2EE1169D9769}"/>
              </a:ext>
            </a:extLst>
          </p:cNvPr>
          <p:cNvCxnSpPr/>
          <p:nvPr/>
        </p:nvCxnSpPr>
        <p:spPr>
          <a:xfrm>
            <a:off x="1082351" y="3429000"/>
            <a:ext cx="335902" cy="209939"/>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9" name="Connector: Elbow 8">
            <a:extLst>
              <a:ext uri="{FF2B5EF4-FFF2-40B4-BE49-F238E27FC236}">
                <a16:creationId xmlns:a16="http://schemas.microsoft.com/office/drawing/2014/main" id="{ED56B2C9-4BCB-4121-9CA8-94367A649937}"/>
              </a:ext>
            </a:extLst>
          </p:cNvPr>
          <p:cNvCxnSpPr>
            <a:cxnSpLocks/>
          </p:cNvCxnSpPr>
          <p:nvPr/>
        </p:nvCxnSpPr>
        <p:spPr>
          <a:xfrm flipV="1">
            <a:off x="1408922" y="3429000"/>
            <a:ext cx="261257" cy="209939"/>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AE1189C8-06CE-4183-BAD6-B381528BBBE1}"/>
              </a:ext>
            </a:extLst>
          </p:cNvPr>
          <p:cNvCxnSpPr/>
          <p:nvPr/>
        </p:nvCxnSpPr>
        <p:spPr>
          <a:xfrm>
            <a:off x="2220686" y="3429000"/>
            <a:ext cx="354563" cy="209939"/>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251BA4C7-6D18-40E6-9D0D-DDF8C2D1E402}"/>
              </a:ext>
            </a:extLst>
          </p:cNvPr>
          <p:cNvCxnSpPr>
            <a:cxnSpLocks/>
          </p:cNvCxnSpPr>
          <p:nvPr/>
        </p:nvCxnSpPr>
        <p:spPr>
          <a:xfrm flipV="1">
            <a:off x="2565919" y="3429000"/>
            <a:ext cx="354563" cy="209943"/>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CF1F88B5-ED89-4E37-913F-EE171FCF4337}"/>
              </a:ext>
            </a:extLst>
          </p:cNvPr>
          <p:cNvSpPr txBox="1"/>
          <p:nvPr/>
        </p:nvSpPr>
        <p:spPr>
          <a:xfrm>
            <a:off x="943211" y="3121223"/>
            <a:ext cx="274434"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1</a:t>
            </a:r>
          </a:p>
        </p:txBody>
      </p:sp>
      <p:sp>
        <p:nvSpPr>
          <p:cNvPr id="27" name="TextBox 26">
            <a:extLst>
              <a:ext uri="{FF2B5EF4-FFF2-40B4-BE49-F238E27FC236}">
                <a16:creationId xmlns:a16="http://schemas.microsoft.com/office/drawing/2014/main" id="{FC90ED57-3600-4A8B-9742-A1BFEFE21655}"/>
              </a:ext>
            </a:extLst>
          </p:cNvPr>
          <p:cNvSpPr txBox="1"/>
          <p:nvPr/>
        </p:nvSpPr>
        <p:spPr>
          <a:xfrm>
            <a:off x="1251120" y="3121222"/>
            <a:ext cx="274434"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0</a:t>
            </a:r>
          </a:p>
        </p:txBody>
      </p:sp>
      <p:sp>
        <p:nvSpPr>
          <p:cNvPr id="28" name="TextBox 27">
            <a:extLst>
              <a:ext uri="{FF2B5EF4-FFF2-40B4-BE49-F238E27FC236}">
                <a16:creationId xmlns:a16="http://schemas.microsoft.com/office/drawing/2014/main" id="{EE491D4A-9F0D-4344-AB70-825200A348B9}"/>
              </a:ext>
            </a:extLst>
          </p:cNvPr>
          <p:cNvSpPr txBox="1"/>
          <p:nvPr/>
        </p:nvSpPr>
        <p:spPr>
          <a:xfrm>
            <a:off x="1575359" y="3107158"/>
            <a:ext cx="274434" cy="307777"/>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1</a:t>
            </a:r>
          </a:p>
        </p:txBody>
      </p:sp>
      <p:sp>
        <p:nvSpPr>
          <p:cNvPr id="29" name="TextBox 28">
            <a:extLst>
              <a:ext uri="{FF2B5EF4-FFF2-40B4-BE49-F238E27FC236}">
                <a16:creationId xmlns:a16="http://schemas.microsoft.com/office/drawing/2014/main" id="{5459C87E-4FD6-487E-8EAE-FAC770698576}"/>
              </a:ext>
            </a:extLst>
          </p:cNvPr>
          <p:cNvSpPr txBox="1"/>
          <p:nvPr/>
        </p:nvSpPr>
        <p:spPr>
          <a:xfrm>
            <a:off x="1880936" y="3107157"/>
            <a:ext cx="274434"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1</a:t>
            </a:r>
          </a:p>
        </p:txBody>
      </p:sp>
      <p:sp>
        <p:nvSpPr>
          <p:cNvPr id="30" name="TextBox 29">
            <a:extLst>
              <a:ext uri="{FF2B5EF4-FFF2-40B4-BE49-F238E27FC236}">
                <a16:creationId xmlns:a16="http://schemas.microsoft.com/office/drawing/2014/main" id="{91E491B5-3F38-46FA-8DCB-B04A681834FC}"/>
              </a:ext>
            </a:extLst>
          </p:cNvPr>
          <p:cNvSpPr txBox="1"/>
          <p:nvPr/>
        </p:nvSpPr>
        <p:spPr>
          <a:xfrm>
            <a:off x="2145343" y="3121219"/>
            <a:ext cx="274434"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1</a:t>
            </a:r>
          </a:p>
        </p:txBody>
      </p:sp>
      <p:sp>
        <p:nvSpPr>
          <p:cNvPr id="31" name="TextBox 30">
            <a:extLst>
              <a:ext uri="{FF2B5EF4-FFF2-40B4-BE49-F238E27FC236}">
                <a16:creationId xmlns:a16="http://schemas.microsoft.com/office/drawing/2014/main" id="{ECAF8205-8F66-4ED5-83DD-A4A8321BE60B}"/>
              </a:ext>
            </a:extLst>
          </p:cNvPr>
          <p:cNvSpPr txBox="1"/>
          <p:nvPr/>
        </p:nvSpPr>
        <p:spPr>
          <a:xfrm>
            <a:off x="2447889" y="3121221"/>
            <a:ext cx="274434"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0</a:t>
            </a:r>
          </a:p>
        </p:txBody>
      </p:sp>
      <p:sp>
        <p:nvSpPr>
          <p:cNvPr id="33" name="Oval 32">
            <a:extLst>
              <a:ext uri="{FF2B5EF4-FFF2-40B4-BE49-F238E27FC236}">
                <a16:creationId xmlns:a16="http://schemas.microsoft.com/office/drawing/2014/main" id="{33EDD617-AB54-47B8-87BC-523F94D266FD}"/>
              </a:ext>
            </a:extLst>
          </p:cNvPr>
          <p:cNvSpPr/>
          <p:nvPr/>
        </p:nvSpPr>
        <p:spPr>
          <a:xfrm>
            <a:off x="3564643" y="3350391"/>
            <a:ext cx="886060" cy="81969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5" name="Straight Connector 34">
            <a:extLst>
              <a:ext uri="{FF2B5EF4-FFF2-40B4-BE49-F238E27FC236}">
                <a16:creationId xmlns:a16="http://schemas.microsoft.com/office/drawing/2014/main" id="{8D720FE0-FB32-4330-AE8D-259681430E54}"/>
              </a:ext>
            </a:extLst>
          </p:cNvPr>
          <p:cNvCxnSpPr>
            <a:cxnSpLocks/>
            <a:stCxn id="33" idx="7"/>
            <a:endCxn id="33" idx="3"/>
          </p:cNvCxnSpPr>
          <p:nvPr/>
        </p:nvCxnSpPr>
        <p:spPr>
          <a:xfrm flipH="1">
            <a:off x="3694403" y="3470432"/>
            <a:ext cx="626540" cy="579609"/>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5F6A5647-5FA9-4A2C-813C-F6092D36E3BC}"/>
              </a:ext>
            </a:extLst>
          </p:cNvPr>
          <p:cNvCxnSpPr>
            <a:cxnSpLocks/>
            <a:stCxn id="33" idx="1"/>
            <a:endCxn id="33" idx="5"/>
          </p:cNvCxnSpPr>
          <p:nvPr/>
        </p:nvCxnSpPr>
        <p:spPr>
          <a:xfrm>
            <a:off x="3694403" y="3470432"/>
            <a:ext cx="626540" cy="579609"/>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A468B6D8-748B-459F-AB37-0C7FE7F03B5A}"/>
              </a:ext>
            </a:extLst>
          </p:cNvPr>
          <p:cNvCxnSpPr>
            <a:endCxn id="33" idx="4"/>
          </p:cNvCxnSpPr>
          <p:nvPr/>
        </p:nvCxnSpPr>
        <p:spPr>
          <a:xfrm flipV="1">
            <a:off x="4007673" y="4170082"/>
            <a:ext cx="0" cy="20161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5FCE3601-C5E2-482E-AE37-84FF9AC9FAE4}"/>
              </a:ext>
            </a:extLst>
          </p:cNvPr>
          <p:cNvSpPr txBox="1"/>
          <p:nvPr/>
        </p:nvSpPr>
        <p:spPr>
          <a:xfrm rot="16200000">
            <a:off x="2927673" y="4825784"/>
            <a:ext cx="1593134"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Carrier Signal</a:t>
            </a:r>
          </a:p>
        </p:txBody>
      </p:sp>
      <p:sp>
        <p:nvSpPr>
          <p:cNvPr id="52" name="TextBox 51">
            <a:extLst>
              <a:ext uri="{FF2B5EF4-FFF2-40B4-BE49-F238E27FC236}">
                <a16:creationId xmlns:a16="http://schemas.microsoft.com/office/drawing/2014/main" id="{3ACC2B1E-9B2F-4043-B700-A6AAA02B8C6A}"/>
              </a:ext>
            </a:extLst>
          </p:cNvPr>
          <p:cNvSpPr txBox="1"/>
          <p:nvPr/>
        </p:nvSpPr>
        <p:spPr>
          <a:xfrm>
            <a:off x="1094452" y="3829161"/>
            <a:ext cx="2248676"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Message Signal</a:t>
            </a:r>
          </a:p>
        </p:txBody>
      </p:sp>
      <p:sp>
        <p:nvSpPr>
          <p:cNvPr id="76" name="Freeform: Shape 75">
            <a:extLst>
              <a:ext uri="{FF2B5EF4-FFF2-40B4-BE49-F238E27FC236}">
                <a16:creationId xmlns:a16="http://schemas.microsoft.com/office/drawing/2014/main" id="{A560BD43-7415-43A0-8DD6-2B070A5C23DB}"/>
              </a:ext>
            </a:extLst>
          </p:cNvPr>
          <p:cNvSpPr/>
          <p:nvPr/>
        </p:nvSpPr>
        <p:spPr>
          <a:xfrm flipH="1">
            <a:off x="4222061" y="5572707"/>
            <a:ext cx="606518" cy="394568"/>
          </a:xfrm>
          <a:custGeom>
            <a:avLst/>
            <a:gdLst>
              <a:gd name="connsiteX0" fmla="*/ 0 w 1623554"/>
              <a:gd name="connsiteY0" fmla="*/ 727788 h 727788"/>
              <a:gd name="connsiteX1" fmla="*/ 1623526 w 1623554"/>
              <a:gd name="connsiteY1" fmla="*/ 382555 h 727788"/>
              <a:gd name="connsiteX2" fmla="*/ 46653 w 1623554"/>
              <a:gd name="connsiteY2" fmla="*/ 0 h 727788"/>
              <a:gd name="connsiteX3" fmla="*/ 46653 w 1623554"/>
              <a:gd name="connsiteY3" fmla="*/ 0 h 727788"/>
              <a:gd name="connsiteX4" fmla="*/ 46653 w 1623554"/>
              <a:gd name="connsiteY4" fmla="*/ 0 h 727788"/>
              <a:gd name="connsiteX5" fmla="*/ 46653 w 1623554"/>
              <a:gd name="connsiteY5" fmla="*/ 0 h 727788"/>
              <a:gd name="connsiteX6" fmla="*/ 46653 w 1623554"/>
              <a:gd name="connsiteY6" fmla="*/ 0 h 727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23554" h="727788">
                <a:moveTo>
                  <a:pt x="0" y="727788"/>
                </a:moveTo>
                <a:cubicBezTo>
                  <a:pt x="807875" y="615820"/>
                  <a:pt x="1615751" y="503853"/>
                  <a:pt x="1623526" y="382555"/>
                </a:cubicBezTo>
                <a:cubicBezTo>
                  <a:pt x="1631301" y="261257"/>
                  <a:pt x="46653" y="0"/>
                  <a:pt x="46653" y="0"/>
                </a:cubicBezTo>
                <a:lnTo>
                  <a:pt x="46653" y="0"/>
                </a:lnTo>
                <a:lnTo>
                  <a:pt x="46653" y="0"/>
                </a:lnTo>
                <a:lnTo>
                  <a:pt x="46653" y="0"/>
                </a:lnTo>
                <a:lnTo>
                  <a:pt x="46653"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Freeform: Shape 76">
            <a:extLst>
              <a:ext uri="{FF2B5EF4-FFF2-40B4-BE49-F238E27FC236}">
                <a16:creationId xmlns:a16="http://schemas.microsoft.com/office/drawing/2014/main" id="{219BCBAE-B430-4AF7-A19A-5058713C55E8}"/>
              </a:ext>
            </a:extLst>
          </p:cNvPr>
          <p:cNvSpPr/>
          <p:nvPr/>
        </p:nvSpPr>
        <p:spPr>
          <a:xfrm flipH="1">
            <a:off x="4222061" y="5178139"/>
            <a:ext cx="606518" cy="394568"/>
          </a:xfrm>
          <a:custGeom>
            <a:avLst/>
            <a:gdLst>
              <a:gd name="connsiteX0" fmla="*/ 0 w 1623554"/>
              <a:gd name="connsiteY0" fmla="*/ 727788 h 727788"/>
              <a:gd name="connsiteX1" fmla="*/ 1623526 w 1623554"/>
              <a:gd name="connsiteY1" fmla="*/ 382555 h 727788"/>
              <a:gd name="connsiteX2" fmla="*/ 46653 w 1623554"/>
              <a:gd name="connsiteY2" fmla="*/ 0 h 727788"/>
              <a:gd name="connsiteX3" fmla="*/ 46653 w 1623554"/>
              <a:gd name="connsiteY3" fmla="*/ 0 h 727788"/>
              <a:gd name="connsiteX4" fmla="*/ 46653 w 1623554"/>
              <a:gd name="connsiteY4" fmla="*/ 0 h 727788"/>
              <a:gd name="connsiteX5" fmla="*/ 46653 w 1623554"/>
              <a:gd name="connsiteY5" fmla="*/ 0 h 727788"/>
              <a:gd name="connsiteX6" fmla="*/ 46653 w 1623554"/>
              <a:gd name="connsiteY6" fmla="*/ 0 h 727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23554" h="727788">
                <a:moveTo>
                  <a:pt x="0" y="727788"/>
                </a:moveTo>
                <a:cubicBezTo>
                  <a:pt x="807875" y="615820"/>
                  <a:pt x="1615751" y="503853"/>
                  <a:pt x="1623526" y="382555"/>
                </a:cubicBezTo>
                <a:cubicBezTo>
                  <a:pt x="1631301" y="261257"/>
                  <a:pt x="46653" y="0"/>
                  <a:pt x="46653" y="0"/>
                </a:cubicBezTo>
                <a:lnTo>
                  <a:pt x="46653" y="0"/>
                </a:lnTo>
                <a:lnTo>
                  <a:pt x="46653" y="0"/>
                </a:lnTo>
                <a:lnTo>
                  <a:pt x="46653" y="0"/>
                </a:lnTo>
                <a:lnTo>
                  <a:pt x="46653"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Freeform: Shape 77">
            <a:extLst>
              <a:ext uri="{FF2B5EF4-FFF2-40B4-BE49-F238E27FC236}">
                <a16:creationId xmlns:a16="http://schemas.microsoft.com/office/drawing/2014/main" id="{C398C878-834B-4E51-B9EE-A6493BA88E70}"/>
              </a:ext>
            </a:extLst>
          </p:cNvPr>
          <p:cNvSpPr/>
          <p:nvPr/>
        </p:nvSpPr>
        <p:spPr>
          <a:xfrm flipH="1">
            <a:off x="4198817" y="4783571"/>
            <a:ext cx="606518" cy="394568"/>
          </a:xfrm>
          <a:custGeom>
            <a:avLst/>
            <a:gdLst>
              <a:gd name="connsiteX0" fmla="*/ 0 w 1623554"/>
              <a:gd name="connsiteY0" fmla="*/ 727788 h 727788"/>
              <a:gd name="connsiteX1" fmla="*/ 1623526 w 1623554"/>
              <a:gd name="connsiteY1" fmla="*/ 382555 h 727788"/>
              <a:gd name="connsiteX2" fmla="*/ 46653 w 1623554"/>
              <a:gd name="connsiteY2" fmla="*/ 0 h 727788"/>
              <a:gd name="connsiteX3" fmla="*/ 46653 w 1623554"/>
              <a:gd name="connsiteY3" fmla="*/ 0 h 727788"/>
              <a:gd name="connsiteX4" fmla="*/ 46653 w 1623554"/>
              <a:gd name="connsiteY4" fmla="*/ 0 h 727788"/>
              <a:gd name="connsiteX5" fmla="*/ 46653 w 1623554"/>
              <a:gd name="connsiteY5" fmla="*/ 0 h 727788"/>
              <a:gd name="connsiteX6" fmla="*/ 46653 w 1623554"/>
              <a:gd name="connsiteY6" fmla="*/ 0 h 727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23554" h="727788">
                <a:moveTo>
                  <a:pt x="0" y="727788"/>
                </a:moveTo>
                <a:cubicBezTo>
                  <a:pt x="807875" y="615820"/>
                  <a:pt x="1615751" y="503853"/>
                  <a:pt x="1623526" y="382555"/>
                </a:cubicBezTo>
                <a:cubicBezTo>
                  <a:pt x="1631301" y="261257"/>
                  <a:pt x="46653" y="0"/>
                  <a:pt x="46653" y="0"/>
                </a:cubicBezTo>
                <a:lnTo>
                  <a:pt x="46653" y="0"/>
                </a:lnTo>
                <a:lnTo>
                  <a:pt x="46653" y="0"/>
                </a:lnTo>
                <a:lnTo>
                  <a:pt x="46653" y="0"/>
                </a:lnTo>
                <a:lnTo>
                  <a:pt x="46653"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reeform: Shape 78">
            <a:extLst>
              <a:ext uri="{FF2B5EF4-FFF2-40B4-BE49-F238E27FC236}">
                <a16:creationId xmlns:a16="http://schemas.microsoft.com/office/drawing/2014/main" id="{71DF4FA6-6672-49D6-BE05-1662A8C96676}"/>
              </a:ext>
            </a:extLst>
          </p:cNvPr>
          <p:cNvSpPr/>
          <p:nvPr/>
        </p:nvSpPr>
        <p:spPr>
          <a:xfrm flipH="1">
            <a:off x="4161494" y="4389003"/>
            <a:ext cx="606518" cy="394568"/>
          </a:xfrm>
          <a:custGeom>
            <a:avLst/>
            <a:gdLst>
              <a:gd name="connsiteX0" fmla="*/ 0 w 1623554"/>
              <a:gd name="connsiteY0" fmla="*/ 727788 h 727788"/>
              <a:gd name="connsiteX1" fmla="*/ 1623526 w 1623554"/>
              <a:gd name="connsiteY1" fmla="*/ 382555 h 727788"/>
              <a:gd name="connsiteX2" fmla="*/ 46653 w 1623554"/>
              <a:gd name="connsiteY2" fmla="*/ 0 h 727788"/>
              <a:gd name="connsiteX3" fmla="*/ 46653 w 1623554"/>
              <a:gd name="connsiteY3" fmla="*/ 0 h 727788"/>
              <a:gd name="connsiteX4" fmla="*/ 46653 w 1623554"/>
              <a:gd name="connsiteY4" fmla="*/ 0 h 727788"/>
              <a:gd name="connsiteX5" fmla="*/ 46653 w 1623554"/>
              <a:gd name="connsiteY5" fmla="*/ 0 h 727788"/>
              <a:gd name="connsiteX6" fmla="*/ 46653 w 1623554"/>
              <a:gd name="connsiteY6" fmla="*/ 0 h 727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23554" h="727788">
                <a:moveTo>
                  <a:pt x="0" y="727788"/>
                </a:moveTo>
                <a:cubicBezTo>
                  <a:pt x="807875" y="615820"/>
                  <a:pt x="1615751" y="503853"/>
                  <a:pt x="1623526" y="382555"/>
                </a:cubicBezTo>
                <a:cubicBezTo>
                  <a:pt x="1631301" y="261257"/>
                  <a:pt x="46653" y="0"/>
                  <a:pt x="46653" y="0"/>
                </a:cubicBezTo>
                <a:lnTo>
                  <a:pt x="46653" y="0"/>
                </a:lnTo>
                <a:lnTo>
                  <a:pt x="46653" y="0"/>
                </a:lnTo>
                <a:lnTo>
                  <a:pt x="46653" y="0"/>
                </a:lnTo>
                <a:lnTo>
                  <a:pt x="46653"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Straight Arrow Connector 80">
            <a:extLst>
              <a:ext uri="{FF2B5EF4-FFF2-40B4-BE49-F238E27FC236}">
                <a16:creationId xmlns:a16="http://schemas.microsoft.com/office/drawing/2014/main" id="{1D129131-1B25-45E8-838D-64BE32207D76}"/>
              </a:ext>
            </a:extLst>
          </p:cNvPr>
          <p:cNvCxnSpPr>
            <a:cxnSpLocks/>
            <a:stCxn id="33" idx="6"/>
          </p:cNvCxnSpPr>
          <p:nvPr/>
        </p:nvCxnSpPr>
        <p:spPr>
          <a:xfrm>
            <a:off x="4450703" y="3760237"/>
            <a:ext cx="31817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5D0BCF93-0A12-4253-848E-2DD0E625077B}"/>
              </a:ext>
            </a:extLst>
          </p:cNvPr>
          <p:cNvSpPr txBox="1"/>
          <p:nvPr/>
        </p:nvSpPr>
        <p:spPr>
          <a:xfrm>
            <a:off x="5144684" y="3782735"/>
            <a:ext cx="2250937" cy="338554"/>
          </a:xfrm>
          <a:prstGeom prst="rect">
            <a:avLst/>
          </a:prstGeom>
          <a:noFill/>
        </p:spPr>
        <p:txBody>
          <a:bodyPr wrap="none" rtlCol="0">
            <a:spAutoFit/>
          </a:bodyPr>
          <a:lstStyle/>
          <a:p>
            <a:r>
              <a:rPr lang="en-US" sz="1600" dirty="0">
                <a:latin typeface="Times New Roman" panose="02020603050405020304" pitchFamily="18" charset="0"/>
                <a:cs typeface="Times New Roman" panose="02020603050405020304" pitchFamily="18" charset="0"/>
              </a:rPr>
              <a:t>Modulated Signal (ASK)</a:t>
            </a:r>
          </a:p>
        </p:txBody>
      </p:sp>
      <p:sp>
        <p:nvSpPr>
          <p:cNvPr id="84" name="TextBox 83">
            <a:extLst>
              <a:ext uri="{FF2B5EF4-FFF2-40B4-BE49-F238E27FC236}">
                <a16:creationId xmlns:a16="http://schemas.microsoft.com/office/drawing/2014/main" id="{11722031-97AF-4CBD-9F23-4B023536A3C1}"/>
              </a:ext>
            </a:extLst>
          </p:cNvPr>
          <p:cNvSpPr txBox="1"/>
          <p:nvPr/>
        </p:nvSpPr>
        <p:spPr>
          <a:xfrm>
            <a:off x="3506711" y="2955823"/>
            <a:ext cx="1205046"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Multiplier</a:t>
            </a:r>
          </a:p>
        </p:txBody>
      </p:sp>
      <p:sp>
        <p:nvSpPr>
          <p:cNvPr id="86" name="Freeform: Shape 85">
            <a:extLst>
              <a:ext uri="{FF2B5EF4-FFF2-40B4-BE49-F238E27FC236}">
                <a16:creationId xmlns:a16="http://schemas.microsoft.com/office/drawing/2014/main" id="{D73C447F-54B0-4B37-8B0E-91F2AE906455}"/>
              </a:ext>
            </a:extLst>
          </p:cNvPr>
          <p:cNvSpPr/>
          <p:nvPr/>
        </p:nvSpPr>
        <p:spPr>
          <a:xfrm rot="5400000" flipH="1">
            <a:off x="4763613" y="3100838"/>
            <a:ext cx="606518" cy="394568"/>
          </a:xfrm>
          <a:custGeom>
            <a:avLst/>
            <a:gdLst>
              <a:gd name="connsiteX0" fmla="*/ 0 w 1623554"/>
              <a:gd name="connsiteY0" fmla="*/ 727788 h 727788"/>
              <a:gd name="connsiteX1" fmla="*/ 1623526 w 1623554"/>
              <a:gd name="connsiteY1" fmla="*/ 382555 h 727788"/>
              <a:gd name="connsiteX2" fmla="*/ 46653 w 1623554"/>
              <a:gd name="connsiteY2" fmla="*/ 0 h 727788"/>
              <a:gd name="connsiteX3" fmla="*/ 46653 w 1623554"/>
              <a:gd name="connsiteY3" fmla="*/ 0 h 727788"/>
              <a:gd name="connsiteX4" fmla="*/ 46653 w 1623554"/>
              <a:gd name="connsiteY4" fmla="*/ 0 h 727788"/>
              <a:gd name="connsiteX5" fmla="*/ 46653 w 1623554"/>
              <a:gd name="connsiteY5" fmla="*/ 0 h 727788"/>
              <a:gd name="connsiteX6" fmla="*/ 46653 w 1623554"/>
              <a:gd name="connsiteY6" fmla="*/ 0 h 727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23554" h="727788">
                <a:moveTo>
                  <a:pt x="0" y="727788"/>
                </a:moveTo>
                <a:cubicBezTo>
                  <a:pt x="807875" y="615820"/>
                  <a:pt x="1615751" y="503853"/>
                  <a:pt x="1623526" y="382555"/>
                </a:cubicBezTo>
                <a:cubicBezTo>
                  <a:pt x="1631301" y="261257"/>
                  <a:pt x="46653" y="0"/>
                  <a:pt x="46653" y="0"/>
                </a:cubicBezTo>
                <a:lnTo>
                  <a:pt x="46653" y="0"/>
                </a:lnTo>
                <a:lnTo>
                  <a:pt x="46653" y="0"/>
                </a:lnTo>
                <a:lnTo>
                  <a:pt x="46653" y="0"/>
                </a:lnTo>
                <a:lnTo>
                  <a:pt x="46653"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0" name="Straight Connector 89">
            <a:extLst>
              <a:ext uri="{FF2B5EF4-FFF2-40B4-BE49-F238E27FC236}">
                <a16:creationId xmlns:a16="http://schemas.microsoft.com/office/drawing/2014/main" id="{99A76CF5-BB40-4F08-B63C-A65BAF9A6909}"/>
              </a:ext>
            </a:extLst>
          </p:cNvPr>
          <p:cNvCxnSpPr>
            <a:cxnSpLocks/>
            <a:stCxn id="86" idx="2"/>
          </p:cNvCxnSpPr>
          <p:nvPr/>
        </p:nvCxnSpPr>
        <p:spPr>
          <a:xfrm>
            <a:off x="5264156" y="3583953"/>
            <a:ext cx="331413" cy="0"/>
          </a:xfrm>
          <a:prstGeom prst="line">
            <a:avLst/>
          </a:prstGeom>
        </p:spPr>
        <p:style>
          <a:lnRef idx="1">
            <a:schemeClr val="accent1"/>
          </a:lnRef>
          <a:fillRef idx="0">
            <a:schemeClr val="accent1"/>
          </a:fillRef>
          <a:effectRef idx="0">
            <a:schemeClr val="accent1"/>
          </a:effectRef>
          <a:fontRef idx="minor">
            <a:schemeClr val="tx1"/>
          </a:fontRef>
        </p:style>
      </p:cxnSp>
      <p:sp>
        <p:nvSpPr>
          <p:cNvPr id="92" name="Freeform: Shape 91">
            <a:extLst>
              <a:ext uri="{FF2B5EF4-FFF2-40B4-BE49-F238E27FC236}">
                <a16:creationId xmlns:a16="http://schemas.microsoft.com/office/drawing/2014/main" id="{9CE2B7DA-7413-4380-9A41-9ACD08F68471}"/>
              </a:ext>
            </a:extLst>
          </p:cNvPr>
          <p:cNvSpPr/>
          <p:nvPr/>
        </p:nvSpPr>
        <p:spPr>
          <a:xfrm rot="5400000" flipH="1">
            <a:off x="5492974" y="3094534"/>
            <a:ext cx="606518" cy="394568"/>
          </a:xfrm>
          <a:custGeom>
            <a:avLst/>
            <a:gdLst>
              <a:gd name="connsiteX0" fmla="*/ 0 w 1623554"/>
              <a:gd name="connsiteY0" fmla="*/ 727788 h 727788"/>
              <a:gd name="connsiteX1" fmla="*/ 1623526 w 1623554"/>
              <a:gd name="connsiteY1" fmla="*/ 382555 h 727788"/>
              <a:gd name="connsiteX2" fmla="*/ 46653 w 1623554"/>
              <a:gd name="connsiteY2" fmla="*/ 0 h 727788"/>
              <a:gd name="connsiteX3" fmla="*/ 46653 w 1623554"/>
              <a:gd name="connsiteY3" fmla="*/ 0 h 727788"/>
              <a:gd name="connsiteX4" fmla="*/ 46653 w 1623554"/>
              <a:gd name="connsiteY4" fmla="*/ 0 h 727788"/>
              <a:gd name="connsiteX5" fmla="*/ 46653 w 1623554"/>
              <a:gd name="connsiteY5" fmla="*/ 0 h 727788"/>
              <a:gd name="connsiteX6" fmla="*/ 46653 w 1623554"/>
              <a:gd name="connsiteY6" fmla="*/ 0 h 727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23554" h="727788">
                <a:moveTo>
                  <a:pt x="0" y="727788"/>
                </a:moveTo>
                <a:cubicBezTo>
                  <a:pt x="807875" y="615820"/>
                  <a:pt x="1615751" y="503853"/>
                  <a:pt x="1623526" y="382555"/>
                </a:cubicBezTo>
                <a:cubicBezTo>
                  <a:pt x="1631301" y="261257"/>
                  <a:pt x="46653" y="0"/>
                  <a:pt x="46653" y="0"/>
                </a:cubicBezTo>
                <a:lnTo>
                  <a:pt x="46653" y="0"/>
                </a:lnTo>
                <a:lnTo>
                  <a:pt x="46653" y="0"/>
                </a:lnTo>
                <a:lnTo>
                  <a:pt x="46653" y="0"/>
                </a:lnTo>
                <a:lnTo>
                  <a:pt x="46653"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Freeform: Shape 94">
            <a:extLst>
              <a:ext uri="{FF2B5EF4-FFF2-40B4-BE49-F238E27FC236}">
                <a16:creationId xmlns:a16="http://schemas.microsoft.com/office/drawing/2014/main" id="{DCB81BBA-6CCB-402F-85C5-1C1A585E7053}"/>
              </a:ext>
            </a:extLst>
          </p:cNvPr>
          <p:cNvSpPr/>
          <p:nvPr/>
        </p:nvSpPr>
        <p:spPr>
          <a:xfrm rot="5400000" flipH="1">
            <a:off x="5881713" y="3077433"/>
            <a:ext cx="606518" cy="394568"/>
          </a:xfrm>
          <a:custGeom>
            <a:avLst/>
            <a:gdLst>
              <a:gd name="connsiteX0" fmla="*/ 0 w 1623554"/>
              <a:gd name="connsiteY0" fmla="*/ 727788 h 727788"/>
              <a:gd name="connsiteX1" fmla="*/ 1623526 w 1623554"/>
              <a:gd name="connsiteY1" fmla="*/ 382555 h 727788"/>
              <a:gd name="connsiteX2" fmla="*/ 46653 w 1623554"/>
              <a:gd name="connsiteY2" fmla="*/ 0 h 727788"/>
              <a:gd name="connsiteX3" fmla="*/ 46653 w 1623554"/>
              <a:gd name="connsiteY3" fmla="*/ 0 h 727788"/>
              <a:gd name="connsiteX4" fmla="*/ 46653 w 1623554"/>
              <a:gd name="connsiteY4" fmla="*/ 0 h 727788"/>
              <a:gd name="connsiteX5" fmla="*/ 46653 w 1623554"/>
              <a:gd name="connsiteY5" fmla="*/ 0 h 727788"/>
              <a:gd name="connsiteX6" fmla="*/ 46653 w 1623554"/>
              <a:gd name="connsiteY6" fmla="*/ 0 h 727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23554" h="727788">
                <a:moveTo>
                  <a:pt x="0" y="727788"/>
                </a:moveTo>
                <a:cubicBezTo>
                  <a:pt x="807875" y="615820"/>
                  <a:pt x="1615751" y="503853"/>
                  <a:pt x="1623526" y="382555"/>
                </a:cubicBezTo>
                <a:cubicBezTo>
                  <a:pt x="1631301" y="261257"/>
                  <a:pt x="46653" y="0"/>
                  <a:pt x="46653" y="0"/>
                </a:cubicBezTo>
                <a:lnTo>
                  <a:pt x="46653" y="0"/>
                </a:lnTo>
                <a:lnTo>
                  <a:pt x="46653" y="0"/>
                </a:lnTo>
                <a:lnTo>
                  <a:pt x="46653" y="0"/>
                </a:lnTo>
                <a:lnTo>
                  <a:pt x="46653"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6" name="Straight Connector 95">
            <a:extLst>
              <a:ext uri="{FF2B5EF4-FFF2-40B4-BE49-F238E27FC236}">
                <a16:creationId xmlns:a16="http://schemas.microsoft.com/office/drawing/2014/main" id="{9B67285F-8526-47A4-B854-76C177A530A0}"/>
              </a:ext>
            </a:extLst>
          </p:cNvPr>
          <p:cNvCxnSpPr>
            <a:cxnSpLocks/>
          </p:cNvCxnSpPr>
          <p:nvPr/>
        </p:nvCxnSpPr>
        <p:spPr>
          <a:xfrm>
            <a:off x="6779336" y="3533969"/>
            <a:ext cx="331413" cy="0"/>
          </a:xfrm>
          <a:prstGeom prst="line">
            <a:avLst/>
          </a:prstGeom>
        </p:spPr>
        <p:style>
          <a:lnRef idx="1">
            <a:schemeClr val="accent1"/>
          </a:lnRef>
          <a:fillRef idx="0">
            <a:schemeClr val="accent1"/>
          </a:fillRef>
          <a:effectRef idx="0">
            <a:schemeClr val="accent1"/>
          </a:effectRef>
          <a:fontRef idx="minor">
            <a:schemeClr val="tx1"/>
          </a:fontRef>
        </p:style>
      </p:cxnSp>
      <p:sp>
        <p:nvSpPr>
          <p:cNvPr id="97" name="Freeform: Shape 96">
            <a:extLst>
              <a:ext uri="{FF2B5EF4-FFF2-40B4-BE49-F238E27FC236}">
                <a16:creationId xmlns:a16="http://schemas.microsoft.com/office/drawing/2014/main" id="{365AE83A-2162-4933-8914-555EF262C0DA}"/>
              </a:ext>
            </a:extLst>
          </p:cNvPr>
          <p:cNvSpPr/>
          <p:nvPr/>
        </p:nvSpPr>
        <p:spPr>
          <a:xfrm rot="5400000" flipH="1">
            <a:off x="6278793" y="3054771"/>
            <a:ext cx="606518" cy="394568"/>
          </a:xfrm>
          <a:custGeom>
            <a:avLst/>
            <a:gdLst>
              <a:gd name="connsiteX0" fmla="*/ 0 w 1623554"/>
              <a:gd name="connsiteY0" fmla="*/ 727788 h 727788"/>
              <a:gd name="connsiteX1" fmla="*/ 1623526 w 1623554"/>
              <a:gd name="connsiteY1" fmla="*/ 382555 h 727788"/>
              <a:gd name="connsiteX2" fmla="*/ 46653 w 1623554"/>
              <a:gd name="connsiteY2" fmla="*/ 0 h 727788"/>
              <a:gd name="connsiteX3" fmla="*/ 46653 w 1623554"/>
              <a:gd name="connsiteY3" fmla="*/ 0 h 727788"/>
              <a:gd name="connsiteX4" fmla="*/ 46653 w 1623554"/>
              <a:gd name="connsiteY4" fmla="*/ 0 h 727788"/>
              <a:gd name="connsiteX5" fmla="*/ 46653 w 1623554"/>
              <a:gd name="connsiteY5" fmla="*/ 0 h 727788"/>
              <a:gd name="connsiteX6" fmla="*/ 46653 w 1623554"/>
              <a:gd name="connsiteY6" fmla="*/ 0 h 727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23554" h="727788">
                <a:moveTo>
                  <a:pt x="0" y="727788"/>
                </a:moveTo>
                <a:cubicBezTo>
                  <a:pt x="807875" y="615820"/>
                  <a:pt x="1615751" y="503853"/>
                  <a:pt x="1623526" y="382555"/>
                </a:cubicBezTo>
                <a:cubicBezTo>
                  <a:pt x="1631301" y="261257"/>
                  <a:pt x="46653" y="0"/>
                  <a:pt x="46653" y="0"/>
                </a:cubicBezTo>
                <a:lnTo>
                  <a:pt x="46653" y="0"/>
                </a:lnTo>
                <a:lnTo>
                  <a:pt x="46653" y="0"/>
                </a:lnTo>
                <a:lnTo>
                  <a:pt x="46653" y="0"/>
                </a:lnTo>
                <a:lnTo>
                  <a:pt x="46653"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0" name="Straight Connector 109">
            <a:extLst>
              <a:ext uri="{FF2B5EF4-FFF2-40B4-BE49-F238E27FC236}">
                <a16:creationId xmlns:a16="http://schemas.microsoft.com/office/drawing/2014/main" id="{2E8FAED0-5A6E-4C70-BDB2-E38836BACD7D}"/>
              </a:ext>
            </a:extLst>
          </p:cNvPr>
          <p:cNvCxnSpPr>
            <a:cxnSpLocks/>
          </p:cNvCxnSpPr>
          <p:nvPr/>
        </p:nvCxnSpPr>
        <p:spPr>
          <a:xfrm flipH="1">
            <a:off x="1575359" y="3438327"/>
            <a:ext cx="707202"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6527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10"/>
                                        </p:tgtEl>
                                        <p:attrNameLst>
                                          <p:attrName>style.visibility</p:attrName>
                                        </p:attrNameLst>
                                      </p:cBhvr>
                                      <p:to>
                                        <p:strVal val="visible"/>
                                      </p:to>
                                    </p:set>
                                    <p:animEffect transition="in" filter="fade">
                                      <p:cBhvr>
                                        <p:cTn id="17" dur="1000"/>
                                        <p:tgtEl>
                                          <p:spTgt spid="110"/>
                                        </p:tgtEl>
                                      </p:cBhvr>
                                    </p:animEffect>
                                    <p:anim calcmode="lin" valueType="num">
                                      <p:cBhvr>
                                        <p:cTn id="18" dur="1000" fill="hold"/>
                                        <p:tgtEl>
                                          <p:spTgt spid="110"/>
                                        </p:tgtEl>
                                        <p:attrNameLst>
                                          <p:attrName>ppt_x</p:attrName>
                                        </p:attrNameLst>
                                      </p:cBhvr>
                                      <p:tavLst>
                                        <p:tav tm="0">
                                          <p:val>
                                            <p:strVal val="#ppt_x"/>
                                          </p:val>
                                        </p:tav>
                                        <p:tav tm="100000">
                                          <p:val>
                                            <p:strVal val="#ppt_x"/>
                                          </p:val>
                                        </p:tav>
                                      </p:tavLst>
                                    </p:anim>
                                    <p:anim calcmode="lin" valueType="num">
                                      <p:cBhvr>
                                        <p:cTn id="19" dur="1000" fill="hold"/>
                                        <p:tgtEl>
                                          <p:spTgt spid="110"/>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1000"/>
                                        <p:tgtEl>
                                          <p:spTgt spid="9"/>
                                        </p:tgtEl>
                                      </p:cBhvr>
                                    </p:animEffect>
                                    <p:anim calcmode="lin" valueType="num">
                                      <p:cBhvr>
                                        <p:cTn id="23" dur="1000" fill="hold"/>
                                        <p:tgtEl>
                                          <p:spTgt spid="9"/>
                                        </p:tgtEl>
                                        <p:attrNameLst>
                                          <p:attrName>ppt_x</p:attrName>
                                        </p:attrNameLst>
                                      </p:cBhvr>
                                      <p:tavLst>
                                        <p:tav tm="0">
                                          <p:val>
                                            <p:strVal val="#ppt_x"/>
                                          </p:val>
                                        </p:tav>
                                        <p:tav tm="100000">
                                          <p:val>
                                            <p:strVal val="#ppt_x"/>
                                          </p:val>
                                        </p:tav>
                                      </p:tavLst>
                                    </p:anim>
                                    <p:anim calcmode="lin" valueType="num">
                                      <p:cBhvr>
                                        <p:cTn id="24" dur="1000" fill="hold"/>
                                        <p:tgtEl>
                                          <p:spTgt spid="9"/>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1000"/>
                                        <p:tgtEl>
                                          <p:spTgt spid="17"/>
                                        </p:tgtEl>
                                      </p:cBhvr>
                                    </p:animEffect>
                                    <p:anim calcmode="lin" valueType="num">
                                      <p:cBhvr>
                                        <p:cTn id="28" dur="1000" fill="hold"/>
                                        <p:tgtEl>
                                          <p:spTgt spid="17"/>
                                        </p:tgtEl>
                                        <p:attrNameLst>
                                          <p:attrName>ppt_x</p:attrName>
                                        </p:attrNameLst>
                                      </p:cBhvr>
                                      <p:tavLst>
                                        <p:tav tm="0">
                                          <p:val>
                                            <p:strVal val="#ppt_x"/>
                                          </p:val>
                                        </p:tav>
                                        <p:tav tm="100000">
                                          <p:val>
                                            <p:strVal val="#ppt_x"/>
                                          </p:val>
                                        </p:tav>
                                      </p:tavLst>
                                    </p:anim>
                                    <p:anim calcmode="lin" valueType="num">
                                      <p:cBhvr>
                                        <p:cTn id="29" dur="1000" fill="hold"/>
                                        <p:tgtEl>
                                          <p:spTgt spid="17"/>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1000"/>
                                        <p:tgtEl>
                                          <p:spTgt spid="19"/>
                                        </p:tgtEl>
                                      </p:cBhvr>
                                    </p:animEffect>
                                    <p:anim calcmode="lin" valueType="num">
                                      <p:cBhvr>
                                        <p:cTn id="33" dur="1000" fill="hold"/>
                                        <p:tgtEl>
                                          <p:spTgt spid="19"/>
                                        </p:tgtEl>
                                        <p:attrNameLst>
                                          <p:attrName>ppt_x</p:attrName>
                                        </p:attrNameLst>
                                      </p:cBhvr>
                                      <p:tavLst>
                                        <p:tav tm="0">
                                          <p:val>
                                            <p:strVal val="#ppt_x"/>
                                          </p:val>
                                        </p:tav>
                                        <p:tav tm="100000">
                                          <p:val>
                                            <p:strVal val="#ppt_x"/>
                                          </p:val>
                                        </p:tav>
                                      </p:tavLst>
                                    </p:anim>
                                    <p:anim calcmode="lin" valueType="num">
                                      <p:cBhvr>
                                        <p:cTn id="34" dur="1000" fill="hold"/>
                                        <p:tgtEl>
                                          <p:spTgt spid="19"/>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1000"/>
                                        <p:tgtEl>
                                          <p:spTgt spid="25"/>
                                        </p:tgtEl>
                                      </p:cBhvr>
                                    </p:animEffect>
                                    <p:anim calcmode="lin" valueType="num">
                                      <p:cBhvr>
                                        <p:cTn id="38" dur="1000" fill="hold"/>
                                        <p:tgtEl>
                                          <p:spTgt spid="25"/>
                                        </p:tgtEl>
                                        <p:attrNameLst>
                                          <p:attrName>ppt_x</p:attrName>
                                        </p:attrNameLst>
                                      </p:cBhvr>
                                      <p:tavLst>
                                        <p:tav tm="0">
                                          <p:val>
                                            <p:strVal val="#ppt_x"/>
                                          </p:val>
                                        </p:tav>
                                        <p:tav tm="100000">
                                          <p:val>
                                            <p:strVal val="#ppt_x"/>
                                          </p:val>
                                        </p:tav>
                                      </p:tavLst>
                                    </p:anim>
                                    <p:anim calcmode="lin" valueType="num">
                                      <p:cBhvr>
                                        <p:cTn id="39" dur="1000" fill="hold"/>
                                        <p:tgtEl>
                                          <p:spTgt spid="25"/>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fade">
                                      <p:cBhvr>
                                        <p:cTn id="42" dur="1000"/>
                                        <p:tgtEl>
                                          <p:spTgt spid="27"/>
                                        </p:tgtEl>
                                      </p:cBhvr>
                                    </p:animEffect>
                                    <p:anim calcmode="lin" valueType="num">
                                      <p:cBhvr>
                                        <p:cTn id="43" dur="1000" fill="hold"/>
                                        <p:tgtEl>
                                          <p:spTgt spid="27"/>
                                        </p:tgtEl>
                                        <p:attrNameLst>
                                          <p:attrName>ppt_x</p:attrName>
                                        </p:attrNameLst>
                                      </p:cBhvr>
                                      <p:tavLst>
                                        <p:tav tm="0">
                                          <p:val>
                                            <p:strVal val="#ppt_x"/>
                                          </p:val>
                                        </p:tav>
                                        <p:tav tm="100000">
                                          <p:val>
                                            <p:strVal val="#ppt_x"/>
                                          </p:val>
                                        </p:tav>
                                      </p:tavLst>
                                    </p:anim>
                                    <p:anim calcmode="lin" valueType="num">
                                      <p:cBhvr>
                                        <p:cTn id="44" dur="1000" fill="hold"/>
                                        <p:tgtEl>
                                          <p:spTgt spid="27"/>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fade">
                                      <p:cBhvr>
                                        <p:cTn id="47" dur="1000"/>
                                        <p:tgtEl>
                                          <p:spTgt spid="28"/>
                                        </p:tgtEl>
                                      </p:cBhvr>
                                    </p:animEffect>
                                    <p:anim calcmode="lin" valueType="num">
                                      <p:cBhvr>
                                        <p:cTn id="48" dur="1000" fill="hold"/>
                                        <p:tgtEl>
                                          <p:spTgt spid="28"/>
                                        </p:tgtEl>
                                        <p:attrNameLst>
                                          <p:attrName>ppt_x</p:attrName>
                                        </p:attrNameLst>
                                      </p:cBhvr>
                                      <p:tavLst>
                                        <p:tav tm="0">
                                          <p:val>
                                            <p:strVal val="#ppt_x"/>
                                          </p:val>
                                        </p:tav>
                                        <p:tav tm="100000">
                                          <p:val>
                                            <p:strVal val="#ppt_x"/>
                                          </p:val>
                                        </p:tav>
                                      </p:tavLst>
                                    </p:anim>
                                    <p:anim calcmode="lin" valueType="num">
                                      <p:cBhvr>
                                        <p:cTn id="49" dur="1000" fill="hold"/>
                                        <p:tgtEl>
                                          <p:spTgt spid="28"/>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52"/>
                                        </p:tgtEl>
                                        <p:attrNameLst>
                                          <p:attrName>style.visibility</p:attrName>
                                        </p:attrNameLst>
                                      </p:cBhvr>
                                      <p:to>
                                        <p:strVal val="visible"/>
                                      </p:to>
                                    </p:set>
                                    <p:animEffect transition="in" filter="fade">
                                      <p:cBhvr>
                                        <p:cTn id="52" dur="1000"/>
                                        <p:tgtEl>
                                          <p:spTgt spid="52"/>
                                        </p:tgtEl>
                                      </p:cBhvr>
                                    </p:animEffect>
                                    <p:anim calcmode="lin" valueType="num">
                                      <p:cBhvr>
                                        <p:cTn id="53" dur="1000" fill="hold"/>
                                        <p:tgtEl>
                                          <p:spTgt spid="52"/>
                                        </p:tgtEl>
                                        <p:attrNameLst>
                                          <p:attrName>ppt_x</p:attrName>
                                        </p:attrNameLst>
                                      </p:cBhvr>
                                      <p:tavLst>
                                        <p:tav tm="0">
                                          <p:val>
                                            <p:strVal val="#ppt_x"/>
                                          </p:val>
                                        </p:tav>
                                        <p:tav tm="100000">
                                          <p:val>
                                            <p:strVal val="#ppt_x"/>
                                          </p:val>
                                        </p:tav>
                                      </p:tavLst>
                                    </p:anim>
                                    <p:anim calcmode="lin" valueType="num">
                                      <p:cBhvr>
                                        <p:cTn id="54" dur="1000" fill="hold"/>
                                        <p:tgtEl>
                                          <p:spTgt spid="52"/>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3"/>
                                        </p:tgtEl>
                                        <p:attrNameLst>
                                          <p:attrName>style.visibility</p:attrName>
                                        </p:attrNameLst>
                                      </p:cBhvr>
                                      <p:to>
                                        <p:strVal val="visible"/>
                                      </p:to>
                                    </p:set>
                                    <p:animEffect transition="in" filter="fade">
                                      <p:cBhvr>
                                        <p:cTn id="57" dur="1000"/>
                                        <p:tgtEl>
                                          <p:spTgt spid="3"/>
                                        </p:tgtEl>
                                      </p:cBhvr>
                                    </p:animEffect>
                                    <p:anim calcmode="lin" valueType="num">
                                      <p:cBhvr>
                                        <p:cTn id="58" dur="1000" fill="hold"/>
                                        <p:tgtEl>
                                          <p:spTgt spid="3"/>
                                        </p:tgtEl>
                                        <p:attrNameLst>
                                          <p:attrName>ppt_x</p:attrName>
                                        </p:attrNameLst>
                                      </p:cBhvr>
                                      <p:tavLst>
                                        <p:tav tm="0">
                                          <p:val>
                                            <p:strVal val="#ppt_x"/>
                                          </p:val>
                                        </p:tav>
                                        <p:tav tm="100000">
                                          <p:val>
                                            <p:strVal val="#ppt_x"/>
                                          </p:val>
                                        </p:tav>
                                      </p:tavLst>
                                    </p:anim>
                                    <p:anim calcmode="lin" valueType="num">
                                      <p:cBhvr>
                                        <p:cTn id="59" dur="1000" fill="hold"/>
                                        <p:tgtEl>
                                          <p:spTgt spid="3"/>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29"/>
                                        </p:tgtEl>
                                        <p:attrNameLst>
                                          <p:attrName>style.visibility</p:attrName>
                                        </p:attrNameLst>
                                      </p:cBhvr>
                                      <p:to>
                                        <p:strVal val="visible"/>
                                      </p:to>
                                    </p:set>
                                    <p:animEffect transition="in" filter="fade">
                                      <p:cBhvr>
                                        <p:cTn id="62" dur="1000"/>
                                        <p:tgtEl>
                                          <p:spTgt spid="29"/>
                                        </p:tgtEl>
                                      </p:cBhvr>
                                    </p:animEffect>
                                    <p:anim calcmode="lin" valueType="num">
                                      <p:cBhvr>
                                        <p:cTn id="63" dur="1000" fill="hold"/>
                                        <p:tgtEl>
                                          <p:spTgt spid="29"/>
                                        </p:tgtEl>
                                        <p:attrNameLst>
                                          <p:attrName>ppt_x</p:attrName>
                                        </p:attrNameLst>
                                      </p:cBhvr>
                                      <p:tavLst>
                                        <p:tav tm="0">
                                          <p:val>
                                            <p:strVal val="#ppt_x"/>
                                          </p:val>
                                        </p:tav>
                                        <p:tav tm="100000">
                                          <p:val>
                                            <p:strVal val="#ppt_x"/>
                                          </p:val>
                                        </p:tav>
                                      </p:tavLst>
                                    </p:anim>
                                    <p:anim calcmode="lin" valueType="num">
                                      <p:cBhvr>
                                        <p:cTn id="64" dur="1000" fill="hold"/>
                                        <p:tgtEl>
                                          <p:spTgt spid="29"/>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1000"/>
                                        <p:tgtEl>
                                          <p:spTgt spid="30"/>
                                        </p:tgtEl>
                                      </p:cBhvr>
                                    </p:animEffect>
                                    <p:anim calcmode="lin" valueType="num">
                                      <p:cBhvr>
                                        <p:cTn id="68" dur="1000" fill="hold"/>
                                        <p:tgtEl>
                                          <p:spTgt spid="30"/>
                                        </p:tgtEl>
                                        <p:attrNameLst>
                                          <p:attrName>ppt_x</p:attrName>
                                        </p:attrNameLst>
                                      </p:cBhvr>
                                      <p:tavLst>
                                        <p:tav tm="0">
                                          <p:val>
                                            <p:strVal val="#ppt_x"/>
                                          </p:val>
                                        </p:tav>
                                        <p:tav tm="100000">
                                          <p:val>
                                            <p:strVal val="#ppt_x"/>
                                          </p:val>
                                        </p:tav>
                                      </p:tavLst>
                                    </p:anim>
                                    <p:anim calcmode="lin" valueType="num">
                                      <p:cBhvr>
                                        <p:cTn id="69" dur="1000" fill="hold"/>
                                        <p:tgtEl>
                                          <p:spTgt spid="30"/>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31"/>
                                        </p:tgtEl>
                                        <p:attrNameLst>
                                          <p:attrName>style.visibility</p:attrName>
                                        </p:attrNameLst>
                                      </p:cBhvr>
                                      <p:to>
                                        <p:strVal val="visible"/>
                                      </p:to>
                                    </p:set>
                                    <p:animEffect transition="in" filter="fade">
                                      <p:cBhvr>
                                        <p:cTn id="72" dur="1000"/>
                                        <p:tgtEl>
                                          <p:spTgt spid="31"/>
                                        </p:tgtEl>
                                      </p:cBhvr>
                                    </p:animEffect>
                                    <p:anim calcmode="lin" valueType="num">
                                      <p:cBhvr>
                                        <p:cTn id="73" dur="1000" fill="hold"/>
                                        <p:tgtEl>
                                          <p:spTgt spid="31"/>
                                        </p:tgtEl>
                                        <p:attrNameLst>
                                          <p:attrName>ppt_x</p:attrName>
                                        </p:attrNameLst>
                                      </p:cBhvr>
                                      <p:tavLst>
                                        <p:tav tm="0">
                                          <p:val>
                                            <p:strVal val="#ppt_x"/>
                                          </p:val>
                                        </p:tav>
                                        <p:tav tm="100000">
                                          <p:val>
                                            <p:strVal val="#ppt_x"/>
                                          </p:val>
                                        </p:tav>
                                      </p:tavLst>
                                    </p:anim>
                                    <p:anim calcmode="lin" valueType="num">
                                      <p:cBhvr>
                                        <p:cTn id="74"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grpId="0" nodeType="clickEffect">
                                  <p:stCondLst>
                                    <p:cond delay="0"/>
                                  </p:stCondLst>
                                  <p:childTnLst>
                                    <p:set>
                                      <p:cBhvr>
                                        <p:cTn id="78" dur="1" fill="hold">
                                          <p:stCondLst>
                                            <p:cond delay="0"/>
                                          </p:stCondLst>
                                        </p:cTn>
                                        <p:tgtEl>
                                          <p:spTgt spid="51"/>
                                        </p:tgtEl>
                                        <p:attrNameLst>
                                          <p:attrName>style.visibility</p:attrName>
                                        </p:attrNameLst>
                                      </p:cBhvr>
                                      <p:to>
                                        <p:strVal val="visible"/>
                                      </p:to>
                                    </p:set>
                                    <p:animEffect transition="in" filter="fade">
                                      <p:cBhvr>
                                        <p:cTn id="79" dur="1000"/>
                                        <p:tgtEl>
                                          <p:spTgt spid="51"/>
                                        </p:tgtEl>
                                      </p:cBhvr>
                                    </p:animEffect>
                                    <p:anim calcmode="lin" valueType="num">
                                      <p:cBhvr>
                                        <p:cTn id="80" dur="1000" fill="hold"/>
                                        <p:tgtEl>
                                          <p:spTgt spid="51"/>
                                        </p:tgtEl>
                                        <p:attrNameLst>
                                          <p:attrName>ppt_x</p:attrName>
                                        </p:attrNameLst>
                                      </p:cBhvr>
                                      <p:tavLst>
                                        <p:tav tm="0">
                                          <p:val>
                                            <p:strVal val="#ppt_x"/>
                                          </p:val>
                                        </p:tav>
                                        <p:tav tm="100000">
                                          <p:val>
                                            <p:strVal val="#ppt_x"/>
                                          </p:val>
                                        </p:tav>
                                      </p:tavLst>
                                    </p:anim>
                                    <p:anim calcmode="lin" valueType="num">
                                      <p:cBhvr>
                                        <p:cTn id="81" dur="1000" fill="hold"/>
                                        <p:tgtEl>
                                          <p:spTgt spid="51"/>
                                        </p:tgtEl>
                                        <p:attrNameLst>
                                          <p:attrName>ppt_y</p:attrName>
                                        </p:attrNameLst>
                                      </p:cBhvr>
                                      <p:tavLst>
                                        <p:tav tm="0">
                                          <p:val>
                                            <p:strVal val="#ppt_y+.1"/>
                                          </p:val>
                                        </p:tav>
                                        <p:tav tm="100000">
                                          <p:val>
                                            <p:strVal val="#ppt_y"/>
                                          </p:val>
                                        </p:tav>
                                      </p:tavLst>
                                    </p:anim>
                                  </p:childTnLst>
                                </p:cTn>
                              </p:par>
                              <p:par>
                                <p:cTn id="82" presetID="42" presetClass="entr" presetSubtype="0" fill="hold" nodeType="withEffect">
                                  <p:stCondLst>
                                    <p:cond delay="0"/>
                                  </p:stCondLst>
                                  <p:childTnLst>
                                    <p:set>
                                      <p:cBhvr>
                                        <p:cTn id="83" dur="1" fill="hold">
                                          <p:stCondLst>
                                            <p:cond delay="0"/>
                                          </p:stCondLst>
                                        </p:cTn>
                                        <p:tgtEl>
                                          <p:spTgt spid="49"/>
                                        </p:tgtEl>
                                        <p:attrNameLst>
                                          <p:attrName>style.visibility</p:attrName>
                                        </p:attrNameLst>
                                      </p:cBhvr>
                                      <p:to>
                                        <p:strVal val="visible"/>
                                      </p:to>
                                    </p:set>
                                    <p:animEffect transition="in" filter="fade">
                                      <p:cBhvr>
                                        <p:cTn id="84" dur="1000"/>
                                        <p:tgtEl>
                                          <p:spTgt spid="49"/>
                                        </p:tgtEl>
                                      </p:cBhvr>
                                    </p:animEffect>
                                    <p:anim calcmode="lin" valueType="num">
                                      <p:cBhvr>
                                        <p:cTn id="85" dur="1000" fill="hold"/>
                                        <p:tgtEl>
                                          <p:spTgt spid="49"/>
                                        </p:tgtEl>
                                        <p:attrNameLst>
                                          <p:attrName>ppt_x</p:attrName>
                                        </p:attrNameLst>
                                      </p:cBhvr>
                                      <p:tavLst>
                                        <p:tav tm="0">
                                          <p:val>
                                            <p:strVal val="#ppt_x"/>
                                          </p:val>
                                        </p:tav>
                                        <p:tav tm="100000">
                                          <p:val>
                                            <p:strVal val="#ppt_x"/>
                                          </p:val>
                                        </p:tav>
                                      </p:tavLst>
                                    </p:anim>
                                    <p:anim calcmode="lin" valueType="num">
                                      <p:cBhvr>
                                        <p:cTn id="86" dur="1000" fill="hold"/>
                                        <p:tgtEl>
                                          <p:spTgt spid="49"/>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76"/>
                                        </p:tgtEl>
                                        <p:attrNameLst>
                                          <p:attrName>style.visibility</p:attrName>
                                        </p:attrNameLst>
                                      </p:cBhvr>
                                      <p:to>
                                        <p:strVal val="visible"/>
                                      </p:to>
                                    </p:set>
                                    <p:animEffect transition="in" filter="fade">
                                      <p:cBhvr>
                                        <p:cTn id="89" dur="1000"/>
                                        <p:tgtEl>
                                          <p:spTgt spid="76"/>
                                        </p:tgtEl>
                                      </p:cBhvr>
                                    </p:animEffect>
                                    <p:anim calcmode="lin" valueType="num">
                                      <p:cBhvr>
                                        <p:cTn id="90" dur="1000" fill="hold"/>
                                        <p:tgtEl>
                                          <p:spTgt spid="76"/>
                                        </p:tgtEl>
                                        <p:attrNameLst>
                                          <p:attrName>ppt_x</p:attrName>
                                        </p:attrNameLst>
                                      </p:cBhvr>
                                      <p:tavLst>
                                        <p:tav tm="0">
                                          <p:val>
                                            <p:strVal val="#ppt_x"/>
                                          </p:val>
                                        </p:tav>
                                        <p:tav tm="100000">
                                          <p:val>
                                            <p:strVal val="#ppt_x"/>
                                          </p:val>
                                        </p:tav>
                                      </p:tavLst>
                                    </p:anim>
                                    <p:anim calcmode="lin" valueType="num">
                                      <p:cBhvr>
                                        <p:cTn id="91" dur="1000" fill="hold"/>
                                        <p:tgtEl>
                                          <p:spTgt spid="76"/>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77"/>
                                        </p:tgtEl>
                                        <p:attrNameLst>
                                          <p:attrName>style.visibility</p:attrName>
                                        </p:attrNameLst>
                                      </p:cBhvr>
                                      <p:to>
                                        <p:strVal val="visible"/>
                                      </p:to>
                                    </p:set>
                                    <p:animEffect transition="in" filter="fade">
                                      <p:cBhvr>
                                        <p:cTn id="94" dur="1000"/>
                                        <p:tgtEl>
                                          <p:spTgt spid="77"/>
                                        </p:tgtEl>
                                      </p:cBhvr>
                                    </p:animEffect>
                                    <p:anim calcmode="lin" valueType="num">
                                      <p:cBhvr>
                                        <p:cTn id="95" dur="1000" fill="hold"/>
                                        <p:tgtEl>
                                          <p:spTgt spid="77"/>
                                        </p:tgtEl>
                                        <p:attrNameLst>
                                          <p:attrName>ppt_x</p:attrName>
                                        </p:attrNameLst>
                                      </p:cBhvr>
                                      <p:tavLst>
                                        <p:tav tm="0">
                                          <p:val>
                                            <p:strVal val="#ppt_x"/>
                                          </p:val>
                                        </p:tav>
                                        <p:tav tm="100000">
                                          <p:val>
                                            <p:strVal val="#ppt_x"/>
                                          </p:val>
                                        </p:tav>
                                      </p:tavLst>
                                    </p:anim>
                                    <p:anim calcmode="lin" valueType="num">
                                      <p:cBhvr>
                                        <p:cTn id="96" dur="1000" fill="hold"/>
                                        <p:tgtEl>
                                          <p:spTgt spid="77"/>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78"/>
                                        </p:tgtEl>
                                        <p:attrNameLst>
                                          <p:attrName>style.visibility</p:attrName>
                                        </p:attrNameLst>
                                      </p:cBhvr>
                                      <p:to>
                                        <p:strVal val="visible"/>
                                      </p:to>
                                    </p:set>
                                    <p:animEffect transition="in" filter="fade">
                                      <p:cBhvr>
                                        <p:cTn id="99" dur="1000"/>
                                        <p:tgtEl>
                                          <p:spTgt spid="78"/>
                                        </p:tgtEl>
                                      </p:cBhvr>
                                    </p:animEffect>
                                    <p:anim calcmode="lin" valueType="num">
                                      <p:cBhvr>
                                        <p:cTn id="100" dur="1000" fill="hold"/>
                                        <p:tgtEl>
                                          <p:spTgt spid="78"/>
                                        </p:tgtEl>
                                        <p:attrNameLst>
                                          <p:attrName>ppt_x</p:attrName>
                                        </p:attrNameLst>
                                      </p:cBhvr>
                                      <p:tavLst>
                                        <p:tav tm="0">
                                          <p:val>
                                            <p:strVal val="#ppt_x"/>
                                          </p:val>
                                        </p:tav>
                                        <p:tav tm="100000">
                                          <p:val>
                                            <p:strVal val="#ppt_x"/>
                                          </p:val>
                                        </p:tav>
                                      </p:tavLst>
                                    </p:anim>
                                    <p:anim calcmode="lin" valueType="num">
                                      <p:cBhvr>
                                        <p:cTn id="101" dur="1000" fill="hold"/>
                                        <p:tgtEl>
                                          <p:spTgt spid="78"/>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79"/>
                                        </p:tgtEl>
                                        <p:attrNameLst>
                                          <p:attrName>style.visibility</p:attrName>
                                        </p:attrNameLst>
                                      </p:cBhvr>
                                      <p:to>
                                        <p:strVal val="visible"/>
                                      </p:to>
                                    </p:set>
                                    <p:animEffect transition="in" filter="fade">
                                      <p:cBhvr>
                                        <p:cTn id="104" dur="1000"/>
                                        <p:tgtEl>
                                          <p:spTgt spid="79"/>
                                        </p:tgtEl>
                                      </p:cBhvr>
                                    </p:animEffect>
                                    <p:anim calcmode="lin" valueType="num">
                                      <p:cBhvr>
                                        <p:cTn id="105" dur="1000" fill="hold"/>
                                        <p:tgtEl>
                                          <p:spTgt spid="79"/>
                                        </p:tgtEl>
                                        <p:attrNameLst>
                                          <p:attrName>ppt_x</p:attrName>
                                        </p:attrNameLst>
                                      </p:cBhvr>
                                      <p:tavLst>
                                        <p:tav tm="0">
                                          <p:val>
                                            <p:strVal val="#ppt_x"/>
                                          </p:val>
                                        </p:tav>
                                        <p:tav tm="100000">
                                          <p:val>
                                            <p:strVal val="#ppt_x"/>
                                          </p:val>
                                        </p:tav>
                                      </p:tavLst>
                                    </p:anim>
                                    <p:anim calcmode="lin" valueType="num">
                                      <p:cBhvr>
                                        <p:cTn id="106" dur="1000" fill="hold"/>
                                        <p:tgtEl>
                                          <p:spTgt spid="79"/>
                                        </p:tgtEl>
                                        <p:attrNameLst>
                                          <p:attrName>ppt_y</p:attrName>
                                        </p:attrNameLst>
                                      </p:cBhvr>
                                      <p:tavLst>
                                        <p:tav tm="0">
                                          <p:val>
                                            <p:strVal val="#ppt_y+.1"/>
                                          </p:val>
                                        </p:tav>
                                        <p:tav tm="100000">
                                          <p:val>
                                            <p:strVal val="#ppt_y"/>
                                          </p:val>
                                        </p:tav>
                                      </p:tavLst>
                                    </p:anim>
                                  </p:childTnLst>
                                </p:cTn>
                              </p:par>
                              <p:par>
                                <p:cTn id="107" presetID="42" presetClass="entr" presetSubtype="0" fill="hold" grpId="0" nodeType="withEffect">
                                  <p:stCondLst>
                                    <p:cond delay="0"/>
                                  </p:stCondLst>
                                  <p:childTnLst>
                                    <p:set>
                                      <p:cBhvr>
                                        <p:cTn id="108" dur="1" fill="hold">
                                          <p:stCondLst>
                                            <p:cond delay="0"/>
                                          </p:stCondLst>
                                        </p:cTn>
                                        <p:tgtEl>
                                          <p:spTgt spid="84"/>
                                        </p:tgtEl>
                                        <p:attrNameLst>
                                          <p:attrName>style.visibility</p:attrName>
                                        </p:attrNameLst>
                                      </p:cBhvr>
                                      <p:to>
                                        <p:strVal val="visible"/>
                                      </p:to>
                                    </p:set>
                                    <p:animEffect transition="in" filter="fade">
                                      <p:cBhvr>
                                        <p:cTn id="109" dur="1000"/>
                                        <p:tgtEl>
                                          <p:spTgt spid="84"/>
                                        </p:tgtEl>
                                      </p:cBhvr>
                                    </p:animEffect>
                                    <p:anim calcmode="lin" valueType="num">
                                      <p:cBhvr>
                                        <p:cTn id="110" dur="1000" fill="hold"/>
                                        <p:tgtEl>
                                          <p:spTgt spid="84"/>
                                        </p:tgtEl>
                                        <p:attrNameLst>
                                          <p:attrName>ppt_x</p:attrName>
                                        </p:attrNameLst>
                                      </p:cBhvr>
                                      <p:tavLst>
                                        <p:tav tm="0">
                                          <p:val>
                                            <p:strVal val="#ppt_x"/>
                                          </p:val>
                                        </p:tav>
                                        <p:tav tm="100000">
                                          <p:val>
                                            <p:strVal val="#ppt_x"/>
                                          </p:val>
                                        </p:tav>
                                      </p:tavLst>
                                    </p:anim>
                                    <p:anim calcmode="lin" valueType="num">
                                      <p:cBhvr>
                                        <p:cTn id="111" dur="1000" fill="hold"/>
                                        <p:tgtEl>
                                          <p:spTgt spid="84"/>
                                        </p:tgtEl>
                                        <p:attrNameLst>
                                          <p:attrName>ppt_y</p:attrName>
                                        </p:attrNameLst>
                                      </p:cBhvr>
                                      <p:tavLst>
                                        <p:tav tm="0">
                                          <p:val>
                                            <p:strVal val="#ppt_y+.1"/>
                                          </p:val>
                                        </p:tav>
                                        <p:tav tm="100000">
                                          <p:val>
                                            <p:strVal val="#ppt_y"/>
                                          </p:val>
                                        </p:tav>
                                      </p:tavLst>
                                    </p:anim>
                                  </p:childTnLst>
                                </p:cTn>
                              </p:par>
                              <p:par>
                                <p:cTn id="112" presetID="42" presetClass="entr" presetSubtype="0" fill="hold" grpId="0" nodeType="withEffect">
                                  <p:stCondLst>
                                    <p:cond delay="0"/>
                                  </p:stCondLst>
                                  <p:childTnLst>
                                    <p:set>
                                      <p:cBhvr>
                                        <p:cTn id="113" dur="1" fill="hold">
                                          <p:stCondLst>
                                            <p:cond delay="0"/>
                                          </p:stCondLst>
                                        </p:cTn>
                                        <p:tgtEl>
                                          <p:spTgt spid="33"/>
                                        </p:tgtEl>
                                        <p:attrNameLst>
                                          <p:attrName>style.visibility</p:attrName>
                                        </p:attrNameLst>
                                      </p:cBhvr>
                                      <p:to>
                                        <p:strVal val="visible"/>
                                      </p:to>
                                    </p:set>
                                    <p:animEffect transition="in" filter="fade">
                                      <p:cBhvr>
                                        <p:cTn id="114" dur="1000"/>
                                        <p:tgtEl>
                                          <p:spTgt spid="33"/>
                                        </p:tgtEl>
                                      </p:cBhvr>
                                    </p:animEffect>
                                    <p:anim calcmode="lin" valueType="num">
                                      <p:cBhvr>
                                        <p:cTn id="115" dur="1000" fill="hold"/>
                                        <p:tgtEl>
                                          <p:spTgt spid="33"/>
                                        </p:tgtEl>
                                        <p:attrNameLst>
                                          <p:attrName>ppt_x</p:attrName>
                                        </p:attrNameLst>
                                      </p:cBhvr>
                                      <p:tavLst>
                                        <p:tav tm="0">
                                          <p:val>
                                            <p:strVal val="#ppt_x"/>
                                          </p:val>
                                        </p:tav>
                                        <p:tav tm="100000">
                                          <p:val>
                                            <p:strVal val="#ppt_x"/>
                                          </p:val>
                                        </p:tav>
                                      </p:tavLst>
                                    </p:anim>
                                    <p:anim calcmode="lin" valueType="num">
                                      <p:cBhvr>
                                        <p:cTn id="116" dur="1000" fill="hold"/>
                                        <p:tgtEl>
                                          <p:spTgt spid="33"/>
                                        </p:tgtEl>
                                        <p:attrNameLst>
                                          <p:attrName>ppt_y</p:attrName>
                                        </p:attrNameLst>
                                      </p:cBhvr>
                                      <p:tavLst>
                                        <p:tav tm="0">
                                          <p:val>
                                            <p:strVal val="#ppt_y+.1"/>
                                          </p:val>
                                        </p:tav>
                                        <p:tav tm="100000">
                                          <p:val>
                                            <p:strVal val="#ppt_y"/>
                                          </p:val>
                                        </p:tav>
                                      </p:tavLst>
                                    </p:anim>
                                  </p:childTnLst>
                                </p:cTn>
                              </p:par>
                              <p:par>
                                <p:cTn id="117" presetID="42" presetClass="entr" presetSubtype="0" fill="hold" nodeType="withEffect">
                                  <p:stCondLst>
                                    <p:cond delay="0"/>
                                  </p:stCondLst>
                                  <p:childTnLst>
                                    <p:set>
                                      <p:cBhvr>
                                        <p:cTn id="118" dur="1" fill="hold">
                                          <p:stCondLst>
                                            <p:cond delay="0"/>
                                          </p:stCondLst>
                                        </p:cTn>
                                        <p:tgtEl>
                                          <p:spTgt spid="35"/>
                                        </p:tgtEl>
                                        <p:attrNameLst>
                                          <p:attrName>style.visibility</p:attrName>
                                        </p:attrNameLst>
                                      </p:cBhvr>
                                      <p:to>
                                        <p:strVal val="visible"/>
                                      </p:to>
                                    </p:set>
                                    <p:animEffect transition="in" filter="fade">
                                      <p:cBhvr>
                                        <p:cTn id="119" dur="1000"/>
                                        <p:tgtEl>
                                          <p:spTgt spid="35"/>
                                        </p:tgtEl>
                                      </p:cBhvr>
                                    </p:animEffect>
                                    <p:anim calcmode="lin" valueType="num">
                                      <p:cBhvr>
                                        <p:cTn id="120" dur="1000" fill="hold"/>
                                        <p:tgtEl>
                                          <p:spTgt spid="35"/>
                                        </p:tgtEl>
                                        <p:attrNameLst>
                                          <p:attrName>ppt_x</p:attrName>
                                        </p:attrNameLst>
                                      </p:cBhvr>
                                      <p:tavLst>
                                        <p:tav tm="0">
                                          <p:val>
                                            <p:strVal val="#ppt_x"/>
                                          </p:val>
                                        </p:tav>
                                        <p:tav tm="100000">
                                          <p:val>
                                            <p:strVal val="#ppt_x"/>
                                          </p:val>
                                        </p:tav>
                                      </p:tavLst>
                                    </p:anim>
                                    <p:anim calcmode="lin" valueType="num">
                                      <p:cBhvr>
                                        <p:cTn id="121" dur="1000" fill="hold"/>
                                        <p:tgtEl>
                                          <p:spTgt spid="35"/>
                                        </p:tgtEl>
                                        <p:attrNameLst>
                                          <p:attrName>ppt_y</p:attrName>
                                        </p:attrNameLst>
                                      </p:cBhvr>
                                      <p:tavLst>
                                        <p:tav tm="0">
                                          <p:val>
                                            <p:strVal val="#ppt_y+.1"/>
                                          </p:val>
                                        </p:tav>
                                        <p:tav tm="100000">
                                          <p:val>
                                            <p:strVal val="#ppt_y"/>
                                          </p:val>
                                        </p:tav>
                                      </p:tavLst>
                                    </p:anim>
                                  </p:childTnLst>
                                </p:cTn>
                              </p:par>
                              <p:par>
                                <p:cTn id="122" presetID="42" presetClass="entr" presetSubtype="0" fill="hold" nodeType="withEffect">
                                  <p:stCondLst>
                                    <p:cond delay="0"/>
                                  </p:stCondLst>
                                  <p:childTnLst>
                                    <p:set>
                                      <p:cBhvr>
                                        <p:cTn id="123" dur="1" fill="hold">
                                          <p:stCondLst>
                                            <p:cond delay="0"/>
                                          </p:stCondLst>
                                        </p:cTn>
                                        <p:tgtEl>
                                          <p:spTgt spid="37"/>
                                        </p:tgtEl>
                                        <p:attrNameLst>
                                          <p:attrName>style.visibility</p:attrName>
                                        </p:attrNameLst>
                                      </p:cBhvr>
                                      <p:to>
                                        <p:strVal val="visible"/>
                                      </p:to>
                                    </p:set>
                                    <p:animEffect transition="in" filter="fade">
                                      <p:cBhvr>
                                        <p:cTn id="124" dur="1000"/>
                                        <p:tgtEl>
                                          <p:spTgt spid="37"/>
                                        </p:tgtEl>
                                      </p:cBhvr>
                                    </p:animEffect>
                                    <p:anim calcmode="lin" valueType="num">
                                      <p:cBhvr>
                                        <p:cTn id="125" dur="1000" fill="hold"/>
                                        <p:tgtEl>
                                          <p:spTgt spid="37"/>
                                        </p:tgtEl>
                                        <p:attrNameLst>
                                          <p:attrName>ppt_x</p:attrName>
                                        </p:attrNameLst>
                                      </p:cBhvr>
                                      <p:tavLst>
                                        <p:tav tm="0">
                                          <p:val>
                                            <p:strVal val="#ppt_x"/>
                                          </p:val>
                                        </p:tav>
                                        <p:tav tm="100000">
                                          <p:val>
                                            <p:strVal val="#ppt_x"/>
                                          </p:val>
                                        </p:tav>
                                      </p:tavLst>
                                    </p:anim>
                                    <p:anim calcmode="lin" valueType="num">
                                      <p:cBhvr>
                                        <p:cTn id="126"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127" fill="hold">
                      <p:stCondLst>
                        <p:cond delay="indefinite"/>
                      </p:stCondLst>
                      <p:childTnLst>
                        <p:par>
                          <p:cTn id="128" fill="hold">
                            <p:stCondLst>
                              <p:cond delay="0"/>
                            </p:stCondLst>
                            <p:childTnLst>
                              <p:par>
                                <p:cTn id="129" presetID="42" presetClass="entr" presetSubtype="0" fill="hold" grpId="0" nodeType="clickEffect">
                                  <p:stCondLst>
                                    <p:cond delay="0"/>
                                  </p:stCondLst>
                                  <p:childTnLst>
                                    <p:set>
                                      <p:cBhvr>
                                        <p:cTn id="130" dur="1" fill="hold">
                                          <p:stCondLst>
                                            <p:cond delay="0"/>
                                          </p:stCondLst>
                                        </p:cTn>
                                        <p:tgtEl>
                                          <p:spTgt spid="83"/>
                                        </p:tgtEl>
                                        <p:attrNameLst>
                                          <p:attrName>style.visibility</p:attrName>
                                        </p:attrNameLst>
                                      </p:cBhvr>
                                      <p:to>
                                        <p:strVal val="visible"/>
                                      </p:to>
                                    </p:set>
                                    <p:animEffect transition="in" filter="fade">
                                      <p:cBhvr>
                                        <p:cTn id="131" dur="1000"/>
                                        <p:tgtEl>
                                          <p:spTgt spid="83"/>
                                        </p:tgtEl>
                                      </p:cBhvr>
                                    </p:animEffect>
                                    <p:anim calcmode="lin" valueType="num">
                                      <p:cBhvr>
                                        <p:cTn id="132" dur="1000" fill="hold"/>
                                        <p:tgtEl>
                                          <p:spTgt spid="83"/>
                                        </p:tgtEl>
                                        <p:attrNameLst>
                                          <p:attrName>ppt_x</p:attrName>
                                        </p:attrNameLst>
                                      </p:cBhvr>
                                      <p:tavLst>
                                        <p:tav tm="0">
                                          <p:val>
                                            <p:strVal val="#ppt_x"/>
                                          </p:val>
                                        </p:tav>
                                        <p:tav tm="100000">
                                          <p:val>
                                            <p:strVal val="#ppt_x"/>
                                          </p:val>
                                        </p:tav>
                                      </p:tavLst>
                                    </p:anim>
                                    <p:anim calcmode="lin" valueType="num">
                                      <p:cBhvr>
                                        <p:cTn id="133" dur="1000" fill="hold"/>
                                        <p:tgtEl>
                                          <p:spTgt spid="83"/>
                                        </p:tgtEl>
                                        <p:attrNameLst>
                                          <p:attrName>ppt_y</p:attrName>
                                        </p:attrNameLst>
                                      </p:cBhvr>
                                      <p:tavLst>
                                        <p:tav tm="0">
                                          <p:val>
                                            <p:strVal val="#ppt_y+.1"/>
                                          </p:val>
                                        </p:tav>
                                        <p:tav tm="100000">
                                          <p:val>
                                            <p:strVal val="#ppt_y"/>
                                          </p:val>
                                        </p:tav>
                                      </p:tavLst>
                                    </p:anim>
                                  </p:childTnLst>
                                </p:cTn>
                              </p:par>
                              <p:par>
                                <p:cTn id="134" presetID="42" presetClass="entr" presetSubtype="0" fill="hold" nodeType="withEffect">
                                  <p:stCondLst>
                                    <p:cond delay="0"/>
                                  </p:stCondLst>
                                  <p:childTnLst>
                                    <p:set>
                                      <p:cBhvr>
                                        <p:cTn id="135" dur="1" fill="hold">
                                          <p:stCondLst>
                                            <p:cond delay="0"/>
                                          </p:stCondLst>
                                        </p:cTn>
                                        <p:tgtEl>
                                          <p:spTgt spid="81"/>
                                        </p:tgtEl>
                                        <p:attrNameLst>
                                          <p:attrName>style.visibility</p:attrName>
                                        </p:attrNameLst>
                                      </p:cBhvr>
                                      <p:to>
                                        <p:strVal val="visible"/>
                                      </p:to>
                                    </p:set>
                                    <p:animEffect transition="in" filter="fade">
                                      <p:cBhvr>
                                        <p:cTn id="136" dur="1000"/>
                                        <p:tgtEl>
                                          <p:spTgt spid="81"/>
                                        </p:tgtEl>
                                      </p:cBhvr>
                                    </p:animEffect>
                                    <p:anim calcmode="lin" valueType="num">
                                      <p:cBhvr>
                                        <p:cTn id="137" dur="1000" fill="hold"/>
                                        <p:tgtEl>
                                          <p:spTgt spid="81"/>
                                        </p:tgtEl>
                                        <p:attrNameLst>
                                          <p:attrName>ppt_x</p:attrName>
                                        </p:attrNameLst>
                                      </p:cBhvr>
                                      <p:tavLst>
                                        <p:tav tm="0">
                                          <p:val>
                                            <p:strVal val="#ppt_x"/>
                                          </p:val>
                                        </p:tav>
                                        <p:tav tm="100000">
                                          <p:val>
                                            <p:strVal val="#ppt_x"/>
                                          </p:val>
                                        </p:tav>
                                      </p:tavLst>
                                    </p:anim>
                                    <p:anim calcmode="lin" valueType="num">
                                      <p:cBhvr>
                                        <p:cTn id="138" dur="1000" fill="hold"/>
                                        <p:tgtEl>
                                          <p:spTgt spid="81"/>
                                        </p:tgtEl>
                                        <p:attrNameLst>
                                          <p:attrName>ppt_y</p:attrName>
                                        </p:attrNameLst>
                                      </p:cBhvr>
                                      <p:tavLst>
                                        <p:tav tm="0">
                                          <p:val>
                                            <p:strVal val="#ppt_y+.1"/>
                                          </p:val>
                                        </p:tav>
                                        <p:tav tm="100000">
                                          <p:val>
                                            <p:strVal val="#ppt_y"/>
                                          </p:val>
                                        </p:tav>
                                      </p:tavLst>
                                    </p:anim>
                                  </p:childTnLst>
                                </p:cTn>
                              </p:par>
                              <p:par>
                                <p:cTn id="139" presetID="42" presetClass="entr" presetSubtype="0" fill="hold" grpId="0" nodeType="withEffect">
                                  <p:stCondLst>
                                    <p:cond delay="0"/>
                                  </p:stCondLst>
                                  <p:childTnLst>
                                    <p:set>
                                      <p:cBhvr>
                                        <p:cTn id="140" dur="1" fill="hold">
                                          <p:stCondLst>
                                            <p:cond delay="0"/>
                                          </p:stCondLst>
                                        </p:cTn>
                                        <p:tgtEl>
                                          <p:spTgt spid="86"/>
                                        </p:tgtEl>
                                        <p:attrNameLst>
                                          <p:attrName>style.visibility</p:attrName>
                                        </p:attrNameLst>
                                      </p:cBhvr>
                                      <p:to>
                                        <p:strVal val="visible"/>
                                      </p:to>
                                    </p:set>
                                    <p:animEffect transition="in" filter="fade">
                                      <p:cBhvr>
                                        <p:cTn id="141" dur="1000"/>
                                        <p:tgtEl>
                                          <p:spTgt spid="86"/>
                                        </p:tgtEl>
                                      </p:cBhvr>
                                    </p:animEffect>
                                    <p:anim calcmode="lin" valueType="num">
                                      <p:cBhvr>
                                        <p:cTn id="142" dur="1000" fill="hold"/>
                                        <p:tgtEl>
                                          <p:spTgt spid="86"/>
                                        </p:tgtEl>
                                        <p:attrNameLst>
                                          <p:attrName>ppt_x</p:attrName>
                                        </p:attrNameLst>
                                      </p:cBhvr>
                                      <p:tavLst>
                                        <p:tav tm="0">
                                          <p:val>
                                            <p:strVal val="#ppt_x"/>
                                          </p:val>
                                        </p:tav>
                                        <p:tav tm="100000">
                                          <p:val>
                                            <p:strVal val="#ppt_x"/>
                                          </p:val>
                                        </p:tav>
                                      </p:tavLst>
                                    </p:anim>
                                    <p:anim calcmode="lin" valueType="num">
                                      <p:cBhvr>
                                        <p:cTn id="143" dur="1000" fill="hold"/>
                                        <p:tgtEl>
                                          <p:spTgt spid="86"/>
                                        </p:tgtEl>
                                        <p:attrNameLst>
                                          <p:attrName>ppt_y</p:attrName>
                                        </p:attrNameLst>
                                      </p:cBhvr>
                                      <p:tavLst>
                                        <p:tav tm="0">
                                          <p:val>
                                            <p:strVal val="#ppt_y+.1"/>
                                          </p:val>
                                        </p:tav>
                                        <p:tav tm="100000">
                                          <p:val>
                                            <p:strVal val="#ppt_y"/>
                                          </p:val>
                                        </p:tav>
                                      </p:tavLst>
                                    </p:anim>
                                  </p:childTnLst>
                                </p:cTn>
                              </p:par>
                              <p:par>
                                <p:cTn id="144" presetID="42" presetClass="entr" presetSubtype="0" fill="hold" grpId="0" nodeType="withEffect">
                                  <p:stCondLst>
                                    <p:cond delay="0"/>
                                  </p:stCondLst>
                                  <p:childTnLst>
                                    <p:set>
                                      <p:cBhvr>
                                        <p:cTn id="145" dur="1" fill="hold">
                                          <p:stCondLst>
                                            <p:cond delay="0"/>
                                          </p:stCondLst>
                                        </p:cTn>
                                        <p:tgtEl>
                                          <p:spTgt spid="92"/>
                                        </p:tgtEl>
                                        <p:attrNameLst>
                                          <p:attrName>style.visibility</p:attrName>
                                        </p:attrNameLst>
                                      </p:cBhvr>
                                      <p:to>
                                        <p:strVal val="visible"/>
                                      </p:to>
                                    </p:set>
                                    <p:animEffect transition="in" filter="fade">
                                      <p:cBhvr>
                                        <p:cTn id="146" dur="1000"/>
                                        <p:tgtEl>
                                          <p:spTgt spid="92"/>
                                        </p:tgtEl>
                                      </p:cBhvr>
                                    </p:animEffect>
                                    <p:anim calcmode="lin" valueType="num">
                                      <p:cBhvr>
                                        <p:cTn id="147" dur="1000" fill="hold"/>
                                        <p:tgtEl>
                                          <p:spTgt spid="92"/>
                                        </p:tgtEl>
                                        <p:attrNameLst>
                                          <p:attrName>ppt_x</p:attrName>
                                        </p:attrNameLst>
                                      </p:cBhvr>
                                      <p:tavLst>
                                        <p:tav tm="0">
                                          <p:val>
                                            <p:strVal val="#ppt_x"/>
                                          </p:val>
                                        </p:tav>
                                        <p:tav tm="100000">
                                          <p:val>
                                            <p:strVal val="#ppt_x"/>
                                          </p:val>
                                        </p:tav>
                                      </p:tavLst>
                                    </p:anim>
                                    <p:anim calcmode="lin" valueType="num">
                                      <p:cBhvr>
                                        <p:cTn id="148" dur="1000" fill="hold"/>
                                        <p:tgtEl>
                                          <p:spTgt spid="92"/>
                                        </p:tgtEl>
                                        <p:attrNameLst>
                                          <p:attrName>ppt_y</p:attrName>
                                        </p:attrNameLst>
                                      </p:cBhvr>
                                      <p:tavLst>
                                        <p:tav tm="0">
                                          <p:val>
                                            <p:strVal val="#ppt_y+.1"/>
                                          </p:val>
                                        </p:tav>
                                        <p:tav tm="100000">
                                          <p:val>
                                            <p:strVal val="#ppt_y"/>
                                          </p:val>
                                        </p:tav>
                                      </p:tavLst>
                                    </p:anim>
                                  </p:childTnLst>
                                </p:cTn>
                              </p:par>
                              <p:par>
                                <p:cTn id="149" presetID="42" presetClass="entr" presetSubtype="0" fill="hold" nodeType="withEffect">
                                  <p:stCondLst>
                                    <p:cond delay="0"/>
                                  </p:stCondLst>
                                  <p:childTnLst>
                                    <p:set>
                                      <p:cBhvr>
                                        <p:cTn id="150" dur="1" fill="hold">
                                          <p:stCondLst>
                                            <p:cond delay="0"/>
                                          </p:stCondLst>
                                        </p:cTn>
                                        <p:tgtEl>
                                          <p:spTgt spid="90"/>
                                        </p:tgtEl>
                                        <p:attrNameLst>
                                          <p:attrName>style.visibility</p:attrName>
                                        </p:attrNameLst>
                                      </p:cBhvr>
                                      <p:to>
                                        <p:strVal val="visible"/>
                                      </p:to>
                                    </p:set>
                                    <p:animEffect transition="in" filter="fade">
                                      <p:cBhvr>
                                        <p:cTn id="151" dur="1000"/>
                                        <p:tgtEl>
                                          <p:spTgt spid="90"/>
                                        </p:tgtEl>
                                      </p:cBhvr>
                                    </p:animEffect>
                                    <p:anim calcmode="lin" valueType="num">
                                      <p:cBhvr>
                                        <p:cTn id="152" dur="1000" fill="hold"/>
                                        <p:tgtEl>
                                          <p:spTgt spid="90"/>
                                        </p:tgtEl>
                                        <p:attrNameLst>
                                          <p:attrName>ppt_x</p:attrName>
                                        </p:attrNameLst>
                                      </p:cBhvr>
                                      <p:tavLst>
                                        <p:tav tm="0">
                                          <p:val>
                                            <p:strVal val="#ppt_x"/>
                                          </p:val>
                                        </p:tav>
                                        <p:tav tm="100000">
                                          <p:val>
                                            <p:strVal val="#ppt_x"/>
                                          </p:val>
                                        </p:tav>
                                      </p:tavLst>
                                    </p:anim>
                                    <p:anim calcmode="lin" valueType="num">
                                      <p:cBhvr>
                                        <p:cTn id="153" dur="1000" fill="hold"/>
                                        <p:tgtEl>
                                          <p:spTgt spid="90"/>
                                        </p:tgtEl>
                                        <p:attrNameLst>
                                          <p:attrName>ppt_y</p:attrName>
                                        </p:attrNameLst>
                                      </p:cBhvr>
                                      <p:tavLst>
                                        <p:tav tm="0">
                                          <p:val>
                                            <p:strVal val="#ppt_y+.1"/>
                                          </p:val>
                                        </p:tav>
                                        <p:tav tm="100000">
                                          <p:val>
                                            <p:strVal val="#ppt_y"/>
                                          </p:val>
                                        </p:tav>
                                      </p:tavLst>
                                    </p:anim>
                                  </p:childTnLst>
                                </p:cTn>
                              </p:par>
                              <p:par>
                                <p:cTn id="154" presetID="42" presetClass="entr" presetSubtype="0" fill="hold" grpId="0" nodeType="withEffect">
                                  <p:stCondLst>
                                    <p:cond delay="0"/>
                                  </p:stCondLst>
                                  <p:childTnLst>
                                    <p:set>
                                      <p:cBhvr>
                                        <p:cTn id="155" dur="1" fill="hold">
                                          <p:stCondLst>
                                            <p:cond delay="0"/>
                                          </p:stCondLst>
                                        </p:cTn>
                                        <p:tgtEl>
                                          <p:spTgt spid="97"/>
                                        </p:tgtEl>
                                        <p:attrNameLst>
                                          <p:attrName>style.visibility</p:attrName>
                                        </p:attrNameLst>
                                      </p:cBhvr>
                                      <p:to>
                                        <p:strVal val="visible"/>
                                      </p:to>
                                    </p:set>
                                    <p:animEffect transition="in" filter="fade">
                                      <p:cBhvr>
                                        <p:cTn id="156" dur="1000"/>
                                        <p:tgtEl>
                                          <p:spTgt spid="97"/>
                                        </p:tgtEl>
                                      </p:cBhvr>
                                    </p:animEffect>
                                    <p:anim calcmode="lin" valueType="num">
                                      <p:cBhvr>
                                        <p:cTn id="157" dur="1000" fill="hold"/>
                                        <p:tgtEl>
                                          <p:spTgt spid="97"/>
                                        </p:tgtEl>
                                        <p:attrNameLst>
                                          <p:attrName>ppt_x</p:attrName>
                                        </p:attrNameLst>
                                      </p:cBhvr>
                                      <p:tavLst>
                                        <p:tav tm="0">
                                          <p:val>
                                            <p:strVal val="#ppt_x"/>
                                          </p:val>
                                        </p:tav>
                                        <p:tav tm="100000">
                                          <p:val>
                                            <p:strVal val="#ppt_x"/>
                                          </p:val>
                                        </p:tav>
                                      </p:tavLst>
                                    </p:anim>
                                    <p:anim calcmode="lin" valueType="num">
                                      <p:cBhvr>
                                        <p:cTn id="158" dur="1000" fill="hold"/>
                                        <p:tgtEl>
                                          <p:spTgt spid="97"/>
                                        </p:tgtEl>
                                        <p:attrNameLst>
                                          <p:attrName>ppt_y</p:attrName>
                                        </p:attrNameLst>
                                      </p:cBhvr>
                                      <p:tavLst>
                                        <p:tav tm="0">
                                          <p:val>
                                            <p:strVal val="#ppt_y+.1"/>
                                          </p:val>
                                        </p:tav>
                                        <p:tav tm="100000">
                                          <p:val>
                                            <p:strVal val="#ppt_y"/>
                                          </p:val>
                                        </p:tav>
                                      </p:tavLst>
                                    </p:anim>
                                  </p:childTnLst>
                                </p:cTn>
                              </p:par>
                              <p:par>
                                <p:cTn id="159" presetID="42" presetClass="entr" presetSubtype="0" fill="hold" grpId="0" nodeType="withEffect">
                                  <p:stCondLst>
                                    <p:cond delay="0"/>
                                  </p:stCondLst>
                                  <p:childTnLst>
                                    <p:set>
                                      <p:cBhvr>
                                        <p:cTn id="160" dur="1" fill="hold">
                                          <p:stCondLst>
                                            <p:cond delay="0"/>
                                          </p:stCondLst>
                                        </p:cTn>
                                        <p:tgtEl>
                                          <p:spTgt spid="95"/>
                                        </p:tgtEl>
                                        <p:attrNameLst>
                                          <p:attrName>style.visibility</p:attrName>
                                        </p:attrNameLst>
                                      </p:cBhvr>
                                      <p:to>
                                        <p:strVal val="visible"/>
                                      </p:to>
                                    </p:set>
                                    <p:animEffect transition="in" filter="fade">
                                      <p:cBhvr>
                                        <p:cTn id="161" dur="1000"/>
                                        <p:tgtEl>
                                          <p:spTgt spid="95"/>
                                        </p:tgtEl>
                                      </p:cBhvr>
                                    </p:animEffect>
                                    <p:anim calcmode="lin" valueType="num">
                                      <p:cBhvr>
                                        <p:cTn id="162" dur="1000" fill="hold"/>
                                        <p:tgtEl>
                                          <p:spTgt spid="95"/>
                                        </p:tgtEl>
                                        <p:attrNameLst>
                                          <p:attrName>ppt_x</p:attrName>
                                        </p:attrNameLst>
                                      </p:cBhvr>
                                      <p:tavLst>
                                        <p:tav tm="0">
                                          <p:val>
                                            <p:strVal val="#ppt_x"/>
                                          </p:val>
                                        </p:tav>
                                        <p:tav tm="100000">
                                          <p:val>
                                            <p:strVal val="#ppt_x"/>
                                          </p:val>
                                        </p:tav>
                                      </p:tavLst>
                                    </p:anim>
                                    <p:anim calcmode="lin" valueType="num">
                                      <p:cBhvr>
                                        <p:cTn id="163" dur="1000" fill="hold"/>
                                        <p:tgtEl>
                                          <p:spTgt spid="95"/>
                                        </p:tgtEl>
                                        <p:attrNameLst>
                                          <p:attrName>ppt_y</p:attrName>
                                        </p:attrNameLst>
                                      </p:cBhvr>
                                      <p:tavLst>
                                        <p:tav tm="0">
                                          <p:val>
                                            <p:strVal val="#ppt_y+.1"/>
                                          </p:val>
                                        </p:tav>
                                        <p:tav tm="100000">
                                          <p:val>
                                            <p:strVal val="#ppt_y"/>
                                          </p:val>
                                        </p:tav>
                                      </p:tavLst>
                                    </p:anim>
                                  </p:childTnLst>
                                </p:cTn>
                              </p:par>
                              <p:par>
                                <p:cTn id="164" presetID="42" presetClass="entr" presetSubtype="0" fill="hold" nodeType="withEffect">
                                  <p:stCondLst>
                                    <p:cond delay="0"/>
                                  </p:stCondLst>
                                  <p:childTnLst>
                                    <p:set>
                                      <p:cBhvr>
                                        <p:cTn id="165" dur="1" fill="hold">
                                          <p:stCondLst>
                                            <p:cond delay="0"/>
                                          </p:stCondLst>
                                        </p:cTn>
                                        <p:tgtEl>
                                          <p:spTgt spid="96"/>
                                        </p:tgtEl>
                                        <p:attrNameLst>
                                          <p:attrName>style.visibility</p:attrName>
                                        </p:attrNameLst>
                                      </p:cBhvr>
                                      <p:to>
                                        <p:strVal val="visible"/>
                                      </p:to>
                                    </p:set>
                                    <p:animEffect transition="in" filter="fade">
                                      <p:cBhvr>
                                        <p:cTn id="166" dur="1000"/>
                                        <p:tgtEl>
                                          <p:spTgt spid="96"/>
                                        </p:tgtEl>
                                      </p:cBhvr>
                                    </p:animEffect>
                                    <p:anim calcmode="lin" valueType="num">
                                      <p:cBhvr>
                                        <p:cTn id="167" dur="1000" fill="hold"/>
                                        <p:tgtEl>
                                          <p:spTgt spid="96"/>
                                        </p:tgtEl>
                                        <p:attrNameLst>
                                          <p:attrName>ppt_x</p:attrName>
                                        </p:attrNameLst>
                                      </p:cBhvr>
                                      <p:tavLst>
                                        <p:tav tm="0">
                                          <p:val>
                                            <p:strVal val="#ppt_x"/>
                                          </p:val>
                                        </p:tav>
                                        <p:tav tm="100000">
                                          <p:val>
                                            <p:strVal val="#ppt_x"/>
                                          </p:val>
                                        </p:tav>
                                      </p:tavLst>
                                    </p:anim>
                                    <p:anim calcmode="lin" valueType="num">
                                      <p:cBhvr>
                                        <p:cTn id="168" dur="1000" fill="hold"/>
                                        <p:tgtEl>
                                          <p:spTgt spid="9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7" grpId="0"/>
      <p:bldP spid="28" grpId="0"/>
      <p:bldP spid="29" grpId="0"/>
      <p:bldP spid="30" grpId="0"/>
      <p:bldP spid="31" grpId="0"/>
      <p:bldP spid="33" grpId="0" animBg="1"/>
      <p:bldP spid="51" grpId="0"/>
      <p:bldP spid="52" grpId="0"/>
      <p:bldP spid="76" grpId="0" animBg="1"/>
      <p:bldP spid="77" grpId="0" animBg="1"/>
      <p:bldP spid="78" grpId="0" animBg="1"/>
      <p:bldP spid="79" grpId="0" animBg="1"/>
      <p:bldP spid="83" grpId="0"/>
      <p:bldP spid="84" grpId="0"/>
      <p:bldP spid="86" grpId="0" animBg="1"/>
      <p:bldP spid="92" grpId="0" animBg="1"/>
      <p:bldP spid="95" grpId="0" animBg="1"/>
      <p:bldP spid="9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1ED9C471-7AB7-4492-8F2D-BC887A46C3AB}"/>
              </a:ext>
            </a:extLst>
          </p:cNvPr>
          <p:cNvSpPr txBox="1">
            <a:spLocks/>
          </p:cNvSpPr>
          <p:nvPr/>
        </p:nvSpPr>
        <p:spPr>
          <a:xfrm>
            <a:off x="325586" y="0"/>
            <a:ext cx="11866414" cy="67180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Times" panose="02020603050405020304" pitchFamily="18" charset="0"/>
                <a:cs typeface="Times" panose="02020603050405020304" pitchFamily="18" charset="0"/>
              </a:rPr>
              <a:t>Digital to Analog Signal</a:t>
            </a:r>
          </a:p>
        </p:txBody>
      </p:sp>
      <p:sp>
        <p:nvSpPr>
          <p:cNvPr id="58" name="TextBox 57">
            <a:extLst>
              <a:ext uri="{FF2B5EF4-FFF2-40B4-BE49-F238E27FC236}">
                <a16:creationId xmlns:a16="http://schemas.microsoft.com/office/drawing/2014/main" id="{68FF4703-3F02-4750-A025-0ADBDADCC645}"/>
              </a:ext>
            </a:extLst>
          </p:cNvPr>
          <p:cNvSpPr txBox="1"/>
          <p:nvPr/>
        </p:nvSpPr>
        <p:spPr>
          <a:xfrm>
            <a:off x="325586" y="671804"/>
            <a:ext cx="11720235" cy="1704569"/>
          </a:xfrm>
          <a:prstGeom prst="rect">
            <a:avLst/>
          </a:prstGeom>
          <a:noFill/>
        </p:spPr>
        <p:txBody>
          <a:bodyPr wrap="square">
            <a:spAutoFit/>
          </a:bodyPr>
          <a:lstStyle/>
          <a:p>
            <a:pPr algn="just">
              <a:lnSpc>
                <a:spcPct val="150000"/>
              </a:lnSpc>
              <a:buFont typeface="Wingdings" panose="05000000000000000000" pitchFamily="2" charset="2"/>
              <a:buChar char="ü"/>
            </a:pPr>
            <a:r>
              <a:rPr lang="en-US" sz="1800" b="1" dirty="0">
                <a:latin typeface="Times New Roman" panose="02020603050405020304" pitchFamily="18" charset="0"/>
                <a:cs typeface="Times New Roman" panose="02020603050405020304" pitchFamily="18" charset="0"/>
              </a:rPr>
              <a:t>Amplitude Shift Keying</a:t>
            </a:r>
          </a:p>
          <a:p>
            <a:pPr>
              <a:lnSpc>
                <a:spcPct val="150000"/>
              </a:lnSpc>
            </a:pPr>
            <a:r>
              <a:rPr lang="en-US" altLang="en-US" dirty="0">
                <a:latin typeface="Times New Roman" panose="02020603050405020304" pitchFamily="18" charset="0"/>
                <a:cs typeface="Times New Roman" panose="02020603050405020304" pitchFamily="18" charset="0"/>
              </a:rPr>
              <a:t>The bandwidth B of ASK is proportional to the signal rate S.</a:t>
            </a:r>
          </a:p>
          <a:p>
            <a:pPr algn="ctr">
              <a:lnSpc>
                <a:spcPct val="150000"/>
              </a:lnSpc>
              <a:buFont typeface="Wingdings" panose="05000000000000000000" pitchFamily="2" charset="2"/>
              <a:buNone/>
            </a:pPr>
            <a:r>
              <a:rPr lang="en-US" altLang="en-US" dirty="0">
                <a:latin typeface="Times New Roman" panose="02020603050405020304" pitchFamily="18" charset="0"/>
                <a:cs typeface="Times New Roman" panose="02020603050405020304" pitchFamily="18" charset="0"/>
              </a:rPr>
              <a:t>B = (1+d)S.</a:t>
            </a:r>
          </a:p>
          <a:p>
            <a:pPr>
              <a:lnSpc>
                <a:spcPct val="150000"/>
              </a:lnSpc>
            </a:pPr>
            <a:r>
              <a:rPr lang="en-US" altLang="en-US" dirty="0">
                <a:latin typeface="Times New Roman" panose="02020603050405020304" pitchFamily="18" charset="0"/>
                <a:cs typeface="Times New Roman" panose="02020603050405020304" pitchFamily="18" charset="0"/>
              </a:rPr>
              <a:t>“d” is due to modulation and filtering, lies between 0 and 1.</a:t>
            </a:r>
          </a:p>
        </p:txBody>
      </p:sp>
      <p:pic>
        <p:nvPicPr>
          <p:cNvPr id="6" name="Picture 8">
            <a:extLst>
              <a:ext uri="{FF2B5EF4-FFF2-40B4-BE49-F238E27FC236}">
                <a16:creationId xmlns:a16="http://schemas.microsoft.com/office/drawing/2014/main" id="{EEE44C2D-B3AA-6986-D98F-73992E0732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0878" y="2782593"/>
            <a:ext cx="8629650" cy="2351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530440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1ED9C471-7AB7-4492-8F2D-BC887A46C3AB}"/>
              </a:ext>
            </a:extLst>
          </p:cNvPr>
          <p:cNvSpPr txBox="1">
            <a:spLocks/>
          </p:cNvSpPr>
          <p:nvPr/>
        </p:nvSpPr>
        <p:spPr>
          <a:xfrm>
            <a:off x="325586" y="0"/>
            <a:ext cx="11866414" cy="67180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Times" panose="02020603050405020304" pitchFamily="18" charset="0"/>
                <a:cs typeface="Times" panose="02020603050405020304" pitchFamily="18" charset="0"/>
              </a:rPr>
              <a:t>Digital to Analog Signal</a:t>
            </a:r>
          </a:p>
        </p:txBody>
      </p:sp>
      <p:pic>
        <p:nvPicPr>
          <p:cNvPr id="1026" name="Picture 2" descr="Amplitude Shift Keying : Circuit Diagram, Working and Its Applications">
            <a:extLst>
              <a:ext uri="{FF2B5EF4-FFF2-40B4-BE49-F238E27FC236}">
                <a16:creationId xmlns:a16="http://schemas.microsoft.com/office/drawing/2014/main" id="{1258486B-8E2E-4480-A5DD-38C2C21D5C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829" y="1724803"/>
            <a:ext cx="7389845" cy="4061538"/>
          </a:xfrm>
          <a:prstGeom prst="rect">
            <a:avLst/>
          </a:prstGeom>
          <a:noFill/>
          <a:extLst>
            <a:ext uri="{909E8E84-426E-40DD-AFC4-6F175D3DCCD1}">
              <a14:hiddenFill xmlns:a14="http://schemas.microsoft.com/office/drawing/2010/main">
                <a:solidFill>
                  <a:srgbClr val="FFFFFF"/>
                </a:solidFill>
              </a14:hiddenFill>
            </a:ext>
          </a:extLst>
        </p:spPr>
      </p:pic>
      <p:sp>
        <p:nvSpPr>
          <p:cNvPr id="55" name="TextBox 54">
            <a:extLst>
              <a:ext uri="{FF2B5EF4-FFF2-40B4-BE49-F238E27FC236}">
                <a16:creationId xmlns:a16="http://schemas.microsoft.com/office/drawing/2014/main" id="{490B906D-8329-4FE3-B22C-4208D9AB3B7C}"/>
              </a:ext>
            </a:extLst>
          </p:cNvPr>
          <p:cNvSpPr txBox="1"/>
          <p:nvPr/>
        </p:nvSpPr>
        <p:spPr>
          <a:xfrm>
            <a:off x="8304245" y="3013501"/>
            <a:ext cx="3741576" cy="830997"/>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Bit 1- Amplitude same as carrier signal</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Bit 0 – Amplitude 0</a:t>
            </a:r>
          </a:p>
        </p:txBody>
      </p:sp>
      <p:sp>
        <p:nvSpPr>
          <p:cNvPr id="58" name="TextBox 57">
            <a:extLst>
              <a:ext uri="{FF2B5EF4-FFF2-40B4-BE49-F238E27FC236}">
                <a16:creationId xmlns:a16="http://schemas.microsoft.com/office/drawing/2014/main" id="{68FF4703-3F02-4750-A025-0ADBDADCC645}"/>
              </a:ext>
            </a:extLst>
          </p:cNvPr>
          <p:cNvSpPr txBox="1"/>
          <p:nvPr/>
        </p:nvSpPr>
        <p:spPr>
          <a:xfrm>
            <a:off x="325586" y="671804"/>
            <a:ext cx="11720235" cy="873572"/>
          </a:xfrm>
          <a:prstGeom prst="rect">
            <a:avLst/>
          </a:prstGeom>
          <a:noFill/>
        </p:spPr>
        <p:txBody>
          <a:bodyPr wrap="square">
            <a:spAutoFit/>
          </a:bodyPr>
          <a:lstStyle/>
          <a:p>
            <a:pPr algn="just">
              <a:lnSpc>
                <a:spcPct val="150000"/>
              </a:lnSpc>
              <a:buFont typeface="Wingdings" panose="05000000000000000000" pitchFamily="2" charset="2"/>
              <a:buChar char="ü"/>
            </a:pPr>
            <a:r>
              <a:rPr lang="en-US" sz="1800" b="1" dirty="0">
                <a:latin typeface="Times New Roman" panose="02020603050405020304" pitchFamily="18" charset="0"/>
                <a:cs typeface="Times New Roman" panose="02020603050405020304" pitchFamily="18" charset="0"/>
              </a:rPr>
              <a:t>Amplitude Shift Keying</a:t>
            </a:r>
          </a:p>
          <a:p>
            <a:pPr algn="just">
              <a:lnSpc>
                <a:spcPct val="150000"/>
              </a:lnSpc>
            </a:pPr>
            <a:r>
              <a:rPr lang="en-US" sz="1800" dirty="0">
                <a:latin typeface="Times New Roman" panose="02020603050405020304" pitchFamily="18" charset="0"/>
                <a:cs typeface="Times New Roman" panose="02020603050405020304" pitchFamily="18" charset="0"/>
              </a:rPr>
              <a:t>It uses only two levels so it is also called binary amplitude sh</a:t>
            </a:r>
            <a:r>
              <a:rPr lang="en-US" dirty="0">
                <a:latin typeface="Times New Roman" panose="02020603050405020304" pitchFamily="18" charset="0"/>
                <a:cs typeface="Times New Roman" panose="02020603050405020304" pitchFamily="18" charset="0"/>
              </a:rPr>
              <a:t>ift keying </a:t>
            </a:r>
            <a:r>
              <a:rPr lang="en-US" b="1" dirty="0">
                <a:latin typeface="Times New Roman" panose="02020603050405020304" pitchFamily="18" charset="0"/>
                <a:cs typeface="Times New Roman" panose="02020603050405020304" pitchFamily="18" charset="0"/>
              </a:rPr>
              <a:t>(BASK) </a:t>
            </a:r>
            <a:r>
              <a:rPr lang="en-US" dirty="0">
                <a:latin typeface="Times New Roman" panose="02020603050405020304" pitchFamily="18" charset="0"/>
                <a:cs typeface="Times New Roman" panose="02020603050405020304" pitchFamily="18" charset="0"/>
              </a:rPr>
              <a:t>or on-off keying </a:t>
            </a:r>
            <a:r>
              <a:rPr lang="en-US" b="1" dirty="0">
                <a:latin typeface="Times New Roman" panose="02020603050405020304" pitchFamily="18" charset="0"/>
                <a:cs typeface="Times New Roman" panose="02020603050405020304" pitchFamily="18" charset="0"/>
              </a:rPr>
              <a:t>(OOK).</a:t>
            </a:r>
            <a:endParaRPr lang="en-US"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8136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1000"/>
                                        <p:tgtEl>
                                          <p:spTgt spid="55"/>
                                        </p:tgtEl>
                                      </p:cBhvr>
                                    </p:animEffect>
                                    <p:anim calcmode="lin" valueType="num">
                                      <p:cBhvr>
                                        <p:cTn id="8" dur="1000" fill="hold"/>
                                        <p:tgtEl>
                                          <p:spTgt spid="55"/>
                                        </p:tgtEl>
                                        <p:attrNameLst>
                                          <p:attrName>ppt_x</p:attrName>
                                        </p:attrNameLst>
                                      </p:cBhvr>
                                      <p:tavLst>
                                        <p:tav tm="0">
                                          <p:val>
                                            <p:strVal val="#ppt_x"/>
                                          </p:val>
                                        </p:tav>
                                        <p:tav tm="100000">
                                          <p:val>
                                            <p:strVal val="#ppt_x"/>
                                          </p:val>
                                        </p:tav>
                                      </p:tavLst>
                                    </p:anim>
                                    <p:anim calcmode="lin" valueType="num">
                                      <p:cBhvr>
                                        <p:cTn id="9" dur="1000" fill="hold"/>
                                        <p:tgtEl>
                                          <p:spTgt spid="5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26"/>
                                        </p:tgtEl>
                                        <p:attrNameLst>
                                          <p:attrName>style.visibility</p:attrName>
                                        </p:attrNameLst>
                                      </p:cBhvr>
                                      <p:to>
                                        <p:strVal val="visible"/>
                                      </p:to>
                                    </p:set>
                                    <p:animEffect transition="in" filter="fade">
                                      <p:cBhvr>
                                        <p:cTn id="14" dur="1000"/>
                                        <p:tgtEl>
                                          <p:spTgt spid="1026"/>
                                        </p:tgtEl>
                                      </p:cBhvr>
                                    </p:animEffect>
                                    <p:anim calcmode="lin" valueType="num">
                                      <p:cBhvr>
                                        <p:cTn id="15" dur="1000" fill="hold"/>
                                        <p:tgtEl>
                                          <p:spTgt spid="1026"/>
                                        </p:tgtEl>
                                        <p:attrNameLst>
                                          <p:attrName>ppt_x</p:attrName>
                                        </p:attrNameLst>
                                      </p:cBhvr>
                                      <p:tavLst>
                                        <p:tav tm="0">
                                          <p:val>
                                            <p:strVal val="#ppt_x"/>
                                          </p:val>
                                        </p:tav>
                                        <p:tav tm="100000">
                                          <p:val>
                                            <p:strVal val="#ppt_x"/>
                                          </p:val>
                                        </p:tav>
                                      </p:tavLst>
                                    </p:anim>
                                    <p:anim calcmode="lin" valueType="num">
                                      <p:cBhvr>
                                        <p:cTn id="16"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8">
                                            <p:txEl>
                                              <p:pRg st="1" end="1"/>
                                            </p:txEl>
                                          </p:spTgt>
                                        </p:tgtEl>
                                        <p:attrNameLst>
                                          <p:attrName>style.visibility</p:attrName>
                                        </p:attrNameLst>
                                      </p:cBhvr>
                                      <p:to>
                                        <p:strVal val="visible"/>
                                      </p:to>
                                    </p:set>
                                    <p:animEffect transition="in" filter="fade">
                                      <p:cBhvr>
                                        <p:cTn id="21" dur="1000"/>
                                        <p:tgtEl>
                                          <p:spTgt spid="58">
                                            <p:txEl>
                                              <p:pRg st="1" end="1"/>
                                            </p:txEl>
                                          </p:spTgt>
                                        </p:tgtEl>
                                      </p:cBhvr>
                                    </p:animEffect>
                                    <p:anim calcmode="lin" valueType="num">
                                      <p:cBhvr>
                                        <p:cTn id="22" dur="1000" fill="hold"/>
                                        <p:tgtEl>
                                          <p:spTgt spid="58">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58">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a:extLst>
              <a:ext uri="{FF2B5EF4-FFF2-40B4-BE49-F238E27FC236}">
                <a16:creationId xmlns:a16="http://schemas.microsoft.com/office/drawing/2014/main" id="{5FEC1D8C-FB90-0FB4-B186-FC2A5AC36E6B}"/>
              </a:ext>
            </a:extLst>
          </p:cNvPr>
          <p:cNvSpPr>
            <a:spLocks noChangeArrowheads="1"/>
          </p:cNvSpPr>
          <p:nvPr/>
        </p:nvSpPr>
        <p:spPr bwMode="auto">
          <a:xfrm>
            <a:off x="285553" y="341722"/>
            <a:ext cx="11620893" cy="1421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50000"/>
              </a:lnSpc>
            </a:pPr>
            <a:r>
              <a:rPr lang="en-US" altLang="en-US" sz="2000" b="1" dirty="0">
                <a:latin typeface="Times New Roman" panose="02020603050405020304" pitchFamily="18" charset="0"/>
              </a:rPr>
              <a:t>Example 5.3: </a:t>
            </a:r>
            <a:r>
              <a:rPr lang="en-US" altLang="en-US" sz="2000" dirty="0">
                <a:latin typeface="Times New Roman" panose="02020603050405020304" pitchFamily="18" charset="0"/>
              </a:rPr>
              <a:t>We have an available bandwidth of 100 kHz which spans from 200 to 300 kHz. What are the carrier frequency and the bit rate if we modulated our data by using ASK with d = 1?</a:t>
            </a:r>
          </a:p>
          <a:p>
            <a:pPr>
              <a:lnSpc>
                <a:spcPct val="150000"/>
              </a:lnSpc>
            </a:pPr>
            <a:endParaRPr lang="en-US" altLang="en-US" sz="2000" dirty="0">
              <a:latin typeface="Times New Roman" panose="02020603050405020304" pitchFamily="18" charset="0"/>
            </a:endParaRPr>
          </a:p>
        </p:txBody>
      </p:sp>
      <p:sp>
        <p:nvSpPr>
          <p:cNvPr id="5" name="Rectangle 11">
            <a:extLst>
              <a:ext uri="{FF2B5EF4-FFF2-40B4-BE49-F238E27FC236}">
                <a16:creationId xmlns:a16="http://schemas.microsoft.com/office/drawing/2014/main" id="{34CAE6ED-F9A3-D8A2-E2F8-2D9C634EC26B}"/>
              </a:ext>
            </a:extLst>
          </p:cNvPr>
          <p:cNvSpPr>
            <a:spLocks noChangeArrowheads="1"/>
          </p:cNvSpPr>
          <p:nvPr/>
        </p:nvSpPr>
        <p:spPr bwMode="auto">
          <a:xfrm>
            <a:off x="285553" y="1638485"/>
            <a:ext cx="11356942"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lang="en-US" altLang="en-US" sz="2000" dirty="0">
                <a:solidFill>
                  <a:schemeClr val="hlink"/>
                </a:solidFill>
                <a:latin typeface="Times New Roman" panose="02020603050405020304" pitchFamily="18" charset="0"/>
                <a:cs typeface="Times New Roman" panose="02020603050405020304" pitchFamily="18" charset="0"/>
              </a:rPr>
              <a:t>Solution: </a:t>
            </a:r>
            <a:r>
              <a:rPr lang="en-US" altLang="en-US" sz="2000" dirty="0">
                <a:latin typeface="Times New Roman" panose="02020603050405020304" pitchFamily="18" charset="0"/>
                <a:cs typeface="Times New Roman" panose="02020603050405020304" pitchFamily="18" charset="0"/>
              </a:rPr>
              <a:t>The middle of the bandwidth is located at 250 kHz. This means that our carrier frequency can be at fc = 250 kHz. We can use the formula for bandwidth to find the bit rate (with d = 1 and r = 1).</a:t>
            </a:r>
          </a:p>
          <a:p>
            <a:endParaRPr lang="en-US" altLang="en-US" sz="2000" dirty="0">
              <a:latin typeface="Times New Roman" panose="02020603050405020304" pitchFamily="18" charset="0"/>
              <a:cs typeface="Times New Roman" panose="02020603050405020304" pitchFamily="18" charset="0"/>
            </a:endParaRPr>
          </a:p>
        </p:txBody>
      </p:sp>
      <p:pic>
        <p:nvPicPr>
          <p:cNvPr id="7" name="Picture 15">
            <a:extLst>
              <a:ext uri="{FF2B5EF4-FFF2-40B4-BE49-F238E27FC236}">
                <a16:creationId xmlns:a16="http://schemas.microsoft.com/office/drawing/2014/main" id="{B5EC626B-ECC1-C28F-8694-CBA9BC5707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0999" y="3319814"/>
            <a:ext cx="7766050" cy="576263"/>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833291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1ED9C471-7AB7-4492-8F2D-BC887A46C3AB}"/>
              </a:ext>
            </a:extLst>
          </p:cNvPr>
          <p:cNvSpPr txBox="1">
            <a:spLocks/>
          </p:cNvSpPr>
          <p:nvPr/>
        </p:nvSpPr>
        <p:spPr>
          <a:xfrm>
            <a:off x="325586" y="0"/>
            <a:ext cx="11866414" cy="67180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Times" panose="02020603050405020304" pitchFamily="18" charset="0"/>
                <a:cs typeface="Times" panose="02020603050405020304" pitchFamily="18" charset="0"/>
              </a:rPr>
              <a:t>Digital to Analog Signal</a:t>
            </a:r>
          </a:p>
        </p:txBody>
      </p:sp>
      <p:sp>
        <p:nvSpPr>
          <p:cNvPr id="55" name="TextBox 54">
            <a:extLst>
              <a:ext uri="{FF2B5EF4-FFF2-40B4-BE49-F238E27FC236}">
                <a16:creationId xmlns:a16="http://schemas.microsoft.com/office/drawing/2014/main" id="{490B906D-8329-4FE3-B22C-4208D9AB3B7C}"/>
              </a:ext>
            </a:extLst>
          </p:cNvPr>
          <p:cNvSpPr txBox="1"/>
          <p:nvPr/>
        </p:nvSpPr>
        <p:spPr>
          <a:xfrm>
            <a:off x="8304245" y="3013501"/>
            <a:ext cx="3741576" cy="830997"/>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Bit 1 - Frequency same as carrier-1 signal</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Bit 0 - Frequency same as carrier-2 signal</a:t>
            </a:r>
          </a:p>
        </p:txBody>
      </p:sp>
      <p:sp>
        <p:nvSpPr>
          <p:cNvPr id="58" name="TextBox 57">
            <a:extLst>
              <a:ext uri="{FF2B5EF4-FFF2-40B4-BE49-F238E27FC236}">
                <a16:creationId xmlns:a16="http://schemas.microsoft.com/office/drawing/2014/main" id="{68FF4703-3F02-4750-A025-0ADBDADCC645}"/>
              </a:ext>
            </a:extLst>
          </p:cNvPr>
          <p:cNvSpPr txBox="1"/>
          <p:nvPr/>
        </p:nvSpPr>
        <p:spPr>
          <a:xfrm>
            <a:off x="325585" y="671804"/>
            <a:ext cx="11720235" cy="873572"/>
          </a:xfrm>
          <a:prstGeom prst="rect">
            <a:avLst/>
          </a:prstGeom>
          <a:noFill/>
        </p:spPr>
        <p:txBody>
          <a:bodyPr wrap="square">
            <a:spAutoFit/>
          </a:bodyPr>
          <a:lstStyle/>
          <a:p>
            <a:pPr algn="just">
              <a:lnSpc>
                <a:spcPct val="150000"/>
              </a:lnSpc>
              <a:buFont typeface="Wingdings" panose="05000000000000000000" pitchFamily="2" charset="2"/>
              <a:buChar char="ü"/>
            </a:pPr>
            <a:r>
              <a:rPr lang="en-US" b="1" dirty="0">
                <a:latin typeface="Times New Roman" panose="02020603050405020304" pitchFamily="18" charset="0"/>
                <a:cs typeface="Times New Roman" panose="02020603050405020304" pitchFamily="18" charset="0"/>
              </a:rPr>
              <a:t>Frequency</a:t>
            </a:r>
            <a:r>
              <a:rPr lang="en-US" sz="1800" b="1" dirty="0">
                <a:latin typeface="Times New Roman" panose="02020603050405020304" pitchFamily="18" charset="0"/>
                <a:cs typeface="Times New Roman" panose="02020603050405020304" pitchFamily="18" charset="0"/>
              </a:rPr>
              <a:t> Shift Keying</a:t>
            </a:r>
          </a:p>
          <a:p>
            <a:pPr algn="just">
              <a:lnSpc>
                <a:spcPct val="150000"/>
              </a:lnSpc>
            </a:pPr>
            <a:r>
              <a:rPr lang="en-US" dirty="0">
                <a:latin typeface="Times New Roman" panose="02020603050405020304" pitchFamily="18" charset="0"/>
                <a:cs typeface="Times New Roman" panose="02020603050405020304" pitchFamily="18" charset="0"/>
              </a:rPr>
              <a:t> The frequency of the carrier signal is varied to represent data.</a:t>
            </a:r>
            <a:endParaRPr lang="en-US" sz="1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D959E03E-7763-4E79-856B-086D55EF2A14}"/>
              </a:ext>
            </a:extLst>
          </p:cNvPr>
          <p:cNvPicPr>
            <a:picLocks noChangeAspect="1"/>
          </p:cNvPicPr>
          <p:nvPr/>
        </p:nvPicPr>
        <p:blipFill>
          <a:blip r:embed="rId3"/>
          <a:stretch>
            <a:fillRect/>
          </a:stretch>
        </p:blipFill>
        <p:spPr>
          <a:xfrm>
            <a:off x="194956" y="2046056"/>
            <a:ext cx="7726733" cy="4352925"/>
          </a:xfrm>
          <a:prstGeom prst="rect">
            <a:avLst/>
          </a:prstGeom>
        </p:spPr>
      </p:pic>
      <p:sp>
        <p:nvSpPr>
          <p:cNvPr id="4" name="TextBox 3">
            <a:extLst>
              <a:ext uri="{FF2B5EF4-FFF2-40B4-BE49-F238E27FC236}">
                <a16:creationId xmlns:a16="http://schemas.microsoft.com/office/drawing/2014/main" id="{9A0E5FD2-B32C-4851-A9CD-8E583B81EA59}"/>
              </a:ext>
            </a:extLst>
          </p:cNvPr>
          <p:cNvSpPr txBox="1"/>
          <p:nvPr/>
        </p:nvSpPr>
        <p:spPr>
          <a:xfrm>
            <a:off x="1539551" y="1707502"/>
            <a:ext cx="270587"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1</a:t>
            </a:r>
          </a:p>
        </p:txBody>
      </p:sp>
      <p:sp>
        <p:nvSpPr>
          <p:cNvPr id="10" name="TextBox 9">
            <a:extLst>
              <a:ext uri="{FF2B5EF4-FFF2-40B4-BE49-F238E27FC236}">
                <a16:creationId xmlns:a16="http://schemas.microsoft.com/office/drawing/2014/main" id="{07283F31-929F-45D8-ACDB-7C283B8F12F5}"/>
              </a:ext>
            </a:extLst>
          </p:cNvPr>
          <p:cNvSpPr txBox="1"/>
          <p:nvPr/>
        </p:nvSpPr>
        <p:spPr>
          <a:xfrm>
            <a:off x="3787736" y="1707502"/>
            <a:ext cx="270587"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1</a:t>
            </a:r>
          </a:p>
        </p:txBody>
      </p:sp>
      <p:sp>
        <p:nvSpPr>
          <p:cNvPr id="11" name="TextBox 10">
            <a:extLst>
              <a:ext uri="{FF2B5EF4-FFF2-40B4-BE49-F238E27FC236}">
                <a16:creationId xmlns:a16="http://schemas.microsoft.com/office/drawing/2014/main" id="{DFA380DF-24A6-44B7-9977-1F77EE520789}"/>
              </a:ext>
            </a:extLst>
          </p:cNvPr>
          <p:cNvSpPr txBox="1"/>
          <p:nvPr/>
        </p:nvSpPr>
        <p:spPr>
          <a:xfrm>
            <a:off x="4882527" y="1707502"/>
            <a:ext cx="270587"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1</a:t>
            </a:r>
          </a:p>
        </p:txBody>
      </p:sp>
      <p:sp>
        <p:nvSpPr>
          <p:cNvPr id="12" name="TextBox 11">
            <a:extLst>
              <a:ext uri="{FF2B5EF4-FFF2-40B4-BE49-F238E27FC236}">
                <a16:creationId xmlns:a16="http://schemas.microsoft.com/office/drawing/2014/main" id="{EC574A1D-1430-4291-98C7-69BF6AE78B0F}"/>
              </a:ext>
            </a:extLst>
          </p:cNvPr>
          <p:cNvSpPr txBox="1"/>
          <p:nvPr/>
        </p:nvSpPr>
        <p:spPr>
          <a:xfrm>
            <a:off x="7152976" y="1718159"/>
            <a:ext cx="270587"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1</a:t>
            </a:r>
          </a:p>
        </p:txBody>
      </p:sp>
      <p:sp>
        <p:nvSpPr>
          <p:cNvPr id="13" name="TextBox 12">
            <a:extLst>
              <a:ext uri="{FF2B5EF4-FFF2-40B4-BE49-F238E27FC236}">
                <a16:creationId xmlns:a16="http://schemas.microsoft.com/office/drawing/2014/main" id="{BC559A28-9084-4DC3-89B2-0210B7EFECDC}"/>
              </a:ext>
            </a:extLst>
          </p:cNvPr>
          <p:cNvSpPr txBox="1"/>
          <p:nvPr/>
        </p:nvSpPr>
        <p:spPr>
          <a:xfrm>
            <a:off x="2568533" y="1728816"/>
            <a:ext cx="270587"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0</a:t>
            </a:r>
          </a:p>
        </p:txBody>
      </p:sp>
      <p:sp>
        <p:nvSpPr>
          <p:cNvPr id="14" name="TextBox 13">
            <a:extLst>
              <a:ext uri="{FF2B5EF4-FFF2-40B4-BE49-F238E27FC236}">
                <a16:creationId xmlns:a16="http://schemas.microsoft.com/office/drawing/2014/main" id="{BAA0EA82-29F0-41D2-995C-28AB7368440F}"/>
              </a:ext>
            </a:extLst>
          </p:cNvPr>
          <p:cNvSpPr txBox="1"/>
          <p:nvPr/>
        </p:nvSpPr>
        <p:spPr>
          <a:xfrm>
            <a:off x="5900627" y="1728816"/>
            <a:ext cx="270587"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0</a:t>
            </a:r>
          </a:p>
        </p:txBody>
      </p:sp>
    </p:spTree>
    <p:extLst>
      <p:ext uri="{BB962C8B-B14F-4D97-AF65-F5344CB8AC3E}">
        <p14:creationId xmlns:p14="http://schemas.microsoft.com/office/powerpoint/2010/main" val="4077264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8">
                                            <p:txEl>
                                              <p:pRg st="1" end="1"/>
                                            </p:txEl>
                                          </p:spTgt>
                                        </p:tgtEl>
                                        <p:attrNameLst>
                                          <p:attrName>style.visibility</p:attrName>
                                        </p:attrNameLst>
                                      </p:cBhvr>
                                      <p:to>
                                        <p:strVal val="visible"/>
                                      </p:to>
                                    </p:set>
                                    <p:animEffect transition="in" filter="fade">
                                      <p:cBhvr>
                                        <p:cTn id="7" dur="1000"/>
                                        <p:tgtEl>
                                          <p:spTgt spid="58">
                                            <p:txEl>
                                              <p:pRg st="1" end="1"/>
                                            </p:txEl>
                                          </p:spTgt>
                                        </p:tgtEl>
                                      </p:cBhvr>
                                    </p:animEffect>
                                    <p:anim calcmode="lin" valueType="num">
                                      <p:cBhvr>
                                        <p:cTn id="8" dur="1000" fill="hold"/>
                                        <p:tgtEl>
                                          <p:spTgt spid="5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5"/>
                                        </p:tgtEl>
                                        <p:attrNameLst>
                                          <p:attrName>style.visibility</p:attrName>
                                        </p:attrNameLst>
                                      </p:cBhvr>
                                      <p:to>
                                        <p:strVal val="visible"/>
                                      </p:to>
                                    </p:set>
                                    <p:animEffect transition="in" filter="fade">
                                      <p:cBhvr>
                                        <p:cTn id="14" dur="1000"/>
                                        <p:tgtEl>
                                          <p:spTgt spid="55"/>
                                        </p:tgtEl>
                                      </p:cBhvr>
                                    </p:animEffect>
                                    <p:anim calcmode="lin" valueType="num">
                                      <p:cBhvr>
                                        <p:cTn id="15" dur="1000" fill="hold"/>
                                        <p:tgtEl>
                                          <p:spTgt spid="55"/>
                                        </p:tgtEl>
                                        <p:attrNameLst>
                                          <p:attrName>ppt_x</p:attrName>
                                        </p:attrNameLst>
                                      </p:cBhvr>
                                      <p:tavLst>
                                        <p:tav tm="0">
                                          <p:val>
                                            <p:strVal val="#ppt_x"/>
                                          </p:val>
                                        </p:tav>
                                        <p:tav tm="100000">
                                          <p:val>
                                            <p:strVal val="#ppt_x"/>
                                          </p:val>
                                        </p:tav>
                                      </p:tavLst>
                                    </p:anim>
                                    <p:anim calcmode="lin" valueType="num">
                                      <p:cBhvr>
                                        <p:cTn id="16" dur="1000" fill="hold"/>
                                        <p:tgtEl>
                                          <p:spTgt spid="5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1ED9C471-7AB7-4492-8F2D-BC887A46C3AB}"/>
              </a:ext>
            </a:extLst>
          </p:cNvPr>
          <p:cNvSpPr txBox="1">
            <a:spLocks/>
          </p:cNvSpPr>
          <p:nvPr/>
        </p:nvSpPr>
        <p:spPr>
          <a:xfrm>
            <a:off x="325586" y="0"/>
            <a:ext cx="11866414" cy="67180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Times" panose="02020603050405020304" pitchFamily="18" charset="0"/>
                <a:cs typeface="Times" panose="02020603050405020304" pitchFamily="18" charset="0"/>
              </a:rPr>
              <a:t>Digital to Analog Signal</a:t>
            </a:r>
          </a:p>
        </p:txBody>
      </p:sp>
      <p:sp>
        <p:nvSpPr>
          <p:cNvPr id="55" name="TextBox 54">
            <a:extLst>
              <a:ext uri="{FF2B5EF4-FFF2-40B4-BE49-F238E27FC236}">
                <a16:creationId xmlns:a16="http://schemas.microsoft.com/office/drawing/2014/main" id="{490B906D-8329-4FE3-B22C-4208D9AB3B7C}"/>
              </a:ext>
            </a:extLst>
          </p:cNvPr>
          <p:cNvSpPr txBox="1"/>
          <p:nvPr/>
        </p:nvSpPr>
        <p:spPr>
          <a:xfrm>
            <a:off x="8304245" y="3013501"/>
            <a:ext cx="3741576" cy="830997"/>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Bit 1- Phase 0 degree</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Bit 0 – Phase 180 degree</a:t>
            </a:r>
          </a:p>
        </p:txBody>
      </p:sp>
      <p:sp>
        <p:nvSpPr>
          <p:cNvPr id="58" name="TextBox 57">
            <a:extLst>
              <a:ext uri="{FF2B5EF4-FFF2-40B4-BE49-F238E27FC236}">
                <a16:creationId xmlns:a16="http://schemas.microsoft.com/office/drawing/2014/main" id="{68FF4703-3F02-4750-A025-0ADBDADCC645}"/>
              </a:ext>
            </a:extLst>
          </p:cNvPr>
          <p:cNvSpPr txBox="1"/>
          <p:nvPr/>
        </p:nvSpPr>
        <p:spPr>
          <a:xfrm>
            <a:off x="325585" y="671804"/>
            <a:ext cx="11720235" cy="873572"/>
          </a:xfrm>
          <a:prstGeom prst="rect">
            <a:avLst/>
          </a:prstGeom>
          <a:noFill/>
        </p:spPr>
        <p:txBody>
          <a:bodyPr wrap="square">
            <a:spAutoFit/>
          </a:bodyPr>
          <a:lstStyle/>
          <a:p>
            <a:pPr algn="just">
              <a:lnSpc>
                <a:spcPct val="150000"/>
              </a:lnSpc>
              <a:buFont typeface="Wingdings" panose="05000000000000000000" pitchFamily="2" charset="2"/>
              <a:buChar char="ü"/>
            </a:pPr>
            <a:r>
              <a:rPr lang="en-US" b="1" dirty="0">
                <a:latin typeface="Times New Roman" panose="02020603050405020304" pitchFamily="18" charset="0"/>
                <a:cs typeface="Times New Roman" panose="02020603050405020304" pitchFamily="18" charset="0"/>
              </a:rPr>
              <a:t>Phase</a:t>
            </a:r>
            <a:r>
              <a:rPr lang="en-US" sz="1800" b="1" dirty="0">
                <a:latin typeface="Times New Roman" panose="02020603050405020304" pitchFamily="18" charset="0"/>
                <a:cs typeface="Times New Roman" panose="02020603050405020304" pitchFamily="18" charset="0"/>
              </a:rPr>
              <a:t> Shift Keying</a:t>
            </a:r>
          </a:p>
          <a:p>
            <a:pPr algn="just">
              <a:lnSpc>
                <a:spcPct val="150000"/>
              </a:lnSpc>
            </a:pPr>
            <a:r>
              <a:rPr lang="en-US" dirty="0">
                <a:latin typeface="Times New Roman" panose="02020603050405020304" pitchFamily="18" charset="0"/>
                <a:cs typeface="Times New Roman" panose="02020603050405020304" pitchFamily="18" charset="0"/>
              </a:rPr>
              <a:t> The phase of the carrier signal is varied to represent data.</a:t>
            </a:r>
            <a:endParaRPr lang="en-US"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D5CB909-DAC5-44CD-83D4-BDD15D4133DA}"/>
              </a:ext>
            </a:extLst>
          </p:cNvPr>
          <p:cNvPicPr>
            <a:picLocks noChangeAspect="1"/>
          </p:cNvPicPr>
          <p:nvPr/>
        </p:nvPicPr>
        <p:blipFill>
          <a:blip r:embed="rId3"/>
          <a:stretch>
            <a:fillRect/>
          </a:stretch>
        </p:blipFill>
        <p:spPr>
          <a:xfrm>
            <a:off x="325585" y="1795171"/>
            <a:ext cx="7820025" cy="4391025"/>
          </a:xfrm>
          <a:prstGeom prst="rect">
            <a:avLst/>
          </a:prstGeom>
        </p:spPr>
      </p:pic>
      <p:sp>
        <p:nvSpPr>
          <p:cNvPr id="9" name="TextBox 8">
            <a:extLst>
              <a:ext uri="{FF2B5EF4-FFF2-40B4-BE49-F238E27FC236}">
                <a16:creationId xmlns:a16="http://schemas.microsoft.com/office/drawing/2014/main" id="{04B6A594-D8CC-485D-82D4-FC5FFCD63513}"/>
              </a:ext>
            </a:extLst>
          </p:cNvPr>
          <p:cNvSpPr txBox="1"/>
          <p:nvPr/>
        </p:nvSpPr>
        <p:spPr>
          <a:xfrm>
            <a:off x="1539551" y="1707502"/>
            <a:ext cx="270587"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1</a:t>
            </a:r>
          </a:p>
        </p:txBody>
      </p:sp>
      <p:sp>
        <p:nvSpPr>
          <p:cNvPr id="10" name="TextBox 9">
            <a:extLst>
              <a:ext uri="{FF2B5EF4-FFF2-40B4-BE49-F238E27FC236}">
                <a16:creationId xmlns:a16="http://schemas.microsoft.com/office/drawing/2014/main" id="{8EE13783-1298-4511-8222-56815DE6302C}"/>
              </a:ext>
            </a:extLst>
          </p:cNvPr>
          <p:cNvSpPr txBox="1"/>
          <p:nvPr/>
        </p:nvSpPr>
        <p:spPr>
          <a:xfrm>
            <a:off x="3787736" y="1707502"/>
            <a:ext cx="270587"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1</a:t>
            </a:r>
          </a:p>
        </p:txBody>
      </p:sp>
      <p:sp>
        <p:nvSpPr>
          <p:cNvPr id="11" name="TextBox 10">
            <a:extLst>
              <a:ext uri="{FF2B5EF4-FFF2-40B4-BE49-F238E27FC236}">
                <a16:creationId xmlns:a16="http://schemas.microsoft.com/office/drawing/2014/main" id="{1B480094-851A-48BB-A437-5EF8367F8F0E}"/>
              </a:ext>
            </a:extLst>
          </p:cNvPr>
          <p:cNvSpPr txBox="1"/>
          <p:nvPr/>
        </p:nvSpPr>
        <p:spPr>
          <a:xfrm>
            <a:off x="4882527" y="1707502"/>
            <a:ext cx="270587"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1</a:t>
            </a:r>
          </a:p>
        </p:txBody>
      </p:sp>
      <p:sp>
        <p:nvSpPr>
          <p:cNvPr id="12" name="TextBox 11">
            <a:extLst>
              <a:ext uri="{FF2B5EF4-FFF2-40B4-BE49-F238E27FC236}">
                <a16:creationId xmlns:a16="http://schemas.microsoft.com/office/drawing/2014/main" id="{DFA25C24-387F-48A5-9DD8-4187D99D691E}"/>
              </a:ext>
            </a:extLst>
          </p:cNvPr>
          <p:cNvSpPr txBox="1"/>
          <p:nvPr/>
        </p:nvSpPr>
        <p:spPr>
          <a:xfrm>
            <a:off x="7152976" y="1718159"/>
            <a:ext cx="270587"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1</a:t>
            </a:r>
          </a:p>
        </p:txBody>
      </p:sp>
      <p:sp>
        <p:nvSpPr>
          <p:cNvPr id="13" name="TextBox 12">
            <a:extLst>
              <a:ext uri="{FF2B5EF4-FFF2-40B4-BE49-F238E27FC236}">
                <a16:creationId xmlns:a16="http://schemas.microsoft.com/office/drawing/2014/main" id="{5F3AF773-9813-4226-9793-9B54E268A340}"/>
              </a:ext>
            </a:extLst>
          </p:cNvPr>
          <p:cNvSpPr txBox="1"/>
          <p:nvPr/>
        </p:nvSpPr>
        <p:spPr>
          <a:xfrm>
            <a:off x="2568533" y="1728816"/>
            <a:ext cx="270587"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0</a:t>
            </a:r>
          </a:p>
        </p:txBody>
      </p:sp>
      <p:sp>
        <p:nvSpPr>
          <p:cNvPr id="14" name="TextBox 13">
            <a:extLst>
              <a:ext uri="{FF2B5EF4-FFF2-40B4-BE49-F238E27FC236}">
                <a16:creationId xmlns:a16="http://schemas.microsoft.com/office/drawing/2014/main" id="{D8873796-2013-4BD2-9B2D-4B61CE5BDE99}"/>
              </a:ext>
            </a:extLst>
          </p:cNvPr>
          <p:cNvSpPr txBox="1"/>
          <p:nvPr/>
        </p:nvSpPr>
        <p:spPr>
          <a:xfrm>
            <a:off x="5900627" y="1728816"/>
            <a:ext cx="270587"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0</a:t>
            </a:r>
          </a:p>
        </p:txBody>
      </p:sp>
    </p:spTree>
    <p:extLst>
      <p:ext uri="{BB962C8B-B14F-4D97-AF65-F5344CB8AC3E}">
        <p14:creationId xmlns:p14="http://schemas.microsoft.com/office/powerpoint/2010/main" val="736610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8">
                                            <p:txEl>
                                              <p:pRg st="1" end="1"/>
                                            </p:txEl>
                                          </p:spTgt>
                                        </p:tgtEl>
                                        <p:attrNameLst>
                                          <p:attrName>style.visibility</p:attrName>
                                        </p:attrNameLst>
                                      </p:cBhvr>
                                      <p:to>
                                        <p:strVal val="visible"/>
                                      </p:to>
                                    </p:set>
                                    <p:animEffect transition="in" filter="fade">
                                      <p:cBhvr>
                                        <p:cTn id="7" dur="1000"/>
                                        <p:tgtEl>
                                          <p:spTgt spid="58">
                                            <p:txEl>
                                              <p:pRg st="1" end="1"/>
                                            </p:txEl>
                                          </p:spTgt>
                                        </p:tgtEl>
                                      </p:cBhvr>
                                    </p:animEffect>
                                    <p:anim calcmode="lin" valueType="num">
                                      <p:cBhvr>
                                        <p:cTn id="8" dur="1000" fill="hold"/>
                                        <p:tgtEl>
                                          <p:spTgt spid="5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5"/>
                                        </p:tgtEl>
                                        <p:attrNameLst>
                                          <p:attrName>style.visibility</p:attrName>
                                        </p:attrNameLst>
                                      </p:cBhvr>
                                      <p:to>
                                        <p:strVal val="visible"/>
                                      </p:to>
                                    </p:set>
                                    <p:animEffect transition="in" filter="fade">
                                      <p:cBhvr>
                                        <p:cTn id="14" dur="1000"/>
                                        <p:tgtEl>
                                          <p:spTgt spid="55"/>
                                        </p:tgtEl>
                                      </p:cBhvr>
                                    </p:animEffect>
                                    <p:anim calcmode="lin" valueType="num">
                                      <p:cBhvr>
                                        <p:cTn id="15" dur="1000" fill="hold"/>
                                        <p:tgtEl>
                                          <p:spTgt spid="55"/>
                                        </p:tgtEl>
                                        <p:attrNameLst>
                                          <p:attrName>ppt_x</p:attrName>
                                        </p:attrNameLst>
                                      </p:cBhvr>
                                      <p:tavLst>
                                        <p:tav tm="0">
                                          <p:val>
                                            <p:strVal val="#ppt_x"/>
                                          </p:val>
                                        </p:tav>
                                        <p:tav tm="100000">
                                          <p:val>
                                            <p:strVal val="#ppt_x"/>
                                          </p:val>
                                        </p:tav>
                                      </p:tavLst>
                                    </p:anim>
                                    <p:anim calcmode="lin" valueType="num">
                                      <p:cBhvr>
                                        <p:cTn id="16" dur="1000" fill="hold"/>
                                        <p:tgtEl>
                                          <p:spTgt spid="5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1ED9C471-7AB7-4492-8F2D-BC887A46C3AB}"/>
              </a:ext>
            </a:extLst>
          </p:cNvPr>
          <p:cNvSpPr txBox="1">
            <a:spLocks/>
          </p:cNvSpPr>
          <p:nvPr/>
        </p:nvSpPr>
        <p:spPr>
          <a:xfrm>
            <a:off x="325586" y="0"/>
            <a:ext cx="11866414" cy="67180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Times" panose="02020603050405020304" pitchFamily="18" charset="0"/>
                <a:cs typeface="Times" panose="02020603050405020304" pitchFamily="18" charset="0"/>
              </a:rPr>
              <a:t>Digital to Analog Signal</a:t>
            </a:r>
          </a:p>
        </p:txBody>
      </p:sp>
      <p:sp>
        <p:nvSpPr>
          <p:cNvPr id="58" name="TextBox 57">
            <a:extLst>
              <a:ext uri="{FF2B5EF4-FFF2-40B4-BE49-F238E27FC236}">
                <a16:creationId xmlns:a16="http://schemas.microsoft.com/office/drawing/2014/main" id="{68FF4703-3F02-4750-A025-0ADBDADCC645}"/>
              </a:ext>
            </a:extLst>
          </p:cNvPr>
          <p:cNvSpPr txBox="1"/>
          <p:nvPr/>
        </p:nvSpPr>
        <p:spPr>
          <a:xfrm>
            <a:off x="325585" y="671804"/>
            <a:ext cx="11720235" cy="2120068"/>
          </a:xfrm>
          <a:prstGeom prst="rect">
            <a:avLst/>
          </a:prstGeom>
          <a:noFill/>
        </p:spPr>
        <p:txBody>
          <a:bodyPr wrap="square">
            <a:spAutoFit/>
          </a:bodyPr>
          <a:lstStyle/>
          <a:p>
            <a:pPr marL="285750" indent="-285750" algn="just">
              <a:lnSpc>
                <a:spcPct val="150000"/>
              </a:lnSpc>
              <a:buFont typeface="Wingdings" panose="05000000000000000000" pitchFamily="2" charset="2"/>
              <a:buChar char="ü"/>
            </a:pPr>
            <a:r>
              <a:rPr lang="en-US" sz="1800" b="1" dirty="0">
                <a:latin typeface="Times New Roman" panose="02020603050405020304" pitchFamily="18" charset="0"/>
                <a:cs typeface="Times New Roman" panose="02020603050405020304" pitchFamily="18" charset="0"/>
              </a:rPr>
              <a:t>Quadrature Phase Shift Keying (QPSK)</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is a form of PSK where two bits are modulated at once.</a:t>
            </a:r>
          </a:p>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It selects one of four possible carrier phase shifts 0, 90, 180 and 270 degrees.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Where, </a:t>
            </a:r>
            <a:endParaRPr lang="en-US" sz="18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p:txBody>
      </p:sp>
      <p:graphicFrame>
        <p:nvGraphicFramePr>
          <p:cNvPr id="5" name="Table 5">
            <a:extLst>
              <a:ext uri="{FF2B5EF4-FFF2-40B4-BE49-F238E27FC236}">
                <a16:creationId xmlns:a16="http://schemas.microsoft.com/office/drawing/2014/main" id="{616631C6-387C-90CB-3519-E7544D8AE1C3}"/>
              </a:ext>
            </a:extLst>
          </p:cNvPr>
          <p:cNvGraphicFramePr>
            <a:graphicFrameLocks noGrp="1"/>
          </p:cNvGraphicFramePr>
          <p:nvPr>
            <p:extLst>
              <p:ext uri="{D42A27DB-BD31-4B8C-83A1-F6EECF244321}">
                <p14:modId xmlns:p14="http://schemas.microsoft.com/office/powerpoint/2010/main" val="1020509552"/>
              </p:ext>
            </p:extLst>
          </p:nvPr>
        </p:nvGraphicFramePr>
        <p:xfrm>
          <a:off x="1645501" y="2435344"/>
          <a:ext cx="8128000" cy="148336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389933668"/>
                    </a:ext>
                  </a:extLst>
                </a:gridCol>
                <a:gridCol w="4064000">
                  <a:extLst>
                    <a:ext uri="{9D8B030D-6E8A-4147-A177-3AD203B41FA5}">
                      <a16:colId xmlns:a16="http://schemas.microsoft.com/office/drawing/2014/main" val="852135449"/>
                    </a:ext>
                  </a:extLst>
                </a:gridCol>
              </a:tblGrid>
              <a:tr h="370840">
                <a:tc>
                  <a:txBody>
                    <a:bodyPr/>
                    <a:lstStyle/>
                    <a:p>
                      <a:r>
                        <a:rPr lang="en-US" dirty="0"/>
                        <a:t>00</a:t>
                      </a:r>
                    </a:p>
                  </a:txBody>
                  <a:tcPr/>
                </a:tc>
                <a:tc>
                  <a:txBody>
                    <a:bodyPr/>
                    <a:lstStyle/>
                    <a:p>
                      <a:r>
                        <a:rPr lang="en-US" dirty="0"/>
                        <a:t>Phase 0 degree</a:t>
                      </a:r>
                    </a:p>
                  </a:txBody>
                  <a:tcPr/>
                </a:tc>
                <a:extLst>
                  <a:ext uri="{0D108BD9-81ED-4DB2-BD59-A6C34878D82A}">
                    <a16:rowId xmlns:a16="http://schemas.microsoft.com/office/drawing/2014/main" val="1744895366"/>
                  </a:ext>
                </a:extLst>
              </a:tr>
              <a:tr h="370840">
                <a:tc>
                  <a:txBody>
                    <a:bodyPr/>
                    <a:lstStyle/>
                    <a:p>
                      <a:r>
                        <a:rPr lang="en-US" dirty="0"/>
                        <a:t>10</a:t>
                      </a:r>
                    </a:p>
                  </a:txBody>
                  <a:tcPr/>
                </a:tc>
                <a:tc>
                  <a:txBody>
                    <a:bodyPr/>
                    <a:lstStyle/>
                    <a:p>
                      <a:r>
                        <a:rPr lang="en-US" dirty="0"/>
                        <a:t>Phase 90 degree</a:t>
                      </a:r>
                    </a:p>
                  </a:txBody>
                  <a:tcPr/>
                </a:tc>
                <a:extLst>
                  <a:ext uri="{0D108BD9-81ED-4DB2-BD59-A6C34878D82A}">
                    <a16:rowId xmlns:a16="http://schemas.microsoft.com/office/drawing/2014/main" val="2400127284"/>
                  </a:ext>
                </a:extLst>
              </a:tr>
              <a:tr h="370840">
                <a:tc>
                  <a:txBody>
                    <a:bodyPr/>
                    <a:lstStyle/>
                    <a:p>
                      <a:r>
                        <a:rPr lang="en-US" dirty="0"/>
                        <a:t>01</a:t>
                      </a:r>
                    </a:p>
                  </a:txBody>
                  <a:tcPr/>
                </a:tc>
                <a:tc>
                  <a:txBody>
                    <a:bodyPr/>
                    <a:lstStyle/>
                    <a:p>
                      <a:r>
                        <a:rPr lang="en-US" dirty="0"/>
                        <a:t>Phase 180 degree</a:t>
                      </a:r>
                    </a:p>
                  </a:txBody>
                  <a:tcPr/>
                </a:tc>
                <a:extLst>
                  <a:ext uri="{0D108BD9-81ED-4DB2-BD59-A6C34878D82A}">
                    <a16:rowId xmlns:a16="http://schemas.microsoft.com/office/drawing/2014/main" val="927146659"/>
                  </a:ext>
                </a:extLst>
              </a:tr>
              <a:tr h="370840">
                <a:tc>
                  <a:txBody>
                    <a:bodyPr/>
                    <a:lstStyle/>
                    <a:p>
                      <a:r>
                        <a:rPr lang="en-US" dirty="0"/>
                        <a:t>11</a:t>
                      </a:r>
                    </a:p>
                  </a:txBody>
                  <a:tcPr/>
                </a:tc>
                <a:tc>
                  <a:txBody>
                    <a:bodyPr/>
                    <a:lstStyle/>
                    <a:p>
                      <a:r>
                        <a:rPr lang="en-US" dirty="0"/>
                        <a:t>Phase 270 degree</a:t>
                      </a:r>
                    </a:p>
                  </a:txBody>
                  <a:tcPr/>
                </a:tc>
                <a:extLst>
                  <a:ext uri="{0D108BD9-81ED-4DB2-BD59-A6C34878D82A}">
                    <a16:rowId xmlns:a16="http://schemas.microsoft.com/office/drawing/2014/main" val="4094421528"/>
                  </a:ext>
                </a:extLst>
              </a:tr>
            </a:tbl>
          </a:graphicData>
        </a:graphic>
      </p:graphicFrame>
      <p:pic>
        <p:nvPicPr>
          <p:cNvPr id="1026" name="Picture 2" descr="PHASE">
            <a:extLst>
              <a:ext uri="{FF2B5EF4-FFF2-40B4-BE49-F238E27FC236}">
                <a16:creationId xmlns:a16="http://schemas.microsoft.com/office/drawing/2014/main" id="{711C3289-27F8-0242-007D-3BE4702906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3513" y="4161051"/>
            <a:ext cx="4371975" cy="2457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52144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1ED9C471-7AB7-4492-8F2D-BC887A46C3AB}"/>
              </a:ext>
            </a:extLst>
          </p:cNvPr>
          <p:cNvSpPr txBox="1">
            <a:spLocks/>
          </p:cNvSpPr>
          <p:nvPr/>
        </p:nvSpPr>
        <p:spPr>
          <a:xfrm>
            <a:off x="325586" y="0"/>
            <a:ext cx="11866414" cy="67180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Times" panose="02020603050405020304" pitchFamily="18" charset="0"/>
                <a:cs typeface="Times" panose="02020603050405020304" pitchFamily="18" charset="0"/>
              </a:rPr>
              <a:t>Digital to Analog Signal</a:t>
            </a:r>
          </a:p>
        </p:txBody>
      </p:sp>
      <p:sp>
        <p:nvSpPr>
          <p:cNvPr id="58" name="TextBox 57">
            <a:extLst>
              <a:ext uri="{FF2B5EF4-FFF2-40B4-BE49-F238E27FC236}">
                <a16:creationId xmlns:a16="http://schemas.microsoft.com/office/drawing/2014/main" id="{68FF4703-3F02-4750-A025-0ADBDADCC645}"/>
              </a:ext>
            </a:extLst>
          </p:cNvPr>
          <p:cNvSpPr txBox="1"/>
          <p:nvPr/>
        </p:nvSpPr>
        <p:spPr>
          <a:xfrm>
            <a:off x="325585" y="671804"/>
            <a:ext cx="11720235" cy="873572"/>
          </a:xfrm>
          <a:prstGeom prst="rect">
            <a:avLst/>
          </a:prstGeom>
          <a:noFill/>
        </p:spPr>
        <p:txBody>
          <a:bodyPr wrap="square">
            <a:spAutoFit/>
          </a:bodyPr>
          <a:lstStyle/>
          <a:p>
            <a:pPr marL="285750" indent="-285750" algn="just">
              <a:lnSpc>
                <a:spcPct val="150000"/>
              </a:lnSpc>
              <a:buFont typeface="Wingdings" panose="05000000000000000000" pitchFamily="2" charset="2"/>
              <a:buChar char="ü"/>
            </a:pPr>
            <a:r>
              <a:rPr lang="en-US" sz="1800" b="1" dirty="0">
                <a:latin typeface="Times New Roman" panose="02020603050405020304" pitchFamily="18" charset="0"/>
                <a:cs typeface="Times New Roman" panose="02020603050405020304" pitchFamily="18" charset="0"/>
              </a:rPr>
              <a:t>Quadrature Phase Shift Keying (QPSK)</a:t>
            </a:r>
          </a:p>
          <a:p>
            <a:pPr algn="just">
              <a:lnSpc>
                <a:spcPct val="150000"/>
              </a:lnSpc>
            </a:pPr>
            <a:endParaRPr lang="en-US" sz="1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B40CD5AD-D1A5-ACAA-61E3-4DE4EB81E62B}"/>
              </a:ext>
            </a:extLst>
          </p:cNvPr>
          <p:cNvPicPr>
            <a:picLocks noChangeAspect="1"/>
          </p:cNvPicPr>
          <p:nvPr/>
        </p:nvPicPr>
        <p:blipFill>
          <a:blip r:embed="rId3"/>
          <a:stretch>
            <a:fillRect/>
          </a:stretch>
        </p:blipFill>
        <p:spPr>
          <a:xfrm>
            <a:off x="585002" y="1706252"/>
            <a:ext cx="11201400" cy="4581426"/>
          </a:xfrm>
          <a:prstGeom prst="rect">
            <a:avLst/>
          </a:prstGeom>
        </p:spPr>
      </p:pic>
    </p:spTree>
    <p:extLst>
      <p:ext uri="{BB962C8B-B14F-4D97-AF65-F5344CB8AC3E}">
        <p14:creationId xmlns:p14="http://schemas.microsoft.com/office/powerpoint/2010/main" val="18159874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1ED9C471-7AB7-4492-8F2D-BC887A46C3AB}"/>
              </a:ext>
            </a:extLst>
          </p:cNvPr>
          <p:cNvSpPr txBox="1">
            <a:spLocks/>
          </p:cNvSpPr>
          <p:nvPr/>
        </p:nvSpPr>
        <p:spPr>
          <a:xfrm>
            <a:off x="325586" y="0"/>
            <a:ext cx="11866414" cy="67180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Times" panose="02020603050405020304" pitchFamily="18" charset="0"/>
                <a:cs typeface="Times" panose="02020603050405020304" pitchFamily="18" charset="0"/>
              </a:rPr>
              <a:t>Digital to Analog Signal</a:t>
            </a:r>
          </a:p>
        </p:txBody>
      </p:sp>
      <p:sp>
        <p:nvSpPr>
          <p:cNvPr id="58" name="TextBox 57">
            <a:extLst>
              <a:ext uri="{FF2B5EF4-FFF2-40B4-BE49-F238E27FC236}">
                <a16:creationId xmlns:a16="http://schemas.microsoft.com/office/drawing/2014/main" id="{68FF4703-3F02-4750-A025-0ADBDADCC645}"/>
              </a:ext>
            </a:extLst>
          </p:cNvPr>
          <p:cNvSpPr txBox="1"/>
          <p:nvPr/>
        </p:nvSpPr>
        <p:spPr>
          <a:xfrm>
            <a:off x="325585" y="671804"/>
            <a:ext cx="11720235" cy="3782061"/>
          </a:xfrm>
          <a:prstGeom prst="rect">
            <a:avLst/>
          </a:prstGeom>
          <a:noFill/>
        </p:spPr>
        <p:txBody>
          <a:bodyPr wrap="square">
            <a:spAutoFit/>
          </a:bodyPr>
          <a:lstStyle/>
          <a:p>
            <a:pPr marL="285750" indent="-285750" algn="just">
              <a:lnSpc>
                <a:spcPct val="150000"/>
              </a:lnSpc>
              <a:buFont typeface="Wingdings" panose="05000000000000000000" pitchFamily="2" charset="2"/>
              <a:buChar char="ü"/>
            </a:pPr>
            <a:r>
              <a:rPr lang="en-US" sz="1800" b="1" dirty="0">
                <a:latin typeface="Times New Roman" panose="02020603050405020304" pitchFamily="18" charset="0"/>
                <a:cs typeface="Times New Roman" panose="02020603050405020304" pitchFamily="18" charset="0"/>
              </a:rPr>
              <a:t>Constellation Diagram</a:t>
            </a:r>
          </a:p>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It is a representation of a signal modulated by a modulation scheme such quadrature amplitude modulation of phase shift keying(PSK).</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displays the signal as two dimensional XY- plane scatter diagram.</a:t>
            </a:r>
          </a:p>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distance of </a:t>
            </a:r>
            <a:r>
              <a:rPr lang="en-US" dirty="0">
                <a:latin typeface="Times New Roman" panose="02020603050405020304" pitchFamily="18" charset="0"/>
                <a:cs typeface="Times New Roman" panose="02020603050405020304" pitchFamily="18" charset="0"/>
              </a:rPr>
              <a:t>a point from the origin represents the measure of amplitude.</a:t>
            </a:r>
          </a:p>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angle </a:t>
            </a:r>
            <a:r>
              <a:rPr lang="en-US" dirty="0">
                <a:latin typeface="Times New Roman" panose="02020603050405020304" pitchFamily="18" charset="0"/>
                <a:cs typeface="Times New Roman" panose="02020603050405020304" pitchFamily="18" charset="0"/>
              </a:rPr>
              <a:t>of a point, measured counter clockwise from the horizontal axis, represents the phase shift of carrier wave.</a:t>
            </a:r>
          </a:p>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diagram has two axes. The horizontal X axis is related to the in-phase carrier; the vertical Y axis is related to the quadrature carrier.</a:t>
            </a:r>
          </a:p>
          <a:p>
            <a:pPr algn="just">
              <a:lnSpc>
                <a:spcPct val="150000"/>
              </a:lnSpc>
            </a:pPr>
            <a:endParaRPr lang="en-US" sz="1800" dirty="0">
              <a:latin typeface="Times New Roman" panose="02020603050405020304" pitchFamily="18" charset="0"/>
              <a:cs typeface="Times New Roman" panose="02020603050405020304" pitchFamily="18" charset="0"/>
            </a:endParaRPr>
          </a:p>
        </p:txBody>
      </p:sp>
      <p:pic>
        <p:nvPicPr>
          <p:cNvPr id="5" name="Picture 6">
            <a:extLst>
              <a:ext uri="{FF2B5EF4-FFF2-40B4-BE49-F238E27FC236}">
                <a16:creationId xmlns:a16="http://schemas.microsoft.com/office/drawing/2014/main" id="{41E0A060-92D1-95FB-5DDD-4384673BD6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5625" y="3893271"/>
            <a:ext cx="5580668" cy="2733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933298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1ED9C471-7AB7-4492-8F2D-BC887A46C3AB}"/>
              </a:ext>
            </a:extLst>
          </p:cNvPr>
          <p:cNvSpPr txBox="1">
            <a:spLocks/>
          </p:cNvSpPr>
          <p:nvPr/>
        </p:nvSpPr>
        <p:spPr>
          <a:xfrm>
            <a:off x="325586" y="0"/>
            <a:ext cx="11866414" cy="67180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Times" panose="02020603050405020304" pitchFamily="18" charset="0"/>
                <a:cs typeface="Times" panose="02020603050405020304" pitchFamily="18" charset="0"/>
              </a:rPr>
              <a:t>Digital to Analog Signal</a:t>
            </a:r>
          </a:p>
        </p:txBody>
      </p:sp>
      <p:pic>
        <p:nvPicPr>
          <p:cNvPr id="6" name="Picture 6">
            <a:extLst>
              <a:ext uri="{FF2B5EF4-FFF2-40B4-BE49-F238E27FC236}">
                <a16:creationId xmlns:a16="http://schemas.microsoft.com/office/drawing/2014/main" id="{CFF2664E-F874-4E06-F148-18ADD4CC3D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4019" y="3608110"/>
            <a:ext cx="8135937" cy="201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a:extLst>
              <a:ext uri="{FF2B5EF4-FFF2-40B4-BE49-F238E27FC236}">
                <a16:creationId xmlns:a16="http://schemas.microsoft.com/office/drawing/2014/main" id="{F69E6FC3-EE1C-981E-95B0-568FA783E552}"/>
              </a:ext>
            </a:extLst>
          </p:cNvPr>
          <p:cNvSpPr txBox="1"/>
          <p:nvPr/>
        </p:nvSpPr>
        <p:spPr>
          <a:xfrm>
            <a:off x="5085155" y="2829804"/>
            <a:ext cx="2347275" cy="64633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1- Phase 0 degree</a:t>
            </a:r>
          </a:p>
          <a:p>
            <a:r>
              <a:rPr lang="en-US" dirty="0">
                <a:latin typeface="Times New Roman" panose="02020603050405020304" pitchFamily="18" charset="0"/>
                <a:cs typeface="Times New Roman" panose="02020603050405020304" pitchFamily="18" charset="0"/>
              </a:rPr>
              <a:t>0- Phase 180 degree</a:t>
            </a:r>
          </a:p>
        </p:txBody>
      </p:sp>
      <p:sp>
        <p:nvSpPr>
          <p:cNvPr id="7" name="TextBox 6">
            <a:extLst>
              <a:ext uri="{FF2B5EF4-FFF2-40B4-BE49-F238E27FC236}">
                <a16:creationId xmlns:a16="http://schemas.microsoft.com/office/drawing/2014/main" id="{6490217F-6153-0A51-B98E-6013069F2877}"/>
              </a:ext>
            </a:extLst>
          </p:cNvPr>
          <p:cNvSpPr txBox="1"/>
          <p:nvPr/>
        </p:nvSpPr>
        <p:spPr>
          <a:xfrm>
            <a:off x="7882681" y="2275806"/>
            <a:ext cx="2347275" cy="1200329"/>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00- Phase -135 degree</a:t>
            </a:r>
          </a:p>
          <a:p>
            <a:r>
              <a:rPr lang="en-US" dirty="0">
                <a:latin typeface="Times New Roman" panose="02020603050405020304" pitchFamily="18" charset="0"/>
                <a:cs typeface="Times New Roman" panose="02020603050405020304" pitchFamily="18" charset="0"/>
              </a:rPr>
              <a:t>10- Phase -45 degree</a:t>
            </a:r>
          </a:p>
          <a:p>
            <a:r>
              <a:rPr lang="en-US" dirty="0">
                <a:latin typeface="Times New Roman" panose="02020603050405020304" pitchFamily="18" charset="0"/>
                <a:cs typeface="Times New Roman" panose="02020603050405020304" pitchFamily="18" charset="0"/>
              </a:rPr>
              <a:t>01- Phase 135 degree</a:t>
            </a:r>
          </a:p>
          <a:p>
            <a:r>
              <a:rPr lang="en-US" dirty="0">
                <a:latin typeface="Times New Roman" panose="02020603050405020304" pitchFamily="18" charset="0"/>
                <a:cs typeface="Times New Roman" panose="02020603050405020304" pitchFamily="18" charset="0"/>
              </a:rPr>
              <a:t>11- Phase 45 degree</a:t>
            </a:r>
          </a:p>
        </p:txBody>
      </p:sp>
      <p:sp>
        <p:nvSpPr>
          <p:cNvPr id="4" name="TextBox 3">
            <a:extLst>
              <a:ext uri="{FF2B5EF4-FFF2-40B4-BE49-F238E27FC236}">
                <a16:creationId xmlns:a16="http://schemas.microsoft.com/office/drawing/2014/main" id="{6E3735AC-B0AA-850E-17E5-E8DF36F6F730}"/>
              </a:ext>
            </a:extLst>
          </p:cNvPr>
          <p:cNvSpPr txBox="1"/>
          <p:nvPr/>
        </p:nvSpPr>
        <p:spPr>
          <a:xfrm>
            <a:off x="2661998" y="1517321"/>
            <a:ext cx="719358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Constellation Diagrams for ASK, BPSK and QPSK</a:t>
            </a:r>
          </a:p>
        </p:txBody>
      </p:sp>
    </p:spTree>
    <p:extLst>
      <p:ext uri="{BB962C8B-B14F-4D97-AF65-F5344CB8AC3E}">
        <p14:creationId xmlns:p14="http://schemas.microsoft.com/office/powerpoint/2010/main" val="13474571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1ED9C471-7AB7-4492-8F2D-BC887A46C3AB}"/>
              </a:ext>
            </a:extLst>
          </p:cNvPr>
          <p:cNvSpPr txBox="1">
            <a:spLocks/>
          </p:cNvSpPr>
          <p:nvPr/>
        </p:nvSpPr>
        <p:spPr>
          <a:xfrm>
            <a:off x="325586" y="0"/>
            <a:ext cx="11866414" cy="67180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Times" panose="02020603050405020304" pitchFamily="18" charset="0"/>
                <a:cs typeface="Times" panose="02020603050405020304" pitchFamily="18" charset="0"/>
              </a:rPr>
              <a:t>Digital to Analog Signal</a:t>
            </a:r>
          </a:p>
        </p:txBody>
      </p:sp>
      <p:sp>
        <p:nvSpPr>
          <p:cNvPr id="7" name="TextBox 6">
            <a:extLst>
              <a:ext uri="{FF2B5EF4-FFF2-40B4-BE49-F238E27FC236}">
                <a16:creationId xmlns:a16="http://schemas.microsoft.com/office/drawing/2014/main" id="{6490217F-6153-0A51-B98E-6013069F2877}"/>
              </a:ext>
            </a:extLst>
          </p:cNvPr>
          <p:cNvSpPr txBox="1"/>
          <p:nvPr/>
        </p:nvSpPr>
        <p:spPr>
          <a:xfrm>
            <a:off x="5085155" y="1412611"/>
            <a:ext cx="2347275" cy="1200329"/>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00- Phase 0 degree</a:t>
            </a:r>
          </a:p>
          <a:p>
            <a:r>
              <a:rPr lang="en-US" dirty="0">
                <a:latin typeface="Times New Roman" panose="02020603050405020304" pitchFamily="18" charset="0"/>
                <a:cs typeface="Times New Roman" panose="02020603050405020304" pitchFamily="18" charset="0"/>
              </a:rPr>
              <a:t>10- Phase 90 degree</a:t>
            </a:r>
          </a:p>
          <a:p>
            <a:r>
              <a:rPr lang="en-US" dirty="0">
                <a:latin typeface="Times New Roman" panose="02020603050405020304" pitchFamily="18" charset="0"/>
                <a:cs typeface="Times New Roman" panose="02020603050405020304" pitchFamily="18" charset="0"/>
              </a:rPr>
              <a:t>01- Phase 180 degree</a:t>
            </a:r>
          </a:p>
          <a:p>
            <a:r>
              <a:rPr lang="en-US" dirty="0">
                <a:latin typeface="Times New Roman" panose="02020603050405020304" pitchFamily="18" charset="0"/>
                <a:cs typeface="Times New Roman" panose="02020603050405020304" pitchFamily="18" charset="0"/>
              </a:rPr>
              <a:t>11- Phase 270 degree</a:t>
            </a:r>
          </a:p>
        </p:txBody>
      </p:sp>
      <p:sp>
        <p:nvSpPr>
          <p:cNvPr id="4" name="TextBox 3">
            <a:extLst>
              <a:ext uri="{FF2B5EF4-FFF2-40B4-BE49-F238E27FC236}">
                <a16:creationId xmlns:a16="http://schemas.microsoft.com/office/drawing/2014/main" id="{6E3735AC-B0AA-850E-17E5-E8DF36F6F730}"/>
              </a:ext>
            </a:extLst>
          </p:cNvPr>
          <p:cNvSpPr txBox="1"/>
          <p:nvPr/>
        </p:nvSpPr>
        <p:spPr>
          <a:xfrm>
            <a:off x="2661999" y="951713"/>
            <a:ext cx="7193588"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Constellation Diagrams for QPSK</a:t>
            </a:r>
          </a:p>
        </p:txBody>
      </p:sp>
      <p:cxnSp>
        <p:nvCxnSpPr>
          <p:cNvPr id="5" name="Straight Arrow Connector 4">
            <a:extLst>
              <a:ext uri="{FF2B5EF4-FFF2-40B4-BE49-F238E27FC236}">
                <a16:creationId xmlns:a16="http://schemas.microsoft.com/office/drawing/2014/main" id="{53E43C12-C1B3-9932-E4DE-CBB9037F8C34}"/>
              </a:ext>
            </a:extLst>
          </p:cNvPr>
          <p:cNvCxnSpPr/>
          <p:nvPr/>
        </p:nvCxnSpPr>
        <p:spPr>
          <a:xfrm>
            <a:off x="4679803" y="4581427"/>
            <a:ext cx="3295274" cy="0"/>
          </a:xfrm>
          <a:prstGeom prst="straightConnector1">
            <a:avLst/>
          </a:prstGeom>
          <a:ln w="38100">
            <a:headEnd type="triangle"/>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E5A3CB6A-8CA8-A4B3-F9D8-85BBC6F4418F}"/>
              </a:ext>
            </a:extLst>
          </p:cNvPr>
          <p:cNvCxnSpPr>
            <a:cxnSpLocks/>
          </p:cNvCxnSpPr>
          <p:nvPr/>
        </p:nvCxnSpPr>
        <p:spPr>
          <a:xfrm>
            <a:off x="6346294" y="3048393"/>
            <a:ext cx="605" cy="3066067"/>
          </a:xfrm>
          <a:prstGeom prst="straightConnector1">
            <a:avLst/>
          </a:prstGeom>
          <a:ln w="38100">
            <a:headEnd type="triangle"/>
            <a:tailEnd type="triangle"/>
          </a:ln>
        </p:spPr>
        <p:style>
          <a:lnRef idx="1">
            <a:schemeClr val="dk1"/>
          </a:lnRef>
          <a:fillRef idx="0">
            <a:schemeClr val="dk1"/>
          </a:fillRef>
          <a:effectRef idx="0">
            <a:schemeClr val="dk1"/>
          </a:effectRef>
          <a:fontRef idx="minor">
            <a:schemeClr val="tx1"/>
          </a:fontRef>
        </p:style>
      </p:cxnSp>
      <p:sp>
        <p:nvSpPr>
          <p:cNvPr id="10" name="Oval 9">
            <a:extLst>
              <a:ext uri="{FF2B5EF4-FFF2-40B4-BE49-F238E27FC236}">
                <a16:creationId xmlns:a16="http://schemas.microsoft.com/office/drawing/2014/main" id="{1FA791E8-4D00-1D35-2C69-8DFEDD1BFAFA}"/>
              </a:ext>
            </a:extLst>
          </p:cNvPr>
          <p:cNvSpPr/>
          <p:nvPr/>
        </p:nvSpPr>
        <p:spPr>
          <a:xfrm>
            <a:off x="7263138" y="4473018"/>
            <a:ext cx="142916" cy="216816"/>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7DF221E-CB23-13F8-F438-14E46A6F0426}"/>
              </a:ext>
            </a:extLst>
          </p:cNvPr>
          <p:cNvSpPr/>
          <p:nvPr/>
        </p:nvSpPr>
        <p:spPr>
          <a:xfrm>
            <a:off x="6251484" y="3575902"/>
            <a:ext cx="189619" cy="216816"/>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368E1590-6006-5C05-8E80-060109E44108}"/>
              </a:ext>
            </a:extLst>
          </p:cNvPr>
          <p:cNvSpPr/>
          <p:nvPr/>
        </p:nvSpPr>
        <p:spPr>
          <a:xfrm>
            <a:off x="5215559" y="4458877"/>
            <a:ext cx="189619" cy="216816"/>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F32B30D9-4E2A-D28F-F2C0-8E29B2FFFC4B}"/>
              </a:ext>
            </a:extLst>
          </p:cNvPr>
          <p:cNvSpPr/>
          <p:nvPr/>
        </p:nvSpPr>
        <p:spPr>
          <a:xfrm>
            <a:off x="6251484" y="5374065"/>
            <a:ext cx="189619" cy="216816"/>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E22A59E6-F6FB-2FD7-04B7-1BD024D7CD02}"/>
              </a:ext>
            </a:extLst>
          </p:cNvPr>
          <p:cNvSpPr txBox="1"/>
          <p:nvPr/>
        </p:nvSpPr>
        <p:spPr>
          <a:xfrm>
            <a:off x="7994471" y="4396760"/>
            <a:ext cx="573471" cy="369332"/>
          </a:xfrm>
          <a:prstGeom prst="rect">
            <a:avLst/>
          </a:prstGeom>
          <a:noFill/>
        </p:spPr>
        <p:txBody>
          <a:bodyPr wrap="square" rtlCol="0">
            <a:spAutoFit/>
          </a:bodyPr>
          <a:lstStyle/>
          <a:p>
            <a:r>
              <a:rPr lang="en-US" dirty="0"/>
              <a:t>X</a:t>
            </a:r>
          </a:p>
        </p:txBody>
      </p:sp>
      <p:sp>
        <p:nvSpPr>
          <p:cNvPr id="17" name="TextBox 16">
            <a:extLst>
              <a:ext uri="{FF2B5EF4-FFF2-40B4-BE49-F238E27FC236}">
                <a16:creationId xmlns:a16="http://schemas.microsoft.com/office/drawing/2014/main" id="{608D487E-676D-2983-D2F9-DB09BA45B479}"/>
              </a:ext>
            </a:extLst>
          </p:cNvPr>
          <p:cNvSpPr txBox="1"/>
          <p:nvPr/>
        </p:nvSpPr>
        <p:spPr>
          <a:xfrm>
            <a:off x="4325788" y="4392774"/>
            <a:ext cx="573471" cy="369332"/>
          </a:xfrm>
          <a:prstGeom prst="rect">
            <a:avLst/>
          </a:prstGeom>
          <a:noFill/>
        </p:spPr>
        <p:txBody>
          <a:bodyPr wrap="square" rtlCol="0">
            <a:spAutoFit/>
          </a:bodyPr>
          <a:lstStyle/>
          <a:p>
            <a:r>
              <a:rPr lang="en-US" dirty="0"/>
              <a:t>-X</a:t>
            </a:r>
          </a:p>
        </p:txBody>
      </p:sp>
      <p:sp>
        <p:nvSpPr>
          <p:cNvPr id="18" name="TextBox 17">
            <a:extLst>
              <a:ext uri="{FF2B5EF4-FFF2-40B4-BE49-F238E27FC236}">
                <a16:creationId xmlns:a16="http://schemas.microsoft.com/office/drawing/2014/main" id="{055BD872-F668-C8F6-CEBD-8D8DCE1B4331}"/>
              </a:ext>
            </a:extLst>
          </p:cNvPr>
          <p:cNvSpPr txBox="1"/>
          <p:nvPr/>
        </p:nvSpPr>
        <p:spPr>
          <a:xfrm>
            <a:off x="6192075" y="2682711"/>
            <a:ext cx="573471" cy="369332"/>
          </a:xfrm>
          <a:prstGeom prst="rect">
            <a:avLst/>
          </a:prstGeom>
          <a:noFill/>
        </p:spPr>
        <p:txBody>
          <a:bodyPr wrap="square" rtlCol="0">
            <a:spAutoFit/>
          </a:bodyPr>
          <a:lstStyle/>
          <a:p>
            <a:r>
              <a:rPr lang="en-US" dirty="0"/>
              <a:t>Y</a:t>
            </a:r>
          </a:p>
        </p:txBody>
      </p:sp>
      <p:sp>
        <p:nvSpPr>
          <p:cNvPr id="19" name="TextBox 18">
            <a:extLst>
              <a:ext uri="{FF2B5EF4-FFF2-40B4-BE49-F238E27FC236}">
                <a16:creationId xmlns:a16="http://schemas.microsoft.com/office/drawing/2014/main" id="{F6AD108F-3FD9-A7D8-1360-5332FF7F5339}"/>
              </a:ext>
            </a:extLst>
          </p:cNvPr>
          <p:cNvSpPr txBox="1"/>
          <p:nvPr/>
        </p:nvSpPr>
        <p:spPr>
          <a:xfrm>
            <a:off x="6134183" y="6114460"/>
            <a:ext cx="573471" cy="369332"/>
          </a:xfrm>
          <a:prstGeom prst="rect">
            <a:avLst/>
          </a:prstGeom>
          <a:noFill/>
        </p:spPr>
        <p:txBody>
          <a:bodyPr wrap="square" rtlCol="0">
            <a:spAutoFit/>
          </a:bodyPr>
          <a:lstStyle/>
          <a:p>
            <a:r>
              <a:rPr lang="en-US" dirty="0"/>
              <a:t>-Y</a:t>
            </a:r>
          </a:p>
        </p:txBody>
      </p:sp>
      <p:sp>
        <p:nvSpPr>
          <p:cNvPr id="15" name="TextBox 14">
            <a:extLst>
              <a:ext uri="{FF2B5EF4-FFF2-40B4-BE49-F238E27FC236}">
                <a16:creationId xmlns:a16="http://schemas.microsoft.com/office/drawing/2014/main" id="{5A920C7C-65D4-03B2-8A55-A51D3ACDF775}"/>
              </a:ext>
            </a:extLst>
          </p:cNvPr>
          <p:cNvSpPr txBox="1"/>
          <p:nvPr/>
        </p:nvSpPr>
        <p:spPr>
          <a:xfrm>
            <a:off x="7155789" y="4677263"/>
            <a:ext cx="451881" cy="369332"/>
          </a:xfrm>
          <a:prstGeom prst="rect">
            <a:avLst/>
          </a:prstGeom>
          <a:noFill/>
        </p:spPr>
        <p:txBody>
          <a:bodyPr wrap="square" rtlCol="0">
            <a:spAutoFit/>
          </a:bodyPr>
          <a:lstStyle/>
          <a:p>
            <a:r>
              <a:rPr lang="en-US" dirty="0"/>
              <a:t>00</a:t>
            </a:r>
          </a:p>
        </p:txBody>
      </p:sp>
      <p:sp>
        <p:nvSpPr>
          <p:cNvPr id="21" name="TextBox 20">
            <a:extLst>
              <a:ext uri="{FF2B5EF4-FFF2-40B4-BE49-F238E27FC236}">
                <a16:creationId xmlns:a16="http://schemas.microsoft.com/office/drawing/2014/main" id="{29B941F2-9C97-E090-48DC-3B6DE8B9A077}"/>
              </a:ext>
            </a:extLst>
          </p:cNvPr>
          <p:cNvSpPr txBox="1"/>
          <p:nvPr/>
        </p:nvSpPr>
        <p:spPr>
          <a:xfrm>
            <a:off x="6411494" y="3201191"/>
            <a:ext cx="451881" cy="646331"/>
          </a:xfrm>
          <a:prstGeom prst="rect">
            <a:avLst/>
          </a:prstGeom>
          <a:noFill/>
        </p:spPr>
        <p:txBody>
          <a:bodyPr wrap="square" rtlCol="0">
            <a:spAutoFit/>
          </a:bodyPr>
          <a:lstStyle/>
          <a:p>
            <a:r>
              <a:rPr lang="en-US" dirty="0"/>
              <a:t>	10</a:t>
            </a:r>
          </a:p>
        </p:txBody>
      </p:sp>
      <p:sp>
        <p:nvSpPr>
          <p:cNvPr id="22" name="TextBox 21">
            <a:extLst>
              <a:ext uri="{FF2B5EF4-FFF2-40B4-BE49-F238E27FC236}">
                <a16:creationId xmlns:a16="http://schemas.microsoft.com/office/drawing/2014/main" id="{8D856B75-6309-D7F3-6D9A-036EBE2F72D4}"/>
              </a:ext>
            </a:extLst>
          </p:cNvPr>
          <p:cNvSpPr txBox="1"/>
          <p:nvPr/>
        </p:nvSpPr>
        <p:spPr>
          <a:xfrm>
            <a:off x="5120797" y="4692249"/>
            <a:ext cx="451881" cy="369332"/>
          </a:xfrm>
          <a:prstGeom prst="rect">
            <a:avLst/>
          </a:prstGeom>
          <a:noFill/>
        </p:spPr>
        <p:txBody>
          <a:bodyPr wrap="square" rtlCol="0">
            <a:spAutoFit/>
          </a:bodyPr>
          <a:lstStyle/>
          <a:p>
            <a:r>
              <a:rPr lang="en-US" dirty="0"/>
              <a:t>01</a:t>
            </a:r>
          </a:p>
        </p:txBody>
      </p:sp>
      <p:sp>
        <p:nvSpPr>
          <p:cNvPr id="23" name="TextBox 22">
            <a:extLst>
              <a:ext uri="{FF2B5EF4-FFF2-40B4-BE49-F238E27FC236}">
                <a16:creationId xmlns:a16="http://schemas.microsoft.com/office/drawing/2014/main" id="{B355DB4F-F956-3220-34F3-BABA10233C33}"/>
              </a:ext>
            </a:extLst>
          </p:cNvPr>
          <p:cNvSpPr txBox="1"/>
          <p:nvPr/>
        </p:nvSpPr>
        <p:spPr>
          <a:xfrm>
            <a:off x="6503281" y="5260723"/>
            <a:ext cx="340580" cy="646331"/>
          </a:xfrm>
          <a:prstGeom prst="rect">
            <a:avLst/>
          </a:prstGeom>
          <a:noFill/>
        </p:spPr>
        <p:txBody>
          <a:bodyPr wrap="square" rtlCol="0">
            <a:spAutoFit/>
          </a:bodyPr>
          <a:lstStyle/>
          <a:p>
            <a:r>
              <a:rPr lang="en-US" dirty="0"/>
              <a:t>11</a:t>
            </a:r>
          </a:p>
        </p:txBody>
      </p:sp>
    </p:spTree>
    <p:extLst>
      <p:ext uri="{BB962C8B-B14F-4D97-AF65-F5344CB8AC3E}">
        <p14:creationId xmlns:p14="http://schemas.microsoft.com/office/powerpoint/2010/main" val="29838425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1ED9C471-7AB7-4492-8F2D-BC887A46C3AB}"/>
              </a:ext>
            </a:extLst>
          </p:cNvPr>
          <p:cNvSpPr txBox="1">
            <a:spLocks/>
          </p:cNvSpPr>
          <p:nvPr/>
        </p:nvSpPr>
        <p:spPr>
          <a:xfrm>
            <a:off x="325586" y="0"/>
            <a:ext cx="11866414" cy="67180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Times" panose="02020603050405020304" pitchFamily="18" charset="0"/>
                <a:cs typeface="Times" panose="02020603050405020304" pitchFamily="18" charset="0"/>
              </a:rPr>
              <a:t>Digital to Analog Signal</a:t>
            </a:r>
          </a:p>
        </p:txBody>
      </p:sp>
      <p:sp>
        <p:nvSpPr>
          <p:cNvPr id="58" name="TextBox 57">
            <a:extLst>
              <a:ext uri="{FF2B5EF4-FFF2-40B4-BE49-F238E27FC236}">
                <a16:creationId xmlns:a16="http://schemas.microsoft.com/office/drawing/2014/main" id="{68FF4703-3F02-4750-A025-0ADBDADCC645}"/>
              </a:ext>
            </a:extLst>
          </p:cNvPr>
          <p:cNvSpPr txBox="1"/>
          <p:nvPr/>
        </p:nvSpPr>
        <p:spPr>
          <a:xfrm>
            <a:off x="325585" y="671804"/>
            <a:ext cx="11720235" cy="1289071"/>
          </a:xfrm>
          <a:prstGeom prst="rect">
            <a:avLst/>
          </a:prstGeom>
          <a:noFill/>
        </p:spPr>
        <p:txBody>
          <a:bodyPr wrap="square">
            <a:spAutoFit/>
          </a:bodyPr>
          <a:lstStyle/>
          <a:p>
            <a:pPr marL="285750" indent="-285750" algn="just">
              <a:lnSpc>
                <a:spcPct val="150000"/>
              </a:lnSpc>
              <a:buFont typeface="Wingdings" panose="05000000000000000000" pitchFamily="2" charset="2"/>
              <a:buChar char="ü"/>
            </a:pPr>
            <a:r>
              <a:rPr lang="en-US" sz="1800" b="1" dirty="0">
                <a:latin typeface="Times New Roman" panose="02020603050405020304" pitchFamily="18" charset="0"/>
                <a:cs typeface="Times New Roman" panose="02020603050405020304" pitchFamily="18" charset="0"/>
              </a:rPr>
              <a:t>Quadrature Amplitude Modulation (QAM)</a:t>
            </a:r>
          </a:p>
          <a:p>
            <a:pPr marL="285750" indent="-285750" algn="just">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Quadrature amplitude modulation is a combination of ASK and PSK.</a:t>
            </a:r>
          </a:p>
          <a:p>
            <a:pPr algn="just">
              <a:lnSpc>
                <a:spcPct val="150000"/>
              </a:lnSpc>
            </a:pPr>
            <a:endParaRPr lang="en-US" sz="1800" dirty="0">
              <a:latin typeface="Times New Roman" panose="02020603050405020304" pitchFamily="18" charset="0"/>
              <a:cs typeface="Times New Roman" panose="02020603050405020304" pitchFamily="18" charset="0"/>
            </a:endParaRPr>
          </a:p>
        </p:txBody>
      </p:sp>
      <p:pic>
        <p:nvPicPr>
          <p:cNvPr id="6" name="Picture 6">
            <a:extLst>
              <a:ext uri="{FF2B5EF4-FFF2-40B4-BE49-F238E27FC236}">
                <a16:creationId xmlns:a16="http://schemas.microsoft.com/office/drawing/2014/main" id="{0877CE1D-96B4-4574-E470-750E9B4D96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0700" y="3060388"/>
            <a:ext cx="8610600" cy="183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a:extLst>
              <a:ext uri="{FF2B5EF4-FFF2-40B4-BE49-F238E27FC236}">
                <a16:creationId xmlns:a16="http://schemas.microsoft.com/office/drawing/2014/main" id="{5A6B59A6-727E-D874-96F9-695A8CB6539B}"/>
              </a:ext>
            </a:extLst>
          </p:cNvPr>
          <p:cNvSpPr txBox="1"/>
          <p:nvPr/>
        </p:nvSpPr>
        <p:spPr>
          <a:xfrm>
            <a:off x="3746083" y="2279799"/>
            <a:ext cx="719358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Constellation Diagrams for QAM</a:t>
            </a:r>
          </a:p>
        </p:txBody>
      </p:sp>
    </p:spTree>
    <p:extLst>
      <p:ext uri="{BB962C8B-B14F-4D97-AF65-F5344CB8AC3E}">
        <p14:creationId xmlns:p14="http://schemas.microsoft.com/office/powerpoint/2010/main" val="23938729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1">
            <a:extLst>
              <a:ext uri="{FF2B5EF4-FFF2-40B4-BE49-F238E27FC236}">
                <a16:creationId xmlns:a16="http://schemas.microsoft.com/office/drawing/2014/main" id="{D3218E13-957D-B160-918F-632DC5E36EDE}"/>
              </a:ext>
            </a:extLst>
          </p:cNvPr>
          <p:cNvSpPr>
            <a:spLocks noGrp="1"/>
          </p:cNvSpPr>
          <p:nvPr>
            <p:ph type="sldNum" sz="quarter" idx="10"/>
          </p:nvPr>
        </p:nvSpPr>
        <p:spPr/>
        <p:txBody>
          <a:bodyPr/>
          <a:lstStyle/>
          <a:p>
            <a:r>
              <a:rPr lang="en-US" altLang="en-US"/>
              <a:t>5.</a:t>
            </a:r>
            <a:fld id="{E0A984D1-960B-4223-B35D-E8FBA28CE3E5}" type="slidenum">
              <a:rPr lang="en-US" altLang="en-US"/>
              <a:pPr/>
              <a:t>20</a:t>
            </a:fld>
            <a:endParaRPr lang="en-US" altLang="en-US"/>
          </a:p>
        </p:txBody>
      </p:sp>
      <p:sp>
        <p:nvSpPr>
          <p:cNvPr id="797699" name="Text Box 3">
            <a:extLst>
              <a:ext uri="{FF2B5EF4-FFF2-40B4-BE49-F238E27FC236}">
                <a16:creationId xmlns:a16="http://schemas.microsoft.com/office/drawing/2014/main" id="{0CAAA504-1DCE-DD37-5095-7B12ABD270CD}"/>
              </a:ext>
            </a:extLst>
          </p:cNvPr>
          <p:cNvSpPr txBox="1">
            <a:spLocks noChangeArrowheads="1"/>
          </p:cNvSpPr>
          <p:nvPr/>
        </p:nvSpPr>
        <p:spPr bwMode="auto">
          <a:xfrm>
            <a:off x="1263192" y="489513"/>
            <a:ext cx="535442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3200" b="1" dirty="0">
                <a:latin typeface="Times New Roman" panose="02020603050405020304" pitchFamily="18" charset="0"/>
                <a:cs typeface="Times New Roman" panose="02020603050405020304" pitchFamily="18" charset="0"/>
              </a:rPr>
              <a:t>Analog to Analog Conversion</a:t>
            </a:r>
          </a:p>
        </p:txBody>
      </p:sp>
      <p:sp>
        <p:nvSpPr>
          <p:cNvPr id="797700" name="Text Box 4">
            <a:extLst>
              <a:ext uri="{FF2B5EF4-FFF2-40B4-BE49-F238E27FC236}">
                <a16:creationId xmlns:a16="http://schemas.microsoft.com/office/drawing/2014/main" id="{944E862D-6748-FAF8-AF02-933F37152B55}"/>
              </a:ext>
            </a:extLst>
          </p:cNvPr>
          <p:cNvSpPr txBox="1">
            <a:spLocks noChangeArrowheads="1"/>
          </p:cNvSpPr>
          <p:nvPr/>
        </p:nvSpPr>
        <p:spPr bwMode="auto">
          <a:xfrm>
            <a:off x="9753600" y="64008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a:latin typeface="Times New Roman" panose="02020603050405020304" pitchFamily="18" charset="0"/>
            </a:endParaRPr>
          </a:p>
        </p:txBody>
      </p:sp>
      <p:sp>
        <p:nvSpPr>
          <p:cNvPr id="797701" name="Rectangle 5">
            <a:extLst>
              <a:ext uri="{FF2B5EF4-FFF2-40B4-BE49-F238E27FC236}">
                <a16:creationId xmlns:a16="http://schemas.microsoft.com/office/drawing/2014/main" id="{A6F593A5-DF44-C058-3D0D-5EE9EA26FDD9}"/>
              </a:ext>
            </a:extLst>
          </p:cNvPr>
          <p:cNvSpPr>
            <a:spLocks noChangeArrowheads="1"/>
          </p:cNvSpPr>
          <p:nvPr/>
        </p:nvSpPr>
        <p:spPr bwMode="auto">
          <a:xfrm>
            <a:off x="1734532" y="1358198"/>
            <a:ext cx="8686800" cy="5647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342900" indent="-342900" algn="just">
              <a:lnSpc>
                <a:spcPct val="150000"/>
              </a:lnSpc>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Analog-to-analog conversion is the representation of analog information by an analog signal. One may ask why we need to modulate an analog signal; it is already analog.</a:t>
            </a:r>
          </a:p>
          <a:p>
            <a:pPr marL="342900" indent="-342900" algn="just">
              <a:lnSpc>
                <a:spcPct val="150000"/>
              </a:lnSpc>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Modulation is needed if the medium is bandpass in nature or if only a bandpass channel is available to us.</a:t>
            </a:r>
          </a:p>
          <a:p>
            <a:pPr marL="342900" indent="-342900" algn="just">
              <a:lnSpc>
                <a:spcPct val="150000"/>
              </a:lnSpc>
              <a:buFont typeface="Arial" panose="020B0604020202020204" pitchFamily="34" charset="0"/>
              <a:buChar char="•"/>
            </a:pPr>
            <a:r>
              <a:rPr lang="en-US" sz="2000" dirty="0">
                <a:solidFill>
                  <a:srgbClr val="000000"/>
                </a:solidFill>
                <a:latin typeface="Times New Roman" panose="02020603050405020304" pitchFamily="18" charset="0"/>
                <a:cs typeface="Times New Roman" panose="02020603050405020304" pitchFamily="18" charset="0"/>
              </a:rPr>
              <a:t>An example is radio. The government assigns a narrow bandwidth to each radio station.</a:t>
            </a:r>
          </a:p>
          <a:p>
            <a:pPr marL="342900" indent="-342900" algn="just">
              <a:lnSpc>
                <a:spcPct val="150000"/>
              </a:lnSpc>
              <a:buFont typeface="Arial" panose="020B0604020202020204" pitchFamily="34" charset="0"/>
              <a:buChar char="•"/>
            </a:pPr>
            <a:r>
              <a:rPr lang="en-US" sz="2000" dirty="0">
                <a:solidFill>
                  <a:srgbClr val="000000"/>
                </a:solidFill>
                <a:latin typeface="Times New Roman" panose="02020603050405020304" pitchFamily="18" charset="0"/>
                <a:cs typeface="Times New Roman" panose="02020603050405020304" pitchFamily="18" charset="0"/>
              </a:rPr>
              <a:t>The analog signal produced by each station is a low-pass signal, all in the same range. To be able to listen to different stations, the low-pass signals need to be shifted, each to a different range.</a:t>
            </a:r>
          </a:p>
          <a:p>
            <a:pPr algn="just" eaLnBrk="1" hangingPunct="1">
              <a:lnSpc>
                <a:spcPct val="150000"/>
              </a:lnSpc>
            </a:pPr>
            <a:r>
              <a:rPr lang="en-US" sz="1600" dirty="0"/>
              <a:t> </a:t>
            </a:r>
            <a:br>
              <a:rPr lang="en-US" sz="1600" dirty="0"/>
            </a:br>
            <a:endParaRPr lang="en-US" altLang="en-US" sz="2800" i="1" dirty="0">
              <a:effectLst>
                <a:outerShdw blurRad="38100" dist="38100" dir="2700000" algn="tl">
                  <a:srgbClr val="C0C0C0"/>
                </a:outerShdw>
              </a:effectLst>
              <a:latin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1">
            <a:extLst>
              <a:ext uri="{FF2B5EF4-FFF2-40B4-BE49-F238E27FC236}">
                <a16:creationId xmlns:a16="http://schemas.microsoft.com/office/drawing/2014/main" id="{D3218E13-957D-B160-918F-632DC5E36EDE}"/>
              </a:ext>
            </a:extLst>
          </p:cNvPr>
          <p:cNvSpPr>
            <a:spLocks noGrp="1"/>
          </p:cNvSpPr>
          <p:nvPr>
            <p:ph type="sldNum" sz="quarter" idx="10"/>
          </p:nvPr>
        </p:nvSpPr>
        <p:spPr/>
        <p:txBody>
          <a:bodyPr/>
          <a:lstStyle/>
          <a:p>
            <a:r>
              <a:rPr lang="en-US" altLang="en-US"/>
              <a:t>5.</a:t>
            </a:r>
            <a:fld id="{E0A984D1-960B-4223-B35D-E8FBA28CE3E5}" type="slidenum">
              <a:rPr lang="en-US" altLang="en-US"/>
              <a:pPr/>
              <a:t>21</a:t>
            </a:fld>
            <a:endParaRPr lang="en-US" altLang="en-US"/>
          </a:p>
        </p:txBody>
      </p:sp>
      <p:sp>
        <p:nvSpPr>
          <p:cNvPr id="797699" name="Text Box 3">
            <a:extLst>
              <a:ext uri="{FF2B5EF4-FFF2-40B4-BE49-F238E27FC236}">
                <a16:creationId xmlns:a16="http://schemas.microsoft.com/office/drawing/2014/main" id="{0CAAA504-1DCE-DD37-5095-7B12ABD270CD}"/>
              </a:ext>
            </a:extLst>
          </p:cNvPr>
          <p:cNvSpPr txBox="1">
            <a:spLocks noChangeArrowheads="1"/>
          </p:cNvSpPr>
          <p:nvPr/>
        </p:nvSpPr>
        <p:spPr bwMode="auto">
          <a:xfrm>
            <a:off x="424206" y="136525"/>
            <a:ext cx="981330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3200" b="1" dirty="0">
                <a:latin typeface="Times New Roman" panose="02020603050405020304" pitchFamily="18" charset="0"/>
                <a:cs typeface="Times New Roman" panose="02020603050405020304" pitchFamily="18" charset="0"/>
              </a:rPr>
              <a:t>Why Modulation is needed??</a:t>
            </a:r>
          </a:p>
        </p:txBody>
      </p:sp>
      <p:sp>
        <p:nvSpPr>
          <p:cNvPr id="797700" name="Text Box 4">
            <a:extLst>
              <a:ext uri="{FF2B5EF4-FFF2-40B4-BE49-F238E27FC236}">
                <a16:creationId xmlns:a16="http://schemas.microsoft.com/office/drawing/2014/main" id="{944E862D-6748-FAF8-AF02-933F37152B55}"/>
              </a:ext>
            </a:extLst>
          </p:cNvPr>
          <p:cNvSpPr txBox="1">
            <a:spLocks noChangeArrowheads="1"/>
          </p:cNvSpPr>
          <p:nvPr/>
        </p:nvSpPr>
        <p:spPr bwMode="auto">
          <a:xfrm>
            <a:off x="9753600" y="64008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a:latin typeface="Times New Roman" panose="02020603050405020304" pitchFamily="18" charset="0"/>
            </a:endParaRPr>
          </a:p>
        </p:txBody>
      </p:sp>
      <p:sp>
        <p:nvSpPr>
          <p:cNvPr id="797701" name="Rectangle 5">
            <a:extLst>
              <a:ext uri="{FF2B5EF4-FFF2-40B4-BE49-F238E27FC236}">
                <a16:creationId xmlns:a16="http://schemas.microsoft.com/office/drawing/2014/main" id="{A6F593A5-DF44-C058-3D0D-5EE9EA26FDD9}"/>
              </a:ext>
            </a:extLst>
          </p:cNvPr>
          <p:cNvSpPr>
            <a:spLocks noChangeArrowheads="1"/>
          </p:cNvSpPr>
          <p:nvPr/>
        </p:nvSpPr>
        <p:spPr bwMode="auto">
          <a:xfrm>
            <a:off x="642593" y="813914"/>
            <a:ext cx="10906813" cy="5601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285750" indent="-285750" algn="just" eaLnBrk="1" hangingPunct="1">
              <a:lnSpc>
                <a:spcPct val="150000"/>
              </a:lnSpc>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A message signal cannot travel a long distance because of its low signal strength. </a:t>
            </a:r>
          </a:p>
          <a:p>
            <a:pPr marL="285750" indent="-285750" algn="just" eaLnBrk="1" hangingPunct="1">
              <a:lnSpc>
                <a:spcPct val="150000"/>
              </a:lnSpc>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In addition to this, physical surroundings, the addition of external noise and travel distance will further reduce the signal strength of a message signal.</a:t>
            </a:r>
          </a:p>
          <a:p>
            <a:pPr marL="285750" indent="-285750" algn="just" eaLnBrk="1" hangingPunct="1">
              <a:lnSpc>
                <a:spcPct val="150000"/>
              </a:lnSpc>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So in order to send the message signal to a long distance, we need to increase the signal strength of a message signal.</a:t>
            </a:r>
          </a:p>
          <a:p>
            <a:pPr marL="285750" indent="-285750" algn="just" eaLnBrk="1" hangingPunct="1">
              <a:lnSpc>
                <a:spcPct val="150000"/>
              </a:lnSpc>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This can be achieved by using a high frequency or high energy signal called carrier signal. </a:t>
            </a:r>
          </a:p>
          <a:p>
            <a:pPr marL="285750" indent="-285750" algn="just" eaLnBrk="1" hangingPunct="1">
              <a:lnSpc>
                <a:spcPct val="150000"/>
              </a:lnSpc>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A high energy signal can travel to a larger distance without getting affected by external disturbances. </a:t>
            </a:r>
          </a:p>
          <a:p>
            <a:pPr marL="285750" indent="-285750" algn="just" eaLnBrk="1" hangingPunct="1">
              <a:lnSpc>
                <a:spcPct val="150000"/>
              </a:lnSpc>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We take the help of such high energy signal to transmit the message signal. This high energy or high frequency signal is known as carrier signal.</a:t>
            </a:r>
          </a:p>
          <a:p>
            <a:pPr marL="285750" indent="-285750" algn="just" eaLnBrk="1" hangingPunct="1">
              <a:lnSpc>
                <a:spcPct val="150000"/>
              </a:lnSpc>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The low energy message signal is mixed with the high energy or high frequency carrier signal to produce a new high energy signal which carries information to a larger distance.</a:t>
            </a:r>
            <a:endParaRPr lang="en-US" dirty="0">
              <a:latin typeface="Times New Roman" panose="02020603050405020304" pitchFamily="18" charset="0"/>
              <a:cs typeface="Times New Roman" panose="02020603050405020304" pitchFamily="18" charset="0"/>
            </a:endParaRPr>
          </a:p>
          <a:p>
            <a:pPr algn="just" eaLnBrk="1" hangingPunct="1">
              <a:lnSpc>
                <a:spcPct val="150000"/>
              </a:lnSpc>
            </a:pPr>
            <a:r>
              <a:rPr lang="en-US" sz="1600" dirty="0"/>
              <a:t> </a:t>
            </a:r>
            <a:br>
              <a:rPr lang="en-US" sz="1600" dirty="0"/>
            </a:br>
            <a:endParaRPr lang="en-US" altLang="en-US" sz="2800" i="1" dirty="0">
              <a:effectLst>
                <a:outerShdw blurRad="38100" dist="38100" dir="2700000" algn="tl">
                  <a:srgbClr val="C0C0C0"/>
                </a:outerShdw>
              </a:effectLst>
              <a:latin typeface="Times New Roman" panose="02020603050405020304" pitchFamily="18" charset="0"/>
            </a:endParaRPr>
          </a:p>
        </p:txBody>
      </p:sp>
    </p:spTree>
    <p:extLst>
      <p:ext uri="{BB962C8B-B14F-4D97-AF65-F5344CB8AC3E}">
        <p14:creationId xmlns:p14="http://schemas.microsoft.com/office/powerpoint/2010/main" val="26402667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1">
            <a:extLst>
              <a:ext uri="{FF2B5EF4-FFF2-40B4-BE49-F238E27FC236}">
                <a16:creationId xmlns:a16="http://schemas.microsoft.com/office/drawing/2014/main" id="{D3218E13-957D-B160-918F-632DC5E36EDE}"/>
              </a:ext>
            </a:extLst>
          </p:cNvPr>
          <p:cNvSpPr>
            <a:spLocks noGrp="1"/>
          </p:cNvSpPr>
          <p:nvPr>
            <p:ph type="sldNum" sz="quarter" idx="10"/>
          </p:nvPr>
        </p:nvSpPr>
        <p:spPr/>
        <p:txBody>
          <a:bodyPr/>
          <a:lstStyle/>
          <a:p>
            <a:r>
              <a:rPr lang="en-US" altLang="en-US"/>
              <a:t>5.</a:t>
            </a:r>
            <a:fld id="{E0A984D1-960B-4223-B35D-E8FBA28CE3E5}" type="slidenum">
              <a:rPr lang="en-US" altLang="en-US"/>
              <a:pPr/>
              <a:t>22</a:t>
            </a:fld>
            <a:endParaRPr lang="en-US" altLang="en-US"/>
          </a:p>
        </p:txBody>
      </p:sp>
      <p:sp>
        <p:nvSpPr>
          <p:cNvPr id="797699" name="Text Box 3">
            <a:extLst>
              <a:ext uri="{FF2B5EF4-FFF2-40B4-BE49-F238E27FC236}">
                <a16:creationId xmlns:a16="http://schemas.microsoft.com/office/drawing/2014/main" id="{0CAAA504-1DCE-DD37-5095-7B12ABD270CD}"/>
              </a:ext>
            </a:extLst>
          </p:cNvPr>
          <p:cNvSpPr txBox="1">
            <a:spLocks noChangeArrowheads="1"/>
          </p:cNvSpPr>
          <p:nvPr/>
        </p:nvSpPr>
        <p:spPr bwMode="auto">
          <a:xfrm>
            <a:off x="424206" y="136525"/>
            <a:ext cx="981330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3200" b="1" dirty="0">
                <a:latin typeface="Times New Roman" panose="02020603050405020304" pitchFamily="18" charset="0"/>
                <a:cs typeface="Times New Roman" panose="02020603050405020304" pitchFamily="18" charset="0"/>
              </a:rPr>
              <a:t>What is modulation?? How It is Performed??</a:t>
            </a:r>
          </a:p>
        </p:txBody>
      </p:sp>
      <p:sp>
        <p:nvSpPr>
          <p:cNvPr id="797700" name="Text Box 4">
            <a:extLst>
              <a:ext uri="{FF2B5EF4-FFF2-40B4-BE49-F238E27FC236}">
                <a16:creationId xmlns:a16="http://schemas.microsoft.com/office/drawing/2014/main" id="{944E862D-6748-FAF8-AF02-933F37152B55}"/>
              </a:ext>
            </a:extLst>
          </p:cNvPr>
          <p:cNvSpPr txBox="1">
            <a:spLocks noChangeArrowheads="1"/>
          </p:cNvSpPr>
          <p:nvPr/>
        </p:nvSpPr>
        <p:spPr bwMode="auto">
          <a:xfrm>
            <a:off x="9753600" y="64008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a:latin typeface="Times New Roman" panose="02020603050405020304" pitchFamily="18" charset="0"/>
            </a:endParaRPr>
          </a:p>
        </p:txBody>
      </p:sp>
      <p:sp>
        <p:nvSpPr>
          <p:cNvPr id="797701" name="Rectangle 5">
            <a:extLst>
              <a:ext uri="{FF2B5EF4-FFF2-40B4-BE49-F238E27FC236}">
                <a16:creationId xmlns:a16="http://schemas.microsoft.com/office/drawing/2014/main" id="{A6F593A5-DF44-C058-3D0D-5EE9EA26FDD9}"/>
              </a:ext>
            </a:extLst>
          </p:cNvPr>
          <p:cNvSpPr>
            <a:spLocks noChangeArrowheads="1"/>
          </p:cNvSpPr>
          <p:nvPr/>
        </p:nvSpPr>
        <p:spPr bwMode="auto">
          <a:xfrm>
            <a:off x="642593" y="839500"/>
            <a:ext cx="10906813" cy="6432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285750" indent="-285750" algn="just" eaLnBrk="1" hangingPunct="1">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question arises how the message signal should be added to the carrier signal. The solution lies in changing some characteristics (amplitude, frequency or phase) of a carrier signal in accordance with the amplitude of the message signal. This process is called modulation. Modulation means to “change”.</a:t>
            </a:r>
          </a:p>
          <a:p>
            <a:pPr marL="285750" indent="-285750" algn="just" eaLnBrk="1" hangingPunct="1">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Message signal contains information whereas the carrier signal contains no information. Carrier signal is used just to transmit the information to a long distance. At the destination, the message signal is consumed whereas the carrier signal is wasted.</a:t>
            </a:r>
          </a:p>
          <a:p>
            <a:pPr marL="285750" indent="-285750" algn="just" eaLnBrk="1" hangingPunct="1">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 modulation process, the characteristics of the carrier signal is changed but the message signal characteristics will not be changed. </a:t>
            </a:r>
          </a:p>
          <a:p>
            <a:pPr marL="285750" indent="-285750" algn="just" eaLnBrk="1" hangingPunct="1">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carrier signal does not contain any information so even if we change the characteristics of the carrier signal, the information contained in it will not be changed. </a:t>
            </a:r>
          </a:p>
          <a:p>
            <a:pPr marL="285750" indent="-285750" algn="just" eaLnBrk="1" hangingPunct="1">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However, the message signal contains information so if we change the characteristics of the message signal, the information contained in it will also changes. Therefore, we always changes the characteristics of the carrier signal but not the message signal.</a:t>
            </a:r>
          </a:p>
          <a:p>
            <a:pPr algn="just" eaLnBrk="1" hangingPunct="1">
              <a:lnSpc>
                <a:spcPct val="150000"/>
              </a:lnSpc>
            </a:pPr>
            <a:br>
              <a:rPr lang="en-US" sz="1600" dirty="0"/>
            </a:br>
            <a:endParaRPr lang="en-US" altLang="en-US" sz="2800" i="1" dirty="0">
              <a:effectLst>
                <a:outerShdw blurRad="38100" dist="38100" dir="2700000" algn="tl">
                  <a:srgbClr val="C0C0C0"/>
                </a:outerShdw>
              </a:effectLst>
              <a:latin typeface="Times New Roman" panose="02020603050405020304" pitchFamily="18" charset="0"/>
            </a:endParaRPr>
          </a:p>
        </p:txBody>
      </p:sp>
    </p:spTree>
    <p:extLst>
      <p:ext uri="{BB962C8B-B14F-4D97-AF65-F5344CB8AC3E}">
        <p14:creationId xmlns:p14="http://schemas.microsoft.com/office/powerpoint/2010/main" val="39572871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a:extLst>
              <a:ext uri="{FF2B5EF4-FFF2-40B4-BE49-F238E27FC236}">
                <a16:creationId xmlns:a16="http://schemas.microsoft.com/office/drawing/2014/main" id="{D645B02C-D2E1-2DB2-276E-DD1921E92ABF}"/>
              </a:ext>
            </a:extLst>
          </p:cNvPr>
          <p:cNvSpPr>
            <a:spLocks noGrp="1"/>
          </p:cNvSpPr>
          <p:nvPr>
            <p:ph type="sldNum" sz="quarter" idx="10"/>
          </p:nvPr>
        </p:nvSpPr>
        <p:spPr/>
        <p:txBody>
          <a:bodyPr/>
          <a:lstStyle/>
          <a:p>
            <a:r>
              <a:rPr lang="en-US" altLang="en-US"/>
              <a:t>5.</a:t>
            </a:r>
            <a:fld id="{2D0DA972-5A60-4C36-87FB-1D1CAEF5D755}" type="slidenum">
              <a:rPr lang="en-US" altLang="en-US"/>
              <a:pPr/>
              <a:t>23</a:t>
            </a:fld>
            <a:endParaRPr lang="en-US" altLang="en-US"/>
          </a:p>
        </p:txBody>
      </p:sp>
      <p:sp>
        <p:nvSpPr>
          <p:cNvPr id="813058" name="Line 2">
            <a:extLst>
              <a:ext uri="{FF2B5EF4-FFF2-40B4-BE49-F238E27FC236}">
                <a16:creationId xmlns:a16="http://schemas.microsoft.com/office/drawing/2014/main" id="{CB76D777-6E34-3790-B33B-4448517B192C}"/>
              </a:ext>
            </a:extLst>
          </p:cNvPr>
          <p:cNvSpPr>
            <a:spLocks noChangeShapeType="1"/>
          </p:cNvSpPr>
          <p:nvPr/>
        </p:nvSpPr>
        <p:spPr bwMode="auto">
          <a:xfrm>
            <a:off x="1676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3059" name="Line 3">
            <a:extLst>
              <a:ext uri="{FF2B5EF4-FFF2-40B4-BE49-F238E27FC236}">
                <a16:creationId xmlns:a16="http://schemas.microsoft.com/office/drawing/2014/main" id="{805719E2-367A-E062-16C2-8565C5DD4439}"/>
              </a:ext>
            </a:extLst>
          </p:cNvPr>
          <p:cNvSpPr>
            <a:spLocks noChangeShapeType="1"/>
          </p:cNvSpPr>
          <p:nvPr/>
        </p:nvSpPr>
        <p:spPr bwMode="auto">
          <a:xfrm>
            <a:off x="1676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3060" name="Text Box 4">
            <a:extLst>
              <a:ext uri="{FF2B5EF4-FFF2-40B4-BE49-F238E27FC236}">
                <a16:creationId xmlns:a16="http://schemas.microsoft.com/office/drawing/2014/main" id="{71865E53-EA3D-3F77-7B87-1E0C9E493056}"/>
              </a:ext>
            </a:extLst>
          </p:cNvPr>
          <p:cNvSpPr txBox="1">
            <a:spLocks noChangeArrowheads="1"/>
          </p:cNvSpPr>
          <p:nvPr/>
        </p:nvSpPr>
        <p:spPr bwMode="auto">
          <a:xfrm>
            <a:off x="3522411" y="733078"/>
            <a:ext cx="514717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dirty="0">
                <a:latin typeface="Times New Roman" panose="02020603050405020304" pitchFamily="18" charset="0"/>
              </a:rPr>
              <a:t>Types of analog-to-analog modulation</a:t>
            </a:r>
          </a:p>
        </p:txBody>
      </p:sp>
      <p:sp>
        <p:nvSpPr>
          <p:cNvPr id="813061" name="Line 5">
            <a:extLst>
              <a:ext uri="{FF2B5EF4-FFF2-40B4-BE49-F238E27FC236}">
                <a16:creationId xmlns:a16="http://schemas.microsoft.com/office/drawing/2014/main" id="{5CEB478C-CB78-A848-E901-E4A415DE11AB}"/>
              </a:ext>
            </a:extLst>
          </p:cNvPr>
          <p:cNvSpPr>
            <a:spLocks noChangeShapeType="1"/>
          </p:cNvSpPr>
          <p:nvPr/>
        </p:nvSpPr>
        <p:spPr bwMode="auto">
          <a:xfrm>
            <a:off x="1676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813062" name="Picture 6">
            <a:extLst>
              <a:ext uri="{FF2B5EF4-FFF2-40B4-BE49-F238E27FC236}">
                <a16:creationId xmlns:a16="http://schemas.microsoft.com/office/drawing/2014/main" id="{460E2483-BAED-C63B-80D3-813E20D656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1" y="2347913"/>
            <a:ext cx="8391525" cy="216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E46671B-26DC-512B-C31C-12B47ADF5A22}"/>
              </a:ext>
            </a:extLst>
          </p:cNvPr>
          <p:cNvSpPr>
            <a:spLocks noGrp="1"/>
          </p:cNvSpPr>
          <p:nvPr>
            <p:ph type="sldNum" sz="quarter" idx="10"/>
          </p:nvPr>
        </p:nvSpPr>
        <p:spPr/>
        <p:txBody>
          <a:bodyPr/>
          <a:lstStyle/>
          <a:p>
            <a:r>
              <a:rPr lang="en-US" altLang="en-US"/>
              <a:t>5.</a:t>
            </a:r>
            <a:fld id="{0085CF5B-D5F5-4504-B688-1ADEEF99D230}" type="slidenum">
              <a:rPr lang="en-US" altLang="en-US"/>
              <a:pPr/>
              <a:t>24</a:t>
            </a:fld>
            <a:endParaRPr lang="en-US" altLang="en-US"/>
          </a:p>
        </p:txBody>
      </p:sp>
      <p:sp>
        <p:nvSpPr>
          <p:cNvPr id="878594" name="Rectangle 2">
            <a:extLst>
              <a:ext uri="{FF2B5EF4-FFF2-40B4-BE49-F238E27FC236}">
                <a16:creationId xmlns:a16="http://schemas.microsoft.com/office/drawing/2014/main" id="{24FF3267-0B46-4B88-4E9E-F0679679EF61}"/>
              </a:ext>
            </a:extLst>
          </p:cNvPr>
          <p:cNvSpPr>
            <a:spLocks noGrp="1" noChangeArrowheads="1"/>
          </p:cNvSpPr>
          <p:nvPr>
            <p:ph type="title"/>
          </p:nvPr>
        </p:nvSpPr>
        <p:spPr bwMode="auto">
          <a:xfrm>
            <a:off x="1813874" y="230171"/>
            <a:ext cx="7772400" cy="5715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r>
              <a:rPr lang="en-US" altLang="en-US" sz="3200" b="1" dirty="0">
                <a:latin typeface="Times New Roman" panose="02020603050405020304" pitchFamily="18" charset="0"/>
                <a:cs typeface="Times New Roman" panose="02020603050405020304" pitchFamily="18" charset="0"/>
              </a:rPr>
              <a:t>Amplitude Modulation</a:t>
            </a:r>
          </a:p>
        </p:txBody>
      </p:sp>
      <p:sp>
        <p:nvSpPr>
          <p:cNvPr id="878595" name="Rectangle 3">
            <a:extLst>
              <a:ext uri="{FF2B5EF4-FFF2-40B4-BE49-F238E27FC236}">
                <a16:creationId xmlns:a16="http://schemas.microsoft.com/office/drawing/2014/main" id="{378F99C6-30FA-0835-1DEA-2C6C8C2BE58C}"/>
              </a:ext>
            </a:extLst>
          </p:cNvPr>
          <p:cNvSpPr>
            <a:spLocks noGrp="1" noChangeArrowheads="1"/>
          </p:cNvSpPr>
          <p:nvPr>
            <p:ph type="body" idx="1"/>
          </p:nvPr>
        </p:nvSpPr>
        <p:spPr bwMode="auto">
          <a:xfrm>
            <a:off x="2190946" y="990600"/>
            <a:ext cx="8172254" cy="41148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just"/>
            <a:r>
              <a:rPr lang="en-US" altLang="en-US" sz="2000" dirty="0">
                <a:latin typeface="Times New Roman" panose="02020603050405020304" pitchFamily="18" charset="0"/>
                <a:cs typeface="Times New Roman" panose="02020603050405020304" pitchFamily="18" charset="0"/>
              </a:rPr>
              <a:t>Amplitude modulation is a type of modulation where the amplitude (signal strength) of the carrier signal is varied in accordance with the amplitude (signal strength) of the message signal.</a:t>
            </a:r>
          </a:p>
          <a:p>
            <a:pPr algn="just"/>
            <a:r>
              <a:rPr lang="en-US" altLang="en-US" sz="2000" dirty="0">
                <a:latin typeface="Times New Roman" panose="02020603050405020304" pitchFamily="18" charset="0"/>
                <a:cs typeface="Times New Roman" panose="02020603050405020304" pitchFamily="18" charset="0"/>
              </a:rPr>
              <a:t>In amplitude modulation, only the amplitude of the carrier wave is changed while the frequency and phase of the carrier wave remain constant.</a:t>
            </a:r>
          </a:p>
        </p:txBody>
      </p:sp>
      <p:pic>
        <p:nvPicPr>
          <p:cNvPr id="878597" name="Picture 5" descr="Amplitude modulation is a type of modulation where the height of the carrier signal is changed in accordance with the height of the message signal.">
            <a:extLst>
              <a:ext uri="{FF2B5EF4-FFF2-40B4-BE49-F238E27FC236}">
                <a16:creationId xmlns:a16="http://schemas.microsoft.com/office/drawing/2014/main" id="{C310D042-B403-C595-E3F2-4EC286C968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5164" y="2971800"/>
            <a:ext cx="5781675" cy="39243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E46671B-26DC-512B-C31C-12B47ADF5A22}"/>
              </a:ext>
            </a:extLst>
          </p:cNvPr>
          <p:cNvSpPr>
            <a:spLocks noGrp="1"/>
          </p:cNvSpPr>
          <p:nvPr>
            <p:ph type="sldNum" sz="quarter" idx="10"/>
          </p:nvPr>
        </p:nvSpPr>
        <p:spPr/>
        <p:txBody>
          <a:bodyPr/>
          <a:lstStyle/>
          <a:p>
            <a:r>
              <a:rPr lang="en-US" altLang="en-US"/>
              <a:t>5.</a:t>
            </a:r>
            <a:fld id="{0085CF5B-D5F5-4504-B688-1ADEEF99D230}" type="slidenum">
              <a:rPr lang="en-US" altLang="en-US"/>
              <a:pPr/>
              <a:t>25</a:t>
            </a:fld>
            <a:endParaRPr lang="en-US" altLang="en-US"/>
          </a:p>
        </p:txBody>
      </p:sp>
      <p:sp>
        <p:nvSpPr>
          <p:cNvPr id="878594" name="Rectangle 2">
            <a:extLst>
              <a:ext uri="{FF2B5EF4-FFF2-40B4-BE49-F238E27FC236}">
                <a16:creationId xmlns:a16="http://schemas.microsoft.com/office/drawing/2014/main" id="{24FF3267-0B46-4B88-4E9E-F0679679EF61}"/>
              </a:ext>
            </a:extLst>
          </p:cNvPr>
          <p:cNvSpPr>
            <a:spLocks noGrp="1" noChangeArrowheads="1"/>
          </p:cNvSpPr>
          <p:nvPr>
            <p:ph type="title"/>
          </p:nvPr>
        </p:nvSpPr>
        <p:spPr bwMode="auto">
          <a:xfrm>
            <a:off x="2021263" y="207964"/>
            <a:ext cx="7772400" cy="5715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r>
              <a:rPr lang="en-US" altLang="en-US" sz="3200" b="1" dirty="0">
                <a:latin typeface="Times New Roman" panose="02020603050405020304" pitchFamily="18" charset="0"/>
                <a:cs typeface="Times New Roman" panose="02020603050405020304" pitchFamily="18" charset="0"/>
              </a:rPr>
              <a:t>Amplitude Modulation</a:t>
            </a:r>
          </a:p>
        </p:txBody>
      </p:sp>
      <p:pic>
        <p:nvPicPr>
          <p:cNvPr id="3" name="Picture 2">
            <a:extLst>
              <a:ext uri="{FF2B5EF4-FFF2-40B4-BE49-F238E27FC236}">
                <a16:creationId xmlns:a16="http://schemas.microsoft.com/office/drawing/2014/main" id="{14417E19-60D0-2375-1F32-161ACA1592B8}"/>
              </a:ext>
            </a:extLst>
          </p:cNvPr>
          <p:cNvPicPr>
            <a:picLocks noChangeAspect="1"/>
          </p:cNvPicPr>
          <p:nvPr/>
        </p:nvPicPr>
        <p:blipFill>
          <a:blip r:embed="rId2"/>
          <a:stretch>
            <a:fillRect/>
          </a:stretch>
        </p:blipFill>
        <p:spPr>
          <a:xfrm>
            <a:off x="2752725" y="1524001"/>
            <a:ext cx="6686550" cy="3914775"/>
          </a:xfrm>
          <a:prstGeom prst="rect">
            <a:avLst/>
          </a:prstGeom>
        </p:spPr>
      </p:pic>
    </p:spTree>
    <p:extLst>
      <p:ext uri="{BB962C8B-B14F-4D97-AF65-F5344CB8AC3E}">
        <p14:creationId xmlns:p14="http://schemas.microsoft.com/office/powerpoint/2010/main" val="5963855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E46671B-26DC-512B-C31C-12B47ADF5A22}"/>
              </a:ext>
            </a:extLst>
          </p:cNvPr>
          <p:cNvSpPr>
            <a:spLocks noGrp="1"/>
          </p:cNvSpPr>
          <p:nvPr>
            <p:ph type="sldNum" sz="quarter" idx="10"/>
          </p:nvPr>
        </p:nvSpPr>
        <p:spPr/>
        <p:txBody>
          <a:bodyPr/>
          <a:lstStyle/>
          <a:p>
            <a:r>
              <a:rPr lang="en-US" altLang="en-US"/>
              <a:t>5.</a:t>
            </a:r>
            <a:fld id="{0085CF5B-D5F5-4504-B688-1ADEEF99D230}" type="slidenum">
              <a:rPr lang="en-US" altLang="en-US"/>
              <a:pPr/>
              <a:t>26</a:t>
            </a:fld>
            <a:endParaRPr lang="en-US" altLang="en-US"/>
          </a:p>
        </p:txBody>
      </p:sp>
      <p:sp>
        <p:nvSpPr>
          <p:cNvPr id="878594" name="Rectangle 2">
            <a:extLst>
              <a:ext uri="{FF2B5EF4-FFF2-40B4-BE49-F238E27FC236}">
                <a16:creationId xmlns:a16="http://schemas.microsoft.com/office/drawing/2014/main" id="{24FF3267-0B46-4B88-4E9E-F0679679EF61}"/>
              </a:ext>
            </a:extLst>
          </p:cNvPr>
          <p:cNvSpPr>
            <a:spLocks noGrp="1" noChangeArrowheads="1"/>
          </p:cNvSpPr>
          <p:nvPr>
            <p:ph type="title"/>
          </p:nvPr>
        </p:nvSpPr>
        <p:spPr bwMode="auto">
          <a:xfrm>
            <a:off x="1795020" y="419099"/>
            <a:ext cx="7772400" cy="5715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r>
              <a:rPr lang="en-US" altLang="en-US" sz="3200" b="1" dirty="0">
                <a:latin typeface="Times New Roman" panose="02020603050405020304" pitchFamily="18" charset="0"/>
                <a:cs typeface="Times New Roman" panose="02020603050405020304" pitchFamily="18" charset="0"/>
              </a:rPr>
              <a:t>Amplitude Modulation Bandwidth</a:t>
            </a:r>
          </a:p>
        </p:txBody>
      </p:sp>
      <p:sp>
        <p:nvSpPr>
          <p:cNvPr id="2" name="TextBox 1">
            <a:extLst>
              <a:ext uri="{FF2B5EF4-FFF2-40B4-BE49-F238E27FC236}">
                <a16:creationId xmlns:a16="http://schemas.microsoft.com/office/drawing/2014/main" id="{535124BF-4140-6F5C-426C-8A162744A464}"/>
              </a:ext>
            </a:extLst>
          </p:cNvPr>
          <p:cNvSpPr txBox="1"/>
          <p:nvPr/>
        </p:nvSpPr>
        <p:spPr>
          <a:xfrm>
            <a:off x="2362200" y="990601"/>
            <a:ext cx="7772400" cy="3211777"/>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dirty="0">
                <a:solidFill>
                  <a:srgbClr val="000000"/>
                </a:solidFill>
                <a:latin typeface="Times-Roman"/>
              </a:rPr>
              <a:t>The modulation creates a bandwidth that is twice the bandwidth of the modulating signal and covers a range centered on the carrier frequency.</a:t>
            </a:r>
          </a:p>
          <a:p>
            <a:pPr marL="285750" indent="-285750" algn="just">
              <a:lnSpc>
                <a:spcPct val="150000"/>
              </a:lnSpc>
              <a:buFont typeface="Arial" panose="020B0604020202020204" pitchFamily="34" charset="0"/>
              <a:buChar char="•"/>
            </a:pPr>
            <a:r>
              <a:rPr lang="en-US" dirty="0">
                <a:solidFill>
                  <a:srgbClr val="000000"/>
                </a:solidFill>
                <a:latin typeface="Times-Roman"/>
              </a:rPr>
              <a:t>However, the signal components above and below the carrier</a:t>
            </a:r>
            <a:r>
              <a:rPr lang="en-US" dirty="0"/>
              <a:t> </a:t>
            </a:r>
            <a:r>
              <a:rPr lang="en-US" dirty="0">
                <a:solidFill>
                  <a:srgbClr val="000000"/>
                </a:solidFill>
                <a:latin typeface="Times-Roman"/>
              </a:rPr>
              <a:t>frequency carry exactly the same information.</a:t>
            </a:r>
          </a:p>
          <a:p>
            <a:pPr algn="just">
              <a:lnSpc>
                <a:spcPct val="150000"/>
              </a:lnSpc>
            </a:pPr>
            <a:r>
              <a:rPr lang="en-US" dirty="0">
                <a:solidFill>
                  <a:srgbClr val="000000"/>
                </a:solidFill>
                <a:latin typeface="Times-Roman"/>
              </a:rPr>
              <a:t> </a:t>
            </a:r>
            <a:br>
              <a:rPr lang="en-US" sz="800" dirty="0"/>
            </a:br>
            <a:br>
              <a:rPr lang="en-US" sz="1100" dirty="0"/>
            </a:br>
            <a:br>
              <a:rPr lang="en-US" dirty="0"/>
            </a:br>
            <a:endParaRPr lang="en-US" dirty="0"/>
          </a:p>
        </p:txBody>
      </p:sp>
      <p:pic>
        <p:nvPicPr>
          <p:cNvPr id="6" name="Picture 5">
            <a:extLst>
              <a:ext uri="{FF2B5EF4-FFF2-40B4-BE49-F238E27FC236}">
                <a16:creationId xmlns:a16="http://schemas.microsoft.com/office/drawing/2014/main" id="{CAD02990-F830-D662-FDF1-7463E6951BEF}"/>
              </a:ext>
            </a:extLst>
          </p:cNvPr>
          <p:cNvPicPr>
            <a:picLocks noChangeAspect="1"/>
          </p:cNvPicPr>
          <p:nvPr/>
        </p:nvPicPr>
        <p:blipFill>
          <a:blip r:embed="rId2"/>
          <a:stretch>
            <a:fillRect/>
          </a:stretch>
        </p:blipFill>
        <p:spPr>
          <a:xfrm>
            <a:off x="4281488" y="3152776"/>
            <a:ext cx="3933825" cy="2714625"/>
          </a:xfrm>
          <a:prstGeom prst="rect">
            <a:avLst/>
          </a:prstGeom>
        </p:spPr>
      </p:pic>
    </p:spTree>
    <p:extLst>
      <p:ext uri="{BB962C8B-B14F-4D97-AF65-F5344CB8AC3E}">
        <p14:creationId xmlns:p14="http://schemas.microsoft.com/office/powerpoint/2010/main" val="34399491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6470088-DCDC-ECDF-D7FF-ABA4680F071E}"/>
              </a:ext>
            </a:extLst>
          </p:cNvPr>
          <p:cNvSpPr>
            <a:spLocks noGrp="1"/>
          </p:cNvSpPr>
          <p:nvPr>
            <p:ph type="sldNum" sz="quarter" idx="10"/>
          </p:nvPr>
        </p:nvSpPr>
        <p:spPr/>
        <p:txBody>
          <a:bodyPr/>
          <a:lstStyle/>
          <a:p>
            <a:r>
              <a:rPr lang="en-US" altLang="en-US"/>
              <a:t>5.</a:t>
            </a:r>
            <a:fld id="{AF90522C-5C93-4336-86F0-379A93E5BFE5}" type="slidenum">
              <a:rPr lang="en-US" altLang="en-US"/>
              <a:pPr/>
              <a:t>27</a:t>
            </a:fld>
            <a:endParaRPr lang="en-US" altLang="en-US"/>
          </a:p>
        </p:txBody>
      </p:sp>
      <p:sp>
        <p:nvSpPr>
          <p:cNvPr id="879618" name="Rectangle 2">
            <a:extLst>
              <a:ext uri="{FF2B5EF4-FFF2-40B4-BE49-F238E27FC236}">
                <a16:creationId xmlns:a16="http://schemas.microsoft.com/office/drawing/2014/main" id="{272B37C2-7D1C-6808-793E-853B69C5377E}"/>
              </a:ext>
            </a:extLst>
          </p:cNvPr>
          <p:cNvSpPr>
            <a:spLocks noGrp="1" noChangeArrowheads="1"/>
          </p:cNvSpPr>
          <p:nvPr>
            <p:ph type="title"/>
          </p:nvPr>
        </p:nvSpPr>
        <p:spPr bwMode="auto">
          <a:xfrm>
            <a:off x="1981200" y="282804"/>
            <a:ext cx="7772400" cy="555396"/>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r>
              <a:rPr lang="en-US" altLang="en-US" sz="3200" b="1" dirty="0">
                <a:latin typeface="Times New Roman" panose="02020603050405020304" pitchFamily="18" charset="0"/>
                <a:cs typeface="Times New Roman" panose="02020603050405020304" pitchFamily="18" charset="0"/>
              </a:rPr>
              <a:t>Frequency Modulation</a:t>
            </a:r>
          </a:p>
        </p:txBody>
      </p:sp>
      <p:sp>
        <p:nvSpPr>
          <p:cNvPr id="879619" name="Rectangle 3">
            <a:extLst>
              <a:ext uri="{FF2B5EF4-FFF2-40B4-BE49-F238E27FC236}">
                <a16:creationId xmlns:a16="http://schemas.microsoft.com/office/drawing/2014/main" id="{1FB52594-7235-7EF5-AAE1-A6EF4292F4EF}"/>
              </a:ext>
            </a:extLst>
          </p:cNvPr>
          <p:cNvSpPr>
            <a:spLocks noGrp="1" noChangeArrowheads="1"/>
          </p:cNvSpPr>
          <p:nvPr>
            <p:ph type="body" idx="1"/>
          </p:nvPr>
        </p:nvSpPr>
        <p:spPr bwMode="auto">
          <a:xfrm>
            <a:off x="2184662" y="838200"/>
            <a:ext cx="8026138" cy="41148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just"/>
            <a:r>
              <a:rPr lang="en-US" altLang="en-US" sz="2000" dirty="0">
                <a:latin typeface="Times New Roman" panose="02020603050405020304" pitchFamily="18" charset="0"/>
                <a:cs typeface="Times New Roman" panose="02020603050405020304" pitchFamily="18" charset="0"/>
              </a:rPr>
              <a:t>Frequency modulation is a type of modulation where the information (message signal) is transmitted over a carrier wave by varying its frequency in accordance with the amplitude of the message signal.</a:t>
            </a:r>
          </a:p>
        </p:txBody>
      </p:sp>
      <p:pic>
        <p:nvPicPr>
          <p:cNvPr id="879621" name="Picture 5" descr="Frequency modulation is a type of modulation where the frequency of the carrier signal is varied (changed) in accordance with the amplitude of the message signal while the amplitude and phase of carrier signal remain constant.">
            <a:extLst>
              <a:ext uri="{FF2B5EF4-FFF2-40B4-BE49-F238E27FC236}">
                <a16:creationId xmlns:a16="http://schemas.microsoft.com/office/drawing/2014/main" id="{39947E1F-1D52-04BF-B39E-7FF8A2586C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6515" y="2057401"/>
            <a:ext cx="5619750" cy="4648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6470088-DCDC-ECDF-D7FF-ABA4680F071E}"/>
              </a:ext>
            </a:extLst>
          </p:cNvPr>
          <p:cNvSpPr>
            <a:spLocks noGrp="1"/>
          </p:cNvSpPr>
          <p:nvPr>
            <p:ph type="sldNum" sz="quarter" idx="10"/>
          </p:nvPr>
        </p:nvSpPr>
        <p:spPr/>
        <p:txBody>
          <a:bodyPr/>
          <a:lstStyle/>
          <a:p>
            <a:r>
              <a:rPr lang="en-US" altLang="en-US"/>
              <a:t>5.</a:t>
            </a:r>
            <a:fld id="{AF90522C-5C93-4336-86F0-379A93E5BFE5}" type="slidenum">
              <a:rPr lang="en-US" altLang="en-US"/>
              <a:pPr/>
              <a:t>28</a:t>
            </a:fld>
            <a:endParaRPr lang="en-US" altLang="en-US"/>
          </a:p>
        </p:txBody>
      </p:sp>
      <p:sp>
        <p:nvSpPr>
          <p:cNvPr id="879618" name="Rectangle 2">
            <a:extLst>
              <a:ext uri="{FF2B5EF4-FFF2-40B4-BE49-F238E27FC236}">
                <a16:creationId xmlns:a16="http://schemas.microsoft.com/office/drawing/2014/main" id="{272B37C2-7D1C-6808-793E-853B69C5377E}"/>
              </a:ext>
            </a:extLst>
          </p:cNvPr>
          <p:cNvSpPr>
            <a:spLocks noGrp="1" noChangeArrowheads="1"/>
          </p:cNvSpPr>
          <p:nvPr>
            <p:ph type="title"/>
          </p:nvPr>
        </p:nvSpPr>
        <p:spPr bwMode="auto">
          <a:xfrm>
            <a:off x="1901858" y="282804"/>
            <a:ext cx="7772400" cy="555396"/>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r>
              <a:rPr lang="en-US" altLang="en-US" sz="3200" b="1" dirty="0">
                <a:latin typeface="Times New Roman" panose="02020603050405020304" pitchFamily="18" charset="0"/>
                <a:cs typeface="Times New Roman" panose="02020603050405020304" pitchFamily="18" charset="0"/>
              </a:rPr>
              <a:t>Frequency Modulation Bandwidth</a:t>
            </a:r>
          </a:p>
        </p:txBody>
      </p:sp>
      <mc:AlternateContent xmlns:mc="http://schemas.openxmlformats.org/markup-compatibility/2006" xmlns:a14="http://schemas.microsoft.com/office/drawing/2010/main">
        <mc:Choice Requires="a14">
          <p:sp>
            <p:nvSpPr>
              <p:cNvPr id="879619" name="Rectangle 3">
                <a:extLst>
                  <a:ext uri="{FF2B5EF4-FFF2-40B4-BE49-F238E27FC236}">
                    <a16:creationId xmlns:a16="http://schemas.microsoft.com/office/drawing/2014/main" id="{1FB52594-7235-7EF5-AAE1-A6EF4292F4EF}"/>
                  </a:ext>
                </a:extLst>
              </p:cNvPr>
              <p:cNvSpPr>
                <a:spLocks noGrp="1" noChangeArrowheads="1"/>
              </p:cNvSpPr>
              <p:nvPr>
                <p:ph type="body" idx="1"/>
              </p:nvPr>
            </p:nvSpPr>
            <p:spPr bwMode="auto">
              <a:xfrm>
                <a:off x="2184662" y="838200"/>
                <a:ext cx="8026138" cy="4114800"/>
              </a:xfrm>
              <a:noFill/>
              <a:ln/>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just">
                  <a:lnSpc>
                    <a:spcPct val="150000"/>
                  </a:lnSpc>
                </a:pPr>
                <a:r>
                  <a:rPr lang="en-US" altLang="en-US" sz="2000" dirty="0">
                    <a:latin typeface="Times New Roman" panose="02020603050405020304" pitchFamily="18" charset="0"/>
                    <a:cs typeface="Times New Roman" panose="02020603050405020304" pitchFamily="18" charset="0"/>
                  </a:rPr>
                  <a:t>The total bandwidth required for FM can be determined from the bandwidth of the audio signal: </a:t>
                </a:r>
                <a14:m>
                  <m:oMath xmlns:m="http://schemas.openxmlformats.org/officeDocument/2006/math">
                    <m:sSub>
                      <m:sSubPr>
                        <m:ctrlPr>
                          <a:rPr lang="en-US" altLang="en-US" sz="2000" i="1" dirty="0">
                            <a:latin typeface="Cambria Math" panose="02040503050406030204" pitchFamily="18" charset="0"/>
                            <a:cs typeface="Times New Roman" panose="02020603050405020304" pitchFamily="18" charset="0"/>
                          </a:rPr>
                        </m:ctrlPr>
                      </m:sSubPr>
                      <m:e>
                        <m:r>
                          <a:rPr lang="en-US" altLang="en-US" sz="2000" i="1" dirty="0">
                            <a:latin typeface="Cambria Math" panose="02040503050406030204" pitchFamily="18" charset="0"/>
                            <a:cs typeface="Times New Roman" panose="02020603050405020304" pitchFamily="18" charset="0"/>
                          </a:rPr>
                          <m:t>𝐵</m:t>
                        </m:r>
                      </m:e>
                      <m:sub>
                        <m:r>
                          <a:rPr lang="en-US" altLang="en-US" sz="2000" i="1" dirty="0">
                            <a:latin typeface="Cambria Math" panose="02040503050406030204" pitchFamily="18" charset="0"/>
                            <a:cs typeface="Times New Roman" panose="02020603050405020304" pitchFamily="18" charset="0"/>
                          </a:rPr>
                          <m:t>𝐹𝑀</m:t>
                        </m:r>
                      </m:sub>
                    </m:sSub>
                  </m:oMath>
                </a14:m>
                <a:r>
                  <a:rPr lang="en-US" altLang="en-US" sz="2000" dirty="0">
                    <a:latin typeface="Times New Roman" panose="02020603050405020304" pitchFamily="18" charset="0"/>
                    <a:cs typeface="Times New Roman" panose="02020603050405020304" pitchFamily="18" charset="0"/>
                  </a:rPr>
                  <a:t> = 2(1 + β)B. Where β is usually 4.</a:t>
                </a:r>
              </a:p>
            </p:txBody>
          </p:sp>
        </mc:Choice>
        <mc:Fallback xmlns="">
          <p:sp>
            <p:nvSpPr>
              <p:cNvPr id="879619" name="Rectangle 3">
                <a:extLst>
                  <a:ext uri="{FF2B5EF4-FFF2-40B4-BE49-F238E27FC236}">
                    <a16:creationId xmlns:a16="http://schemas.microsoft.com/office/drawing/2014/main" id="{1FB52594-7235-7EF5-AAE1-A6EF4292F4EF}"/>
                  </a:ext>
                </a:extLst>
              </p:cNvPr>
              <p:cNvSpPr>
                <a:spLocks noGrp="1" noRot="1" noChangeAspect="1" noMove="1" noResize="1" noEditPoints="1" noAdjustHandles="1" noChangeArrowheads="1" noChangeShapeType="1" noTextEdit="1"/>
              </p:cNvSpPr>
              <p:nvPr>
                <p:ph type="body" idx="1"/>
              </p:nvPr>
            </p:nvSpPr>
            <p:spPr bwMode="auto">
              <a:xfrm>
                <a:off x="2184662" y="838200"/>
                <a:ext cx="8026138" cy="4114800"/>
              </a:xfrm>
              <a:blipFill>
                <a:blip r:embed="rId2"/>
                <a:stretch>
                  <a:fillRect l="-683" r="-759"/>
                </a:stretch>
              </a:blip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pic>
        <p:nvPicPr>
          <p:cNvPr id="3" name="Picture 2">
            <a:extLst>
              <a:ext uri="{FF2B5EF4-FFF2-40B4-BE49-F238E27FC236}">
                <a16:creationId xmlns:a16="http://schemas.microsoft.com/office/drawing/2014/main" id="{E82EF949-E6B1-5DDC-6737-346D7C67F217}"/>
              </a:ext>
            </a:extLst>
          </p:cNvPr>
          <p:cNvPicPr>
            <a:picLocks noChangeAspect="1"/>
          </p:cNvPicPr>
          <p:nvPr/>
        </p:nvPicPr>
        <p:blipFill>
          <a:blip r:embed="rId3"/>
          <a:stretch>
            <a:fillRect/>
          </a:stretch>
        </p:blipFill>
        <p:spPr>
          <a:xfrm>
            <a:off x="4256350" y="2362200"/>
            <a:ext cx="3629025" cy="2990850"/>
          </a:xfrm>
          <a:prstGeom prst="rect">
            <a:avLst/>
          </a:prstGeom>
        </p:spPr>
      </p:pic>
    </p:spTree>
    <p:extLst>
      <p:ext uri="{BB962C8B-B14F-4D97-AF65-F5344CB8AC3E}">
        <p14:creationId xmlns:p14="http://schemas.microsoft.com/office/powerpoint/2010/main" val="32991028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213BA73-389A-95C7-7D6F-DE855ABEA84B}"/>
              </a:ext>
            </a:extLst>
          </p:cNvPr>
          <p:cNvSpPr>
            <a:spLocks noGrp="1"/>
          </p:cNvSpPr>
          <p:nvPr>
            <p:ph type="sldNum" sz="quarter" idx="10"/>
          </p:nvPr>
        </p:nvSpPr>
        <p:spPr/>
        <p:txBody>
          <a:bodyPr/>
          <a:lstStyle/>
          <a:p>
            <a:r>
              <a:rPr lang="en-US" altLang="en-US"/>
              <a:t>5.</a:t>
            </a:r>
            <a:fld id="{53F28425-52B6-4017-B3AF-BC615D7957E7}" type="slidenum">
              <a:rPr lang="en-US" altLang="en-US"/>
              <a:pPr/>
              <a:t>29</a:t>
            </a:fld>
            <a:endParaRPr lang="en-US" altLang="en-US"/>
          </a:p>
        </p:txBody>
      </p:sp>
      <p:sp>
        <p:nvSpPr>
          <p:cNvPr id="880642" name="Rectangle 2">
            <a:extLst>
              <a:ext uri="{FF2B5EF4-FFF2-40B4-BE49-F238E27FC236}">
                <a16:creationId xmlns:a16="http://schemas.microsoft.com/office/drawing/2014/main" id="{D5DFD49E-68F7-43C6-9A87-3DAA5A76551A}"/>
              </a:ext>
            </a:extLst>
          </p:cNvPr>
          <p:cNvSpPr>
            <a:spLocks noGrp="1" noChangeArrowheads="1"/>
          </p:cNvSpPr>
          <p:nvPr>
            <p:ph type="title"/>
          </p:nvPr>
        </p:nvSpPr>
        <p:spPr bwMode="auto">
          <a:xfrm>
            <a:off x="1851581" y="210925"/>
            <a:ext cx="7772400" cy="5715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r>
              <a:rPr lang="en-US" altLang="en-US" sz="2800" b="1" dirty="0">
                <a:latin typeface="Times New Roman" panose="02020603050405020304" pitchFamily="18" charset="0"/>
                <a:cs typeface="Times New Roman" panose="02020603050405020304" pitchFamily="18" charset="0"/>
              </a:rPr>
              <a:t>Phase Modulation (PM)</a:t>
            </a:r>
          </a:p>
        </p:txBody>
      </p:sp>
      <p:sp>
        <p:nvSpPr>
          <p:cNvPr id="880643" name="Rectangle 3">
            <a:extLst>
              <a:ext uri="{FF2B5EF4-FFF2-40B4-BE49-F238E27FC236}">
                <a16:creationId xmlns:a16="http://schemas.microsoft.com/office/drawing/2014/main" id="{024AD220-267A-75FF-3B7F-DB25594C59D3}"/>
              </a:ext>
            </a:extLst>
          </p:cNvPr>
          <p:cNvSpPr>
            <a:spLocks noGrp="1" noChangeArrowheads="1"/>
          </p:cNvSpPr>
          <p:nvPr>
            <p:ph type="body" idx="1"/>
          </p:nvPr>
        </p:nvSpPr>
        <p:spPr bwMode="auto">
          <a:xfrm>
            <a:off x="2133600" y="782425"/>
            <a:ext cx="7772400" cy="41148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just"/>
            <a:r>
              <a:rPr lang="en-US" altLang="en-US" sz="2000" dirty="0">
                <a:latin typeface="Times New Roman" panose="02020603050405020304" pitchFamily="18" charset="0"/>
                <a:cs typeface="Times New Roman" panose="02020603050405020304" pitchFamily="18" charset="0"/>
              </a:rPr>
              <a:t>Phase modulation is a type of modulation where the phase of the carrier signal varies as per amplitude variations of the message signal.</a:t>
            </a:r>
          </a:p>
        </p:txBody>
      </p:sp>
      <p:pic>
        <p:nvPicPr>
          <p:cNvPr id="880645" name="Picture 5" descr="Phase modulation is a type of modulation where the phase of the carrier signal is varied (changed) in accordance with the amplitude of the message signal while the amplitude of carrier signal remain constant.">
            <a:extLst>
              <a:ext uri="{FF2B5EF4-FFF2-40B4-BE49-F238E27FC236}">
                <a16:creationId xmlns:a16="http://schemas.microsoft.com/office/drawing/2014/main" id="{E2ECC4E4-85D0-0287-355D-582E42F772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0413" y="1688576"/>
            <a:ext cx="5438775"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213BA73-389A-95C7-7D6F-DE855ABEA84B}"/>
              </a:ext>
            </a:extLst>
          </p:cNvPr>
          <p:cNvSpPr>
            <a:spLocks noGrp="1"/>
          </p:cNvSpPr>
          <p:nvPr>
            <p:ph type="sldNum" sz="quarter" idx="10"/>
          </p:nvPr>
        </p:nvSpPr>
        <p:spPr/>
        <p:txBody>
          <a:bodyPr/>
          <a:lstStyle/>
          <a:p>
            <a:r>
              <a:rPr lang="en-US" altLang="en-US"/>
              <a:t>5.</a:t>
            </a:r>
            <a:fld id="{53F28425-52B6-4017-B3AF-BC615D7957E7}" type="slidenum">
              <a:rPr lang="en-US" altLang="en-US"/>
              <a:pPr/>
              <a:t>30</a:t>
            </a:fld>
            <a:endParaRPr lang="en-US" altLang="en-US"/>
          </a:p>
        </p:txBody>
      </p:sp>
      <p:sp>
        <p:nvSpPr>
          <p:cNvPr id="880642" name="Rectangle 2">
            <a:extLst>
              <a:ext uri="{FF2B5EF4-FFF2-40B4-BE49-F238E27FC236}">
                <a16:creationId xmlns:a16="http://schemas.microsoft.com/office/drawing/2014/main" id="{D5DFD49E-68F7-43C6-9A87-3DAA5A76551A}"/>
              </a:ext>
            </a:extLst>
          </p:cNvPr>
          <p:cNvSpPr>
            <a:spLocks noGrp="1" noChangeArrowheads="1"/>
          </p:cNvSpPr>
          <p:nvPr>
            <p:ph type="title"/>
          </p:nvPr>
        </p:nvSpPr>
        <p:spPr bwMode="auto">
          <a:xfrm>
            <a:off x="1785594" y="190500"/>
            <a:ext cx="7772400" cy="5715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r>
              <a:rPr lang="en-US" altLang="en-US" sz="2800" b="1" dirty="0">
                <a:latin typeface="Times New Roman" panose="02020603050405020304" pitchFamily="18" charset="0"/>
                <a:cs typeface="Times New Roman" panose="02020603050405020304" pitchFamily="18" charset="0"/>
              </a:rPr>
              <a:t>Phase Modulation (PM) Bandwidth</a:t>
            </a:r>
          </a:p>
        </p:txBody>
      </p:sp>
      <mc:AlternateContent xmlns:mc="http://schemas.openxmlformats.org/markup-compatibility/2006" xmlns:a14="http://schemas.microsoft.com/office/drawing/2010/main">
        <mc:Choice Requires="a14">
          <p:sp>
            <p:nvSpPr>
              <p:cNvPr id="880643" name="Rectangle 3">
                <a:extLst>
                  <a:ext uri="{FF2B5EF4-FFF2-40B4-BE49-F238E27FC236}">
                    <a16:creationId xmlns:a16="http://schemas.microsoft.com/office/drawing/2014/main" id="{024AD220-267A-75FF-3B7F-DB25594C59D3}"/>
                  </a:ext>
                </a:extLst>
              </p:cNvPr>
              <p:cNvSpPr>
                <a:spLocks noGrp="1" noChangeArrowheads="1"/>
              </p:cNvSpPr>
              <p:nvPr>
                <p:ph type="body" idx="1"/>
              </p:nvPr>
            </p:nvSpPr>
            <p:spPr bwMode="auto">
              <a:xfrm>
                <a:off x="2133600" y="762000"/>
                <a:ext cx="7772400" cy="4114800"/>
              </a:xfrm>
              <a:noFill/>
              <a:ln/>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just">
                  <a:lnSpc>
                    <a:spcPct val="150000"/>
                  </a:lnSpc>
                </a:pPr>
                <a:r>
                  <a:rPr lang="en-US" sz="1800" dirty="0">
                    <a:solidFill>
                      <a:srgbClr val="000000"/>
                    </a:solidFill>
                    <a:latin typeface="Times New Roman" panose="02020603050405020304" pitchFamily="18" charset="0"/>
                    <a:cs typeface="Times New Roman" panose="02020603050405020304" pitchFamily="18" charset="0"/>
                  </a:rPr>
                  <a:t>The frequency of the oscillator changes according to the derivative of the input voltage which is the amplitude of the modulating signal.</a:t>
                </a:r>
                <a:r>
                  <a:rPr lang="en-US" sz="1800" dirty="0">
                    <a:latin typeface="Times New Roman" panose="02020603050405020304" pitchFamily="18" charset="0"/>
                    <a:cs typeface="Times New Roman" panose="02020603050405020304" pitchFamily="18" charset="0"/>
                  </a:rPr>
                  <a:t> </a:t>
                </a:r>
              </a:p>
              <a:p>
                <a:pPr algn="just">
                  <a:lnSpc>
                    <a:spcPct val="150000"/>
                  </a:lnSpc>
                </a:pPr>
                <a:r>
                  <a:rPr lang="en-US" sz="1800" dirty="0">
                    <a:latin typeface="Times New Roman" panose="02020603050405020304" pitchFamily="18" charset="0"/>
                    <a:cs typeface="Times New Roman" panose="02020603050405020304" pitchFamily="18" charset="0"/>
                  </a:rPr>
                  <a:t>The total bandwidth required for PM can be determined from the bandwidth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and maximum amplitude of the modulating signal: </a:t>
                </a:r>
                <a14:m>
                  <m:oMath xmlns:m="http://schemas.openxmlformats.org/officeDocument/2006/math">
                    <m:sSub>
                      <m:sSubPr>
                        <m:ctrlPr>
                          <a:rPr lang="en-US" sz="1800" i="1">
                            <a:latin typeface="Cambria Math" panose="02040503050406030204" pitchFamily="18" charset="0"/>
                            <a:cs typeface="Times New Roman" panose="02020603050405020304" pitchFamily="18" charset="0"/>
                          </a:rPr>
                        </m:ctrlPr>
                      </m:sSubPr>
                      <m:e>
                        <m:r>
                          <a:rPr lang="en-US" sz="1800" i="1">
                            <a:latin typeface="Cambria Math" panose="02040503050406030204" pitchFamily="18" charset="0"/>
                            <a:cs typeface="Times New Roman" panose="02020603050405020304" pitchFamily="18" charset="0"/>
                          </a:rPr>
                          <m:t>𝐵</m:t>
                        </m:r>
                      </m:e>
                      <m:sub>
                        <m:r>
                          <a:rPr lang="en-US" sz="1800" i="1">
                            <a:latin typeface="Cambria Math" panose="02040503050406030204" pitchFamily="18" charset="0"/>
                            <a:cs typeface="Times New Roman" panose="02020603050405020304" pitchFamily="18" charset="0"/>
                          </a:rPr>
                          <m:t>𝑃𝑀</m:t>
                        </m:r>
                      </m:sub>
                    </m:sSub>
                  </m:oMath>
                </a14:m>
                <a:r>
                  <a:rPr lang="en-US" sz="1800" dirty="0">
                    <a:latin typeface="Times New Roman" panose="02020603050405020304" pitchFamily="18" charset="0"/>
                    <a:cs typeface="Times New Roman" panose="02020603050405020304" pitchFamily="18" charset="0"/>
                  </a:rPr>
                  <a:t>= 2(1 + β)B. Where, β = 2 most often.</a:t>
                </a:r>
              </a:p>
              <a:p>
                <a:pPr algn="just"/>
                <a:endParaRPr lang="en-US" sz="1200" dirty="0"/>
              </a:p>
              <a:p>
                <a:pPr marL="0" indent="0" algn="just">
                  <a:buNone/>
                </a:pPr>
                <a:br>
                  <a:rPr lang="en-US" sz="1200" dirty="0"/>
                </a:br>
                <a:endParaRPr lang="en-US" altLang="en-US" sz="2000" dirty="0">
                  <a:latin typeface="Times New Roman" panose="02020603050405020304" pitchFamily="18" charset="0"/>
                  <a:cs typeface="Times New Roman" panose="02020603050405020304" pitchFamily="18" charset="0"/>
                </a:endParaRPr>
              </a:p>
            </p:txBody>
          </p:sp>
        </mc:Choice>
        <mc:Fallback xmlns="">
          <p:sp>
            <p:nvSpPr>
              <p:cNvPr id="880643" name="Rectangle 3">
                <a:extLst>
                  <a:ext uri="{FF2B5EF4-FFF2-40B4-BE49-F238E27FC236}">
                    <a16:creationId xmlns:a16="http://schemas.microsoft.com/office/drawing/2014/main" id="{024AD220-267A-75FF-3B7F-DB25594C59D3}"/>
                  </a:ext>
                </a:extLst>
              </p:cNvPr>
              <p:cNvSpPr>
                <a:spLocks noGrp="1" noRot="1" noChangeAspect="1" noMove="1" noResize="1" noEditPoints="1" noAdjustHandles="1" noChangeArrowheads="1" noChangeShapeType="1" noTextEdit="1"/>
              </p:cNvSpPr>
              <p:nvPr>
                <p:ph type="body" idx="1"/>
              </p:nvPr>
            </p:nvSpPr>
            <p:spPr bwMode="auto">
              <a:xfrm>
                <a:off x="2133600" y="762000"/>
                <a:ext cx="7772400" cy="4114800"/>
              </a:xfrm>
              <a:blipFill>
                <a:blip r:embed="rId2"/>
                <a:stretch>
                  <a:fillRect l="-471" r="-627"/>
                </a:stretch>
              </a:blip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pic>
        <p:nvPicPr>
          <p:cNvPr id="3" name="Picture 2">
            <a:extLst>
              <a:ext uri="{FF2B5EF4-FFF2-40B4-BE49-F238E27FC236}">
                <a16:creationId xmlns:a16="http://schemas.microsoft.com/office/drawing/2014/main" id="{C8D3809E-DED0-98BA-16C9-6A8027D6DE3D}"/>
              </a:ext>
            </a:extLst>
          </p:cNvPr>
          <p:cNvPicPr>
            <a:picLocks noChangeAspect="1"/>
          </p:cNvPicPr>
          <p:nvPr/>
        </p:nvPicPr>
        <p:blipFill>
          <a:blip r:embed="rId3"/>
          <a:stretch>
            <a:fillRect/>
          </a:stretch>
        </p:blipFill>
        <p:spPr>
          <a:xfrm>
            <a:off x="4214813" y="2743201"/>
            <a:ext cx="3762375" cy="3590925"/>
          </a:xfrm>
          <a:prstGeom prst="rect">
            <a:avLst/>
          </a:prstGeom>
        </p:spPr>
      </p:pic>
    </p:spTree>
    <p:extLst>
      <p:ext uri="{BB962C8B-B14F-4D97-AF65-F5344CB8AC3E}">
        <p14:creationId xmlns:p14="http://schemas.microsoft.com/office/powerpoint/2010/main" val="12938101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195</TotalTime>
  <Words>1769</Words>
  <Application>Microsoft Office PowerPoint</Application>
  <PresentationFormat>Widescreen</PresentationFormat>
  <Paragraphs>199</Paragraphs>
  <Slides>30</Slides>
  <Notes>23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30</vt:i4>
      </vt:variant>
    </vt:vector>
  </HeadingPairs>
  <TitlesOfParts>
    <vt:vector size="39" baseType="lpstr">
      <vt:lpstr>Arial</vt:lpstr>
      <vt:lpstr>Calibri</vt:lpstr>
      <vt:lpstr>Calibri Light</vt:lpstr>
      <vt:lpstr>Cambria Math</vt:lpstr>
      <vt:lpstr>Times</vt:lpstr>
      <vt:lpstr>Times New Roman</vt:lpstr>
      <vt:lpstr>Times-Roman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Amplitude Modulation</vt:lpstr>
      <vt:lpstr>Amplitude Modulation</vt:lpstr>
      <vt:lpstr>Amplitude Modulation Bandwidth</vt:lpstr>
      <vt:lpstr>Frequency Modulation</vt:lpstr>
      <vt:lpstr>Frequency Modulation Bandwidth</vt:lpstr>
      <vt:lpstr>Phase Modulation (PM)</vt:lpstr>
      <vt:lpstr>Phase Modulation (PM) Bandwidth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Mahedy Hasan</dc:creator>
  <cp:lastModifiedBy>Fatin Nibbrash Nakib</cp:lastModifiedBy>
  <cp:revision>22</cp:revision>
  <dcterms:created xsi:type="dcterms:W3CDTF">2022-05-13T04:09:06Z</dcterms:created>
  <dcterms:modified xsi:type="dcterms:W3CDTF">2025-10-08T06:32:14Z</dcterms:modified>
</cp:coreProperties>
</file>