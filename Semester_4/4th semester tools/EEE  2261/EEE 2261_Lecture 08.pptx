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howSpecialPlsOnTitleSld="0" saveSubsetFonts="1">
  <p:sldMasterIdLst>
    <p:sldMasterId id="2147483648" r:id="rId1"/>
  </p:sldMasterIdLst>
  <p:notesMasterIdLst>
    <p:notesMasterId r:id="rId9"/>
  </p:notesMasterIdLst>
  <p:sldIdLst>
    <p:sldId id="263" r:id="rId2"/>
    <p:sldId id="265" r:id="rId3"/>
    <p:sldId id="267" r:id="rId4"/>
    <p:sldId id="322" r:id="rId5"/>
    <p:sldId id="323" r:id="rId6"/>
    <p:sldId id="324" r:id="rId7"/>
    <p:sldId id="304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EFE0"/>
    <a:srgbClr val="E3F2E7"/>
    <a:srgbClr val="154E10"/>
    <a:srgbClr val="548235"/>
    <a:srgbClr val="D4B309"/>
    <a:srgbClr val="004101"/>
    <a:srgbClr val="0070C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243" autoAdjust="0"/>
    <p:restoredTop sz="94660"/>
  </p:normalViewPr>
  <p:slideViewPr>
    <p:cSldViewPr snapToGrid="0">
      <p:cViewPr varScale="1">
        <p:scale>
          <a:sx n="78" d="100"/>
          <a:sy n="78" d="100"/>
        </p:scale>
        <p:origin x="119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E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9EFE013-CA25-47D5-A3CA-40C6CCB1980D}" type="datetimeFigureOut">
              <a:rPr lang="en-AE" smtClean="0"/>
              <a:t>18/02/2026</a:t>
            </a:fld>
            <a:endParaRPr lang="en-AE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E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F103FC4-7E90-4A4D-B9BE-3E3B19ADB2BE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201748292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24A0E7-2ACB-3AD6-7A52-99E43E2F62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72CF644-4E22-4251-B51F-C031EA08D53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A635572-C2B3-8B71-B357-5C368C55DBA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E311CAC-6691-CAEE-2848-379B5CC3622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F103FC4-7E90-4A4D-B9BE-3E3B19ADB2BE}" type="slidenum">
              <a:rPr lang="en-AE" smtClean="0"/>
              <a:t>6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241927654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459AE9-4CE0-8D35-CFD0-14860AF73E3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E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37B3785-05F0-D3D3-FEA6-C6A34A65BBD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9D4CFA-8F21-872E-0FB8-CB8A3E141E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01/02/2026</a:t>
            </a:r>
            <a:endParaRPr lang="en-A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797036-48F0-AFD7-A516-D1F20BBCC3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CSE, BAUET</a:t>
            </a:r>
            <a:endParaRPr lang="en-A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DEE955-2054-AC07-C669-C2AD9CAEDB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07BDCA-6C04-4DE3-905E-17E4BFE04F46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24381285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00E0A6-970C-349B-85A7-129CBABD96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11B6CC-9BCA-5D16-1304-808D0E0836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972ED1-9492-9405-6343-9048603AAE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01/02/2026</a:t>
            </a:r>
            <a:endParaRPr lang="en-A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886045-04EF-D507-D3EB-676F0EDFD4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CSE, BAUET</a:t>
            </a:r>
            <a:endParaRPr lang="en-A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01D6B0-80F2-5162-DEDE-C9AF421A0A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07BDCA-6C04-4DE3-905E-17E4BFE04F46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40859637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2C6CE5-68A0-CE57-F555-9354E94C9E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80259EE-3894-81C3-1C2D-A0C1381FAC6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286821-C52C-1639-3420-9102C9106D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01/02/2026</a:t>
            </a:r>
            <a:endParaRPr lang="en-A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195700-D01B-2F2D-2D8E-836CF26583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CSE, BAUET</a:t>
            </a:r>
            <a:endParaRPr lang="en-A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DD4D55-8F7E-7450-4682-582C41318E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07BDCA-6C04-4DE3-905E-17E4BFE04F46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29728149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0B7B6D-2269-B0B8-AE5A-7E61CC3BA6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43DF18-22AB-95D2-6975-59495966434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098AA14-9EE3-FCC8-A879-5A0AFC758A7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E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AECA36E-0BD4-2C5F-65B3-0833A013D7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01/02/2026</a:t>
            </a:r>
            <a:endParaRPr lang="en-A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3E87DCF-71BC-D13D-190E-68CEF97AF0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CSE, BAUET</a:t>
            </a:r>
            <a:endParaRPr lang="en-A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C9DA933-5CD1-9E4C-EB2A-B82BAE6A7A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07BDCA-6C04-4DE3-905E-17E4BFE04F46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34234102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FFAD46-28D5-C95F-D682-481DE22BA2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7596BA3-5526-EB1B-99FB-0767C715EAE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D1CE715-3397-5E0F-573E-E2C267084C8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E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E61A2BB-FD2F-8093-33E0-6A83D46BDD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1217CB4-8C4D-7653-E174-AB249FD4EEA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E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0B05505-F43F-2BA7-8852-2C57C1B0A3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01/02/2026</a:t>
            </a:r>
            <a:endParaRPr lang="en-AE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4A88E68-E215-05D3-793E-0DDD76A71A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CSE, BAUET</a:t>
            </a:r>
            <a:endParaRPr lang="en-AE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8DEEF46-4E46-9FB0-8A05-4947E249A4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07BDCA-6C04-4DE3-905E-17E4BFE04F46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25956170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E6A0DF-AAC5-3B04-0E5C-A20192A791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1F255A2-00E2-2264-8909-D4ED17738C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01/02/2026</a:t>
            </a:r>
            <a:endParaRPr lang="en-A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D024C93-047F-1636-44B4-E998B308D4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CSE, BAUET</a:t>
            </a:r>
            <a:endParaRPr lang="en-A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6C3B603-E7C9-C7EC-45CA-3331E02590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07BDCA-6C04-4DE3-905E-17E4BFE04F46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33742180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40F47B1-0D87-826D-C939-6DD0DA97EE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01/02/2026</a:t>
            </a:r>
            <a:endParaRPr lang="en-AE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5ECC093-BFB0-4CD2-10BD-B69F9D9238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CSE, BAUET</a:t>
            </a:r>
            <a:endParaRPr lang="en-A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F13D88B-2189-0E63-3CEA-527B657B6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07BDCA-6C04-4DE3-905E-17E4BFE04F46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33490652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5739EE-5F0D-EF0C-C327-42D31FD6C9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EFB883-71A5-2EC4-9179-08FA3DD3F0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1D60CBB-2FDD-6B1F-06E2-47D761328E7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F8895F2-9072-931C-7193-7B7E63B5AF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01/02/2026</a:t>
            </a:r>
            <a:endParaRPr lang="en-A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EC47C83-1249-57FE-AFC1-C4345FD477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CSE, BAUET</a:t>
            </a:r>
            <a:endParaRPr lang="en-A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373804F-31BC-14A0-E5DB-780AC7C468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07BDCA-6C04-4DE3-905E-17E4BFE04F46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9527217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37C8D4-53DD-6C83-3FC6-0382BFD62A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E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4C2DD3D-509F-ED28-2B51-8E06ACFC60A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4E08984-517B-3836-F931-469F82BD839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213E406-2FE5-3E37-F592-B5F099B3F2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01/02/2026</a:t>
            </a:r>
            <a:endParaRPr lang="en-A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1AA0A20-0B1C-F85F-E0B9-908047AE6D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CSE, BAUET</a:t>
            </a:r>
            <a:endParaRPr lang="en-A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8DF103D-3958-2A70-0395-51CF78C4D3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07BDCA-6C04-4DE3-905E-17E4BFE04F46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960469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91D840-3BE4-A51F-B875-8D9B526ED8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1CD5D4A-D2F4-562B-DD70-3906C830774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4C221D-2087-3904-EC97-9C89D3C6A8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01/02/2026</a:t>
            </a:r>
            <a:endParaRPr lang="en-A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136333-7792-7193-74B7-67F7CEEDEB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CSE, BAUET</a:t>
            </a:r>
            <a:endParaRPr lang="en-A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2602A1-06CF-4FA2-0CC2-5CF34AD33B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07BDCA-6C04-4DE3-905E-17E4BFE04F46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18423728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1BEF0C3-E988-167C-ADFB-CB590DDA72C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A32ADBC-C152-41F4-E0E2-E63B1A73A5C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A22A6D-AA5F-1F9A-591D-B16754F6F8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01/02/2026</a:t>
            </a:r>
            <a:endParaRPr lang="en-A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A8FF5DD-D699-F48F-C84C-F5FFC328F9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CSE, BAUET</a:t>
            </a:r>
            <a:endParaRPr lang="en-A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7681F98-18BE-189D-8FAA-0974840DCE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07BDCA-6C04-4DE3-905E-17E4BFE04F46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20075812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A477B0A-AF37-95F4-0B6B-42A3DBD964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6626289-8198-FE45-E688-735246C0C91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4D22DAB-FFA2-3F6F-F390-13AD02012D3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01/02/2026</a:t>
            </a:r>
            <a:endParaRPr lang="en-A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87EBFCC-5305-40AC-B83B-89E8ECA8BD6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Department of CSE, BAUET</a:t>
            </a:r>
            <a:endParaRPr lang="en-A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34C4F0-1D23-F7C5-F90F-BC1B32B4CF9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407BDCA-6C04-4DE3-905E-17E4BFE04F46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2989988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A6FBDF-3E7C-4C31-6DE4-B72761D0EB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2">
            <a:extLst>
              <a:ext uri="{FF2B5EF4-FFF2-40B4-BE49-F238E27FC236}">
                <a16:creationId xmlns:a16="http://schemas.microsoft.com/office/drawing/2014/main" id="{F23AAC3B-65CB-D4A9-34F4-21E8C41351B6}"/>
              </a:ext>
            </a:extLst>
          </p:cNvPr>
          <p:cNvSpPr/>
          <p:nvPr/>
        </p:nvSpPr>
        <p:spPr>
          <a:xfrm>
            <a:off x="5490410" y="188276"/>
            <a:ext cx="1211180" cy="119901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dirty="0">
              <a:effectLst>
                <a:glow rad="228600">
                  <a:schemeClr val="accent1">
                    <a:satMod val="175000"/>
                    <a:alpha val="40000"/>
                  </a:schemeClr>
                </a:glo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68961E5-478F-A79B-43A8-F70980DE0B54}"/>
              </a:ext>
            </a:extLst>
          </p:cNvPr>
          <p:cNvSpPr txBox="1"/>
          <p:nvPr/>
        </p:nvSpPr>
        <p:spPr>
          <a:xfrm>
            <a:off x="0" y="1562939"/>
            <a:ext cx="12192000" cy="1323439"/>
          </a:xfrm>
          <a:prstGeom prst="rect">
            <a:avLst/>
          </a:prstGeom>
          <a:solidFill>
            <a:srgbClr val="004101">
              <a:alpha val="90000"/>
            </a:srgbClr>
          </a:solidFill>
        </p:spPr>
        <p:txBody>
          <a:bodyPr wrap="square">
            <a:spAutoFit/>
          </a:bodyPr>
          <a:lstStyle/>
          <a:p>
            <a:pPr algn="ctr"/>
            <a:endParaRPr lang="en-US" sz="1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Bangladesh Army University of Engineering &amp; Technology</a:t>
            </a:r>
          </a:p>
          <a:p>
            <a:pPr algn="ctr"/>
            <a:r>
              <a:rPr lang="en-US" altLang="en-US" sz="3200" b="1" kern="0" dirty="0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Computer Science and Engineering</a:t>
            </a:r>
          </a:p>
          <a:p>
            <a:pPr algn="ctr"/>
            <a:endParaRPr lang="en-US" altLang="en-US" sz="1000" b="1" kern="0" dirty="0">
              <a:solidFill>
                <a:srgbClr val="D4B309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78795D7-68E5-7035-9CFE-91863161DD9C}"/>
              </a:ext>
            </a:extLst>
          </p:cNvPr>
          <p:cNvSpPr txBox="1"/>
          <p:nvPr/>
        </p:nvSpPr>
        <p:spPr>
          <a:xfrm>
            <a:off x="0" y="3017516"/>
            <a:ext cx="12192000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0">
              <a:buClr>
                <a:srgbClr val="0C0C0C"/>
              </a:buClr>
              <a:buSzPts val="4400"/>
              <a:buFont typeface="Arial Black"/>
              <a:buNone/>
            </a:pPr>
            <a:r>
              <a:rPr lang="en-US" sz="28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 Black"/>
              </a:rPr>
              <a:t>EEE 2261: Electrical Drives and Instrumentation</a:t>
            </a:r>
          </a:p>
          <a:p>
            <a:pPr algn="ctr" rtl="0">
              <a:buClr>
                <a:srgbClr val="0C0C0C"/>
              </a:buClr>
              <a:buSzPts val="4400"/>
              <a:buFont typeface="Arial Black"/>
              <a:buNone/>
            </a:pPr>
            <a:r>
              <a:rPr lang="en-US" sz="2800" b="1" dirty="0">
                <a:solidFill>
                  <a:srgbClr val="548235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 Black"/>
              </a:rPr>
              <a:t>Winter 2025 Semester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D6C97A6-7890-73CE-1442-7F163C2457CD}"/>
              </a:ext>
            </a:extLst>
          </p:cNvPr>
          <p:cNvSpPr txBox="1"/>
          <p:nvPr/>
        </p:nvSpPr>
        <p:spPr>
          <a:xfrm>
            <a:off x="0" y="3971623"/>
            <a:ext cx="12192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6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Lecture-08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23C93F6-5797-B729-4B18-6818906D95C4}"/>
              </a:ext>
            </a:extLst>
          </p:cNvPr>
          <p:cNvSpPr txBox="1"/>
          <p:nvPr/>
        </p:nvSpPr>
        <p:spPr>
          <a:xfrm>
            <a:off x="0" y="6297525"/>
            <a:ext cx="1219199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en-US" sz="1800" b="1" kern="0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Total Credit</a:t>
            </a:r>
            <a:r>
              <a:rPr lang="en-US" altLang="en-US" b="1" kern="0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US" altLang="en-US" sz="1800" b="1" kern="0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3.0		Credit Taking: </a:t>
            </a:r>
            <a:r>
              <a:rPr lang="en-US" altLang="en-US" b="1" kern="0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3.0</a:t>
            </a:r>
            <a:endParaRPr lang="en-US" altLang="en-US" sz="1600" b="1" kern="0" dirty="0">
              <a:solidFill>
                <a:schemeClr val="accent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F5D4C92-EC56-E8EF-1BD7-F12CC3801517}"/>
              </a:ext>
            </a:extLst>
          </p:cNvPr>
          <p:cNvSpPr txBox="1"/>
          <p:nvPr/>
        </p:nvSpPr>
        <p:spPr>
          <a:xfrm>
            <a:off x="3667761" y="4772001"/>
            <a:ext cx="4856479" cy="1300356"/>
          </a:xfrm>
          <a:prstGeom prst="rect">
            <a:avLst/>
          </a:prstGeom>
          <a:solidFill>
            <a:srgbClr val="004101">
              <a:alpha val="10000"/>
            </a:srgbClr>
          </a:solidFill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endParaRPr lang="en-US" altLang="en-US" sz="500" b="1" kern="0" dirty="0">
              <a:solidFill>
                <a:srgbClr val="FFFF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spcAft>
                <a:spcPts val="300"/>
              </a:spcAft>
            </a:pPr>
            <a:r>
              <a:rPr lang="en-US" altLang="en-US" sz="2000" b="1" kern="0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Course Teacher</a:t>
            </a:r>
          </a:p>
          <a:p>
            <a:pPr algn="ctr">
              <a:spcAft>
                <a:spcPts val="300"/>
              </a:spcAft>
            </a:pPr>
            <a:r>
              <a:rPr lang="en-US" altLang="en-US" b="1" kern="0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S. M. Ashik Al Mashrafi</a:t>
            </a:r>
          </a:p>
          <a:p>
            <a:pPr algn="ctr">
              <a:spcAft>
                <a:spcPts val="300"/>
              </a:spcAft>
            </a:pPr>
            <a:r>
              <a:rPr lang="en-US" altLang="en-US" b="1" kern="0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Lecturer, EEE, BAUET</a:t>
            </a:r>
          </a:p>
          <a:p>
            <a:pPr algn="ctr"/>
            <a:endParaRPr lang="en-US" altLang="en-US" sz="500" b="1" kern="0" dirty="0">
              <a:solidFill>
                <a:schemeClr val="accent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8462943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32B6C03F-1D48-DA2D-BC6F-B230E513F332}"/>
              </a:ext>
            </a:extLst>
          </p:cNvPr>
          <p:cNvSpPr/>
          <p:nvPr/>
        </p:nvSpPr>
        <p:spPr>
          <a:xfrm>
            <a:off x="0" y="6480143"/>
            <a:ext cx="12192000" cy="302260"/>
          </a:xfrm>
          <a:prstGeom prst="rect">
            <a:avLst/>
          </a:prstGeom>
          <a:solidFill>
            <a:srgbClr val="154E1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E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294046E-EC44-FE27-7488-4BEF0C48BD7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443312"/>
            <a:ext cx="2743200" cy="365125"/>
          </a:xfrm>
        </p:spPr>
        <p:txBody>
          <a:bodyPr/>
          <a:lstStyle/>
          <a:p>
            <a:r>
              <a:rPr lang="en-US" sz="140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01/02/2026</a:t>
            </a:r>
            <a:endParaRPr lang="en-AE" sz="1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42330AF-B0B4-48F4-9699-52FEF03688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443312"/>
            <a:ext cx="4114800" cy="365125"/>
          </a:xfrm>
        </p:spPr>
        <p:txBody>
          <a:bodyPr/>
          <a:lstStyle/>
          <a:p>
            <a:r>
              <a:rPr lang="en-US" sz="1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CSE, BAUET</a:t>
            </a:r>
            <a:endParaRPr lang="en-AE" sz="14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1402F26-57C8-F92D-E92A-FB8AF85C1F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443312"/>
            <a:ext cx="2743200" cy="365125"/>
          </a:xfrm>
        </p:spPr>
        <p:txBody>
          <a:bodyPr/>
          <a:lstStyle/>
          <a:p>
            <a:fld id="{E407BDCA-6C04-4DE3-905E-17E4BFE04F46}" type="slidenum">
              <a:rPr lang="en-AE" sz="140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fld>
            <a:endParaRPr lang="en-AE" sz="1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D807FC9B-4BFF-0C3A-C226-30745EBB849A}"/>
              </a:ext>
            </a:extLst>
          </p:cNvPr>
          <p:cNvGrpSpPr/>
          <p:nvPr/>
        </p:nvGrpSpPr>
        <p:grpSpPr>
          <a:xfrm>
            <a:off x="0" y="92595"/>
            <a:ext cx="12191998" cy="830997"/>
            <a:chOff x="0" y="225907"/>
            <a:chExt cx="12191998" cy="830997"/>
          </a:xfrm>
        </p:grpSpPr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D96757BF-5012-9536-9DD1-71121A3472F3}"/>
                </a:ext>
              </a:extLst>
            </p:cNvPr>
            <p:cNvGrpSpPr/>
            <p:nvPr/>
          </p:nvGrpSpPr>
          <p:grpSpPr>
            <a:xfrm>
              <a:off x="0" y="225907"/>
              <a:ext cx="12191998" cy="830997"/>
              <a:chOff x="0" y="225907"/>
              <a:chExt cx="12191998" cy="830997"/>
            </a:xfrm>
          </p:grpSpPr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3AAA7ABA-FEFA-CD6A-BDC7-563720AC78DE}"/>
                  </a:ext>
                </a:extLst>
              </p:cNvPr>
              <p:cNvSpPr/>
              <p:nvPr/>
            </p:nvSpPr>
            <p:spPr>
              <a:xfrm>
                <a:off x="11080954" y="225907"/>
                <a:ext cx="1111044" cy="830997"/>
              </a:xfrm>
              <a:prstGeom prst="rect">
                <a:avLst/>
              </a:prstGeom>
              <a:solidFill>
                <a:schemeClr val="bg1"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AE">
                  <a:solidFill>
                    <a:schemeClr val="bg1"/>
                  </a:solidFill>
                </a:endParaRPr>
              </a:p>
            </p:txBody>
          </p:sp>
          <p:sp>
            <p:nvSpPr>
              <p:cNvPr id="13" name="object 2">
                <a:extLst>
                  <a:ext uri="{FF2B5EF4-FFF2-40B4-BE49-F238E27FC236}">
                    <a16:creationId xmlns:a16="http://schemas.microsoft.com/office/drawing/2014/main" id="{7512CC8B-DDA4-59C2-FC3E-4581E586BA67}"/>
                  </a:ext>
                </a:extLst>
              </p:cNvPr>
              <p:cNvSpPr/>
              <p:nvPr/>
            </p:nvSpPr>
            <p:spPr>
              <a:xfrm>
                <a:off x="11313789" y="336886"/>
                <a:ext cx="645374" cy="638891"/>
              </a:xfrm>
              <a:prstGeom prst="rect">
                <a:avLst/>
              </a:prstGeom>
              <a:blipFill>
                <a:blip r:embed="rId2" cstate="print"/>
                <a:stretch>
                  <a:fillRect/>
                </a:stretch>
              </a:blipFill>
            </p:spPr>
            <p:txBody>
              <a:bodyPr wrap="square" lIns="0" tIns="0" rIns="0" bIns="0" rtlCol="0"/>
              <a:lstStyle/>
              <a:p>
                <a:endParaRPr dirty="0">
                  <a:effectLst>
                    <a:glow rad="228600">
                      <a:schemeClr val="accent1">
                        <a:satMod val="175000"/>
                        <a:alpha val="40000"/>
                      </a:schemeClr>
                    </a:glow>
                  </a:effectLst>
                </a:endParaRPr>
              </a:p>
            </p:txBody>
          </p:sp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A9F09B41-ADF4-770A-EB6E-CFEFCE44654B}"/>
                  </a:ext>
                </a:extLst>
              </p:cNvPr>
              <p:cNvSpPr/>
              <p:nvPr/>
            </p:nvSpPr>
            <p:spPr>
              <a:xfrm>
                <a:off x="0" y="225908"/>
                <a:ext cx="11080954" cy="830995"/>
              </a:xfrm>
              <a:prstGeom prst="rect">
                <a:avLst/>
              </a:prstGeom>
              <a:solidFill>
                <a:srgbClr val="154E1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AE"/>
              </a:p>
            </p:txBody>
          </p:sp>
        </p:grp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BCDD0AA4-E205-A8BB-ECF1-B179E557E8D1}"/>
                </a:ext>
              </a:extLst>
            </p:cNvPr>
            <p:cNvSpPr txBox="1"/>
            <p:nvPr/>
          </p:nvSpPr>
          <p:spPr>
            <a:xfrm>
              <a:off x="249364" y="379795"/>
              <a:ext cx="10831589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28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Course Content</a:t>
              </a:r>
              <a:endParaRPr lang="en-AE" sz="28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0C000F72-B9C9-41A1-EE29-910556380DA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93028483"/>
              </p:ext>
            </p:extLst>
          </p:nvPr>
        </p:nvGraphicFramePr>
        <p:xfrm>
          <a:off x="591151" y="1345233"/>
          <a:ext cx="11009698" cy="4763430"/>
        </p:xfrm>
        <a:graphic>
          <a:graphicData uri="http://schemas.openxmlformats.org/drawingml/2006/table">
            <a:tbl>
              <a:tblPr firstRow="1" bandRow="1">
                <a:tableStyleId>{9D7B26C5-4107-4FEC-AEDC-1716B250A1EF}</a:tableStyleId>
              </a:tblPr>
              <a:tblGrid>
                <a:gridCol w="238543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62426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43430"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rgbClr val="FFFF00"/>
                          </a:solidFill>
                          <a:latin typeface="Times New Roman" panose="020206030504050203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Chapter</a:t>
                      </a:r>
                    </a:p>
                  </a:txBody>
                  <a:tcPr marL="56108" marR="56108" marT="28023" marB="2802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4E1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200" dirty="0">
                          <a:solidFill>
                            <a:srgbClr val="FFFF00"/>
                          </a:solidFill>
                          <a:latin typeface="Times New Roman" panose="020206030504050203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Topic</a:t>
                      </a:r>
                      <a:r>
                        <a:rPr lang="en-US" sz="2200" baseline="0" dirty="0">
                          <a:solidFill>
                            <a:srgbClr val="FFFF00"/>
                          </a:solidFill>
                          <a:latin typeface="Times New Roman" panose="020206030504050203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s</a:t>
                      </a:r>
                      <a:endParaRPr lang="en-US" sz="2200" dirty="0">
                        <a:solidFill>
                          <a:srgbClr val="FFFF00"/>
                        </a:solidFill>
                        <a:latin typeface="Times New Roman" panose="020206030504050203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6108" marR="56108" marT="28023" marB="2802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4E1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40000">
                <a:tc>
                  <a:txBody>
                    <a:bodyPr/>
                    <a:lstStyle/>
                    <a:p>
                      <a:r>
                        <a:rPr lang="en-US" sz="2200" b="1" kern="1200" dirty="0">
                          <a:solidFill>
                            <a:srgbClr val="7030A0"/>
                          </a:solidFill>
                          <a:effectLst/>
                          <a:latin typeface="Times New Roman" panose="020206030504050203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Introduction</a:t>
                      </a:r>
                      <a:endParaRPr lang="en-US" sz="2200" dirty="0">
                        <a:solidFill>
                          <a:srgbClr val="7030A0"/>
                        </a:solidFill>
                        <a:latin typeface="Times New Roman" panose="020206030504050203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2200" kern="1200" dirty="0">
                          <a:solidFill>
                            <a:schemeClr val="tx1"/>
                          </a:solidFill>
                          <a:effectLst/>
                          <a:highlight>
                            <a:srgbClr val="C0C0C0"/>
                          </a:highlight>
                          <a:latin typeface="Times New Roman" panose="020206030504050203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Three   phase   circuits</a:t>
                      </a:r>
                      <a:r>
                        <a:rPr lang="en-US" sz="220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,   </a:t>
                      </a:r>
                      <a:r>
                        <a:rPr lang="en-US" sz="2200" kern="1200" dirty="0">
                          <a:solidFill>
                            <a:schemeClr val="tx1"/>
                          </a:solidFill>
                          <a:effectLst/>
                          <a:highlight>
                            <a:srgbClr val="FF00FF"/>
                          </a:highlight>
                          <a:latin typeface="Times New Roman" panose="020206030504050203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alternators</a:t>
                      </a:r>
                      <a:r>
                        <a:rPr lang="en-US" sz="220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   and </a:t>
                      </a:r>
                      <a:r>
                        <a:rPr lang="en-US" sz="2200" kern="1200" dirty="0">
                          <a:solidFill>
                            <a:schemeClr val="tx1"/>
                          </a:solidFill>
                          <a:effectLst/>
                          <a:highlight>
                            <a:srgbClr val="C0C0C0"/>
                          </a:highlight>
                          <a:latin typeface="Times New Roman" panose="020206030504050203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transformers</a:t>
                      </a:r>
                      <a:r>
                        <a:rPr lang="en-US" sz="220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,   principles   &amp; operation  of  DC  Machines,  synchronous,  induction,  universal  and  stepper  motors, thyristor and microprocessor-based speed control of motors</a:t>
                      </a:r>
                      <a:endParaRPr lang="en-US" sz="2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alpha val="2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440000">
                <a:tc>
                  <a:txBody>
                    <a:bodyPr/>
                    <a:lstStyle/>
                    <a:p>
                      <a:r>
                        <a:rPr lang="en-US" sz="2200" b="1" kern="1200" dirty="0">
                          <a:solidFill>
                            <a:srgbClr val="7030A0"/>
                          </a:solidFill>
                          <a:effectLst/>
                          <a:latin typeface="Times New Roman" panose="020206030504050203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Instrumentation   Amplifiers</a:t>
                      </a:r>
                      <a:endParaRPr lang="en-US" sz="2200" dirty="0">
                        <a:solidFill>
                          <a:srgbClr val="7030A0"/>
                        </a:solidFill>
                        <a:latin typeface="Times New Roman" panose="020206030504050203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220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Differential,   logarithmic,   and   chopper   amplifiers, frequency and voltage  measurements using digital techniques, recorders and display devices,  spectrum  analyzers  and  logic  analyzers,  data  acquisition  and  interfacing  to microprocessor-based systems;</a:t>
                      </a:r>
                      <a:endParaRPr lang="en-US" sz="2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440000">
                <a:tc>
                  <a:txBody>
                    <a:bodyPr/>
                    <a:lstStyle/>
                    <a:p>
                      <a:r>
                        <a:rPr lang="en-US" sz="2200" b="1" kern="1200" dirty="0">
                          <a:solidFill>
                            <a:srgbClr val="7030A0"/>
                          </a:solidFill>
                          <a:effectLst/>
                          <a:latin typeface="Times New Roman" panose="020206030504050203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Transducers</a:t>
                      </a:r>
                      <a:endParaRPr lang="en-US" sz="2200" dirty="0">
                        <a:solidFill>
                          <a:srgbClr val="7030A0"/>
                        </a:solidFill>
                        <a:latin typeface="Times New Roman" panose="020206030504050203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20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Terminology,  types  of  transducers,  principles  and  applications  of photovoltaic,  piezoelectric,  thermoelectric,  variable  resistance  and  opto-electronics transducers. Noise reduction in instrumentation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53295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FD882B-2819-885E-03D4-60C3127131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D398F09D-4FF5-4D69-86CA-BEE4D7115BDE}"/>
              </a:ext>
            </a:extLst>
          </p:cNvPr>
          <p:cNvSpPr/>
          <p:nvPr/>
        </p:nvSpPr>
        <p:spPr>
          <a:xfrm>
            <a:off x="0" y="6480143"/>
            <a:ext cx="12192000" cy="302260"/>
          </a:xfrm>
          <a:prstGeom prst="rect">
            <a:avLst/>
          </a:prstGeom>
          <a:solidFill>
            <a:srgbClr val="154E1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E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2C9B3DD-D9D2-90E9-6095-E4C8A7D33FE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443312"/>
            <a:ext cx="2743200" cy="365125"/>
          </a:xfrm>
        </p:spPr>
        <p:txBody>
          <a:bodyPr/>
          <a:lstStyle/>
          <a:p>
            <a:r>
              <a:rPr lang="en-US" sz="140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01/02/2026</a:t>
            </a:r>
            <a:endParaRPr lang="en-AE" sz="1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7402D05-36D2-4BF0-5C0A-0E53851072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443312"/>
            <a:ext cx="4114800" cy="365125"/>
          </a:xfrm>
        </p:spPr>
        <p:txBody>
          <a:bodyPr/>
          <a:lstStyle/>
          <a:p>
            <a:r>
              <a:rPr lang="en-US" sz="1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CSE, BAUET</a:t>
            </a:r>
            <a:endParaRPr lang="en-AE" sz="14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D066FF2-B958-3E3E-735B-AB68FB9397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443312"/>
            <a:ext cx="2743200" cy="365125"/>
          </a:xfrm>
        </p:spPr>
        <p:txBody>
          <a:bodyPr/>
          <a:lstStyle/>
          <a:p>
            <a:fld id="{E407BDCA-6C04-4DE3-905E-17E4BFE04F46}" type="slidenum">
              <a:rPr lang="en-AE" sz="140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fld>
            <a:endParaRPr lang="en-AE" sz="1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EDF8ECBA-B14E-6D69-1445-643B23A8B86E}"/>
              </a:ext>
            </a:extLst>
          </p:cNvPr>
          <p:cNvGrpSpPr/>
          <p:nvPr/>
        </p:nvGrpSpPr>
        <p:grpSpPr>
          <a:xfrm>
            <a:off x="0" y="92595"/>
            <a:ext cx="12191998" cy="830997"/>
            <a:chOff x="0" y="225907"/>
            <a:chExt cx="12191998" cy="830997"/>
          </a:xfrm>
        </p:grpSpPr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FF42584F-04D2-7973-6B01-06743DDCE372}"/>
                </a:ext>
              </a:extLst>
            </p:cNvPr>
            <p:cNvGrpSpPr/>
            <p:nvPr/>
          </p:nvGrpSpPr>
          <p:grpSpPr>
            <a:xfrm>
              <a:off x="0" y="225907"/>
              <a:ext cx="12191998" cy="830997"/>
              <a:chOff x="0" y="225907"/>
              <a:chExt cx="12191998" cy="830997"/>
            </a:xfrm>
          </p:grpSpPr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A2E67F99-5484-38FD-72AE-93EE8F4FE235}"/>
                  </a:ext>
                </a:extLst>
              </p:cNvPr>
              <p:cNvSpPr/>
              <p:nvPr/>
            </p:nvSpPr>
            <p:spPr>
              <a:xfrm>
                <a:off x="11080954" y="225907"/>
                <a:ext cx="1111044" cy="830997"/>
              </a:xfrm>
              <a:prstGeom prst="rect">
                <a:avLst/>
              </a:prstGeom>
              <a:solidFill>
                <a:schemeClr val="bg1"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AE">
                  <a:solidFill>
                    <a:schemeClr val="bg1"/>
                  </a:solidFill>
                </a:endParaRPr>
              </a:p>
            </p:txBody>
          </p:sp>
          <p:sp>
            <p:nvSpPr>
              <p:cNvPr id="13" name="object 2">
                <a:extLst>
                  <a:ext uri="{FF2B5EF4-FFF2-40B4-BE49-F238E27FC236}">
                    <a16:creationId xmlns:a16="http://schemas.microsoft.com/office/drawing/2014/main" id="{F6EA36CF-3D79-1A09-1C69-A4EEE1697A79}"/>
                  </a:ext>
                </a:extLst>
              </p:cNvPr>
              <p:cNvSpPr/>
              <p:nvPr/>
            </p:nvSpPr>
            <p:spPr>
              <a:xfrm>
                <a:off x="11313789" y="336886"/>
                <a:ext cx="645374" cy="638891"/>
              </a:xfrm>
              <a:prstGeom prst="rect">
                <a:avLst/>
              </a:prstGeom>
              <a:blipFill>
                <a:blip r:embed="rId2" cstate="print"/>
                <a:stretch>
                  <a:fillRect/>
                </a:stretch>
              </a:blipFill>
            </p:spPr>
            <p:txBody>
              <a:bodyPr wrap="square" lIns="0" tIns="0" rIns="0" bIns="0" rtlCol="0"/>
              <a:lstStyle/>
              <a:p>
                <a:endParaRPr dirty="0">
                  <a:effectLst>
                    <a:glow rad="228600">
                      <a:schemeClr val="accent1">
                        <a:satMod val="175000"/>
                        <a:alpha val="40000"/>
                      </a:schemeClr>
                    </a:glow>
                  </a:effectLst>
                </a:endParaRPr>
              </a:p>
            </p:txBody>
          </p:sp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6FC4384C-C05B-5816-C2C8-B9C8C0CA7AF8}"/>
                  </a:ext>
                </a:extLst>
              </p:cNvPr>
              <p:cNvSpPr/>
              <p:nvPr/>
            </p:nvSpPr>
            <p:spPr>
              <a:xfrm>
                <a:off x="0" y="225908"/>
                <a:ext cx="11080954" cy="830995"/>
              </a:xfrm>
              <a:prstGeom prst="rect">
                <a:avLst/>
              </a:prstGeom>
              <a:solidFill>
                <a:srgbClr val="154E1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AE"/>
              </a:p>
            </p:txBody>
          </p:sp>
        </p:grp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37219D76-3564-CA1D-9C69-A86546A68523}"/>
                </a:ext>
              </a:extLst>
            </p:cNvPr>
            <p:cNvSpPr txBox="1"/>
            <p:nvPr/>
          </p:nvSpPr>
          <p:spPr>
            <a:xfrm>
              <a:off x="249364" y="379795"/>
              <a:ext cx="10831589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28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Alternator</a:t>
              </a:r>
            </a:p>
          </p:txBody>
        </p:sp>
      </p:grpSp>
      <p:sp>
        <p:nvSpPr>
          <p:cNvPr id="15" name="TextBox 14">
            <a:extLst>
              <a:ext uri="{FF2B5EF4-FFF2-40B4-BE49-F238E27FC236}">
                <a16:creationId xmlns:a16="http://schemas.microsoft.com/office/drawing/2014/main" id="{351A3D57-6C87-E247-77F8-592BDA51C03B}"/>
              </a:ext>
            </a:extLst>
          </p:cNvPr>
          <p:cNvSpPr txBox="1"/>
          <p:nvPr/>
        </p:nvSpPr>
        <p:spPr>
          <a:xfrm>
            <a:off x="5921204" y="5734353"/>
            <a:ext cx="571527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Fig. 1: Alternator. </a:t>
            </a:r>
            <a:endParaRPr lang="en-AE" sz="2000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1B832DA-58A7-E0B8-B640-CE0D16E333AC}"/>
              </a:ext>
            </a:extLst>
          </p:cNvPr>
          <p:cNvSpPr txBox="1"/>
          <p:nvPr/>
        </p:nvSpPr>
        <p:spPr>
          <a:xfrm>
            <a:off x="249365" y="1669917"/>
            <a:ext cx="4993196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 alternator is an electrical machine that converts mechanical energy into electrical energy in the form of alternating current (AC).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operates on the principle of electromagnetic induction, where an electromotive force (EMF) is induced in a conductor when it cuts magnetic flux.</a:t>
            </a:r>
            <a:endParaRPr lang="en-AE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E1DD8128-EFB0-81A9-0564-E50298AC791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21205" y="1595613"/>
            <a:ext cx="5715271" cy="39843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554734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86083B-2400-2395-EDBD-C0E1D8E9C8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D5361A55-6204-C05F-6E25-C8200AAFBD2A}"/>
              </a:ext>
            </a:extLst>
          </p:cNvPr>
          <p:cNvSpPr/>
          <p:nvPr/>
        </p:nvSpPr>
        <p:spPr>
          <a:xfrm>
            <a:off x="0" y="6480143"/>
            <a:ext cx="12192000" cy="302260"/>
          </a:xfrm>
          <a:prstGeom prst="rect">
            <a:avLst/>
          </a:prstGeom>
          <a:solidFill>
            <a:srgbClr val="154E1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E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63EBA3B-4F8E-6A12-D82C-1B71BB617E9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443312"/>
            <a:ext cx="2743200" cy="365125"/>
          </a:xfrm>
        </p:spPr>
        <p:txBody>
          <a:bodyPr/>
          <a:lstStyle/>
          <a:p>
            <a:r>
              <a:rPr lang="en-US" sz="140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01/02/2026</a:t>
            </a:r>
            <a:endParaRPr lang="en-AE" sz="1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C26B369-E297-61E6-70C3-A71AC1CF54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443312"/>
            <a:ext cx="4114800" cy="365125"/>
          </a:xfrm>
        </p:spPr>
        <p:txBody>
          <a:bodyPr/>
          <a:lstStyle/>
          <a:p>
            <a:r>
              <a:rPr lang="en-US" sz="1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CSE, BAUET</a:t>
            </a:r>
            <a:endParaRPr lang="en-AE" sz="14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8340AB7-106D-B1E7-970D-20D20860A4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443312"/>
            <a:ext cx="2743200" cy="365125"/>
          </a:xfrm>
        </p:spPr>
        <p:txBody>
          <a:bodyPr/>
          <a:lstStyle/>
          <a:p>
            <a:fld id="{E407BDCA-6C04-4DE3-905E-17E4BFE04F46}" type="slidenum">
              <a:rPr lang="en-AE" sz="140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fld>
            <a:endParaRPr lang="en-AE" sz="1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89D144D6-C6C9-506B-D2F9-77BCE1BB1C28}"/>
              </a:ext>
            </a:extLst>
          </p:cNvPr>
          <p:cNvGrpSpPr/>
          <p:nvPr/>
        </p:nvGrpSpPr>
        <p:grpSpPr>
          <a:xfrm>
            <a:off x="0" y="92595"/>
            <a:ext cx="12191998" cy="830997"/>
            <a:chOff x="0" y="225907"/>
            <a:chExt cx="12191998" cy="830997"/>
          </a:xfrm>
        </p:grpSpPr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0821A6E0-3852-10CE-2C3C-2FDD940D052C}"/>
                </a:ext>
              </a:extLst>
            </p:cNvPr>
            <p:cNvGrpSpPr/>
            <p:nvPr/>
          </p:nvGrpSpPr>
          <p:grpSpPr>
            <a:xfrm>
              <a:off x="0" y="225907"/>
              <a:ext cx="12191998" cy="830997"/>
              <a:chOff x="0" y="225907"/>
              <a:chExt cx="12191998" cy="830997"/>
            </a:xfrm>
          </p:grpSpPr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0BE461A5-90F5-155A-7AC6-A8CEE358BE37}"/>
                  </a:ext>
                </a:extLst>
              </p:cNvPr>
              <p:cNvSpPr/>
              <p:nvPr/>
            </p:nvSpPr>
            <p:spPr>
              <a:xfrm>
                <a:off x="11080954" y="225907"/>
                <a:ext cx="1111044" cy="830997"/>
              </a:xfrm>
              <a:prstGeom prst="rect">
                <a:avLst/>
              </a:prstGeom>
              <a:solidFill>
                <a:schemeClr val="bg1"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AE">
                  <a:solidFill>
                    <a:schemeClr val="bg1"/>
                  </a:solidFill>
                </a:endParaRPr>
              </a:p>
            </p:txBody>
          </p:sp>
          <p:sp>
            <p:nvSpPr>
              <p:cNvPr id="13" name="object 2">
                <a:extLst>
                  <a:ext uri="{FF2B5EF4-FFF2-40B4-BE49-F238E27FC236}">
                    <a16:creationId xmlns:a16="http://schemas.microsoft.com/office/drawing/2014/main" id="{18937F23-7EC5-9478-9C76-77D9D9C8559D}"/>
                  </a:ext>
                </a:extLst>
              </p:cNvPr>
              <p:cNvSpPr/>
              <p:nvPr/>
            </p:nvSpPr>
            <p:spPr>
              <a:xfrm>
                <a:off x="11313789" y="336886"/>
                <a:ext cx="645374" cy="638891"/>
              </a:xfrm>
              <a:prstGeom prst="rect">
                <a:avLst/>
              </a:prstGeom>
              <a:blipFill>
                <a:blip r:embed="rId2" cstate="print"/>
                <a:stretch>
                  <a:fillRect/>
                </a:stretch>
              </a:blipFill>
            </p:spPr>
            <p:txBody>
              <a:bodyPr wrap="square" lIns="0" tIns="0" rIns="0" bIns="0" rtlCol="0"/>
              <a:lstStyle/>
              <a:p>
                <a:endParaRPr dirty="0">
                  <a:effectLst>
                    <a:glow rad="228600">
                      <a:schemeClr val="accent1">
                        <a:satMod val="175000"/>
                        <a:alpha val="40000"/>
                      </a:schemeClr>
                    </a:glow>
                  </a:effectLst>
                </a:endParaRPr>
              </a:p>
            </p:txBody>
          </p:sp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A929CBF5-1114-EA63-E29B-67FB08CEDE06}"/>
                  </a:ext>
                </a:extLst>
              </p:cNvPr>
              <p:cNvSpPr/>
              <p:nvPr/>
            </p:nvSpPr>
            <p:spPr>
              <a:xfrm>
                <a:off x="0" y="225908"/>
                <a:ext cx="11080954" cy="830995"/>
              </a:xfrm>
              <a:prstGeom prst="rect">
                <a:avLst/>
              </a:prstGeom>
              <a:solidFill>
                <a:srgbClr val="154E1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AE"/>
              </a:p>
            </p:txBody>
          </p:sp>
        </p:grp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73CB2284-F787-BB7F-ED56-33EA4297BA84}"/>
                </a:ext>
              </a:extLst>
            </p:cNvPr>
            <p:cNvSpPr txBox="1"/>
            <p:nvPr/>
          </p:nvSpPr>
          <p:spPr>
            <a:xfrm>
              <a:off x="249364" y="379795"/>
              <a:ext cx="10831589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28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Speed and Frequency</a:t>
              </a:r>
            </a:p>
          </p:txBody>
        </p:sp>
      </p:grpSp>
      <p:sp>
        <p:nvSpPr>
          <p:cNvPr id="15" name="TextBox 14">
            <a:extLst>
              <a:ext uri="{FF2B5EF4-FFF2-40B4-BE49-F238E27FC236}">
                <a16:creationId xmlns:a16="http://schemas.microsoft.com/office/drawing/2014/main" id="{35015AAE-C39B-753D-53A0-E9D0949D391F}"/>
              </a:ext>
            </a:extLst>
          </p:cNvPr>
          <p:cNvSpPr txBox="1"/>
          <p:nvPr/>
        </p:nvSpPr>
        <p:spPr>
          <a:xfrm>
            <a:off x="5921205" y="3359464"/>
            <a:ext cx="570150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Fig. 1: Pole number. </a:t>
            </a:r>
            <a:endParaRPr lang="en-AE" sz="2000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3B9F40DA-C772-5143-E4FB-147B161BA90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9364" y="1334311"/>
            <a:ext cx="4441101" cy="1134371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B301715C-E78E-9E67-92A0-B2E4B480020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21204" y="1206743"/>
            <a:ext cx="5701508" cy="2076740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74ECEE69-A2DF-6B9E-CE34-D2580A62843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49364" y="2663671"/>
            <a:ext cx="1874404" cy="826601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D9867703-FAF8-D769-B2F3-4D5C345294B4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t="54440"/>
          <a:stretch>
            <a:fillRect/>
          </a:stretch>
        </p:blipFill>
        <p:spPr>
          <a:xfrm>
            <a:off x="249364" y="4693524"/>
            <a:ext cx="11393490" cy="1223926"/>
          </a:xfrm>
          <a:prstGeom prst="rect">
            <a:avLst/>
          </a:prstGeom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F8654C67-AAEB-365E-F221-8B8CBE8DA96F}"/>
              </a:ext>
            </a:extLst>
          </p:cNvPr>
          <p:cNvSpPr txBox="1"/>
          <p:nvPr/>
        </p:nvSpPr>
        <p:spPr>
          <a:xfrm>
            <a:off x="249364" y="4248606"/>
            <a:ext cx="238078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Example: f=60Hz</a:t>
            </a:r>
            <a:endParaRPr lang="en-AE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294AEB0A-0A68-97B0-BBEA-3D5CC8F67058}"/>
              </a:ext>
            </a:extLst>
          </p:cNvPr>
          <p:cNvSpPr/>
          <p:nvPr/>
        </p:nvSpPr>
        <p:spPr>
          <a:xfrm>
            <a:off x="2939845" y="5368413"/>
            <a:ext cx="845574" cy="373626"/>
          </a:xfrm>
          <a:prstGeom prst="rect">
            <a:avLst/>
          </a:prstGeom>
          <a:solidFill>
            <a:srgbClr val="FFEFE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E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F7FD3931-A706-3B55-3E14-D91F5EE668C3}"/>
              </a:ext>
            </a:extLst>
          </p:cNvPr>
          <p:cNvSpPr/>
          <p:nvPr/>
        </p:nvSpPr>
        <p:spPr>
          <a:xfrm>
            <a:off x="4498258" y="5368413"/>
            <a:ext cx="845574" cy="373626"/>
          </a:xfrm>
          <a:prstGeom prst="rect">
            <a:avLst/>
          </a:prstGeom>
          <a:solidFill>
            <a:srgbClr val="FFEFE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E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A9E49500-DAFF-F42A-3683-7FD5BFA05A60}"/>
              </a:ext>
            </a:extLst>
          </p:cNvPr>
          <p:cNvSpPr/>
          <p:nvPr/>
        </p:nvSpPr>
        <p:spPr>
          <a:xfrm>
            <a:off x="6096000" y="5385058"/>
            <a:ext cx="845574" cy="373626"/>
          </a:xfrm>
          <a:prstGeom prst="rect">
            <a:avLst/>
          </a:prstGeom>
          <a:solidFill>
            <a:srgbClr val="FFEFE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E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6F9AA2DB-FE67-9E8C-C026-ADBC21A5ADCE}"/>
              </a:ext>
            </a:extLst>
          </p:cNvPr>
          <p:cNvSpPr/>
          <p:nvPr/>
        </p:nvSpPr>
        <p:spPr>
          <a:xfrm>
            <a:off x="7765026" y="5368413"/>
            <a:ext cx="845574" cy="373626"/>
          </a:xfrm>
          <a:prstGeom prst="rect">
            <a:avLst/>
          </a:prstGeom>
          <a:solidFill>
            <a:srgbClr val="FFEFE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E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603E7A2C-53DE-AAAE-A21D-4EB418763E67}"/>
              </a:ext>
            </a:extLst>
          </p:cNvPr>
          <p:cNvSpPr/>
          <p:nvPr/>
        </p:nvSpPr>
        <p:spPr>
          <a:xfrm>
            <a:off x="9205451" y="5385058"/>
            <a:ext cx="845574" cy="373626"/>
          </a:xfrm>
          <a:prstGeom prst="rect">
            <a:avLst/>
          </a:prstGeom>
          <a:solidFill>
            <a:srgbClr val="FFEFE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E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0E6404E2-8DD5-469E-AEC1-34B161F95E5E}"/>
              </a:ext>
            </a:extLst>
          </p:cNvPr>
          <p:cNvSpPr/>
          <p:nvPr/>
        </p:nvSpPr>
        <p:spPr>
          <a:xfrm>
            <a:off x="10609007" y="5428059"/>
            <a:ext cx="845574" cy="373626"/>
          </a:xfrm>
          <a:prstGeom prst="rect">
            <a:avLst/>
          </a:prstGeom>
          <a:solidFill>
            <a:srgbClr val="FFEFE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3341183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02C27A-417B-CD61-0BE7-BFFB685513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8C624BD9-0022-8942-6A3D-68464DFF56D2}"/>
              </a:ext>
            </a:extLst>
          </p:cNvPr>
          <p:cNvSpPr/>
          <p:nvPr/>
        </p:nvSpPr>
        <p:spPr>
          <a:xfrm>
            <a:off x="0" y="6480143"/>
            <a:ext cx="12192000" cy="302260"/>
          </a:xfrm>
          <a:prstGeom prst="rect">
            <a:avLst/>
          </a:prstGeom>
          <a:solidFill>
            <a:srgbClr val="154E1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E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48902D9-EED3-B01F-5EE8-4636E6008A5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443312"/>
            <a:ext cx="2743200" cy="365125"/>
          </a:xfrm>
        </p:spPr>
        <p:txBody>
          <a:bodyPr/>
          <a:lstStyle/>
          <a:p>
            <a:r>
              <a:rPr lang="en-US" sz="140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01/02/2026</a:t>
            </a:r>
            <a:endParaRPr lang="en-AE" sz="1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6505B7C-9D42-3366-5522-B5FD56DBED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443312"/>
            <a:ext cx="4114800" cy="365125"/>
          </a:xfrm>
        </p:spPr>
        <p:txBody>
          <a:bodyPr/>
          <a:lstStyle/>
          <a:p>
            <a:r>
              <a:rPr lang="en-US" sz="1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CSE, BAUET</a:t>
            </a:r>
            <a:endParaRPr lang="en-AE" sz="14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42E9CD6-9E23-8648-5D1E-EA3231BF5D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443312"/>
            <a:ext cx="2743200" cy="365125"/>
          </a:xfrm>
        </p:spPr>
        <p:txBody>
          <a:bodyPr/>
          <a:lstStyle/>
          <a:p>
            <a:fld id="{E407BDCA-6C04-4DE3-905E-17E4BFE04F46}" type="slidenum">
              <a:rPr lang="en-AE" sz="140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fld>
            <a:endParaRPr lang="en-AE" sz="1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76EE6A28-7691-B172-D826-26F7F719805C}"/>
              </a:ext>
            </a:extLst>
          </p:cNvPr>
          <p:cNvGrpSpPr/>
          <p:nvPr/>
        </p:nvGrpSpPr>
        <p:grpSpPr>
          <a:xfrm>
            <a:off x="0" y="92595"/>
            <a:ext cx="12191998" cy="830997"/>
            <a:chOff x="0" y="225907"/>
            <a:chExt cx="12191998" cy="830997"/>
          </a:xfrm>
        </p:grpSpPr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D1977C20-C957-A8D9-81BC-8B4E6859D214}"/>
                </a:ext>
              </a:extLst>
            </p:cNvPr>
            <p:cNvGrpSpPr/>
            <p:nvPr/>
          </p:nvGrpSpPr>
          <p:grpSpPr>
            <a:xfrm>
              <a:off x="0" y="225907"/>
              <a:ext cx="12191998" cy="830997"/>
              <a:chOff x="0" y="225907"/>
              <a:chExt cx="12191998" cy="830997"/>
            </a:xfrm>
          </p:grpSpPr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11F9115D-0C37-6C3C-0997-B45DB72F6CB8}"/>
                  </a:ext>
                </a:extLst>
              </p:cNvPr>
              <p:cNvSpPr/>
              <p:nvPr/>
            </p:nvSpPr>
            <p:spPr>
              <a:xfrm>
                <a:off x="11080954" y="225907"/>
                <a:ext cx="1111044" cy="830997"/>
              </a:xfrm>
              <a:prstGeom prst="rect">
                <a:avLst/>
              </a:prstGeom>
              <a:solidFill>
                <a:schemeClr val="bg1"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AE">
                  <a:solidFill>
                    <a:schemeClr val="bg1"/>
                  </a:solidFill>
                </a:endParaRPr>
              </a:p>
            </p:txBody>
          </p:sp>
          <p:sp>
            <p:nvSpPr>
              <p:cNvPr id="13" name="object 2">
                <a:extLst>
                  <a:ext uri="{FF2B5EF4-FFF2-40B4-BE49-F238E27FC236}">
                    <a16:creationId xmlns:a16="http://schemas.microsoft.com/office/drawing/2014/main" id="{3FEA1AC0-4D8F-5F9E-7290-7B105F7D0EA8}"/>
                  </a:ext>
                </a:extLst>
              </p:cNvPr>
              <p:cNvSpPr/>
              <p:nvPr/>
            </p:nvSpPr>
            <p:spPr>
              <a:xfrm>
                <a:off x="11313789" y="336886"/>
                <a:ext cx="645374" cy="638891"/>
              </a:xfrm>
              <a:prstGeom prst="rect">
                <a:avLst/>
              </a:prstGeom>
              <a:blipFill>
                <a:blip r:embed="rId2" cstate="print"/>
                <a:stretch>
                  <a:fillRect/>
                </a:stretch>
              </a:blipFill>
            </p:spPr>
            <p:txBody>
              <a:bodyPr wrap="square" lIns="0" tIns="0" rIns="0" bIns="0" rtlCol="0"/>
              <a:lstStyle/>
              <a:p>
                <a:endParaRPr dirty="0">
                  <a:effectLst>
                    <a:glow rad="228600">
                      <a:schemeClr val="accent1">
                        <a:satMod val="175000"/>
                        <a:alpha val="40000"/>
                      </a:schemeClr>
                    </a:glow>
                  </a:effectLst>
                </a:endParaRPr>
              </a:p>
            </p:txBody>
          </p:sp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A2D05790-36AB-6987-866A-D8DAC618436E}"/>
                  </a:ext>
                </a:extLst>
              </p:cNvPr>
              <p:cNvSpPr/>
              <p:nvPr/>
            </p:nvSpPr>
            <p:spPr>
              <a:xfrm>
                <a:off x="0" y="225908"/>
                <a:ext cx="11080954" cy="830995"/>
              </a:xfrm>
              <a:prstGeom prst="rect">
                <a:avLst/>
              </a:prstGeom>
              <a:solidFill>
                <a:srgbClr val="154E1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AE"/>
              </a:p>
            </p:txBody>
          </p:sp>
        </p:grp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B95F318A-EA80-FB16-EC57-39A858098D75}"/>
                </a:ext>
              </a:extLst>
            </p:cNvPr>
            <p:cNvSpPr txBox="1"/>
            <p:nvPr/>
          </p:nvSpPr>
          <p:spPr>
            <a:xfrm>
              <a:off x="249364" y="379795"/>
              <a:ext cx="10831589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28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Factors Affecting Alternator Size</a:t>
              </a:r>
            </a:p>
          </p:txBody>
        </p:sp>
      </p:grpSp>
      <p:sp>
        <p:nvSpPr>
          <p:cNvPr id="25" name="TextBox 24">
            <a:extLst>
              <a:ext uri="{FF2B5EF4-FFF2-40B4-BE49-F238E27FC236}">
                <a16:creationId xmlns:a16="http://schemas.microsoft.com/office/drawing/2014/main" id="{DD7774D4-A928-4836-BF93-6BD46D398E77}"/>
              </a:ext>
            </a:extLst>
          </p:cNvPr>
          <p:cNvSpPr txBox="1"/>
          <p:nvPr/>
        </p:nvSpPr>
        <p:spPr>
          <a:xfrm>
            <a:off x="249364" y="1322526"/>
            <a:ext cx="1137334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xxx</a:t>
            </a:r>
            <a:endParaRPr lang="en-AE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6099755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1E61A4-AB6E-A278-E784-0CDA46603B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9A8E32E1-AA39-EBCA-1CE9-A5135DAAA727}"/>
              </a:ext>
            </a:extLst>
          </p:cNvPr>
          <p:cNvSpPr/>
          <p:nvPr/>
        </p:nvSpPr>
        <p:spPr>
          <a:xfrm>
            <a:off x="0" y="6480143"/>
            <a:ext cx="12192000" cy="302260"/>
          </a:xfrm>
          <a:prstGeom prst="rect">
            <a:avLst/>
          </a:prstGeom>
          <a:solidFill>
            <a:srgbClr val="154E1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E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8D82CB8-D25E-4789-89CA-629BAC8172E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443312"/>
            <a:ext cx="2743200" cy="365125"/>
          </a:xfrm>
        </p:spPr>
        <p:txBody>
          <a:bodyPr/>
          <a:lstStyle/>
          <a:p>
            <a:r>
              <a:rPr lang="en-US" sz="140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01/02/2026</a:t>
            </a:r>
            <a:endParaRPr lang="en-AE" sz="1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3BED1AA-02E9-86EE-EF2A-9C269F8757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443312"/>
            <a:ext cx="4114800" cy="365125"/>
          </a:xfrm>
        </p:spPr>
        <p:txBody>
          <a:bodyPr/>
          <a:lstStyle/>
          <a:p>
            <a:r>
              <a:rPr lang="en-US" sz="1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CSE, BAUET</a:t>
            </a:r>
            <a:endParaRPr lang="en-AE" sz="14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DC04DEE-4D59-82EC-4293-03675B1214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443312"/>
            <a:ext cx="2743200" cy="365125"/>
          </a:xfrm>
        </p:spPr>
        <p:txBody>
          <a:bodyPr/>
          <a:lstStyle/>
          <a:p>
            <a:fld id="{E407BDCA-6C04-4DE3-905E-17E4BFE04F46}" type="slidenum">
              <a:rPr lang="en-AE" sz="140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fld>
            <a:endParaRPr lang="en-AE" sz="1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11FC808C-1400-1586-F523-5CDCD2C90E53}"/>
              </a:ext>
            </a:extLst>
          </p:cNvPr>
          <p:cNvGrpSpPr/>
          <p:nvPr/>
        </p:nvGrpSpPr>
        <p:grpSpPr>
          <a:xfrm>
            <a:off x="0" y="92595"/>
            <a:ext cx="12191998" cy="830997"/>
            <a:chOff x="0" y="225907"/>
            <a:chExt cx="12191998" cy="830997"/>
          </a:xfrm>
        </p:grpSpPr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556BE1BE-E3DD-AA0B-73AB-727BE360C0EF}"/>
                </a:ext>
              </a:extLst>
            </p:cNvPr>
            <p:cNvGrpSpPr/>
            <p:nvPr/>
          </p:nvGrpSpPr>
          <p:grpSpPr>
            <a:xfrm>
              <a:off x="0" y="225907"/>
              <a:ext cx="12191998" cy="830997"/>
              <a:chOff x="0" y="225907"/>
              <a:chExt cx="12191998" cy="830997"/>
            </a:xfrm>
          </p:grpSpPr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771CC859-063F-7FF7-B771-53FF41EDA945}"/>
                  </a:ext>
                </a:extLst>
              </p:cNvPr>
              <p:cNvSpPr/>
              <p:nvPr/>
            </p:nvSpPr>
            <p:spPr>
              <a:xfrm>
                <a:off x="11080954" y="225907"/>
                <a:ext cx="1111044" cy="830997"/>
              </a:xfrm>
              <a:prstGeom prst="rect">
                <a:avLst/>
              </a:prstGeom>
              <a:solidFill>
                <a:schemeClr val="bg1"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AE">
                  <a:solidFill>
                    <a:schemeClr val="bg1"/>
                  </a:solidFill>
                </a:endParaRPr>
              </a:p>
            </p:txBody>
          </p:sp>
          <p:sp>
            <p:nvSpPr>
              <p:cNvPr id="13" name="object 2">
                <a:extLst>
                  <a:ext uri="{FF2B5EF4-FFF2-40B4-BE49-F238E27FC236}">
                    <a16:creationId xmlns:a16="http://schemas.microsoft.com/office/drawing/2014/main" id="{DD02A3DA-B7B7-98EB-F500-BBAF71FBD6BE}"/>
                  </a:ext>
                </a:extLst>
              </p:cNvPr>
              <p:cNvSpPr/>
              <p:nvPr/>
            </p:nvSpPr>
            <p:spPr>
              <a:xfrm>
                <a:off x="11313789" y="336886"/>
                <a:ext cx="645374" cy="638891"/>
              </a:xfrm>
              <a:prstGeom prst="rect">
                <a:avLst/>
              </a:prstGeom>
              <a:blipFill>
                <a:blip r:embed="rId2" cstate="print"/>
                <a:stretch>
                  <a:fillRect/>
                </a:stretch>
              </a:blipFill>
            </p:spPr>
            <p:txBody>
              <a:bodyPr wrap="square" lIns="0" tIns="0" rIns="0" bIns="0" rtlCol="0"/>
              <a:lstStyle/>
              <a:p>
                <a:endParaRPr dirty="0">
                  <a:effectLst>
                    <a:glow rad="228600">
                      <a:schemeClr val="accent1">
                        <a:satMod val="175000"/>
                        <a:alpha val="40000"/>
                      </a:schemeClr>
                    </a:glow>
                  </a:effectLst>
                </a:endParaRPr>
              </a:p>
            </p:txBody>
          </p:sp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C8E84295-1ACC-8FFE-6602-6E3F7407D0D7}"/>
                  </a:ext>
                </a:extLst>
              </p:cNvPr>
              <p:cNvSpPr/>
              <p:nvPr/>
            </p:nvSpPr>
            <p:spPr>
              <a:xfrm>
                <a:off x="0" y="225908"/>
                <a:ext cx="11080954" cy="830995"/>
              </a:xfrm>
              <a:prstGeom prst="rect">
                <a:avLst/>
              </a:prstGeom>
              <a:solidFill>
                <a:srgbClr val="154E1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AE"/>
              </a:p>
            </p:txBody>
          </p:sp>
        </p:grp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9FA0F874-90A7-0F50-8BB0-A439D1C551AF}"/>
                </a:ext>
              </a:extLst>
            </p:cNvPr>
            <p:cNvSpPr txBox="1"/>
            <p:nvPr/>
          </p:nvSpPr>
          <p:spPr>
            <a:xfrm>
              <a:off x="249364" y="379795"/>
              <a:ext cx="10831589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28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Voltage Regulation</a:t>
              </a:r>
            </a:p>
          </p:txBody>
        </p:sp>
      </p:grpSp>
      <p:sp>
        <p:nvSpPr>
          <p:cNvPr id="25" name="TextBox 24">
            <a:extLst>
              <a:ext uri="{FF2B5EF4-FFF2-40B4-BE49-F238E27FC236}">
                <a16:creationId xmlns:a16="http://schemas.microsoft.com/office/drawing/2014/main" id="{2814EC24-8052-21F9-F06F-76780C020670}"/>
              </a:ext>
            </a:extLst>
          </p:cNvPr>
          <p:cNvSpPr txBox="1"/>
          <p:nvPr/>
        </p:nvSpPr>
        <p:spPr>
          <a:xfrm>
            <a:off x="249364" y="1322526"/>
            <a:ext cx="1137334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xxx</a:t>
            </a:r>
            <a:endParaRPr lang="en-AE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5670078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60875D-E5DE-8EC0-1BDC-C0D893A96B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71375C52-09D7-0BD1-4100-BA1EDC00E73F}"/>
              </a:ext>
            </a:extLst>
          </p:cNvPr>
          <p:cNvSpPr txBox="1"/>
          <p:nvPr/>
        </p:nvSpPr>
        <p:spPr>
          <a:xfrm>
            <a:off x="4189066" y="2667253"/>
            <a:ext cx="3813865" cy="152349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6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</a:p>
          <a:p>
            <a:pPr algn="ctr"/>
            <a:r>
              <a:rPr lang="en-US" sz="33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For Your Attention</a:t>
            </a:r>
          </a:p>
        </p:txBody>
      </p:sp>
    </p:spTree>
    <p:extLst>
      <p:ext uri="{BB962C8B-B14F-4D97-AF65-F5344CB8AC3E}">
        <p14:creationId xmlns:p14="http://schemas.microsoft.com/office/powerpoint/2010/main" val="150778402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928</TotalTime>
  <Words>268</Words>
  <Application>Microsoft Office PowerPoint</Application>
  <PresentationFormat>Widescreen</PresentationFormat>
  <Paragraphs>50</Paragraphs>
  <Slides>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3" baseType="lpstr">
      <vt:lpstr>Arial</vt:lpstr>
      <vt:lpstr>Arial Black</vt:lpstr>
      <vt:lpstr>Calibri</vt:lpstr>
      <vt:lpstr>Calibri Light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S. M. Ashik Al Mashrafi</dc:creator>
  <cp:lastModifiedBy>S. M. Ashik Al Mashrafi</cp:lastModifiedBy>
  <cp:revision>143</cp:revision>
  <dcterms:created xsi:type="dcterms:W3CDTF">2025-07-26T10:31:05Z</dcterms:created>
  <dcterms:modified xsi:type="dcterms:W3CDTF">2026-02-18T03:15:05Z</dcterms:modified>
</cp:coreProperties>
</file>