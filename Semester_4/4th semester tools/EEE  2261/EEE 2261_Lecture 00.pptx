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7"/>
  </p:notesMasterIdLst>
  <p:sldIdLst>
    <p:sldId id="263" r:id="rId2"/>
    <p:sldId id="265" r:id="rId3"/>
    <p:sldId id="267" r:id="rId4"/>
    <p:sldId id="268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374A"/>
    <a:srgbClr val="2986F5"/>
    <a:srgbClr val="154E10"/>
    <a:srgbClr val="548235"/>
    <a:srgbClr val="D4B309"/>
    <a:srgbClr val="004101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43" autoAdjust="0"/>
    <p:restoredTop sz="94660"/>
  </p:normalViewPr>
  <p:slideViewPr>
    <p:cSldViewPr snapToGrid="0">
      <p:cViewPr>
        <p:scale>
          <a:sx n="66" d="100"/>
          <a:sy n="66" d="100"/>
        </p:scale>
        <p:origin x="78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FE013-CA25-47D5-A3CA-40C6CCB1980D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03FC4-7E90-4A4D-B9BE-3E3B19ADB2B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17482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A0E7-2ACB-3AD6-7A52-99E43E2F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CF644-4E22-4251-B51F-C031EA08D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35572-C2B3-8B71-B357-5C368C55D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11CAC-6691-CAEE-2848-379B5CC36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03FC4-7E90-4A4D-B9BE-3E3B19ADB2BE}" type="slidenum">
              <a:rPr lang="en-AE" smtClean="0"/>
              <a:t>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19276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9AE9-4CE0-8D35-CFD0-14860AF73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B3785-05F0-D3D3-FEA6-C6A34A65B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D4CFA-8F21-872E-0FB8-CB8A3E141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97036-48F0-AFD7-A516-D1F20BBC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EE955-2054-AC07-C669-C2AD9CAE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3812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E0A6-970C-349B-85A7-129CBABD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B6CC-9BCA-5D16-1304-808D0E083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72ED1-9492-9405-6343-9048603A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86045-04EF-D507-D3EB-676F0EDF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1D6B0-80F2-5162-DEDE-C9AF421A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596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6CE5-68A0-CE57-F555-9354E94C9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259EE-3894-81C3-1C2D-A0C1381FA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86821-C52C-1639-3420-9102C910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95700-D01B-2F2D-2D8E-836CF2658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D4D55-8F7E-7450-4682-582C4131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7281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7B6D-2269-B0B8-AE5A-7E61CC3B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3DF18-22AB-95D2-6975-594959664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8AA14-9EE3-FCC8-A879-5A0AFC758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CA36E-0BD4-2C5F-65B3-0833A013D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87DCF-71BC-D13D-190E-68CEF97A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DA933-5CD1-9E4C-EB2A-B82BAE6A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2341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FAD46-28D5-C95F-D682-481DE22B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96BA3-5526-EB1B-99FB-0767C715E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CE715-3397-5E0F-573E-E2C267084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1A2BB-FD2F-8093-33E0-6A83D46BD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217CB4-8C4D-7653-E174-AB249FD4EE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B05505-F43F-2BA7-8852-2C57C1B0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88E68-E215-05D3-793E-0DDD76A71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DEEF46-4E46-9FB0-8A05-4947E249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9561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A0DF-AAC5-3B04-0E5C-A20192A79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255A2-00E2-2264-8909-D4ED17738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24C93-047F-1636-44B4-E998B308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3B603-E7C9-C7EC-45CA-3331E0259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7421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0F47B1-0D87-826D-C939-6DD0DA97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CC093-BFB0-4CD2-10BD-B69F9D92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3D88B-2189-0E63-3CEA-527B657B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4906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39EE-5F0D-EF0C-C327-42D31FD6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B883-71A5-2EC4-9179-08FA3DD3F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60CBB-2FDD-6B1F-06E2-47D761328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895F2-9072-931C-7193-7B7E63B5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47C83-1249-57FE-AFC1-C4345FD4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3804F-31BC-14A0-E5DB-780AC7C4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52721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C8D4-53DD-6C83-3FC6-0382BFD6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2DD3D-509F-ED28-2B51-8E06ACFC6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08984-517B-3836-F931-469F82BD8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3E406-2FE5-3E37-F592-B5F099B3F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A0A20-0B1C-F85F-E0B9-908047AE6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F103D-3958-2A70-0395-51CF78C4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04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D840-3BE4-A51F-B875-8D9B526E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D5D4A-D2F4-562B-DD70-3906C8307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221D-2087-3904-EC97-9C89D3C6A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36333-7792-7193-74B7-67F7CEED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602A1-06CF-4FA2-0CC2-5CF34AD3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4237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BEF0C3-E988-167C-ADFB-CB590DDA7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2ADBC-C152-41F4-E0E2-E63B1A73A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22A6D-AA5F-1F9A-591D-B16754F6F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A640-25F1-40E8-B0AA-532BA55561D7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FF5DD-D699-F48F-C84C-F5FFC328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1F98-18BE-189D-8FAA-0974840D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0758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77B0A-AF37-95F4-0B6B-42A3DBD9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26289-8198-FE45-E688-735246C0C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22DAB-FFA2-3F6F-F390-13AD02012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8A640-25F1-40E8-B0AA-532BA55561D7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EBFCC-5305-40AC-B83B-89E8ECA8B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4C4F0-1D23-F7C5-F90F-BC1B32B4C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8998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6FBDF-3E7C-4C31-6DE4-B72761D0E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23AAC3B-65CB-D4A9-34F4-21E8C41351B6}"/>
              </a:ext>
            </a:extLst>
          </p:cNvPr>
          <p:cNvSpPr/>
          <p:nvPr/>
        </p:nvSpPr>
        <p:spPr>
          <a:xfrm>
            <a:off x="5490410" y="188276"/>
            <a:ext cx="1211180" cy="11990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961E5-478F-A79B-43A8-F70980DE0B54}"/>
              </a:ext>
            </a:extLst>
          </p:cNvPr>
          <p:cNvSpPr txBox="1"/>
          <p:nvPr/>
        </p:nvSpPr>
        <p:spPr>
          <a:xfrm>
            <a:off x="0" y="1562939"/>
            <a:ext cx="12192000" cy="1323439"/>
          </a:xfrm>
          <a:prstGeom prst="rect">
            <a:avLst/>
          </a:prstGeom>
          <a:solidFill>
            <a:srgbClr val="004101">
              <a:alpha val="90000"/>
            </a:srgbClr>
          </a:solidFill>
        </p:spPr>
        <p:txBody>
          <a:bodyPr wrap="square">
            <a:spAutoFit/>
          </a:bodyPr>
          <a:lstStyle/>
          <a:p>
            <a:pPr algn="ctr"/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University of Engineering &amp; Technology</a:t>
            </a:r>
          </a:p>
          <a:p>
            <a:pPr algn="ctr"/>
            <a:r>
              <a:rPr lang="en-US" altLang="en-US" sz="3200" b="1" kern="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/>
            <a:endParaRPr lang="en-US" altLang="en-US" sz="1000" b="1" kern="0" dirty="0">
              <a:solidFill>
                <a:srgbClr val="D4B30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8795D7-68E5-7035-9CFE-91863161DD9C}"/>
              </a:ext>
            </a:extLst>
          </p:cNvPr>
          <p:cNvSpPr txBox="1"/>
          <p:nvPr/>
        </p:nvSpPr>
        <p:spPr>
          <a:xfrm>
            <a:off x="0" y="3017516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Clr>
                <a:srgbClr val="0C0C0C"/>
              </a:buClr>
              <a:buSzPts val="4400"/>
              <a:buFont typeface="Arial Black"/>
              <a:buNone/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EEE 2261: Electrical Drives and Instrumentation</a:t>
            </a:r>
          </a:p>
          <a:p>
            <a:pPr algn="ctr" rtl="0">
              <a:buClr>
                <a:srgbClr val="0C0C0C"/>
              </a:buClr>
              <a:buSzPts val="4400"/>
              <a:buFont typeface="Arial Black"/>
              <a:buNone/>
            </a:pPr>
            <a:r>
              <a:rPr lang="en-US" sz="2800" b="1" dirty="0">
                <a:solidFill>
                  <a:srgbClr val="5482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Winter 2025 Semester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6C97A6-7890-73CE-1442-7F163C2457CD}"/>
              </a:ext>
            </a:extLst>
          </p:cNvPr>
          <p:cNvSpPr txBox="1"/>
          <p:nvPr/>
        </p:nvSpPr>
        <p:spPr>
          <a:xfrm>
            <a:off x="0" y="3971623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Lecture-00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3C93F6-5797-B729-4B18-6818906D95C4}"/>
              </a:ext>
            </a:extLst>
          </p:cNvPr>
          <p:cNvSpPr txBox="1"/>
          <p:nvPr/>
        </p:nvSpPr>
        <p:spPr>
          <a:xfrm>
            <a:off x="0" y="629752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8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Credit</a:t>
            </a:r>
            <a:r>
              <a:rPr lang="en-US" altLang="en-US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18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3.0		Credit Taking: </a:t>
            </a:r>
            <a:r>
              <a:rPr lang="en-US" altLang="en-US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3.0</a:t>
            </a:r>
            <a:endParaRPr lang="en-US" altLang="en-US" sz="1600" b="1" kern="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5D4C92-EC56-E8EF-1BD7-F12CC3801517}"/>
              </a:ext>
            </a:extLst>
          </p:cNvPr>
          <p:cNvSpPr txBox="1"/>
          <p:nvPr/>
        </p:nvSpPr>
        <p:spPr>
          <a:xfrm>
            <a:off x="3667761" y="4772001"/>
            <a:ext cx="4856479" cy="1300356"/>
          </a:xfrm>
          <a:prstGeom prst="rect">
            <a:avLst/>
          </a:prstGeom>
          <a:solidFill>
            <a:srgbClr val="004101">
              <a:alpha val="10000"/>
            </a:srgbClr>
          </a:solidFill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endParaRPr lang="en-US" altLang="en-US" sz="500" b="1" kern="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"/>
              </a:spcAft>
            </a:pPr>
            <a:r>
              <a:rPr lang="en-US" altLang="en-US" sz="20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Teacher</a:t>
            </a:r>
          </a:p>
          <a:p>
            <a:pPr algn="ctr">
              <a:spcAft>
                <a:spcPts val="300"/>
              </a:spcAft>
            </a:pPr>
            <a:r>
              <a:rPr lang="en-US" altLang="en-US" b="1" kern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M. Ashik Al Mashrafi</a:t>
            </a:r>
          </a:p>
          <a:p>
            <a:pPr algn="ctr">
              <a:spcAft>
                <a:spcPts val="300"/>
              </a:spcAft>
            </a:pPr>
            <a:r>
              <a:rPr lang="en-US" altLang="en-US" b="1" kern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Lecturer, EEE, BAUET</a:t>
            </a:r>
          </a:p>
          <a:p>
            <a:pPr algn="ctr"/>
            <a:endParaRPr lang="en-US" altLang="en-US" sz="500" b="1" kern="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629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6C03F-1D48-DA2D-BC6F-B230E513F332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4046E-EC44-FE27-7488-4BEF0C48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AE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330AF-B0B4-48F4-9699-52FEF036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02F26-57C8-F92D-E92A-FB8AF85C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807FC9B-4BFF-0C3A-C226-30745EBB849A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96757BF-5012-9536-9DD1-71121A3472F3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AAA7ABA-FEFA-CD6A-BDC7-563720AC78DE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7512CC8B-DDA4-59C2-FC3E-4581E586BA67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F09B41-ADF4-770A-EB6E-CFEFCE44654B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DD0AA4-E205-A8BB-ECF1-B179E557E8D1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Course Content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C000F72-B9C9-41A1-EE29-910556380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807678"/>
              </p:ext>
            </p:extLst>
          </p:nvPr>
        </p:nvGraphicFramePr>
        <p:xfrm>
          <a:off x="591151" y="1345233"/>
          <a:ext cx="11009698" cy="476343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85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4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4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Chapter</a:t>
                      </a:r>
                    </a:p>
                  </a:txBody>
                  <a:tcPr marL="56108" marR="56108" marT="28023" marB="280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r>
                        <a:rPr lang="en-US" sz="22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08" marR="56108" marT="28023" marB="280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Three   phase   circuits,   alternators   and transformers,   principles   &amp; operation  of  DC  Machines,  synchronous,  induction,  universal  and  stepper  motors, thyristor and microprocessor-based speed control of motors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Instrumentation   Amplifiers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Differential,   logarithmic,   and   chopper   amplifiers, frequency and voltage  measurements using digital techniques, recorders and display devices,  spectrum  analyzers  and  logic  analyzers,  data  acquisition  and  interfacing  to microprocessor-based systems;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Transducers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Terminology,  types  of  transducers,  principles  and  applications  of photovoltaic,  piezoelectric,  thermoelectric,  variable  resistance  and  opto-electronics transducers. Noise reduction in instrumentation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2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D882B-2819-885E-03D4-60C31271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98F09D-4FF5-4D69-86CA-BEE4D7115BDE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9B3DD-D9D2-90E9-6095-E4C8A7D3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AE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02D05-36D2-4BF0-5C0A-0E538510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66FF2-B958-3E3E-735B-AB68FB93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DF8ECBA-B14E-6D69-1445-643B23A8B86E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F42584F-04D2-7973-6B01-06743DDCE372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2E67F99-5484-38FD-72AE-93EE8F4FE235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F6EA36CF-3D79-1A09-1C69-A4EEE1697A79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FC4384C-C05B-5816-C2C8-B9C8C0CA7AF8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219D76-3564-CA1D-9C69-A86546A68523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Course Outcome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011950-8BDC-A7D2-B866-9E2DF9D38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047587"/>
              </p:ext>
            </p:extLst>
          </p:nvPr>
        </p:nvGraphicFramePr>
        <p:xfrm>
          <a:off x="603147" y="1631338"/>
          <a:ext cx="10985706" cy="4067397"/>
        </p:xfrm>
        <a:graphic>
          <a:graphicData uri="http://schemas.openxmlformats.org/drawingml/2006/table">
            <a:tbl>
              <a:tblPr firstRow="1" firstCol="1" bandRow="1"/>
              <a:tblGrid>
                <a:gridCol w="591490">
                  <a:extLst>
                    <a:ext uri="{9D8B030D-6E8A-4147-A177-3AD203B41FA5}">
                      <a16:colId xmlns:a16="http://schemas.microsoft.com/office/drawing/2014/main" val="2159602334"/>
                    </a:ext>
                  </a:extLst>
                </a:gridCol>
                <a:gridCol w="4975005">
                  <a:extLst>
                    <a:ext uri="{9D8B030D-6E8A-4147-A177-3AD203B41FA5}">
                      <a16:colId xmlns:a16="http://schemas.microsoft.com/office/drawing/2014/main" val="3341998746"/>
                    </a:ext>
                  </a:extLst>
                </a:gridCol>
                <a:gridCol w="607325">
                  <a:extLst>
                    <a:ext uri="{9D8B030D-6E8A-4147-A177-3AD203B41FA5}">
                      <a16:colId xmlns:a16="http://schemas.microsoft.com/office/drawing/2014/main" val="1553619190"/>
                    </a:ext>
                  </a:extLst>
                </a:gridCol>
                <a:gridCol w="441298">
                  <a:extLst>
                    <a:ext uri="{9D8B030D-6E8A-4147-A177-3AD203B41FA5}">
                      <a16:colId xmlns:a16="http://schemas.microsoft.com/office/drawing/2014/main" val="3108420466"/>
                    </a:ext>
                  </a:extLst>
                </a:gridCol>
                <a:gridCol w="399614">
                  <a:extLst>
                    <a:ext uri="{9D8B030D-6E8A-4147-A177-3AD203B41FA5}">
                      <a16:colId xmlns:a16="http://schemas.microsoft.com/office/drawing/2014/main" val="2499624533"/>
                    </a:ext>
                  </a:extLst>
                </a:gridCol>
                <a:gridCol w="467174">
                  <a:extLst>
                    <a:ext uri="{9D8B030D-6E8A-4147-A177-3AD203B41FA5}">
                      <a16:colId xmlns:a16="http://schemas.microsoft.com/office/drawing/2014/main" val="39838826"/>
                    </a:ext>
                  </a:extLst>
                </a:gridCol>
                <a:gridCol w="373738">
                  <a:extLst>
                    <a:ext uri="{9D8B030D-6E8A-4147-A177-3AD203B41FA5}">
                      <a16:colId xmlns:a16="http://schemas.microsoft.com/office/drawing/2014/main" val="3578749344"/>
                    </a:ext>
                  </a:extLst>
                </a:gridCol>
                <a:gridCol w="1333959">
                  <a:extLst>
                    <a:ext uri="{9D8B030D-6E8A-4147-A177-3AD203B41FA5}">
                      <a16:colId xmlns:a16="http://schemas.microsoft.com/office/drawing/2014/main" val="591206148"/>
                    </a:ext>
                  </a:extLst>
                </a:gridCol>
                <a:gridCol w="1796103">
                  <a:extLst>
                    <a:ext uri="{9D8B030D-6E8A-4147-A177-3AD203B41FA5}">
                      <a16:colId xmlns:a16="http://schemas.microsoft.com/office/drawing/2014/main" val="2470647239"/>
                    </a:ext>
                  </a:extLst>
                </a:gridCol>
              </a:tblGrid>
              <a:tr h="5712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</a:t>
                      </a:r>
                    </a:p>
                  </a:txBody>
                  <a:tcPr marL="18203" marR="18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 Statement</a:t>
                      </a:r>
                    </a:p>
                  </a:txBody>
                  <a:tcPr marL="18203" marR="18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PO</a:t>
                      </a:r>
                    </a:p>
                  </a:txBody>
                  <a:tcPr marL="18203" marR="18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BL</a:t>
                      </a:r>
                    </a:p>
                  </a:txBody>
                  <a:tcPr marL="18203" marR="18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marL="18203" marR="18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marL="18203" marR="18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18203" marR="18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Delivery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 &amp; A</a:t>
                      </a:r>
                    </a:p>
                  </a:txBody>
                  <a:tcPr marL="18203" marR="18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Assessment Tools</a:t>
                      </a:r>
                    </a:p>
                  </a:txBody>
                  <a:tcPr marL="18203" marR="182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518732"/>
                  </a:ext>
                </a:extLst>
              </a:tr>
              <a:tr h="1094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CO1</a:t>
                      </a:r>
                      <a:endParaRPr lang="en-AE" sz="2000" b="1" dirty="0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Apply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fundamental concepts to classify signals and systems, and perform basic signal operations.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PO1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C3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K2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K3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AE" sz="20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Lecture</a:t>
                      </a:r>
                      <a:endParaRPr lang="en-AE" sz="20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Handout</a:t>
                      </a:r>
                      <a:endParaRPr lang="en-AE" sz="20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Tutorial</a:t>
                      </a:r>
                      <a:endParaRPr lang="en-AE" sz="20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CT/MT/SF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113627"/>
                  </a:ext>
                </a:extLst>
              </a:tr>
              <a:tr h="1143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CO2</a:t>
                      </a:r>
                      <a:endParaRPr lang="en-AE" sz="2000" b="1" dirty="0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Perform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the time and frequency domain analyze of first and second-order continuous LTI systems.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PO2</a:t>
                      </a:r>
                      <a:endParaRPr lang="en-AE" sz="20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C4</a:t>
                      </a:r>
                      <a:endParaRPr lang="en-AE" sz="20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K2</a:t>
                      </a:r>
                      <a:endParaRPr lang="en-AE" sz="20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K3</a:t>
                      </a:r>
                      <a:endParaRPr lang="en-AE" sz="20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AE" sz="20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AE" sz="20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Lecture</a:t>
                      </a:r>
                      <a:endParaRPr lang="en-AE" sz="20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Handout</a:t>
                      </a:r>
                      <a:endParaRPr lang="en-AE" sz="20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Tutorial</a:t>
                      </a:r>
                      <a:endParaRPr lang="en-AE" sz="20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CT/MT/SF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264149"/>
                  </a:ext>
                </a:extLst>
              </a:tr>
              <a:tr h="1143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CO3</a:t>
                      </a:r>
                      <a:endParaRPr lang="en-AE" sz="2000" b="1" dirty="0"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the applicability of frequency and time domain analysis for modeling and analyzing engineering systems with consideration of sustainability, and safety.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PO6</a:t>
                      </a:r>
                      <a:endParaRPr lang="en-AE" sz="20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C5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K7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br>
                        <a:rPr lang="en-US" sz="20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P6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Lecture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Handout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Tutorial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Assignment</a:t>
                      </a:r>
                      <a:endParaRPr lang="en-AE" sz="20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17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554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BE9718-0FA6-E53D-24B6-69C31339A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931ACA-33D8-B228-6C7C-D61A0CAAA8BD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50B33-5BB4-F6EC-DDA2-6791BA29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AE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25696-CCAC-C3D7-0D40-2842A6B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3E4BD-CD28-4CE5-09B8-BF25E73B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3CD541B-74F4-DF2C-423B-196A3410B629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5EF762E-3EBC-8493-7A85-F5856F81CEF0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28D6440-A342-EDD6-2582-D8CF3D4AD24B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C5ED8E6F-16D9-E734-CF72-565F33830D13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BECE558-AAC0-5D9E-CF56-4130EBA8F615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EA351F-7173-608D-D6A2-7BC3B3A72673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Reference Books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B716BF-FD12-7526-5E18-0E130441A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226857"/>
              </p:ext>
            </p:extLst>
          </p:nvPr>
        </p:nvGraphicFramePr>
        <p:xfrm>
          <a:off x="680206" y="1351125"/>
          <a:ext cx="10831589" cy="4702434"/>
        </p:xfrm>
        <a:graphic>
          <a:graphicData uri="http://schemas.openxmlformats.org/drawingml/2006/table">
            <a:tbl>
              <a:tblPr firstRow="1" firstCol="1" bandRow="1"/>
              <a:tblGrid>
                <a:gridCol w="988842">
                  <a:extLst>
                    <a:ext uri="{9D8B030D-6E8A-4147-A177-3AD203B41FA5}">
                      <a16:colId xmlns:a16="http://schemas.microsoft.com/office/drawing/2014/main" val="2159602334"/>
                    </a:ext>
                  </a:extLst>
                </a:gridCol>
                <a:gridCol w="4678387">
                  <a:extLst>
                    <a:ext uri="{9D8B030D-6E8A-4147-A177-3AD203B41FA5}">
                      <a16:colId xmlns:a16="http://schemas.microsoft.com/office/drawing/2014/main" val="3341998746"/>
                    </a:ext>
                  </a:extLst>
                </a:gridCol>
                <a:gridCol w="5164360">
                  <a:extLst>
                    <a:ext uri="{9D8B030D-6E8A-4147-A177-3AD203B41FA5}">
                      <a16:colId xmlns:a16="http://schemas.microsoft.com/office/drawing/2014/main" val="1553619190"/>
                    </a:ext>
                  </a:extLst>
                </a:gridCol>
              </a:tblGrid>
              <a:tr h="555459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SL No.</a:t>
                      </a:r>
                      <a:endParaRPr lang="en-US" sz="2000" b="1" dirty="0">
                        <a:solidFill>
                          <a:srgbClr val="FFFF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Name of the Book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Name of the Author (s)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518732"/>
                  </a:ext>
                </a:extLst>
              </a:tr>
              <a:tr h="829395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Text Book of Electrical technology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7030A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B.L </a:t>
                      </a:r>
                      <a:r>
                        <a:rPr lang="en-US" sz="2000" b="1" kern="1200" dirty="0" err="1">
                          <a:solidFill>
                            <a:srgbClr val="7030A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Theraja</a:t>
                      </a:r>
                      <a:endParaRPr lang="en-US" sz="2000" b="1" kern="1200" dirty="0">
                        <a:solidFill>
                          <a:srgbClr val="7030A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113627"/>
                  </a:ext>
                </a:extLst>
              </a:tr>
              <a:tr h="829395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Electrical Machinery and Transformers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7030A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Irving L. Kossow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264149"/>
                  </a:ext>
                </a:extLst>
              </a:tr>
              <a:tr h="829395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Course in Electrical and Electronic Measurements and Instrumentation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7030A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A.K. Sawhney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717512"/>
                  </a:ext>
                </a:extLst>
              </a:tr>
              <a:tr h="829395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Instrumentation and Measurements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7030A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David A. Bel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22237"/>
                  </a:ext>
                </a:extLst>
              </a:tr>
              <a:tr h="82939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Electrical Machines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7030A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Nagrath and Kothari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247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708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0875D-E5DE-8EC0-1BDC-C0D893A96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1375C52-09D7-0BD1-4100-BA1EDC00E73F}"/>
              </a:ext>
            </a:extLst>
          </p:cNvPr>
          <p:cNvSpPr txBox="1"/>
          <p:nvPr/>
        </p:nvSpPr>
        <p:spPr>
          <a:xfrm>
            <a:off x="4189066" y="2667253"/>
            <a:ext cx="3813865" cy="1523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algn="ctr"/>
            <a:r>
              <a:rPr lang="en-US" sz="33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583258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352</Words>
  <Application>Microsoft Office PowerPoint</Application>
  <PresentationFormat>Widescreen</PresentationFormat>
  <Paragraphs>98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 M. Ashik Al Mashrafi</dc:creator>
  <cp:lastModifiedBy>S. M. Ashik Al Mashrafi</cp:lastModifiedBy>
  <cp:revision>38</cp:revision>
  <dcterms:created xsi:type="dcterms:W3CDTF">2025-07-26T10:31:05Z</dcterms:created>
  <dcterms:modified xsi:type="dcterms:W3CDTF">2026-01-16T11:26:25Z</dcterms:modified>
</cp:coreProperties>
</file>