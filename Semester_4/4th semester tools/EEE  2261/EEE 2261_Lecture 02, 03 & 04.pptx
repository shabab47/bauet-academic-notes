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9"/>
  </p:notesMasterIdLst>
  <p:sldIdLst>
    <p:sldId id="263" r:id="rId2"/>
    <p:sldId id="265" r:id="rId3"/>
    <p:sldId id="267" r:id="rId4"/>
    <p:sldId id="275" r:id="rId5"/>
    <p:sldId id="277" r:id="rId6"/>
    <p:sldId id="279" r:id="rId7"/>
    <p:sldId id="289" r:id="rId8"/>
    <p:sldId id="280" r:id="rId9"/>
    <p:sldId id="281" r:id="rId10"/>
    <p:sldId id="282" r:id="rId11"/>
    <p:sldId id="283" r:id="rId12"/>
    <p:sldId id="284" r:id="rId13"/>
    <p:sldId id="285" r:id="rId14"/>
    <p:sldId id="286" r:id="rId15"/>
    <p:sldId id="287" r:id="rId16"/>
    <p:sldId id="288" r:id="rId17"/>
    <p:sldId id="26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4E10"/>
    <a:srgbClr val="548235"/>
    <a:srgbClr val="D4B309"/>
    <a:srgbClr val="004101"/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43" autoAdjust="0"/>
    <p:restoredTop sz="94660"/>
  </p:normalViewPr>
  <p:slideViewPr>
    <p:cSldViewPr snapToGrid="0">
      <p:cViewPr varScale="1">
        <p:scale>
          <a:sx n="78" d="100"/>
          <a:sy n="78" d="100"/>
        </p:scale>
        <p:origin x="11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FE013-CA25-47D5-A3CA-40C6CCB1980D}" type="datetimeFigureOut">
              <a:rPr lang="en-AE" smtClean="0"/>
              <a:t>28/01/2026</a:t>
            </a:fld>
            <a:endParaRPr lang="en-A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103FC4-7E90-4A4D-B9BE-3E3B19ADB2BE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017482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4A0E7-2ACB-3AD6-7A52-99E43E2F6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2CF644-4E22-4251-B51F-C031EA08D5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635572-C2B3-8B71-B357-5C368C55DB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311CAC-6691-CAEE-2848-379B5CC362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103FC4-7E90-4A4D-B9BE-3E3B19ADB2BE}" type="slidenum">
              <a:rPr lang="en-AE" smtClean="0"/>
              <a:t>16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4192765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59AE9-4CE0-8D35-CFD0-14860AF73E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7B3785-05F0-D3D3-FEA6-C6A34A65BB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9D4CFA-8F21-872E-0FB8-CB8A3E141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26/01/2026</a:t>
            </a:r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97036-48F0-AFD7-A516-D1F20BBCC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BAUET</a:t>
            </a:r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DEE955-2054-AC07-C669-C2AD9CAED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7BDCA-6C04-4DE3-905E-17E4BFE04F4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438128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0E0A6-970C-349B-85A7-129CBABD9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1B6CC-9BCA-5D16-1304-808D0E0836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72ED1-9492-9405-6343-9048603AA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26/01/2026</a:t>
            </a:r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886045-04EF-D507-D3EB-676F0EDFD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BAUET</a:t>
            </a:r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01D6B0-80F2-5162-DEDE-C9AF421A0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7BDCA-6C04-4DE3-905E-17E4BFE04F4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085963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C6CE5-68A0-CE57-F555-9354E94C9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0259EE-3894-81C3-1C2D-A0C1381FAC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286821-C52C-1639-3420-9102C9106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26/01/2026</a:t>
            </a:r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195700-D01B-2F2D-2D8E-836CF2658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BAUET</a:t>
            </a:r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DD4D55-8F7E-7450-4682-582C41318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7BDCA-6C04-4DE3-905E-17E4BFE04F4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972814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B7B6D-2269-B0B8-AE5A-7E61CC3BA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3DF18-22AB-95D2-6975-5949596643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98AA14-9EE3-FCC8-A879-5A0AFC758A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ECA36E-0BD4-2C5F-65B3-0833A013D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26/01/2026</a:t>
            </a:r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E87DCF-71BC-D13D-190E-68CEF97AF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BAUET</a:t>
            </a:r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9DA933-5CD1-9E4C-EB2A-B82BAE6A7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7BDCA-6C04-4DE3-905E-17E4BFE04F4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423410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FAD46-28D5-C95F-D682-481DE22BA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596BA3-5526-EB1B-99FB-0767C715EA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1CE715-3397-5E0F-573E-E2C267084C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61A2BB-FD2F-8093-33E0-6A83D46BDD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217CB4-8C4D-7653-E174-AB249FD4EE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B05505-F43F-2BA7-8852-2C57C1B0A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26/01/2026</a:t>
            </a:r>
            <a:endParaRPr lang="en-A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A88E68-E215-05D3-793E-0DDD76A71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BAUET</a:t>
            </a:r>
            <a:endParaRPr lang="en-A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DEEF46-4E46-9FB0-8A05-4947E249A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7BDCA-6C04-4DE3-905E-17E4BFE04F4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595617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6A0DF-AAC5-3B04-0E5C-A20192A79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F255A2-00E2-2264-8909-D4ED17738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26/01/2026</a:t>
            </a:r>
            <a:endParaRPr lang="en-A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024C93-047F-1636-44B4-E998B308D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BAUET</a:t>
            </a:r>
            <a:endParaRPr lang="en-A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C3B603-E7C9-C7EC-45CA-3331E0259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7BDCA-6C04-4DE3-905E-17E4BFE04F4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374218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0F47B1-0D87-826D-C939-6DD0DA97E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26/01/2026</a:t>
            </a:r>
            <a:endParaRPr lang="en-A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ECC093-BFB0-4CD2-10BD-B69F9D923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BAUET</a:t>
            </a:r>
            <a:endParaRPr lang="en-A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13D88B-2189-0E63-3CEA-527B657B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7BDCA-6C04-4DE3-905E-17E4BFE04F4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349065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739EE-5F0D-EF0C-C327-42D31FD6C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FB883-71A5-2EC4-9179-08FA3DD3F0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D60CBB-2FDD-6B1F-06E2-47D761328E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8895F2-9072-931C-7193-7B7E63B5A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26/01/2026</a:t>
            </a:r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C47C83-1249-57FE-AFC1-C4345FD47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BAUET</a:t>
            </a:r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73804F-31BC-14A0-E5DB-780AC7C46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7BDCA-6C04-4DE3-905E-17E4BFE04F4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952721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7C8D4-53DD-6C83-3FC6-0382BFD62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C2DD3D-509F-ED28-2B51-8E06ACFC60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E08984-517B-3836-F931-469F82BD83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13E406-2FE5-3E37-F592-B5F099B3F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26/01/2026</a:t>
            </a:r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AA0A20-0B1C-F85F-E0B9-908047AE6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BAUET</a:t>
            </a:r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DF103D-3958-2A70-0395-51CF78C4D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7BDCA-6C04-4DE3-905E-17E4BFE04F4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96046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1D840-3BE4-A51F-B875-8D9B526ED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CD5D4A-D2F4-562B-DD70-3906C83077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4C221D-2087-3904-EC97-9C89D3C6A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26/01/2026</a:t>
            </a:r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36333-7792-7193-74B7-67F7CEEDE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BAUET</a:t>
            </a:r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2602A1-06CF-4FA2-0CC2-5CF34AD33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7BDCA-6C04-4DE3-905E-17E4BFE04F4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842372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BEF0C3-E988-167C-ADFB-CB590DDA72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32ADBC-C152-41F4-E0E2-E63B1A73A5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A22A6D-AA5F-1F9A-591D-B16754F6F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26/01/2026</a:t>
            </a:r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8FF5DD-D699-F48F-C84C-F5FFC328F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BAUET</a:t>
            </a:r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681F98-18BE-189D-8FAA-0974840DC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7BDCA-6C04-4DE3-905E-17E4BFE04F4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007581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477B0A-AF37-95F4-0B6B-42A3DBD96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626289-8198-FE45-E688-735246C0C9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D22DAB-FFA2-3F6F-F390-13AD02012D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26/01/2026</a:t>
            </a:r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7EBFCC-5305-40AC-B83B-89E8ECA8B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Department of CSE, BAUET</a:t>
            </a:r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34C4F0-1D23-F7C5-F90F-BC1B32B4CF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07BDCA-6C04-4DE3-905E-17E4BFE04F4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989988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.png"/><Relationship Id="rId5" Type="http://schemas.openxmlformats.org/officeDocument/2006/relationships/image" Target="../media/image150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17.png"/><Relationship Id="rId4" Type="http://schemas.openxmlformats.org/officeDocument/2006/relationships/image" Target="../media/image15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.png"/><Relationship Id="rId7" Type="http://schemas.openxmlformats.org/officeDocument/2006/relationships/image" Target="../media/image19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0.png"/><Relationship Id="rId5" Type="http://schemas.openxmlformats.org/officeDocument/2006/relationships/image" Target="../media/image18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.png"/><Relationship Id="rId7" Type="http://schemas.openxmlformats.org/officeDocument/2006/relationships/image" Target="../media/image2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16.png"/><Relationship Id="rId4" Type="http://schemas.openxmlformats.org/officeDocument/2006/relationships/image" Target="../media/image18.png"/><Relationship Id="rId9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.png"/><Relationship Id="rId7" Type="http://schemas.openxmlformats.org/officeDocument/2006/relationships/image" Target="../media/image2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16.png"/><Relationship Id="rId4" Type="http://schemas.openxmlformats.org/officeDocument/2006/relationships/image" Target="../media/image18.png"/><Relationship Id="rId9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A6FBDF-3E7C-4C31-6DE4-B72761D0E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F23AAC3B-65CB-D4A9-34F4-21E8C41351B6}"/>
              </a:ext>
            </a:extLst>
          </p:cNvPr>
          <p:cNvSpPr/>
          <p:nvPr/>
        </p:nvSpPr>
        <p:spPr>
          <a:xfrm>
            <a:off x="5490410" y="188276"/>
            <a:ext cx="1211180" cy="119901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8961E5-478F-A79B-43A8-F70980DE0B54}"/>
              </a:ext>
            </a:extLst>
          </p:cNvPr>
          <p:cNvSpPr txBox="1"/>
          <p:nvPr/>
        </p:nvSpPr>
        <p:spPr>
          <a:xfrm>
            <a:off x="0" y="1562939"/>
            <a:ext cx="12192000" cy="1323439"/>
          </a:xfrm>
          <a:prstGeom prst="rect">
            <a:avLst/>
          </a:prstGeom>
          <a:solidFill>
            <a:srgbClr val="004101">
              <a:alpha val="90000"/>
            </a:srgbClr>
          </a:solidFill>
        </p:spPr>
        <p:txBody>
          <a:bodyPr wrap="square">
            <a:spAutoFit/>
          </a:bodyPr>
          <a:lstStyle/>
          <a:p>
            <a:pPr algn="ctr"/>
            <a:endParaRPr lang="en-US" sz="1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Bangladesh Army University of Engineering &amp; Technology</a:t>
            </a:r>
          </a:p>
          <a:p>
            <a:pPr algn="ctr"/>
            <a:r>
              <a:rPr lang="en-US" altLang="en-US" sz="3200" b="1" kern="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pPr algn="ctr"/>
            <a:endParaRPr lang="en-US" altLang="en-US" sz="1000" b="1" kern="0" dirty="0">
              <a:solidFill>
                <a:srgbClr val="D4B30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8795D7-68E5-7035-9CFE-91863161DD9C}"/>
              </a:ext>
            </a:extLst>
          </p:cNvPr>
          <p:cNvSpPr txBox="1"/>
          <p:nvPr/>
        </p:nvSpPr>
        <p:spPr>
          <a:xfrm>
            <a:off x="0" y="3017516"/>
            <a:ext cx="12192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Clr>
                <a:srgbClr val="0C0C0C"/>
              </a:buClr>
              <a:buSzPts val="4400"/>
              <a:buFont typeface="Arial Black"/>
              <a:buNone/>
            </a:pP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 Black"/>
              </a:rPr>
              <a:t>EEE 2261: Electrical Drives and Instrumentation</a:t>
            </a:r>
          </a:p>
          <a:p>
            <a:pPr algn="ctr" rtl="0">
              <a:buClr>
                <a:srgbClr val="0C0C0C"/>
              </a:buClr>
              <a:buSzPts val="4400"/>
              <a:buFont typeface="Arial Black"/>
              <a:buNone/>
            </a:pPr>
            <a:r>
              <a:rPr lang="en-US" sz="2800" b="1" dirty="0">
                <a:solidFill>
                  <a:srgbClr val="548235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 Black"/>
              </a:rPr>
              <a:t>Winter 2025 Semester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6C97A6-7890-73CE-1442-7F163C2457CD}"/>
              </a:ext>
            </a:extLst>
          </p:cNvPr>
          <p:cNvSpPr txBox="1"/>
          <p:nvPr/>
        </p:nvSpPr>
        <p:spPr>
          <a:xfrm>
            <a:off x="0" y="3971623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Lecture-02, 03 &amp; 04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3C93F6-5797-B729-4B18-6818906D95C4}"/>
              </a:ext>
            </a:extLst>
          </p:cNvPr>
          <p:cNvSpPr txBox="1"/>
          <p:nvPr/>
        </p:nvSpPr>
        <p:spPr>
          <a:xfrm>
            <a:off x="0" y="6297525"/>
            <a:ext cx="121919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sz="1800" b="1" kern="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Credit</a:t>
            </a:r>
            <a:r>
              <a:rPr lang="en-US" altLang="en-US" b="1" kern="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en-US" sz="1800" b="1" kern="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3.0		Credit Taking: </a:t>
            </a:r>
            <a:r>
              <a:rPr lang="en-US" altLang="en-US" b="1" kern="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3.0</a:t>
            </a:r>
            <a:endParaRPr lang="en-US" altLang="en-US" sz="1600" b="1" kern="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5D4C92-EC56-E8EF-1BD7-F12CC3801517}"/>
              </a:ext>
            </a:extLst>
          </p:cNvPr>
          <p:cNvSpPr txBox="1"/>
          <p:nvPr/>
        </p:nvSpPr>
        <p:spPr>
          <a:xfrm>
            <a:off x="3667761" y="4772001"/>
            <a:ext cx="4856479" cy="1300356"/>
          </a:xfrm>
          <a:prstGeom prst="rect">
            <a:avLst/>
          </a:prstGeom>
          <a:solidFill>
            <a:srgbClr val="004101">
              <a:alpha val="10000"/>
            </a:srgbClr>
          </a:solidFill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endParaRPr lang="en-US" altLang="en-US" sz="500" b="1" kern="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Aft>
                <a:spcPts val="300"/>
              </a:spcAft>
            </a:pPr>
            <a:r>
              <a:rPr lang="en-US" altLang="en-US" sz="2000" b="1" kern="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Teacher</a:t>
            </a:r>
          </a:p>
          <a:p>
            <a:pPr algn="ctr">
              <a:spcAft>
                <a:spcPts val="300"/>
              </a:spcAft>
            </a:pPr>
            <a:r>
              <a:rPr lang="en-US" altLang="en-US" b="1" kern="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 M. Ashik Al Mashrafi</a:t>
            </a:r>
          </a:p>
          <a:p>
            <a:pPr algn="ctr">
              <a:spcAft>
                <a:spcPts val="300"/>
              </a:spcAft>
            </a:pPr>
            <a:r>
              <a:rPr lang="en-US" altLang="en-US" b="1" kern="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Lecturer, EEE, BAUET</a:t>
            </a:r>
          </a:p>
          <a:p>
            <a:pPr algn="ctr"/>
            <a:endParaRPr lang="en-US" altLang="en-US" sz="500" b="1" kern="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46294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2B6C03F-1D48-DA2D-BC6F-B230E513F332}"/>
              </a:ext>
            </a:extLst>
          </p:cNvPr>
          <p:cNvSpPr/>
          <p:nvPr/>
        </p:nvSpPr>
        <p:spPr>
          <a:xfrm>
            <a:off x="0" y="6480143"/>
            <a:ext cx="12192000" cy="302260"/>
          </a:xfrm>
          <a:prstGeom prst="rect">
            <a:avLst/>
          </a:prstGeom>
          <a:solidFill>
            <a:srgbClr val="154E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94046E-EC44-FE27-7488-4BEF0C48BD7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3312"/>
            <a:ext cx="2743200" cy="365125"/>
          </a:xfrm>
        </p:spPr>
        <p:txBody>
          <a:bodyPr/>
          <a:lstStyle/>
          <a:p>
            <a:r>
              <a:rPr lang="en-US" sz="1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26/01/2026</a:t>
            </a:r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2330AF-B0B4-48F4-9699-52FEF0368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43312"/>
            <a:ext cx="4114800" cy="365125"/>
          </a:xfrm>
        </p:spPr>
        <p:txBody>
          <a:bodyPr/>
          <a:lstStyle/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CSE, BAUET</a:t>
            </a:r>
            <a:endParaRPr lang="en-AE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402F26-57C8-F92D-E92A-FB8AF85C1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3312"/>
            <a:ext cx="2743200" cy="365125"/>
          </a:xfrm>
        </p:spPr>
        <p:txBody>
          <a:bodyPr/>
          <a:lstStyle/>
          <a:p>
            <a:fld id="{E407BDCA-6C04-4DE3-905E-17E4BFE04F46}" type="slidenum">
              <a:rPr lang="en-AE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807FC9B-4BFF-0C3A-C226-30745EBB849A}"/>
              </a:ext>
            </a:extLst>
          </p:cNvPr>
          <p:cNvGrpSpPr/>
          <p:nvPr/>
        </p:nvGrpSpPr>
        <p:grpSpPr>
          <a:xfrm>
            <a:off x="0" y="92595"/>
            <a:ext cx="12191998" cy="830997"/>
            <a:chOff x="0" y="225907"/>
            <a:chExt cx="12191998" cy="83099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96757BF-5012-9536-9DD1-71121A3472F3}"/>
                </a:ext>
              </a:extLst>
            </p:cNvPr>
            <p:cNvGrpSpPr/>
            <p:nvPr/>
          </p:nvGrpSpPr>
          <p:grpSpPr>
            <a:xfrm>
              <a:off x="0" y="225907"/>
              <a:ext cx="12191998" cy="830997"/>
              <a:chOff x="0" y="225907"/>
              <a:chExt cx="12191998" cy="8309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AAA7ABA-FEFA-CD6A-BDC7-563720AC78DE}"/>
                  </a:ext>
                </a:extLst>
              </p:cNvPr>
              <p:cNvSpPr/>
              <p:nvPr/>
            </p:nvSpPr>
            <p:spPr>
              <a:xfrm>
                <a:off x="11080954" y="225907"/>
                <a:ext cx="1111044" cy="8309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object 2">
                <a:extLst>
                  <a:ext uri="{FF2B5EF4-FFF2-40B4-BE49-F238E27FC236}">
                    <a16:creationId xmlns:a16="http://schemas.microsoft.com/office/drawing/2014/main" id="{7512CC8B-DDA4-59C2-FC3E-4581E586BA67}"/>
                  </a:ext>
                </a:extLst>
              </p:cNvPr>
              <p:cNvSpPr/>
              <p:nvPr/>
            </p:nvSpPr>
            <p:spPr>
              <a:xfrm>
                <a:off x="11313789" y="336886"/>
                <a:ext cx="645374" cy="638891"/>
              </a:xfrm>
              <a:prstGeom prst="rect">
                <a:avLst/>
              </a:prstGeom>
              <a:blipFill>
                <a:blip r:embed="rId3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dirty="0">
                  <a:effectLst>
                    <a:glow rad="228600">
                      <a:schemeClr val="accent1">
                        <a:satMod val="175000"/>
                        <a:alpha val="40000"/>
                      </a:schemeClr>
                    </a:glow>
                  </a:effectLst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9F09B41-ADF4-770A-EB6E-CFEFCE44654B}"/>
                  </a:ext>
                </a:extLst>
              </p:cNvPr>
              <p:cNvSpPr/>
              <p:nvPr/>
            </p:nvSpPr>
            <p:spPr>
              <a:xfrm>
                <a:off x="0" y="225908"/>
                <a:ext cx="11080954" cy="830995"/>
              </a:xfrm>
              <a:prstGeom prst="rect">
                <a:avLst/>
              </a:prstGeom>
              <a:solidFill>
                <a:srgbClr val="154E1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CDD0AA4-E205-A8BB-ECF1-B179E557E8D1}"/>
                </a:ext>
              </a:extLst>
            </p:cNvPr>
            <p:cNvSpPr txBox="1"/>
            <p:nvPr/>
          </p:nvSpPr>
          <p:spPr>
            <a:xfrm>
              <a:off x="249364" y="379795"/>
              <a:ext cx="1083158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Course Content</a:t>
              </a:r>
              <a:endParaRPr lang="en-AE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0C000F72-B9C9-41A1-EE29-910556380D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6037105"/>
              </p:ext>
            </p:extLst>
          </p:nvPr>
        </p:nvGraphicFramePr>
        <p:xfrm>
          <a:off x="591151" y="1345233"/>
          <a:ext cx="11009698" cy="476343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3854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42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34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Chapter</a:t>
                      </a:r>
                    </a:p>
                  </a:txBody>
                  <a:tcPr marL="56108" marR="56108" marT="28023" marB="280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E1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Topic</a:t>
                      </a:r>
                      <a:r>
                        <a:rPr lang="en-US" sz="2200" baseline="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en-US" sz="2200" dirty="0">
                        <a:solidFill>
                          <a:srgbClr val="FFFF00"/>
                        </a:solidFill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08" marR="56108" marT="28023" marB="280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E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r>
                        <a:rPr lang="en-US" sz="2200" b="1" kern="1200" dirty="0">
                          <a:solidFill>
                            <a:srgbClr val="7030A0"/>
                          </a:solidFill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Introduction</a:t>
                      </a:r>
                      <a:endParaRPr lang="en-US" sz="2200" dirty="0">
                        <a:solidFill>
                          <a:srgbClr val="7030A0"/>
                        </a:solidFill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20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00FF"/>
                          </a:highlight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Three   phase   circuits</a:t>
                      </a:r>
                      <a:r>
                        <a:rPr lang="en-US" sz="2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,   alternators   and transformers,   principles   &amp; operation  of  DC  Machines,  synchronous,  induction,  universal  and  stepper  motors, thyristor and microprocessor-based speed control of motors</a:t>
                      </a:r>
                      <a:endParaRPr 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r>
                        <a:rPr lang="en-US" sz="2200" b="1" kern="1200" dirty="0">
                          <a:solidFill>
                            <a:srgbClr val="7030A0"/>
                          </a:solidFill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Instrumentation   Amplifiers</a:t>
                      </a:r>
                      <a:endParaRPr lang="en-US" sz="2200" dirty="0">
                        <a:solidFill>
                          <a:srgbClr val="7030A0"/>
                        </a:solidFill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Differential,   logarithmic,   and   chopper   amplifiers, frequency and voltage  measurements using digital techniques, recorders and display devices,  spectrum  analyzers  and  logic  analyzers,  data  acquisition  and  interfacing  to microprocessor-based systems;</a:t>
                      </a:r>
                      <a:endParaRPr 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r>
                        <a:rPr lang="en-US" sz="2200" b="1" kern="1200" dirty="0">
                          <a:solidFill>
                            <a:srgbClr val="7030A0"/>
                          </a:solidFill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Transducers</a:t>
                      </a:r>
                      <a:endParaRPr lang="en-US" sz="2200" dirty="0">
                        <a:solidFill>
                          <a:srgbClr val="7030A0"/>
                        </a:solidFill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Terminology,  types  of  transducers,  principles  and  applications  of photovoltaic,  piezoelectric,  thermoelectric,  variable  resistance  and  opto-electronics transducers. Noise reduction in instrumentation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329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FD882B-2819-885E-03D4-60C312713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398F09D-4FF5-4D69-86CA-BEE4D7115BDE}"/>
              </a:ext>
            </a:extLst>
          </p:cNvPr>
          <p:cNvSpPr/>
          <p:nvPr/>
        </p:nvSpPr>
        <p:spPr>
          <a:xfrm>
            <a:off x="0" y="6480143"/>
            <a:ext cx="12192000" cy="302260"/>
          </a:xfrm>
          <a:prstGeom prst="rect">
            <a:avLst/>
          </a:prstGeom>
          <a:solidFill>
            <a:srgbClr val="154E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C9B3DD-D9D2-90E9-6095-E4C8A7D33F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3312"/>
            <a:ext cx="2743200" cy="365125"/>
          </a:xfrm>
        </p:spPr>
        <p:txBody>
          <a:bodyPr/>
          <a:lstStyle/>
          <a:p>
            <a:r>
              <a:rPr lang="en-US" sz="1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26/01/2026</a:t>
            </a:r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402D05-36D2-4BF0-5C0A-0E5385107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43312"/>
            <a:ext cx="4114800" cy="365125"/>
          </a:xfrm>
        </p:spPr>
        <p:txBody>
          <a:bodyPr/>
          <a:lstStyle/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CSE, BAUET</a:t>
            </a:r>
            <a:endParaRPr lang="en-AE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066FF2-B958-3E3E-735B-AB68FB939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3312"/>
            <a:ext cx="2743200" cy="365125"/>
          </a:xfrm>
        </p:spPr>
        <p:txBody>
          <a:bodyPr/>
          <a:lstStyle/>
          <a:p>
            <a:fld id="{E407BDCA-6C04-4DE3-905E-17E4BFE04F46}" type="slidenum">
              <a:rPr lang="en-AE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DF8ECBA-B14E-6D69-1445-643B23A8B86E}"/>
              </a:ext>
            </a:extLst>
          </p:cNvPr>
          <p:cNvGrpSpPr/>
          <p:nvPr/>
        </p:nvGrpSpPr>
        <p:grpSpPr>
          <a:xfrm>
            <a:off x="0" y="92595"/>
            <a:ext cx="12191998" cy="830997"/>
            <a:chOff x="0" y="225907"/>
            <a:chExt cx="12191998" cy="83099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FF42584F-04D2-7973-6B01-06743DDCE372}"/>
                </a:ext>
              </a:extLst>
            </p:cNvPr>
            <p:cNvGrpSpPr/>
            <p:nvPr/>
          </p:nvGrpSpPr>
          <p:grpSpPr>
            <a:xfrm>
              <a:off x="0" y="225907"/>
              <a:ext cx="12191998" cy="830997"/>
              <a:chOff x="0" y="225907"/>
              <a:chExt cx="12191998" cy="8309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A2E67F99-5484-38FD-72AE-93EE8F4FE235}"/>
                  </a:ext>
                </a:extLst>
              </p:cNvPr>
              <p:cNvSpPr/>
              <p:nvPr/>
            </p:nvSpPr>
            <p:spPr>
              <a:xfrm>
                <a:off x="11080954" y="225907"/>
                <a:ext cx="1111044" cy="8309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object 2">
                <a:extLst>
                  <a:ext uri="{FF2B5EF4-FFF2-40B4-BE49-F238E27FC236}">
                    <a16:creationId xmlns:a16="http://schemas.microsoft.com/office/drawing/2014/main" id="{F6EA36CF-3D79-1A09-1C69-A4EEE1697A79}"/>
                  </a:ext>
                </a:extLst>
              </p:cNvPr>
              <p:cNvSpPr/>
              <p:nvPr/>
            </p:nvSpPr>
            <p:spPr>
              <a:xfrm>
                <a:off x="11313789" y="336886"/>
                <a:ext cx="645374" cy="638891"/>
              </a:xfrm>
              <a:prstGeom prst="rect">
                <a:avLst/>
              </a:prstGeom>
              <a:blipFill>
                <a:blip r:embed="rId3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dirty="0">
                  <a:effectLst>
                    <a:glow rad="228600">
                      <a:schemeClr val="accent1">
                        <a:satMod val="175000"/>
                        <a:alpha val="40000"/>
                      </a:schemeClr>
                    </a:glow>
                  </a:effectLst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6FC4384C-C05B-5816-C2C8-B9C8C0CA7AF8}"/>
                  </a:ext>
                </a:extLst>
              </p:cNvPr>
              <p:cNvSpPr/>
              <p:nvPr/>
            </p:nvSpPr>
            <p:spPr>
              <a:xfrm>
                <a:off x="0" y="225908"/>
                <a:ext cx="11080954" cy="830995"/>
              </a:xfrm>
              <a:prstGeom prst="rect">
                <a:avLst/>
              </a:prstGeom>
              <a:solidFill>
                <a:srgbClr val="154E1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7219D76-3564-CA1D-9C69-A86546A68523}"/>
                </a:ext>
              </a:extLst>
            </p:cNvPr>
            <p:cNvSpPr txBox="1"/>
            <p:nvPr/>
          </p:nvSpPr>
          <p:spPr>
            <a:xfrm>
              <a:off x="249364" y="379795"/>
              <a:ext cx="1083158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Three Phase System</a:t>
              </a:r>
              <a:endParaRPr lang="en-AE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ACB4439D-9FF2-11FB-7326-C376C3376F44}"/>
              </a:ext>
            </a:extLst>
          </p:cNvPr>
          <p:cNvSpPr txBox="1"/>
          <p:nvPr/>
        </p:nvSpPr>
        <p:spPr>
          <a:xfrm>
            <a:off x="277385" y="2039552"/>
            <a:ext cx="1080356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both the three-phase source and the three-phase load can be either wye- or delta-connected, we have </a:t>
            </a:r>
            <a:r>
              <a:rPr lang="en-US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four possible connections:</a:t>
            </a:r>
          </a:p>
          <a:p>
            <a:endParaRPr lang="en-US" sz="24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Y-Y connection (i.e., Y-connected source with a Y-connected load).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Y-</a:t>
            </a:r>
            <a:r>
              <a:rPr lang="el-GR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connection.</a:t>
            </a:r>
            <a:r>
              <a:rPr lang="el-GR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l-GR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-Y connection.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l-GR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l-GR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 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connection.</a:t>
            </a:r>
            <a:endParaRPr lang="en-AE" sz="2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5547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578B39-0166-B018-4119-69DED34D5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0972B0B-1022-CEC6-4B58-7E9C86248DF0}"/>
              </a:ext>
            </a:extLst>
          </p:cNvPr>
          <p:cNvSpPr/>
          <p:nvPr/>
        </p:nvSpPr>
        <p:spPr>
          <a:xfrm>
            <a:off x="0" y="6480143"/>
            <a:ext cx="12192000" cy="302260"/>
          </a:xfrm>
          <a:prstGeom prst="rect">
            <a:avLst/>
          </a:prstGeom>
          <a:solidFill>
            <a:srgbClr val="154E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4301B2-BEC8-E079-B0A7-6E312EA18EB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3312"/>
            <a:ext cx="2743200" cy="365125"/>
          </a:xfrm>
        </p:spPr>
        <p:txBody>
          <a:bodyPr/>
          <a:lstStyle/>
          <a:p>
            <a:r>
              <a:rPr lang="en-US" sz="1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26/01/2026</a:t>
            </a:r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2B903F-10D4-FB19-1F5F-CA42EF242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43312"/>
            <a:ext cx="4114800" cy="365125"/>
          </a:xfrm>
        </p:spPr>
        <p:txBody>
          <a:bodyPr/>
          <a:lstStyle/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CSE, BAUET</a:t>
            </a:r>
            <a:endParaRPr lang="en-AE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DAD8EA-4889-EB86-89B8-540029891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3312"/>
            <a:ext cx="2743200" cy="365125"/>
          </a:xfrm>
        </p:spPr>
        <p:txBody>
          <a:bodyPr/>
          <a:lstStyle/>
          <a:p>
            <a:fld id="{E407BDCA-6C04-4DE3-905E-17E4BFE04F46}" type="slidenum">
              <a:rPr lang="en-AE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6CEBE27-83FE-F980-C1F0-942919EFD5F4}"/>
              </a:ext>
            </a:extLst>
          </p:cNvPr>
          <p:cNvGrpSpPr/>
          <p:nvPr/>
        </p:nvGrpSpPr>
        <p:grpSpPr>
          <a:xfrm>
            <a:off x="0" y="92595"/>
            <a:ext cx="12191998" cy="830997"/>
            <a:chOff x="0" y="225907"/>
            <a:chExt cx="12191998" cy="83099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72E95E53-2B6A-7A34-6458-B829A9C8E1C6}"/>
                </a:ext>
              </a:extLst>
            </p:cNvPr>
            <p:cNvGrpSpPr/>
            <p:nvPr/>
          </p:nvGrpSpPr>
          <p:grpSpPr>
            <a:xfrm>
              <a:off x="0" y="225907"/>
              <a:ext cx="12191998" cy="830997"/>
              <a:chOff x="0" y="225907"/>
              <a:chExt cx="12191998" cy="8309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AF78ABA-3EAE-9BA3-9C53-92BE37E302FC}"/>
                  </a:ext>
                </a:extLst>
              </p:cNvPr>
              <p:cNvSpPr/>
              <p:nvPr/>
            </p:nvSpPr>
            <p:spPr>
              <a:xfrm>
                <a:off x="11080954" y="225907"/>
                <a:ext cx="1111044" cy="8309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object 2">
                <a:extLst>
                  <a:ext uri="{FF2B5EF4-FFF2-40B4-BE49-F238E27FC236}">
                    <a16:creationId xmlns:a16="http://schemas.microsoft.com/office/drawing/2014/main" id="{7BC37C5F-DE61-0E20-76E5-3784E087B612}"/>
                  </a:ext>
                </a:extLst>
              </p:cNvPr>
              <p:cNvSpPr/>
              <p:nvPr/>
            </p:nvSpPr>
            <p:spPr>
              <a:xfrm>
                <a:off x="11313789" y="336886"/>
                <a:ext cx="645374" cy="638891"/>
              </a:xfrm>
              <a:prstGeom prst="rect">
                <a:avLst/>
              </a:prstGeom>
              <a:blipFill>
                <a:blip r:embed="rId3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dirty="0">
                  <a:effectLst>
                    <a:glow rad="228600">
                      <a:schemeClr val="accent1">
                        <a:satMod val="175000"/>
                        <a:alpha val="40000"/>
                      </a:schemeClr>
                    </a:glow>
                  </a:effectLst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1ACD214-EA56-F6B9-2E89-AAD05E8C5B20}"/>
                  </a:ext>
                </a:extLst>
              </p:cNvPr>
              <p:cNvSpPr/>
              <p:nvPr/>
            </p:nvSpPr>
            <p:spPr>
              <a:xfrm>
                <a:off x="0" y="225908"/>
                <a:ext cx="11080954" cy="830995"/>
              </a:xfrm>
              <a:prstGeom prst="rect">
                <a:avLst/>
              </a:prstGeom>
              <a:solidFill>
                <a:srgbClr val="154E1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F8E6BCE-50E4-17D7-BDF7-C11F16EFB9EF}"/>
                </a:ext>
              </a:extLst>
            </p:cNvPr>
            <p:cNvSpPr txBox="1"/>
            <p:nvPr/>
          </p:nvSpPr>
          <p:spPr>
            <a:xfrm>
              <a:off x="249364" y="379795"/>
              <a:ext cx="1083158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Balanced Wye-Wye Connection</a:t>
              </a:r>
              <a:endParaRPr lang="en-AE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89B8FBF-4843-3A01-E341-C404E755B6AC}"/>
              </a:ext>
            </a:extLst>
          </p:cNvPr>
          <p:cNvSpPr txBox="1"/>
          <p:nvPr/>
        </p:nvSpPr>
        <p:spPr>
          <a:xfrm>
            <a:off x="277385" y="1409966"/>
            <a:ext cx="581861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balanced Y-Y system is a three-phase system with a 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balanced Y-connected source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a </a:t>
            </a:r>
            <a:r>
              <a:rPr lang="en-US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balanced Y-connected load.</a:t>
            </a:r>
            <a:endParaRPr lang="en-AE" sz="24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B985FD-49DA-FDDF-2560-3368728767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3419" y="1156243"/>
            <a:ext cx="4854361" cy="430567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A5B1A33-E0B2-2C6C-A835-9C60D70EF678}"/>
              </a:ext>
            </a:extLst>
          </p:cNvPr>
          <p:cNvSpPr txBox="1"/>
          <p:nvPr/>
        </p:nvSpPr>
        <p:spPr>
          <a:xfrm>
            <a:off x="6183418" y="5580256"/>
            <a:ext cx="48543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1: A balanced Y-Y system, showing the source, line, and load impedances.</a:t>
            </a:r>
            <a:endParaRPr lang="en-A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2C6BB3B-D897-D710-AFBA-8ADD9006E9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212" y="3831635"/>
            <a:ext cx="4301887" cy="93293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FB2C1F1-4377-9482-2814-248C1B1EDB1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212" y="4934619"/>
            <a:ext cx="3456722" cy="52729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10A228A-482B-ED99-2D70-29D8750B2C83}"/>
              </a:ext>
            </a:extLst>
          </p:cNvPr>
          <p:cNvSpPr txBox="1"/>
          <p:nvPr/>
        </p:nvSpPr>
        <p:spPr>
          <a:xfrm>
            <a:off x="249364" y="3096670"/>
            <a:ext cx="58186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Voltage:</a:t>
            </a:r>
            <a:endParaRPr lang="en-AE" sz="2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35522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34A5AF-94E7-1FD1-2754-5206C7C16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4E1FC72-2FF0-20D1-D38B-4DFF6853A1D8}"/>
              </a:ext>
            </a:extLst>
          </p:cNvPr>
          <p:cNvSpPr/>
          <p:nvPr/>
        </p:nvSpPr>
        <p:spPr>
          <a:xfrm>
            <a:off x="0" y="6480143"/>
            <a:ext cx="12192000" cy="302260"/>
          </a:xfrm>
          <a:prstGeom prst="rect">
            <a:avLst/>
          </a:prstGeom>
          <a:solidFill>
            <a:srgbClr val="154E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34F6EB-D2EE-631F-C3BF-530383A058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3312"/>
            <a:ext cx="2743200" cy="365125"/>
          </a:xfrm>
        </p:spPr>
        <p:txBody>
          <a:bodyPr/>
          <a:lstStyle/>
          <a:p>
            <a:r>
              <a:rPr lang="en-US" sz="1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26/01/2026</a:t>
            </a:r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567576-7EE6-E887-15F8-142F9DE79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43312"/>
            <a:ext cx="4114800" cy="365125"/>
          </a:xfrm>
        </p:spPr>
        <p:txBody>
          <a:bodyPr/>
          <a:lstStyle/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CSE, BAUET</a:t>
            </a:r>
            <a:endParaRPr lang="en-AE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48B6DF-9C5C-9678-C860-2A69E4F8D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3312"/>
            <a:ext cx="2743200" cy="365125"/>
          </a:xfrm>
        </p:spPr>
        <p:txBody>
          <a:bodyPr/>
          <a:lstStyle/>
          <a:p>
            <a:fld id="{E407BDCA-6C04-4DE3-905E-17E4BFE04F46}" type="slidenum">
              <a:rPr lang="en-AE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9580E2B-5CB3-0765-F715-11930C915B2E}"/>
              </a:ext>
            </a:extLst>
          </p:cNvPr>
          <p:cNvGrpSpPr/>
          <p:nvPr/>
        </p:nvGrpSpPr>
        <p:grpSpPr>
          <a:xfrm>
            <a:off x="0" y="92595"/>
            <a:ext cx="12191998" cy="830997"/>
            <a:chOff x="0" y="225907"/>
            <a:chExt cx="12191998" cy="83099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90DD2F6D-FC14-AE3C-B4B0-AAF1EE8B2D22}"/>
                </a:ext>
              </a:extLst>
            </p:cNvPr>
            <p:cNvGrpSpPr/>
            <p:nvPr/>
          </p:nvGrpSpPr>
          <p:grpSpPr>
            <a:xfrm>
              <a:off x="0" y="225907"/>
              <a:ext cx="12191998" cy="830997"/>
              <a:chOff x="0" y="225907"/>
              <a:chExt cx="12191998" cy="8309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7EF93A0-E5E2-9BE1-8785-227F6B4C08E3}"/>
                  </a:ext>
                </a:extLst>
              </p:cNvPr>
              <p:cNvSpPr/>
              <p:nvPr/>
            </p:nvSpPr>
            <p:spPr>
              <a:xfrm>
                <a:off x="11080954" y="225907"/>
                <a:ext cx="1111044" cy="8309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object 2">
                <a:extLst>
                  <a:ext uri="{FF2B5EF4-FFF2-40B4-BE49-F238E27FC236}">
                    <a16:creationId xmlns:a16="http://schemas.microsoft.com/office/drawing/2014/main" id="{B1DDE2AC-92BB-E3AF-B751-F58F4A473515}"/>
                  </a:ext>
                </a:extLst>
              </p:cNvPr>
              <p:cNvSpPr/>
              <p:nvPr/>
            </p:nvSpPr>
            <p:spPr>
              <a:xfrm>
                <a:off x="11313789" y="336886"/>
                <a:ext cx="645374" cy="638891"/>
              </a:xfrm>
              <a:prstGeom prst="rect">
                <a:avLst/>
              </a:prstGeom>
              <a:blipFill>
                <a:blip r:embed="rId3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dirty="0">
                  <a:effectLst>
                    <a:glow rad="228600">
                      <a:schemeClr val="accent1">
                        <a:satMod val="175000"/>
                        <a:alpha val="40000"/>
                      </a:schemeClr>
                    </a:glow>
                  </a:effectLst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99D866BA-0500-815E-494D-731A5A82C303}"/>
                  </a:ext>
                </a:extLst>
              </p:cNvPr>
              <p:cNvSpPr/>
              <p:nvPr/>
            </p:nvSpPr>
            <p:spPr>
              <a:xfrm>
                <a:off x="0" y="225908"/>
                <a:ext cx="11080954" cy="830995"/>
              </a:xfrm>
              <a:prstGeom prst="rect">
                <a:avLst/>
              </a:prstGeom>
              <a:solidFill>
                <a:srgbClr val="154E1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55536B5-F52F-6D51-D92A-DD5464043826}"/>
                </a:ext>
              </a:extLst>
            </p:cNvPr>
            <p:cNvSpPr txBox="1"/>
            <p:nvPr/>
          </p:nvSpPr>
          <p:spPr>
            <a:xfrm>
              <a:off x="249364" y="379795"/>
              <a:ext cx="1083158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Balanced Wye-Wye Connection</a:t>
              </a:r>
              <a:endParaRPr lang="en-AE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A7E57ECB-3880-7C1E-BF6C-7750EF145B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3419" y="1156243"/>
            <a:ext cx="4854361" cy="430567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D03A7D4-4DA0-697D-02D6-EDABC072AE46}"/>
              </a:ext>
            </a:extLst>
          </p:cNvPr>
          <p:cNvSpPr txBox="1"/>
          <p:nvPr/>
        </p:nvSpPr>
        <p:spPr>
          <a:xfrm>
            <a:off x="6183418" y="5580256"/>
            <a:ext cx="48543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1: A balanced Y-Y system, showing the source, line, and load impedances.</a:t>
            </a:r>
            <a:endParaRPr lang="en-A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7D90DFB-9E6B-8165-E777-FDFA67E792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363" y="1760931"/>
            <a:ext cx="5237277" cy="98033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4DCA035-14EA-6361-C714-B823ACE33D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9362" y="2684164"/>
            <a:ext cx="3974611" cy="94243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EC5BE6B-FF10-12E5-03CE-D997C8D17801}"/>
              </a:ext>
            </a:extLst>
          </p:cNvPr>
          <p:cNvSpPr txBox="1"/>
          <p:nvPr/>
        </p:nvSpPr>
        <p:spPr>
          <a:xfrm>
            <a:off x="249364" y="1182111"/>
            <a:ext cx="58186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 Voltage:</a:t>
            </a:r>
            <a:endParaRPr lang="en-AE" sz="2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6CB8ADC-C226-3883-5A0D-5A9A91DE528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601" y="3933379"/>
            <a:ext cx="3503204" cy="630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8788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C86096-A774-6468-7C84-379B7DBBE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DCDB3BF-6925-68D8-E8C0-0FCB3149B3D4}"/>
              </a:ext>
            </a:extLst>
          </p:cNvPr>
          <p:cNvSpPr/>
          <p:nvPr/>
        </p:nvSpPr>
        <p:spPr>
          <a:xfrm>
            <a:off x="0" y="6480143"/>
            <a:ext cx="12192000" cy="302260"/>
          </a:xfrm>
          <a:prstGeom prst="rect">
            <a:avLst/>
          </a:prstGeom>
          <a:solidFill>
            <a:srgbClr val="154E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6A1295-11ED-1594-B469-50FEE3FACF4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3312"/>
            <a:ext cx="2743200" cy="365125"/>
          </a:xfrm>
        </p:spPr>
        <p:txBody>
          <a:bodyPr/>
          <a:lstStyle/>
          <a:p>
            <a:r>
              <a:rPr lang="en-US" sz="1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26/01/2026</a:t>
            </a:r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A8B83F-967A-E7FD-AACA-E7E4F61AE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43312"/>
            <a:ext cx="4114800" cy="365125"/>
          </a:xfrm>
        </p:spPr>
        <p:txBody>
          <a:bodyPr/>
          <a:lstStyle/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CSE, BAUET</a:t>
            </a:r>
            <a:endParaRPr lang="en-AE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41F714-AA5D-DE56-C90A-F565DB0F8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3312"/>
            <a:ext cx="2743200" cy="365125"/>
          </a:xfrm>
        </p:spPr>
        <p:txBody>
          <a:bodyPr/>
          <a:lstStyle/>
          <a:p>
            <a:fld id="{E407BDCA-6C04-4DE3-905E-17E4BFE04F46}" type="slidenum">
              <a:rPr lang="en-AE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66D90FA-90B4-C7CB-079D-1C0AA9FC92E4}"/>
              </a:ext>
            </a:extLst>
          </p:cNvPr>
          <p:cNvGrpSpPr/>
          <p:nvPr/>
        </p:nvGrpSpPr>
        <p:grpSpPr>
          <a:xfrm>
            <a:off x="0" y="92595"/>
            <a:ext cx="12191998" cy="830997"/>
            <a:chOff x="0" y="225907"/>
            <a:chExt cx="12191998" cy="83099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2C61BA7-CA9F-F39D-DDD6-36CE85E6E0BF}"/>
                </a:ext>
              </a:extLst>
            </p:cNvPr>
            <p:cNvGrpSpPr/>
            <p:nvPr/>
          </p:nvGrpSpPr>
          <p:grpSpPr>
            <a:xfrm>
              <a:off x="0" y="225907"/>
              <a:ext cx="12191998" cy="830997"/>
              <a:chOff x="0" y="225907"/>
              <a:chExt cx="12191998" cy="8309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F9419B2-1404-B270-0133-B78907E89567}"/>
                  </a:ext>
                </a:extLst>
              </p:cNvPr>
              <p:cNvSpPr/>
              <p:nvPr/>
            </p:nvSpPr>
            <p:spPr>
              <a:xfrm>
                <a:off x="11080954" y="225907"/>
                <a:ext cx="1111044" cy="8309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object 2">
                <a:extLst>
                  <a:ext uri="{FF2B5EF4-FFF2-40B4-BE49-F238E27FC236}">
                    <a16:creationId xmlns:a16="http://schemas.microsoft.com/office/drawing/2014/main" id="{AB1E2D39-C0B1-EAB9-B48E-1A4AA206A670}"/>
                  </a:ext>
                </a:extLst>
              </p:cNvPr>
              <p:cNvSpPr/>
              <p:nvPr/>
            </p:nvSpPr>
            <p:spPr>
              <a:xfrm>
                <a:off x="11313789" y="336886"/>
                <a:ext cx="645374" cy="638891"/>
              </a:xfrm>
              <a:prstGeom prst="rect">
                <a:avLst/>
              </a:prstGeom>
              <a:blipFill>
                <a:blip r:embed="rId3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dirty="0">
                  <a:effectLst>
                    <a:glow rad="228600">
                      <a:schemeClr val="accent1">
                        <a:satMod val="175000"/>
                        <a:alpha val="40000"/>
                      </a:schemeClr>
                    </a:glow>
                  </a:effectLst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64F82AB-526E-26F4-FD6C-1738CEB3CF09}"/>
                  </a:ext>
                </a:extLst>
              </p:cNvPr>
              <p:cNvSpPr/>
              <p:nvPr/>
            </p:nvSpPr>
            <p:spPr>
              <a:xfrm>
                <a:off x="0" y="225908"/>
                <a:ext cx="11080954" cy="830995"/>
              </a:xfrm>
              <a:prstGeom prst="rect">
                <a:avLst/>
              </a:prstGeom>
              <a:solidFill>
                <a:srgbClr val="154E1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A7626E1-8B35-CEA7-4049-2375B5BE7EB2}"/>
                </a:ext>
              </a:extLst>
            </p:cNvPr>
            <p:cNvSpPr txBox="1"/>
            <p:nvPr/>
          </p:nvSpPr>
          <p:spPr>
            <a:xfrm>
              <a:off x="249364" y="379795"/>
              <a:ext cx="1083158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Balanced Wye-Wye Connection</a:t>
              </a:r>
              <a:endParaRPr lang="en-AE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8D3B2735-1D91-A9AE-ACBA-FEB83BAB65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3419" y="1156243"/>
            <a:ext cx="4854361" cy="430567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34DCF68-B042-5A08-1191-D78FBC5D0A62}"/>
              </a:ext>
            </a:extLst>
          </p:cNvPr>
          <p:cNvSpPr txBox="1"/>
          <p:nvPr/>
        </p:nvSpPr>
        <p:spPr>
          <a:xfrm>
            <a:off x="6183418" y="5580256"/>
            <a:ext cx="48543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1: A balanced Y-Y system, showing the source, line, and load impedances.</a:t>
            </a:r>
            <a:endParaRPr lang="en-A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C0A0B92-71F5-5F98-4FF0-BA97B9D7F08C}"/>
                  </a:ext>
                </a:extLst>
              </p:cNvPr>
              <p:cNvSpPr txBox="1"/>
              <p:nvPr/>
            </p:nvSpPr>
            <p:spPr>
              <a:xfrm>
                <a:off x="1756150" y="3606046"/>
                <a:ext cx="2282450" cy="59683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>
                <a:solidFill>
                  <a:srgbClr val="0070C0"/>
                </a:solidFill>
              </a:ln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>
                  <a:lnSpc>
                    <a:spcPct val="150000"/>
                  </a:lnSpc>
                  <a:defRPr sz="2400" b="0" i="1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n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C0A0B92-71F5-5F98-4FF0-BA97B9D7F0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6150" y="3606046"/>
                <a:ext cx="2282450" cy="59683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905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2373E09-A06C-8ACF-FC77-DBCF0C38CDAB}"/>
                  </a:ext>
                </a:extLst>
              </p:cNvPr>
              <p:cNvSpPr txBox="1"/>
              <p:nvPr/>
            </p:nvSpPr>
            <p:spPr>
              <a:xfrm>
                <a:off x="1756150" y="2577027"/>
                <a:ext cx="2282450" cy="674928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>
                <a:solidFill>
                  <a:srgbClr val="0070C0"/>
                </a:solidFill>
              </a:ln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>
                  <a:lnSpc>
                    <a:spcPct val="150000"/>
                  </a:lnSpc>
                  <a:defRPr sz="2400" b="0" i="1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rad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m:rPr>
                          <m:nor/>
                        </m:rPr>
                        <a:rPr lang="en-AE"/>
                        <m:t>∠</m:t>
                      </m:r>
                      <m:r>
                        <m:rPr>
                          <m:nor/>
                        </m:rPr>
                        <a:rPr lang="en-US"/>
                        <m:t>30</m:t>
                      </m:r>
                      <m:r>
                        <m:rPr>
                          <m:nor/>
                        </m:rPr>
                        <a:rPr lang="en-AE"/>
                        <m:t>°</m:t>
                      </m:r>
                    </m:oMath>
                  </m:oMathPara>
                </a14:m>
                <a:endParaRPr lang="en-AE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2373E09-A06C-8ACF-FC77-DBCF0C38CD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6150" y="2577027"/>
                <a:ext cx="2282450" cy="67492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905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7277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9263C3-CE15-2C02-B357-94F958ED8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08DC4F0-D06D-4B48-8AD5-3C30FE76978E}"/>
              </a:ext>
            </a:extLst>
          </p:cNvPr>
          <p:cNvSpPr/>
          <p:nvPr/>
        </p:nvSpPr>
        <p:spPr>
          <a:xfrm>
            <a:off x="0" y="6480143"/>
            <a:ext cx="12192000" cy="302260"/>
          </a:xfrm>
          <a:prstGeom prst="rect">
            <a:avLst/>
          </a:prstGeom>
          <a:solidFill>
            <a:srgbClr val="154E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7CF82C-296D-417F-9790-B1E5786DACB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3312"/>
            <a:ext cx="2743200" cy="365125"/>
          </a:xfrm>
        </p:spPr>
        <p:txBody>
          <a:bodyPr/>
          <a:lstStyle/>
          <a:p>
            <a:r>
              <a:rPr lang="en-US" sz="1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26/01/2026</a:t>
            </a:r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FCBD8-E5F0-246D-F5F1-B479BA662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43312"/>
            <a:ext cx="4114800" cy="365125"/>
          </a:xfrm>
        </p:spPr>
        <p:txBody>
          <a:bodyPr/>
          <a:lstStyle/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CSE, BAUET</a:t>
            </a:r>
            <a:endParaRPr lang="en-AE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62B310-AB4E-C8BA-BC0F-FB90A4E5E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3312"/>
            <a:ext cx="2743200" cy="365125"/>
          </a:xfrm>
        </p:spPr>
        <p:txBody>
          <a:bodyPr/>
          <a:lstStyle/>
          <a:p>
            <a:fld id="{E407BDCA-6C04-4DE3-905E-17E4BFE04F46}" type="slidenum">
              <a:rPr lang="en-AE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9E73EA7-F557-A262-0FA3-D9B54D39B9A9}"/>
              </a:ext>
            </a:extLst>
          </p:cNvPr>
          <p:cNvGrpSpPr/>
          <p:nvPr/>
        </p:nvGrpSpPr>
        <p:grpSpPr>
          <a:xfrm>
            <a:off x="0" y="92595"/>
            <a:ext cx="12191998" cy="830997"/>
            <a:chOff x="0" y="225907"/>
            <a:chExt cx="12191998" cy="83099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B103ED6-78CF-BB4B-2B29-810AEF809A6E}"/>
                </a:ext>
              </a:extLst>
            </p:cNvPr>
            <p:cNvGrpSpPr/>
            <p:nvPr/>
          </p:nvGrpSpPr>
          <p:grpSpPr>
            <a:xfrm>
              <a:off x="0" y="225907"/>
              <a:ext cx="12191998" cy="830997"/>
              <a:chOff x="0" y="225907"/>
              <a:chExt cx="12191998" cy="8309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5478E96-89BE-0E50-0CF1-53E01D4140BD}"/>
                  </a:ext>
                </a:extLst>
              </p:cNvPr>
              <p:cNvSpPr/>
              <p:nvPr/>
            </p:nvSpPr>
            <p:spPr>
              <a:xfrm>
                <a:off x="11080954" y="225907"/>
                <a:ext cx="1111044" cy="8309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object 2">
                <a:extLst>
                  <a:ext uri="{FF2B5EF4-FFF2-40B4-BE49-F238E27FC236}">
                    <a16:creationId xmlns:a16="http://schemas.microsoft.com/office/drawing/2014/main" id="{FC5E9082-2368-4060-CE79-6CC0FCA92496}"/>
                  </a:ext>
                </a:extLst>
              </p:cNvPr>
              <p:cNvSpPr/>
              <p:nvPr/>
            </p:nvSpPr>
            <p:spPr>
              <a:xfrm>
                <a:off x="11313789" y="336886"/>
                <a:ext cx="645374" cy="638891"/>
              </a:xfrm>
              <a:prstGeom prst="rect">
                <a:avLst/>
              </a:prstGeom>
              <a:blipFill>
                <a:blip r:embed="rId3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dirty="0">
                  <a:effectLst>
                    <a:glow rad="228600">
                      <a:schemeClr val="accent1">
                        <a:satMod val="175000"/>
                        <a:alpha val="40000"/>
                      </a:schemeClr>
                    </a:glow>
                  </a:effectLst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AB34804-5E3D-27B0-E896-3DFDBFD097F4}"/>
                  </a:ext>
                </a:extLst>
              </p:cNvPr>
              <p:cNvSpPr/>
              <p:nvPr/>
            </p:nvSpPr>
            <p:spPr>
              <a:xfrm>
                <a:off x="0" y="225908"/>
                <a:ext cx="11080954" cy="830995"/>
              </a:xfrm>
              <a:prstGeom prst="rect">
                <a:avLst/>
              </a:prstGeom>
              <a:solidFill>
                <a:srgbClr val="154E1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FD49344-9B54-AC28-F0B2-3B33370E7370}"/>
                </a:ext>
              </a:extLst>
            </p:cNvPr>
            <p:cNvSpPr txBox="1"/>
            <p:nvPr/>
          </p:nvSpPr>
          <p:spPr>
            <a:xfrm>
              <a:off x="249364" y="379795"/>
              <a:ext cx="1083158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Balanced Wye-Wye Connection</a:t>
              </a:r>
              <a:endParaRPr lang="en-AE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B28B49A8-B934-36D1-CE5E-F66D86DFD1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7001" y="1156243"/>
            <a:ext cx="4854361" cy="430567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B459F05-9511-3FCA-61CE-16E884ACB7CC}"/>
              </a:ext>
            </a:extLst>
          </p:cNvPr>
          <p:cNvSpPr txBox="1"/>
          <p:nvPr/>
        </p:nvSpPr>
        <p:spPr>
          <a:xfrm>
            <a:off x="1367000" y="5545797"/>
            <a:ext cx="48543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1: A balanced Y-Y system, showing the source, line, and load impedances.</a:t>
            </a:r>
            <a:endParaRPr lang="en-A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5FF55DD-B990-9CC6-A479-309D6127F3BA}"/>
              </a:ext>
            </a:extLst>
          </p:cNvPr>
          <p:cNvGrpSpPr/>
          <p:nvPr/>
        </p:nvGrpSpPr>
        <p:grpSpPr>
          <a:xfrm>
            <a:off x="7271139" y="1077478"/>
            <a:ext cx="3310963" cy="4438823"/>
            <a:chOff x="1742818" y="1077478"/>
            <a:chExt cx="3677163" cy="4929767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D4B7409A-1EEB-8E2C-0A73-A734773711D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742818" y="3120767"/>
              <a:ext cx="3677163" cy="2886478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7B7CD909-1C48-4189-FC4F-1014BBD7DFC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742818" y="1077478"/>
              <a:ext cx="3677163" cy="2151441"/>
            </a:xfrm>
            <a:prstGeom prst="rect">
              <a:avLst/>
            </a:prstGeom>
          </p:spPr>
        </p:pic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0F0D1CCB-FAEB-3067-8519-FF164B0B46F0}"/>
              </a:ext>
            </a:extLst>
          </p:cNvPr>
          <p:cNvSpPr txBox="1"/>
          <p:nvPr/>
        </p:nvSpPr>
        <p:spPr>
          <a:xfrm>
            <a:off x="6499439" y="5545797"/>
            <a:ext cx="48543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3: Phasor diagram of line voltage and phase voltage of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abalanced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Y-Y system.</a:t>
            </a:r>
            <a:endParaRPr lang="en-A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0380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CC755D-7F66-F940-9A07-6B13ADE48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D8610E8-D4B4-821A-B31C-B47157F7EAF8}"/>
              </a:ext>
            </a:extLst>
          </p:cNvPr>
          <p:cNvSpPr/>
          <p:nvPr/>
        </p:nvSpPr>
        <p:spPr>
          <a:xfrm>
            <a:off x="0" y="6480143"/>
            <a:ext cx="12192000" cy="302260"/>
          </a:xfrm>
          <a:prstGeom prst="rect">
            <a:avLst/>
          </a:prstGeom>
          <a:solidFill>
            <a:srgbClr val="154E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DD8B2D-9FE3-E8AB-2905-42478AD5138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3312"/>
            <a:ext cx="2743200" cy="365125"/>
          </a:xfrm>
        </p:spPr>
        <p:txBody>
          <a:bodyPr/>
          <a:lstStyle/>
          <a:p>
            <a:r>
              <a:rPr lang="en-US" sz="1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26/01/2026</a:t>
            </a:r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E56CB3-B2B5-FD40-E411-84921E6AF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43312"/>
            <a:ext cx="4114800" cy="365125"/>
          </a:xfrm>
        </p:spPr>
        <p:txBody>
          <a:bodyPr/>
          <a:lstStyle/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CSE, BAUET</a:t>
            </a:r>
            <a:endParaRPr lang="en-AE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19BA24-1BE6-500C-A8AF-437736E6B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3312"/>
            <a:ext cx="2743200" cy="365125"/>
          </a:xfrm>
        </p:spPr>
        <p:txBody>
          <a:bodyPr/>
          <a:lstStyle/>
          <a:p>
            <a:fld id="{E407BDCA-6C04-4DE3-905E-17E4BFE04F46}" type="slidenum">
              <a:rPr lang="en-AE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A048A1C-AA7C-8B75-E7C3-09970DE4A8A9}"/>
              </a:ext>
            </a:extLst>
          </p:cNvPr>
          <p:cNvGrpSpPr/>
          <p:nvPr/>
        </p:nvGrpSpPr>
        <p:grpSpPr>
          <a:xfrm>
            <a:off x="0" y="92595"/>
            <a:ext cx="12191998" cy="830997"/>
            <a:chOff x="0" y="225907"/>
            <a:chExt cx="12191998" cy="83099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D951908-ADCB-5A1A-4391-2C970287C308}"/>
                </a:ext>
              </a:extLst>
            </p:cNvPr>
            <p:cNvGrpSpPr/>
            <p:nvPr/>
          </p:nvGrpSpPr>
          <p:grpSpPr>
            <a:xfrm>
              <a:off x="0" y="225907"/>
              <a:ext cx="12191998" cy="830997"/>
              <a:chOff x="0" y="225907"/>
              <a:chExt cx="12191998" cy="8309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10C8666-65FD-039C-F149-CD0CC54941A4}"/>
                  </a:ext>
                </a:extLst>
              </p:cNvPr>
              <p:cNvSpPr/>
              <p:nvPr/>
            </p:nvSpPr>
            <p:spPr>
              <a:xfrm>
                <a:off x="11080954" y="225907"/>
                <a:ext cx="1111044" cy="8309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object 2">
                <a:extLst>
                  <a:ext uri="{FF2B5EF4-FFF2-40B4-BE49-F238E27FC236}">
                    <a16:creationId xmlns:a16="http://schemas.microsoft.com/office/drawing/2014/main" id="{E386E32C-3219-8E5F-118E-A978469C5A90}"/>
                  </a:ext>
                </a:extLst>
              </p:cNvPr>
              <p:cNvSpPr/>
              <p:nvPr/>
            </p:nvSpPr>
            <p:spPr>
              <a:xfrm>
                <a:off x="11313789" y="336886"/>
                <a:ext cx="645374" cy="638891"/>
              </a:xfrm>
              <a:prstGeom prst="rect">
                <a:avLst/>
              </a:prstGeom>
              <a:blipFill>
                <a:blip r:embed="rId3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dirty="0">
                  <a:effectLst>
                    <a:glow rad="228600">
                      <a:schemeClr val="accent1">
                        <a:satMod val="175000"/>
                        <a:alpha val="40000"/>
                      </a:schemeClr>
                    </a:glow>
                  </a:effectLst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8A54166-AFDA-43F4-72FF-3186447835F5}"/>
                  </a:ext>
                </a:extLst>
              </p:cNvPr>
              <p:cNvSpPr/>
              <p:nvPr/>
            </p:nvSpPr>
            <p:spPr>
              <a:xfrm>
                <a:off x="0" y="225908"/>
                <a:ext cx="11080954" cy="830995"/>
              </a:xfrm>
              <a:prstGeom prst="rect">
                <a:avLst/>
              </a:prstGeom>
              <a:solidFill>
                <a:srgbClr val="154E1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85346D9-5D4D-0A54-62F3-0492C737E5CD}"/>
                </a:ext>
              </a:extLst>
            </p:cNvPr>
            <p:cNvSpPr txBox="1"/>
            <p:nvPr/>
          </p:nvSpPr>
          <p:spPr>
            <a:xfrm>
              <a:off x="249364" y="379795"/>
              <a:ext cx="1083158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Balanced Wye-Delta Connection</a:t>
              </a:r>
              <a:endParaRPr lang="en-AE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CC214E3C-E2F8-7AFC-68F5-EBAE343AD8FB}"/>
              </a:ext>
            </a:extLst>
          </p:cNvPr>
          <p:cNvSpPr txBox="1"/>
          <p:nvPr/>
        </p:nvSpPr>
        <p:spPr>
          <a:xfrm>
            <a:off x="1588012" y="5498702"/>
            <a:ext cx="48543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4: A balanced Y-</a:t>
            </a:r>
            <a:r>
              <a:rPr lang="el-GR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system.</a:t>
            </a:r>
            <a:endParaRPr lang="en-A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CB8A8D6-7EE6-6B29-D4A9-DCC8F03E2A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4326" y="1923082"/>
            <a:ext cx="5505850" cy="341842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BB1906A-F6FE-3F22-C37E-34B7C58A31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320" y="2360642"/>
            <a:ext cx="3057952" cy="273405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3FB8392-0541-E1D2-8D01-8E3E08A1655D}"/>
              </a:ext>
            </a:extLst>
          </p:cNvPr>
          <p:cNvSpPr txBox="1"/>
          <p:nvPr/>
        </p:nvSpPr>
        <p:spPr>
          <a:xfrm>
            <a:off x="6782115" y="5498702"/>
            <a:ext cx="48543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5: Phasor diagram of line current and phase current of  a balanced Y-</a:t>
            </a:r>
            <a:r>
              <a:rPr lang="el-GR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system.</a:t>
            </a:r>
            <a:endParaRPr lang="en-A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6803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C2C482-FFA5-53C6-BE82-372BBB025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70560BC-4739-DC4B-6F26-E0A4DC80FC9E}"/>
              </a:ext>
            </a:extLst>
          </p:cNvPr>
          <p:cNvSpPr/>
          <p:nvPr/>
        </p:nvSpPr>
        <p:spPr>
          <a:xfrm>
            <a:off x="0" y="6480143"/>
            <a:ext cx="12192000" cy="302260"/>
          </a:xfrm>
          <a:prstGeom prst="rect">
            <a:avLst/>
          </a:prstGeom>
          <a:solidFill>
            <a:srgbClr val="154E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E2A8AF-8C63-8ECC-BE98-3459633A638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3312"/>
            <a:ext cx="2743200" cy="365125"/>
          </a:xfrm>
        </p:spPr>
        <p:txBody>
          <a:bodyPr/>
          <a:lstStyle/>
          <a:p>
            <a:r>
              <a:rPr lang="en-US" sz="1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26/01/2026</a:t>
            </a:r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169341-04CD-7909-F9A4-D1A8E9691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43312"/>
            <a:ext cx="4114800" cy="365125"/>
          </a:xfrm>
        </p:spPr>
        <p:txBody>
          <a:bodyPr/>
          <a:lstStyle/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CSE, BAUET</a:t>
            </a:r>
            <a:endParaRPr lang="en-AE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44FE05-304B-F4DC-08BF-1D66EF83E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3312"/>
            <a:ext cx="2743200" cy="365125"/>
          </a:xfrm>
        </p:spPr>
        <p:txBody>
          <a:bodyPr/>
          <a:lstStyle/>
          <a:p>
            <a:fld id="{E407BDCA-6C04-4DE3-905E-17E4BFE04F46}" type="slidenum">
              <a:rPr lang="en-AE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76C28A2-0AC7-03A3-CC26-D379F84618C4}"/>
              </a:ext>
            </a:extLst>
          </p:cNvPr>
          <p:cNvGrpSpPr/>
          <p:nvPr/>
        </p:nvGrpSpPr>
        <p:grpSpPr>
          <a:xfrm>
            <a:off x="0" y="92595"/>
            <a:ext cx="12191998" cy="830997"/>
            <a:chOff x="0" y="225907"/>
            <a:chExt cx="12191998" cy="83099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BF98E3FC-899C-8A30-2D6F-7423B11D798F}"/>
                </a:ext>
              </a:extLst>
            </p:cNvPr>
            <p:cNvGrpSpPr/>
            <p:nvPr/>
          </p:nvGrpSpPr>
          <p:grpSpPr>
            <a:xfrm>
              <a:off x="0" y="225907"/>
              <a:ext cx="12191998" cy="830997"/>
              <a:chOff x="0" y="225907"/>
              <a:chExt cx="12191998" cy="8309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EEEA2E0-8C6C-B4E2-9245-59139F631B75}"/>
                  </a:ext>
                </a:extLst>
              </p:cNvPr>
              <p:cNvSpPr/>
              <p:nvPr/>
            </p:nvSpPr>
            <p:spPr>
              <a:xfrm>
                <a:off x="11080954" y="225907"/>
                <a:ext cx="1111044" cy="8309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object 2">
                <a:extLst>
                  <a:ext uri="{FF2B5EF4-FFF2-40B4-BE49-F238E27FC236}">
                    <a16:creationId xmlns:a16="http://schemas.microsoft.com/office/drawing/2014/main" id="{4D782577-1C26-E700-965C-86C324E27707}"/>
                  </a:ext>
                </a:extLst>
              </p:cNvPr>
              <p:cNvSpPr/>
              <p:nvPr/>
            </p:nvSpPr>
            <p:spPr>
              <a:xfrm>
                <a:off x="11313789" y="336886"/>
                <a:ext cx="645374" cy="638891"/>
              </a:xfrm>
              <a:prstGeom prst="rect">
                <a:avLst/>
              </a:prstGeom>
              <a:blipFill>
                <a:blip r:embed="rId3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dirty="0">
                  <a:effectLst>
                    <a:glow rad="228600">
                      <a:schemeClr val="accent1">
                        <a:satMod val="175000"/>
                        <a:alpha val="40000"/>
                      </a:schemeClr>
                    </a:glow>
                  </a:effectLst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2D505FC1-2C66-CF2C-C9FA-A0162366960E}"/>
                  </a:ext>
                </a:extLst>
              </p:cNvPr>
              <p:cNvSpPr/>
              <p:nvPr/>
            </p:nvSpPr>
            <p:spPr>
              <a:xfrm>
                <a:off x="0" y="225908"/>
                <a:ext cx="11080954" cy="830995"/>
              </a:xfrm>
              <a:prstGeom prst="rect">
                <a:avLst/>
              </a:prstGeom>
              <a:solidFill>
                <a:srgbClr val="154E1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777213F-A0AD-A29B-4801-1EE5380C0B0D}"/>
                </a:ext>
              </a:extLst>
            </p:cNvPr>
            <p:cNvSpPr txBox="1"/>
            <p:nvPr/>
          </p:nvSpPr>
          <p:spPr>
            <a:xfrm>
              <a:off x="249364" y="379795"/>
              <a:ext cx="1083158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Balanced Delta-Delta Connection</a:t>
              </a:r>
              <a:endParaRPr lang="en-AE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E6A31046-CA69-57A3-6BE3-382358B8B5DD}"/>
              </a:ext>
            </a:extLst>
          </p:cNvPr>
          <p:cNvSpPr txBox="1"/>
          <p:nvPr/>
        </p:nvSpPr>
        <p:spPr>
          <a:xfrm>
            <a:off x="6183418" y="5180504"/>
            <a:ext cx="48543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3: A balanced </a:t>
            </a:r>
            <a:r>
              <a:rPr lang="el-G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l-G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Δ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system.</a:t>
            </a:r>
            <a:endParaRPr lang="en-A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435E87-4D8D-F573-7D6D-1C7CFF7090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9698" y="1805870"/>
            <a:ext cx="6705919" cy="317987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B275BDB-0487-96D1-24B5-98072899D30E}"/>
                  </a:ext>
                </a:extLst>
              </p:cNvPr>
              <p:cNvSpPr txBox="1"/>
              <p:nvPr/>
            </p:nvSpPr>
            <p:spPr>
              <a:xfrm>
                <a:off x="1756150" y="2577027"/>
                <a:ext cx="2282450" cy="59683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>
                <a:solidFill>
                  <a:srgbClr val="0070C0"/>
                </a:solidFill>
              </a:ln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>
                  <a:lnSpc>
                    <a:spcPct val="150000"/>
                  </a:lnSpc>
                  <a:defRPr sz="2400" b="0" i="1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n-AE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B275BDB-0487-96D1-24B5-98072899D3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6150" y="2577027"/>
                <a:ext cx="2282450" cy="59683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905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5DF5CB9-DFD0-CAB6-F7D8-2A2D230D0A6D}"/>
                  </a:ext>
                </a:extLst>
              </p:cNvPr>
              <p:cNvSpPr txBox="1"/>
              <p:nvPr/>
            </p:nvSpPr>
            <p:spPr>
              <a:xfrm>
                <a:off x="1756150" y="3606046"/>
                <a:ext cx="2282450" cy="674928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>
                <a:solidFill>
                  <a:srgbClr val="0070C0"/>
                </a:solidFill>
              </a:ln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>
                  <a:lnSpc>
                    <a:spcPct val="150000"/>
                  </a:lnSpc>
                  <a:defRPr sz="2400" b="0" i="1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rad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m:rPr>
                          <m:nor/>
                        </m:rPr>
                        <a:rPr lang="en-AE"/>
                        <m:t>∠</m:t>
                      </m:r>
                      <m:r>
                        <m:rPr>
                          <m:nor/>
                        </m:rPr>
                        <a:rPr lang="en-US"/>
                        <m:t>−30</m:t>
                      </m:r>
                      <m:r>
                        <m:rPr>
                          <m:nor/>
                        </m:rPr>
                        <a:rPr lang="en-AE"/>
                        <m:t>°</m:t>
                      </m:r>
                    </m:oMath>
                  </m:oMathPara>
                </a14:m>
                <a:endParaRPr lang="en-AE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5DF5CB9-DFD0-CAB6-F7D8-2A2D230D0A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6150" y="3606046"/>
                <a:ext cx="2282450" cy="67492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905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95893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7269FB-8BD5-2381-B897-E822EBE34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E4A331E-3E67-7DBA-D750-FD7EBF494D8E}"/>
              </a:ext>
            </a:extLst>
          </p:cNvPr>
          <p:cNvSpPr/>
          <p:nvPr/>
        </p:nvSpPr>
        <p:spPr>
          <a:xfrm>
            <a:off x="0" y="6480143"/>
            <a:ext cx="12192000" cy="302260"/>
          </a:xfrm>
          <a:prstGeom prst="rect">
            <a:avLst/>
          </a:prstGeom>
          <a:solidFill>
            <a:srgbClr val="154E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260014-0903-65B1-2E72-A8948D7B39D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3312"/>
            <a:ext cx="2743200" cy="365125"/>
          </a:xfrm>
        </p:spPr>
        <p:txBody>
          <a:bodyPr/>
          <a:lstStyle/>
          <a:p>
            <a:r>
              <a:rPr lang="en-US" sz="1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26/01/2026</a:t>
            </a:r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E8A9FB-8941-EB0B-728E-9ED8FFB29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43312"/>
            <a:ext cx="4114800" cy="365125"/>
          </a:xfrm>
        </p:spPr>
        <p:txBody>
          <a:bodyPr/>
          <a:lstStyle/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CSE, BAUET</a:t>
            </a:r>
            <a:endParaRPr lang="en-AE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6E0579-0D75-3103-9320-F5622973A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3312"/>
            <a:ext cx="2743200" cy="365125"/>
          </a:xfrm>
        </p:spPr>
        <p:txBody>
          <a:bodyPr/>
          <a:lstStyle/>
          <a:p>
            <a:fld id="{E407BDCA-6C04-4DE3-905E-17E4BFE04F46}" type="slidenum">
              <a:rPr lang="en-AE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20007D7-978E-4B8A-3B52-8257A3445134}"/>
              </a:ext>
            </a:extLst>
          </p:cNvPr>
          <p:cNvGrpSpPr/>
          <p:nvPr/>
        </p:nvGrpSpPr>
        <p:grpSpPr>
          <a:xfrm>
            <a:off x="0" y="92595"/>
            <a:ext cx="12191998" cy="830997"/>
            <a:chOff x="0" y="225907"/>
            <a:chExt cx="12191998" cy="83099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21EA996F-A364-8806-703E-97B1DFF35058}"/>
                </a:ext>
              </a:extLst>
            </p:cNvPr>
            <p:cNvGrpSpPr/>
            <p:nvPr/>
          </p:nvGrpSpPr>
          <p:grpSpPr>
            <a:xfrm>
              <a:off x="0" y="225907"/>
              <a:ext cx="12191998" cy="830997"/>
              <a:chOff x="0" y="225907"/>
              <a:chExt cx="12191998" cy="8309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5EF7C0FA-B4F7-8EA5-E1D1-DE09A6726C0F}"/>
                  </a:ext>
                </a:extLst>
              </p:cNvPr>
              <p:cNvSpPr/>
              <p:nvPr/>
            </p:nvSpPr>
            <p:spPr>
              <a:xfrm>
                <a:off x="11080954" y="225907"/>
                <a:ext cx="1111044" cy="8309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object 2">
                <a:extLst>
                  <a:ext uri="{FF2B5EF4-FFF2-40B4-BE49-F238E27FC236}">
                    <a16:creationId xmlns:a16="http://schemas.microsoft.com/office/drawing/2014/main" id="{4CEAC6B5-1781-7BA8-CB6C-9CD78DA8B655}"/>
                  </a:ext>
                </a:extLst>
              </p:cNvPr>
              <p:cNvSpPr/>
              <p:nvPr/>
            </p:nvSpPr>
            <p:spPr>
              <a:xfrm>
                <a:off x="11313789" y="336886"/>
                <a:ext cx="645374" cy="638891"/>
              </a:xfrm>
              <a:prstGeom prst="rect">
                <a:avLst/>
              </a:prstGeom>
              <a:blipFill>
                <a:blip r:embed="rId3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dirty="0">
                  <a:effectLst>
                    <a:glow rad="228600">
                      <a:schemeClr val="accent1">
                        <a:satMod val="175000"/>
                        <a:alpha val="40000"/>
                      </a:schemeClr>
                    </a:glow>
                  </a:effectLst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62DC151-FEE4-B822-1655-82060ED46C59}"/>
                  </a:ext>
                </a:extLst>
              </p:cNvPr>
              <p:cNvSpPr/>
              <p:nvPr/>
            </p:nvSpPr>
            <p:spPr>
              <a:xfrm>
                <a:off x="0" y="225908"/>
                <a:ext cx="11080954" cy="830995"/>
              </a:xfrm>
              <a:prstGeom prst="rect">
                <a:avLst/>
              </a:prstGeom>
              <a:solidFill>
                <a:srgbClr val="154E1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4683859-CE0E-A0E1-DD4F-8B411C60A9E6}"/>
                </a:ext>
              </a:extLst>
            </p:cNvPr>
            <p:cNvSpPr txBox="1"/>
            <p:nvPr/>
          </p:nvSpPr>
          <p:spPr>
            <a:xfrm>
              <a:off x="249364" y="379795"/>
              <a:ext cx="1083158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Balanced Delta-Wye Connection</a:t>
              </a:r>
              <a:endParaRPr lang="en-AE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86436F60-71BE-FC34-C8B7-ED7485CFF09A}"/>
              </a:ext>
            </a:extLst>
          </p:cNvPr>
          <p:cNvSpPr txBox="1"/>
          <p:nvPr/>
        </p:nvSpPr>
        <p:spPr>
          <a:xfrm>
            <a:off x="6183418" y="5580256"/>
            <a:ext cx="48543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4: A balanced </a:t>
            </a:r>
            <a:r>
              <a:rPr lang="el-G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l-G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system.</a:t>
            </a:r>
            <a:endParaRPr lang="en-A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E777F08-1994-03B4-0D1F-E8E60E107F9B}"/>
                  </a:ext>
                </a:extLst>
              </p:cNvPr>
              <p:cNvSpPr txBox="1"/>
              <p:nvPr/>
            </p:nvSpPr>
            <p:spPr>
              <a:xfrm>
                <a:off x="1756150" y="2577027"/>
                <a:ext cx="2282450" cy="59683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>
                <a:solidFill>
                  <a:srgbClr val="0070C0"/>
                </a:solidFill>
              </a:ln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>
                  <a:lnSpc>
                    <a:spcPct val="150000"/>
                  </a:lnSpc>
                  <a:defRPr sz="2400" b="0" i="1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n-AE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E777F08-1994-03B4-0D1F-E8E60E107F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6150" y="2577027"/>
                <a:ext cx="2282450" cy="5968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3FFF5084-726E-2809-13A7-D30AC098CD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1397" y="1911855"/>
            <a:ext cx="5858402" cy="350636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A582EBB-11A1-0943-4F64-A4F23D892CCE}"/>
                  </a:ext>
                </a:extLst>
              </p:cNvPr>
              <p:cNvSpPr txBox="1"/>
              <p:nvPr/>
            </p:nvSpPr>
            <p:spPr>
              <a:xfrm>
                <a:off x="1756150" y="3606046"/>
                <a:ext cx="2282450" cy="59683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>
                <a:solidFill>
                  <a:srgbClr val="0070C0"/>
                </a:solidFill>
              </a:ln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>
                  <a:lnSpc>
                    <a:spcPct val="150000"/>
                  </a:lnSpc>
                  <a:defRPr sz="2400" b="0" i="1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n-AE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A582EBB-11A1-0943-4F64-A4F23D892C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6150" y="3606046"/>
                <a:ext cx="2282450" cy="59683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905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47468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A558FA-6B5C-744E-87DB-723185CE7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630A3B8-658D-7BBD-5A5C-B57540ED0D99}"/>
              </a:ext>
            </a:extLst>
          </p:cNvPr>
          <p:cNvSpPr/>
          <p:nvPr/>
        </p:nvSpPr>
        <p:spPr>
          <a:xfrm>
            <a:off x="0" y="6480143"/>
            <a:ext cx="12192000" cy="302260"/>
          </a:xfrm>
          <a:prstGeom prst="rect">
            <a:avLst/>
          </a:prstGeom>
          <a:solidFill>
            <a:srgbClr val="154E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BBF9D8-21EE-648F-9218-54292C61F9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3312"/>
            <a:ext cx="2743200" cy="365125"/>
          </a:xfrm>
        </p:spPr>
        <p:txBody>
          <a:bodyPr/>
          <a:lstStyle/>
          <a:p>
            <a:r>
              <a:rPr lang="en-US" sz="1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26/01/2026</a:t>
            </a:r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F94135-6E16-348F-E304-0B23FC355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43312"/>
            <a:ext cx="4114800" cy="365125"/>
          </a:xfrm>
        </p:spPr>
        <p:txBody>
          <a:bodyPr/>
          <a:lstStyle/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CSE, BAUET</a:t>
            </a:r>
            <a:endParaRPr lang="en-AE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7706A2-F601-CF95-4CBD-BB3FF0C6C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3312"/>
            <a:ext cx="2743200" cy="365125"/>
          </a:xfrm>
        </p:spPr>
        <p:txBody>
          <a:bodyPr/>
          <a:lstStyle/>
          <a:p>
            <a:fld id="{E407BDCA-6C04-4DE3-905E-17E4BFE04F46}" type="slidenum">
              <a:rPr lang="en-AE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5F7E5B6-924D-0CA1-EDBD-7010EB525AA9}"/>
              </a:ext>
            </a:extLst>
          </p:cNvPr>
          <p:cNvGrpSpPr/>
          <p:nvPr/>
        </p:nvGrpSpPr>
        <p:grpSpPr>
          <a:xfrm>
            <a:off x="0" y="92595"/>
            <a:ext cx="12191998" cy="830997"/>
            <a:chOff x="0" y="225907"/>
            <a:chExt cx="12191998" cy="83099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D417DE6-E4BE-F767-86AD-DD9F200BA3D5}"/>
                </a:ext>
              </a:extLst>
            </p:cNvPr>
            <p:cNvGrpSpPr/>
            <p:nvPr/>
          </p:nvGrpSpPr>
          <p:grpSpPr>
            <a:xfrm>
              <a:off x="0" y="225907"/>
              <a:ext cx="12191998" cy="830997"/>
              <a:chOff x="0" y="225907"/>
              <a:chExt cx="12191998" cy="8309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523C6A99-D351-6F12-3CAD-311A0E001D91}"/>
                  </a:ext>
                </a:extLst>
              </p:cNvPr>
              <p:cNvSpPr/>
              <p:nvPr/>
            </p:nvSpPr>
            <p:spPr>
              <a:xfrm>
                <a:off x="11080954" y="225907"/>
                <a:ext cx="1111044" cy="8309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object 2">
                <a:extLst>
                  <a:ext uri="{FF2B5EF4-FFF2-40B4-BE49-F238E27FC236}">
                    <a16:creationId xmlns:a16="http://schemas.microsoft.com/office/drawing/2014/main" id="{AE632F9D-3195-695A-5228-281D127B53F5}"/>
                  </a:ext>
                </a:extLst>
              </p:cNvPr>
              <p:cNvSpPr/>
              <p:nvPr/>
            </p:nvSpPr>
            <p:spPr>
              <a:xfrm>
                <a:off x="11313789" y="336886"/>
                <a:ext cx="645374" cy="638891"/>
              </a:xfrm>
              <a:prstGeom prst="rect">
                <a:avLst/>
              </a:prstGeom>
              <a:blipFill>
                <a:blip r:embed="rId3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dirty="0">
                  <a:effectLst>
                    <a:glow rad="228600">
                      <a:schemeClr val="accent1">
                        <a:satMod val="175000"/>
                        <a:alpha val="40000"/>
                      </a:schemeClr>
                    </a:glow>
                  </a:effectLst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E21DE83E-3BBE-363D-BD19-BAAA29A210B3}"/>
                  </a:ext>
                </a:extLst>
              </p:cNvPr>
              <p:cNvSpPr/>
              <p:nvPr/>
            </p:nvSpPr>
            <p:spPr>
              <a:xfrm>
                <a:off x="0" y="225908"/>
                <a:ext cx="11080954" cy="830995"/>
              </a:xfrm>
              <a:prstGeom prst="rect">
                <a:avLst/>
              </a:prstGeom>
              <a:solidFill>
                <a:srgbClr val="154E1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C77252D-119D-8C47-87B6-8AA1E3A0C774}"/>
                </a:ext>
              </a:extLst>
            </p:cNvPr>
            <p:cNvSpPr txBox="1"/>
            <p:nvPr/>
          </p:nvSpPr>
          <p:spPr>
            <a:xfrm>
              <a:off x="249364" y="379795"/>
              <a:ext cx="1083158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Balanced Delta-Wye Connection</a:t>
              </a:r>
              <a:endParaRPr lang="en-AE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910CF821-3970-3FFE-8222-DCF4B32F6A51}"/>
              </a:ext>
            </a:extLst>
          </p:cNvPr>
          <p:cNvSpPr txBox="1"/>
          <p:nvPr/>
        </p:nvSpPr>
        <p:spPr>
          <a:xfrm>
            <a:off x="3799982" y="5979726"/>
            <a:ext cx="48543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5: Circuit diagram of Example 12.4.</a:t>
            </a:r>
            <a:endParaRPr lang="en-A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0D45456-335B-A0B8-8DAF-F9C182E674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4202" y="2713643"/>
            <a:ext cx="6705919" cy="3179878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23E7F59-80D0-D254-1082-006DBD663B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134" y="1048724"/>
            <a:ext cx="11621731" cy="1446091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8BFC4842-35D6-1B0F-6048-A04F45A2887A}"/>
              </a:ext>
            </a:extLst>
          </p:cNvPr>
          <p:cNvSpPr txBox="1"/>
          <p:nvPr/>
        </p:nvSpPr>
        <p:spPr>
          <a:xfrm>
            <a:off x="8736494" y="3618272"/>
            <a:ext cx="1083951" cy="40011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20-j15</a:t>
            </a:r>
            <a:r>
              <a:rPr lang="el-GR" sz="2000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Ω</a:t>
            </a:r>
            <a:endParaRPr lang="en-AE" sz="2000" dirty="0">
              <a:solidFill>
                <a:srgbClr val="FF0000"/>
              </a:solidFill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50F738F-EE65-AD33-FD0F-019127C4788B}"/>
              </a:ext>
            </a:extLst>
          </p:cNvPr>
          <p:cNvSpPr txBox="1"/>
          <p:nvPr/>
        </p:nvSpPr>
        <p:spPr>
          <a:xfrm>
            <a:off x="8029296" y="5286305"/>
            <a:ext cx="1083951" cy="400110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B05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20-j15</a:t>
            </a:r>
            <a:r>
              <a:rPr lang="el-GR" sz="2000" dirty="0">
                <a:solidFill>
                  <a:srgbClr val="00B05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Ω</a:t>
            </a:r>
            <a:endParaRPr lang="en-AE" sz="2000" dirty="0">
              <a:solidFill>
                <a:srgbClr val="00B050"/>
              </a:solidFill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CB86549-1216-B0C8-7A58-865806CECBB5}"/>
              </a:ext>
            </a:extLst>
          </p:cNvPr>
          <p:cNvSpPr txBox="1"/>
          <p:nvPr/>
        </p:nvSpPr>
        <p:spPr>
          <a:xfrm>
            <a:off x="6145158" y="4148532"/>
            <a:ext cx="1083951" cy="400110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20-j15</a:t>
            </a:r>
            <a:r>
              <a:rPr lang="el-GR" sz="20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Ω</a:t>
            </a:r>
            <a:endParaRPr lang="en-AE" sz="2000" dirty="0">
              <a:solidFill>
                <a:schemeClr val="accent5">
                  <a:lumMod val="75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0244D14-17B3-41B9-E225-E2C4DF4420B0}"/>
                  </a:ext>
                </a:extLst>
              </p:cNvPr>
              <p:cNvSpPr txBox="1"/>
              <p:nvPr/>
            </p:nvSpPr>
            <p:spPr>
              <a:xfrm>
                <a:off x="4617302" y="4471978"/>
                <a:ext cx="1287532" cy="40011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>
                  <a:defRPr sz="200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330</m:t>
                      </m:r>
                      <m:r>
                        <m:rPr>
                          <m:nor/>
                        </m:rPr>
                        <a:rPr lang="en-AE"/>
                        <m:t>∠</m:t>
                      </m:r>
                      <m:r>
                        <m:rPr>
                          <m:nor/>
                        </m:rPr>
                        <a:rPr lang="en-US"/>
                        <m:t>0</m:t>
                      </m:r>
                      <m:r>
                        <m:rPr>
                          <m:nor/>
                        </m:rPr>
                        <a:rPr lang="en-AE"/>
                        <m:t>°</m:t>
                      </m:r>
                      <m:r>
                        <m:rPr>
                          <m:nor/>
                        </m:rPr>
                        <a:rPr lang="en-US"/>
                        <m:t> </m:t>
                      </m:r>
                      <m:r>
                        <m:rPr>
                          <m:nor/>
                        </m:rPr>
                        <a:rPr lang="en-US"/>
                        <m:t>V</m:t>
                      </m:r>
                    </m:oMath>
                  </m:oMathPara>
                </a14:m>
                <a:endParaRPr lang="en-AE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0244D14-17B3-41B9-E225-E2C4DF4420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7302" y="4471978"/>
                <a:ext cx="1287532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72A3994-4601-EEA0-3E26-80F7A2D9320A}"/>
                  </a:ext>
                </a:extLst>
              </p:cNvPr>
              <p:cNvSpPr txBox="1"/>
              <p:nvPr/>
            </p:nvSpPr>
            <p:spPr>
              <a:xfrm>
                <a:off x="3341961" y="5686415"/>
                <a:ext cx="1657826" cy="40011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>
                  <a:defRPr sz="2000">
                    <a:solidFill>
                      <a:srgbClr val="00B05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330</m:t>
                      </m:r>
                      <m:r>
                        <m:rPr>
                          <m:nor/>
                        </m:rPr>
                        <a:rPr lang="en-AE"/>
                        <m:t>∠</m:t>
                      </m:r>
                      <m:r>
                        <m:rPr>
                          <m:nor/>
                        </m:rPr>
                        <a:rPr lang="en-US"/>
                        <m:t>−120</m:t>
                      </m:r>
                      <m:r>
                        <m:rPr>
                          <m:nor/>
                        </m:rPr>
                        <a:rPr lang="en-AE"/>
                        <m:t>°</m:t>
                      </m:r>
                      <m:r>
                        <m:rPr>
                          <m:nor/>
                        </m:rPr>
                        <a:rPr lang="en-US"/>
                        <m:t> </m:t>
                      </m:r>
                      <m:r>
                        <m:rPr>
                          <m:nor/>
                        </m:rPr>
                        <a:rPr lang="en-US"/>
                        <m:t>V</m:t>
                      </m:r>
                    </m:oMath>
                  </m:oMathPara>
                </a14:m>
                <a:endParaRPr lang="en-AE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72A3994-4601-EEA0-3E26-80F7A2D932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1961" y="5686415"/>
                <a:ext cx="1657826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1CFE134-3D78-3803-67BC-956FB1D16149}"/>
                  </a:ext>
                </a:extLst>
              </p:cNvPr>
              <p:cNvSpPr txBox="1"/>
              <p:nvPr/>
            </p:nvSpPr>
            <p:spPr>
              <a:xfrm>
                <a:off x="2513048" y="4471978"/>
                <a:ext cx="1765227" cy="40011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70C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330</m:t>
                      </m:r>
                      <m:r>
                        <m:rPr>
                          <m:nor/>
                        </m:rPr>
                        <a:rPr lang="en-AE" sz="20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∠</m:t>
                      </m:r>
                      <m:r>
                        <m:rPr>
                          <m:nor/>
                        </m:rPr>
                        <a:rPr lang="en-US" sz="20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+12</m:t>
                      </m:r>
                      <m:r>
                        <m:rPr>
                          <m:nor/>
                        </m:rPr>
                        <a:rPr lang="en-US" sz="20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m:rPr>
                          <m:nor/>
                        </m:rPr>
                        <a:rPr lang="en-AE" sz="20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  <m:r>
                        <m:rPr>
                          <m:nor/>
                        </m:rPr>
                        <a:rPr lang="en-US" sz="20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0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  <a:endParaRPr lang="en-AE" sz="2000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1CFE134-3D78-3803-67BC-956FB1D161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3048" y="4471978"/>
                <a:ext cx="1765227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5924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1C23CF-D8D0-C9F3-1526-C158F95D0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1FFBBBD-D9A0-5F88-6CAC-7A5664D3872F}"/>
              </a:ext>
            </a:extLst>
          </p:cNvPr>
          <p:cNvSpPr/>
          <p:nvPr/>
        </p:nvSpPr>
        <p:spPr>
          <a:xfrm>
            <a:off x="0" y="6480143"/>
            <a:ext cx="12192000" cy="302260"/>
          </a:xfrm>
          <a:prstGeom prst="rect">
            <a:avLst/>
          </a:prstGeom>
          <a:solidFill>
            <a:srgbClr val="154E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E360F5-5388-44A4-AF50-11358BB489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3312"/>
            <a:ext cx="2743200" cy="365125"/>
          </a:xfrm>
        </p:spPr>
        <p:txBody>
          <a:bodyPr/>
          <a:lstStyle/>
          <a:p>
            <a:r>
              <a:rPr lang="en-US" sz="1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26/01/2026</a:t>
            </a:r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916B92-2EE3-C77B-3DDE-3CA268840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43312"/>
            <a:ext cx="4114800" cy="365125"/>
          </a:xfrm>
        </p:spPr>
        <p:txBody>
          <a:bodyPr/>
          <a:lstStyle/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CSE, BAUET</a:t>
            </a:r>
            <a:endParaRPr lang="en-AE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7F672D-92FE-1D37-2C05-864CFED39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3312"/>
            <a:ext cx="2743200" cy="365125"/>
          </a:xfrm>
        </p:spPr>
        <p:txBody>
          <a:bodyPr/>
          <a:lstStyle/>
          <a:p>
            <a:fld id="{E407BDCA-6C04-4DE3-905E-17E4BFE04F46}" type="slidenum">
              <a:rPr lang="en-AE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2FB0EA8-6183-8107-CFE1-FDA479DD3AF2}"/>
              </a:ext>
            </a:extLst>
          </p:cNvPr>
          <p:cNvGrpSpPr/>
          <p:nvPr/>
        </p:nvGrpSpPr>
        <p:grpSpPr>
          <a:xfrm>
            <a:off x="0" y="92595"/>
            <a:ext cx="12191998" cy="830997"/>
            <a:chOff x="0" y="225907"/>
            <a:chExt cx="12191998" cy="83099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2D6DFEAD-A2CD-2D1C-8867-C5341677FCFA}"/>
                </a:ext>
              </a:extLst>
            </p:cNvPr>
            <p:cNvGrpSpPr/>
            <p:nvPr/>
          </p:nvGrpSpPr>
          <p:grpSpPr>
            <a:xfrm>
              <a:off x="0" y="225907"/>
              <a:ext cx="12191998" cy="830997"/>
              <a:chOff x="0" y="225907"/>
              <a:chExt cx="12191998" cy="8309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1B790EB5-6490-0605-635B-51801705ED35}"/>
                  </a:ext>
                </a:extLst>
              </p:cNvPr>
              <p:cNvSpPr/>
              <p:nvPr/>
            </p:nvSpPr>
            <p:spPr>
              <a:xfrm>
                <a:off x="11080954" y="225907"/>
                <a:ext cx="1111044" cy="8309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object 2">
                <a:extLst>
                  <a:ext uri="{FF2B5EF4-FFF2-40B4-BE49-F238E27FC236}">
                    <a16:creationId xmlns:a16="http://schemas.microsoft.com/office/drawing/2014/main" id="{C1FAA9A3-132D-2FED-3BAC-E813F874F903}"/>
                  </a:ext>
                </a:extLst>
              </p:cNvPr>
              <p:cNvSpPr/>
              <p:nvPr/>
            </p:nvSpPr>
            <p:spPr>
              <a:xfrm>
                <a:off x="11313789" y="336886"/>
                <a:ext cx="645374" cy="638891"/>
              </a:xfrm>
              <a:prstGeom prst="rect">
                <a:avLst/>
              </a:prstGeom>
              <a:blipFill>
                <a:blip r:embed="rId3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dirty="0">
                  <a:effectLst>
                    <a:glow rad="228600">
                      <a:schemeClr val="accent1">
                        <a:satMod val="175000"/>
                        <a:alpha val="40000"/>
                      </a:schemeClr>
                    </a:glow>
                  </a:effectLst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88549405-7015-1B4F-3293-47E8345135F7}"/>
                  </a:ext>
                </a:extLst>
              </p:cNvPr>
              <p:cNvSpPr/>
              <p:nvPr/>
            </p:nvSpPr>
            <p:spPr>
              <a:xfrm>
                <a:off x="0" y="225908"/>
                <a:ext cx="11080954" cy="830995"/>
              </a:xfrm>
              <a:prstGeom prst="rect">
                <a:avLst/>
              </a:prstGeom>
              <a:solidFill>
                <a:srgbClr val="154E1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066DFEA-2DC7-2532-93EC-143F0443EACA}"/>
                </a:ext>
              </a:extLst>
            </p:cNvPr>
            <p:cNvSpPr txBox="1"/>
            <p:nvPr/>
          </p:nvSpPr>
          <p:spPr>
            <a:xfrm>
              <a:off x="249364" y="379795"/>
              <a:ext cx="1083158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Balanced Delta-Wye Connection</a:t>
              </a:r>
              <a:endParaRPr lang="en-AE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BB6EF2C2-4314-0764-FDBD-C8FACF4293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" y="1060763"/>
            <a:ext cx="12192000" cy="151705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7D11625F-C9C7-483B-9D25-7C809CD4016A}"/>
              </a:ext>
            </a:extLst>
          </p:cNvPr>
          <p:cNvGrpSpPr/>
          <p:nvPr/>
        </p:nvGrpSpPr>
        <p:grpSpPr>
          <a:xfrm>
            <a:off x="5510224" y="3004185"/>
            <a:ext cx="6448939" cy="3364315"/>
            <a:chOff x="2513048" y="2713643"/>
            <a:chExt cx="7126257" cy="3717663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A4259A5D-2FFA-CA0D-5AD4-5ADE2F89C9A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874202" y="2713643"/>
              <a:ext cx="6705919" cy="31798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</p:pic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5E7F00EC-1001-550F-C5E1-2D546817AF11}"/>
                </a:ext>
              </a:extLst>
            </p:cNvPr>
            <p:cNvGrpSpPr/>
            <p:nvPr/>
          </p:nvGrpSpPr>
          <p:grpSpPr>
            <a:xfrm>
              <a:off x="2513048" y="3618272"/>
              <a:ext cx="7126257" cy="2813034"/>
              <a:chOff x="2513048" y="3618272"/>
              <a:chExt cx="7126257" cy="2813034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D5AFD18-A2D6-C66D-D0D5-7B8D99BDFFD2}"/>
                  </a:ext>
                </a:extLst>
              </p:cNvPr>
              <p:cNvSpPr txBox="1"/>
              <p:nvPr/>
            </p:nvSpPr>
            <p:spPr>
              <a:xfrm>
                <a:off x="3799982" y="6023184"/>
                <a:ext cx="4854361" cy="4081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Fig. 5: Circuit diagram of Example 12.4.</a:t>
                </a:r>
                <a:endParaRPr lang="en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0F1A700-489F-0A05-5B06-E9A85960D8A7}"/>
                  </a:ext>
                </a:extLst>
              </p:cNvPr>
              <p:cNvSpPr txBox="1"/>
              <p:nvPr/>
            </p:nvSpPr>
            <p:spPr>
              <a:xfrm>
                <a:off x="8736494" y="3618272"/>
                <a:ext cx="902811" cy="33855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20-j15</a:t>
                </a:r>
                <a:r>
                  <a:rPr lang="el-GR" sz="1400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Ω</a:t>
                </a:r>
                <a:endParaRPr lang="en-AE" sz="1400" dirty="0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E7B55F9-44BC-82A3-C5F3-244877A8D614}"/>
                  </a:ext>
                </a:extLst>
              </p:cNvPr>
              <p:cNvSpPr txBox="1"/>
              <p:nvPr/>
            </p:nvSpPr>
            <p:spPr>
              <a:xfrm>
                <a:off x="8029296" y="5286305"/>
                <a:ext cx="902811" cy="33855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rgbClr val="00B05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20-j15</a:t>
                </a:r>
                <a:r>
                  <a:rPr lang="el-GR" sz="1400" dirty="0">
                    <a:solidFill>
                      <a:srgbClr val="00B05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Ω</a:t>
                </a:r>
                <a:endParaRPr lang="en-AE" sz="1400" dirty="0">
                  <a:solidFill>
                    <a:srgbClr val="00B050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25819F5-4C2F-B10C-17E8-5401F75CFC5A}"/>
                  </a:ext>
                </a:extLst>
              </p:cNvPr>
              <p:cNvSpPr txBox="1"/>
              <p:nvPr/>
            </p:nvSpPr>
            <p:spPr>
              <a:xfrm>
                <a:off x="6145158" y="4148532"/>
                <a:ext cx="902811" cy="33855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70C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20-j15</a:t>
                </a:r>
                <a:r>
                  <a:rPr lang="el-GR" sz="1400" dirty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Ω</a:t>
                </a:r>
                <a:endParaRPr lang="en-AE" sz="1400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636CB04F-6C25-2C5A-1DF1-3403FA993BF5}"/>
                      </a:ext>
                    </a:extLst>
                  </p:cNvPr>
                  <p:cNvSpPr txBox="1"/>
                  <p:nvPr/>
                </p:nvSpPr>
                <p:spPr>
                  <a:xfrm>
                    <a:off x="4617302" y="4471978"/>
                    <a:ext cx="1064714" cy="338554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FF0000"/>
                    </a:solidFill>
                  </a:ln>
                </p:spPr>
                <p:txBody>
                  <a:bodyPr wrap="none" rtlCol="0">
                    <a:spAutoFit/>
                  </a:bodyPr>
                  <a:lstStyle>
                    <a:defPPr>
                      <a:defRPr lang="en-US"/>
                    </a:defPPr>
                    <a:lvl1pPr>
                      <a:defRPr sz="20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330</m:t>
                          </m:r>
                          <m:r>
                            <m:rPr>
                              <m:nor/>
                            </m:rPr>
                            <a:rPr lang="en-AE" sz="1400"/>
                            <m:t>∠</m:t>
                          </m:r>
                          <m:r>
                            <m:rPr>
                              <m:nor/>
                            </m:rPr>
                            <a:rPr lang="en-US" sz="1400"/>
                            <m:t>0</m:t>
                          </m:r>
                          <m:r>
                            <m:rPr>
                              <m:nor/>
                            </m:rPr>
                            <a:rPr lang="en-AE" sz="1400"/>
                            <m:t>°</m:t>
                          </m:r>
                          <m:r>
                            <m:rPr>
                              <m:nor/>
                            </m:rPr>
                            <a:rPr lang="en-US" sz="1400"/>
                            <m:t> </m:t>
                          </m:r>
                          <m:r>
                            <m:rPr>
                              <m:nor/>
                            </m:rPr>
                            <a:rPr lang="en-US" sz="1400"/>
                            <m:t>V</m:t>
                          </m:r>
                        </m:oMath>
                      </m:oMathPara>
                    </a14:m>
                    <a:endParaRPr lang="en-AE" sz="1400" dirty="0"/>
                  </a:p>
                </p:txBody>
              </p:sp>
            </mc:Choice>
            <mc:Fallback xmlns="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636CB04F-6C25-2C5A-1DF1-3403FA993BF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17302" y="4471978"/>
                    <a:ext cx="1064714" cy="338554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>
                    <a:solidFill>
                      <a:srgbClr val="FF0000"/>
                    </a:solidFill>
                  </a:ln>
                </p:spPr>
                <p:txBody>
                  <a:bodyPr/>
                  <a:lstStyle/>
                  <a:p>
                    <a:r>
                      <a:rPr lang="en-A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ADEF5F0B-735B-2ABE-79CA-EBAAE5137192}"/>
                      </a:ext>
                    </a:extLst>
                  </p:cNvPr>
                  <p:cNvSpPr txBox="1"/>
                  <p:nvPr/>
                </p:nvSpPr>
                <p:spPr>
                  <a:xfrm>
                    <a:off x="3341961" y="5686415"/>
                    <a:ext cx="1446229" cy="338554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B050"/>
                    </a:solidFill>
                  </a:ln>
                </p:spPr>
                <p:txBody>
                  <a:bodyPr wrap="none" rtlCol="0">
                    <a:spAutoFit/>
                  </a:bodyPr>
                  <a:lstStyle>
                    <a:defPPr>
                      <a:defRPr lang="en-US"/>
                    </a:defPPr>
                    <a:lvl1pPr>
                      <a:defRPr sz="200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330</m:t>
                          </m:r>
                          <m:r>
                            <m:rPr>
                              <m:nor/>
                            </m:rPr>
                            <a:rPr lang="en-AE" sz="1400"/>
                            <m:t>∠</m:t>
                          </m:r>
                          <m:r>
                            <m:rPr>
                              <m:nor/>
                            </m:rPr>
                            <a:rPr lang="en-US" sz="1400"/>
                            <m:t>−120</m:t>
                          </m:r>
                          <m:r>
                            <m:rPr>
                              <m:nor/>
                            </m:rPr>
                            <a:rPr lang="en-AE" sz="1400"/>
                            <m:t>°</m:t>
                          </m:r>
                          <m:r>
                            <m:rPr>
                              <m:nor/>
                            </m:rPr>
                            <a:rPr lang="en-US" sz="1400"/>
                            <m:t> </m:t>
                          </m:r>
                          <m:r>
                            <m:rPr>
                              <m:nor/>
                            </m:rPr>
                            <a:rPr lang="en-US" sz="1400"/>
                            <m:t>V</m:t>
                          </m:r>
                        </m:oMath>
                      </m:oMathPara>
                    </a14:m>
                    <a:endParaRPr lang="en-AE" sz="1400" dirty="0"/>
                  </a:p>
                </p:txBody>
              </p:sp>
            </mc:Choice>
            <mc:Fallback xmlns="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ADEF5F0B-735B-2ABE-79CA-EBAAE513719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41961" y="5686415"/>
                    <a:ext cx="1446229" cy="338554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  <a:ln>
                    <a:solidFill>
                      <a:srgbClr val="00B050"/>
                    </a:solidFill>
                  </a:ln>
                </p:spPr>
                <p:txBody>
                  <a:bodyPr/>
                  <a:lstStyle/>
                  <a:p>
                    <a:r>
                      <a:rPr lang="en-A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F90F042A-DABE-2466-D1BA-4CCE7ABF1F45}"/>
                      </a:ext>
                    </a:extLst>
                  </p:cNvPr>
                  <p:cNvSpPr txBox="1"/>
                  <p:nvPr/>
                </p:nvSpPr>
                <p:spPr>
                  <a:xfrm>
                    <a:off x="2513048" y="4471978"/>
                    <a:ext cx="1446229" cy="338554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70C0"/>
                    </a:solidFill>
                  </a:ln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330</m:t>
                          </m:r>
                          <m:r>
                            <m:rPr>
                              <m:nor/>
                            </m:rPr>
                            <a:rPr lang="en-AE" sz="14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∠</m:t>
                          </m:r>
                          <m:r>
                            <m:rPr>
                              <m:nor/>
                            </m:rPr>
                            <a:rPr lang="en-US" sz="14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+12</m:t>
                          </m:r>
                          <m:r>
                            <m:rPr>
                              <m:nor/>
                            </m:rPr>
                            <a:rPr lang="en-US" sz="14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m:rPr>
                              <m:nor/>
                            </m:rPr>
                            <a:rPr lang="en-AE" sz="14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  <m:r>
                            <m:rPr>
                              <m:nor/>
                            </m:rPr>
                            <a:rPr lang="en-US" sz="14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4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V</m:t>
                          </m:r>
                        </m:oMath>
                      </m:oMathPara>
                    </a14:m>
                    <a:endParaRPr lang="en-AE" sz="1400" dirty="0">
                      <a:solidFill>
                        <a:schemeClr val="accent5">
                          <a:lumMod val="75000"/>
                        </a:schemeClr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F90F042A-DABE-2466-D1BA-4CCE7ABF1F4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13048" y="4471978"/>
                    <a:ext cx="1446229" cy="338554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>
                    <a:solidFill>
                      <a:srgbClr val="0070C0"/>
                    </a:solidFill>
                  </a:ln>
                </p:spPr>
                <p:txBody>
                  <a:bodyPr/>
                  <a:lstStyle/>
                  <a:p>
                    <a:r>
                      <a:rPr lang="en-AE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AD4F1163-13C9-E1C0-AF93-158238438B9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0031" y="3057009"/>
            <a:ext cx="5263259" cy="2790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97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5D11E7-3378-F522-A3C1-902038952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077D450-BCDB-A596-A9D9-E847105EA906}"/>
              </a:ext>
            </a:extLst>
          </p:cNvPr>
          <p:cNvSpPr/>
          <p:nvPr/>
        </p:nvSpPr>
        <p:spPr>
          <a:xfrm>
            <a:off x="0" y="6480143"/>
            <a:ext cx="12192000" cy="302260"/>
          </a:xfrm>
          <a:prstGeom prst="rect">
            <a:avLst/>
          </a:prstGeom>
          <a:solidFill>
            <a:srgbClr val="154E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210133-113D-EAEC-90F7-897A03C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3312"/>
            <a:ext cx="2743200" cy="365125"/>
          </a:xfrm>
        </p:spPr>
        <p:txBody>
          <a:bodyPr/>
          <a:lstStyle/>
          <a:p>
            <a:r>
              <a:rPr lang="en-US" sz="1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26/01/2026</a:t>
            </a:r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FF2A1A-75C3-7F5D-2578-4972AE5FE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43312"/>
            <a:ext cx="4114800" cy="365125"/>
          </a:xfrm>
        </p:spPr>
        <p:txBody>
          <a:bodyPr/>
          <a:lstStyle/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CSE, BAUET</a:t>
            </a:r>
            <a:endParaRPr lang="en-AE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BD000F-AB75-3D7A-26D9-032AE9860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3312"/>
            <a:ext cx="2743200" cy="365125"/>
          </a:xfrm>
        </p:spPr>
        <p:txBody>
          <a:bodyPr/>
          <a:lstStyle/>
          <a:p>
            <a:fld id="{E407BDCA-6C04-4DE3-905E-17E4BFE04F46}" type="slidenum">
              <a:rPr lang="en-AE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49135AD-870D-DDA8-CC84-50752B4865CD}"/>
              </a:ext>
            </a:extLst>
          </p:cNvPr>
          <p:cNvGrpSpPr/>
          <p:nvPr/>
        </p:nvGrpSpPr>
        <p:grpSpPr>
          <a:xfrm>
            <a:off x="0" y="92595"/>
            <a:ext cx="12191998" cy="830997"/>
            <a:chOff x="0" y="225907"/>
            <a:chExt cx="12191998" cy="83099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9DAB136-3DC6-EF34-2B48-714E27C776C7}"/>
                </a:ext>
              </a:extLst>
            </p:cNvPr>
            <p:cNvGrpSpPr/>
            <p:nvPr/>
          </p:nvGrpSpPr>
          <p:grpSpPr>
            <a:xfrm>
              <a:off x="0" y="225907"/>
              <a:ext cx="12191998" cy="830997"/>
              <a:chOff x="0" y="225907"/>
              <a:chExt cx="12191998" cy="8309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25280A6-ED63-A54E-9022-3BDBDD791235}"/>
                  </a:ext>
                </a:extLst>
              </p:cNvPr>
              <p:cNvSpPr/>
              <p:nvPr/>
            </p:nvSpPr>
            <p:spPr>
              <a:xfrm>
                <a:off x="11080954" y="225907"/>
                <a:ext cx="1111044" cy="8309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object 2">
                <a:extLst>
                  <a:ext uri="{FF2B5EF4-FFF2-40B4-BE49-F238E27FC236}">
                    <a16:creationId xmlns:a16="http://schemas.microsoft.com/office/drawing/2014/main" id="{9B8BD577-44B1-FA70-D07C-8A7AA7230DFE}"/>
                  </a:ext>
                </a:extLst>
              </p:cNvPr>
              <p:cNvSpPr/>
              <p:nvPr/>
            </p:nvSpPr>
            <p:spPr>
              <a:xfrm>
                <a:off x="11313789" y="336886"/>
                <a:ext cx="645374" cy="638891"/>
              </a:xfrm>
              <a:prstGeom prst="rect">
                <a:avLst/>
              </a:prstGeom>
              <a:blipFill>
                <a:blip r:embed="rId3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dirty="0">
                  <a:effectLst>
                    <a:glow rad="228600">
                      <a:schemeClr val="accent1">
                        <a:satMod val="175000"/>
                        <a:alpha val="40000"/>
                      </a:schemeClr>
                    </a:glow>
                  </a:effectLst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F0ADC4D-2D47-409B-2D10-680E2A6201FE}"/>
                  </a:ext>
                </a:extLst>
              </p:cNvPr>
              <p:cNvSpPr/>
              <p:nvPr/>
            </p:nvSpPr>
            <p:spPr>
              <a:xfrm>
                <a:off x="0" y="225908"/>
                <a:ext cx="11080954" cy="830995"/>
              </a:xfrm>
              <a:prstGeom prst="rect">
                <a:avLst/>
              </a:prstGeom>
              <a:solidFill>
                <a:srgbClr val="154E1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30EB41A-48D3-57C8-DF6F-ECBA5CC7F615}"/>
                </a:ext>
              </a:extLst>
            </p:cNvPr>
            <p:cNvSpPr txBox="1"/>
            <p:nvPr/>
          </p:nvSpPr>
          <p:spPr>
            <a:xfrm>
              <a:off x="249364" y="379795"/>
              <a:ext cx="1083158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Balanced Delta-Wye Connection</a:t>
              </a:r>
              <a:endParaRPr lang="en-AE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1513EE68-56E7-7DC5-BACD-0FA7A8821C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" y="1060763"/>
            <a:ext cx="12192000" cy="151705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5C4114E2-205D-BCF2-D997-DECB98435253}"/>
              </a:ext>
            </a:extLst>
          </p:cNvPr>
          <p:cNvGrpSpPr/>
          <p:nvPr/>
        </p:nvGrpSpPr>
        <p:grpSpPr>
          <a:xfrm>
            <a:off x="5510224" y="3004185"/>
            <a:ext cx="6448939" cy="3364315"/>
            <a:chOff x="2513048" y="2713643"/>
            <a:chExt cx="7126257" cy="3717663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3F37F2CC-B20D-8D25-E30C-8FB72A8B47D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874202" y="2713643"/>
              <a:ext cx="6705919" cy="31798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</p:pic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F543D2BA-E016-A3AD-56F5-AD7719A03361}"/>
                </a:ext>
              </a:extLst>
            </p:cNvPr>
            <p:cNvGrpSpPr/>
            <p:nvPr/>
          </p:nvGrpSpPr>
          <p:grpSpPr>
            <a:xfrm>
              <a:off x="2513048" y="3618272"/>
              <a:ext cx="7126257" cy="2813034"/>
              <a:chOff x="2513048" y="3618272"/>
              <a:chExt cx="7126257" cy="2813034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A19A9E9-B45B-BC1B-3250-9ADBB47D47BF}"/>
                  </a:ext>
                </a:extLst>
              </p:cNvPr>
              <p:cNvSpPr txBox="1"/>
              <p:nvPr/>
            </p:nvSpPr>
            <p:spPr>
              <a:xfrm>
                <a:off x="3799982" y="6023184"/>
                <a:ext cx="4854361" cy="4081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Fig. 5: Circuit diagram of Example 12.4.</a:t>
                </a:r>
                <a:endParaRPr lang="en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A8230F1-FCD0-CDA3-25BE-6B3A3A4AFDB8}"/>
                  </a:ext>
                </a:extLst>
              </p:cNvPr>
              <p:cNvSpPr txBox="1"/>
              <p:nvPr/>
            </p:nvSpPr>
            <p:spPr>
              <a:xfrm>
                <a:off x="8736494" y="3618272"/>
                <a:ext cx="902811" cy="33855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20-j15</a:t>
                </a:r>
                <a:r>
                  <a:rPr lang="el-GR" sz="1400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Ω</a:t>
                </a:r>
                <a:endParaRPr lang="en-AE" sz="1400" dirty="0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C6007F3-4D9F-538C-D478-3E3E0A5122BB}"/>
                  </a:ext>
                </a:extLst>
              </p:cNvPr>
              <p:cNvSpPr txBox="1"/>
              <p:nvPr/>
            </p:nvSpPr>
            <p:spPr>
              <a:xfrm>
                <a:off x="8029296" y="5286305"/>
                <a:ext cx="902811" cy="33855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rgbClr val="00B05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20-j15</a:t>
                </a:r>
                <a:r>
                  <a:rPr lang="el-GR" sz="1400" dirty="0">
                    <a:solidFill>
                      <a:srgbClr val="00B05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Ω</a:t>
                </a:r>
                <a:endParaRPr lang="en-AE" sz="1400" dirty="0">
                  <a:solidFill>
                    <a:srgbClr val="00B050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24C9829-B964-CE6C-BA50-8ACE3CDAF0D8}"/>
                  </a:ext>
                </a:extLst>
              </p:cNvPr>
              <p:cNvSpPr txBox="1"/>
              <p:nvPr/>
            </p:nvSpPr>
            <p:spPr>
              <a:xfrm>
                <a:off x="6145158" y="4148532"/>
                <a:ext cx="902811" cy="33855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70C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20-j15</a:t>
                </a:r>
                <a:r>
                  <a:rPr lang="el-GR" sz="1400" dirty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Ω</a:t>
                </a:r>
                <a:endParaRPr lang="en-AE" sz="1400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46276043-B944-5634-F09A-C16AFA1039D2}"/>
                      </a:ext>
                    </a:extLst>
                  </p:cNvPr>
                  <p:cNvSpPr txBox="1"/>
                  <p:nvPr/>
                </p:nvSpPr>
                <p:spPr>
                  <a:xfrm>
                    <a:off x="4617302" y="4471978"/>
                    <a:ext cx="1064714" cy="338554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FF0000"/>
                    </a:solidFill>
                  </a:ln>
                </p:spPr>
                <p:txBody>
                  <a:bodyPr wrap="none" rtlCol="0">
                    <a:spAutoFit/>
                  </a:bodyPr>
                  <a:lstStyle>
                    <a:defPPr>
                      <a:defRPr lang="en-US"/>
                    </a:defPPr>
                    <a:lvl1pPr>
                      <a:defRPr sz="20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330</m:t>
                          </m:r>
                          <m:r>
                            <m:rPr>
                              <m:nor/>
                            </m:rPr>
                            <a:rPr lang="en-AE" sz="1400"/>
                            <m:t>∠</m:t>
                          </m:r>
                          <m:r>
                            <m:rPr>
                              <m:nor/>
                            </m:rPr>
                            <a:rPr lang="en-US" sz="1400"/>
                            <m:t>0</m:t>
                          </m:r>
                          <m:r>
                            <m:rPr>
                              <m:nor/>
                            </m:rPr>
                            <a:rPr lang="en-AE" sz="1400"/>
                            <m:t>°</m:t>
                          </m:r>
                          <m:r>
                            <m:rPr>
                              <m:nor/>
                            </m:rPr>
                            <a:rPr lang="en-US" sz="1400"/>
                            <m:t> </m:t>
                          </m:r>
                          <m:r>
                            <m:rPr>
                              <m:nor/>
                            </m:rPr>
                            <a:rPr lang="en-US" sz="1400"/>
                            <m:t>V</m:t>
                          </m:r>
                        </m:oMath>
                      </m:oMathPara>
                    </a14:m>
                    <a:endParaRPr lang="en-AE" sz="1400" dirty="0"/>
                  </a:p>
                </p:txBody>
              </p:sp>
            </mc:Choice>
            <mc:Fallback xmlns="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46276043-B944-5634-F09A-C16AFA1039D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17302" y="4471978"/>
                    <a:ext cx="1064714" cy="338554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>
                    <a:solidFill>
                      <a:srgbClr val="FF0000"/>
                    </a:solidFill>
                  </a:ln>
                </p:spPr>
                <p:txBody>
                  <a:bodyPr/>
                  <a:lstStyle/>
                  <a:p>
                    <a:r>
                      <a:rPr lang="en-A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1320276A-662A-FB1D-442A-0D1710E5AC2A}"/>
                      </a:ext>
                    </a:extLst>
                  </p:cNvPr>
                  <p:cNvSpPr txBox="1"/>
                  <p:nvPr/>
                </p:nvSpPr>
                <p:spPr>
                  <a:xfrm>
                    <a:off x="3341961" y="5686415"/>
                    <a:ext cx="1446229" cy="338554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B050"/>
                    </a:solidFill>
                  </a:ln>
                </p:spPr>
                <p:txBody>
                  <a:bodyPr wrap="none" rtlCol="0">
                    <a:spAutoFit/>
                  </a:bodyPr>
                  <a:lstStyle>
                    <a:defPPr>
                      <a:defRPr lang="en-US"/>
                    </a:defPPr>
                    <a:lvl1pPr>
                      <a:defRPr sz="200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330</m:t>
                          </m:r>
                          <m:r>
                            <m:rPr>
                              <m:nor/>
                            </m:rPr>
                            <a:rPr lang="en-AE" sz="1400"/>
                            <m:t>∠</m:t>
                          </m:r>
                          <m:r>
                            <m:rPr>
                              <m:nor/>
                            </m:rPr>
                            <a:rPr lang="en-US" sz="1400"/>
                            <m:t>−120</m:t>
                          </m:r>
                          <m:r>
                            <m:rPr>
                              <m:nor/>
                            </m:rPr>
                            <a:rPr lang="en-AE" sz="1400"/>
                            <m:t>°</m:t>
                          </m:r>
                          <m:r>
                            <m:rPr>
                              <m:nor/>
                            </m:rPr>
                            <a:rPr lang="en-US" sz="1400"/>
                            <m:t> </m:t>
                          </m:r>
                          <m:r>
                            <m:rPr>
                              <m:nor/>
                            </m:rPr>
                            <a:rPr lang="en-US" sz="1400"/>
                            <m:t>V</m:t>
                          </m:r>
                        </m:oMath>
                      </m:oMathPara>
                    </a14:m>
                    <a:endParaRPr lang="en-AE" sz="1400" dirty="0"/>
                  </a:p>
                </p:txBody>
              </p:sp>
            </mc:Choice>
            <mc:Fallback xmlns="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1320276A-662A-FB1D-442A-0D1710E5AC2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41961" y="5686415"/>
                    <a:ext cx="1446229" cy="338554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  <a:ln>
                    <a:solidFill>
                      <a:srgbClr val="00B050"/>
                    </a:solidFill>
                  </a:ln>
                </p:spPr>
                <p:txBody>
                  <a:bodyPr/>
                  <a:lstStyle/>
                  <a:p>
                    <a:r>
                      <a:rPr lang="en-A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DA0D51A5-8051-E113-7E65-F24F98E1B8B3}"/>
                      </a:ext>
                    </a:extLst>
                  </p:cNvPr>
                  <p:cNvSpPr txBox="1"/>
                  <p:nvPr/>
                </p:nvSpPr>
                <p:spPr>
                  <a:xfrm>
                    <a:off x="2513048" y="4471978"/>
                    <a:ext cx="1446229" cy="338554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70C0"/>
                    </a:solidFill>
                  </a:ln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330</m:t>
                          </m:r>
                          <m:r>
                            <m:rPr>
                              <m:nor/>
                            </m:rPr>
                            <a:rPr lang="en-AE" sz="14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∠</m:t>
                          </m:r>
                          <m:r>
                            <m:rPr>
                              <m:nor/>
                            </m:rPr>
                            <a:rPr lang="en-US" sz="14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+12</m:t>
                          </m:r>
                          <m:r>
                            <m:rPr>
                              <m:nor/>
                            </m:rPr>
                            <a:rPr lang="en-US" sz="14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m:rPr>
                              <m:nor/>
                            </m:rPr>
                            <a:rPr lang="en-AE" sz="14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  <m:r>
                            <m:rPr>
                              <m:nor/>
                            </m:rPr>
                            <a:rPr lang="en-US" sz="14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4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V</m:t>
                          </m:r>
                        </m:oMath>
                      </m:oMathPara>
                    </a14:m>
                    <a:endParaRPr lang="en-AE" sz="1400" dirty="0">
                      <a:solidFill>
                        <a:schemeClr val="accent5">
                          <a:lumMod val="75000"/>
                        </a:schemeClr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DA0D51A5-8051-E113-7E65-F24F98E1B8B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13048" y="4471978"/>
                    <a:ext cx="1446229" cy="338554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>
                    <a:solidFill>
                      <a:srgbClr val="0070C0"/>
                    </a:solidFill>
                  </a:ln>
                </p:spPr>
                <p:txBody>
                  <a:bodyPr/>
                  <a:lstStyle/>
                  <a:p>
                    <a:r>
                      <a:rPr lang="en-AE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235DDC2E-C862-EDE9-F91F-ADB109C2FF7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1095" y="3149794"/>
            <a:ext cx="6925642" cy="2495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453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91277D-AF2F-7F82-0416-44CE2B4E2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43B4DE6-2B8B-C339-EE2D-A0B6CE7CBEBE}"/>
              </a:ext>
            </a:extLst>
          </p:cNvPr>
          <p:cNvSpPr/>
          <p:nvPr/>
        </p:nvSpPr>
        <p:spPr>
          <a:xfrm>
            <a:off x="0" y="6480143"/>
            <a:ext cx="12192000" cy="302260"/>
          </a:xfrm>
          <a:prstGeom prst="rect">
            <a:avLst/>
          </a:prstGeom>
          <a:solidFill>
            <a:srgbClr val="154E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2CF3E8-6CEC-E659-5DFA-63C152B04E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3312"/>
            <a:ext cx="2743200" cy="365125"/>
          </a:xfrm>
        </p:spPr>
        <p:txBody>
          <a:bodyPr/>
          <a:lstStyle/>
          <a:p>
            <a:r>
              <a:rPr lang="en-US" sz="1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26/01/2026</a:t>
            </a:r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AA9143-1298-65E4-3152-641100CAA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43312"/>
            <a:ext cx="4114800" cy="365125"/>
          </a:xfrm>
        </p:spPr>
        <p:txBody>
          <a:bodyPr/>
          <a:lstStyle/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CSE, BAUET</a:t>
            </a:r>
            <a:endParaRPr lang="en-AE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284A4B-2267-4539-A992-E4BE33D59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3312"/>
            <a:ext cx="2743200" cy="365125"/>
          </a:xfrm>
        </p:spPr>
        <p:txBody>
          <a:bodyPr/>
          <a:lstStyle/>
          <a:p>
            <a:fld id="{E407BDCA-6C04-4DE3-905E-17E4BFE04F46}" type="slidenum">
              <a:rPr lang="en-AE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fld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B5CDB33-A81F-DE5C-3F79-B332F669AC2C}"/>
              </a:ext>
            </a:extLst>
          </p:cNvPr>
          <p:cNvGrpSpPr/>
          <p:nvPr/>
        </p:nvGrpSpPr>
        <p:grpSpPr>
          <a:xfrm>
            <a:off x="0" y="92595"/>
            <a:ext cx="12191998" cy="830997"/>
            <a:chOff x="0" y="225907"/>
            <a:chExt cx="12191998" cy="83099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78C4F734-6EA6-FE1C-C605-363E59C6C925}"/>
                </a:ext>
              </a:extLst>
            </p:cNvPr>
            <p:cNvGrpSpPr/>
            <p:nvPr/>
          </p:nvGrpSpPr>
          <p:grpSpPr>
            <a:xfrm>
              <a:off x="0" y="225907"/>
              <a:ext cx="12191998" cy="830997"/>
              <a:chOff x="0" y="225907"/>
              <a:chExt cx="12191998" cy="8309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149D7C0D-F6DB-45C4-9C64-B5D69F2E909F}"/>
                  </a:ext>
                </a:extLst>
              </p:cNvPr>
              <p:cNvSpPr/>
              <p:nvPr/>
            </p:nvSpPr>
            <p:spPr>
              <a:xfrm>
                <a:off x="11080954" y="225907"/>
                <a:ext cx="1111044" cy="8309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object 2">
                <a:extLst>
                  <a:ext uri="{FF2B5EF4-FFF2-40B4-BE49-F238E27FC236}">
                    <a16:creationId xmlns:a16="http://schemas.microsoft.com/office/drawing/2014/main" id="{737A3323-6647-2F3B-E25C-760559CF2FD6}"/>
                  </a:ext>
                </a:extLst>
              </p:cNvPr>
              <p:cNvSpPr/>
              <p:nvPr/>
            </p:nvSpPr>
            <p:spPr>
              <a:xfrm>
                <a:off x="11313789" y="336886"/>
                <a:ext cx="645374" cy="638891"/>
              </a:xfrm>
              <a:prstGeom prst="rect">
                <a:avLst/>
              </a:prstGeom>
              <a:blipFill>
                <a:blip r:embed="rId3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dirty="0">
                  <a:effectLst>
                    <a:glow rad="228600">
                      <a:schemeClr val="accent1">
                        <a:satMod val="175000"/>
                        <a:alpha val="40000"/>
                      </a:schemeClr>
                    </a:glow>
                  </a:effectLst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607AF2A8-CC59-6B1C-4A4E-AFA6471C4C68}"/>
                  </a:ext>
                </a:extLst>
              </p:cNvPr>
              <p:cNvSpPr/>
              <p:nvPr/>
            </p:nvSpPr>
            <p:spPr>
              <a:xfrm>
                <a:off x="0" y="225908"/>
                <a:ext cx="11080954" cy="830995"/>
              </a:xfrm>
              <a:prstGeom prst="rect">
                <a:avLst/>
              </a:prstGeom>
              <a:solidFill>
                <a:srgbClr val="154E1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9F33AD9-8E0D-9EA6-B495-C0495BC158DD}"/>
                </a:ext>
              </a:extLst>
            </p:cNvPr>
            <p:cNvSpPr txBox="1"/>
            <p:nvPr/>
          </p:nvSpPr>
          <p:spPr>
            <a:xfrm>
              <a:off x="249364" y="379795"/>
              <a:ext cx="1083158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Why three phase is needed?</a:t>
              </a:r>
              <a:endParaRPr lang="en-AE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5BB6E93-0C03-9EEA-9535-5E4EB03CD6E6}"/>
                  </a:ext>
                </a:extLst>
              </p:cNvPr>
              <p:cNvSpPr txBox="1"/>
              <p:nvPr/>
            </p:nvSpPr>
            <p:spPr>
              <a:xfrm>
                <a:off x="277385" y="1409966"/>
                <a:ext cx="10803568" cy="42987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A three-phase system can deliver more power than a single-phase system for the same line voltage and current, making it more efficient for heavy loads.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  <m:r>
                          <a:rPr lang="en-US" sz="24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4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lang="en-US" sz="2400" dirty="0">
                    <a:solidFill>
                      <a:srgbClr val="00B0F0"/>
                    </a:solidFill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n-US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The total instantaneous power in a balanced three-phase system is constant—it does not change with time as the instantaneous power of each phase does.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  <m:r>
                            <a:rPr lang="en-US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1.5×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sub>
                      </m:sSub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𝑐𝑜𝑠</m:t>
                      </m:r>
                      <m:r>
                        <m:rPr>
                          <m:nor/>
                        </m:rPr>
                        <a:rPr lang="el-GR" smtClean="0">
                          <a:solidFill>
                            <a:srgbClr val="00B0F0"/>
                          </a:solidFill>
                        </a:rPr>
                        <m:t>φ</m:t>
                      </m:r>
                    </m:oMath>
                  </m:oMathPara>
                </a14:m>
                <a:endParaRPr lang="en-US" sz="2400" dirty="0"/>
              </a:p>
              <a:p>
                <a:pPr algn="ctr"/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The three-phase system uses a lesser amount of wire than the single-phase system for the same line voltage.</a:t>
                </a:r>
              </a:p>
              <a:p>
                <a:pPr algn="ctr"/>
                <a:r>
                  <a:rPr lang="en-US" sz="24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Material for single phase = 1.33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</m:oMath>
                </a14:m>
                <a:r>
                  <a:rPr lang="en-US" sz="24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Material for three phase</a:t>
                </a:r>
                <a:endParaRPr lang="en-AE" sz="2400" dirty="0">
                  <a:solidFill>
                    <a:srgbClr val="00B0F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5BB6E93-0C03-9EEA-9535-5E4EB03CD6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385" y="1409966"/>
                <a:ext cx="10803568" cy="4298741"/>
              </a:xfrm>
              <a:prstGeom prst="rect">
                <a:avLst/>
              </a:prstGeom>
              <a:blipFill>
                <a:blip r:embed="rId4"/>
                <a:stretch>
                  <a:fillRect l="-790" t="-1135" r="-847" b="-1418"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1165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E27802-76C9-EB31-5AE8-31E674392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B58A11F-A477-E094-7DF4-6C0ABF0F650E}"/>
              </a:ext>
            </a:extLst>
          </p:cNvPr>
          <p:cNvSpPr/>
          <p:nvPr/>
        </p:nvSpPr>
        <p:spPr>
          <a:xfrm>
            <a:off x="0" y="6480143"/>
            <a:ext cx="12192000" cy="302260"/>
          </a:xfrm>
          <a:prstGeom prst="rect">
            <a:avLst/>
          </a:prstGeom>
          <a:solidFill>
            <a:srgbClr val="154E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A7B19E-BF25-97A8-C2D4-17CA479FA6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3312"/>
            <a:ext cx="2743200" cy="365125"/>
          </a:xfrm>
        </p:spPr>
        <p:txBody>
          <a:bodyPr/>
          <a:lstStyle/>
          <a:p>
            <a:r>
              <a:rPr lang="en-US" sz="1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26/01/2026</a:t>
            </a:r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20BC1B-9F71-AE82-7884-A441A9BF6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43312"/>
            <a:ext cx="4114800" cy="365125"/>
          </a:xfrm>
        </p:spPr>
        <p:txBody>
          <a:bodyPr/>
          <a:lstStyle/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CSE, BAUET</a:t>
            </a:r>
            <a:endParaRPr lang="en-AE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FB2EC7-3012-84A4-FA05-F9B0AEB75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3312"/>
            <a:ext cx="2743200" cy="365125"/>
          </a:xfrm>
        </p:spPr>
        <p:txBody>
          <a:bodyPr/>
          <a:lstStyle/>
          <a:p>
            <a:fld id="{E407BDCA-6C04-4DE3-905E-17E4BFE04F46}" type="slidenum">
              <a:rPr lang="en-AE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fld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601EFBC-518D-8C7F-F832-1D3921A3A661}"/>
              </a:ext>
            </a:extLst>
          </p:cNvPr>
          <p:cNvGrpSpPr/>
          <p:nvPr/>
        </p:nvGrpSpPr>
        <p:grpSpPr>
          <a:xfrm>
            <a:off x="0" y="92595"/>
            <a:ext cx="12191998" cy="830997"/>
            <a:chOff x="0" y="225907"/>
            <a:chExt cx="12191998" cy="83099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184A7B13-EDB1-3A13-A670-62C4D297C58E}"/>
                </a:ext>
              </a:extLst>
            </p:cNvPr>
            <p:cNvGrpSpPr/>
            <p:nvPr/>
          </p:nvGrpSpPr>
          <p:grpSpPr>
            <a:xfrm>
              <a:off x="0" y="225907"/>
              <a:ext cx="12191998" cy="830997"/>
              <a:chOff x="0" y="225907"/>
              <a:chExt cx="12191998" cy="8309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5ACF591-3BFF-D57B-5F13-26501FC00F12}"/>
                  </a:ext>
                </a:extLst>
              </p:cNvPr>
              <p:cNvSpPr/>
              <p:nvPr/>
            </p:nvSpPr>
            <p:spPr>
              <a:xfrm>
                <a:off x="11080954" y="225907"/>
                <a:ext cx="1111044" cy="8309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object 2">
                <a:extLst>
                  <a:ext uri="{FF2B5EF4-FFF2-40B4-BE49-F238E27FC236}">
                    <a16:creationId xmlns:a16="http://schemas.microsoft.com/office/drawing/2014/main" id="{D49CE843-4CE5-E5E9-34AF-B57E9593ECAE}"/>
                  </a:ext>
                </a:extLst>
              </p:cNvPr>
              <p:cNvSpPr/>
              <p:nvPr/>
            </p:nvSpPr>
            <p:spPr>
              <a:xfrm>
                <a:off x="11313789" y="336886"/>
                <a:ext cx="645374" cy="638891"/>
              </a:xfrm>
              <a:prstGeom prst="rect">
                <a:avLst/>
              </a:prstGeom>
              <a:blipFill>
                <a:blip r:embed="rId3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dirty="0">
                  <a:effectLst>
                    <a:glow rad="228600">
                      <a:schemeClr val="accent1">
                        <a:satMod val="175000"/>
                        <a:alpha val="40000"/>
                      </a:schemeClr>
                    </a:glow>
                  </a:effectLst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9508F4E8-E434-5A73-0333-3AD60ACB6531}"/>
                  </a:ext>
                </a:extLst>
              </p:cNvPr>
              <p:cNvSpPr/>
              <p:nvPr/>
            </p:nvSpPr>
            <p:spPr>
              <a:xfrm>
                <a:off x="0" y="225908"/>
                <a:ext cx="11080954" cy="830995"/>
              </a:xfrm>
              <a:prstGeom prst="rect">
                <a:avLst/>
              </a:prstGeom>
              <a:solidFill>
                <a:srgbClr val="154E1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BFF2390-4163-8CF1-A06B-03C23DE60F4E}"/>
                </a:ext>
              </a:extLst>
            </p:cNvPr>
            <p:cNvSpPr txBox="1"/>
            <p:nvPr/>
          </p:nvSpPr>
          <p:spPr>
            <a:xfrm>
              <a:off x="249364" y="379795"/>
              <a:ext cx="1083158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Three phase system</a:t>
              </a:r>
              <a:endParaRPr lang="en-AE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1026" name="Picture 2">
            <a:extLst>
              <a:ext uri="{FF2B5EF4-FFF2-40B4-BE49-F238E27FC236}">
                <a16:creationId xmlns:a16="http://schemas.microsoft.com/office/drawing/2014/main" id="{7941142B-9418-1471-C17D-F8310B65C7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7101" y="1040648"/>
            <a:ext cx="3937797" cy="5248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60B5FE2-9D2B-45DB-2751-FE9063E20A87}"/>
              </a:ext>
            </a:extLst>
          </p:cNvPr>
          <p:cNvSpPr/>
          <p:nvPr/>
        </p:nvSpPr>
        <p:spPr>
          <a:xfrm>
            <a:off x="4127101" y="1725168"/>
            <a:ext cx="1968899" cy="225552"/>
          </a:xfrm>
          <a:prstGeom prst="rect">
            <a:avLst/>
          </a:prstGeom>
          <a:solidFill>
            <a:srgbClr val="FF0000">
              <a:alpha val="5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F0FAF9-AC6F-E4EC-D588-86FE3358948C}"/>
              </a:ext>
            </a:extLst>
          </p:cNvPr>
          <p:cNvSpPr/>
          <p:nvPr/>
        </p:nvSpPr>
        <p:spPr>
          <a:xfrm>
            <a:off x="4127100" y="2043393"/>
            <a:ext cx="1968899" cy="225552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CCE8D27-F1B1-8C0F-E482-FD7213B65A90}"/>
              </a:ext>
            </a:extLst>
          </p:cNvPr>
          <p:cNvSpPr/>
          <p:nvPr/>
        </p:nvSpPr>
        <p:spPr>
          <a:xfrm>
            <a:off x="4127099" y="2581609"/>
            <a:ext cx="1968899" cy="225552"/>
          </a:xfrm>
          <a:prstGeom prst="rect">
            <a:avLst/>
          </a:prstGeom>
          <a:solidFill>
            <a:srgbClr val="0070C0">
              <a:alpha val="50000"/>
            </a:srgb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D253C90-6FC5-CD19-B065-534698106ED9}"/>
              </a:ext>
            </a:extLst>
          </p:cNvPr>
          <p:cNvSpPr/>
          <p:nvPr/>
        </p:nvSpPr>
        <p:spPr>
          <a:xfrm>
            <a:off x="4127099" y="4469788"/>
            <a:ext cx="1968899" cy="225552"/>
          </a:xfrm>
          <a:prstGeom prst="rect">
            <a:avLst/>
          </a:prstGeom>
          <a:solidFill>
            <a:schemeClr val="accent4">
              <a:lumMod val="60000"/>
              <a:lumOff val="40000"/>
              <a:alpha val="5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65B8458-9929-B978-8459-080CE7E98FFB}"/>
              </a:ext>
            </a:extLst>
          </p:cNvPr>
          <p:cNvGrpSpPr/>
          <p:nvPr/>
        </p:nvGrpSpPr>
        <p:grpSpPr>
          <a:xfrm>
            <a:off x="3065206" y="1640289"/>
            <a:ext cx="1061892" cy="3126941"/>
            <a:chOff x="3065206" y="1640289"/>
            <a:chExt cx="1061892" cy="3126941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744810A-1410-000D-EA83-4E1BC69B1529}"/>
                </a:ext>
              </a:extLst>
            </p:cNvPr>
            <p:cNvSpPr txBox="1"/>
            <p:nvPr/>
          </p:nvSpPr>
          <p:spPr>
            <a:xfrm>
              <a:off x="3065207" y="1640289"/>
              <a:ext cx="9733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Phase A</a:t>
              </a:r>
              <a:endParaRPr lang="en-AE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65C6A45-9D67-9548-E88B-238DC143E098}"/>
                </a:ext>
              </a:extLst>
            </p:cNvPr>
            <p:cNvSpPr txBox="1"/>
            <p:nvPr/>
          </p:nvSpPr>
          <p:spPr>
            <a:xfrm>
              <a:off x="3065206" y="1950720"/>
              <a:ext cx="9733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Phase B</a:t>
              </a:r>
              <a:endParaRPr lang="en-AE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5667D2D-B7D5-7F49-9F7D-C5DCA9B62430}"/>
                </a:ext>
              </a:extLst>
            </p:cNvPr>
            <p:cNvSpPr txBox="1"/>
            <p:nvPr/>
          </p:nvSpPr>
          <p:spPr>
            <a:xfrm>
              <a:off x="3065206" y="2501329"/>
              <a:ext cx="9733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Phase C</a:t>
              </a:r>
              <a:endParaRPr lang="en-AE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2328B02-CF94-3CB9-A5FE-719ECAA7AB9A}"/>
                </a:ext>
              </a:extLst>
            </p:cNvPr>
            <p:cNvSpPr txBox="1"/>
            <p:nvPr/>
          </p:nvSpPr>
          <p:spPr>
            <a:xfrm>
              <a:off x="3153705" y="4397898"/>
              <a:ext cx="9733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Neutral</a:t>
              </a:r>
              <a:endParaRPr lang="en-AE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77842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15" grpId="0" animBg="1"/>
      <p:bldP spid="1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C8BC3E-D365-D1AD-47BC-1A4BDB05C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71B1576-4B0F-5EA2-392E-D0C337510E1F}"/>
              </a:ext>
            </a:extLst>
          </p:cNvPr>
          <p:cNvSpPr/>
          <p:nvPr/>
        </p:nvSpPr>
        <p:spPr>
          <a:xfrm>
            <a:off x="0" y="6480143"/>
            <a:ext cx="12192000" cy="302260"/>
          </a:xfrm>
          <a:prstGeom prst="rect">
            <a:avLst/>
          </a:prstGeom>
          <a:solidFill>
            <a:srgbClr val="154E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C38782-3D48-6C63-828B-A985CE17D1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3312"/>
            <a:ext cx="2743200" cy="365125"/>
          </a:xfrm>
        </p:spPr>
        <p:txBody>
          <a:bodyPr/>
          <a:lstStyle/>
          <a:p>
            <a:r>
              <a:rPr lang="en-US" sz="1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26/01/2026</a:t>
            </a:r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3ED98A-5179-9F82-C5EE-2A53AEED6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43312"/>
            <a:ext cx="4114800" cy="365125"/>
          </a:xfrm>
        </p:spPr>
        <p:txBody>
          <a:bodyPr/>
          <a:lstStyle/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CSE, BAUET</a:t>
            </a:r>
            <a:endParaRPr lang="en-AE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080D9B-4F18-A876-0F31-6114F7789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3312"/>
            <a:ext cx="2743200" cy="365125"/>
          </a:xfrm>
        </p:spPr>
        <p:txBody>
          <a:bodyPr/>
          <a:lstStyle/>
          <a:p>
            <a:fld id="{E407BDCA-6C04-4DE3-905E-17E4BFE04F46}" type="slidenum">
              <a:rPr lang="en-AE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fld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97FF3F3-03C5-4C04-E678-62C7D0602D30}"/>
              </a:ext>
            </a:extLst>
          </p:cNvPr>
          <p:cNvGrpSpPr/>
          <p:nvPr/>
        </p:nvGrpSpPr>
        <p:grpSpPr>
          <a:xfrm>
            <a:off x="0" y="92595"/>
            <a:ext cx="12191998" cy="830997"/>
            <a:chOff x="0" y="225907"/>
            <a:chExt cx="12191998" cy="83099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196E98C8-CA22-9D0A-DB3F-E33E4FFE8438}"/>
                </a:ext>
              </a:extLst>
            </p:cNvPr>
            <p:cNvGrpSpPr/>
            <p:nvPr/>
          </p:nvGrpSpPr>
          <p:grpSpPr>
            <a:xfrm>
              <a:off x="0" y="225907"/>
              <a:ext cx="12191998" cy="830997"/>
              <a:chOff x="0" y="225907"/>
              <a:chExt cx="12191998" cy="8309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2DA8D70-8690-DDAA-B862-B7F0D4A142C0}"/>
                  </a:ext>
                </a:extLst>
              </p:cNvPr>
              <p:cNvSpPr/>
              <p:nvPr/>
            </p:nvSpPr>
            <p:spPr>
              <a:xfrm>
                <a:off x="11080954" y="225907"/>
                <a:ext cx="1111044" cy="8309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object 2">
                <a:extLst>
                  <a:ext uri="{FF2B5EF4-FFF2-40B4-BE49-F238E27FC236}">
                    <a16:creationId xmlns:a16="http://schemas.microsoft.com/office/drawing/2014/main" id="{3CDE4C87-451F-D9A6-6497-FF3F76B30D7E}"/>
                  </a:ext>
                </a:extLst>
              </p:cNvPr>
              <p:cNvSpPr/>
              <p:nvPr/>
            </p:nvSpPr>
            <p:spPr>
              <a:xfrm>
                <a:off x="11313789" y="336886"/>
                <a:ext cx="645374" cy="638891"/>
              </a:xfrm>
              <a:prstGeom prst="rect">
                <a:avLst/>
              </a:prstGeom>
              <a:blipFill>
                <a:blip r:embed="rId3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dirty="0">
                  <a:effectLst>
                    <a:glow rad="228600">
                      <a:schemeClr val="accent1">
                        <a:satMod val="175000"/>
                        <a:alpha val="40000"/>
                      </a:schemeClr>
                    </a:glow>
                  </a:effectLst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64A8CCB9-FECC-45A8-23F4-54628C0523FD}"/>
                  </a:ext>
                </a:extLst>
              </p:cNvPr>
              <p:cNvSpPr/>
              <p:nvPr/>
            </p:nvSpPr>
            <p:spPr>
              <a:xfrm>
                <a:off x="0" y="225908"/>
                <a:ext cx="11080954" cy="830995"/>
              </a:xfrm>
              <a:prstGeom prst="rect">
                <a:avLst/>
              </a:prstGeom>
              <a:solidFill>
                <a:srgbClr val="154E1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79EFF6C-B582-22D9-B3D4-7061506AD37F}"/>
                </a:ext>
              </a:extLst>
            </p:cNvPr>
            <p:cNvSpPr txBox="1"/>
            <p:nvPr/>
          </p:nvSpPr>
          <p:spPr>
            <a:xfrm>
              <a:off x="249364" y="379795"/>
              <a:ext cx="1083158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Three phase system</a:t>
              </a:r>
              <a:endParaRPr lang="en-AE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2050" name="Picture 2">
            <a:extLst>
              <a:ext uri="{FF2B5EF4-FFF2-40B4-BE49-F238E27FC236}">
                <a16:creationId xmlns:a16="http://schemas.microsoft.com/office/drawing/2014/main" id="{6C62F563-7A08-15C0-09BA-660967D7F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579" y="1001069"/>
            <a:ext cx="8784841" cy="5423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000F4676-C234-ABBD-9D0C-AF2C132923DC}"/>
              </a:ext>
            </a:extLst>
          </p:cNvPr>
          <p:cNvGrpSpPr/>
          <p:nvPr/>
        </p:nvGrpSpPr>
        <p:grpSpPr>
          <a:xfrm>
            <a:off x="2567891" y="842465"/>
            <a:ext cx="6568473" cy="6010814"/>
            <a:chOff x="2209800" y="1077478"/>
            <a:chExt cx="6568473" cy="6010814"/>
          </a:xfrm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2FDDF227-3D24-3F6A-9F33-9EAF98C1A17D}"/>
                </a:ext>
              </a:extLst>
            </p:cNvPr>
            <p:cNvSpPr/>
            <p:nvPr/>
          </p:nvSpPr>
          <p:spPr>
            <a:xfrm rot="7197742">
              <a:off x="4915976" y="3225994"/>
              <a:ext cx="4333200" cy="3391395"/>
            </a:xfrm>
            <a:prstGeom prst="triangle">
              <a:avLst/>
            </a:prstGeom>
            <a:solidFill>
              <a:srgbClr val="0070C0">
                <a:alpha val="70000"/>
              </a:srgb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/>
            </a:p>
          </p:txBody>
        </p:sp>
        <p:pic>
          <p:nvPicPr>
            <p:cNvPr id="4" name="Picture 2">
              <a:extLst>
                <a:ext uri="{FF2B5EF4-FFF2-40B4-BE49-F238E27FC236}">
                  <a16:creationId xmlns:a16="http://schemas.microsoft.com/office/drawing/2014/main" id="{93638A28-ABB2-134F-741C-9A315CF2269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4094" t="34665" r="5926" b="580"/>
            <a:stretch>
              <a:fillRect/>
            </a:stretch>
          </p:blipFill>
          <p:spPr bwMode="auto">
            <a:xfrm>
              <a:off x="2209800" y="1077478"/>
              <a:ext cx="4840598" cy="4840598"/>
            </a:xfrm>
            <a:prstGeom prst="ellipse">
              <a:avLst/>
            </a:prstGeom>
            <a:noFill/>
            <a:ln w="57150">
              <a:solidFill>
                <a:srgbClr val="0070C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989151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60875D-E5DE-8EC0-1BDC-C0D893A96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" name="Picture 10" descr="Cheerful Minion Animated Thank You Expression Free PNG | PNG All">
            <a:extLst>
              <a:ext uri="{FF2B5EF4-FFF2-40B4-BE49-F238E27FC236}">
                <a16:creationId xmlns:a16="http://schemas.microsoft.com/office/drawing/2014/main" id="{1F779273-02F3-F4E9-5566-094A88ECD2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6447" y="973630"/>
            <a:ext cx="9339105" cy="4910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1296F5F6-94F2-3F03-0978-ACF6CF472EAC}"/>
              </a:ext>
            </a:extLst>
          </p:cNvPr>
          <p:cNvSpPr/>
          <p:nvPr/>
        </p:nvSpPr>
        <p:spPr>
          <a:xfrm>
            <a:off x="1724626" y="4734042"/>
            <a:ext cx="4514126" cy="69448"/>
          </a:xfrm>
          <a:prstGeom prst="ellipse">
            <a:avLst/>
          </a:prstGeom>
          <a:solidFill>
            <a:schemeClr val="tx1">
              <a:alpha val="25000"/>
            </a:schemeClr>
          </a:solidFill>
          <a:ln>
            <a:noFill/>
          </a:ln>
          <a:effectLst>
            <a:softEdge rad="254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5832581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595</TotalTime>
  <Words>750</Words>
  <Application>Microsoft Office PowerPoint</Application>
  <PresentationFormat>Widescreen</PresentationFormat>
  <Paragraphs>137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Arial Black</vt:lpstr>
      <vt:lpstr>Calibri</vt:lpstr>
      <vt:lpstr>Calibri Light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S. M. Ashik Al Mashrafi</dc:creator>
  <cp:lastModifiedBy>S. M. Ashik Al Mashrafi</cp:lastModifiedBy>
  <cp:revision>88</cp:revision>
  <dcterms:created xsi:type="dcterms:W3CDTF">2025-07-26T10:31:05Z</dcterms:created>
  <dcterms:modified xsi:type="dcterms:W3CDTF">2026-01-28T01:57:55Z</dcterms:modified>
</cp:coreProperties>
</file>