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6"/>
  </p:notesMasterIdLst>
  <p:sldIdLst>
    <p:sldId id="263" r:id="rId2"/>
    <p:sldId id="265" r:id="rId3"/>
    <p:sldId id="267" r:id="rId4"/>
    <p:sldId id="316" r:id="rId5"/>
    <p:sldId id="318" r:id="rId6"/>
    <p:sldId id="317" r:id="rId7"/>
    <p:sldId id="305" r:id="rId8"/>
    <p:sldId id="306" r:id="rId9"/>
    <p:sldId id="319" r:id="rId10"/>
    <p:sldId id="310" r:id="rId11"/>
    <p:sldId id="312" r:id="rId12"/>
    <p:sldId id="320" r:id="rId13"/>
    <p:sldId id="321" r:id="rId14"/>
    <p:sldId id="30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F2E7"/>
    <a:srgbClr val="154E10"/>
    <a:srgbClr val="548235"/>
    <a:srgbClr val="D4B309"/>
    <a:srgbClr val="004101"/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43" autoAdjust="0"/>
    <p:restoredTop sz="94660"/>
  </p:normalViewPr>
  <p:slideViewPr>
    <p:cSldViewPr snapToGrid="0">
      <p:cViewPr varScale="1">
        <p:scale>
          <a:sx n="51" d="100"/>
          <a:sy n="51" d="100"/>
        </p:scale>
        <p:origin x="67" y="6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FE013-CA25-47D5-A3CA-40C6CCB1980D}" type="datetimeFigureOut">
              <a:rPr lang="en-AE" smtClean="0"/>
              <a:t>02/02/2026</a:t>
            </a:fld>
            <a:endParaRPr lang="en-A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103FC4-7E90-4A4D-B9BE-3E3B19ADB2BE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017482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4A0E7-2ACB-3AD6-7A52-99E43E2F6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2CF644-4E22-4251-B51F-C031EA08D5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635572-C2B3-8B71-B357-5C368C55DB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311CAC-6691-CAEE-2848-379B5CC362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103FC4-7E90-4A4D-B9BE-3E3B19ADB2BE}" type="slidenum">
              <a:rPr lang="en-AE" smtClean="0"/>
              <a:t>13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4192765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59AE9-4CE0-8D35-CFD0-14860AF73E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7B3785-05F0-D3D3-FEA6-C6A34A65BB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D4CFA-8F21-872E-0FB8-CB8A3E141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01/02/2026</a:t>
            </a:r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97036-48F0-AFD7-A516-D1F20BBCC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BAUET</a:t>
            </a:r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DEE955-2054-AC07-C669-C2AD9CAED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438128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0E0A6-970C-349B-85A7-129CBABD9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1B6CC-9BCA-5D16-1304-808D0E0836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72ED1-9492-9405-6343-9048603AA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01/02/2026</a:t>
            </a:r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86045-04EF-D507-D3EB-676F0EDFD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BAUET</a:t>
            </a:r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01D6B0-80F2-5162-DEDE-C9AF421A0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085963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C6CE5-68A0-CE57-F555-9354E94C9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0259EE-3894-81C3-1C2D-A0C1381FAC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86821-C52C-1639-3420-9102C9106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01/02/2026</a:t>
            </a:r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195700-D01B-2F2D-2D8E-836CF2658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BAUET</a:t>
            </a:r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DD4D55-8F7E-7450-4682-582C41318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972814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B7B6D-2269-B0B8-AE5A-7E61CC3BA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3DF18-22AB-95D2-6975-5949596643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98AA14-9EE3-FCC8-A879-5A0AFC758A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ECA36E-0BD4-2C5F-65B3-0833A013D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01/02/2026</a:t>
            </a:r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E87DCF-71BC-D13D-190E-68CEF97AF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BAUET</a:t>
            </a:r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9DA933-5CD1-9E4C-EB2A-B82BAE6A7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423410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FAD46-28D5-C95F-D682-481DE22BA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596BA3-5526-EB1B-99FB-0767C715EA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1CE715-3397-5E0F-573E-E2C267084C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61A2BB-FD2F-8093-33E0-6A83D46BDD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217CB4-8C4D-7653-E174-AB249FD4EE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B05505-F43F-2BA7-8852-2C57C1B0A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01/02/2026</a:t>
            </a:r>
            <a:endParaRPr lang="en-A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A88E68-E215-05D3-793E-0DDD76A71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BAUET</a:t>
            </a:r>
            <a:endParaRPr lang="en-A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DEEF46-4E46-9FB0-8A05-4947E249A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595617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6A0DF-AAC5-3B04-0E5C-A20192A79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F255A2-00E2-2264-8909-D4ED17738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01/02/2026</a:t>
            </a:r>
            <a:endParaRPr lang="en-A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024C93-047F-1636-44B4-E998B308D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BAUET</a:t>
            </a:r>
            <a:endParaRPr lang="en-A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C3B603-E7C9-C7EC-45CA-3331E0259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374218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0F47B1-0D87-826D-C939-6DD0DA97E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01/02/2026</a:t>
            </a:r>
            <a:endParaRPr lang="en-A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ECC093-BFB0-4CD2-10BD-B69F9D923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BAUET</a:t>
            </a:r>
            <a:endParaRPr lang="en-A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13D88B-2189-0E63-3CEA-527B657B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349065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739EE-5F0D-EF0C-C327-42D31FD6C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FB883-71A5-2EC4-9179-08FA3DD3F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D60CBB-2FDD-6B1F-06E2-47D761328E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8895F2-9072-931C-7193-7B7E63B5A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01/02/2026</a:t>
            </a:r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C47C83-1249-57FE-AFC1-C4345FD47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BAUET</a:t>
            </a:r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73804F-31BC-14A0-E5DB-780AC7C46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952721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7C8D4-53DD-6C83-3FC6-0382BFD62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C2DD3D-509F-ED28-2B51-8E06ACFC60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E08984-517B-3836-F931-469F82BD83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13E406-2FE5-3E37-F592-B5F099B3F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01/02/2026</a:t>
            </a:r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AA0A20-0B1C-F85F-E0B9-908047AE6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BAUET</a:t>
            </a:r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DF103D-3958-2A70-0395-51CF78C4D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96046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1D840-3BE4-A51F-B875-8D9B526ED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CD5D4A-D2F4-562B-DD70-3906C83077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4C221D-2087-3904-EC97-9C89D3C6A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01/02/2026</a:t>
            </a:r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36333-7792-7193-74B7-67F7CEEDE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BAUET</a:t>
            </a:r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2602A1-06CF-4FA2-0CC2-5CF34AD33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842372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BEF0C3-E988-167C-ADFB-CB590DDA72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32ADBC-C152-41F4-E0E2-E63B1A73A5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A22A6D-AA5F-1F9A-591D-B16754F6F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01/02/2026</a:t>
            </a:r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8FF5DD-D699-F48F-C84C-F5FFC328F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BAUET</a:t>
            </a:r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681F98-18BE-189D-8FAA-0974840DC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007581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477B0A-AF37-95F4-0B6B-42A3DBD96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626289-8198-FE45-E688-735246C0C9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D22DAB-FFA2-3F6F-F390-13AD02012D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01/02/2026</a:t>
            </a:r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7EBFCC-5305-40AC-B83B-89E8ECA8B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Department of CSE, BAUET</a:t>
            </a:r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34C4F0-1D23-F7C5-F90F-BC1B32B4CF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989988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6FBDF-3E7C-4C31-6DE4-B72761D0E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F23AAC3B-65CB-D4A9-34F4-21E8C41351B6}"/>
              </a:ext>
            </a:extLst>
          </p:cNvPr>
          <p:cNvSpPr/>
          <p:nvPr/>
        </p:nvSpPr>
        <p:spPr>
          <a:xfrm>
            <a:off x="5490410" y="188276"/>
            <a:ext cx="1211180" cy="11990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8961E5-478F-A79B-43A8-F70980DE0B54}"/>
              </a:ext>
            </a:extLst>
          </p:cNvPr>
          <p:cNvSpPr txBox="1"/>
          <p:nvPr/>
        </p:nvSpPr>
        <p:spPr>
          <a:xfrm>
            <a:off x="0" y="1562939"/>
            <a:ext cx="12192000" cy="1323439"/>
          </a:xfrm>
          <a:prstGeom prst="rect">
            <a:avLst/>
          </a:prstGeom>
          <a:solidFill>
            <a:srgbClr val="004101">
              <a:alpha val="90000"/>
            </a:srgbClr>
          </a:solidFill>
        </p:spPr>
        <p:txBody>
          <a:bodyPr wrap="square">
            <a:spAutoFit/>
          </a:bodyPr>
          <a:lstStyle/>
          <a:p>
            <a:pPr algn="ctr"/>
            <a:endParaRPr lang="en-US" sz="1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Bangladesh Army University of Engineering &amp; Technology</a:t>
            </a:r>
          </a:p>
          <a:p>
            <a:pPr algn="ctr"/>
            <a:r>
              <a:rPr lang="en-US" altLang="en-US" sz="3200" b="1" kern="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pPr algn="ctr"/>
            <a:endParaRPr lang="en-US" altLang="en-US" sz="1000" b="1" kern="0" dirty="0">
              <a:solidFill>
                <a:srgbClr val="D4B30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8795D7-68E5-7035-9CFE-91863161DD9C}"/>
              </a:ext>
            </a:extLst>
          </p:cNvPr>
          <p:cNvSpPr txBox="1"/>
          <p:nvPr/>
        </p:nvSpPr>
        <p:spPr>
          <a:xfrm>
            <a:off x="0" y="3017516"/>
            <a:ext cx="12192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Clr>
                <a:srgbClr val="0C0C0C"/>
              </a:buClr>
              <a:buSzPts val="4400"/>
              <a:buFont typeface="Arial Black"/>
              <a:buNone/>
            </a:pP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 Black"/>
              </a:rPr>
              <a:t>EEE 2261: Electrical Drives and Instrumentation</a:t>
            </a:r>
          </a:p>
          <a:p>
            <a:pPr algn="ctr" rtl="0">
              <a:buClr>
                <a:srgbClr val="0C0C0C"/>
              </a:buClr>
              <a:buSzPts val="4400"/>
              <a:buFont typeface="Arial Black"/>
              <a:buNone/>
            </a:pPr>
            <a:r>
              <a:rPr lang="en-US" sz="2800" b="1" dirty="0">
                <a:solidFill>
                  <a:srgbClr val="548235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 Black"/>
              </a:rPr>
              <a:t>Winter 2025 Semester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6C97A6-7890-73CE-1442-7F163C2457CD}"/>
              </a:ext>
            </a:extLst>
          </p:cNvPr>
          <p:cNvSpPr txBox="1"/>
          <p:nvPr/>
        </p:nvSpPr>
        <p:spPr>
          <a:xfrm>
            <a:off x="0" y="3971623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Lecture-07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3C93F6-5797-B729-4B18-6818906D95C4}"/>
              </a:ext>
            </a:extLst>
          </p:cNvPr>
          <p:cNvSpPr txBox="1"/>
          <p:nvPr/>
        </p:nvSpPr>
        <p:spPr>
          <a:xfrm>
            <a:off x="0" y="6297525"/>
            <a:ext cx="121919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1800" b="1" kern="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Credit</a:t>
            </a:r>
            <a:r>
              <a:rPr lang="en-US" altLang="en-US" b="1" kern="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en-US" sz="1800" b="1" kern="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3.0		Credit Taking: </a:t>
            </a:r>
            <a:r>
              <a:rPr lang="en-US" altLang="en-US" b="1" kern="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3.0</a:t>
            </a:r>
            <a:endParaRPr lang="en-US" altLang="en-US" sz="1600" b="1" kern="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5D4C92-EC56-E8EF-1BD7-F12CC3801517}"/>
              </a:ext>
            </a:extLst>
          </p:cNvPr>
          <p:cNvSpPr txBox="1"/>
          <p:nvPr/>
        </p:nvSpPr>
        <p:spPr>
          <a:xfrm>
            <a:off x="3667761" y="4772001"/>
            <a:ext cx="4856479" cy="1300356"/>
          </a:xfrm>
          <a:prstGeom prst="rect">
            <a:avLst/>
          </a:prstGeom>
          <a:solidFill>
            <a:srgbClr val="004101">
              <a:alpha val="10000"/>
            </a:srgbClr>
          </a:solidFill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endParaRPr lang="en-US" altLang="en-US" sz="500" b="1" kern="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Aft>
                <a:spcPts val="300"/>
              </a:spcAft>
            </a:pPr>
            <a:r>
              <a:rPr lang="en-US" altLang="en-US" sz="2000" b="1" kern="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Teacher</a:t>
            </a:r>
          </a:p>
          <a:p>
            <a:pPr algn="ctr">
              <a:spcAft>
                <a:spcPts val="300"/>
              </a:spcAft>
            </a:pPr>
            <a:r>
              <a:rPr lang="en-US" altLang="en-US" b="1" kern="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 M. Ashik Al Mashrafi</a:t>
            </a:r>
          </a:p>
          <a:p>
            <a:pPr algn="ctr">
              <a:spcAft>
                <a:spcPts val="300"/>
              </a:spcAft>
            </a:pPr>
            <a:r>
              <a:rPr lang="en-US" altLang="en-US" b="1" kern="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Lecturer, EEE, BAUET</a:t>
            </a:r>
          </a:p>
          <a:p>
            <a:pPr algn="ctr"/>
            <a:endParaRPr lang="en-US" altLang="en-US" sz="500" b="1" kern="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46294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2B6C03F-1D48-DA2D-BC6F-B230E513F332}"/>
              </a:ext>
            </a:extLst>
          </p:cNvPr>
          <p:cNvSpPr/>
          <p:nvPr/>
        </p:nvSpPr>
        <p:spPr>
          <a:xfrm>
            <a:off x="0" y="6480143"/>
            <a:ext cx="12192000" cy="302260"/>
          </a:xfrm>
          <a:prstGeom prst="rect">
            <a:avLst/>
          </a:prstGeom>
          <a:solidFill>
            <a:srgbClr val="154E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94046E-EC44-FE27-7488-4BEF0C48BD7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3312"/>
            <a:ext cx="2743200" cy="365125"/>
          </a:xfrm>
        </p:spPr>
        <p:txBody>
          <a:bodyPr/>
          <a:lstStyle/>
          <a:p>
            <a:r>
              <a:rPr lang="en-US" sz="1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01/02/2026</a:t>
            </a:r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2330AF-B0B4-48F4-9699-52FEF0368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3312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CSE, BAUET</a:t>
            </a:r>
            <a:endParaRPr lang="en-AE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402F26-57C8-F92D-E92A-FB8AF85C1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3312"/>
            <a:ext cx="2743200" cy="365125"/>
          </a:xfrm>
        </p:spPr>
        <p:txBody>
          <a:bodyPr/>
          <a:lstStyle/>
          <a:p>
            <a:fld id="{E407BDCA-6C04-4DE3-905E-17E4BFE04F46}" type="slidenum">
              <a:rPr lang="en-AE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807FC9B-4BFF-0C3A-C226-30745EBB849A}"/>
              </a:ext>
            </a:extLst>
          </p:cNvPr>
          <p:cNvGrpSpPr/>
          <p:nvPr/>
        </p:nvGrpSpPr>
        <p:grpSpPr>
          <a:xfrm>
            <a:off x="0" y="92595"/>
            <a:ext cx="12191998" cy="830997"/>
            <a:chOff x="0" y="225907"/>
            <a:chExt cx="12191998" cy="83099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96757BF-5012-9536-9DD1-71121A3472F3}"/>
                </a:ext>
              </a:extLst>
            </p:cNvPr>
            <p:cNvGrpSpPr/>
            <p:nvPr/>
          </p:nvGrpSpPr>
          <p:grpSpPr>
            <a:xfrm>
              <a:off x="0" y="225907"/>
              <a:ext cx="12191998" cy="830997"/>
              <a:chOff x="0" y="225907"/>
              <a:chExt cx="12191998" cy="8309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AAA7ABA-FEFA-CD6A-BDC7-563720AC78DE}"/>
                  </a:ext>
                </a:extLst>
              </p:cNvPr>
              <p:cNvSpPr/>
              <p:nvPr/>
            </p:nvSpPr>
            <p:spPr>
              <a:xfrm>
                <a:off x="11080954" y="225907"/>
                <a:ext cx="1111044" cy="8309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object 2">
                <a:extLst>
                  <a:ext uri="{FF2B5EF4-FFF2-40B4-BE49-F238E27FC236}">
                    <a16:creationId xmlns:a16="http://schemas.microsoft.com/office/drawing/2014/main" id="{7512CC8B-DDA4-59C2-FC3E-4581E586BA67}"/>
                  </a:ext>
                </a:extLst>
              </p:cNvPr>
              <p:cNvSpPr/>
              <p:nvPr/>
            </p:nvSpPr>
            <p:spPr>
              <a:xfrm>
                <a:off x="11313789" y="336886"/>
                <a:ext cx="645374" cy="638891"/>
              </a:xfrm>
              <a:prstGeom prst="rect">
                <a:avLst/>
              </a:prstGeom>
              <a:blipFill>
                <a:blip r:embed="rId2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dirty="0">
                  <a:effectLst>
                    <a:glow rad="228600">
                      <a:schemeClr val="accent1">
                        <a:satMod val="175000"/>
                        <a:alpha val="40000"/>
                      </a:schemeClr>
                    </a:glow>
                  </a:effectLst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9F09B41-ADF4-770A-EB6E-CFEFCE44654B}"/>
                  </a:ext>
                </a:extLst>
              </p:cNvPr>
              <p:cNvSpPr/>
              <p:nvPr/>
            </p:nvSpPr>
            <p:spPr>
              <a:xfrm>
                <a:off x="0" y="225908"/>
                <a:ext cx="11080954" cy="830995"/>
              </a:xfrm>
              <a:prstGeom prst="rect">
                <a:avLst/>
              </a:prstGeom>
              <a:solidFill>
                <a:srgbClr val="154E1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CDD0AA4-E205-A8BB-ECF1-B179E557E8D1}"/>
                </a:ext>
              </a:extLst>
            </p:cNvPr>
            <p:cNvSpPr txBox="1"/>
            <p:nvPr/>
          </p:nvSpPr>
          <p:spPr>
            <a:xfrm>
              <a:off x="249364" y="379795"/>
              <a:ext cx="1083158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Course Content</a:t>
              </a:r>
              <a:endParaRPr lang="en-AE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0C000F72-B9C9-41A1-EE29-910556380D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4686228"/>
              </p:ext>
            </p:extLst>
          </p:nvPr>
        </p:nvGraphicFramePr>
        <p:xfrm>
          <a:off x="591151" y="1345233"/>
          <a:ext cx="11009698" cy="476343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3854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4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34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Chapter</a:t>
                      </a:r>
                    </a:p>
                  </a:txBody>
                  <a:tcPr marL="56108" marR="56108" marT="28023" marB="280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E1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Topic</a:t>
                      </a:r>
                      <a:r>
                        <a:rPr lang="en-US" sz="2200" baseline="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en-US" sz="2200" dirty="0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08" marR="56108" marT="28023" marB="280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E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r>
                        <a:rPr lang="en-US" sz="2200" b="1" kern="1200" dirty="0">
                          <a:solidFill>
                            <a:srgbClr val="7030A0"/>
                          </a:solidFill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Introduction</a:t>
                      </a:r>
                      <a:endParaRPr lang="en-US" sz="2200" dirty="0">
                        <a:solidFill>
                          <a:srgbClr val="7030A0"/>
                        </a:solidFill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20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C0C0C0"/>
                          </a:highlight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Three   phase   circuits</a:t>
                      </a:r>
                      <a:r>
                        <a:rPr lang="en-US" sz="2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,   alternators   and </a:t>
                      </a:r>
                      <a:r>
                        <a:rPr lang="en-US" sz="220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00FF"/>
                          </a:highlight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transformers</a:t>
                      </a:r>
                      <a:r>
                        <a:rPr lang="en-US" sz="2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,   principles   &amp; operation  of  DC  Machines,  synchronous,  induction,  universal  and  stepper  motors, thyristor and microprocessor-based speed control of motors</a:t>
                      </a:r>
                      <a:endParaRPr 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r>
                        <a:rPr lang="en-US" sz="2200" b="1" kern="1200" dirty="0">
                          <a:solidFill>
                            <a:srgbClr val="7030A0"/>
                          </a:solidFill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Instrumentation   Amplifiers</a:t>
                      </a:r>
                      <a:endParaRPr lang="en-US" sz="2200" dirty="0">
                        <a:solidFill>
                          <a:srgbClr val="7030A0"/>
                        </a:solidFill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Differential,   logarithmic,   and   chopper   amplifiers, frequency and voltage  measurements using digital techniques, recorders and display devices,  spectrum  analyzers  and  logic  analyzers,  data  acquisition  and  interfacing  to microprocessor-based systems;</a:t>
                      </a:r>
                      <a:endParaRPr 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r>
                        <a:rPr lang="en-US" sz="2200" b="1" kern="1200" dirty="0">
                          <a:solidFill>
                            <a:srgbClr val="7030A0"/>
                          </a:solidFill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Transducers</a:t>
                      </a:r>
                      <a:endParaRPr lang="en-US" sz="2200" dirty="0">
                        <a:solidFill>
                          <a:srgbClr val="7030A0"/>
                        </a:solidFill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Terminology,  types  of  transducers,  principles  and  applications  of photovoltaic,  piezoelectric,  thermoelectric,  variable  resistance  and  opto-electronics transducers. Noise reduction in instrumentation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329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D882B-2819-885E-03D4-60C312713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398F09D-4FF5-4D69-86CA-BEE4D7115BDE}"/>
              </a:ext>
            </a:extLst>
          </p:cNvPr>
          <p:cNvSpPr/>
          <p:nvPr/>
        </p:nvSpPr>
        <p:spPr>
          <a:xfrm>
            <a:off x="0" y="6480143"/>
            <a:ext cx="12192000" cy="302260"/>
          </a:xfrm>
          <a:prstGeom prst="rect">
            <a:avLst/>
          </a:prstGeom>
          <a:solidFill>
            <a:srgbClr val="154E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C9B3DD-D9D2-90E9-6095-E4C8A7D33F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3312"/>
            <a:ext cx="2743200" cy="365125"/>
          </a:xfrm>
        </p:spPr>
        <p:txBody>
          <a:bodyPr/>
          <a:lstStyle/>
          <a:p>
            <a:r>
              <a:rPr lang="en-US" sz="1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01/02/2026</a:t>
            </a:r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402D05-36D2-4BF0-5C0A-0E5385107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3312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CSE, BAUET</a:t>
            </a:r>
            <a:endParaRPr lang="en-AE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066FF2-B958-3E3E-735B-AB68FB939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3312"/>
            <a:ext cx="2743200" cy="365125"/>
          </a:xfrm>
        </p:spPr>
        <p:txBody>
          <a:bodyPr/>
          <a:lstStyle/>
          <a:p>
            <a:fld id="{E407BDCA-6C04-4DE3-905E-17E4BFE04F46}" type="slidenum">
              <a:rPr lang="en-AE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DF8ECBA-B14E-6D69-1445-643B23A8B86E}"/>
              </a:ext>
            </a:extLst>
          </p:cNvPr>
          <p:cNvGrpSpPr/>
          <p:nvPr/>
        </p:nvGrpSpPr>
        <p:grpSpPr>
          <a:xfrm>
            <a:off x="0" y="92595"/>
            <a:ext cx="12191998" cy="830997"/>
            <a:chOff x="0" y="225907"/>
            <a:chExt cx="12191998" cy="83099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F42584F-04D2-7973-6B01-06743DDCE372}"/>
                </a:ext>
              </a:extLst>
            </p:cNvPr>
            <p:cNvGrpSpPr/>
            <p:nvPr/>
          </p:nvGrpSpPr>
          <p:grpSpPr>
            <a:xfrm>
              <a:off x="0" y="225907"/>
              <a:ext cx="12191998" cy="830997"/>
              <a:chOff x="0" y="225907"/>
              <a:chExt cx="12191998" cy="8309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2E67F99-5484-38FD-72AE-93EE8F4FE235}"/>
                  </a:ext>
                </a:extLst>
              </p:cNvPr>
              <p:cNvSpPr/>
              <p:nvPr/>
            </p:nvSpPr>
            <p:spPr>
              <a:xfrm>
                <a:off x="11080954" y="225907"/>
                <a:ext cx="1111044" cy="8309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object 2">
                <a:extLst>
                  <a:ext uri="{FF2B5EF4-FFF2-40B4-BE49-F238E27FC236}">
                    <a16:creationId xmlns:a16="http://schemas.microsoft.com/office/drawing/2014/main" id="{F6EA36CF-3D79-1A09-1C69-A4EEE1697A79}"/>
                  </a:ext>
                </a:extLst>
              </p:cNvPr>
              <p:cNvSpPr/>
              <p:nvPr/>
            </p:nvSpPr>
            <p:spPr>
              <a:xfrm>
                <a:off x="11313789" y="336886"/>
                <a:ext cx="645374" cy="638891"/>
              </a:xfrm>
              <a:prstGeom prst="rect">
                <a:avLst/>
              </a:prstGeom>
              <a:blipFill>
                <a:blip r:embed="rId2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dirty="0">
                  <a:effectLst>
                    <a:glow rad="228600">
                      <a:schemeClr val="accent1">
                        <a:satMod val="175000"/>
                        <a:alpha val="40000"/>
                      </a:schemeClr>
                    </a:glow>
                  </a:effectLst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6FC4384C-C05B-5816-C2C8-B9C8C0CA7AF8}"/>
                  </a:ext>
                </a:extLst>
              </p:cNvPr>
              <p:cNvSpPr/>
              <p:nvPr/>
            </p:nvSpPr>
            <p:spPr>
              <a:xfrm>
                <a:off x="0" y="225908"/>
                <a:ext cx="11080954" cy="830995"/>
              </a:xfrm>
              <a:prstGeom prst="rect">
                <a:avLst/>
              </a:prstGeom>
              <a:solidFill>
                <a:srgbClr val="154E1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7219D76-3564-CA1D-9C69-A86546A68523}"/>
                </a:ext>
              </a:extLst>
            </p:cNvPr>
            <p:cNvSpPr txBox="1"/>
            <p:nvPr/>
          </p:nvSpPr>
          <p:spPr>
            <a:xfrm>
              <a:off x="249364" y="379795"/>
              <a:ext cx="1083158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Equivalent Circuit of Transformer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351A3D57-6C87-E247-77F8-592BDA51C03B}"/>
              </a:ext>
            </a:extLst>
          </p:cNvPr>
          <p:cNvSpPr txBox="1"/>
          <p:nvPr/>
        </p:nvSpPr>
        <p:spPr>
          <a:xfrm>
            <a:off x="2879478" y="5734353"/>
            <a:ext cx="64330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1: Equivalent circuit of transformer. </a:t>
            </a:r>
            <a:endParaRPr lang="en-AE" sz="2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2CB332-1998-E2AA-3FC6-5D6C136376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094" y="1434096"/>
            <a:ext cx="11571812" cy="4219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547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AC2EE-5DEE-BD20-5BD1-64FD713FB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6274ABD-CFCD-0347-DDBF-AC4A977F08CD}"/>
              </a:ext>
            </a:extLst>
          </p:cNvPr>
          <p:cNvSpPr/>
          <p:nvPr/>
        </p:nvSpPr>
        <p:spPr>
          <a:xfrm>
            <a:off x="0" y="6480143"/>
            <a:ext cx="12192000" cy="302260"/>
          </a:xfrm>
          <a:prstGeom prst="rect">
            <a:avLst/>
          </a:prstGeom>
          <a:solidFill>
            <a:srgbClr val="154E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10CAF9-7F85-CC6B-01FF-2C75CAE9E4E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3312"/>
            <a:ext cx="2743200" cy="365125"/>
          </a:xfrm>
        </p:spPr>
        <p:txBody>
          <a:bodyPr/>
          <a:lstStyle/>
          <a:p>
            <a:r>
              <a:rPr lang="en-US" sz="1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01/02/2026</a:t>
            </a:r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BD4886-4535-2F4B-A4CF-B3E76440E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3312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CSE, BAUET</a:t>
            </a:r>
            <a:endParaRPr lang="en-AE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0BB33A-77F3-43AE-B4EA-D1640F491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3312"/>
            <a:ext cx="2743200" cy="365125"/>
          </a:xfrm>
        </p:spPr>
        <p:txBody>
          <a:bodyPr/>
          <a:lstStyle/>
          <a:p>
            <a:fld id="{E407BDCA-6C04-4DE3-905E-17E4BFE04F46}" type="slidenum">
              <a:rPr lang="en-AE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24A5791-BC2E-3EA0-0A98-99B55D0919D7}"/>
              </a:ext>
            </a:extLst>
          </p:cNvPr>
          <p:cNvGrpSpPr/>
          <p:nvPr/>
        </p:nvGrpSpPr>
        <p:grpSpPr>
          <a:xfrm>
            <a:off x="0" y="92595"/>
            <a:ext cx="12191998" cy="830997"/>
            <a:chOff x="0" y="225907"/>
            <a:chExt cx="12191998" cy="83099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D8C6D5B-809A-3602-15CA-AF3F6C7B7753}"/>
                </a:ext>
              </a:extLst>
            </p:cNvPr>
            <p:cNvGrpSpPr/>
            <p:nvPr/>
          </p:nvGrpSpPr>
          <p:grpSpPr>
            <a:xfrm>
              <a:off x="0" y="225907"/>
              <a:ext cx="12191998" cy="830997"/>
              <a:chOff x="0" y="225907"/>
              <a:chExt cx="12191998" cy="8309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591DADB5-678B-AA42-D257-28A68084F7F6}"/>
                  </a:ext>
                </a:extLst>
              </p:cNvPr>
              <p:cNvSpPr/>
              <p:nvPr/>
            </p:nvSpPr>
            <p:spPr>
              <a:xfrm>
                <a:off x="11080954" y="225907"/>
                <a:ext cx="1111044" cy="8309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object 2">
                <a:extLst>
                  <a:ext uri="{FF2B5EF4-FFF2-40B4-BE49-F238E27FC236}">
                    <a16:creationId xmlns:a16="http://schemas.microsoft.com/office/drawing/2014/main" id="{EBCF00F1-583B-C8CE-AA97-C4B4774C7AB7}"/>
                  </a:ext>
                </a:extLst>
              </p:cNvPr>
              <p:cNvSpPr/>
              <p:nvPr/>
            </p:nvSpPr>
            <p:spPr>
              <a:xfrm>
                <a:off x="11313789" y="336886"/>
                <a:ext cx="645374" cy="638891"/>
              </a:xfrm>
              <a:prstGeom prst="rect">
                <a:avLst/>
              </a:prstGeom>
              <a:blipFill>
                <a:blip r:embed="rId2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dirty="0">
                  <a:effectLst>
                    <a:glow rad="228600">
                      <a:schemeClr val="accent1">
                        <a:satMod val="175000"/>
                        <a:alpha val="40000"/>
                      </a:schemeClr>
                    </a:glow>
                  </a:effectLst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5D5A1FB-FD67-D732-2179-4C7746DA2577}"/>
                  </a:ext>
                </a:extLst>
              </p:cNvPr>
              <p:cNvSpPr/>
              <p:nvPr/>
            </p:nvSpPr>
            <p:spPr>
              <a:xfrm>
                <a:off x="0" y="225908"/>
                <a:ext cx="11080954" cy="830995"/>
              </a:xfrm>
              <a:prstGeom prst="rect">
                <a:avLst/>
              </a:prstGeom>
              <a:solidFill>
                <a:srgbClr val="154E1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46DBF08-7EB7-7A09-3442-399F4F5D33A6}"/>
                </a:ext>
              </a:extLst>
            </p:cNvPr>
            <p:cNvSpPr txBox="1"/>
            <p:nvPr/>
          </p:nvSpPr>
          <p:spPr>
            <a:xfrm>
              <a:off x="249364" y="379795"/>
              <a:ext cx="1083158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Equivalent Circuit of Transformer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027A9F57-76B6-3E4A-388C-BBA59020831E}"/>
              </a:ext>
            </a:extLst>
          </p:cNvPr>
          <p:cNvSpPr txBox="1"/>
          <p:nvPr/>
        </p:nvSpPr>
        <p:spPr>
          <a:xfrm>
            <a:off x="2879478" y="5734353"/>
            <a:ext cx="64330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1: Equivalent circuit of transformer. </a:t>
            </a:r>
            <a:endParaRPr lang="en-AE" sz="2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29F746-BB4F-33CD-B2FD-B9BD0D21F4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094" y="1434096"/>
            <a:ext cx="11571812" cy="42191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2E1F6C1-E659-2AD0-0506-25E76A9BD5B5}"/>
              </a:ext>
            </a:extLst>
          </p:cNvPr>
          <p:cNvSpPr txBox="1"/>
          <p:nvPr/>
        </p:nvSpPr>
        <p:spPr>
          <a:xfrm>
            <a:off x="369092" y="2145682"/>
            <a:ext cx="4556874" cy="2795958"/>
          </a:xfrm>
          <a:prstGeom prst="rect">
            <a:avLst/>
          </a:prstGeom>
          <a:solidFill>
            <a:srgbClr val="E3F2E7"/>
          </a:solidFill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Winding Resistance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X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Magnetic Leakage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No load working component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No load magnetizing component</a:t>
            </a:r>
            <a:endParaRPr lang="en-A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5940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182B3-B85A-71FE-7011-C330D1CAB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D635C5B-54E5-497A-9CB6-7C638DA7274C}"/>
              </a:ext>
            </a:extLst>
          </p:cNvPr>
          <p:cNvSpPr/>
          <p:nvPr/>
        </p:nvSpPr>
        <p:spPr>
          <a:xfrm>
            <a:off x="0" y="6480143"/>
            <a:ext cx="12192000" cy="302260"/>
          </a:xfrm>
          <a:prstGeom prst="rect">
            <a:avLst/>
          </a:prstGeom>
          <a:solidFill>
            <a:srgbClr val="154E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810CD2-1892-3DE8-6303-C5FB266AA6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3312"/>
            <a:ext cx="2743200" cy="365125"/>
          </a:xfrm>
        </p:spPr>
        <p:txBody>
          <a:bodyPr/>
          <a:lstStyle/>
          <a:p>
            <a:r>
              <a:rPr lang="en-US" sz="1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01/02/2026</a:t>
            </a:r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0E80DC-0221-3CE0-6A6A-72D0A5898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3312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CSE, BAUET</a:t>
            </a:r>
            <a:endParaRPr lang="en-AE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245B8F-C5F6-1E58-0C23-EDCDE1064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3312"/>
            <a:ext cx="2743200" cy="365125"/>
          </a:xfrm>
        </p:spPr>
        <p:txBody>
          <a:bodyPr/>
          <a:lstStyle/>
          <a:p>
            <a:fld id="{E407BDCA-6C04-4DE3-905E-17E4BFE04F46}" type="slidenum">
              <a:rPr lang="en-AE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089D96B-3FF1-7037-30EE-CD2402C34E92}"/>
              </a:ext>
            </a:extLst>
          </p:cNvPr>
          <p:cNvGrpSpPr/>
          <p:nvPr/>
        </p:nvGrpSpPr>
        <p:grpSpPr>
          <a:xfrm>
            <a:off x="0" y="92595"/>
            <a:ext cx="12191998" cy="830997"/>
            <a:chOff x="0" y="225907"/>
            <a:chExt cx="12191998" cy="83099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F42320F-5D11-45CA-4000-DE655BC7BE7F}"/>
                </a:ext>
              </a:extLst>
            </p:cNvPr>
            <p:cNvGrpSpPr/>
            <p:nvPr/>
          </p:nvGrpSpPr>
          <p:grpSpPr>
            <a:xfrm>
              <a:off x="0" y="225907"/>
              <a:ext cx="12191998" cy="830997"/>
              <a:chOff x="0" y="225907"/>
              <a:chExt cx="12191998" cy="8309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58FFA18E-4F65-4480-CD57-335F590EE47F}"/>
                  </a:ext>
                </a:extLst>
              </p:cNvPr>
              <p:cNvSpPr/>
              <p:nvPr/>
            </p:nvSpPr>
            <p:spPr>
              <a:xfrm>
                <a:off x="11080954" y="225907"/>
                <a:ext cx="1111044" cy="8309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object 2">
                <a:extLst>
                  <a:ext uri="{FF2B5EF4-FFF2-40B4-BE49-F238E27FC236}">
                    <a16:creationId xmlns:a16="http://schemas.microsoft.com/office/drawing/2014/main" id="{D4EC0F98-D2A3-E2C4-4014-81E4C93340D2}"/>
                  </a:ext>
                </a:extLst>
              </p:cNvPr>
              <p:cNvSpPr/>
              <p:nvPr/>
            </p:nvSpPr>
            <p:spPr>
              <a:xfrm>
                <a:off x="11313789" y="336886"/>
                <a:ext cx="645374" cy="638891"/>
              </a:xfrm>
              <a:prstGeom prst="rect">
                <a:avLst/>
              </a:prstGeom>
              <a:blipFill>
                <a:blip r:embed="rId2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dirty="0">
                  <a:effectLst>
                    <a:glow rad="228600">
                      <a:schemeClr val="accent1">
                        <a:satMod val="175000"/>
                        <a:alpha val="40000"/>
                      </a:schemeClr>
                    </a:glow>
                  </a:effectLst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B125A778-C017-5E26-4907-31A354F44FDA}"/>
                  </a:ext>
                </a:extLst>
              </p:cNvPr>
              <p:cNvSpPr/>
              <p:nvPr/>
            </p:nvSpPr>
            <p:spPr>
              <a:xfrm>
                <a:off x="0" y="225908"/>
                <a:ext cx="11080954" cy="830995"/>
              </a:xfrm>
              <a:prstGeom prst="rect">
                <a:avLst/>
              </a:prstGeom>
              <a:solidFill>
                <a:srgbClr val="154E1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F6DFA20-731F-8301-AD48-EFBD4187EB70}"/>
                </a:ext>
              </a:extLst>
            </p:cNvPr>
            <p:cNvSpPr txBox="1"/>
            <p:nvPr/>
          </p:nvSpPr>
          <p:spPr>
            <a:xfrm>
              <a:off x="249364" y="379795"/>
              <a:ext cx="1083158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Equivalent Resistance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99A7FD34-B775-B36C-F339-6F631742E0B3}"/>
              </a:ext>
            </a:extLst>
          </p:cNvPr>
          <p:cNvSpPr txBox="1"/>
          <p:nvPr/>
        </p:nvSpPr>
        <p:spPr>
          <a:xfrm>
            <a:off x="742550" y="5038217"/>
            <a:ext cx="107069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2: (a) Transformer with primary and secondary winding resistance, (b) Equivalent secondary resistance as referred to primary., (c) Equivalent resistance as referred to secondary. </a:t>
            </a:r>
            <a:endParaRPr lang="en-AE" sz="2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19F8E00-5448-2F96-5773-C5716BA2940B}"/>
              </a:ext>
            </a:extLst>
          </p:cNvPr>
          <p:cNvGrpSpPr/>
          <p:nvPr/>
        </p:nvGrpSpPr>
        <p:grpSpPr>
          <a:xfrm>
            <a:off x="170397" y="2429833"/>
            <a:ext cx="11851206" cy="1998334"/>
            <a:chOff x="170397" y="2562028"/>
            <a:chExt cx="11851206" cy="1998334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B1A2E39A-0405-D062-D34B-1D4863240E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0397" y="2660428"/>
              <a:ext cx="3754014" cy="1812775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30A04D79-BA83-6019-2FA6-FED3AB86E0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54846" y="2562028"/>
              <a:ext cx="3968120" cy="1998334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01FAABF5-3C99-272A-49D0-90578C174ED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153400" y="2565813"/>
              <a:ext cx="3868203" cy="1991197"/>
            </a:xfrm>
            <a:prstGeom prst="rect">
              <a:avLst/>
            </a:prstGeom>
          </p:spPr>
        </p:pic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9EDF49DC-8477-187A-DC70-10664BB60C55}"/>
              </a:ext>
            </a:extLst>
          </p:cNvPr>
          <p:cNvSpPr txBox="1"/>
          <p:nvPr/>
        </p:nvSpPr>
        <p:spPr>
          <a:xfrm>
            <a:off x="1784351" y="4424815"/>
            <a:ext cx="526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en-A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E337FE2-55D8-4006-B773-1C82F792A601}"/>
              </a:ext>
            </a:extLst>
          </p:cNvPr>
          <p:cNvSpPr txBox="1"/>
          <p:nvPr/>
        </p:nvSpPr>
        <p:spPr>
          <a:xfrm>
            <a:off x="5832947" y="4424815"/>
            <a:ext cx="543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en-A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FC05E03-9588-D3F4-17C3-A557D31C0734}"/>
              </a:ext>
            </a:extLst>
          </p:cNvPr>
          <p:cNvSpPr txBox="1"/>
          <p:nvPr/>
        </p:nvSpPr>
        <p:spPr>
          <a:xfrm>
            <a:off x="9881543" y="4424815"/>
            <a:ext cx="526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  <a:endParaRPr lang="en-A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7145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915D4-62AA-11E1-35A9-D3E8702DE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F6DBF85-EB87-F3D9-51C5-CEB8A423A938}"/>
              </a:ext>
            </a:extLst>
          </p:cNvPr>
          <p:cNvSpPr/>
          <p:nvPr/>
        </p:nvSpPr>
        <p:spPr>
          <a:xfrm>
            <a:off x="0" y="6480143"/>
            <a:ext cx="12192000" cy="302260"/>
          </a:xfrm>
          <a:prstGeom prst="rect">
            <a:avLst/>
          </a:prstGeom>
          <a:solidFill>
            <a:srgbClr val="154E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24630A-5037-C195-A9DD-9F1762282B3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3312"/>
            <a:ext cx="2743200" cy="365125"/>
          </a:xfrm>
        </p:spPr>
        <p:txBody>
          <a:bodyPr/>
          <a:lstStyle/>
          <a:p>
            <a:r>
              <a:rPr lang="en-US" sz="1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01/02/2026</a:t>
            </a:r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A80BFE-CAF5-675B-5131-3AF5524F7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3312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CSE, BAUET</a:t>
            </a:r>
            <a:endParaRPr lang="en-AE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2A499D-85CB-1088-2982-133B89467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3312"/>
            <a:ext cx="2743200" cy="365125"/>
          </a:xfrm>
        </p:spPr>
        <p:txBody>
          <a:bodyPr/>
          <a:lstStyle/>
          <a:p>
            <a:fld id="{E407BDCA-6C04-4DE3-905E-17E4BFE04F46}" type="slidenum">
              <a:rPr lang="en-AE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C0F15E7-7DF9-7218-C0B1-FF3D31556948}"/>
              </a:ext>
            </a:extLst>
          </p:cNvPr>
          <p:cNvGrpSpPr/>
          <p:nvPr/>
        </p:nvGrpSpPr>
        <p:grpSpPr>
          <a:xfrm>
            <a:off x="0" y="92595"/>
            <a:ext cx="12191998" cy="830997"/>
            <a:chOff x="0" y="225907"/>
            <a:chExt cx="12191998" cy="83099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903BB8D-9DD5-1831-FA7C-AB2071D5813F}"/>
                </a:ext>
              </a:extLst>
            </p:cNvPr>
            <p:cNvGrpSpPr/>
            <p:nvPr/>
          </p:nvGrpSpPr>
          <p:grpSpPr>
            <a:xfrm>
              <a:off x="0" y="225907"/>
              <a:ext cx="12191998" cy="830997"/>
              <a:chOff x="0" y="225907"/>
              <a:chExt cx="12191998" cy="8309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18FF55D-B8B7-56B7-A220-7D655BF6B363}"/>
                  </a:ext>
                </a:extLst>
              </p:cNvPr>
              <p:cNvSpPr/>
              <p:nvPr/>
            </p:nvSpPr>
            <p:spPr>
              <a:xfrm>
                <a:off x="11080954" y="225907"/>
                <a:ext cx="1111044" cy="8309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object 2">
                <a:extLst>
                  <a:ext uri="{FF2B5EF4-FFF2-40B4-BE49-F238E27FC236}">
                    <a16:creationId xmlns:a16="http://schemas.microsoft.com/office/drawing/2014/main" id="{56187988-A9D5-40CB-3CA1-589978AA71F3}"/>
                  </a:ext>
                </a:extLst>
              </p:cNvPr>
              <p:cNvSpPr/>
              <p:nvPr/>
            </p:nvSpPr>
            <p:spPr>
              <a:xfrm>
                <a:off x="11313789" y="336886"/>
                <a:ext cx="645374" cy="638891"/>
              </a:xfrm>
              <a:prstGeom prst="rect">
                <a:avLst/>
              </a:prstGeom>
              <a:blipFill>
                <a:blip r:embed="rId2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dirty="0">
                  <a:effectLst>
                    <a:glow rad="228600">
                      <a:schemeClr val="accent1">
                        <a:satMod val="175000"/>
                        <a:alpha val="40000"/>
                      </a:schemeClr>
                    </a:glow>
                  </a:effectLst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24C9BD30-56C3-3F9A-B60E-CB1996F3CE65}"/>
                  </a:ext>
                </a:extLst>
              </p:cNvPr>
              <p:cNvSpPr/>
              <p:nvPr/>
            </p:nvSpPr>
            <p:spPr>
              <a:xfrm>
                <a:off x="0" y="225908"/>
                <a:ext cx="11080954" cy="830995"/>
              </a:xfrm>
              <a:prstGeom prst="rect">
                <a:avLst/>
              </a:prstGeom>
              <a:solidFill>
                <a:srgbClr val="154E1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E360848-9C26-D3AC-4D29-0564B273FBEC}"/>
                </a:ext>
              </a:extLst>
            </p:cNvPr>
            <p:cNvSpPr txBox="1"/>
            <p:nvPr/>
          </p:nvSpPr>
          <p:spPr>
            <a:xfrm>
              <a:off x="249364" y="379795"/>
              <a:ext cx="1083158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Separation of Core Losses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55EB0774-4A5D-0339-B8DF-5F6C50444B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178" y="1944973"/>
            <a:ext cx="11449643" cy="2968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203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311B8-7ACD-40BD-02FC-139621613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865F037-3B32-4E4E-3F5F-802011693541}"/>
              </a:ext>
            </a:extLst>
          </p:cNvPr>
          <p:cNvSpPr/>
          <p:nvPr/>
        </p:nvSpPr>
        <p:spPr>
          <a:xfrm>
            <a:off x="0" y="6480143"/>
            <a:ext cx="12192000" cy="302260"/>
          </a:xfrm>
          <a:prstGeom prst="rect">
            <a:avLst/>
          </a:prstGeom>
          <a:solidFill>
            <a:srgbClr val="154E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360DD9-8C9B-C120-71FD-99D39BA4ED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3312"/>
            <a:ext cx="2743200" cy="365125"/>
          </a:xfrm>
        </p:spPr>
        <p:txBody>
          <a:bodyPr/>
          <a:lstStyle/>
          <a:p>
            <a:r>
              <a:rPr lang="en-US" sz="1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01/02/2026</a:t>
            </a:r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0F2D4B-4CBF-868E-6154-C53D3B8D5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3312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CSE, BAUET</a:t>
            </a:r>
            <a:endParaRPr lang="en-AE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05A174-5861-8C48-CF6A-932D4B411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3312"/>
            <a:ext cx="2743200" cy="365125"/>
          </a:xfrm>
        </p:spPr>
        <p:txBody>
          <a:bodyPr/>
          <a:lstStyle/>
          <a:p>
            <a:fld id="{E407BDCA-6C04-4DE3-905E-17E4BFE04F46}" type="slidenum">
              <a:rPr lang="en-AE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ABFE958-A603-E7CB-C841-C96C44DB04EF}"/>
              </a:ext>
            </a:extLst>
          </p:cNvPr>
          <p:cNvGrpSpPr/>
          <p:nvPr/>
        </p:nvGrpSpPr>
        <p:grpSpPr>
          <a:xfrm>
            <a:off x="0" y="92595"/>
            <a:ext cx="12191998" cy="830997"/>
            <a:chOff x="0" y="225907"/>
            <a:chExt cx="12191998" cy="83099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FB44CD9-5B78-6642-6C39-6F21E88351EC}"/>
                </a:ext>
              </a:extLst>
            </p:cNvPr>
            <p:cNvGrpSpPr/>
            <p:nvPr/>
          </p:nvGrpSpPr>
          <p:grpSpPr>
            <a:xfrm>
              <a:off x="0" y="225907"/>
              <a:ext cx="12191998" cy="830997"/>
              <a:chOff x="0" y="225907"/>
              <a:chExt cx="12191998" cy="8309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9323F05-0B07-9ED8-D1F9-2E7AA6AB69CE}"/>
                  </a:ext>
                </a:extLst>
              </p:cNvPr>
              <p:cNvSpPr/>
              <p:nvPr/>
            </p:nvSpPr>
            <p:spPr>
              <a:xfrm>
                <a:off x="11080954" y="225907"/>
                <a:ext cx="1111044" cy="8309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object 2">
                <a:extLst>
                  <a:ext uri="{FF2B5EF4-FFF2-40B4-BE49-F238E27FC236}">
                    <a16:creationId xmlns:a16="http://schemas.microsoft.com/office/drawing/2014/main" id="{D2C761AD-BE51-018D-31B8-192F184DA5D2}"/>
                  </a:ext>
                </a:extLst>
              </p:cNvPr>
              <p:cNvSpPr/>
              <p:nvPr/>
            </p:nvSpPr>
            <p:spPr>
              <a:xfrm>
                <a:off x="11313789" y="336886"/>
                <a:ext cx="645374" cy="638891"/>
              </a:xfrm>
              <a:prstGeom prst="rect">
                <a:avLst/>
              </a:prstGeom>
              <a:blipFill>
                <a:blip r:embed="rId2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dirty="0">
                  <a:effectLst>
                    <a:glow rad="228600">
                      <a:schemeClr val="accent1">
                        <a:satMod val="175000"/>
                        <a:alpha val="40000"/>
                      </a:schemeClr>
                    </a:glow>
                  </a:effectLst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8886FEB6-A861-7EF5-AF73-84E5961D4E54}"/>
                  </a:ext>
                </a:extLst>
              </p:cNvPr>
              <p:cNvSpPr/>
              <p:nvPr/>
            </p:nvSpPr>
            <p:spPr>
              <a:xfrm>
                <a:off x="0" y="225908"/>
                <a:ext cx="11080954" cy="830995"/>
              </a:xfrm>
              <a:prstGeom prst="rect">
                <a:avLst/>
              </a:prstGeom>
              <a:solidFill>
                <a:srgbClr val="154E1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D52BB00-DF79-FC31-4F4E-A89088F710E3}"/>
                </a:ext>
              </a:extLst>
            </p:cNvPr>
            <p:cNvSpPr txBox="1"/>
            <p:nvPr/>
          </p:nvSpPr>
          <p:spPr>
            <a:xfrm>
              <a:off x="249364" y="379795"/>
              <a:ext cx="1083158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Why transformer rating is in KVA?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361E6510-5AFF-199B-4509-31C1571DF9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439" y="2919341"/>
            <a:ext cx="11441122" cy="1019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9469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7E588-5A50-16DE-E13A-D218ECD47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171587-ABB2-EA74-99ED-0AA1A3366396}"/>
              </a:ext>
            </a:extLst>
          </p:cNvPr>
          <p:cNvSpPr/>
          <p:nvPr/>
        </p:nvSpPr>
        <p:spPr>
          <a:xfrm>
            <a:off x="0" y="6480143"/>
            <a:ext cx="12192000" cy="302260"/>
          </a:xfrm>
          <a:prstGeom prst="rect">
            <a:avLst/>
          </a:prstGeom>
          <a:solidFill>
            <a:srgbClr val="154E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4B60F9-01B5-A59E-724B-A51912471D9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3312"/>
            <a:ext cx="2743200" cy="365125"/>
          </a:xfrm>
        </p:spPr>
        <p:txBody>
          <a:bodyPr/>
          <a:lstStyle/>
          <a:p>
            <a:r>
              <a:rPr lang="en-US" sz="1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01/02/2026</a:t>
            </a:r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B75450-E794-1BC9-7D9D-7F95B790D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3312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CSE, BAUET</a:t>
            </a:r>
            <a:endParaRPr lang="en-AE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FBE96D-99C6-1052-7D1E-A78B77B65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3312"/>
            <a:ext cx="2743200" cy="365125"/>
          </a:xfrm>
        </p:spPr>
        <p:txBody>
          <a:bodyPr/>
          <a:lstStyle/>
          <a:p>
            <a:fld id="{E407BDCA-6C04-4DE3-905E-17E4BFE04F46}" type="slidenum">
              <a:rPr lang="en-AE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C271EA2-DB8D-5AC8-17FE-5FE37C5AAF1E}"/>
              </a:ext>
            </a:extLst>
          </p:cNvPr>
          <p:cNvGrpSpPr/>
          <p:nvPr/>
        </p:nvGrpSpPr>
        <p:grpSpPr>
          <a:xfrm>
            <a:off x="0" y="92595"/>
            <a:ext cx="12191998" cy="830997"/>
            <a:chOff x="0" y="225907"/>
            <a:chExt cx="12191998" cy="83099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E3E6634-CAEC-E984-687A-E914CEE2BDD5}"/>
                </a:ext>
              </a:extLst>
            </p:cNvPr>
            <p:cNvGrpSpPr/>
            <p:nvPr/>
          </p:nvGrpSpPr>
          <p:grpSpPr>
            <a:xfrm>
              <a:off x="0" y="225907"/>
              <a:ext cx="12191998" cy="830997"/>
              <a:chOff x="0" y="225907"/>
              <a:chExt cx="12191998" cy="8309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91E74FC-210A-CA95-FACC-1F32765F7E5B}"/>
                  </a:ext>
                </a:extLst>
              </p:cNvPr>
              <p:cNvSpPr/>
              <p:nvPr/>
            </p:nvSpPr>
            <p:spPr>
              <a:xfrm>
                <a:off x="11080954" y="225907"/>
                <a:ext cx="1111044" cy="8309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object 2">
                <a:extLst>
                  <a:ext uri="{FF2B5EF4-FFF2-40B4-BE49-F238E27FC236}">
                    <a16:creationId xmlns:a16="http://schemas.microsoft.com/office/drawing/2014/main" id="{F3589826-5338-2E57-9EDA-E2A25023D47D}"/>
                  </a:ext>
                </a:extLst>
              </p:cNvPr>
              <p:cNvSpPr/>
              <p:nvPr/>
            </p:nvSpPr>
            <p:spPr>
              <a:xfrm>
                <a:off x="11313789" y="336886"/>
                <a:ext cx="645374" cy="638891"/>
              </a:xfrm>
              <a:prstGeom prst="rect">
                <a:avLst/>
              </a:prstGeom>
              <a:blipFill>
                <a:blip r:embed="rId2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dirty="0">
                  <a:effectLst>
                    <a:glow rad="228600">
                      <a:schemeClr val="accent1">
                        <a:satMod val="175000"/>
                        <a:alpha val="40000"/>
                      </a:schemeClr>
                    </a:glow>
                  </a:effectLst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B5DC46E-731E-6570-6A2F-CD1C93060D52}"/>
                  </a:ext>
                </a:extLst>
              </p:cNvPr>
              <p:cNvSpPr/>
              <p:nvPr/>
            </p:nvSpPr>
            <p:spPr>
              <a:xfrm>
                <a:off x="0" y="225908"/>
                <a:ext cx="11080954" cy="830995"/>
              </a:xfrm>
              <a:prstGeom prst="rect">
                <a:avLst/>
              </a:prstGeom>
              <a:solidFill>
                <a:srgbClr val="154E1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77C0B0C-D746-1B5E-CB5F-783833DC442A}"/>
                </a:ext>
              </a:extLst>
            </p:cNvPr>
            <p:cNvSpPr txBox="1"/>
            <p:nvPr/>
          </p:nvSpPr>
          <p:spPr>
            <a:xfrm>
              <a:off x="249364" y="379795"/>
              <a:ext cx="1083158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Efficiency of a Transformer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E1F9FF64-AF81-12C5-BA88-B779D4446C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9847" y="1245193"/>
            <a:ext cx="8732305" cy="4913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1161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FE1DB-ABF9-9F43-D0C8-E3B26B370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859EA6-A41C-2314-ED9D-D732E380F1D2}"/>
              </a:ext>
            </a:extLst>
          </p:cNvPr>
          <p:cNvSpPr/>
          <p:nvPr/>
        </p:nvSpPr>
        <p:spPr>
          <a:xfrm>
            <a:off x="0" y="6480143"/>
            <a:ext cx="12192000" cy="302260"/>
          </a:xfrm>
          <a:prstGeom prst="rect">
            <a:avLst/>
          </a:prstGeom>
          <a:solidFill>
            <a:srgbClr val="154E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22B645-D3C7-7D7B-265F-ADAC11E79D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3312"/>
            <a:ext cx="2743200" cy="365125"/>
          </a:xfrm>
        </p:spPr>
        <p:txBody>
          <a:bodyPr/>
          <a:lstStyle/>
          <a:p>
            <a:r>
              <a:rPr lang="en-US" sz="1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01/02/2026</a:t>
            </a:r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1AF114-934E-8BEE-F8F2-BB984C6C4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3312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CSE, BAUET</a:t>
            </a:r>
            <a:endParaRPr lang="en-AE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5E8410-9808-A1F0-E7CE-C447CB009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3312"/>
            <a:ext cx="2743200" cy="365125"/>
          </a:xfrm>
        </p:spPr>
        <p:txBody>
          <a:bodyPr/>
          <a:lstStyle/>
          <a:p>
            <a:fld id="{E407BDCA-6C04-4DE3-905E-17E4BFE04F46}" type="slidenum">
              <a:rPr lang="en-AE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890295C-8FF6-B816-67CB-B6340C0B0469}"/>
              </a:ext>
            </a:extLst>
          </p:cNvPr>
          <p:cNvGrpSpPr/>
          <p:nvPr/>
        </p:nvGrpSpPr>
        <p:grpSpPr>
          <a:xfrm>
            <a:off x="0" y="92595"/>
            <a:ext cx="12191998" cy="830997"/>
            <a:chOff x="0" y="225907"/>
            <a:chExt cx="12191998" cy="83099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2777297-C264-4451-14B1-AC89D60CC8A8}"/>
                </a:ext>
              </a:extLst>
            </p:cNvPr>
            <p:cNvGrpSpPr/>
            <p:nvPr/>
          </p:nvGrpSpPr>
          <p:grpSpPr>
            <a:xfrm>
              <a:off x="0" y="225907"/>
              <a:ext cx="12191998" cy="830997"/>
              <a:chOff x="0" y="225907"/>
              <a:chExt cx="12191998" cy="8309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1B1354FD-024F-FFAE-8536-590D39FA1EAC}"/>
                  </a:ext>
                </a:extLst>
              </p:cNvPr>
              <p:cNvSpPr/>
              <p:nvPr/>
            </p:nvSpPr>
            <p:spPr>
              <a:xfrm>
                <a:off x="11080954" y="225907"/>
                <a:ext cx="1111044" cy="8309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object 2">
                <a:extLst>
                  <a:ext uri="{FF2B5EF4-FFF2-40B4-BE49-F238E27FC236}">
                    <a16:creationId xmlns:a16="http://schemas.microsoft.com/office/drawing/2014/main" id="{33B1FD5B-A153-6AB4-9204-CBDB682FE714}"/>
                  </a:ext>
                </a:extLst>
              </p:cNvPr>
              <p:cNvSpPr/>
              <p:nvPr/>
            </p:nvSpPr>
            <p:spPr>
              <a:xfrm>
                <a:off x="11313789" y="336886"/>
                <a:ext cx="645374" cy="638891"/>
              </a:xfrm>
              <a:prstGeom prst="rect">
                <a:avLst/>
              </a:prstGeom>
              <a:blipFill>
                <a:blip r:embed="rId2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dirty="0">
                  <a:effectLst>
                    <a:glow rad="228600">
                      <a:schemeClr val="accent1">
                        <a:satMod val="175000"/>
                        <a:alpha val="40000"/>
                      </a:schemeClr>
                    </a:glow>
                  </a:effectLst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2892EAC-65DA-CA9C-52FA-A3F0DDE8387A}"/>
                  </a:ext>
                </a:extLst>
              </p:cNvPr>
              <p:cNvSpPr/>
              <p:nvPr/>
            </p:nvSpPr>
            <p:spPr>
              <a:xfrm>
                <a:off x="0" y="225908"/>
                <a:ext cx="11080954" cy="830995"/>
              </a:xfrm>
              <a:prstGeom prst="rect">
                <a:avLst/>
              </a:prstGeom>
              <a:solidFill>
                <a:srgbClr val="154E1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FE6804D-3CED-716B-836F-3375DC0FD6F7}"/>
                </a:ext>
              </a:extLst>
            </p:cNvPr>
            <p:cNvSpPr txBox="1"/>
            <p:nvPr/>
          </p:nvSpPr>
          <p:spPr>
            <a:xfrm>
              <a:off x="249364" y="379795"/>
              <a:ext cx="1083158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Condition for Maximum Efficiency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CC5B64BD-8B69-B4B5-1150-C3C1398DD6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0576" y="1207475"/>
            <a:ext cx="7350847" cy="497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8518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53221-F8FE-E3EA-547D-696E5F498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91F8C92-2110-7502-8182-A8FEBDF40C0C}"/>
              </a:ext>
            </a:extLst>
          </p:cNvPr>
          <p:cNvSpPr/>
          <p:nvPr/>
        </p:nvSpPr>
        <p:spPr>
          <a:xfrm>
            <a:off x="0" y="6480143"/>
            <a:ext cx="12192000" cy="302260"/>
          </a:xfrm>
          <a:prstGeom prst="rect">
            <a:avLst/>
          </a:prstGeom>
          <a:solidFill>
            <a:srgbClr val="154E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DC42E2-8EC0-6350-20AB-0C6C2EFB39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3312"/>
            <a:ext cx="2743200" cy="365125"/>
          </a:xfrm>
        </p:spPr>
        <p:txBody>
          <a:bodyPr/>
          <a:lstStyle/>
          <a:p>
            <a:r>
              <a:rPr lang="en-US" sz="1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01/02/2026</a:t>
            </a:r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956EF0-ECE4-9433-6012-EB6F2FBE3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3312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CSE, BAUET</a:t>
            </a:r>
            <a:endParaRPr lang="en-AE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F25675-E068-8174-06B5-A310E48AE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3312"/>
            <a:ext cx="2743200" cy="365125"/>
          </a:xfrm>
        </p:spPr>
        <p:txBody>
          <a:bodyPr/>
          <a:lstStyle/>
          <a:p>
            <a:fld id="{E407BDCA-6C04-4DE3-905E-17E4BFE04F46}" type="slidenum">
              <a:rPr lang="en-AE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BAA478E-9546-AA84-9F0A-124DA4D1F8B5}"/>
              </a:ext>
            </a:extLst>
          </p:cNvPr>
          <p:cNvGrpSpPr/>
          <p:nvPr/>
        </p:nvGrpSpPr>
        <p:grpSpPr>
          <a:xfrm>
            <a:off x="0" y="92595"/>
            <a:ext cx="12191998" cy="830997"/>
            <a:chOff x="0" y="225907"/>
            <a:chExt cx="12191998" cy="83099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0679FCC-C25D-C0AF-0020-8036C1E0F0D6}"/>
                </a:ext>
              </a:extLst>
            </p:cNvPr>
            <p:cNvGrpSpPr/>
            <p:nvPr/>
          </p:nvGrpSpPr>
          <p:grpSpPr>
            <a:xfrm>
              <a:off x="0" y="225907"/>
              <a:ext cx="12191998" cy="830997"/>
              <a:chOff x="0" y="225907"/>
              <a:chExt cx="12191998" cy="8309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9B74339-932B-39E2-4AC3-D14E373C844C}"/>
                  </a:ext>
                </a:extLst>
              </p:cNvPr>
              <p:cNvSpPr/>
              <p:nvPr/>
            </p:nvSpPr>
            <p:spPr>
              <a:xfrm>
                <a:off x="11080954" y="225907"/>
                <a:ext cx="1111044" cy="8309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object 2">
                <a:extLst>
                  <a:ext uri="{FF2B5EF4-FFF2-40B4-BE49-F238E27FC236}">
                    <a16:creationId xmlns:a16="http://schemas.microsoft.com/office/drawing/2014/main" id="{D2E85EC0-FCF1-ED51-93E7-F6B002593E86}"/>
                  </a:ext>
                </a:extLst>
              </p:cNvPr>
              <p:cNvSpPr/>
              <p:nvPr/>
            </p:nvSpPr>
            <p:spPr>
              <a:xfrm>
                <a:off x="11313789" y="336886"/>
                <a:ext cx="645374" cy="638891"/>
              </a:xfrm>
              <a:prstGeom prst="rect">
                <a:avLst/>
              </a:prstGeom>
              <a:blipFill>
                <a:blip r:embed="rId2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dirty="0">
                  <a:effectLst>
                    <a:glow rad="228600">
                      <a:schemeClr val="accent1">
                        <a:satMod val="175000"/>
                        <a:alpha val="40000"/>
                      </a:schemeClr>
                    </a:glow>
                  </a:effectLst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6C303737-AAA4-264B-CB9D-8E39EC0FC915}"/>
                  </a:ext>
                </a:extLst>
              </p:cNvPr>
              <p:cNvSpPr/>
              <p:nvPr/>
            </p:nvSpPr>
            <p:spPr>
              <a:xfrm>
                <a:off x="0" y="225908"/>
                <a:ext cx="11080954" cy="830995"/>
              </a:xfrm>
              <a:prstGeom prst="rect">
                <a:avLst/>
              </a:prstGeom>
              <a:solidFill>
                <a:srgbClr val="154E1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E6DB177-A968-1800-FF58-651DD06E7F29}"/>
                </a:ext>
              </a:extLst>
            </p:cNvPr>
            <p:cNvSpPr txBox="1"/>
            <p:nvPr/>
          </p:nvSpPr>
          <p:spPr>
            <a:xfrm>
              <a:off x="249364" y="379795"/>
              <a:ext cx="1083158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Mathematical Problem</a:t>
              </a:r>
              <a:endParaRPr lang="en-AE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8099544C-A242-2FF7-6CC1-BC59166056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202" y="1288217"/>
            <a:ext cx="11431595" cy="475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1357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99017-2D9B-C04F-45B6-189444369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27FE0F3-B02C-2ED7-068E-8425CBC1D514}"/>
              </a:ext>
            </a:extLst>
          </p:cNvPr>
          <p:cNvSpPr/>
          <p:nvPr/>
        </p:nvSpPr>
        <p:spPr>
          <a:xfrm>
            <a:off x="0" y="6480143"/>
            <a:ext cx="12192000" cy="302260"/>
          </a:xfrm>
          <a:prstGeom prst="rect">
            <a:avLst/>
          </a:prstGeom>
          <a:solidFill>
            <a:srgbClr val="154E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284980-081D-23A5-98B3-74352782FE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3312"/>
            <a:ext cx="2743200" cy="365125"/>
          </a:xfrm>
        </p:spPr>
        <p:txBody>
          <a:bodyPr/>
          <a:lstStyle/>
          <a:p>
            <a:r>
              <a:rPr lang="en-US" sz="1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01/02/2026</a:t>
            </a:r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3766A8-47A7-D41B-DEB1-48E85EBED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3312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CSE, BAUET</a:t>
            </a:r>
            <a:endParaRPr lang="en-AE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70EFA8-556B-6F4E-BBA4-6F77577B2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3312"/>
            <a:ext cx="2743200" cy="365125"/>
          </a:xfrm>
        </p:spPr>
        <p:txBody>
          <a:bodyPr/>
          <a:lstStyle/>
          <a:p>
            <a:fld id="{E407BDCA-6C04-4DE3-905E-17E4BFE04F46}" type="slidenum">
              <a:rPr lang="en-AE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6804AB3-A58F-936F-2B51-AF1A71435C5E}"/>
              </a:ext>
            </a:extLst>
          </p:cNvPr>
          <p:cNvGrpSpPr/>
          <p:nvPr/>
        </p:nvGrpSpPr>
        <p:grpSpPr>
          <a:xfrm>
            <a:off x="0" y="92595"/>
            <a:ext cx="12191998" cy="830997"/>
            <a:chOff x="0" y="225907"/>
            <a:chExt cx="12191998" cy="83099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5D6E117-4969-FC7D-1786-E72B4C693E08}"/>
                </a:ext>
              </a:extLst>
            </p:cNvPr>
            <p:cNvGrpSpPr/>
            <p:nvPr/>
          </p:nvGrpSpPr>
          <p:grpSpPr>
            <a:xfrm>
              <a:off x="0" y="225907"/>
              <a:ext cx="12191998" cy="830997"/>
              <a:chOff x="0" y="225907"/>
              <a:chExt cx="12191998" cy="8309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ACCA7A8-3DAA-4054-6EBF-07F5A3721509}"/>
                  </a:ext>
                </a:extLst>
              </p:cNvPr>
              <p:cNvSpPr/>
              <p:nvPr/>
            </p:nvSpPr>
            <p:spPr>
              <a:xfrm>
                <a:off x="11080954" y="225907"/>
                <a:ext cx="1111044" cy="8309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object 2">
                <a:extLst>
                  <a:ext uri="{FF2B5EF4-FFF2-40B4-BE49-F238E27FC236}">
                    <a16:creationId xmlns:a16="http://schemas.microsoft.com/office/drawing/2014/main" id="{83FFF1D6-D2A6-D423-BBBC-307699D9B355}"/>
                  </a:ext>
                </a:extLst>
              </p:cNvPr>
              <p:cNvSpPr/>
              <p:nvPr/>
            </p:nvSpPr>
            <p:spPr>
              <a:xfrm>
                <a:off x="11313789" y="336886"/>
                <a:ext cx="645374" cy="638891"/>
              </a:xfrm>
              <a:prstGeom prst="rect">
                <a:avLst/>
              </a:prstGeom>
              <a:blipFill>
                <a:blip r:embed="rId2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dirty="0">
                  <a:effectLst>
                    <a:glow rad="228600">
                      <a:schemeClr val="accent1">
                        <a:satMod val="175000"/>
                        <a:alpha val="40000"/>
                      </a:schemeClr>
                    </a:glow>
                  </a:effectLst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6416DE6-9B7A-0337-BC36-24F19BEC5056}"/>
                  </a:ext>
                </a:extLst>
              </p:cNvPr>
              <p:cNvSpPr/>
              <p:nvPr/>
            </p:nvSpPr>
            <p:spPr>
              <a:xfrm>
                <a:off x="0" y="225908"/>
                <a:ext cx="11080954" cy="830995"/>
              </a:xfrm>
              <a:prstGeom prst="rect">
                <a:avLst/>
              </a:prstGeom>
              <a:solidFill>
                <a:srgbClr val="154E1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7794044-AF6E-EFD1-1045-8AC205AFBDAC}"/>
                </a:ext>
              </a:extLst>
            </p:cNvPr>
            <p:cNvSpPr txBox="1"/>
            <p:nvPr/>
          </p:nvSpPr>
          <p:spPr>
            <a:xfrm>
              <a:off x="249364" y="379795"/>
              <a:ext cx="1083158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Mathematical Problem (for practice)</a:t>
              </a:r>
              <a:endParaRPr lang="en-AE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FCB9DA3-F625-4656-C4F2-B14C043861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162544"/>
              </p:ext>
            </p:extLst>
          </p:nvPr>
        </p:nvGraphicFramePr>
        <p:xfrm>
          <a:off x="680205" y="2270760"/>
          <a:ext cx="10831589" cy="1706880"/>
        </p:xfrm>
        <a:graphic>
          <a:graphicData uri="http://schemas.openxmlformats.org/drawingml/2006/table">
            <a:tbl>
              <a:tblPr firstRow="1" firstCol="1" bandRow="1"/>
              <a:tblGrid>
                <a:gridCol w="713880">
                  <a:extLst>
                    <a:ext uri="{9D8B030D-6E8A-4147-A177-3AD203B41FA5}">
                      <a16:colId xmlns:a16="http://schemas.microsoft.com/office/drawing/2014/main" val="1712491636"/>
                    </a:ext>
                  </a:extLst>
                </a:gridCol>
                <a:gridCol w="4317167">
                  <a:extLst>
                    <a:ext uri="{9D8B030D-6E8A-4147-A177-3AD203B41FA5}">
                      <a16:colId xmlns:a16="http://schemas.microsoft.com/office/drawing/2014/main" val="4203187302"/>
                    </a:ext>
                  </a:extLst>
                </a:gridCol>
                <a:gridCol w="3218362">
                  <a:extLst>
                    <a:ext uri="{9D8B030D-6E8A-4147-A177-3AD203B41FA5}">
                      <a16:colId xmlns:a16="http://schemas.microsoft.com/office/drawing/2014/main" val="3573633325"/>
                    </a:ext>
                  </a:extLst>
                </a:gridCol>
                <a:gridCol w="2582180">
                  <a:extLst>
                    <a:ext uri="{9D8B030D-6E8A-4147-A177-3AD203B41FA5}">
                      <a16:colId xmlns:a16="http://schemas.microsoft.com/office/drawing/2014/main" val="2622910698"/>
                    </a:ext>
                  </a:extLst>
                </a:gridCol>
              </a:tblGrid>
              <a:tr h="555459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FF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SL No.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E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FF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Name of the Book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E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FF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Name of the Author (s)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E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FF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E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599938"/>
                  </a:ext>
                </a:extLst>
              </a:tr>
              <a:tr h="829395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Text Book of Electrical technology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1" kern="1200" dirty="0">
                          <a:solidFill>
                            <a:srgbClr val="7030A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B.L </a:t>
                      </a:r>
                      <a:r>
                        <a:rPr lang="en-US" sz="2000" b="1" kern="1200" dirty="0" err="1">
                          <a:solidFill>
                            <a:srgbClr val="7030A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Theraja</a:t>
                      </a:r>
                      <a:endParaRPr lang="en-US" sz="2000" b="1" kern="1200" dirty="0">
                        <a:solidFill>
                          <a:srgbClr val="7030A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1" kern="1200" dirty="0">
                          <a:solidFill>
                            <a:srgbClr val="0070C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32.61</a:t>
                      </a:r>
                    </a:p>
                    <a:p>
                      <a:pPr marL="0" algn="ctr" defTabSz="914400" rtl="0" eaLnBrk="1" latinLnBrk="0" hangingPunct="1"/>
                      <a:r>
                        <a:rPr lang="en-US" sz="2000" b="1" kern="1200" dirty="0">
                          <a:solidFill>
                            <a:srgbClr val="0070C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32.64</a:t>
                      </a:r>
                    </a:p>
                    <a:p>
                      <a:pPr marL="0" algn="ctr" defTabSz="914400" rtl="0" eaLnBrk="1" latinLnBrk="0" hangingPunct="1"/>
                      <a:r>
                        <a:rPr lang="en-US" sz="2000" b="1" kern="1200" dirty="0">
                          <a:solidFill>
                            <a:srgbClr val="0070C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32.76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7372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76542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9E99D-6B85-E9D2-94D1-92E9F998A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5D8F0D4-192B-8CF2-289A-9667AE88F954}"/>
              </a:ext>
            </a:extLst>
          </p:cNvPr>
          <p:cNvSpPr/>
          <p:nvPr/>
        </p:nvSpPr>
        <p:spPr>
          <a:xfrm>
            <a:off x="0" y="6480143"/>
            <a:ext cx="12192000" cy="302260"/>
          </a:xfrm>
          <a:prstGeom prst="rect">
            <a:avLst/>
          </a:prstGeom>
          <a:solidFill>
            <a:srgbClr val="154E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3F572F-0C60-EBD3-6F5D-D46645D0CC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3312"/>
            <a:ext cx="2743200" cy="365125"/>
          </a:xfrm>
        </p:spPr>
        <p:txBody>
          <a:bodyPr/>
          <a:lstStyle/>
          <a:p>
            <a:r>
              <a:rPr lang="en-US" sz="1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01/02/2026</a:t>
            </a:r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687867-95F5-4876-40C5-5B547F648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3312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CSE, BAUET</a:t>
            </a:r>
            <a:endParaRPr lang="en-AE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2CE88D-4A2F-F346-E469-BB3024B06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3312"/>
            <a:ext cx="2743200" cy="365125"/>
          </a:xfrm>
        </p:spPr>
        <p:txBody>
          <a:bodyPr/>
          <a:lstStyle/>
          <a:p>
            <a:fld id="{E407BDCA-6C04-4DE3-905E-17E4BFE04F46}" type="slidenum">
              <a:rPr lang="en-AE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AD808CB-DEAE-21AD-A7F5-E552E8430B14}"/>
              </a:ext>
            </a:extLst>
          </p:cNvPr>
          <p:cNvGrpSpPr/>
          <p:nvPr/>
        </p:nvGrpSpPr>
        <p:grpSpPr>
          <a:xfrm>
            <a:off x="0" y="92595"/>
            <a:ext cx="12191998" cy="830997"/>
            <a:chOff x="0" y="225907"/>
            <a:chExt cx="12191998" cy="83099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917D7F61-88F1-BD67-6AF9-811A9E61BE65}"/>
                </a:ext>
              </a:extLst>
            </p:cNvPr>
            <p:cNvGrpSpPr/>
            <p:nvPr/>
          </p:nvGrpSpPr>
          <p:grpSpPr>
            <a:xfrm>
              <a:off x="0" y="225907"/>
              <a:ext cx="12191998" cy="830997"/>
              <a:chOff x="0" y="225907"/>
              <a:chExt cx="12191998" cy="8309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3210A7A-4FF8-93B4-DE10-F98511BA3CB9}"/>
                  </a:ext>
                </a:extLst>
              </p:cNvPr>
              <p:cNvSpPr/>
              <p:nvPr/>
            </p:nvSpPr>
            <p:spPr>
              <a:xfrm>
                <a:off x="11080954" y="225907"/>
                <a:ext cx="1111044" cy="8309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object 2">
                <a:extLst>
                  <a:ext uri="{FF2B5EF4-FFF2-40B4-BE49-F238E27FC236}">
                    <a16:creationId xmlns:a16="http://schemas.microsoft.com/office/drawing/2014/main" id="{7744008B-94F9-12A9-3180-90E5E8AF6C22}"/>
                  </a:ext>
                </a:extLst>
              </p:cNvPr>
              <p:cNvSpPr/>
              <p:nvPr/>
            </p:nvSpPr>
            <p:spPr>
              <a:xfrm>
                <a:off x="11313789" y="336886"/>
                <a:ext cx="645374" cy="638891"/>
              </a:xfrm>
              <a:prstGeom prst="rect">
                <a:avLst/>
              </a:prstGeom>
              <a:blipFill>
                <a:blip r:embed="rId2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dirty="0">
                  <a:effectLst>
                    <a:glow rad="228600">
                      <a:schemeClr val="accent1">
                        <a:satMod val="175000"/>
                        <a:alpha val="40000"/>
                      </a:schemeClr>
                    </a:glow>
                  </a:effectLst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B4788C47-FDDE-DBE3-BE3F-581D3A0268D9}"/>
                  </a:ext>
                </a:extLst>
              </p:cNvPr>
              <p:cNvSpPr/>
              <p:nvPr/>
            </p:nvSpPr>
            <p:spPr>
              <a:xfrm>
                <a:off x="0" y="225908"/>
                <a:ext cx="11080954" cy="830995"/>
              </a:xfrm>
              <a:prstGeom prst="rect">
                <a:avLst/>
              </a:prstGeom>
              <a:solidFill>
                <a:srgbClr val="154E1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782E7D2-0088-EB58-50A0-2C7EF31B285B}"/>
                </a:ext>
              </a:extLst>
            </p:cNvPr>
            <p:cNvSpPr txBox="1"/>
            <p:nvPr/>
          </p:nvSpPr>
          <p:spPr>
            <a:xfrm>
              <a:off x="249364" y="379795"/>
              <a:ext cx="1083158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Parallel Operation of Single-phase Transformers</a:t>
              </a:r>
              <a:endParaRPr lang="en-AE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E2B2251-4BF9-4B38-A11F-7237D826D4A9}"/>
              </a:ext>
            </a:extLst>
          </p:cNvPr>
          <p:cNvSpPr txBox="1"/>
          <p:nvPr/>
        </p:nvSpPr>
        <p:spPr>
          <a:xfrm>
            <a:off x="369092" y="1557076"/>
            <a:ext cx="544709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supplying a load in excess of the rating of an existing transformer, a second transformer may be connected in parallel. It is seen that primary windings are connected to the supply bus bars and secondary windings are connected to the load bus-bars. In connecting two or more than two transformers in parallel, it is essential that their terminals of similar polarities are joined to the same bus-bars.</a:t>
            </a:r>
            <a:endParaRPr lang="en-A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9A99998-F91A-8469-47D4-EF86B0CB9B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0204" y="1557076"/>
            <a:ext cx="4553585" cy="374384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7A9589A-D5C8-34F8-950E-0A95D02F2FC8}"/>
              </a:ext>
            </a:extLst>
          </p:cNvPr>
          <p:cNvSpPr txBox="1"/>
          <p:nvPr/>
        </p:nvSpPr>
        <p:spPr>
          <a:xfrm>
            <a:off x="6760204" y="5399899"/>
            <a:ext cx="45535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3: Parallel operation of single-phase transformers. </a:t>
            </a:r>
            <a:endParaRPr lang="en-AE" sz="2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74014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5D765-EBA9-4049-33D9-91CA92C57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1E96860-1ABF-6B63-3912-7AB1690347F7}"/>
              </a:ext>
            </a:extLst>
          </p:cNvPr>
          <p:cNvSpPr/>
          <p:nvPr/>
        </p:nvSpPr>
        <p:spPr>
          <a:xfrm>
            <a:off x="0" y="6480143"/>
            <a:ext cx="12192000" cy="302260"/>
          </a:xfrm>
          <a:prstGeom prst="rect">
            <a:avLst/>
          </a:prstGeom>
          <a:solidFill>
            <a:srgbClr val="154E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3EB6E8-C15C-77CC-314A-DC048B8CAFC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3312"/>
            <a:ext cx="2743200" cy="365125"/>
          </a:xfrm>
        </p:spPr>
        <p:txBody>
          <a:bodyPr/>
          <a:lstStyle/>
          <a:p>
            <a:r>
              <a:rPr lang="en-US" sz="1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01/02/2026</a:t>
            </a:r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0F0336-37CA-1B3C-EC08-1C598A916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3312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CSE, BAUET</a:t>
            </a:r>
            <a:endParaRPr lang="en-AE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3FAA85-794D-F0DB-FA04-23A2BED28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3312"/>
            <a:ext cx="2743200" cy="365125"/>
          </a:xfrm>
        </p:spPr>
        <p:txBody>
          <a:bodyPr/>
          <a:lstStyle/>
          <a:p>
            <a:fld id="{E407BDCA-6C04-4DE3-905E-17E4BFE04F46}" type="slidenum">
              <a:rPr lang="en-AE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668425E-80C9-70AB-3DC6-E9574EBC4738}"/>
              </a:ext>
            </a:extLst>
          </p:cNvPr>
          <p:cNvGrpSpPr/>
          <p:nvPr/>
        </p:nvGrpSpPr>
        <p:grpSpPr>
          <a:xfrm>
            <a:off x="0" y="92595"/>
            <a:ext cx="12191998" cy="830997"/>
            <a:chOff x="0" y="225907"/>
            <a:chExt cx="12191998" cy="83099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BA2793EF-E588-22F1-0FBA-9FDC10E72538}"/>
                </a:ext>
              </a:extLst>
            </p:cNvPr>
            <p:cNvGrpSpPr/>
            <p:nvPr/>
          </p:nvGrpSpPr>
          <p:grpSpPr>
            <a:xfrm>
              <a:off x="0" y="225907"/>
              <a:ext cx="12191998" cy="830997"/>
              <a:chOff x="0" y="225907"/>
              <a:chExt cx="12191998" cy="8309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2EC463E-31EE-AAE3-BAF6-398A919F953C}"/>
                  </a:ext>
                </a:extLst>
              </p:cNvPr>
              <p:cNvSpPr/>
              <p:nvPr/>
            </p:nvSpPr>
            <p:spPr>
              <a:xfrm>
                <a:off x="11080954" y="225907"/>
                <a:ext cx="1111044" cy="8309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object 2">
                <a:extLst>
                  <a:ext uri="{FF2B5EF4-FFF2-40B4-BE49-F238E27FC236}">
                    <a16:creationId xmlns:a16="http://schemas.microsoft.com/office/drawing/2014/main" id="{A16FC0D3-F98D-B440-C6ED-97EEDC6A8AB7}"/>
                  </a:ext>
                </a:extLst>
              </p:cNvPr>
              <p:cNvSpPr/>
              <p:nvPr/>
            </p:nvSpPr>
            <p:spPr>
              <a:xfrm>
                <a:off x="11313789" y="336886"/>
                <a:ext cx="645374" cy="638891"/>
              </a:xfrm>
              <a:prstGeom prst="rect">
                <a:avLst/>
              </a:prstGeom>
              <a:blipFill>
                <a:blip r:embed="rId2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dirty="0">
                  <a:effectLst>
                    <a:glow rad="228600">
                      <a:schemeClr val="accent1">
                        <a:satMod val="175000"/>
                        <a:alpha val="40000"/>
                      </a:schemeClr>
                    </a:glow>
                  </a:effectLst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E99AD673-0ECA-FB51-C183-19BAE4DC7B65}"/>
                  </a:ext>
                </a:extLst>
              </p:cNvPr>
              <p:cNvSpPr/>
              <p:nvPr/>
            </p:nvSpPr>
            <p:spPr>
              <a:xfrm>
                <a:off x="0" y="225908"/>
                <a:ext cx="11080954" cy="830995"/>
              </a:xfrm>
              <a:prstGeom prst="rect">
                <a:avLst/>
              </a:prstGeom>
              <a:solidFill>
                <a:srgbClr val="154E1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FA66732-01A5-55A7-77E2-1E729CA69398}"/>
                </a:ext>
              </a:extLst>
            </p:cNvPr>
            <p:cNvSpPr txBox="1"/>
            <p:nvPr/>
          </p:nvSpPr>
          <p:spPr>
            <a:xfrm>
              <a:off x="249364" y="379795"/>
              <a:ext cx="1083158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Parallel Operation of Single-phase Transformers</a:t>
              </a:r>
              <a:endParaRPr lang="en-AE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F083C0D-3A29-3EBB-2B20-0808E183D781}"/>
              </a:ext>
            </a:extLst>
          </p:cNvPr>
          <p:cNvSpPr txBox="1"/>
          <p:nvPr/>
        </p:nvSpPr>
        <p:spPr>
          <a:xfrm>
            <a:off x="369091" y="1200024"/>
            <a:ext cx="11278265" cy="4457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Conditions for parallel operation: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Primary windings of the transformers should be suitable for 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supply system voltage and frequency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The transformers should be properly connected with regard to 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polarity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The 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voltage ratings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both primaries and secondaries should be identical. In other words, the transformers should have the 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same turn ratio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i.e. transformation ratio.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The 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percentage impedances should be equal in magnitude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have the same X/R ratio in order to avoid circulating currents and operation at different power factors.</a:t>
            </a:r>
            <a:endParaRPr lang="en-A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61228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0875D-E5DE-8EC0-1BDC-C0D893A96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71375C52-09D7-0BD1-4100-BA1EDC00E73F}"/>
              </a:ext>
            </a:extLst>
          </p:cNvPr>
          <p:cNvSpPr txBox="1"/>
          <p:nvPr/>
        </p:nvSpPr>
        <p:spPr>
          <a:xfrm>
            <a:off x="4189066" y="2667253"/>
            <a:ext cx="3813865" cy="15234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  <a:p>
            <a:pPr algn="ctr"/>
            <a:r>
              <a:rPr lang="en-US" sz="33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Your Attention</a:t>
            </a:r>
          </a:p>
        </p:txBody>
      </p:sp>
    </p:spTree>
    <p:extLst>
      <p:ext uri="{BB962C8B-B14F-4D97-AF65-F5344CB8AC3E}">
        <p14:creationId xmlns:p14="http://schemas.microsoft.com/office/powerpoint/2010/main" val="1507784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893</TotalTime>
  <Words>584</Words>
  <Application>Microsoft Office PowerPoint</Application>
  <PresentationFormat>Widescreen</PresentationFormat>
  <Paragraphs>97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Arial Black</vt:lpstr>
      <vt:lpstr>Calibri</vt:lpstr>
      <vt:lpstr>Calibri Light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S. M. Ashik Al Mashrafi</dc:creator>
  <cp:lastModifiedBy>S. M. Ashik Al Mashrafi</cp:lastModifiedBy>
  <cp:revision>133</cp:revision>
  <dcterms:created xsi:type="dcterms:W3CDTF">2025-07-26T10:31:05Z</dcterms:created>
  <dcterms:modified xsi:type="dcterms:W3CDTF">2026-02-02T07:22:54Z</dcterms:modified>
</cp:coreProperties>
</file>