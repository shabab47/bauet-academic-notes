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8"/>
  </p:notesMasterIdLst>
  <p:sldIdLst>
    <p:sldId id="263" r:id="rId2"/>
    <p:sldId id="265" r:id="rId3"/>
    <p:sldId id="267" r:id="rId4"/>
    <p:sldId id="305" r:id="rId5"/>
    <p:sldId id="306" r:id="rId6"/>
    <p:sldId id="307" r:id="rId7"/>
    <p:sldId id="289" r:id="rId8"/>
    <p:sldId id="310" r:id="rId9"/>
    <p:sldId id="311" r:id="rId10"/>
    <p:sldId id="312" r:id="rId11"/>
    <p:sldId id="308" r:id="rId12"/>
    <p:sldId id="313" r:id="rId13"/>
    <p:sldId id="314" r:id="rId14"/>
    <p:sldId id="309" r:id="rId15"/>
    <p:sldId id="315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4E10"/>
    <a:srgbClr val="548235"/>
    <a:srgbClr val="D4B309"/>
    <a:srgbClr val="004101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FE013-CA25-47D5-A3CA-40C6CCB1980D}" type="datetimeFigureOut">
              <a:rPr lang="en-AE" smtClean="0"/>
              <a:t>01/02/2026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03FC4-7E90-4A4D-B9BE-3E3B19ADB2B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748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0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A0E7-2ACB-3AD6-7A52-99E43E2F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F644-4E22-4251-B51F-C031EA08D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35572-C2B3-8B71-B357-5C368C55D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11CAC-6691-CAEE-2848-379B5CC36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103FC4-7E90-4A4D-B9BE-3E3B19ADB2BE}" type="slidenum">
              <a:rPr lang="en-AE" smtClean="0"/>
              <a:t>15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27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9AE9-4CE0-8D35-CFD0-14860AF7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B3785-05F0-D3D3-FEA6-C6A34A65B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D4CFA-8F21-872E-0FB8-CB8A3E14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97036-48F0-AFD7-A516-D1F20BBC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E955-2054-AC07-C669-C2AD9CAE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381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E0A6-970C-349B-85A7-129CBABD9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B6CC-9BCA-5D16-1304-808D0E0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2ED1-9492-9405-6343-9048603A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86045-04EF-D507-D3EB-676F0EDF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1D6B0-80F2-5162-DEDE-C9AF421A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96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6CE5-68A0-CE57-F555-9354E94C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259EE-3894-81C3-1C2D-A0C1381FA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6821-C52C-1639-3420-9102C910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95700-D01B-2F2D-2D8E-836CF265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4D55-8F7E-7450-4682-582C4131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81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7B6D-2269-B0B8-AE5A-7E61CC3B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DF18-22AB-95D2-6975-594959664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8AA14-9EE3-FCC8-A879-5A0AFC75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CA36E-0BD4-2C5F-65B3-0833A013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7DCF-71BC-D13D-190E-68CEF97A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DA933-5CD1-9E4C-EB2A-B82BAE6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341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AD46-28D5-C95F-D682-481DE22B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6BA3-5526-EB1B-99FB-0767C715E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E715-3397-5E0F-573E-E2C26708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1A2BB-FD2F-8093-33E0-6A83D46BD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17CB4-8C4D-7653-E174-AB249FD4EE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B05505-F43F-2BA7-8852-2C57C1B0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88E68-E215-05D3-793E-0DDD76A7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DEEF46-4E46-9FB0-8A05-4947E24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56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A0DF-AAC5-3B04-0E5C-A20192A7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255A2-00E2-2264-8909-D4ED17738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24C93-047F-1636-44B4-E998B308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3B603-E7C9-C7EC-45CA-3331E0259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421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F47B1-0D87-826D-C939-6DD0DA97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CC093-BFB0-4CD2-10BD-B69F9D92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D88B-2189-0E63-3CEA-527B657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4906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39EE-5F0D-EF0C-C327-42D31FD6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B883-71A5-2EC4-9179-08FA3DD3F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60CBB-2FDD-6B1F-06E2-47D761328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895F2-9072-931C-7193-7B7E63B5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47C83-1249-57FE-AFC1-C4345FD4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3804F-31BC-14A0-E5DB-780AC7C4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272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C8D4-53DD-6C83-3FC6-0382BFD6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C2DD3D-509F-ED28-2B51-8E06ACFC6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08984-517B-3836-F931-469F82BD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3E406-2FE5-3E37-F592-B5F099B3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A0A20-0B1C-F85F-E0B9-908047A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103D-3958-2A70-0395-51CF78C4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04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D840-3BE4-A51F-B875-8D9B526ED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5D4A-D2F4-562B-DD70-3906C830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221D-2087-3904-EC97-9C89D3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36333-7792-7193-74B7-67F7CEED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02A1-06CF-4FA2-0CC2-5CF34AD3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237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EF0C3-E988-167C-ADFB-CB590DDA7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ADBC-C152-41F4-E0E2-E63B1A73A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22A6D-AA5F-1F9A-591D-B16754F6F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FF5DD-D699-F48F-C84C-F5FFC328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1F98-18BE-189D-8FAA-0974840DC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0758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77B0A-AF37-95F4-0B6B-42A3DBD9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26289-8198-FE45-E688-735246C0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22DAB-FFA2-3F6F-F390-13AD02012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01/02/2026</a:t>
            </a:r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FCC-5305-40AC-B83B-89E8ECA8B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BAUET</a:t>
            </a:r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4C4F0-1D23-F7C5-F90F-BC1B32B4C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BDCA-6C04-4DE3-905E-17E4BFE04F4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99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FBDF-3E7C-4C31-6DE4-B72761D0E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23AAC3B-65CB-D4A9-34F4-21E8C41351B6}"/>
              </a:ext>
            </a:extLst>
          </p:cNvPr>
          <p:cNvSpPr/>
          <p:nvPr/>
        </p:nvSpPr>
        <p:spPr>
          <a:xfrm>
            <a:off x="5490410" y="188276"/>
            <a:ext cx="1211180" cy="1199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961E5-478F-A79B-43A8-F70980DE0B54}"/>
              </a:ext>
            </a:extLst>
          </p:cNvPr>
          <p:cNvSpPr txBox="1"/>
          <p:nvPr/>
        </p:nvSpPr>
        <p:spPr>
          <a:xfrm>
            <a:off x="0" y="1562939"/>
            <a:ext cx="12192000" cy="1323439"/>
          </a:xfrm>
          <a:prstGeom prst="rect">
            <a:avLst/>
          </a:prstGeom>
          <a:solidFill>
            <a:srgbClr val="004101">
              <a:alpha val="90000"/>
            </a:srgbClr>
          </a:solidFill>
        </p:spPr>
        <p:txBody>
          <a:bodyPr wrap="square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University of Engineering &amp; Technology</a:t>
            </a:r>
          </a:p>
          <a:p>
            <a:pPr algn="ctr"/>
            <a:r>
              <a:rPr lang="en-US" altLang="en-US" sz="3200" b="1" kern="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US" altLang="en-US" sz="1000" b="1" kern="0" dirty="0">
              <a:solidFill>
                <a:srgbClr val="D4B30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795D7-68E5-7035-9CFE-91863161DD9C}"/>
              </a:ext>
            </a:extLst>
          </p:cNvPr>
          <p:cNvSpPr txBox="1"/>
          <p:nvPr/>
        </p:nvSpPr>
        <p:spPr>
          <a:xfrm>
            <a:off x="0" y="3017516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EEE 2261: Electrical Drives and Instrumentation</a:t>
            </a:r>
          </a:p>
          <a:p>
            <a:pPr algn="ctr" rtl="0">
              <a:buClr>
                <a:srgbClr val="0C0C0C"/>
              </a:buClr>
              <a:buSzPts val="4400"/>
              <a:buFont typeface="Arial Black"/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 Black"/>
              </a:rPr>
              <a:t>Winter 2025 Semester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C97A6-7890-73CE-1442-7F163C2457CD}"/>
              </a:ext>
            </a:extLst>
          </p:cNvPr>
          <p:cNvSpPr txBox="1"/>
          <p:nvPr/>
        </p:nvSpPr>
        <p:spPr>
          <a:xfrm>
            <a:off x="0" y="3971623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Lecture-06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C93F6-5797-B729-4B18-6818906D95C4}"/>
              </a:ext>
            </a:extLst>
          </p:cNvPr>
          <p:cNvSpPr txBox="1"/>
          <p:nvPr/>
        </p:nvSpPr>
        <p:spPr>
          <a:xfrm>
            <a:off x="0" y="6297525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Credit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3.0		Credit Taking: </a:t>
            </a:r>
            <a:r>
              <a:rPr lang="en-US" altLang="en-US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  <a:endParaRPr lang="en-US" altLang="en-US" sz="16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D4C92-EC56-E8EF-1BD7-F12CC3801517}"/>
              </a:ext>
            </a:extLst>
          </p:cNvPr>
          <p:cNvSpPr txBox="1"/>
          <p:nvPr/>
        </p:nvSpPr>
        <p:spPr>
          <a:xfrm>
            <a:off x="3667761" y="4772001"/>
            <a:ext cx="4856479" cy="1300356"/>
          </a:xfrm>
          <a:prstGeom prst="rect">
            <a:avLst/>
          </a:prstGeom>
          <a:solidFill>
            <a:srgbClr val="004101">
              <a:alpha val="10000"/>
            </a:srgbClr>
          </a:solidFill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endParaRPr lang="en-US" altLang="en-US" sz="500" b="1" kern="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300"/>
              </a:spcAft>
            </a:pPr>
            <a:r>
              <a:rPr lang="en-US" altLang="en-US" sz="2000" b="1" kern="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M. Ashik Al Mashrafi</a:t>
            </a:r>
          </a:p>
          <a:p>
            <a:pPr algn="ctr">
              <a:spcAft>
                <a:spcPts val="300"/>
              </a:spcAft>
            </a:pPr>
            <a:r>
              <a:rPr lang="en-US" altLang="en-US" b="1" kern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Lecturer, EEE, BAUET</a:t>
            </a:r>
          </a:p>
          <a:p>
            <a:pPr algn="ctr"/>
            <a:endParaRPr lang="en-US" altLang="en-US" sz="500" b="1" kern="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29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6C03F-1D48-DA2D-BC6F-B230E513F332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4046E-EC44-FE27-7488-4BEF0C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330AF-B0B4-48F4-9699-52FEF036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02F26-57C8-F92D-E92A-FB8AF85C1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07FC9B-4BFF-0C3A-C226-30745EBB849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96757BF-5012-9536-9DD1-71121A3472F3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AA7ABA-FEFA-CD6A-BDC7-563720AC78D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512CC8B-DDA4-59C2-FC3E-4581E586BA67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9F09B41-ADF4-770A-EB6E-CFEFCE44654B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DD0AA4-E205-A8BB-ECF1-B179E557E8D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Course Content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C000F72-B9C9-41A1-EE29-910556380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86228"/>
              </p:ext>
            </p:extLst>
          </p:nvPr>
        </p:nvGraphicFramePr>
        <p:xfrm>
          <a:off x="591151" y="1345233"/>
          <a:ext cx="11009698" cy="476343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85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43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r>
                        <a:rPr lang="en-US" sz="2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2200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08" marR="56108" marT="28023" marB="280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Three   phase   circuits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alternators   and 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00FF"/>
                          </a:highlight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transformers</a:t>
                      </a: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,   principles   &amp; operation  of  DC  Machines,  synchronous,  induction,  universal  and  stepper  motors, thyristor and microprocessor-based speed control of motors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Instrumentation   Amplifiers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Differential,   logarithmic,   and   chopper   amplifiers, frequency and voltage  measurements using digital techniques, recorders and display devices,  spectrum  analyzers  and  logic  analyzers,  data  acquisition  and  interfacing  to microprocessor-based systems;</a:t>
                      </a:r>
                      <a:endParaRPr 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Transducers</a:t>
                      </a:r>
                      <a:endParaRPr lang="en-US" sz="22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Terminology,  types  of  transducers,  principles  and  applications  of photovoltaic,  piezoelectric,  thermoelectric,  variable  resistance  and  opto-electronics transducers. Noise reduction in instrumentation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882B-2819-885E-03D4-60C31271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CB4439D-9FF2-11FB-7326-C376C3376F44}"/>
              </a:ext>
            </a:extLst>
          </p:cNvPr>
          <p:cNvSpPr txBox="1"/>
          <p:nvPr/>
        </p:nvSpPr>
        <p:spPr>
          <a:xfrm>
            <a:off x="277385" y="2274838"/>
            <a:ext cx="60982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Transformer is a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electrical device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transfers the electrical energy from one electrical circuit to another electrical circuit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magnetic coupling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changing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changing the voltage and current level.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98F09D-4FF5-4D69-86CA-BEE4D7115BDE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9B3DD-D9D2-90E9-6095-E4C8A7D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02D05-36D2-4BF0-5C0A-0E538510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6FF2-B958-3E3E-735B-AB68FB93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F8ECBA-B14E-6D69-1445-643B23A8B86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F42584F-04D2-7973-6B01-06743DDCE372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2E67F99-5484-38FD-72AE-93EE8F4FE235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6EA36CF-3D79-1A09-1C69-A4EEE1697A7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C4384C-C05B-5816-C2C8-B9C8C0CA7AF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219D76-3564-CA1D-9C69-A86546A6852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fundamental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51A3D57-6C87-E247-77F8-592BDA51C03B}"/>
              </a:ext>
            </a:extLst>
          </p:cNvPr>
          <p:cNvSpPr txBox="1"/>
          <p:nvPr/>
        </p:nvSpPr>
        <p:spPr>
          <a:xfrm>
            <a:off x="6936077" y="5618368"/>
            <a:ext cx="4705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1: Single phase transformer.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8C58F-8B7A-451A-9902-B1DA7B68F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9" t="12757" r="10271"/>
          <a:stretch>
            <a:fillRect/>
          </a:stretch>
        </p:blipFill>
        <p:spPr bwMode="auto">
          <a:xfrm>
            <a:off x="6412802" y="1606704"/>
            <a:ext cx="5501813" cy="38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54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11B8-7ACD-40BD-02FC-13962161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865F037-3B32-4E4E-3F5F-802011693541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60DD9-8C9B-C120-71FD-99D39BA4E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F2D4B-4CBF-868E-6154-C53D3B8D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5A174-5861-8C48-CF6A-932D4B41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BFE958-A603-E7CB-C841-C96C44DB04EF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FB44CD9-5B78-6642-6C39-6F21E88351EC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323F05-0B07-9ED8-D1F9-2E7AA6AB69CE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2C761AD-BE51-018D-31B8-192F184DA5D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886FEB6-A861-7EF5-AF73-84E5961D4E54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52BB00-DF79-FC31-4F4E-A89088F710E3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Types of Transformer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9703CF-F4EF-F668-582E-87333769E7B9}"/>
              </a:ext>
            </a:extLst>
          </p:cNvPr>
          <p:cNvSpPr txBox="1"/>
          <p:nvPr/>
        </p:nvSpPr>
        <p:spPr>
          <a:xfrm>
            <a:off x="3743342" y="5343023"/>
            <a:ext cx="4705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2: Types of transformer (1).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Classification Of Transformer ">
            <a:extLst>
              <a:ext uri="{FF2B5EF4-FFF2-40B4-BE49-F238E27FC236}">
                <a16:creationId xmlns:a16="http://schemas.microsoft.com/office/drawing/2014/main" id="{427029BB-E46F-77E8-3E45-100FA9126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11" y="1778214"/>
            <a:ext cx="10360578" cy="330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9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7E588-5A50-16DE-E13A-D218ECD4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171587-ABB2-EA74-99ED-0AA1A336639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B60F9-01B5-A59E-724B-A5191247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75450-E794-1BC9-7D9D-7F95B790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BE96D-99C6-1052-7D1E-A78B77B6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271EA2-DB8D-5AC8-17FE-5FE37C5AAF1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E3E6634-CAEC-E984-687A-E914CEE2BDD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1E74FC-210A-CA95-FACC-1F32765F7E5B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F3589826-5338-2E57-9EDA-E2A25023D47D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5DC46E-731E-6570-6A2F-CD1C93060D52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77C0B0C-D746-1B5E-CB5F-783833DC442A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Types of Transformer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6190114-2C28-10F2-10A4-1ADB22CC9102}"/>
              </a:ext>
            </a:extLst>
          </p:cNvPr>
          <p:cNvSpPr txBox="1"/>
          <p:nvPr/>
        </p:nvSpPr>
        <p:spPr>
          <a:xfrm>
            <a:off x="3743342" y="5602032"/>
            <a:ext cx="4705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3: Types of transformer (2).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Types of Transformer - different types of transformer - Circuit Globe">
            <a:extLst>
              <a:ext uri="{FF2B5EF4-FFF2-40B4-BE49-F238E27FC236}">
                <a16:creationId xmlns:a16="http://schemas.microsoft.com/office/drawing/2014/main" id="{29FB841D-9106-DDBF-419A-76C83B495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4" y="1401591"/>
            <a:ext cx="81724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11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2A10-9B2F-E485-3CEC-448AA3E1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06619DF-8C8C-CA83-E460-D1AEDEC405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15"/>
          <a:stretch>
            <a:fillRect/>
          </a:stretch>
        </p:blipFill>
        <p:spPr>
          <a:xfrm>
            <a:off x="2405357" y="2462325"/>
            <a:ext cx="4442484" cy="3252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207C29-94FA-BE47-24C2-67D66193926D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A27CB-D7C5-D20B-A3CF-F221B58C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259B6-69C9-02DC-D5DB-D0A5AB04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7F3D1-03BA-E496-1386-B69615A9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3FFB95-9E7F-95C0-5ECD-C2CDABA60F87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629EDCE-8251-4F06-EF39-31F254232A9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2A81D5-EB40-80B5-B4E6-F0C1564AFDE9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E95F9058-67AB-D0DA-780E-A9BB79AAB0A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8101033-E8BB-AE2C-7950-6A091BA7197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541B82-E3D4-AC1F-3CF6-17FF61242D2B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EMF Equation of a Transformer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164F3E2-EB83-E0DE-75E4-BDA3D58B7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981307"/>
            <a:ext cx="3012240" cy="28953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EA2FB0-3C6F-22A7-A4CB-965CE6221F4C}"/>
              </a:ext>
            </a:extLst>
          </p:cNvPr>
          <p:cNvSpPr txBox="1"/>
          <p:nvPr/>
        </p:nvSpPr>
        <p:spPr>
          <a:xfrm>
            <a:off x="8610600" y="5041422"/>
            <a:ext cx="30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Transformer.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8D533D-647A-178E-C50D-FEB3B425BF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3574" y="2049840"/>
            <a:ext cx="4343404" cy="3981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23C163-927C-7CFF-FFD2-71EBF55BFD96}"/>
              </a:ext>
            </a:extLst>
          </p:cNvPr>
          <p:cNvSpPr txBox="1"/>
          <p:nvPr/>
        </p:nvSpPr>
        <p:spPr>
          <a:xfrm>
            <a:off x="249363" y="1501674"/>
            <a:ext cx="8235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r.m.s.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of the induced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e.m.f.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primary winding,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B27F4-DDF8-8CA0-1061-F375666C2025}"/>
              </a:ext>
            </a:extLst>
          </p:cNvPr>
          <p:cNvSpPr txBox="1"/>
          <p:nvPr/>
        </p:nvSpPr>
        <p:spPr>
          <a:xfrm>
            <a:off x="249363" y="2967335"/>
            <a:ext cx="8235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r.m.s.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 of the induced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e.m.f.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 secondary winding,</a:t>
            </a:r>
            <a:endParaRPr lang="en-AE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7EC8AA-EA17-A777-EA09-8DF908BF9C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3574" y="3616649"/>
            <a:ext cx="4343404" cy="3890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DF264D-1B87-0220-666F-42C76F67A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363" y="4330861"/>
            <a:ext cx="3789237" cy="158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6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EDD1-2AAF-D953-9429-7965FB4D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F3D837-2313-41B8-1839-81548BFD12D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DBDA1-F476-4002-C6BB-E022FA1C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52248-5A1C-B03E-4E4E-D9018243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FB4C1-9E88-4861-908C-FB339AED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4E56A3-9E8C-68B3-3F54-92FE59199FAD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697143-1327-F4FE-1056-C65427E25D57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9D6E333-38D6-C1C1-04B3-81ECDAAFE924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597EA02-9D99-A258-5EA4-8D7B97D6C3D1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61C924-1128-8A4F-3F66-F4E77B0145BD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BB85295-257B-4BB8-7DC6-2AA6B5DB860C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Voltage and Current Ratio of Transformation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726E605-874C-3FF4-0069-554A4F863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981307"/>
            <a:ext cx="3012240" cy="28953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D4D33-058E-D221-8EA2-4D8F9BBE777D}"/>
              </a:ext>
            </a:extLst>
          </p:cNvPr>
          <p:cNvSpPr txBox="1"/>
          <p:nvPr/>
        </p:nvSpPr>
        <p:spPr>
          <a:xfrm>
            <a:off x="8610600" y="5041422"/>
            <a:ext cx="30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4: Transformer.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F1014E-5345-E644-169F-77EF8804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11" y="1629890"/>
            <a:ext cx="6468378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5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3221-F8FE-E3EA-547D-696E5F498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1F8C92-2110-7502-8182-A8FEBDF40C0C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C42E2-8EC0-6350-20AB-0C6C2EFB3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56EF0-ECE4-9433-6012-EB6F2FBE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5675-E068-8174-06B5-A310E48A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AA478E-9546-AA84-9F0A-124DA4D1F8B5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679FCC-C25D-C0AF-0020-8036C1E0F0D6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9B74339-932B-39E2-4AC3-D14E373C844C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2E85EC0-FCF1-ED51-93E7-F6B002593E86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303737-AAA4-264B-CB9D-8E39EC0FC91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6DB177-A968-1800-FF58-651DD06E7F29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 Problem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2BB8106-E073-6765-DA81-F60481A32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64" y="2039321"/>
            <a:ext cx="10628671" cy="27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3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D40C8-EC1F-366B-8A37-C2CBEEB4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1BF89F0-BA14-67DD-DA2E-B0A86C80E676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D75BA-C1A9-37D4-3866-00D6B8E268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A3376-35E1-CD8C-4A5B-B84A86AB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2D9EB-922B-68FD-BE27-5295BF4F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898C8F5-4183-5E1F-1AFD-0B057DA14D6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594B01A-3218-3B87-9CEC-249039A2329D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17D696C-A354-0E3D-C656-74B1167692E0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79E1D2A1-ACDE-38F3-FA05-7D40B755E12B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ABD7EA-661A-D8EB-BB80-AAEE99E610AA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F74D92-EB92-29D1-AB3C-BF2BB55CBB0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 Problem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6D455E2-9899-EC73-A1AB-51AA766C7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3" y="2191090"/>
            <a:ext cx="10675374" cy="13207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67D5EB-35DC-6B4E-5AE0-69BCB2B34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13" y="3446135"/>
            <a:ext cx="10675374" cy="140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5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9017-2D9B-C04F-45B6-18944436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7FE0F3-B02C-2ED7-068E-8425CBC1D514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84980-081D-23A5-98B3-74352782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766A8-47A7-D41B-DEB1-48E85EBE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0EFA8-556B-6F4E-BBA4-6F77577B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6804AB3-A58F-936F-2B51-AF1A71435C5E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D6E117-4969-FC7D-1786-E72B4C693E08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CCA7A8-3DAA-4054-6EBF-07F5A3721509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83FFF1D6-D2A6-D423-BBBC-307699D9B35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6416DE6-9B7A-0337-BC36-24F19BEC5056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794044-AF6E-EFD1-1045-8AC205AFBDAC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 Problem (for practice)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CB9DA3-F625-4656-C4F2-B14C04386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492946"/>
              </p:ext>
            </p:extLst>
          </p:nvPr>
        </p:nvGraphicFramePr>
        <p:xfrm>
          <a:off x="680205" y="2270760"/>
          <a:ext cx="10831589" cy="2316480"/>
        </p:xfrm>
        <a:graphic>
          <a:graphicData uri="http://schemas.openxmlformats.org/drawingml/2006/table">
            <a:tbl>
              <a:tblPr firstRow="1" firstCol="1" bandRow="1"/>
              <a:tblGrid>
                <a:gridCol w="713880">
                  <a:extLst>
                    <a:ext uri="{9D8B030D-6E8A-4147-A177-3AD203B41FA5}">
                      <a16:colId xmlns:a16="http://schemas.microsoft.com/office/drawing/2014/main" val="1712491636"/>
                    </a:ext>
                  </a:extLst>
                </a:gridCol>
                <a:gridCol w="4317167">
                  <a:extLst>
                    <a:ext uri="{9D8B030D-6E8A-4147-A177-3AD203B41FA5}">
                      <a16:colId xmlns:a16="http://schemas.microsoft.com/office/drawing/2014/main" val="4203187302"/>
                    </a:ext>
                  </a:extLst>
                </a:gridCol>
                <a:gridCol w="3218362">
                  <a:extLst>
                    <a:ext uri="{9D8B030D-6E8A-4147-A177-3AD203B41FA5}">
                      <a16:colId xmlns:a16="http://schemas.microsoft.com/office/drawing/2014/main" val="3573633325"/>
                    </a:ext>
                  </a:extLst>
                </a:gridCol>
                <a:gridCol w="2582180">
                  <a:extLst>
                    <a:ext uri="{9D8B030D-6E8A-4147-A177-3AD203B41FA5}">
                      <a16:colId xmlns:a16="http://schemas.microsoft.com/office/drawing/2014/main" val="2622910698"/>
                    </a:ext>
                  </a:extLst>
                </a:gridCol>
              </a:tblGrid>
              <a:tr h="5554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SL No.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Name of the Book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Name of the Author (s)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599938"/>
                  </a:ext>
                </a:extLst>
              </a:tr>
              <a:tr h="82939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Text Book of Electrical technology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B.L </a:t>
                      </a:r>
                      <a:r>
                        <a:rPr lang="en-US" sz="2000" b="1" kern="1200" dirty="0" err="1">
                          <a:solidFill>
                            <a:srgbClr val="7030A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Theraja</a:t>
                      </a:r>
                      <a:endParaRPr lang="en-US" sz="2000" b="1" kern="1200" dirty="0">
                        <a:solidFill>
                          <a:srgbClr val="7030A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32.4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32.5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32.6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32.7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32.8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3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65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2588-BA52-370B-A1EC-D8EF8E8B2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7C470B-91D5-8DD6-EF88-4FD861F0F19C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0572B-CC8E-5F22-B846-2BC749F5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5B942-8E1B-646E-EE07-5FFCC82C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7A2E6-1910-B80B-9165-4B2BEBA62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5C1A90-D4BE-EF6B-C97E-E00C73A0F886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A7FF718-E233-E7A1-9C6D-A17AB3C0C565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4FE5A8-164B-9F64-C0FD-5DF48AEFDBA0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68193BEA-763C-E208-0845-54BAEC9888D2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5A991AF-80E2-6D32-FFD9-66978B7A536D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A2D9B7-A510-9CF4-E673-226E9C03CE8B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Types of Losses in a Transformer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279CA6E-17BB-4836-F71C-C5778D0F56B3}"/>
              </a:ext>
            </a:extLst>
          </p:cNvPr>
          <p:cNvSpPr txBox="1"/>
          <p:nvPr/>
        </p:nvSpPr>
        <p:spPr>
          <a:xfrm>
            <a:off x="534650" y="2828835"/>
            <a:ext cx="79198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losses are mainly classified into two major types: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Iron loss in the core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Copper losses in the windings</a:t>
            </a: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(*) Stray losses (minor loss)</a:t>
            </a:r>
            <a:endParaRPr lang="en-AE" sz="24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66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83AEF-E614-A69D-A26D-2234BE25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5CFAE5-4DD1-7DFC-BA27-18644FF42CCF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7FDDB-7987-AAEB-59D7-FCBC4EE3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BB7F9-263F-4921-AADC-9D7BC4BC1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98192-1F3D-2CDE-FDEE-B224B1D0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D249568-B899-6CC5-F941-3371FDF1E57D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39FCF1-D029-E457-E9D1-50BF7B3DBF3B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E0F64F6-1523-29DE-BD26-FA39243AB36F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C78965A5-A24C-B5CB-573D-F33566A5744D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83557A-38AC-A123-E81A-38C630FD5305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2B255DF-A264-38C9-36C7-97F60B2D7A11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Losses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982154-68FF-C32F-F9A3-3476307D6159}"/>
              </a:ext>
            </a:extLst>
          </p:cNvPr>
          <p:cNvSpPr txBox="1"/>
          <p:nvPr/>
        </p:nvSpPr>
        <p:spPr>
          <a:xfrm>
            <a:off x="249365" y="1536174"/>
            <a:ext cx="113830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occur in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core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are present even at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Core losses depend mainly on voltage and frequency, not on load.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Hysteresis Loss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repeated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demagnetization of the 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alternating flux. Reduced by using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silicon steel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core.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 startAt="2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Eddy Current Loss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Alternating flux induces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circulating currents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(eddy currents) in the core. These currents cause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I²R heating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core. Reduced by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laminating the 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6696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E1573-AB6C-43F9-E010-EFB3EA2A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75C92D-0EEA-8575-6F98-ACC023466C6C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EC5C1-D0DB-7E0B-9643-898743B6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8244F-E631-6D9F-8F90-BB67F8289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62F38-6B46-1E93-F33F-21646881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B77771-E0A7-0A88-DC8C-63BAAA254DDF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B221CC-C266-575F-8877-789FBDFEA5A9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E50C37C-2646-B117-004E-D05C1590BA4D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59EEC7F9-30AF-E58E-0234-BFDECEB2AD35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9B61DB5-3D66-00CF-0CF5-5DDE266C38BF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ACD928-53CD-2DB3-125F-7FE45832E330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Losses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074" name="Picture 2" descr="Hysteresis">
            <a:extLst>
              <a:ext uri="{FF2B5EF4-FFF2-40B4-BE49-F238E27FC236}">
                <a16:creationId xmlns:a16="http://schemas.microsoft.com/office/drawing/2014/main" id="{3B3ACCA9-224A-D22A-F0BF-25FCBE6D7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6" r="13599"/>
          <a:stretch>
            <a:fillRect/>
          </a:stretch>
        </p:blipFill>
        <p:spPr bwMode="auto">
          <a:xfrm>
            <a:off x="697404" y="1741643"/>
            <a:ext cx="4843073" cy="338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derstanding How Laminated Cores Reduce Eddy Current Loss - Technical  Articles">
            <a:extLst>
              <a:ext uri="{FF2B5EF4-FFF2-40B4-BE49-F238E27FC236}">
                <a16:creationId xmlns:a16="http://schemas.microsoft.com/office/drawing/2014/main" id="{77DBC042-3DA7-E2FB-31A9-CB207349B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842" y="2037500"/>
            <a:ext cx="5029516" cy="2782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1F0419-CF2C-AAB1-97E4-83939B0C1010}"/>
              </a:ext>
            </a:extLst>
          </p:cNvPr>
          <p:cNvSpPr txBox="1"/>
          <p:nvPr/>
        </p:nvSpPr>
        <p:spPr>
          <a:xfrm>
            <a:off x="1612820" y="5385638"/>
            <a:ext cx="301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5: Hysteresis loop.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8C91A-EE6D-E941-4FF7-7CA730A11341}"/>
              </a:ext>
            </a:extLst>
          </p:cNvPr>
          <p:cNvSpPr txBox="1"/>
          <p:nvPr/>
        </p:nvSpPr>
        <p:spPr>
          <a:xfrm>
            <a:off x="6095841" y="5385638"/>
            <a:ext cx="50295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6: Eddy current.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594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1175-5690-DAB1-72F0-78EE6213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39B442-CAE3-5AFC-1C1F-12F1D5492920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E6133-77C6-4529-6417-C3743475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5D7B3-7313-BBCC-75C2-AB032C82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607D0-7D59-8925-5C72-AA588BB1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350392D-733F-7C05-F652-439DFFB55068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12E48AD-11B6-33D4-9EB0-99B4A8BA4600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F6A6321-4C16-D414-C4F2-6786AA899928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D1D2B432-84BE-1895-6615-8C0BCF641549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E1AC4E-BCE0-4D42-FCC1-D94362B1A9C8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F8E6F2-E570-6D56-A663-0A7570345E60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Copper Losses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DB1A77C-C7DB-CEA8-3A94-35E1E2D2A592}"/>
              </a:ext>
            </a:extLst>
          </p:cNvPr>
          <p:cNvSpPr txBox="1"/>
          <p:nvPr/>
        </p:nvSpPr>
        <p:spPr>
          <a:xfrm>
            <a:off x="249365" y="1349441"/>
            <a:ext cx="11383002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 in the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and secondary windings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Caused by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of the windings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Copper loss = I₁²R₁ + I₂²R₂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load current.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at no-load. Increases rapidly at heavy load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075A84-7A42-6174-A6A0-2EA1EC546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2" t="27956"/>
          <a:stretch>
            <a:fillRect/>
          </a:stretch>
        </p:blipFill>
        <p:spPr>
          <a:xfrm>
            <a:off x="3696345" y="3232833"/>
            <a:ext cx="4799310" cy="24639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9CF6E8-1773-3E47-DF68-E76B0F8856C2}"/>
              </a:ext>
            </a:extLst>
          </p:cNvPr>
          <p:cNvSpPr txBox="1"/>
          <p:nvPr/>
        </p:nvSpPr>
        <p:spPr>
          <a:xfrm>
            <a:off x="3581243" y="5772264"/>
            <a:ext cx="50295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7: Losses of transformer. 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860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CE6F-A09F-83AE-C766-8931C431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50ADAC-3E91-A9A6-FB0B-1370F3B9AAA4}"/>
              </a:ext>
            </a:extLst>
          </p:cNvPr>
          <p:cNvSpPr/>
          <p:nvPr/>
        </p:nvSpPr>
        <p:spPr>
          <a:xfrm>
            <a:off x="0" y="6480143"/>
            <a:ext cx="12192000" cy="302260"/>
          </a:xfrm>
          <a:prstGeom prst="rect">
            <a:avLst/>
          </a:prstGeom>
          <a:solidFill>
            <a:srgbClr val="154E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E8A02-8066-791B-25BA-F5E41791D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3312"/>
            <a:ext cx="2743200" cy="365125"/>
          </a:xfrm>
        </p:spPr>
        <p:txBody>
          <a:bodyPr/>
          <a:lstStyle/>
          <a:p>
            <a:r>
              <a:rPr lang="en-US"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01/02/2026</a:t>
            </a:r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7437D-C8B5-149A-4490-8C5F3C39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43312"/>
            <a:ext cx="41148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BAUET</a:t>
            </a:r>
            <a:endParaRPr lang="en-A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72CC5-D774-A686-F737-CBDFAAB9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3312"/>
            <a:ext cx="2743200" cy="365125"/>
          </a:xfrm>
        </p:spPr>
        <p:txBody>
          <a:bodyPr/>
          <a:lstStyle/>
          <a:p>
            <a:fld id="{E407BDCA-6C04-4DE3-905E-17E4BFE04F46}" type="slidenum">
              <a:rPr lang="en-AE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AE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1139F4-3C49-1081-4A84-F83C0581977A}"/>
              </a:ext>
            </a:extLst>
          </p:cNvPr>
          <p:cNvGrpSpPr/>
          <p:nvPr/>
        </p:nvGrpSpPr>
        <p:grpSpPr>
          <a:xfrm>
            <a:off x="0" y="92595"/>
            <a:ext cx="12191998" cy="830997"/>
            <a:chOff x="0" y="225907"/>
            <a:chExt cx="12191998" cy="83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51E39D-195B-8E7E-0D55-020FF1820B6C}"/>
                </a:ext>
              </a:extLst>
            </p:cNvPr>
            <p:cNvGrpSpPr/>
            <p:nvPr/>
          </p:nvGrpSpPr>
          <p:grpSpPr>
            <a:xfrm>
              <a:off x="0" y="225907"/>
              <a:ext cx="12191998" cy="830997"/>
              <a:chOff x="0" y="225907"/>
              <a:chExt cx="12191998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5BA16C5-FE08-1D82-5D4E-C2071B1996DB}"/>
                  </a:ext>
                </a:extLst>
              </p:cNvPr>
              <p:cNvSpPr/>
              <p:nvPr/>
            </p:nvSpPr>
            <p:spPr>
              <a:xfrm>
                <a:off x="11080954" y="225907"/>
                <a:ext cx="1111044" cy="83099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59294835-925B-A806-B1F6-ACCE8021CC13}"/>
                  </a:ext>
                </a:extLst>
              </p:cNvPr>
              <p:cNvSpPr/>
              <p:nvPr/>
            </p:nvSpPr>
            <p:spPr>
              <a:xfrm>
                <a:off x="11313789" y="336886"/>
                <a:ext cx="645374" cy="63889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effectLst>
                    <a:glow rad="228600">
                      <a:schemeClr val="accent1">
                        <a:satMod val="175000"/>
                        <a:alpha val="40000"/>
                      </a:schemeClr>
                    </a:glow>
                  </a:effectLst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A2E6633-431A-1397-F814-2442D416D5BF}"/>
                  </a:ext>
                </a:extLst>
              </p:cNvPr>
              <p:cNvSpPr/>
              <p:nvPr/>
            </p:nvSpPr>
            <p:spPr>
              <a:xfrm>
                <a:off x="0" y="225908"/>
                <a:ext cx="11080954" cy="830995"/>
              </a:xfrm>
              <a:prstGeom prst="rect">
                <a:avLst/>
              </a:prstGeom>
              <a:solidFill>
                <a:srgbClr val="154E1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A8811E-01E5-676C-DF77-237875AF4A3C}"/>
                </a:ext>
              </a:extLst>
            </p:cNvPr>
            <p:cNvSpPr txBox="1"/>
            <p:nvPr/>
          </p:nvSpPr>
          <p:spPr>
            <a:xfrm>
              <a:off x="249364" y="379795"/>
              <a:ext cx="108315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Minor Losses</a:t>
              </a:r>
              <a:endParaRPr lang="en-A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5DAA966-4F6D-8AF2-7483-51B023D43ACC}"/>
              </a:ext>
            </a:extLst>
          </p:cNvPr>
          <p:cNvSpPr txBox="1"/>
          <p:nvPr/>
        </p:nvSpPr>
        <p:spPr>
          <a:xfrm>
            <a:off x="249366" y="2250907"/>
            <a:ext cx="52070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leakage flux.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flux is the portion of magnetic flux produced by a transformer winding that does not link both the primary and secondary windings.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8BE33-DDA9-B67B-A29D-5F3F011DEE04}"/>
              </a:ext>
            </a:extLst>
          </p:cNvPr>
          <p:cNvSpPr txBox="1"/>
          <p:nvPr/>
        </p:nvSpPr>
        <p:spPr>
          <a:xfrm>
            <a:off x="6353018" y="5346768"/>
            <a:ext cx="50295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8: Leakage flux.</a:t>
            </a:r>
            <a:endParaRPr lang="en-AE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0" name="Picture 4" descr="Transformer with winding resistance and leakage reactance">
            <a:extLst>
              <a:ext uri="{FF2B5EF4-FFF2-40B4-BE49-F238E27FC236}">
                <a16:creationId xmlns:a16="http://schemas.microsoft.com/office/drawing/2014/main" id="{1469D47C-A2C1-FAAB-D90A-A018CA1BC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87729"/>
            <a:ext cx="55435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4187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0875D-E5DE-8EC0-1BDC-C0D893A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1375C52-09D7-0BD1-4100-BA1EDC00E73F}"/>
              </a:ext>
            </a:extLst>
          </p:cNvPr>
          <p:cNvSpPr txBox="1"/>
          <p:nvPr/>
        </p:nvSpPr>
        <p:spPr>
          <a:xfrm>
            <a:off x="4189066" y="2667253"/>
            <a:ext cx="3813865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r>
              <a:rPr lang="en-US" sz="3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077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664</Words>
  <Application>Microsoft Office PowerPoint</Application>
  <PresentationFormat>Widescreen</PresentationFormat>
  <Paragraphs>117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 M. Ashik Al Mashrafi</dc:creator>
  <cp:lastModifiedBy>S. M. Ashik Al Mashrafi</cp:lastModifiedBy>
  <cp:revision>119</cp:revision>
  <dcterms:created xsi:type="dcterms:W3CDTF">2025-07-26T10:31:05Z</dcterms:created>
  <dcterms:modified xsi:type="dcterms:W3CDTF">2026-02-01T04:10:41Z</dcterms:modified>
</cp:coreProperties>
</file>